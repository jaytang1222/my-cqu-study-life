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media/audio2.bin" ContentType="audio/unknown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57" r:id="rId3"/>
    <p:sldId id="258" r:id="rId4"/>
    <p:sldId id="764" r:id="rId5"/>
    <p:sldId id="765" r:id="rId6"/>
    <p:sldId id="917" r:id="rId7"/>
    <p:sldId id="766" r:id="rId8"/>
    <p:sldId id="767" r:id="rId9"/>
    <p:sldId id="768" r:id="rId10"/>
    <p:sldId id="769" r:id="rId11"/>
    <p:sldId id="770" r:id="rId12"/>
    <p:sldId id="772" r:id="rId13"/>
    <p:sldId id="918" r:id="rId14"/>
    <p:sldId id="773" r:id="rId15"/>
    <p:sldId id="919" r:id="rId16"/>
    <p:sldId id="920" r:id="rId17"/>
    <p:sldId id="774" r:id="rId18"/>
    <p:sldId id="776" r:id="rId19"/>
    <p:sldId id="778" r:id="rId20"/>
    <p:sldId id="780" r:id="rId21"/>
    <p:sldId id="781" r:id="rId22"/>
    <p:sldId id="782" r:id="rId23"/>
    <p:sldId id="783" r:id="rId24"/>
    <p:sldId id="784" r:id="rId25"/>
    <p:sldId id="785" r:id="rId26"/>
    <p:sldId id="921" r:id="rId27"/>
    <p:sldId id="922" r:id="rId28"/>
    <p:sldId id="923" r:id="rId29"/>
    <p:sldId id="915" r:id="rId30"/>
    <p:sldId id="787" r:id="rId31"/>
    <p:sldId id="788" r:id="rId32"/>
    <p:sldId id="789" r:id="rId33"/>
    <p:sldId id="790" r:id="rId34"/>
    <p:sldId id="874" r:id="rId35"/>
    <p:sldId id="875" r:id="rId36"/>
    <p:sldId id="876" r:id="rId37"/>
    <p:sldId id="924" r:id="rId38"/>
    <p:sldId id="877" r:id="rId39"/>
    <p:sldId id="878" r:id="rId40"/>
    <p:sldId id="873" r:id="rId41"/>
    <p:sldId id="881" r:id="rId42"/>
    <p:sldId id="882" r:id="rId43"/>
    <p:sldId id="791" r:id="rId44"/>
    <p:sldId id="792" r:id="rId45"/>
    <p:sldId id="793" r:id="rId46"/>
    <p:sldId id="794" r:id="rId47"/>
    <p:sldId id="795" r:id="rId48"/>
    <p:sldId id="796" r:id="rId49"/>
    <p:sldId id="797" r:id="rId50"/>
    <p:sldId id="798" r:id="rId51"/>
    <p:sldId id="799" r:id="rId52"/>
    <p:sldId id="803" r:id="rId53"/>
    <p:sldId id="811" r:id="rId54"/>
    <p:sldId id="812" r:id="rId55"/>
    <p:sldId id="813" r:id="rId56"/>
    <p:sldId id="814" r:id="rId57"/>
    <p:sldId id="815" r:id="rId58"/>
    <p:sldId id="916" r:id="rId59"/>
    <p:sldId id="359" r:id="rId60"/>
    <p:sldId id="270" r:id="rId61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19A382"/>
    <a:srgbClr val="FF9933"/>
    <a:srgbClr val="FF6600"/>
    <a:srgbClr val="FFFFFF"/>
    <a:srgbClr val="FF7C80"/>
    <a:srgbClr val="FF3399"/>
    <a:srgbClr val="FF33CC"/>
    <a:srgbClr val="51ADB7"/>
    <a:srgbClr val="C1E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0" autoAdjust="0"/>
    <p:restoredTop sz="88060" autoAdjust="0"/>
  </p:normalViewPr>
  <p:slideViewPr>
    <p:cSldViewPr snapToGrid="0">
      <p:cViewPr varScale="1">
        <p:scale>
          <a:sx n="101" d="100"/>
          <a:sy n="101" d="100"/>
        </p:scale>
        <p:origin x="10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5D49D-A1CD-45AD-8B46-696E5A02AB2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</dgm:pt>
    <dgm:pt modelId="{763FE94A-3365-4647-B262-07EFC7B26463}">
      <dgm:prSet phldrT="[文本]"/>
      <dgm:spPr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zh-CN" altLang="en-US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关键字</a:t>
          </a:r>
        </a:p>
      </dgm:t>
    </dgm:pt>
    <dgm:pt modelId="{2655CE77-F3CE-479C-9655-5F6A85E2235F}" type="parTrans" cxnId="{49C4D0E9-A9E3-41C0-A1D1-4AED6675427D}">
      <dgm:prSet/>
      <dgm:spPr/>
      <dgm:t>
        <a:bodyPr/>
        <a:lstStyle/>
        <a:p>
          <a:endParaRPr lang="zh-CN" altLang="en-US"/>
        </a:p>
      </dgm:t>
    </dgm:pt>
    <dgm:pt modelId="{438AF80E-854C-4FD7-8E38-8E269FBFB3B6}" type="sibTrans" cxnId="{49C4D0E9-A9E3-41C0-A1D1-4AED6675427D}">
      <dgm:prSet/>
      <dgm:spPr/>
      <dgm:t>
        <a:bodyPr/>
        <a:lstStyle/>
        <a:p>
          <a:endParaRPr lang="zh-CN" altLang="en-US"/>
        </a:p>
      </dgm:t>
    </dgm:pt>
    <dgm:pt modelId="{243A0559-2FEA-4F98-9FF8-BB470E3D6FB7}">
      <dgm:prSet phldrT="[文本]"/>
      <dgm:spPr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zh-CN" altLang="en-US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存储地址</a:t>
          </a:r>
        </a:p>
      </dgm:t>
    </dgm:pt>
    <dgm:pt modelId="{D6CB40EB-C70B-4FF5-BCEE-487BB4FF9D97}" type="parTrans" cxnId="{24AB7E47-EAAC-4E9B-B165-B1B5F256D25C}">
      <dgm:prSet/>
      <dgm:spPr/>
      <dgm:t>
        <a:bodyPr/>
        <a:lstStyle/>
        <a:p>
          <a:endParaRPr lang="zh-CN" altLang="en-US"/>
        </a:p>
      </dgm:t>
    </dgm:pt>
    <dgm:pt modelId="{9413FE44-100E-4CE9-AACD-F358F70C6D9D}" type="sibTrans" cxnId="{24AB7E47-EAAC-4E9B-B165-B1B5F256D25C}">
      <dgm:prSet/>
      <dgm:spPr/>
      <dgm:t>
        <a:bodyPr/>
        <a:lstStyle/>
        <a:p>
          <a:endParaRPr lang="zh-CN" altLang="en-US"/>
        </a:p>
      </dgm:t>
    </dgm:pt>
    <dgm:pt modelId="{1ACB611C-6F26-499A-86F4-9199E03DDF0A}" type="pres">
      <dgm:prSet presAssocID="{1055D49D-A1CD-45AD-8B46-696E5A02AB26}" presName="Name0" presStyleCnt="0">
        <dgm:presLayoutVars>
          <dgm:dir/>
          <dgm:animLvl val="lvl"/>
          <dgm:resizeHandles val="exact"/>
        </dgm:presLayoutVars>
      </dgm:prSet>
      <dgm:spPr/>
    </dgm:pt>
    <dgm:pt modelId="{600319D2-BA2F-4A07-8D4B-B2BA427B6B76}" type="pres">
      <dgm:prSet presAssocID="{763FE94A-3365-4647-B262-07EFC7B26463}" presName="parTxOnly" presStyleLbl="node1" presStyleIdx="0" presStyleCnt="2">
        <dgm:presLayoutVars>
          <dgm:chMax val="0"/>
          <dgm:chPref val="0"/>
          <dgm:bulletEnabled val="1"/>
        </dgm:presLayoutVars>
      </dgm:prSet>
      <dgm:spPr>
        <a:xfrm>
          <a:off x="5357" y="1391443"/>
          <a:ext cx="3202781" cy="1281112"/>
        </a:xfrm>
        <a:prstGeom prst="chevron">
          <a:avLst/>
        </a:prstGeom>
      </dgm:spPr>
    </dgm:pt>
    <dgm:pt modelId="{56E457EF-3C91-4302-B3C4-79E6B38BF170}" type="pres">
      <dgm:prSet presAssocID="{438AF80E-854C-4FD7-8E38-8E269FBFB3B6}" presName="parTxOnlySpac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5404D64C-1725-4B30-AB88-B1410DD2AA41}" type="pres">
      <dgm:prSet presAssocID="{243A0559-2FEA-4F98-9FF8-BB470E3D6FB7}" presName="parTxOnly" presStyleLbl="node1" presStyleIdx="1" presStyleCnt="2">
        <dgm:presLayoutVars>
          <dgm:chMax val="0"/>
          <dgm:chPref val="0"/>
          <dgm:bulletEnabled val="1"/>
        </dgm:presLayoutVars>
      </dgm:prSet>
      <dgm:spPr>
        <a:xfrm>
          <a:off x="2887860" y="1391443"/>
          <a:ext cx="3202781" cy="1281112"/>
        </a:xfrm>
        <a:prstGeom prst="chevron">
          <a:avLst/>
        </a:prstGeom>
      </dgm:spPr>
    </dgm:pt>
  </dgm:ptLst>
  <dgm:cxnLst>
    <dgm:cxn modelId="{24AB7E47-EAAC-4E9B-B165-B1B5F256D25C}" srcId="{1055D49D-A1CD-45AD-8B46-696E5A02AB26}" destId="{243A0559-2FEA-4F98-9FF8-BB470E3D6FB7}" srcOrd="1" destOrd="0" parTransId="{D6CB40EB-C70B-4FF5-BCEE-487BB4FF9D97}" sibTransId="{9413FE44-100E-4CE9-AACD-F358F70C6D9D}"/>
    <dgm:cxn modelId="{9F6EE666-82F6-4A56-B749-C7BA16AED2B4}" type="presOf" srcId="{763FE94A-3365-4647-B262-07EFC7B26463}" destId="{600319D2-BA2F-4A07-8D4B-B2BA427B6B76}" srcOrd="0" destOrd="0" presId="urn:microsoft.com/office/officeart/2005/8/layout/chevron1"/>
    <dgm:cxn modelId="{7B6D59BC-61FC-4CCD-8F54-1D7791F24951}" type="presOf" srcId="{243A0559-2FEA-4F98-9FF8-BB470E3D6FB7}" destId="{5404D64C-1725-4B30-AB88-B1410DD2AA41}" srcOrd="0" destOrd="0" presId="urn:microsoft.com/office/officeart/2005/8/layout/chevron1"/>
    <dgm:cxn modelId="{209AC8D5-4224-41F8-B272-2B8E2DCCAF16}" type="presOf" srcId="{1055D49D-A1CD-45AD-8B46-696E5A02AB26}" destId="{1ACB611C-6F26-499A-86F4-9199E03DDF0A}" srcOrd="0" destOrd="0" presId="urn:microsoft.com/office/officeart/2005/8/layout/chevron1"/>
    <dgm:cxn modelId="{49C4D0E9-A9E3-41C0-A1D1-4AED6675427D}" srcId="{1055D49D-A1CD-45AD-8B46-696E5A02AB26}" destId="{763FE94A-3365-4647-B262-07EFC7B26463}" srcOrd="0" destOrd="0" parTransId="{2655CE77-F3CE-479C-9655-5F6A85E2235F}" sibTransId="{438AF80E-854C-4FD7-8E38-8E269FBFB3B6}"/>
    <dgm:cxn modelId="{8B63DDAF-BB77-4150-871B-5162EF164CB1}" type="presParOf" srcId="{1ACB611C-6F26-499A-86F4-9199E03DDF0A}" destId="{600319D2-BA2F-4A07-8D4B-B2BA427B6B76}" srcOrd="0" destOrd="0" presId="urn:microsoft.com/office/officeart/2005/8/layout/chevron1"/>
    <dgm:cxn modelId="{7DD3FC8E-0CE3-4C5F-B2B1-B2F0FF774582}" type="presParOf" srcId="{1ACB611C-6F26-499A-86F4-9199E03DDF0A}" destId="{56E457EF-3C91-4302-B3C4-79E6B38BF170}" srcOrd="1" destOrd="0" presId="urn:microsoft.com/office/officeart/2005/8/layout/chevron1"/>
    <dgm:cxn modelId="{7B4D8DC4-E238-4BCE-8403-6DBB0C785EE7}" type="presParOf" srcId="{1ACB611C-6F26-499A-86F4-9199E03DDF0A}" destId="{5404D64C-1725-4B30-AB88-B1410DD2AA4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A8771F9-A42E-4708-BEBD-CF7F2399592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</dgm:spPr>
    </dgm:pt>
    <dgm:pt modelId="{5EFB93A9-56F2-4D22-9C41-60BEA86FB90D}">
      <dgm:prSet phldrT="[文本]" custT="1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选择散列函数</a:t>
          </a:r>
        </a:p>
      </dgm:t>
    </dgm:pt>
    <dgm:pt modelId="{17DA4C4C-22C5-4163-8286-341D6CA1BB10}" type="parTrans" cxnId="{BFD0C016-3C44-4D3C-86D0-80BC8E8932FD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865A392-1D2C-42BA-802E-2A901DBDB5D0}" type="sibTrans" cxnId="{BFD0C016-3C44-4D3C-86D0-80BC8E8932FD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11868C7-9818-4A66-AD09-11D91DE70DED}">
      <dgm:prSet phldrT="[文本]" custT="1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根据冲突策略与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ASL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计算散列表大小</a:t>
          </a:r>
        </a:p>
      </dgm:t>
    </dgm:pt>
    <dgm:pt modelId="{47CCF521-7DBC-4546-8DF5-E6CBD066B609}" type="parTrans" cxnId="{6565E3BA-119B-42E0-8AA4-9BBE44C3BF02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7FD314-DB81-4700-8ECD-8C5B3620F9F4}" type="sibTrans" cxnId="{6565E3BA-119B-42E0-8AA4-9BBE44C3BF02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3388A65-BB1F-4DE6-81AB-AE373E5F1F42}">
      <dgm:prSet phldrT="[文本]" custT="1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建立查找表</a:t>
          </a:r>
        </a:p>
      </dgm:t>
    </dgm:pt>
    <dgm:pt modelId="{F15138DA-45D4-4ABD-A58A-7145BE86A8B9}" type="parTrans" cxnId="{6D7ED516-C07C-4849-B51C-386646759180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228983-8B23-4F7D-80EF-5EEAA6F4D629}" type="sibTrans" cxnId="{6D7ED516-C07C-4849-B51C-386646759180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7EE89C-7393-475D-964F-C47F5B646FA0}" type="pres">
      <dgm:prSet presAssocID="{6A8771F9-A42E-4708-BEBD-CF7F2399592C}" presName="Name0" presStyleCnt="0">
        <dgm:presLayoutVars>
          <dgm:dir/>
          <dgm:animLvl val="lvl"/>
          <dgm:resizeHandles val="exact"/>
        </dgm:presLayoutVars>
      </dgm:prSet>
      <dgm:spPr/>
    </dgm:pt>
    <dgm:pt modelId="{29301F4C-D697-464F-9380-859D320B79DC}" type="pres">
      <dgm:prSet presAssocID="{5EFB93A9-56F2-4D22-9C41-60BEA86FB90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3FC0A284-FA91-488D-98FB-67042019032D}" type="pres">
      <dgm:prSet presAssocID="{1865A392-1D2C-42BA-802E-2A901DBDB5D0}" presName="parTxOnly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6F863560-9B44-4B90-9DB1-DB135075A600}" type="pres">
      <dgm:prSet presAssocID="{911868C7-9818-4A66-AD09-11D91DE70DE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8E0A214-A4B3-4C45-A113-D4BE1E9E7CD3}" type="pres">
      <dgm:prSet presAssocID="{A67FD314-DB81-4700-8ECD-8C5B3620F9F4}" presName="parTxOnly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gm:spPr>
    </dgm:pt>
    <dgm:pt modelId="{D1FA80A7-A7C1-44F4-B849-367F22B373E2}" type="pres">
      <dgm:prSet presAssocID="{A3388A65-BB1F-4DE6-81AB-AE373E5F1F42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1AFC00E-C5DA-4386-A552-37DBBD0BE476}" type="presOf" srcId="{6A8771F9-A42E-4708-BEBD-CF7F2399592C}" destId="{ED7EE89C-7393-475D-964F-C47F5B646FA0}" srcOrd="0" destOrd="0" presId="urn:microsoft.com/office/officeart/2005/8/layout/chevron1"/>
    <dgm:cxn modelId="{BFD0C016-3C44-4D3C-86D0-80BC8E8932FD}" srcId="{6A8771F9-A42E-4708-BEBD-CF7F2399592C}" destId="{5EFB93A9-56F2-4D22-9C41-60BEA86FB90D}" srcOrd="0" destOrd="0" parTransId="{17DA4C4C-22C5-4163-8286-341D6CA1BB10}" sibTransId="{1865A392-1D2C-42BA-802E-2A901DBDB5D0}"/>
    <dgm:cxn modelId="{6D7ED516-C07C-4849-B51C-386646759180}" srcId="{6A8771F9-A42E-4708-BEBD-CF7F2399592C}" destId="{A3388A65-BB1F-4DE6-81AB-AE373E5F1F42}" srcOrd="2" destOrd="0" parTransId="{F15138DA-45D4-4ABD-A58A-7145BE86A8B9}" sibTransId="{2D228983-8B23-4F7D-80EF-5EEAA6F4D629}"/>
    <dgm:cxn modelId="{49996E97-0329-4D46-8368-CA725A290385}" type="presOf" srcId="{911868C7-9818-4A66-AD09-11D91DE70DED}" destId="{6F863560-9B44-4B90-9DB1-DB135075A600}" srcOrd="0" destOrd="0" presId="urn:microsoft.com/office/officeart/2005/8/layout/chevron1"/>
    <dgm:cxn modelId="{3627EE9A-55E6-43D3-A475-4FBCF7E14A1B}" type="presOf" srcId="{5EFB93A9-56F2-4D22-9C41-60BEA86FB90D}" destId="{29301F4C-D697-464F-9380-859D320B79DC}" srcOrd="0" destOrd="0" presId="urn:microsoft.com/office/officeart/2005/8/layout/chevron1"/>
    <dgm:cxn modelId="{6565E3BA-119B-42E0-8AA4-9BBE44C3BF02}" srcId="{6A8771F9-A42E-4708-BEBD-CF7F2399592C}" destId="{911868C7-9818-4A66-AD09-11D91DE70DED}" srcOrd="1" destOrd="0" parTransId="{47CCF521-7DBC-4546-8DF5-E6CBD066B609}" sibTransId="{A67FD314-DB81-4700-8ECD-8C5B3620F9F4}"/>
    <dgm:cxn modelId="{3B05ADBB-6336-4B0D-82B7-6DE0BABD9134}" type="presOf" srcId="{A3388A65-BB1F-4DE6-81AB-AE373E5F1F42}" destId="{D1FA80A7-A7C1-44F4-B849-367F22B373E2}" srcOrd="0" destOrd="0" presId="urn:microsoft.com/office/officeart/2005/8/layout/chevron1"/>
    <dgm:cxn modelId="{D22D23FA-2C58-499C-A8D1-1B25FE58BDC4}" type="presParOf" srcId="{ED7EE89C-7393-475D-964F-C47F5B646FA0}" destId="{29301F4C-D697-464F-9380-859D320B79DC}" srcOrd="0" destOrd="0" presId="urn:microsoft.com/office/officeart/2005/8/layout/chevron1"/>
    <dgm:cxn modelId="{6E086C08-CA89-422B-A07E-7FC37DF36FA5}" type="presParOf" srcId="{ED7EE89C-7393-475D-964F-C47F5B646FA0}" destId="{3FC0A284-FA91-488D-98FB-67042019032D}" srcOrd="1" destOrd="0" presId="urn:microsoft.com/office/officeart/2005/8/layout/chevron1"/>
    <dgm:cxn modelId="{6322D656-B40E-4B10-A58A-2362A7C4AB86}" type="presParOf" srcId="{ED7EE89C-7393-475D-964F-C47F5B646FA0}" destId="{6F863560-9B44-4B90-9DB1-DB135075A600}" srcOrd="2" destOrd="0" presId="urn:microsoft.com/office/officeart/2005/8/layout/chevron1"/>
    <dgm:cxn modelId="{98EA5C9C-954C-423D-B57C-E09E1C275067}" type="presParOf" srcId="{ED7EE89C-7393-475D-964F-C47F5B646FA0}" destId="{58E0A214-A4B3-4C45-A113-D4BE1E9E7CD3}" srcOrd="3" destOrd="0" presId="urn:microsoft.com/office/officeart/2005/8/layout/chevron1"/>
    <dgm:cxn modelId="{A66D668B-7695-4772-9D5D-28B20C651DC5}" type="presParOf" srcId="{ED7EE89C-7393-475D-964F-C47F5B646FA0}" destId="{D1FA80A7-A7C1-44F4-B849-367F22B373E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319D2-BA2F-4A07-8D4B-B2BA427B6B76}">
      <dsp:nvSpPr>
        <dsp:cNvPr id="0" name=""/>
        <dsp:cNvSpPr/>
      </dsp:nvSpPr>
      <dsp:spPr>
        <a:xfrm>
          <a:off x="4966" y="1148172"/>
          <a:ext cx="2968940" cy="1187576"/>
        </a:xfrm>
        <a:prstGeom prst="chevron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关键字</a:t>
          </a:r>
        </a:p>
      </dsp:txBody>
      <dsp:txXfrm>
        <a:off x="598754" y="1148172"/>
        <a:ext cx="1781364" cy="1187576"/>
      </dsp:txXfrm>
    </dsp:sp>
    <dsp:sp modelId="{5404D64C-1725-4B30-AB88-B1410DD2AA41}">
      <dsp:nvSpPr>
        <dsp:cNvPr id="0" name=""/>
        <dsp:cNvSpPr/>
      </dsp:nvSpPr>
      <dsp:spPr>
        <a:xfrm>
          <a:off x="2677012" y="1148172"/>
          <a:ext cx="2968940" cy="1187576"/>
        </a:xfrm>
        <a:prstGeom prst="chevron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016" tIns="41339" rIns="41339" bIns="41339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100" kern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存储地址</a:t>
          </a:r>
        </a:p>
      </dsp:txBody>
      <dsp:txXfrm>
        <a:off x="3270800" y="1148172"/>
        <a:ext cx="1781364" cy="11875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01F4C-D697-464F-9380-859D320B79DC}">
      <dsp:nvSpPr>
        <dsp:cNvPr id="0" name=""/>
        <dsp:cNvSpPr/>
      </dsp:nvSpPr>
      <dsp:spPr>
        <a:xfrm>
          <a:off x="2500" y="1488607"/>
          <a:ext cx="3047046" cy="12188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选择散列函数</a:t>
          </a:r>
        </a:p>
      </dsp:txBody>
      <dsp:txXfrm>
        <a:off x="611909" y="1488607"/>
        <a:ext cx="1828228" cy="1218818"/>
      </dsp:txXfrm>
    </dsp:sp>
    <dsp:sp modelId="{6F863560-9B44-4B90-9DB1-DB135075A600}">
      <dsp:nvSpPr>
        <dsp:cNvPr id="0" name=""/>
        <dsp:cNvSpPr/>
      </dsp:nvSpPr>
      <dsp:spPr>
        <a:xfrm>
          <a:off x="2744842" y="1488607"/>
          <a:ext cx="3047046" cy="12188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根据冲突策略与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ASL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计算散列表大小</a:t>
          </a:r>
        </a:p>
      </dsp:txBody>
      <dsp:txXfrm>
        <a:off x="3354251" y="1488607"/>
        <a:ext cx="1828228" cy="1218818"/>
      </dsp:txXfrm>
    </dsp:sp>
    <dsp:sp modelId="{D1FA80A7-A7C1-44F4-B849-367F22B373E2}">
      <dsp:nvSpPr>
        <dsp:cNvPr id="0" name=""/>
        <dsp:cNvSpPr/>
      </dsp:nvSpPr>
      <dsp:spPr>
        <a:xfrm>
          <a:off x="5487183" y="1488607"/>
          <a:ext cx="3047046" cy="12188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建立查找表</a:t>
          </a:r>
        </a:p>
      </dsp:txBody>
      <dsp:txXfrm>
        <a:off x="6096592" y="1488607"/>
        <a:ext cx="1828228" cy="121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7FE23-F5A8-42E9-9888-C3A84DB64DCA}" type="datetimeFigureOut">
              <a:rPr lang="zh-CN" altLang="en-US" smtClean="0"/>
              <a:t>2023/12/4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0775B-E8BF-40E3-8D21-20EEF706A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24A5-F0C5-4B72-8135-2FAC1AE300C9}" type="datetimeFigureOut">
              <a:rPr lang="zh-CN" altLang="en-US" smtClean="0"/>
              <a:t>2023/12/4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ECDA-B852-4CA6-98F9-FDA299AD4F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401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A16D1E5-BB0E-4E66-98B1-CA2FBE68E5C8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18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A16D1E5-BB0E-4E66-98B1-CA2FBE68E5C8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1" dirty="0">
              <a:solidFill>
                <a:srgbClr val="A5002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DC0318A-11B3-414D-985E-F3EC87E12791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780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5B97DC6-F1AD-4073-BD0F-344BCFB85106}" type="slidenum">
              <a:rPr lang="zh-CN" altLang="en-US" smtClean="0">
                <a:solidFill>
                  <a:srgbClr val="000000"/>
                </a:solidFill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393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958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1011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A8CB02B-8578-443F-8362-FA392A1FEB1F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4374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12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50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0350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14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5361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15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3613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16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5463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17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86921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00050" indent="-400050">
              <a:lnSpc>
                <a:spcPts val="3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05001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1208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99314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602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3061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2709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5578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61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8830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endParaRPr kumimoji="1" lang="zh-CN" altLang="en-US" sz="1200" b="1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30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1104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endParaRPr kumimoji="1" lang="zh-CN" altLang="en-US" sz="2400" b="1" dirty="0">
              <a:solidFill>
                <a:srgbClr val="00B05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8610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/>
            <a:endParaRPr kumimoji="1" lang="zh-CN" altLang="en-US" sz="1200" b="1" dirty="0">
              <a:solidFill>
                <a:srgbClr val="0070C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32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7761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37977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思考：什么情况下，线性探测法会失败？即找不到空位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5333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35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5668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36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97653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37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76904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38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13637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7DE7C9E2-0696-4CDF-B29D-A91D87F39CB9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457200">
                <a:defRPr/>
              </a:pPr>
              <a:t>39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0945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97755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0" hangingPunct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45250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43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75805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44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98763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45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92093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46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55076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47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3540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48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337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49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16255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50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45192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51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146523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9DFFD6FC-6728-40F2-85A7-C6A776FF59CD}" type="slidenum">
              <a:rPr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 defTabSz="914400">
                <a:defRPr/>
              </a:pPr>
              <a:t>52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02407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53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6930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7482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7753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47378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7785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67683D48-279A-4A2A-8CF0-ED1518ECDCC6}" type="slidenum">
              <a:rPr lang="zh-CN" altLang="en-US" smtClean="0">
                <a:solidFill>
                  <a:prstClr val="black"/>
                </a:solidFill>
              </a:rPr>
              <a:pPr defTabSz="457200">
                <a:defRPr/>
              </a:pPr>
              <a:t>58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7873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84225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（深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6"/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10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7DC2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rgbClr val="C1E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84250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109" y="6483552"/>
            <a:ext cx="1647783" cy="245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8754004" y="255456"/>
            <a:ext cx="32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spc="12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zh-CN" altLang="zh-CN" sz="1200" spc="12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4" name="六边形 3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平行四边形 7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572335" y="230736"/>
            <a:ext cx="6324687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B7C6D-AA44-4565-9E0D-EC50BDFCB3F7}" type="datetime1">
              <a:rPr lang="zh-CN" altLang="en-US"/>
              <a:pPr>
                <a:defRPr/>
              </a:pPr>
              <a:t>2023/12/4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B2C2F-086E-4C6B-9B45-2449801C25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540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15824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4AB4C-C7D7-4F65-965C-93E9CD26219E}" type="datetime1">
              <a:rPr lang="zh-CN" altLang="en-US">
                <a:solidFill>
                  <a:srgbClr val="010000"/>
                </a:solidFill>
              </a:rPr>
              <a:pPr>
                <a:defRPr/>
              </a:pPr>
              <a:t>2023/12/4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EB13D-5EF1-4BCD-B429-801BC378B348}" type="slidenum">
              <a:rPr lang="en-US" altLang="zh-CN">
                <a:solidFill>
                  <a:srgbClr val="01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51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A4B21-616C-4E4E-8379-6F9ECFF39C1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2023/12/4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1F580-3DDB-44D3-BAD4-0DA5019F6F3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0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56C6-9774-47FC-A39E-CCCBDFE7815A}" type="datetimeFigureOut">
              <a:rPr lang="zh-CN" altLang="en-US" smtClean="0"/>
              <a:t>2023/12/4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8200-D7D1-4D60-9004-3F0BBDC27A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bin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6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o.csdn.net/so/search?q=%E6%95%A3%E5%88%97&amp;spm=1001.2101.3001.7020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6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-46319"/>
            <a:ext cx="12192000" cy="57165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" t="60187" r="62545" b="13687"/>
          <a:stretch>
            <a:fillRect/>
          </a:stretch>
        </p:blipFill>
        <p:spPr>
          <a:xfrm flipH="1" flipV="1">
            <a:off x="8544560" y="5394960"/>
            <a:ext cx="3677920" cy="14935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132080" y="4453337"/>
            <a:ext cx="9165288" cy="254690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-905689" y="342255"/>
            <a:ext cx="14873910" cy="7227071"/>
            <a:chOff x="2275139" y="1708487"/>
            <a:chExt cx="7788686" cy="3784438"/>
          </a:xfrm>
        </p:grpSpPr>
        <p:sp>
          <p:nvSpPr>
            <p:cNvPr id="9" name="六边形 8"/>
            <p:cNvSpPr/>
            <p:nvPr/>
          </p:nvSpPr>
          <p:spPr>
            <a:xfrm rot="5400000">
              <a:off x="5811401" y="1880190"/>
              <a:ext cx="3784438" cy="3441032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77000">
                  <a:srgbClr val="016773"/>
                </a:gs>
                <a:gs pos="100000">
                  <a:srgbClr val="00768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rot="19714174">
              <a:off x="7064019" y="3212601"/>
              <a:ext cx="2999806" cy="1616793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单圆角矩形 10"/>
            <p:cNvSpPr/>
            <p:nvPr/>
          </p:nvSpPr>
          <p:spPr>
            <a:xfrm>
              <a:off x="2275139" y="3590090"/>
              <a:ext cx="5733603" cy="45719"/>
            </a:xfrm>
            <a:prstGeom prst="round1Rect">
              <a:avLst/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27158" y="2057400"/>
            <a:ext cx="6737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数据结构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98664" y="342255"/>
            <a:ext cx="3015569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计算机领域本科教育教学改革试点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工作计划（“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计划”）研究成果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65" y="231750"/>
            <a:ext cx="701051" cy="8084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34782" y="4299065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俞勇、张铭、陈越、韩文弢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16738" y="4985017"/>
            <a:ext cx="6158524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上海交通大学、北京大学、浙江大学、清华大学</a:t>
            </a:r>
          </a:p>
        </p:txBody>
      </p:sp>
      <p:sp>
        <p:nvSpPr>
          <p:cNvPr id="19" name="文本框 18"/>
          <p:cNvSpPr txBox="1"/>
          <p:nvPr/>
        </p:nvSpPr>
        <p:spPr>
          <a:xfrm rot="1849986">
            <a:off x="8195789" y="49084"/>
            <a:ext cx="4944370" cy="2163608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isometricTopUp">
                <a:rot lat="19176265" lon="2388000" rev="19890000"/>
              </a:camera>
              <a:lightRig rig="threePt" dir="t"/>
            </a:scene3d>
          </a:bodyPr>
          <a:lstStyle/>
          <a:p>
            <a:pPr algn="ctr"/>
            <a:r>
              <a:rPr lang="en-US" altLang="zh-CN" sz="199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  <a:ea typeface="Segoe UI Black" panose="020B0A02040204020203" pitchFamily="34" charset="0"/>
              </a:rPr>
              <a:t>101</a:t>
            </a:r>
            <a:endParaRPr lang="zh-CN" altLang="en-US" sz="19900" b="1" dirty="0">
              <a:gradFill>
                <a:gsLst>
                  <a:gs pos="30000">
                    <a:srgbClr val="007684"/>
                  </a:gs>
                  <a:gs pos="83000">
                    <a:srgbClr val="016773"/>
                  </a:gs>
                </a:gsLst>
                <a:lin ang="5400000" scaled="0"/>
              </a:gradFill>
              <a:latin typeface="Bauhaus 93" panose="04030905020B02020C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12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0001700" y="2854959"/>
            <a:ext cx="2268815" cy="2101347"/>
            <a:chOff x="6175344" y="342254"/>
            <a:chExt cx="7803037" cy="7227071"/>
          </a:xfrm>
        </p:grpSpPr>
        <p:sp>
          <p:nvSpPr>
            <p:cNvPr id="19" name="六边形 18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863825" y="4346576"/>
            <a:ext cx="2963878" cy="2745105"/>
            <a:chOff x="6175344" y="342254"/>
            <a:chExt cx="7803037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4167429" y="3439840"/>
            <a:ext cx="38571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11.4 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散列查找</a:t>
            </a:r>
          </a:p>
        </p:txBody>
      </p:sp>
      <p:sp>
        <p:nvSpPr>
          <p:cNvPr id="8" name="矩形 7"/>
          <p:cNvSpPr/>
          <p:nvPr/>
        </p:nvSpPr>
        <p:spPr>
          <a:xfrm>
            <a:off x="4588217" y="2445722"/>
            <a:ext cx="30155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024554" y="3265946"/>
            <a:ext cx="6116350" cy="0"/>
          </a:xfrm>
          <a:prstGeom prst="line">
            <a:avLst/>
          </a:prstGeom>
          <a:ln w="22225"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221671" y="2179434"/>
            <a:ext cx="7748658" cy="2397279"/>
            <a:chOff x="2221671" y="2179434"/>
            <a:chExt cx="7748658" cy="2397279"/>
          </a:xfrm>
        </p:grpSpPr>
        <p:sp>
          <p:nvSpPr>
            <p:cNvPr id="6" name="标题 9801"/>
            <p:cNvSpPr txBox="1"/>
            <p:nvPr/>
          </p:nvSpPr>
          <p:spPr>
            <a:xfrm rot="16200000">
              <a:off x="8719085" y="3325468"/>
              <a:ext cx="2397277" cy="105210"/>
            </a:xfrm>
            <a:prstGeom prst="parallelogram">
              <a:avLst>
                <a:gd name="adj" fmla="val 98875"/>
              </a:avLst>
            </a:prstGeom>
            <a:gradFill flip="none" rotWithShape="1">
              <a:gsLst>
                <a:gs pos="100000">
                  <a:srgbClr val="016773"/>
                </a:gs>
                <a:gs pos="0">
                  <a:srgbClr val="00ABA5"/>
                </a:gs>
              </a:gsLst>
              <a:lin ang="6000000" scaled="0"/>
              <a:tileRect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标题 9801"/>
            <p:cNvSpPr txBox="1"/>
            <p:nvPr/>
          </p:nvSpPr>
          <p:spPr>
            <a:xfrm flipH="1">
              <a:off x="2221671" y="4468236"/>
              <a:ext cx="7748657" cy="108477"/>
            </a:xfrm>
            <a:prstGeom prst="parallelogram">
              <a:avLst>
                <a:gd name="adj" fmla="val 102209"/>
              </a:avLst>
            </a:prstGeom>
            <a:gradFill>
              <a:gsLst>
                <a:gs pos="55000">
                  <a:srgbClr val="016773"/>
                </a:gs>
                <a:gs pos="0">
                  <a:srgbClr val="00ABA5"/>
                </a:gs>
                <a:gs pos="100000">
                  <a:srgbClr val="00ABA5"/>
                </a:gs>
              </a:gsLst>
              <a:lin ang="6000000" scaled="0"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2221671" y="2179434"/>
              <a:ext cx="76428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 flipH="1">
              <a:off x="10768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2222317" y="4468236"/>
              <a:ext cx="7642800" cy="0"/>
            </a:xfrm>
            <a:prstGeom prst="line">
              <a:avLst/>
            </a:prstGeom>
            <a:ln w="15875" cap="rnd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3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 flipH="1">
              <a:off x="87196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8933514" y="5200219"/>
            <a:ext cx="1549536" cy="1435160"/>
            <a:chOff x="6175344" y="342254"/>
            <a:chExt cx="7803037" cy="7227071"/>
          </a:xfrm>
        </p:grpSpPr>
        <p:sp>
          <p:nvSpPr>
            <p:cNvPr id="22" name="六边形 2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25" name="六边形 2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28" name="六边形 2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034782" y="4861769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林劼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016738" y="5305446"/>
            <a:ext cx="6158524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电子科技大学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1019425" y="4784103"/>
            <a:ext cx="9165288" cy="2546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801"/>
          <p:cNvSpPr txBox="1"/>
          <p:nvPr/>
        </p:nvSpPr>
        <p:spPr>
          <a:xfrm flipV="1">
            <a:off x="0" y="729000"/>
            <a:ext cx="11615165" cy="5400000"/>
          </a:xfrm>
          <a:prstGeom prst="cube">
            <a:avLst>
              <a:gd name="adj" fmla="val 1804"/>
            </a:avLst>
          </a:prstGeom>
          <a:pattFill prst="lt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5" name="六边形 4"/>
          <p:cNvSpPr/>
          <p:nvPr/>
        </p:nvSpPr>
        <p:spPr>
          <a:xfrm rot="5400000">
            <a:off x="-5678865" y="-723361"/>
            <a:ext cx="9564253" cy="8696378"/>
          </a:xfrm>
          <a:prstGeom prst="hexagon">
            <a:avLst>
              <a:gd name="adj" fmla="val 30493"/>
              <a:gd name="vf" fmla="val 115470"/>
            </a:avLst>
          </a:prstGeom>
          <a:gradFill>
            <a:gsLst>
              <a:gs pos="77000">
                <a:srgbClr val="016773"/>
              </a:gs>
              <a:gs pos="100000">
                <a:srgbClr val="007684"/>
              </a:gs>
            </a:gsLst>
            <a:lin ang="5400000" scaled="0"/>
          </a:gradFill>
          <a:ln>
            <a:noFill/>
          </a:ln>
          <a:effectLst>
            <a:outerShdw blurRad="698500" dist="165100" algn="l" rotWithShape="0">
              <a:srgbClr val="013F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rot="19714174">
            <a:off x="-2503449" y="2643987"/>
            <a:ext cx="7581286" cy="4086054"/>
          </a:xfrm>
          <a:prstGeom prst="parallelogram">
            <a:avLst>
              <a:gd name="adj" fmla="val 61032"/>
            </a:avLst>
          </a:prstGeom>
          <a:solidFill>
            <a:srgbClr val="00AB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20891" y="2740372"/>
            <a:ext cx="540023" cy="1384403"/>
          </a:xfrm>
          <a:custGeom>
            <a:avLst/>
            <a:gdLst/>
            <a:ahLst/>
            <a:cxnLst/>
            <a:rect l="l" t="t" r="r" b="b"/>
            <a:pathLst>
              <a:path w="540023" h="1384403">
                <a:moveTo>
                  <a:pt x="195374" y="1232620"/>
                </a:moveTo>
                <a:lnTo>
                  <a:pt x="204155" y="1247987"/>
                </a:lnTo>
                <a:cubicBezTo>
                  <a:pt x="132445" y="1288964"/>
                  <a:pt x="80491" y="1317502"/>
                  <a:pt x="48295" y="1333600"/>
                </a:cubicBezTo>
                <a:cubicBezTo>
                  <a:pt x="42441" y="1337991"/>
                  <a:pt x="37319" y="1336527"/>
                  <a:pt x="32928" y="1329210"/>
                </a:cubicBezTo>
                <a:cubicBezTo>
                  <a:pt x="27074" y="1321892"/>
                  <a:pt x="16830" y="1305062"/>
                  <a:pt x="2195" y="1278720"/>
                </a:cubicBezTo>
                <a:cubicBezTo>
                  <a:pt x="732" y="1277256"/>
                  <a:pt x="0" y="1275793"/>
                  <a:pt x="0" y="1274329"/>
                </a:cubicBezTo>
                <a:close/>
                <a:moveTo>
                  <a:pt x="458800" y="863824"/>
                </a:moveTo>
                <a:cubicBezTo>
                  <a:pt x="460264" y="862361"/>
                  <a:pt x="463190" y="863092"/>
                  <a:pt x="467581" y="866019"/>
                </a:cubicBezTo>
                <a:cubicBezTo>
                  <a:pt x="470508" y="867483"/>
                  <a:pt x="474167" y="870410"/>
                  <a:pt x="478557" y="874800"/>
                </a:cubicBezTo>
                <a:cubicBezTo>
                  <a:pt x="500509" y="892362"/>
                  <a:pt x="515144" y="903338"/>
                  <a:pt x="522461" y="907728"/>
                </a:cubicBezTo>
                <a:cubicBezTo>
                  <a:pt x="528315" y="912119"/>
                  <a:pt x="530510" y="915778"/>
                  <a:pt x="529047" y="918705"/>
                </a:cubicBezTo>
                <a:cubicBezTo>
                  <a:pt x="529047" y="920168"/>
                  <a:pt x="526120" y="922363"/>
                  <a:pt x="520266" y="925290"/>
                </a:cubicBezTo>
                <a:cubicBezTo>
                  <a:pt x="511485" y="928217"/>
                  <a:pt x="507826" y="934071"/>
                  <a:pt x="509290" y="942852"/>
                </a:cubicBezTo>
                <a:cubicBezTo>
                  <a:pt x="509290" y="1112615"/>
                  <a:pt x="508558" y="1223839"/>
                  <a:pt x="507095" y="1276525"/>
                </a:cubicBezTo>
                <a:cubicBezTo>
                  <a:pt x="507095" y="1314575"/>
                  <a:pt x="500509" y="1336527"/>
                  <a:pt x="487338" y="1342381"/>
                </a:cubicBezTo>
                <a:cubicBezTo>
                  <a:pt x="477093" y="1351162"/>
                  <a:pt x="467581" y="1361406"/>
                  <a:pt x="458800" y="1373114"/>
                </a:cubicBezTo>
                <a:cubicBezTo>
                  <a:pt x="450019" y="1381895"/>
                  <a:pt x="442702" y="1385554"/>
                  <a:pt x="436848" y="1384090"/>
                </a:cubicBezTo>
                <a:cubicBezTo>
                  <a:pt x="432457" y="1381163"/>
                  <a:pt x="430994" y="1373846"/>
                  <a:pt x="432457" y="1362138"/>
                </a:cubicBezTo>
                <a:cubicBezTo>
                  <a:pt x="436848" y="1347503"/>
                  <a:pt x="433921" y="1337259"/>
                  <a:pt x="423677" y="1331405"/>
                </a:cubicBezTo>
                <a:cubicBezTo>
                  <a:pt x="413432" y="1321161"/>
                  <a:pt x="392212" y="1307989"/>
                  <a:pt x="360015" y="1291891"/>
                </a:cubicBezTo>
                <a:lnTo>
                  <a:pt x="366601" y="1278720"/>
                </a:lnTo>
                <a:lnTo>
                  <a:pt x="443434" y="1294086"/>
                </a:lnTo>
                <a:cubicBezTo>
                  <a:pt x="447824" y="1276525"/>
                  <a:pt x="450019" y="1152861"/>
                  <a:pt x="450019" y="923095"/>
                </a:cubicBezTo>
                <a:lnTo>
                  <a:pt x="278792" y="929681"/>
                </a:lnTo>
                <a:lnTo>
                  <a:pt x="274402" y="1221644"/>
                </a:lnTo>
                <a:cubicBezTo>
                  <a:pt x="302208" y="1173349"/>
                  <a:pt x="323428" y="1130177"/>
                  <a:pt x="338063" y="1092127"/>
                </a:cubicBezTo>
                <a:cubicBezTo>
                  <a:pt x="323428" y="1061394"/>
                  <a:pt x="305135" y="1027002"/>
                  <a:pt x="283183" y="988951"/>
                </a:cubicBezTo>
                <a:lnTo>
                  <a:pt x="296354" y="980171"/>
                </a:lnTo>
                <a:cubicBezTo>
                  <a:pt x="318306" y="1005050"/>
                  <a:pt x="337332" y="1028465"/>
                  <a:pt x="353430" y="1050417"/>
                </a:cubicBezTo>
                <a:cubicBezTo>
                  <a:pt x="357820" y="1038710"/>
                  <a:pt x="362211" y="1026270"/>
                  <a:pt x="366601" y="1013099"/>
                </a:cubicBezTo>
                <a:cubicBezTo>
                  <a:pt x="373918" y="986756"/>
                  <a:pt x="378309" y="966999"/>
                  <a:pt x="379772" y="953828"/>
                </a:cubicBezTo>
                <a:cubicBezTo>
                  <a:pt x="379772" y="947974"/>
                  <a:pt x="384163" y="947242"/>
                  <a:pt x="392944" y="951633"/>
                </a:cubicBezTo>
                <a:cubicBezTo>
                  <a:pt x="397334" y="956023"/>
                  <a:pt x="406847" y="961877"/>
                  <a:pt x="421481" y="969194"/>
                </a:cubicBezTo>
                <a:cubicBezTo>
                  <a:pt x="427335" y="972121"/>
                  <a:pt x="430994" y="974317"/>
                  <a:pt x="432457" y="975780"/>
                </a:cubicBezTo>
                <a:cubicBezTo>
                  <a:pt x="436848" y="977244"/>
                  <a:pt x="436848" y="983098"/>
                  <a:pt x="432457" y="993342"/>
                </a:cubicBezTo>
                <a:cubicBezTo>
                  <a:pt x="430994" y="997732"/>
                  <a:pt x="428067" y="1004318"/>
                  <a:pt x="423677" y="1013099"/>
                </a:cubicBezTo>
                <a:cubicBezTo>
                  <a:pt x="420750" y="1021880"/>
                  <a:pt x="417823" y="1028465"/>
                  <a:pt x="414896" y="1032856"/>
                </a:cubicBezTo>
                <a:cubicBezTo>
                  <a:pt x="406115" y="1054808"/>
                  <a:pt x="397334" y="1075297"/>
                  <a:pt x="388553" y="1094322"/>
                </a:cubicBezTo>
                <a:cubicBezTo>
                  <a:pt x="413432" y="1127982"/>
                  <a:pt x="430994" y="1153593"/>
                  <a:pt x="441238" y="1171154"/>
                </a:cubicBezTo>
                <a:cubicBezTo>
                  <a:pt x="448556" y="1182862"/>
                  <a:pt x="448556" y="1193838"/>
                  <a:pt x="441238" y="1204082"/>
                </a:cubicBezTo>
                <a:cubicBezTo>
                  <a:pt x="429531" y="1224571"/>
                  <a:pt x="417823" y="1239206"/>
                  <a:pt x="406115" y="1247987"/>
                </a:cubicBezTo>
                <a:cubicBezTo>
                  <a:pt x="391480" y="1211400"/>
                  <a:pt x="376845" y="1175545"/>
                  <a:pt x="362211" y="1140421"/>
                </a:cubicBezTo>
                <a:cubicBezTo>
                  <a:pt x="338795" y="1179935"/>
                  <a:pt x="308794" y="1216522"/>
                  <a:pt x="272207" y="1250182"/>
                </a:cubicBezTo>
                <a:lnTo>
                  <a:pt x="272207" y="1337991"/>
                </a:lnTo>
                <a:cubicBezTo>
                  <a:pt x="272207" y="1346771"/>
                  <a:pt x="269280" y="1351894"/>
                  <a:pt x="263426" y="1353357"/>
                </a:cubicBezTo>
                <a:cubicBezTo>
                  <a:pt x="248791" y="1363602"/>
                  <a:pt x="234156" y="1370919"/>
                  <a:pt x="219522" y="1375309"/>
                </a:cubicBezTo>
                <a:cubicBezTo>
                  <a:pt x="212204" y="1376773"/>
                  <a:pt x="209277" y="1373846"/>
                  <a:pt x="210741" y="1366528"/>
                </a:cubicBezTo>
                <a:cubicBezTo>
                  <a:pt x="213668" y="1307989"/>
                  <a:pt x="216595" y="1202619"/>
                  <a:pt x="219522" y="1050417"/>
                </a:cubicBezTo>
                <a:cubicBezTo>
                  <a:pt x="220985" y="1005050"/>
                  <a:pt x="221717" y="975048"/>
                  <a:pt x="221717" y="960414"/>
                </a:cubicBezTo>
                <a:cubicBezTo>
                  <a:pt x="221717" y="932608"/>
                  <a:pt x="221717" y="906265"/>
                  <a:pt x="221717" y="881386"/>
                </a:cubicBezTo>
                <a:cubicBezTo>
                  <a:pt x="221717" y="876995"/>
                  <a:pt x="222449" y="874800"/>
                  <a:pt x="223912" y="874800"/>
                </a:cubicBezTo>
                <a:cubicBezTo>
                  <a:pt x="223912" y="873337"/>
                  <a:pt x="226107" y="873337"/>
                  <a:pt x="230498" y="874800"/>
                </a:cubicBezTo>
                <a:cubicBezTo>
                  <a:pt x="242206" y="879191"/>
                  <a:pt x="259035" y="887972"/>
                  <a:pt x="280988" y="901143"/>
                </a:cubicBezTo>
                <a:lnTo>
                  <a:pt x="434653" y="894557"/>
                </a:lnTo>
                <a:cubicBezTo>
                  <a:pt x="434653" y="894557"/>
                  <a:pt x="435384" y="894557"/>
                  <a:pt x="436848" y="894557"/>
                </a:cubicBezTo>
                <a:cubicBezTo>
                  <a:pt x="445629" y="893094"/>
                  <a:pt x="450019" y="890167"/>
                  <a:pt x="450019" y="885776"/>
                </a:cubicBezTo>
                <a:cubicBezTo>
                  <a:pt x="452946" y="882849"/>
                  <a:pt x="454410" y="878459"/>
                  <a:pt x="454410" y="872605"/>
                </a:cubicBezTo>
                <a:cubicBezTo>
                  <a:pt x="455873" y="866751"/>
                  <a:pt x="457337" y="863824"/>
                  <a:pt x="458800" y="863824"/>
                </a:cubicBezTo>
                <a:close/>
                <a:moveTo>
                  <a:pt x="111956" y="857239"/>
                </a:moveTo>
                <a:cubicBezTo>
                  <a:pt x="113420" y="855775"/>
                  <a:pt x="115615" y="856507"/>
                  <a:pt x="118542" y="859434"/>
                </a:cubicBezTo>
                <a:cubicBezTo>
                  <a:pt x="120005" y="860897"/>
                  <a:pt x="123664" y="863092"/>
                  <a:pt x="129518" y="866019"/>
                </a:cubicBezTo>
                <a:cubicBezTo>
                  <a:pt x="155860" y="880654"/>
                  <a:pt x="170495" y="889435"/>
                  <a:pt x="173422" y="892362"/>
                </a:cubicBezTo>
                <a:cubicBezTo>
                  <a:pt x="177813" y="895289"/>
                  <a:pt x="177081" y="899679"/>
                  <a:pt x="171227" y="905533"/>
                </a:cubicBezTo>
                <a:cubicBezTo>
                  <a:pt x="166836" y="909924"/>
                  <a:pt x="158787" y="919436"/>
                  <a:pt x="147080" y="934071"/>
                </a:cubicBezTo>
                <a:cubicBezTo>
                  <a:pt x="110493" y="980902"/>
                  <a:pt x="81223" y="1013099"/>
                  <a:pt x="59271" y="1030660"/>
                </a:cubicBezTo>
                <a:lnTo>
                  <a:pt x="131713" y="1021880"/>
                </a:lnTo>
                <a:cubicBezTo>
                  <a:pt x="136103" y="1014562"/>
                  <a:pt x="139762" y="1007977"/>
                  <a:pt x="142689" y="1002123"/>
                </a:cubicBezTo>
                <a:cubicBezTo>
                  <a:pt x="150006" y="988951"/>
                  <a:pt x="155860" y="975048"/>
                  <a:pt x="160251" y="960414"/>
                </a:cubicBezTo>
                <a:cubicBezTo>
                  <a:pt x="161714" y="957487"/>
                  <a:pt x="163178" y="956023"/>
                  <a:pt x="164641" y="956023"/>
                </a:cubicBezTo>
                <a:cubicBezTo>
                  <a:pt x="164641" y="954560"/>
                  <a:pt x="166105" y="955292"/>
                  <a:pt x="169032" y="958218"/>
                </a:cubicBezTo>
                <a:cubicBezTo>
                  <a:pt x="193911" y="974317"/>
                  <a:pt x="209277" y="986024"/>
                  <a:pt x="215131" y="993342"/>
                </a:cubicBezTo>
                <a:cubicBezTo>
                  <a:pt x="217326" y="994074"/>
                  <a:pt x="218424" y="995537"/>
                  <a:pt x="218424" y="997732"/>
                </a:cubicBezTo>
                <a:cubicBezTo>
                  <a:pt x="218424" y="999927"/>
                  <a:pt x="217326" y="1002854"/>
                  <a:pt x="215131" y="1006513"/>
                </a:cubicBezTo>
                <a:cubicBezTo>
                  <a:pt x="212204" y="1009440"/>
                  <a:pt x="207814" y="1014562"/>
                  <a:pt x="201960" y="1021880"/>
                </a:cubicBezTo>
                <a:cubicBezTo>
                  <a:pt x="194643" y="1029197"/>
                  <a:pt x="189520" y="1035051"/>
                  <a:pt x="186593" y="1039441"/>
                </a:cubicBezTo>
                <a:cubicBezTo>
                  <a:pt x="154397" y="1084809"/>
                  <a:pt x="121469" y="1123591"/>
                  <a:pt x="87809" y="1155788"/>
                </a:cubicBezTo>
                <a:lnTo>
                  <a:pt x="190984" y="1140421"/>
                </a:lnTo>
                <a:lnTo>
                  <a:pt x="199765" y="1160178"/>
                </a:lnTo>
                <a:lnTo>
                  <a:pt x="87809" y="1199692"/>
                </a:lnTo>
                <a:cubicBezTo>
                  <a:pt x="67320" y="1208473"/>
                  <a:pt x="54149" y="1215790"/>
                  <a:pt x="48295" y="1221644"/>
                </a:cubicBezTo>
                <a:lnTo>
                  <a:pt x="15367" y="1162373"/>
                </a:lnTo>
                <a:cubicBezTo>
                  <a:pt x="34392" y="1159447"/>
                  <a:pt x="48295" y="1150666"/>
                  <a:pt x="57076" y="1136031"/>
                </a:cubicBezTo>
                <a:cubicBezTo>
                  <a:pt x="76101" y="1109688"/>
                  <a:pt x="94394" y="1083346"/>
                  <a:pt x="111956" y="1057003"/>
                </a:cubicBezTo>
                <a:lnTo>
                  <a:pt x="68052" y="1070174"/>
                </a:lnTo>
                <a:cubicBezTo>
                  <a:pt x="51954" y="1076028"/>
                  <a:pt x="39514" y="1082614"/>
                  <a:pt x="30733" y="1089931"/>
                </a:cubicBezTo>
                <a:lnTo>
                  <a:pt x="0" y="1037246"/>
                </a:lnTo>
                <a:cubicBezTo>
                  <a:pt x="13171" y="1032856"/>
                  <a:pt x="23416" y="1026270"/>
                  <a:pt x="30733" y="1017489"/>
                </a:cubicBezTo>
                <a:cubicBezTo>
                  <a:pt x="61466" y="967731"/>
                  <a:pt x="82687" y="928949"/>
                  <a:pt x="94394" y="901143"/>
                </a:cubicBezTo>
                <a:cubicBezTo>
                  <a:pt x="101712" y="885045"/>
                  <a:pt x="106834" y="871873"/>
                  <a:pt x="109761" y="861629"/>
                </a:cubicBezTo>
                <a:cubicBezTo>
                  <a:pt x="111224" y="858702"/>
                  <a:pt x="111956" y="857239"/>
                  <a:pt x="111956" y="857239"/>
                </a:cubicBezTo>
                <a:close/>
                <a:moveTo>
                  <a:pt x="498314" y="233425"/>
                </a:moveTo>
                <a:cubicBezTo>
                  <a:pt x="501241" y="236352"/>
                  <a:pt x="504900" y="240011"/>
                  <a:pt x="509290" y="244402"/>
                </a:cubicBezTo>
                <a:cubicBezTo>
                  <a:pt x="518071" y="254646"/>
                  <a:pt x="524656" y="261231"/>
                  <a:pt x="529047" y="264158"/>
                </a:cubicBezTo>
                <a:cubicBezTo>
                  <a:pt x="531974" y="267085"/>
                  <a:pt x="532706" y="270012"/>
                  <a:pt x="531242" y="272939"/>
                </a:cubicBezTo>
                <a:cubicBezTo>
                  <a:pt x="529779" y="274403"/>
                  <a:pt x="526852" y="275135"/>
                  <a:pt x="522461" y="275135"/>
                </a:cubicBezTo>
                <a:cubicBezTo>
                  <a:pt x="510753" y="273671"/>
                  <a:pt x="490997" y="273671"/>
                  <a:pt x="463190" y="275135"/>
                </a:cubicBezTo>
                <a:cubicBezTo>
                  <a:pt x="445629" y="275135"/>
                  <a:pt x="431726" y="275135"/>
                  <a:pt x="421481" y="275135"/>
                </a:cubicBezTo>
                <a:lnTo>
                  <a:pt x="381968" y="277330"/>
                </a:lnTo>
                <a:cubicBezTo>
                  <a:pt x="387821" y="278793"/>
                  <a:pt x="390017" y="280988"/>
                  <a:pt x="388553" y="283915"/>
                </a:cubicBezTo>
                <a:lnTo>
                  <a:pt x="388553" y="336601"/>
                </a:lnTo>
                <a:lnTo>
                  <a:pt x="436848" y="334405"/>
                </a:lnTo>
                <a:cubicBezTo>
                  <a:pt x="442702" y="332942"/>
                  <a:pt x="452214" y="331478"/>
                  <a:pt x="465386" y="330015"/>
                </a:cubicBezTo>
                <a:cubicBezTo>
                  <a:pt x="478557" y="328551"/>
                  <a:pt x="487338" y="327820"/>
                  <a:pt x="491728" y="327820"/>
                </a:cubicBezTo>
                <a:cubicBezTo>
                  <a:pt x="500509" y="336601"/>
                  <a:pt x="508558" y="344650"/>
                  <a:pt x="515876" y="351967"/>
                </a:cubicBezTo>
                <a:cubicBezTo>
                  <a:pt x="518803" y="354894"/>
                  <a:pt x="520266" y="357089"/>
                  <a:pt x="520266" y="358553"/>
                </a:cubicBezTo>
                <a:cubicBezTo>
                  <a:pt x="518803" y="360016"/>
                  <a:pt x="515876" y="360748"/>
                  <a:pt x="511485" y="360748"/>
                </a:cubicBezTo>
                <a:cubicBezTo>
                  <a:pt x="492460" y="360748"/>
                  <a:pt x="475630" y="361480"/>
                  <a:pt x="460995" y="362943"/>
                </a:cubicBezTo>
                <a:lnTo>
                  <a:pt x="388553" y="367334"/>
                </a:lnTo>
                <a:lnTo>
                  <a:pt x="388553" y="446361"/>
                </a:lnTo>
                <a:cubicBezTo>
                  <a:pt x="426604" y="452215"/>
                  <a:pt x="477093" y="452947"/>
                  <a:pt x="540023" y="448556"/>
                </a:cubicBezTo>
                <a:lnTo>
                  <a:pt x="537828" y="463923"/>
                </a:lnTo>
                <a:cubicBezTo>
                  <a:pt x="523193" y="472704"/>
                  <a:pt x="507095" y="487339"/>
                  <a:pt x="489533" y="507827"/>
                </a:cubicBezTo>
                <a:cubicBezTo>
                  <a:pt x="485143" y="518072"/>
                  <a:pt x="475630" y="521730"/>
                  <a:pt x="460995" y="518803"/>
                </a:cubicBezTo>
                <a:cubicBezTo>
                  <a:pt x="358552" y="518803"/>
                  <a:pt x="289769" y="483680"/>
                  <a:pt x="254645" y="413433"/>
                </a:cubicBezTo>
                <a:cubicBezTo>
                  <a:pt x="235620" y="463191"/>
                  <a:pt x="200496" y="503437"/>
                  <a:pt x="149275" y="534170"/>
                </a:cubicBezTo>
                <a:lnTo>
                  <a:pt x="140494" y="525389"/>
                </a:lnTo>
                <a:cubicBezTo>
                  <a:pt x="172690" y="477094"/>
                  <a:pt x="193911" y="425141"/>
                  <a:pt x="204155" y="369529"/>
                </a:cubicBezTo>
                <a:cubicBezTo>
                  <a:pt x="208546" y="346113"/>
                  <a:pt x="210741" y="325624"/>
                  <a:pt x="210741" y="308063"/>
                </a:cubicBezTo>
                <a:cubicBezTo>
                  <a:pt x="210741" y="303672"/>
                  <a:pt x="211473" y="301477"/>
                  <a:pt x="212936" y="301477"/>
                </a:cubicBezTo>
                <a:cubicBezTo>
                  <a:pt x="214399" y="300014"/>
                  <a:pt x="217326" y="300014"/>
                  <a:pt x="221717" y="301477"/>
                </a:cubicBezTo>
                <a:cubicBezTo>
                  <a:pt x="239279" y="307331"/>
                  <a:pt x="256840" y="313185"/>
                  <a:pt x="274402" y="319039"/>
                </a:cubicBezTo>
                <a:cubicBezTo>
                  <a:pt x="278792" y="323429"/>
                  <a:pt x="280256" y="327820"/>
                  <a:pt x="278792" y="332210"/>
                </a:cubicBezTo>
                <a:cubicBezTo>
                  <a:pt x="278792" y="335137"/>
                  <a:pt x="276597" y="342454"/>
                  <a:pt x="272207" y="354162"/>
                </a:cubicBezTo>
                <a:cubicBezTo>
                  <a:pt x="267816" y="367334"/>
                  <a:pt x="264889" y="376846"/>
                  <a:pt x="263426" y="382700"/>
                </a:cubicBezTo>
                <a:cubicBezTo>
                  <a:pt x="280988" y="401725"/>
                  <a:pt x="300745" y="416360"/>
                  <a:pt x="322697" y="426604"/>
                </a:cubicBezTo>
                <a:lnTo>
                  <a:pt x="322697" y="279525"/>
                </a:lnTo>
                <a:lnTo>
                  <a:pt x="285378" y="279525"/>
                </a:lnTo>
                <a:cubicBezTo>
                  <a:pt x="266353" y="279525"/>
                  <a:pt x="238547" y="280988"/>
                  <a:pt x="201960" y="283915"/>
                </a:cubicBezTo>
                <a:lnTo>
                  <a:pt x="180008" y="250987"/>
                </a:lnTo>
                <a:cubicBezTo>
                  <a:pt x="194643" y="250987"/>
                  <a:pt x="218790" y="250255"/>
                  <a:pt x="252450" y="248792"/>
                </a:cubicBezTo>
                <a:cubicBezTo>
                  <a:pt x="265621" y="248792"/>
                  <a:pt x="273670" y="248792"/>
                  <a:pt x="276597" y="248792"/>
                </a:cubicBezTo>
                <a:lnTo>
                  <a:pt x="406115" y="244402"/>
                </a:lnTo>
                <a:cubicBezTo>
                  <a:pt x="409042" y="244402"/>
                  <a:pt x="413432" y="244402"/>
                  <a:pt x="419286" y="244402"/>
                </a:cubicBezTo>
                <a:cubicBezTo>
                  <a:pt x="457337" y="241475"/>
                  <a:pt x="483679" y="237816"/>
                  <a:pt x="498314" y="233425"/>
                </a:cubicBezTo>
                <a:close/>
                <a:moveTo>
                  <a:pt x="377577" y="136836"/>
                </a:moveTo>
                <a:lnTo>
                  <a:pt x="289769" y="141226"/>
                </a:lnTo>
                <a:lnTo>
                  <a:pt x="289769" y="178545"/>
                </a:lnTo>
                <a:lnTo>
                  <a:pt x="384163" y="174155"/>
                </a:lnTo>
                <a:cubicBezTo>
                  <a:pt x="395871" y="174155"/>
                  <a:pt x="406115" y="173423"/>
                  <a:pt x="414896" y="171959"/>
                </a:cubicBezTo>
                <a:lnTo>
                  <a:pt x="414896" y="136836"/>
                </a:lnTo>
                <a:cubicBezTo>
                  <a:pt x="406115" y="136836"/>
                  <a:pt x="393675" y="136836"/>
                  <a:pt x="377577" y="136836"/>
                </a:cubicBezTo>
                <a:close/>
                <a:moveTo>
                  <a:pt x="417091" y="68784"/>
                </a:moveTo>
                <a:lnTo>
                  <a:pt x="289769" y="73175"/>
                </a:lnTo>
                <a:lnTo>
                  <a:pt x="289769" y="112689"/>
                </a:lnTo>
                <a:lnTo>
                  <a:pt x="370991" y="108298"/>
                </a:lnTo>
                <a:cubicBezTo>
                  <a:pt x="375382" y="108298"/>
                  <a:pt x="381968" y="107566"/>
                  <a:pt x="390748" y="106103"/>
                </a:cubicBezTo>
                <a:cubicBezTo>
                  <a:pt x="398066" y="106103"/>
                  <a:pt x="403188" y="106103"/>
                  <a:pt x="406115" y="106103"/>
                </a:cubicBezTo>
                <a:cubicBezTo>
                  <a:pt x="409042" y="110493"/>
                  <a:pt x="412701" y="114884"/>
                  <a:pt x="417091" y="119274"/>
                </a:cubicBezTo>
                <a:close/>
                <a:moveTo>
                  <a:pt x="423677" y="11709"/>
                </a:moveTo>
                <a:cubicBezTo>
                  <a:pt x="425140" y="10245"/>
                  <a:pt x="428067" y="10977"/>
                  <a:pt x="432457" y="13904"/>
                </a:cubicBezTo>
                <a:cubicBezTo>
                  <a:pt x="439775" y="19758"/>
                  <a:pt x="451483" y="28539"/>
                  <a:pt x="467581" y="40247"/>
                </a:cubicBezTo>
                <a:cubicBezTo>
                  <a:pt x="480752" y="47564"/>
                  <a:pt x="488801" y="52686"/>
                  <a:pt x="491728" y="55613"/>
                </a:cubicBezTo>
                <a:cubicBezTo>
                  <a:pt x="497582" y="60003"/>
                  <a:pt x="500509" y="63662"/>
                  <a:pt x="500509" y="66589"/>
                </a:cubicBezTo>
                <a:cubicBezTo>
                  <a:pt x="500509" y="69516"/>
                  <a:pt x="497582" y="71711"/>
                  <a:pt x="491728" y="73175"/>
                </a:cubicBezTo>
                <a:cubicBezTo>
                  <a:pt x="482947" y="76102"/>
                  <a:pt x="479289" y="81956"/>
                  <a:pt x="480752" y="90736"/>
                </a:cubicBezTo>
                <a:cubicBezTo>
                  <a:pt x="479289" y="106835"/>
                  <a:pt x="478557" y="141226"/>
                  <a:pt x="478557" y="193912"/>
                </a:cubicBezTo>
                <a:cubicBezTo>
                  <a:pt x="478557" y="198302"/>
                  <a:pt x="477825" y="201229"/>
                  <a:pt x="476362" y="202692"/>
                </a:cubicBezTo>
                <a:cubicBezTo>
                  <a:pt x="467581" y="207083"/>
                  <a:pt x="450019" y="212937"/>
                  <a:pt x="423677" y="220254"/>
                </a:cubicBezTo>
                <a:cubicBezTo>
                  <a:pt x="416359" y="221718"/>
                  <a:pt x="413432" y="219522"/>
                  <a:pt x="414896" y="213668"/>
                </a:cubicBezTo>
                <a:lnTo>
                  <a:pt x="414896" y="202692"/>
                </a:lnTo>
                <a:cubicBezTo>
                  <a:pt x="407578" y="202692"/>
                  <a:pt x="399529" y="202692"/>
                  <a:pt x="390748" y="202692"/>
                </a:cubicBezTo>
                <a:lnTo>
                  <a:pt x="289769" y="207083"/>
                </a:lnTo>
                <a:cubicBezTo>
                  <a:pt x="289769" y="212937"/>
                  <a:pt x="288305" y="216595"/>
                  <a:pt x="285378" y="218059"/>
                </a:cubicBezTo>
                <a:cubicBezTo>
                  <a:pt x="266353" y="225376"/>
                  <a:pt x="248791" y="230498"/>
                  <a:pt x="232693" y="233425"/>
                </a:cubicBezTo>
                <a:cubicBezTo>
                  <a:pt x="229766" y="234889"/>
                  <a:pt x="227571" y="234889"/>
                  <a:pt x="226107" y="233425"/>
                </a:cubicBezTo>
                <a:cubicBezTo>
                  <a:pt x="226107" y="233425"/>
                  <a:pt x="226107" y="231962"/>
                  <a:pt x="226107" y="229035"/>
                </a:cubicBezTo>
                <a:cubicBezTo>
                  <a:pt x="226107" y="218791"/>
                  <a:pt x="226107" y="196839"/>
                  <a:pt x="226107" y="163179"/>
                </a:cubicBezTo>
                <a:cubicBezTo>
                  <a:pt x="227571" y="123665"/>
                  <a:pt x="228302" y="95859"/>
                  <a:pt x="228302" y="79760"/>
                </a:cubicBezTo>
                <a:cubicBezTo>
                  <a:pt x="228302" y="63662"/>
                  <a:pt x="228302" y="47564"/>
                  <a:pt x="228302" y="31466"/>
                </a:cubicBezTo>
                <a:cubicBezTo>
                  <a:pt x="226839" y="27075"/>
                  <a:pt x="226839" y="24148"/>
                  <a:pt x="228302" y="22685"/>
                </a:cubicBezTo>
                <a:cubicBezTo>
                  <a:pt x="229766" y="21221"/>
                  <a:pt x="231961" y="21221"/>
                  <a:pt x="234888" y="22685"/>
                </a:cubicBezTo>
                <a:cubicBezTo>
                  <a:pt x="243669" y="25612"/>
                  <a:pt x="258304" y="31466"/>
                  <a:pt x="278792" y="40247"/>
                </a:cubicBezTo>
                <a:cubicBezTo>
                  <a:pt x="283183" y="41710"/>
                  <a:pt x="286842" y="43173"/>
                  <a:pt x="289769" y="44637"/>
                </a:cubicBezTo>
                <a:lnTo>
                  <a:pt x="406115" y="40247"/>
                </a:lnTo>
                <a:cubicBezTo>
                  <a:pt x="410505" y="40247"/>
                  <a:pt x="414164" y="38051"/>
                  <a:pt x="417091" y="33661"/>
                </a:cubicBezTo>
                <a:cubicBezTo>
                  <a:pt x="420018" y="29270"/>
                  <a:pt x="421481" y="24148"/>
                  <a:pt x="421481" y="18294"/>
                </a:cubicBezTo>
                <a:cubicBezTo>
                  <a:pt x="422945" y="13904"/>
                  <a:pt x="423677" y="11709"/>
                  <a:pt x="423677" y="11709"/>
                </a:cubicBezTo>
                <a:close/>
                <a:moveTo>
                  <a:pt x="83418" y="733"/>
                </a:moveTo>
                <a:cubicBezTo>
                  <a:pt x="84882" y="-731"/>
                  <a:pt x="88540" y="1"/>
                  <a:pt x="94394" y="2928"/>
                </a:cubicBezTo>
                <a:cubicBezTo>
                  <a:pt x="114883" y="8782"/>
                  <a:pt x="132445" y="16099"/>
                  <a:pt x="147080" y="24880"/>
                </a:cubicBezTo>
                <a:cubicBezTo>
                  <a:pt x="151470" y="26343"/>
                  <a:pt x="153665" y="30002"/>
                  <a:pt x="153665" y="35856"/>
                </a:cubicBezTo>
                <a:cubicBezTo>
                  <a:pt x="152202" y="46100"/>
                  <a:pt x="151470" y="65857"/>
                  <a:pt x="151470" y="95127"/>
                </a:cubicBezTo>
                <a:lnTo>
                  <a:pt x="151470" y="123665"/>
                </a:lnTo>
                <a:cubicBezTo>
                  <a:pt x="166105" y="120738"/>
                  <a:pt x="180008" y="118543"/>
                  <a:pt x="193179" y="117079"/>
                </a:cubicBezTo>
                <a:cubicBezTo>
                  <a:pt x="201960" y="127323"/>
                  <a:pt x="210009" y="136104"/>
                  <a:pt x="217326" y="143422"/>
                </a:cubicBezTo>
                <a:cubicBezTo>
                  <a:pt x="218790" y="146349"/>
                  <a:pt x="219522" y="148544"/>
                  <a:pt x="219522" y="150007"/>
                </a:cubicBezTo>
                <a:cubicBezTo>
                  <a:pt x="218058" y="151471"/>
                  <a:pt x="215131" y="152202"/>
                  <a:pt x="210741" y="152202"/>
                </a:cubicBezTo>
                <a:cubicBezTo>
                  <a:pt x="187325" y="152202"/>
                  <a:pt x="168300" y="152934"/>
                  <a:pt x="153665" y="154398"/>
                </a:cubicBezTo>
                <a:lnTo>
                  <a:pt x="151470" y="154398"/>
                </a:lnTo>
                <a:cubicBezTo>
                  <a:pt x="151470" y="179277"/>
                  <a:pt x="151470" y="204888"/>
                  <a:pt x="151470" y="231230"/>
                </a:cubicBezTo>
                <a:lnTo>
                  <a:pt x="206350" y="211473"/>
                </a:lnTo>
                <a:lnTo>
                  <a:pt x="212936" y="222449"/>
                </a:lnTo>
                <a:cubicBezTo>
                  <a:pt x="195374" y="235621"/>
                  <a:pt x="174886" y="250255"/>
                  <a:pt x="151470" y="266354"/>
                </a:cubicBezTo>
                <a:cubicBezTo>
                  <a:pt x="151470" y="279525"/>
                  <a:pt x="151470" y="291965"/>
                  <a:pt x="151470" y="303672"/>
                </a:cubicBezTo>
                <a:cubicBezTo>
                  <a:pt x="150006" y="375383"/>
                  <a:pt x="145616" y="419287"/>
                  <a:pt x="138299" y="435385"/>
                </a:cubicBezTo>
                <a:cubicBezTo>
                  <a:pt x="128054" y="467582"/>
                  <a:pt x="110493" y="496119"/>
                  <a:pt x="85614" y="520999"/>
                </a:cubicBezTo>
                <a:cubicBezTo>
                  <a:pt x="73906" y="531243"/>
                  <a:pt x="65857" y="534902"/>
                  <a:pt x="61466" y="531975"/>
                </a:cubicBezTo>
                <a:cubicBezTo>
                  <a:pt x="57076" y="529048"/>
                  <a:pt x="57076" y="520267"/>
                  <a:pt x="61466" y="505632"/>
                </a:cubicBezTo>
                <a:cubicBezTo>
                  <a:pt x="64393" y="490997"/>
                  <a:pt x="62198" y="480021"/>
                  <a:pt x="54881" y="472704"/>
                </a:cubicBezTo>
                <a:cubicBezTo>
                  <a:pt x="46100" y="460996"/>
                  <a:pt x="29270" y="444898"/>
                  <a:pt x="4391" y="424409"/>
                </a:cubicBezTo>
                <a:lnTo>
                  <a:pt x="13171" y="413433"/>
                </a:lnTo>
                <a:lnTo>
                  <a:pt x="74637" y="435385"/>
                </a:lnTo>
                <a:cubicBezTo>
                  <a:pt x="79028" y="410506"/>
                  <a:pt x="82687" y="370260"/>
                  <a:pt x="85614" y="314648"/>
                </a:cubicBezTo>
                <a:cubicBezTo>
                  <a:pt x="82687" y="316112"/>
                  <a:pt x="78296" y="319039"/>
                  <a:pt x="72442" y="323429"/>
                </a:cubicBezTo>
                <a:cubicBezTo>
                  <a:pt x="63661" y="329283"/>
                  <a:pt x="57076" y="333674"/>
                  <a:pt x="52685" y="336601"/>
                </a:cubicBezTo>
                <a:cubicBezTo>
                  <a:pt x="48295" y="339527"/>
                  <a:pt x="44636" y="339527"/>
                  <a:pt x="41709" y="336601"/>
                </a:cubicBezTo>
                <a:cubicBezTo>
                  <a:pt x="41709" y="338064"/>
                  <a:pt x="40977" y="338064"/>
                  <a:pt x="39514" y="336601"/>
                </a:cubicBezTo>
                <a:cubicBezTo>
                  <a:pt x="38051" y="333674"/>
                  <a:pt x="35124" y="330015"/>
                  <a:pt x="30733" y="325624"/>
                </a:cubicBezTo>
                <a:cubicBezTo>
                  <a:pt x="17562" y="308063"/>
                  <a:pt x="8781" y="293428"/>
                  <a:pt x="4391" y="281720"/>
                </a:cubicBezTo>
                <a:lnTo>
                  <a:pt x="85614" y="253182"/>
                </a:lnTo>
                <a:cubicBezTo>
                  <a:pt x="85614" y="222449"/>
                  <a:pt x="85614" y="190985"/>
                  <a:pt x="85614" y="158788"/>
                </a:cubicBezTo>
                <a:lnTo>
                  <a:pt x="74637" y="158788"/>
                </a:lnTo>
                <a:cubicBezTo>
                  <a:pt x="57076" y="161715"/>
                  <a:pt x="40977" y="163179"/>
                  <a:pt x="26343" y="163179"/>
                </a:cubicBezTo>
                <a:lnTo>
                  <a:pt x="6586" y="132446"/>
                </a:lnTo>
                <a:cubicBezTo>
                  <a:pt x="15367" y="132446"/>
                  <a:pt x="27806" y="131714"/>
                  <a:pt x="43904" y="130250"/>
                </a:cubicBezTo>
                <a:cubicBezTo>
                  <a:pt x="54149" y="130250"/>
                  <a:pt x="61466" y="130250"/>
                  <a:pt x="65857" y="130250"/>
                </a:cubicBezTo>
                <a:lnTo>
                  <a:pt x="85614" y="128055"/>
                </a:lnTo>
                <a:lnTo>
                  <a:pt x="85614" y="95127"/>
                </a:lnTo>
                <a:cubicBezTo>
                  <a:pt x="85614" y="55613"/>
                  <a:pt x="84882" y="27807"/>
                  <a:pt x="83418" y="11709"/>
                </a:cubicBezTo>
                <a:cubicBezTo>
                  <a:pt x="81955" y="5855"/>
                  <a:pt x="81955" y="2196"/>
                  <a:pt x="83418" y="7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dist="38100" dir="2700000" algn="tl">
              <a:srgbClr val="000000">
                <a:alpha val="43137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颜宋简体_中" panose="02000000000000000000" pitchFamily="2" charset="-122"/>
              <a:ea typeface="方正颜宋简体_中" panose="02000000000000000000" pitchFamily="2" charset="-122"/>
              <a:cs typeface="方正颜宋简体_中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19637" y="1716967"/>
            <a:ext cx="5135015" cy="3961021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11.4.1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散列函数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11.4.2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散列冲突解决方法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11.4.3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散列查找算法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11.4.4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查找性能分析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11.4.5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分布式散列表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11.4.6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作业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1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450A2-FDF3-4C89-893C-CCE9B012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CAFE89-4400-44E3-87E9-BE6ABBDA38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DCFC89-081A-46FD-93FB-14DF26E4E87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3200" b="1" dirty="0"/>
              <a:t>平均比较次数</a:t>
            </a:r>
            <a:endParaRPr lang="en-US" altLang="zh-CN" sz="32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顺序查找：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二分查找：</a:t>
            </a:r>
            <a:r>
              <a:rPr lang="en-US" altLang="zh-CN" sz="3200" dirty="0"/>
              <a:t>O(log(n))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二分查找树</a:t>
            </a:r>
            <a:r>
              <a:rPr lang="en-US" altLang="zh-CN" sz="3200" dirty="0"/>
              <a:t>BST: O(d)</a:t>
            </a:r>
            <a:r>
              <a:rPr lang="zh-CN" altLang="en-US" sz="3200" dirty="0"/>
              <a:t>  </a:t>
            </a:r>
            <a:r>
              <a:rPr lang="en-US" altLang="zh-CN" sz="3200" dirty="0"/>
              <a:t>--d</a:t>
            </a:r>
            <a:r>
              <a:rPr lang="zh-CN" altLang="en-US" sz="3200" dirty="0"/>
              <a:t>是树的高度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平衡二叉树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AVL</a:t>
            </a: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O(log(n))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索引查找：由索引表决定</a:t>
            </a: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0" fontAlgn="base" hangingPunct="0">
              <a:spcAft>
                <a:spcPct val="0"/>
              </a:spcAft>
              <a:defRPr/>
            </a:pPr>
            <a:fld id="{0E4C8CDB-9E4E-4275-996B-36FC0AC755E6}" type="slidenum">
              <a:rPr lang="en-US" altLang="zh-CN" smtClean="0">
                <a:solidFill>
                  <a:srgbClr val="010000"/>
                </a:solidFill>
                <a:latin typeface="Tahoma" panose="020B0604030504040204" pitchFamily="34" charset="0"/>
              </a:rPr>
              <a:pPr defTabSz="914400" eaLnBrk="0" fontAlgn="base" hangingPunct="0"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10000"/>
              </a:solidFill>
              <a:latin typeface="Tahoma" panose="020B060403050404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97823" y="5289262"/>
            <a:ext cx="5028128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18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dirty="0">
                <a:solidFill>
                  <a:srgbClr val="010000"/>
                </a:solidFill>
              </a:rPr>
              <a:t>有没有效率更高的算法？</a:t>
            </a:r>
          </a:p>
        </p:txBody>
      </p:sp>
    </p:spTree>
    <p:extLst>
      <p:ext uri="{BB962C8B-B14F-4D97-AF65-F5344CB8AC3E}">
        <p14:creationId xmlns:p14="http://schemas.microsoft.com/office/powerpoint/2010/main" val="36887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118456" y="1377650"/>
            <a:ext cx="9955088" cy="112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：设所有学生的学号分布在区间</a:t>
            </a:r>
            <a:r>
              <a:rPr kumimoji="1" lang="en-US" altLang="zh-CN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[20220000, 20229999]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内，什么数据结构方便</a:t>
            </a: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学生信息，并实现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快速查询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kumimoji="1" lang="en-US" altLang="zh-CN" sz="2800" dirty="0">
              <a:solidFill>
                <a:srgbClr val="0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79600F1F-B43D-4986-A296-4D0312657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4E35D13-90C4-494C-BF1D-0D251A9B5BB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DDAE844-1261-4151-9254-F1678EFD2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AE63A8-AC83-4630-97BA-B54D24CF5CF5}"/>
              </a:ext>
            </a:extLst>
          </p:cNvPr>
          <p:cNvSpPr txBox="1"/>
          <p:nvPr/>
        </p:nvSpPr>
        <p:spPr>
          <a:xfrm>
            <a:off x="1497724" y="2710298"/>
            <a:ext cx="8648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最多有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名学生，可用顺序表存储，顺序表的长度（容量）为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10000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E3E6358-0CD5-4938-A4C1-4E57482F17AF}"/>
              </a:ext>
            </a:extLst>
          </p:cNvPr>
          <p:cNvGrpSpPr/>
          <p:nvPr/>
        </p:nvGrpSpPr>
        <p:grpSpPr>
          <a:xfrm>
            <a:off x="2238499" y="3626069"/>
            <a:ext cx="7706710" cy="1466910"/>
            <a:chOff x="2238499" y="3626069"/>
            <a:chExt cx="7706710" cy="1466910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6CD2F4DC-C600-4B50-896D-9AF0DC42C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8499" y="3626069"/>
              <a:ext cx="7391400" cy="990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>
                <a:latin typeface="Verdana" panose="020B0604030504040204" pitchFamily="34" charset="0"/>
              </a:endParaRPr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EA38D3F9-7279-4B82-B815-8F2DC20DC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2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B8283862-FD3F-4B13-A3B1-088927C3B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0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75E88DA7-540A-4059-BF67-8AD30CE86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8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C456CFC0-BFC2-43C5-BE50-E3EAD473C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6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F8E5F638-C4F6-45C0-90B6-3F8F3E545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606" y="3936703"/>
              <a:ext cx="5834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8236CCE2-B55E-4FA7-B583-4081B0FC6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499" y="4616669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latin typeface="Verdana" panose="020B0604030504040204" pitchFamily="34" charset="0"/>
                </a:rPr>
                <a:t>0</a:t>
              </a:r>
              <a:endParaRPr lang="en-US" altLang="zh-CN" sz="1800" b="0">
                <a:latin typeface="Verdana" panose="020B0604030504040204" pitchFamily="34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15833712-B1CB-457F-B970-5243D8B15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299" y="4616669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latin typeface="Verdana" panose="020B0604030504040204" pitchFamily="34" charset="0"/>
                </a:rPr>
                <a:t>1</a:t>
              </a:r>
              <a:endParaRPr lang="en-US" altLang="zh-CN" sz="1800" b="0">
                <a:latin typeface="Verdana" panose="020B0604030504040204" pitchFamily="34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FBC6072A-5FBE-4B15-AD9B-831556102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099" y="4616669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latin typeface="Verdana" panose="020B0604030504040204" pitchFamily="34" charset="0"/>
                </a:rPr>
                <a:t>2</a:t>
              </a:r>
              <a:endParaRPr lang="en-US" altLang="zh-CN" sz="1800" b="0">
                <a:latin typeface="Verdana" panose="020B0604030504040204" pitchFamily="34" charset="0"/>
              </a:endParaRPr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328722A7-4004-46AE-ACF8-2BAE98E59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899" y="4616669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latin typeface="Verdana" panose="020B0604030504040204" pitchFamily="34" charset="0"/>
                </a:rPr>
                <a:t>3</a:t>
              </a:r>
              <a:endParaRPr lang="en-US" altLang="zh-CN" sz="1800" b="0">
                <a:latin typeface="Verdana" panose="020B0604030504040204" pitchFamily="34" charset="0"/>
              </a:endParaRP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id="{F8E10FF4-795A-447E-95AE-BFAAFAC21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6518" y="4692869"/>
              <a:ext cx="8386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latin typeface="Verdana" panose="020B0604030504040204" pitchFamily="34" charset="0"/>
                </a:rPr>
                <a:t>9999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31" name="Line 8">
              <a:extLst>
                <a:ext uri="{FF2B5EF4-FFF2-40B4-BE49-F238E27FC236}">
                  <a16:creationId xmlns:a16="http://schemas.microsoft.com/office/drawing/2014/main" id="{08803D75-8277-427F-9693-956CFD0E3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80278" y="3635265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9">
              <a:extLst>
                <a:ext uri="{FF2B5EF4-FFF2-40B4-BE49-F238E27FC236}">
                  <a16:creationId xmlns:a16="http://schemas.microsoft.com/office/drawing/2014/main" id="{C7A657EE-5EA9-4C09-9315-49880FA2D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2334" y="3918889"/>
              <a:ext cx="5834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33" name="Text Box 9">
              <a:extLst>
                <a:ext uri="{FF2B5EF4-FFF2-40B4-BE49-F238E27FC236}">
                  <a16:creationId xmlns:a16="http://schemas.microsoft.com/office/drawing/2014/main" id="{F359D387-FCE8-4DDE-96E6-43DE1C43F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0319" y="3956989"/>
              <a:ext cx="5834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 dirty="0">
                  <a:latin typeface="Verdana" panose="020B0604030504040204" pitchFamily="34" charset="0"/>
                </a:rPr>
                <a:t>...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0E387FF-2637-4366-AF02-894B0EA8D01B}"/>
                  </a:ext>
                </a:extLst>
              </p:cNvPr>
              <p:cNvSpPr txBox="1"/>
              <p:nvPr/>
            </p:nvSpPr>
            <p:spPr>
              <a:xfrm>
                <a:off x="1584778" y="5203218"/>
                <a:ext cx="780322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学号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的学生的信息</a:t>
                </a:r>
                <a:r>
                  <a:rPr lang="zh-CN" altLang="en-US" sz="20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记录在表中哪个位置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，查询最简单、最方便？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0E387FF-2637-4366-AF02-894B0EA8D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778" y="5203218"/>
                <a:ext cx="7803226" cy="400110"/>
              </a:xfrm>
              <a:prstGeom prst="rect">
                <a:avLst/>
              </a:prstGeom>
              <a:blipFill>
                <a:blip r:embed="rId3"/>
                <a:stretch>
                  <a:fillRect l="-703" t="-9231" r="-78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2978A374-82CC-4ECF-B702-37EFA52E04B1}"/>
              </a:ext>
            </a:extLst>
          </p:cNvPr>
          <p:cNvSpPr txBox="1"/>
          <p:nvPr/>
        </p:nvSpPr>
        <p:spPr>
          <a:xfrm>
            <a:off x="1895440" y="5724278"/>
            <a:ext cx="787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使用函数 </a:t>
            </a:r>
            <a:r>
              <a:rPr lang="en-US" altLang="zh-CN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H(k) = k – 20220000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表中记录学生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的位置（索引）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48027F-B38E-4650-A706-BEF801DC7FE5}"/>
              </a:ext>
            </a:extLst>
          </p:cNvPr>
          <p:cNvSpPr txBox="1"/>
          <p:nvPr/>
        </p:nvSpPr>
        <p:spPr>
          <a:xfrm>
            <a:off x="9517747" y="5693500"/>
            <a:ext cx="1923925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查询时间：</a:t>
            </a:r>
            <a:r>
              <a:rPr lang="en-US" altLang="zh-CN" sz="2000" dirty="0">
                <a:solidFill>
                  <a:srgbClr val="FF0000"/>
                </a:solidFill>
              </a:rPr>
              <a:t>O(1)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79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2" grpId="0"/>
      <p:bldP spid="34" grpId="0"/>
      <p:bldP spid="4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045398" y="1355369"/>
            <a:ext cx="9217954" cy="112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取出学号的后四位，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不需要经过比较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，便可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从查找表中</a:t>
            </a:r>
            <a:r>
              <a:rPr kumimoji="1" lang="zh-CN" altLang="en-US" sz="28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给定学生的记录。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79600F1F-B43D-4986-A296-4D0312657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4E35D13-90C4-494C-BF1D-0D251A9B5BB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DDAE844-1261-4151-9254-F1678EFD2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BE76FAF-9207-4241-B834-FF043D691271}"/>
              </a:ext>
            </a:extLst>
          </p:cNvPr>
          <p:cNvGrpSpPr/>
          <p:nvPr/>
        </p:nvGrpSpPr>
        <p:grpSpPr>
          <a:xfrm>
            <a:off x="3569954" y="5515488"/>
            <a:ext cx="4574627" cy="891941"/>
            <a:chOff x="2238499" y="3626069"/>
            <a:chExt cx="7443818" cy="1343799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BF9A74FE-7BF1-408F-9381-1A367FF5D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8499" y="3626069"/>
              <a:ext cx="7391400" cy="990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100" b="0">
                <a:latin typeface="Verdana" panose="020B0604030504040204" pitchFamily="34" charset="0"/>
              </a:endParaRPr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AA16F27E-1B03-469E-A883-D381557DE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2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100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0C6FBF98-B388-4DC1-84AA-BBA5A57E5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0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100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1A766835-6BCA-4A63-83F8-7FB77B9A5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8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100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4A6B65D2-2BFF-40D9-AC6F-E78E7F4BD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7699" y="3626069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100"/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09A96373-AAC4-4CAD-9529-E5E8CF2B1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606" y="3936703"/>
              <a:ext cx="58348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100" b="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8A756DD7-6EAE-439D-B058-B3195D82D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8499" y="4616669"/>
              <a:ext cx="2824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0">
                  <a:latin typeface="Verdana" panose="020B0604030504040204" pitchFamily="34" charset="0"/>
                </a:rPr>
                <a:t>0</a:t>
              </a:r>
              <a:endParaRPr lang="en-US" altLang="zh-CN" sz="1100" b="0">
                <a:latin typeface="Verdana" panose="020B0604030504040204" pitchFamily="34" charset="0"/>
              </a:endParaRPr>
            </a:p>
          </p:txBody>
        </p:sp>
        <p:sp>
          <p:nvSpPr>
            <p:cNvPr id="21" name="Text Box 11">
              <a:extLst>
                <a:ext uri="{FF2B5EF4-FFF2-40B4-BE49-F238E27FC236}">
                  <a16:creationId xmlns:a16="http://schemas.microsoft.com/office/drawing/2014/main" id="{22471275-5D52-4628-8492-23D9FE2C2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299" y="4616669"/>
              <a:ext cx="2824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0">
                  <a:latin typeface="Verdana" panose="020B0604030504040204" pitchFamily="34" charset="0"/>
                </a:rPr>
                <a:t>1</a:t>
              </a:r>
              <a:endParaRPr lang="en-US" altLang="zh-CN" sz="1100" b="0">
                <a:latin typeface="Verdana" panose="020B0604030504040204" pitchFamily="34" charset="0"/>
              </a:endParaRPr>
            </a:p>
          </p:txBody>
        </p:sp>
        <p:sp>
          <p:nvSpPr>
            <p:cNvPr id="22" name="Text Box 12">
              <a:extLst>
                <a:ext uri="{FF2B5EF4-FFF2-40B4-BE49-F238E27FC236}">
                  <a16:creationId xmlns:a16="http://schemas.microsoft.com/office/drawing/2014/main" id="{E7293434-7181-4C96-A350-C5DF382A5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099" y="4616669"/>
              <a:ext cx="2824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0">
                  <a:latin typeface="Verdana" panose="020B0604030504040204" pitchFamily="34" charset="0"/>
                </a:rPr>
                <a:t>2</a:t>
              </a:r>
              <a:endParaRPr lang="en-US" altLang="zh-CN" sz="1100" b="0">
                <a:latin typeface="Verdana" panose="020B0604030504040204" pitchFamily="34" charset="0"/>
              </a:endParaRPr>
            </a:p>
          </p:txBody>
        </p:sp>
        <p:sp>
          <p:nvSpPr>
            <p:cNvPr id="23" name="Text Box 13">
              <a:extLst>
                <a:ext uri="{FF2B5EF4-FFF2-40B4-BE49-F238E27FC236}">
                  <a16:creationId xmlns:a16="http://schemas.microsoft.com/office/drawing/2014/main" id="{7561289C-ACD8-410F-B261-DD9C2F049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899" y="4616669"/>
              <a:ext cx="2824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0">
                  <a:latin typeface="Verdana" panose="020B0604030504040204" pitchFamily="34" charset="0"/>
                </a:rPr>
                <a:t>3</a:t>
              </a:r>
              <a:endParaRPr lang="en-US" altLang="zh-CN" sz="1100" b="0">
                <a:latin typeface="Verdana" panose="020B0604030504040204" pitchFamily="34" charset="0"/>
              </a:endParaRPr>
            </a:p>
          </p:txBody>
        </p:sp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id="{1841BADA-AFEC-439E-A3EC-D9EAA2BEC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6518" y="4692869"/>
              <a:ext cx="57579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0" dirty="0">
                  <a:latin typeface="Verdana" panose="020B0604030504040204" pitchFamily="34" charset="0"/>
                </a:rPr>
                <a:t>9999</a:t>
              </a:r>
              <a:endParaRPr lang="en-US" altLang="zh-CN" sz="1100" b="0" dirty="0">
                <a:latin typeface="Verdana" panose="020B0604030504040204" pitchFamily="34" charset="0"/>
              </a:endParaRPr>
            </a:p>
          </p:txBody>
        </p:sp>
        <p:sp>
          <p:nvSpPr>
            <p:cNvPr id="25" name="Line 8">
              <a:extLst>
                <a:ext uri="{FF2B5EF4-FFF2-40B4-BE49-F238E27FC236}">
                  <a16:creationId xmlns:a16="http://schemas.microsoft.com/office/drawing/2014/main" id="{716B1603-54B8-4FFE-A8B4-2D6FE8F1D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80278" y="3635265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100"/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0717B386-3A2D-433C-AB86-491F9A5FF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2334" y="3918889"/>
              <a:ext cx="58348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100" b="0" dirty="0">
                  <a:latin typeface="Verdana" panose="020B0604030504040204" pitchFamily="34" charset="0"/>
                </a:rPr>
                <a:t>...</a:t>
              </a:r>
            </a:p>
          </p:txBody>
        </p:sp>
        <p:sp>
          <p:nvSpPr>
            <p:cNvPr id="27" name="Text Box 9">
              <a:extLst>
                <a:ext uri="{FF2B5EF4-FFF2-40B4-BE49-F238E27FC236}">
                  <a16:creationId xmlns:a16="http://schemas.microsoft.com/office/drawing/2014/main" id="{F57108E1-93DA-4751-98C4-C386BDCEA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0319" y="3956989"/>
              <a:ext cx="58348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100" b="0" dirty="0">
                  <a:latin typeface="Verdana" panose="020B0604030504040204" pitchFamily="34" charset="0"/>
                </a:rPr>
                <a:t>...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579CF1F-427D-442C-9343-BBBD1EC842E0}"/>
              </a:ext>
            </a:extLst>
          </p:cNvPr>
          <p:cNvSpPr txBox="1"/>
          <p:nvPr/>
        </p:nvSpPr>
        <p:spPr>
          <a:xfrm>
            <a:off x="5184748" y="3828163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H(k)</a:t>
            </a:r>
            <a:r>
              <a:rPr lang="en-US" altLang="zh-CN" dirty="0"/>
              <a:t>   = k – 20220000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72CDC17-5E50-4AA0-9879-5EA3885542F8}"/>
              </a:ext>
            </a:extLst>
          </p:cNvPr>
          <p:cNvSpPr/>
          <p:nvPr/>
        </p:nvSpPr>
        <p:spPr>
          <a:xfrm>
            <a:off x="5161066" y="3713284"/>
            <a:ext cx="575037" cy="599090"/>
          </a:xfrm>
          <a:prstGeom prst="ellipse">
            <a:avLst/>
          </a:prstGeom>
          <a:noFill/>
          <a:ln w="28575">
            <a:solidFill>
              <a:srgbClr val="19A3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3942DF8-8F07-40D8-BB8D-883776F7F3B3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3639292" y="4312374"/>
            <a:ext cx="1809293" cy="118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62EFEA1-78C9-4BB7-AB89-78F95BC87E89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3875250" y="4312374"/>
            <a:ext cx="1573335" cy="118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8A60A79-2C59-4434-8395-BF4A4D888F77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4053295" y="4312374"/>
            <a:ext cx="1395290" cy="118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7AFA0DE1-5C90-4A07-9A23-690D8D107DEF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5448585" y="4312374"/>
            <a:ext cx="2588693" cy="118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F4F310E-F7BD-49F3-8AF5-07E2B9E6C464}"/>
              </a:ext>
            </a:extLst>
          </p:cNvPr>
          <p:cNvCxnSpPr>
            <a:cxnSpLocks/>
            <a:stCxn id="4" idx="4"/>
          </p:cNvCxnSpPr>
          <p:nvPr/>
        </p:nvCxnSpPr>
        <p:spPr>
          <a:xfrm flipH="1">
            <a:off x="5184748" y="4312374"/>
            <a:ext cx="263837" cy="118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8AEC910-CB92-45D7-AA94-AA96430581A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5448585" y="2996554"/>
            <a:ext cx="0" cy="71673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9E3B3A0-8029-4FF3-9F3D-E954D27A21A1}"/>
              </a:ext>
            </a:extLst>
          </p:cNvPr>
          <p:cNvSpPr txBox="1"/>
          <p:nvPr/>
        </p:nvSpPr>
        <p:spPr>
          <a:xfrm>
            <a:off x="4859612" y="2545626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B2A0128-6B92-411B-9567-E687B8FC48B7}"/>
              </a:ext>
            </a:extLst>
          </p:cNvPr>
          <p:cNvCxnSpPr>
            <a:cxnSpLocks/>
          </p:cNvCxnSpPr>
          <p:nvPr/>
        </p:nvCxnSpPr>
        <p:spPr>
          <a:xfrm>
            <a:off x="4664048" y="5196480"/>
            <a:ext cx="495372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F98BDEB8-28CC-4201-AAA2-CB21838FF952}"/>
              </a:ext>
            </a:extLst>
          </p:cNvPr>
          <p:cNvCxnSpPr/>
          <p:nvPr/>
        </p:nvCxnSpPr>
        <p:spPr>
          <a:xfrm>
            <a:off x="5822376" y="5222756"/>
            <a:ext cx="653027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标注: 左箭头 64">
            <a:extLst>
              <a:ext uri="{FF2B5EF4-FFF2-40B4-BE49-F238E27FC236}">
                <a16:creationId xmlns:a16="http://schemas.microsoft.com/office/drawing/2014/main" id="{4DB30737-8070-4B97-BFCF-BDACA29E5D8B}"/>
              </a:ext>
            </a:extLst>
          </p:cNvPr>
          <p:cNvSpPr/>
          <p:nvPr/>
        </p:nvSpPr>
        <p:spPr>
          <a:xfrm>
            <a:off x="7347520" y="3348283"/>
            <a:ext cx="3522770" cy="1292772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6301"/>
            </a:avLst>
          </a:prstGeom>
          <a:solidFill>
            <a:srgbClr val="00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H(k)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记录学生信息的位置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不需要在表中顺序或二分</a:t>
            </a:r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85922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1183268" y="1885374"/>
            <a:ext cx="9433644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一般情况下，需在关键字与记录在表中的存储位置之间建立一个</a:t>
            </a:r>
            <a:r>
              <a:rPr kumimoji="1" lang="zh-CN" altLang="en-US" sz="28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函数关系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 </a:t>
            </a:r>
            <a:r>
              <a:rPr kumimoji="1"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作为关键字为 </a:t>
            </a:r>
            <a:r>
              <a:rPr kumimoji="1" lang="en-US" altLang="zh-CN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 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的记录在表中的位置，通常称这个函数 </a:t>
            </a:r>
            <a:r>
              <a:rPr kumimoji="1" lang="en-US" altLang="zh-CN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sz="2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散列函数。</a:t>
            </a: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639616" y="4465623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srgbClr val="01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5" name="Object 5"/>
          <p:cNvGraphicFramePr>
            <a:graphicFrameLocks noChangeAspect="1"/>
          </p:cNvGraphicFramePr>
          <p:nvPr/>
        </p:nvGraphicFramePr>
        <p:xfrm>
          <a:off x="3143672" y="4221088"/>
          <a:ext cx="5215855" cy="1284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4535" imgH="577413" progId="Visio.Drawing.11">
                  <p:embed/>
                </p:oleObj>
              </mc:Choice>
              <mc:Fallback>
                <p:oleObj name="Visio" r:id="rId3" imgW="2334535" imgH="577413" progId="Visio.Drawing.11">
                  <p:embed/>
                  <p:pic>
                    <p:nvPicPr>
                      <p:cNvPr id="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4221088"/>
                        <a:ext cx="5215855" cy="12842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1162288" y="1078411"/>
            <a:ext cx="2954656" cy="59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algn="ctr" eaLnBrk="1" fontAlgn="auto" hangingPunct="1">
              <a:lnSpc>
                <a:spcPct val="90000"/>
              </a:lnSpc>
              <a:spcAft>
                <a:spcPts val="0"/>
              </a:spcAft>
              <a:defRPr sz="360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defTabSz="914400">
              <a:spcBef>
                <a:spcPct val="0"/>
              </a:spcBef>
              <a:defRPr/>
            </a:pPr>
            <a:r>
              <a:rPr lang="zh-CN" altLang="en-US" dirty="0"/>
              <a:t>散列函数定义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35E457-E509-4ECB-8826-31B9FA34E8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BC700F-A509-4CD0-9B7D-4D279C2EB87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1BAA156-0D1A-467C-9E75-74D337BE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303575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2DE5B249-97C9-4755-A89D-B60369D691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9732FD-F065-4695-92D0-4E93D74A811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60000"/>
              </a:spcBef>
              <a:buClr>
                <a:schemeClr val="tx1"/>
              </a:buClr>
              <a:buChar char="•"/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40000"/>
              </a:spcBef>
              <a:buClr>
                <a:schemeClr val="tx1"/>
              </a:buClr>
              <a:buChar char="–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5000"/>
              </a:lnSpc>
              <a:spcBef>
                <a:spcPct val="35000"/>
              </a:spcBef>
              <a:buChar char="•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75000"/>
              </a:lnSpc>
              <a:spcBef>
                <a:spcPct val="30000"/>
              </a:spcBef>
              <a:buChar char="–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75000"/>
              </a:lnSpc>
              <a:spcBef>
                <a:spcPct val="30000"/>
              </a:spcBef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75000"/>
              </a:lnSpc>
              <a:spcBef>
                <a:spcPct val="3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defTabSz="914400" eaLnBrk="0" fontAlgn="base" hangingPunct="0">
              <a:spcBef>
                <a:spcPct val="20000"/>
              </a:spcBef>
              <a:spcAft>
                <a:spcPct val="0"/>
              </a:spcAft>
              <a:buClrTx/>
              <a:buFontTx/>
              <a:buNone/>
              <a:defRPr/>
            </a:pPr>
            <a:fld id="{1CEDACF2-0E1B-428E-B42C-CEE98C2BC1B7}" type="slidenum">
              <a:rPr lang="en-US" altLang="zh-CN" sz="1400" b="0" smtClean="0">
                <a:solidFill>
                  <a:srgbClr val="01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defTabSz="914400" eaLnBrk="0" fontAlgn="base" hangingPunct="0">
                <a:spcBef>
                  <a:spcPct val="2000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t>8</a:t>
            </a:fld>
            <a:endParaRPr lang="en-US" altLang="zh-CN" sz="1400" b="0">
              <a:solidFill>
                <a:srgbClr val="01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727994" y="1611998"/>
            <a:ext cx="10225136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将关键字的集合映射到某个地址集合上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它的设置很灵活，只要这个地址集合的大小不超出允许范围即可；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455CD56-947F-4361-BD1B-9D0A9567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467743F2-3C77-480D-8A6E-405050D2DF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8530130"/>
              </p:ext>
            </p:extLst>
          </p:nvPr>
        </p:nvGraphicFramePr>
        <p:xfrm>
          <a:off x="3136533" y="2693897"/>
          <a:ext cx="5650920" cy="3483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下弧形箭头 10">
            <a:extLst>
              <a:ext uri="{FF2B5EF4-FFF2-40B4-BE49-F238E27FC236}">
                <a16:creationId xmlns:a16="http://schemas.microsoft.com/office/drawing/2014/main" id="{ED3948A1-0911-4F5A-B514-220C87DD68E6}"/>
              </a:ext>
            </a:extLst>
          </p:cNvPr>
          <p:cNvSpPr/>
          <p:nvPr/>
        </p:nvSpPr>
        <p:spPr>
          <a:xfrm>
            <a:off x="4219192" y="5276688"/>
            <a:ext cx="2966225" cy="512957"/>
          </a:xfrm>
          <a:prstGeom prst="curvedUpArrow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18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映射关系</a:t>
            </a:r>
          </a:p>
        </p:txBody>
      </p:sp>
    </p:spTree>
    <p:extLst>
      <p:ext uri="{BB962C8B-B14F-4D97-AF65-F5344CB8AC3E}">
        <p14:creationId xmlns:p14="http://schemas.microsoft.com/office/powerpoint/2010/main" val="316332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5D652E5-2F91-48A3-A8A8-5DEC7F5509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E552278-7215-48F8-B310-16FBCE2717D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  <a:defRPr/>
            </a:pPr>
            <a:fld id="{C7CBEE40-E024-48A8-A719-1279B1A3D1B1}" type="slidenum">
              <a:rPr lang="en-US" altLang="zh-CN" smtClean="0">
                <a:solidFill>
                  <a:srgbClr val="010000"/>
                </a:solidFill>
              </a:rPr>
              <a:pPr defTabSz="914400" eaLnBrk="0" fontAlgn="base" hangingPunct="0">
                <a:spcAft>
                  <a:spcPct val="0"/>
                </a:spcAft>
                <a:defRPr/>
              </a:pPr>
              <a:t>9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67408" y="1196752"/>
            <a:ext cx="10225136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将关键字的集合映射到某个地址集合上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它的设置很灵活，只要这个地址集合的大小不超出允许范围即可；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87232" y="2492896"/>
            <a:ext cx="10133304" cy="108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，因此，在一般情况下，很容易产生“</a:t>
            </a:r>
            <a:r>
              <a:rPr kumimoji="1" lang="zh-CN" altLang="en-US" sz="2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”现象，即：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key1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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key2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 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H(key1) = H(key2)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7408" y="4017593"/>
            <a:ext cx="10133304" cy="56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algn="ctr"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% 10</a:t>
            </a:r>
            <a:endParaRPr kumimoji="1" lang="zh-CN" altLang="en-US" sz="2600" dirty="0">
              <a:solidFill>
                <a:srgbClr val="0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62CEB44-0CCA-40E6-BEFF-DA4CE84B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431EAA-2122-4453-BF1B-7D9BAE7750EC}"/>
              </a:ext>
            </a:extLst>
          </p:cNvPr>
          <p:cNvSpPr txBox="1"/>
          <p:nvPr/>
        </p:nvSpPr>
        <p:spPr>
          <a:xfrm>
            <a:off x="4199762" y="4838957"/>
            <a:ext cx="3158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H(2) = 2, H(12)=12, H(102)=2,….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B49CA6-6AF6-4BE4-8AFE-EE4F7E8BAD10}"/>
              </a:ext>
            </a:extLst>
          </p:cNvPr>
          <p:cNvSpPr txBox="1"/>
          <p:nvPr/>
        </p:nvSpPr>
        <p:spPr>
          <a:xfrm>
            <a:off x="4241546" y="5312262"/>
            <a:ext cx="3185487" cy="369332"/>
          </a:xfrm>
          <a:prstGeom prst="rect">
            <a:avLst/>
          </a:prstGeom>
          <a:solidFill>
            <a:srgbClr val="009999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个位相同的关键字全部冲突！</a:t>
            </a:r>
          </a:p>
        </p:txBody>
      </p:sp>
    </p:spTree>
    <p:extLst>
      <p:ext uri="{BB962C8B-B14F-4D97-AF65-F5344CB8AC3E}">
        <p14:creationId xmlns:p14="http://schemas.microsoft.com/office/powerpoint/2010/main" val="24086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2" grpId="0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13324" y="3497451"/>
            <a:ext cx="9900173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kumimoji="1" sz="2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srgbClr val="010000"/>
                </a:solidFill>
              </a:rPr>
              <a:t>3)  </a:t>
            </a:r>
            <a:r>
              <a:rPr lang="zh-CN" altLang="en-US" b="1" dirty="0">
                <a:solidFill>
                  <a:srgbClr val="010000"/>
                </a:solidFill>
              </a:rPr>
              <a:t>很难</a:t>
            </a:r>
            <a:r>
              <a:rPr lang="zh-CN" altLang="en-US" dirty="0">
                <a:solidFill>
                  <a:srgbClr val="010000"/>
                </a:solidFill>
              </a:rPr>
              <a:t>找到一个不产生冲突的散列函数。一般情况下，</a:t>
            </a:r>
            <a:r>
              <a:rPr lang="zh-CN" altLang="en-US" b="1" dirty="0">
                <a:solidFill>
                  <a:srgbClr val="010000"/>
                </a:solidFill>
              </a:rPr>
              <a:t>只能</a:t>
            </a:r>
            <a:r>
              <a:rPr lang="zh-CN" altLang="en-US" dirty="0">
                <a:solidFill>
                  <a:srgbClr val="010000"/>
                </a:solidFill>
              </a:rPr>
              <a:t>选择恰当的散列函数，使冲突尽可能少地产生。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118907" y="4802220"/>
            <a:ext cx="5755967" cy="1569660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defTabSz="914400" eaLnBrk="0" fontAlgn="base" hangingPunct="0">
              <a:spcAft>
                <a:spcPct val="0"/>
              </a:spcAft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因此，散列查找需要做两方面事情：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defTabSz="914400" eaLnBrk="0" fontAlgn="base" hangingPunct="0">
              <a:spcAft>
                <a:spcPct val="0"/>
              </a:spcAft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）选择一个“</a:t>
            </a:r>
            <a:r>
              <a:rPr lang="zh-CN" altLang="en-US" sz="2400" b="1" dirty="0">
                <a:solidFill>
                  <a:schemeClr val="bg1"/>
                </a:solidFill>
              </a:rPr>
              <a:t>好</a:t>
            </a:r>
            <a:r>
              <a:rPr lang="zh-CN" altLang="en-US" sz="2400" dirty="0">
                <a:solidFill>
                  <a:schemeClr val="bg1"/>
                </a:solidFill>
              </a:rPr>
              <a:t>”的</a:t>
            </a:r>
            <a:r>
              <a:rPr lang="zh-CN" altLang="en-US" sz="2400" dirty="0">
                <a:solidFill>
                  <a:srgbClr val="FFFF00"/>
                </a:solidFill>
              </a:rPr>
              <a:t>散列函数</a:t>
            </a:r>
            <a:r>
              <a:rPr lang="zh-CN" altLang="en-US" sz="2400" dirty="0">
                <a:solidFill>
                  <a:schemeClr val="bg1"/>
                </a:solidFill>
              </a:rPr>
              <a:t>；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eaLnBrk="0" fontAlgn="base" hangingPunct="0">
              <a:spcAft>
                <a:spcPct val="0"/>
              </a:spcAft>
              <a:defRPr/>
            </a:pPr>
            <a:r>
              <a:rPr lang="zh-CN" altLang="en-US" sz="2400" dirty="0">
                <a:solidFill>
                  <a:schemeClr val="bg1"/>
                </a:solidFill>
              </a:rPr>
              <a:t>（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）提供一种“</a:t>
            </a:r>
            <a:r>
              <a:rPr lang="zh-CN" altLang="en-US" sz="2400" b="1" dirty="0">
                <a:solidFill>
                  <a:schemeClr val="bg1"/>
                </a:solidFill>
              </a:rPr>
              <a:t>好</a:t>
            </a:r>
            <a:r>
              <a:rPr lang="zh-CN" altLang="en-US" sz="2400" dirty="0">
                <a:solidFill>
                  <a:schemeClr val="bg1"/>
                </a:solidFill>
              </a:rPr>
              <a:t>”的</a:t>
            </a:r>
            <a:r>
              <a:rPr lang="zh-CN" altLang="en-US" sz="2400" dirty="0">
                <a:solidFill>
                  <a:srgbClr val="FFFF00"/>
                </a:solidFill>
              </a:rPr>
              <a:t>冲突处理</a:t>
            </a:r>
            <a:r>
              <a:rPr lang="zh-CN" altLang="en-US" sz="2400" dirty="0">
                <a:solidFill>
                  <a:schemeClr val="bg1"/>
                </a:solidFill>
              </a:rPr>
              <a:t>方法。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767408" y="1196752"/>
            <a:ext cx="10244806" cy="1081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，即：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将关键字的集合映射到某个地址集合上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它的设置很灵活，只要这个地址集合的大小不超出允许范围即可；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13324" y="2336566"/>
            <a:ext cx="10133304" cy="108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500" rIns="13500">
            <a:spAutoFit/>
          </a:bodyPr>
          <a:lstStyle/>
          <a:p>
            <a:pPr defTabSz="91440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 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由于散列函数是一个</a:t>
            </a:r>
            <a:r>
              <a:rPr kumimoji="1" lang="zh-CN" altLang="en-US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压缩映象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，因此，在一般情况下，很容易产生“冲突”现象，即：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key1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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key2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  </a:t>
            </a:r>
            <a:r>
              <a:rPr kumimoji="1" lang="en-US" altLang="zh-CN" sz="2600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H(key1) = H(key2)</a:t>
            </a:r>
            <a:r>
              <a:rPr kumimoji="1" lang="zh-CN" altLang="en-US" sz="26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7ABF8B-1ADA-40E2-B90C-35B5E115C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8E3120-85ED-4780-BB63-551D043A865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CBAD162-599A-4104-BE03-4B9E61B1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35BD38B0-59BB-41CE-9E08-7C5940C85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14"/>
          <a:stretch/>
        </p:blipFill>
        <p:spPr bwMode="auto">
          <a:xfrm>
            <a:off x="8234034" y="4735558"/>
            <a:ext cx="2155441" cy="170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94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DA81CA1D-CCA4-41A9-A958-966BDB2B3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8E3511-1FE2-4EBF-8930-2E19298E4C4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1"/>
          </p:nvPr>
        </p:nvSpPr>
        <p:spPr>
          <a:xfrm>
            <a:off x="419446" y="914009"/>
            <a:ext cx="2181864" cy="704919"/>
          </a:xfr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散列表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134600" y="5634038"/>
            <a:ext cx="2057400" cy="365125"/>
          </a:xfrm>
          <a:ln/>
        </p:spPr>
        <p:txBody>
          <a:bodyPr/>
          <a:lstStyle/>
          <a:p>
            <a:pPr defTabSz="914400" eaLnBrk="0" fontAlgn="base" hangingPunct="0">
              <a:spcAft>
                <a:spcPct val="0"/>
              </a:spcAft>
              <a:defRPr/>
            </a:pPr>
            <a:fld id="{5BF8C406-DEAA-4E17-A5A9-32A1242BCF9B}" type="slidenum">
              <a:rPr lang="en-US" altLang="zh-CN">
                <a:solidFill>
                  <a:srgbClr val="010000"/>
                </a:solidFill>
              </a:rPr>
              <a:pPr defTabSz="914400" eaLnBrk="0" fontAlgn="base" hangingPunct="0">
                <a:spcAft>
                  <a:spcPct val="0"/>
                </a:spcAft>
                <a:defRPr/>
              </a:pPr>
              <a:t>11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127448" y="1597288"/>
            <a:ext cx="9937104" cy="1213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根据设定的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 </a:t>
            </a:r>
            <a:r>
              <a:rPr kumimoji="1" lang="en-US" altLang="zh-CN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</a:t>
            </a:r>
            <a:r>
              <a:rPr kumimoji="1" lang="en-US" altLang="zh-CN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和提供的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处理冲突的方法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，将一组关键字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映象到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1" lang="zh-CN" altLang="en-US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地址连续的地址空间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上，并以关键字在地址空间中的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“象”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作为相应记录在表中的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存储位置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，如此构造所得的查找表称之为</a:t>
            </a:r>
            <a:r>
              <a:rPr kumimoji="1" lang="zh-CN" altLang="en-US" b="1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</a:t>
            </a:r>
            <a:r>
              <a:rPr kumimoji="1" lang="zh-CN" altLang="en-US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879764"/>
              </p:ext>
            </p:extLst>
          </p:nvPr>
        </p:nvGraphicFramePr>
        <p:xfrm>
          <a:off x="1435591" y="3746203"/>
          <a:ext cx="5229620" cy="128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34535" imgH="577413" progId="Visio.Drawing.11">
                  <p:embed/>
                </p:oleObj>
              </mc:Choice>
              <mc:Fallback>
                <p:oleObj name="Visio" r:id="rId3" imgW="2334535" imgH="577413" progId="Visio.Drawing.11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591" y="3746203"/>
                        <a:ext cx="5229620" cy="1287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235791" y="5029608"/>
            <a:ext cx="17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en-US" altLang="zh-CN" sz="1800" dirty="0">
                <a:solidFill>
                  <a:srgbClr val="01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C(key)</a:t>
            </a:r>
            <a:endParaRPr lang="zh-CN" altLang="en-US" sz="1800" dirty="0">
              <a:solidFill>
                <a:srgbClr val="01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16577" y="4048680"/>
            <a:ext cx="2800393" cy="83099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buFontTx/>
              <a:buChar char="•"/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>
                <a:solidFill>
                  <a:srgbClr val="C0C0C0">
                    <a:lumMod val="20000"/>
                    <a:lumOff val="80000"/>
                  </a:srgbClr>
                </a:solidFill>
              </a:rPr>
              <a:t>地址空间存储的数据集合称为散列表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F9C70B9-3E92-45E3-A2C7-18B36AB2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11.4.1</a:t>
            </a:r>
            <a:r>
              <a:rPr lang="zh-CN" altLang="en-US" dirty="0"/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2901669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BA99A9CD-8F32-494D-AFC4-CFC15A42E5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A0FC635-A594-4D61-9CFB-B26CAAB270C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469" y="1627198"/>
            <a:ext cx="2888812" cy="4356079"/>
          </a:xfrm>
        </p:spPr>
      </p:pic>
      <p:sp>
        <p:nvSpPr>
          <p:cNvPr id="3" name="矩形 2"/>
          <p:cNvSpPr/>
          <p:nvPr/>
        </p:nvSpPr>
        <p:spPr>
          <a:xfrm>
            <a:off x="4613149" y="2932686"/>
            <a:ext cx="60228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>
              <a:defRPr/>
            </a:pPr>
            <a:r>
              <a:rPr lang="zh-CN" altLang="en-US" sz="4400" dirty="0">
                <a:ln w="0"/>
                <a:gradFill>
                  <a:gsLst>
                    <a:gs pos="0">
                      <a:srgbClr val="4472C4">
                        <a:lumMod val="50000"/>
                      </a:srgbClr>
                    </a:gs>
                    <a:gs pos="50000">
                      <a:srgbClr val="4472C4"/>
                    </a:gs>
                    <a:gs pos="100000">
                      <a:srgbClr val="4472C4">
                        <a:lumMod val="60000"/>
                        <a:lumOff val="40000"/>
                      </a:srgb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什么是好的散列函数？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E6CFBA3-1966-40F9-9AB2-C111F139BFF8}"/>
              </a:ext>
            </a:extLst>
          </p:cNvPr>
          <p:cNvSpPr txBox="1">
            <a:spLocks/>
          </p:cNvSpPr>
          <p:nvPr/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/>
              <a:t>11.4.1</a:t>
            </a:r>
            <a:r>
              <a:rPr lang="zh-CN" altLang="en-US"/>
              <a:t>散列函数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404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471BD-AFFA-4BEA-9846-3BDA3911F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99F040-DF51-47B0-A255-C37AE6A714C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一般来说，一个好的散列函数应满足下列两个条件：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）计算简单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）冲突少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49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0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5021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471BD-AFFA-4BEA-9846-3BDA3911F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99F040-DF51-47B0-A255-C37AE6A714C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% 16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）计算简单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）冲突少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14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7F02F40-1935-436C-8D99-F52CDC4ACA1E}"/>
              </a:ext>
            </a:extLst>
          </p:cNvPr>
          <p:cNvSpPr/>
          <p:nvPr/>
        </p:nvSpPr>
        <p:spPr>
          <a:xfrm>
            <a:off x="4635062" y="2412124"/>
            <a:ext cx="725214" cy="275897"/>
          </a:xfrm>
          <a:custGeom>
            <a:avLst/>
            <a:gdLst>
              <a:gd name="connsiteX0" fmla="*/ 0 w 725214"/>
              <a:gd name="connsiteY0" fmla="*/ 31531 h 275897"/>
              <a:gd name="connsiteX1" fmla="*/ 39414 w 725214"/>
              <a:gd name="connsiteY1" fmla="*/ 47297 h 275897"/>
              <a:gd name="connsiteX2" fmla="*/ 55180 w 725214"/>
              <a:gd name="connsiteY2" fmla="*/ 70945 h 275897"/>
              <a:gd name="connsiteX3" fmla="*/ 78828 w 725214"/>
              <a:gd name="connsiteY3" fmla="*/ 110359 h 275897"/>
              <a:gd name="connsiteX4" fmla="*/ 102476 w 725214"/>
              <a:gd name="connsiteY4" fmla="*/ 134007 h 275897"/>
              <a:gd name="connsiteX5" fmla="*/ 149773 w 725214"/>
              <a:gd name="connsiteY5" fmla="*/ 197069 h 275897"/>
              <a:gd name="connsiteX6" fmla="*/ 173421 w 725214"/>
              <a:gd name="connsiteY6" fmla="*/ 252248 h 275897"/>
              <a:gd name="connsiteX7" fmla="*/ 197069 w 725214"/>
              <a:gd name="connsiteY7" fmla="*/ 275897 h 275897"/>
              <a:gd name="connsiteX8" fmla="*/ 228600 w 725214"/>
              <a:gd name="connsiteY8" fmla="*/ 268014 h 275897"/>
              <a:gd name="connsiteX9" fmla="*/ 252249 w 725214"/>
              <a:gd name="connsiteY9" fmla="*/ 252248 h 275897"/>
              <a:gd name="connsiteX10" fmla="*/ 291663 w 725214"/>
              <a:gd name="connsiteY10" fmla="*/ 228600 h 275897"/>
              <a:gd name="connsiteX11" fmla="*/ 315311 w 725214"/>
              <a:gd name="connsiteY11" fmla="*/ 212835 h 275897"/>
              <a:gd name="connsiteX12" fmla="*/ 362607 w 725214"/>
              <a:gd name="connsiteY12" fmla="*/ 189186 h 275897"/>
              <a:gd name="connsiteX13" fmla="*/ 394138 w 725214"/>
              <a:gd name="connsiteY13" fmla="*/ 165538 h 275897"/>
              <a:gd name="connsiteX14" fmla="*/ 449318 w 725214"/>
              <a:gd name="connsiteY14" fmla="*/ 134007 h 275897"/>
              <a:gd name="connsiteX15" fmla="*/ 496614 w 725214"/>
              <a:gd name="connsiteY15" fmla="*/ 94593 h 275897"/>
              <a:gd name="connsiteX16" fmla="*/ 520263 w 725214"/>
              <a:gd name="connsiteY16" fmla="*/ 70945 h 275897"/>
              <a:gd name="connsiteX17" fmla="*/ 583325 w 725214"/>
              <a:gd name="connsiteY17" fmla="*/ 47297 h 275897"/>
              <a:gd name="connsiteX18" fmla="*/ 614856 w 725214"/>
              <a:gd name="connsiteY18" fmla="*/ 39414 h 275897"/>
              <a:gd name="connsiteX19" fmla="*/ 646387 w 725214"/>
              <a:gd name="connsiteY19" fmla="*/ 23648 h 275897"/>
              <a:gd name="connsiteX20" fmla="*/ 677918 w 725214"/>
              <a:gd name="connsiteY20" fmla="*/ 15766 h 275897"/>
              <a:gd name="connsiteX21" fmla="*/ 725214 w 725214"/>
              <a:gd name="connsiteY21" fmla="*/ 0 h 27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25214" h="275897">
                <a:moveTo>
                  <a:pt x="0" y="31531"/>
                </a:moveTo>
                <a:cubicBezTo>
                  <a:pt x="13138" y="36786"/>
                  <a:pt x="27900" y="39072"/>
                  <a:pt x="39414" y="47297"/>
                </a:cubicBezTo>
                <a:cubicBezTo>
                  <a:pt x="47123" y="52804"/>
                  <a:pt x="50159" y="62911"/>
                  <a:pt x="55180" y="70945"/>
                </a:cubicBezTo>
                <a:cubicBezTo>
                  <a:pt x="63300" y="83937"/>
                  <a:pt x="69635" y="98102"/>
                  <a:pt x="78828" y="110359"/>
                </a:cubicBezTo>
                <a:cubicBezTo>
                  <a:pt x="85517" y="119277"/>
                  <a:pt x="95787" y="125089"/>
                  <a:pt x="102476" y="134007"/>
                </a:cubicBezTo>
                <a:cubicBezTo>
                  <a:pt x="161244" y="212363"/>
                  <a:pt x="93912" y="141208"/>
                  <a:pt x="149773" y="197069"/>
                </a:cubicBezTo>
                <a:cubicBezTo>
                  <a:pt x="156206" y="216366"/>
                  <a:pt x="161246" y="235203"/>
                  <a:pt x="173421" y="252248"/>
                </a:cubicBezTo>
                <a:cubicBezTo>
                  <a:pt x="179901" y="261320"/>
                  <a:pt x="189186" y="268014"/>
                  <a:pt x="197069" y="275897"/>
                </a:cubicBezTo>
                <a:cubicBezTo>
                  <a:pt x="207579" y="273269"/>
                  <a:pt x="218642" y="272282"/>
                  <a:pt x="228600" y="268014"/>
                </a:cubicBezTo>
                <a:cubicBezTo>
                  <a:pt x="237308" y="264282"/>
                  <a:pt x="244215" y="257269"/>
                  <a:pt x="252249" y="252248"/>
                </a:cubicBezTo>
                <a:cubicBezTo>
                  <a:pt x="265242" y="244128"/>
                  <a:pt x="278670" y="236720"/>
                  <a:pt x="291663" y="228600"/>
                </a:cubicBezTo>
                <a:cubicBezTo>
                  <a:pt x="299697" y="223579"/>
                  <a:pt x="307030" y="217436"/>
                  <a:pt x="315311" y="212835"/>
                </a:cubicBezTo>
                <a:cubicBezTo>
                  <a:pt x="330719" y="204275"/>
                  <a:pt x="347493" y="198255"/>
                  <a:pt x="362607" y="189186"/>
                </a:cubicBezTo>
                <a:cubicBezTo>
                  <a:pt x="373873" y="182427"/>
                  <a:pt x="382997" y="172501"/>
                  <a:pt x="394138" y="165538"/>
                </a:cubicBezTo>
                <a:cubicBezTo>
                  <a:pt x="436721" y="138924"/>
                  <a:pt x="413813" y="161622"/>
                  <a:pt x="449318" y="134007"/>
                </a:cubicBezTo>
                <a:cubicBezTo>
                  <a:pt x="465517" y="121408"/>
                  <a:pt x="481276" y="108227"/>
                  <a:pt x="496614" y="94593"/>
                </a:cubicBezTo>
                <a:cubicBezTo>
                  <a:pt x="504946" y="87187"/>
                  <a:pt x="510810" y="76853"/>
                  <a:pt x="520263" y="70945"/>
                </a:cubicBezTo>
                <a:cubicBezTo>
                  <a:pt x="527287" y="66555"/>
                  <a:pt x="569803" y="51160"/>
                  <a:pt x="583325" y="47297"/>
                </a:cubicBezTo>
                <a:cubicBezTo>
                  <a:pt x="593742" y="44321"/>
                  <a:pt x="604712" y="43218"/>
                  <a:pt x="614856" y="39414"/>
                </a:cubicBezTo>
                <a:cubicBezTo>
                  <a:pt x="625859" y="35288"/>
                  <a:pt x="635384" y="27774"/>
                  <a:pt x="646387" y="23648"/>
                </a:cubicBezTo>
                <a:cubicBezTo>
                  <a:pt x="656531" y="19844"/>
                  <a:pt x="667541" y="18879"/>
                  <a:pt x="677918" y="15766"/>
                </a:cubicBezTo>
                <a:cubicBezTo>
                  <a:pt x="693835" y="10991"/>
                  <a:pt x="725214" y="0"/>
                  <a:pt x="725214" y="0"/>
                </a:cubicBezTo>
              </a:path>
            </a:pathLst>
          </a:cu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DC3EE5-D828-4859-8CB7-5007BE8CBCF8}"/>
              </a:ext>
            </a:extLst>
          </p:cNvPr>
          <p:cNvSpPr txBox="1"/>
          <p:nvPr/>
        </p:nvSpPr>
        <p:spPr>
          <a:xfrm>
            <a:off x="5620742" y="2350017"/>
            <a:ext cx="28144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可用位运算：</a:t>
            </a:r>
            <a:r>
              <a:rPr lang="en-US" altLang="zh-CN" sz="20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 &amp; 15</a:t>
            </a:r>
            <a:endParaRPr lang="zh-CN" altLang="en-US" sz="2000" dirty="0">
              <a:solidFill>
                <a:srgbClr val="0099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8E7FD7-51B2-4AA0-BFAA-085322CB4FF7}"/>
              </a:ext>
            </a:extLst>
          </p:cNvPr>
          <p:cNvGrpSpPr/>
          <p:nvPr/>
        </p:nvGrpSpPr>
        <p:grpSpPr>
          <a:xfrm>
            <a:off x="4441934" y="3078025"/>
            <a:ext cx="575441" cy="575441"/>
            <a:chOff x="4619297" y="3019095"/>
            <a:chExt cx="575441" cy="575441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CEB3CEC-687D-437C-B3C9-92FFA10634E4}"/>
                </a:ext>
              </a:extLst>
            </p:cNvPr>
            <p:cNvSpPr/>
            <p:nvPr/>
          </p:nvSpPr>
          <p:spPr>
            <a:xfrm rot="921513">
              <a:off x="4619297" y="3129455"/>
              <a:ext cx="575441" cy="354724"/>
            </a:xfrm>
            <a:custGeom>
              <a:avLst/>
              <a:gdLst>
                <a:gd name="connsiteX0" fmla="*/ 0 w 575441"/>
                <a:gd name="connsiteY0" fmla="*/ 0 h 354724"/>
                <a:gd name="connsiteX1" fmla="*/ 94593 w 575441"/>
                <a:gd name="connsiteY1" fmla="*/ 31531 h 354724"/>
                <a:gd name="connsiteX2" fmla="*/ 165537 w 575441"/>
                <a:gd name="connsiteY2" fmla="*/ 86711 h 354724"/>
                <a:gd name="connsiteX3" fmla="*/ 212834 w 575441"/>
                <a:gd name="connsiteY3" fmla="*/ 110359 h 354724"/>
                <a:gd name="connsiteX4" fmla="*/ 299544 w 575441"/>
                <a:gd name="connsiteY4" fmla="*/ 165538 h 354724"/>
                <a:gd name="connsiteX5" fmla="*/ 331075 w 575441"/>
                <a:gd name="connsiteY5" fmla="*/ 197069 h 354724"/>
                <a:gd name="connsiteX6" fmla="*/ 354724 w 575441"/>
                <a:gd name="connsiteY6" fmla="*/ 204952 h 354724"/>
                <a:gd name="connsiteX7" fmla="*/ 378372 w 575441"/>
                <a:gd name="connsiteY7" fmla="*/ 220717 h 354724"/>
                <a:gd name="connsiteX8" fmla="*/ 409903 w 575441"/>
                <a:gd name="connsiteY8" fmla="*/ 236483 h 354724"/>
                <a:gd name="connsiteX9" fmla="*/ 480848 w 575441"/>
                <a:gd name="connsiteY9" fmla="*/ 291662 h 354724"/>
                <a:gd name="connsiteX10" fmla="*/ 504496 w 575441"/>
                <a:gd name="connsiteY10" fmla="*/ 307428 h 354724"/>
                <a:gd name="connsiteX11" fmla="*/ 559675 w 575441"/>
                <a:gd name="connsiteY11" fmla="*/ 338959 h 354724"/>
                <a:gd name="connsiteX12" fmla="*/ 575441 w 575441"/>
                <a:gd name="connsiteY12" fmla="*/ 354724 h 35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5441" h="354724">
                  <a:moveTo>
                    <a:pt x="0" y="0"/>
                  </a:moveTo>
                  <a:cubicBezTo>
                    <a:pt x="31531" y="10510"/>
                    <a:pt x="65151" y="16109"/>
                    <a:pt x="94593" y="31531"/>
                  </a:cubicBezTo>
                  <a:cubicBezTo>
                    <a:pt x="121132" y="45432"/>
                    <a:pt x="138741" y="73313"/>
                    <a:pt x="165537" y="86711"/>
                  </a:cubicBezTo>
                  <a:cubicBezTo>
                    <a:pt x="181303" y="94594"/>
                    <a:pt x="198733" y="99783"/>
                    <a:pt x="212834" y="110359"/>
                  </a:cubicBezTo>
                  <a:cubicBezTo>
                    <a:pt x="295410" y="172290"/>
                    <a:pt x="222761" y="150181"/>
                    <a:pt x="299544" y="165538"/>
                  </a:cubicBezTo>
                  <a:cubicBezTo>
                    <a:pt x="310054" y="176048"/>
                    <a:pt x="318980" y="188430"/>
                    <a:pt x="331075" y="197069"/>
                  </a:cubicBezTo>
                  <a:cubicBezTo>
                    <a:pt x="337837" y="201899"/>
                    <a:pt x="347292" y="201236"/>
                    <a:pt x="354724" y="204952"/>
                  </a:cubicBezTo>
                  <a:cubicBezTo>
                    <a:pt x="363198" y="209189"/>
                    <a:pt x="370147" y="216017"/>
                    <a:pt x="378372" y="220717"/>
                  </a:cubicBezTo>
                  <a:cubicBezTo>
                    <a:pt x="388575" y="226547"/>
                    <a:pt x="400241" y="229794"/>
                    <a:pt x="409903" y="236483"/>
                  </a:cubicBezTo>
                  <a:cubicBezTo>
                    <a:pt x="434535" y="253536"/>
                    <a:pt x="455921" y="275043"/>
                    <a:pt x="480848" y="291662"/>
                  </a:cubicBezTo>
                  <a:cubicBezTo>
                    <a:pt x="488731" y="296917"/>
                    <a:pt x="496270" y="302728"/>
                    <a:pt x="504496" y="307428"/>
                  </a:cubicBezTo>
                  <a:cubicBezTo>
                    <a:pt x="532827" y="323617"/>
                    <a:pt x="535662" y="319748"/>
                    <a:pt x="559675" y="338959"/>
                  </a:cubicBezTo>
                  <a:cubicBezTo>
                    <a:pt x="565478" y="343602"/>
                    <a:pt x="570186" y="349469"/>
                    <a:pt x="575441" y="354724"/>
                  </a:cubicBezTo>
                </a:path>
              </a:pathLst>
            </a:cu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A354AC7-A9FF-4DF5-8368-1DD194C04447}"/>
                </a:ext>
              </a:extLst>
            </p:cNvPr>
            <p:cNvSpPr/>
            <p:nvPr/>
          </p:nvSpPr>
          <p:spPr>
            <a:xfrm rot="16606173">
              <a:off x="4619296" y="3129454"/>
              <a:ext cx="575441" cy="354724"/>
            </a:xfrm>
            <a:custGeom>
              <a:avLst/>
              <a:gdLst>
                <a:gd name="connsiteX0" fmla="*/ 0 w 575441"/>
                <a:gd name="connsiteY0" fmla="*/ 0 h 354724"/>
                <a:gd name="connsiteX1" fmla="*/ 94593 w 575441"/>
                <a:gd name="connsiteY1" fmla="*/ 31531 h 354724"/>
                <a:gd name="connsiteX2" fmla="*/ 165537 w 575441"/>
                <a:gd name="connsiteY2" fmla="*/ 86711 h 354724"/>
                <a:gd name="connsiteX3" fmla="*/ 212834 w 575441"/>
                <a:gd name="connsiteY3" fmla="*/ 110359 h 354724"/>
                <a:gd name="connsiteX4" fmla="*/ 299544 w 575441"/>
                <a:gd name="connsiteY4" fmla="*/ 165538 h 354724"/>
                <a:gd name="connsiteX5" fmla="*/ 331075 w 575441"/>
                <a:gd name="connsiteY5" fmla="*/ 197069 h 354724"/>
                <a:gd name="connsiteX6" fmla="*/ 354724 w 575441"/>
                <a:gd name="connsiteY6" fmla="*/ 204952 h 354724"/>
                <a:gd name="connsiteX7" fmla="*/ 378372 w 575441"/>
                <a:gd name="connsiteY7" fmla="*/ 220717 h 354724"/>
                <a:gd name="connsiteX8" fmla="*/ 409903 w 575441"/>
                <a:gd name="connsiteY8" fmla="*/ 236483 h 354724"/>
                <a:gd name="connsiteX9" fmla="*/ 480848 w 575441"/>
                <a:gd name="connsiteY9" fmla="*/ 291662 h 354724"/>
                <a:gd name="connsiteX10" fmla="*/ 504496 w 575441"/>
                <a:gd name="connsiteY10" fmla="*/ 307428 h 354724"/>
                <a:gd name="connsiteX11" fmla="*/ 559675 w 575441"/>
                <a:gd name="connsiteY11" fmla="*/ 338959 h 354724"/>
                <a:gd name="connsiteX12" fmla="*/ 575441 w 575441"/>
                <a:gd name="connsiteY12" fmla="*/ 354724 h 35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5441" h="354724">
                  <a:moveTo>
                    <a:pt x="0" y="0"/>
                  </a:moveTo>
                  <a:cubicBezTo>
                    <a:pt x="31531" y="10510"/>
                    <a:pt x="65151" y="16109"/>
                    <a:pt x="94593" y="31531"/>
                  </a:cubicBezTo>
                  <a:cubicBezTo>
                    <a:pt x="121132" y="45432"/>
                    <a:pt x="138741" y="73313"/>
                    <a:pt x="165537" y="86711"/>
                  </a:cubicBezTo>
                  <a:cubicBezTo>
                    <a:pt x="181303" y="94594"/>
                    <a:pt x="198733" y="99783"/>
                    <a:pt x="212834" y="110359"/>
                  </a:cubicBezTo>
                  <a:cubicBezTo>
                    <a:pt x="295410" y="172290"/>
                    <a:pt x="222761" y="150181"/>
                    <a:pt x="299544" y="165538"/>
                  </a:cubicBezTo>
                  <a:cubicBezTo>
                    <a:pt x="310054" y="176048"/>
                    <a:pt x="318980" y="188430"/>
                    <a:pt x="331075" y="197069"/>
                  </a:cubicBezTo>
                  <a:cubicBezTo>
                    <a:pt x="337837" y="201899"/>
                    <a:pt x="347292" y="201236"/>
                    <a:pt x="354724" y="204952"/>
                  </a:cubicBezTo>
                  <a:cubicBezTo>
                    <a:pt x="363198" y="209189"/>
                    <a:pt x="370147" y="216017"/>
                    <a:pt x="378372" y="220717"/>
                  </a:cubicBezTo>
                  <a:cubicBezTo>
                    <a:pt x="388575" y="226547"/>
                    <a:pt x="400241" y="229794"/>
                    <a:pt x="409903" y="236483"/>
                  </a:cubicBezTo>
                  <a:cubicBezTo>
                    <a:pt x="434535" y="253536"/>
                    <a:pt x="455921" y="275043"/>
                    <a:pt x="480848" y="291662"/>
                  </a:cubicBezTo>
                  <a:cubicBezTo>
                    <a:pt x="488731" y="296917"/>
                    <a:pt x="496270" y="302728"/>
                    <a:pt x="504496" y="307428"/>
                  </a:cubicBezTo>
                  <a:cubicBezTo>
                    <a:pt x="532827" y="323617"/>
                    <a:pt x="535662" y="319748"/>
                    <a:pt x="559675" y="338959"/>
                  </a:cubicBezTo>
                  <a:cubicBezTo>
                    <a:pt x="565478" y="343602"/>
                    <a:pt x="570186" y="349469"/>
                    <a:pt x="575441" y="354724"/>
                  </a:cubicBezTo>
                </a:path>
              </a:pathLst>
            </a:cu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08B3079-E091-4E11-989F-BC9BB6E3B817}"/>
              </a:ext>
            </a:extLst>
          </p:cNvPr>
          <p:cNvSpPr txBox="1"/>
          <p:nvPr/>
        </p:nvSpPr>
        <p:spPr>
          <a:xfrm>
            <a:off x="5620742" y="3165691"/>
            <a:ext cx="5028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哈希值只取决于关键字二进制值的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最低四位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44469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471BD-AFFA-4BEA-9846-3BDA3911F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99F040-DF51-47B0-A255-C37AE6A714C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）计算简单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）冲突少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7F02F40-1935-436C-8D99-F52CDC4ACA1E}"/>
              </a:ext>
            </a:extLst>
          </p:cNvPr>
          <p:cNvSpPr/>
          <p:nvPr/>
        </p:nvSpPr>
        <p:spPr>
          <a:xfrm>
            <a:off x="4824248" y="4828083"/>
            <a:ext cx="725214" cy="275897"/>
          </a:xfrm>
          <a:custGeom>
            <a:avLst/>
            <a:gdLst>
              <a:gd name="connsiteX0" fmla="*/ 0 w 725214"/>
              <a:gd name="connsiteY0" fmla="*/ 31531 h 275897"/>
              <a:gd name="connsiteX1" fmla="*/ 39414 w 725214"/>
              <a:gd name="connsiteY1" fmla="*/ 47297 h 275897"/>
              <a:gd name="connsiteX2" fmla="*/ 55180 w 725214"/>
              <a:gd name="connsiteY2" fmla="*/ 70945 h 275897"/>
              <a:gd name="connsiteX3" fmla="*/ 78828 w 725214"/>
              <a:gd name="connsiteY3" fmla="*/ 110359 h 275897"/>
              <a:gd name="connsiteX4" fmla="*/ 102476 w 725214"/>
              <a:gd name="connsiteY4" fmla="*/ 134007 h 275897"/>
              <a:gd name="connsiteX5" fmla="*/ 149773 w 725214"/>
              <a:gd name="connsiteY5" fmla="*/ 197069 h 275897"/>
              <a:gd name="connsiteX6" fmla="*/ 173421 w 725214"/>
              <a:gd name="connsiteY6" fmla="*/ 252248 h 275897"/>
              <a:gd name="connsiteX7" fmla="*/ 197069 w 725214"/>
              <a:gd name="connsiteY7" fmla="*/ 275897 h 275897"/>
              <a:gd name="connsiteX8" fmla="*/ 228600 w 725214"/>
              <a:gd name="connsiteY8" fmla="*/ 268014 h 275897"/>
              <a:gd name="connsiteX9" fmla="*/ 252249 w 725214"/>
              <a:gd name="connsiteY9" fmla="*/ 252248 h 275897"/>
              <a:gd name="connsiteX10" fmla="*/ 291663 w 725214"/>
              <a:gd name="connsiteY10" fmla="*/ 228600 h 275897"/>
              <a:gd name="connsiteX11" fmla="*/ 315311 w 725214"/>
              <a:gd name="connsiteY11" fmla="*/ 212835 h 275897"/>
              <a:gd name="connsiteX12" fmla="*/ 362607 w 725214"/>
              <a:gd name="connsiteY12" fmla="*/ 189186 h 275897"/>
              <a:gd name="connsiteX13" fmla="*/ 394138 w 725214"/>
              <a:gd name="connsiteY13" fmla="*/ 165538 h 275897"/>
              <a:gd name="connsiteX14" fmla="*/ 449318 w 725214"/>
              <a:gd name="connsiteY14" fmla="*/ 134007 h 275897"/>
              <a:gd name="connsiteX15" fmla="*/ 496614 w 725214"/>
              <a:gd name="connsiteY15" fmla="*/ 94593 h 275897"/>
              <a:gd name="connsiteX16" fmla="*/ 520263 w 725214"/>
              <a:gd name="connsiteY16" fmla="*/ 70945 h 275897"/>
              <a:gd name="connsiteX17" fmla="*/ 583325 w 725214"/>
              <a:gd name="connsiteY17" fmla="*/ 47297 h 275897"/>
              <a:gd name="connsiteX18" fmla="*/ 614856 w 725214"/>
              <a:gd name="connsiteY18" fmla="*/ 39414 h 275897"/>
              <a:gd name="connsiteX19" fmla="*/ 646387 w 725214"/>
              <a:gd name="connsiteY19" fmla="*/ 23648 h 275897"/>
              <a:gd name="connsiteX20" fmla="*/ 677918 w 725214"/>
              <a:gd name="connsiteY20" fmla="*/ 15766 h 275897"/>
              <a:gd name="connsiteX21" fmla="*/ 725214 w 725214"/>
              <a:gd name="connsiteY21" fmla="*/ 0 h 27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25214" h="275897">
                <a:moveTo>
                  <a:pt x="0" y="31531"/>
                </a:moveTo>
                <a:cubicBezTo>
                  <a:pt x="13138" y="36786"/>
                  <a:pt x="27900" y="39072"/>
                  <a:pt x="39414" y="47297"/>
                </a:cubicBezTo>
                <a:cubicBezTo>
                  <a:pt x="47123" y="52804"/>
                  <a:pt x="50159" y="62911"/>
                  <a:pt x="55180" y="70945"/>
                </a:cubicBezTo>
                <a:cubicBezTo>
                  <a:pt x="63300" y="83937"/>
                  <a:pt x="69635" y="98102"/>
                  <a:pt x="78828" y="110359"/>
                </a:cubicBezTo>
                <a:cubicBezTo>
                  <a:pt x="85517" y="119277"/>
                  <a:pt x="95787" y="125089"/>
                  <a:pt x="102476" y="134007"/>
                </a:cubicBezTo>
                <a:cubicBezTo>
                  <a:pt x="161244" y="212363"/>
                  <a:pt x="93912" y="141208"/>
                  <a:pt x="149773" y="197069"/>
                </a:cubicBezTo>
                <a:cubicBezTo>
                  <a:pt x="156206" y="216366"/>
                  <a:pt x="161246" y="235203"/>
                  <a:pt x="173421" y="252248"/>
                </a:cubicBezTo>
                <a:cubicBezTo>
                  <a:pt x="179901" y="261320"/>
                  <a:pt x="189186" y="268014"/>
                  <a:pt x="197069" y="275897"/>
                </a:cubicBezTo>
                <a:cubicBezTo>
                  <a:pt x="207579" y="273269"/>
                  <a:pt x="218642" y="272282"/>
                  <a:pt x="228600" y="268014"/>
                </a:cubicBezTo>
                <a:cubicBezTo>
                  <a:pt x="237308" y="264282"/>
                  <a:pt x="244215" y="257269"/>
                  <a:pt x="252249" y="252248"/>
                </a:cubicBezTo>
                <a:cubicBezTo>
                  <a:pt x="265242" y="244128"/>
                  <a:pt x="278670" y="236720"/>
                  <a:pt x="291663" y="228600"/>
                </a:cubicBezTo>
                <a:cubicBezTo>
                  <a:pt x="299697" y="223579"/>
                  <a:pt x="307030" y="217436"/>
                  <a:pt x="315311" y="212835"/>
                </a:cubicBezTo>
                <a:cubicBezTo>
                  <a:pt x="330719" y="204275"/>
                  <a:pt x="347493" y="198255"/>
                  <a:pt x="362607" y="189186"/>
                </a:cubicBezTo>
                <a:cubicBezTo>
                  <a:pt x="373873" y="182427"/>
                  <a:pt x="382997" y="172501"/>
                  <a:pt x="394138" y="165538"/>
                </a:cubicBezTo>
                <a:cubicBezTo>
                  <a:pt x="436721" y="138924"/>
                  <a:pt x="413813" y="161622"/>
                  <a:pt x="449318" y="134007"/>
                </a:cubicBezTo>
                <a:cubicBezTo>
                  <a:pt x="465517" y="121408"/>
                  <a:pt x="481276" y="108227"/>
                  <a:pt x="496614" y="94593"/>
                </a:cubicBezTo>
                <a:cubicBezTo>
                  <a:pt x="504946" y="87187"/>
                  <a:pt x="510810" y="76853"/>
                  <a:pt x="520263" y="70945"/>
                </a:cubicBezTo>
                <a:cubicBezTo>
                  <a:pt x="527287" y="66555"/>
                  <a:pt x="569803" y="51160"/>
                  <a:pt x="583325" y="47297"/>
                </a:cubicBezTo>
                <a:cubicBezTo>
                  <a:pt x="593742" y="44321"/>
                  <a:pt x="604712" y="43218"/>
                  <a:pt x="614856" y="39414"/>
                </a:cubicBezTo>
                <a:cubicBezTo>
                  <a:pt x="625859" y="35288"/>
                  <a:pt x="635384" y="27774"/>
                  <a:pt x="646387" y="23648"/>
                </a:cubicBezTo>
                <a:cubicBezTo>
                  <a:pt x="656531" y="19844"/>
                  <a:pt x="667541" y="18879"/>
                  <a:pt x="677918" y="15766"/>
                </a:cubicBezTo>
                <a:cubicBezTo>
                  <a:pt x="693835" y="10991"/>
                  <a:pt x="725214" y="0"/>
                  <a:pt x="725214" y="0"/>
                </a:cubicBezTo>
              </a:path>
            </a:pathLst>
          </a:cu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DC3EE5-D828-4859-8CB7-5007BE8CBCF8}"/>
              </a:ext>
            </a:extLst>
          </p:cNvPr>
          <p:cNvSpPr txBox="1"/>
          <p:nvPr/>
        </p:nvSpPr>
        <p:spPr>
          <a:xfrm>
            <a:off x="5809928" y="4765976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所有字符的数值总和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8E7FD7-51B2-4AA0-BFAA-085322CB4FF7}"/>
              </a:ext>
            </a:extLst>
          </p:cNvPr>
          <p:cNvGrpSpPr/>
          <p:nvPr/>
        </p:nvGrpSpPr>
        <p:grpSpPr>
          <a:xfrm>
            <a:off x="4631120" y="5493984"/>
            <a:ext cx="575441" cy="575441"/>
            <a:chOff x="4619297" y="3019095"/>
            <a:chExt cx="575441" cy="575441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DCEB3CEC-687D-437C-B3C9-92FFA10634E4}"/>
                </a:ext>
              </a:extLst>
            </p:cNvPr>
            <p:cNvSpPr/>
            <p:nvPr/>
          </p:nvSpPr>
          <p:spPr>
            <a:xfrm rot="921513">
              <a:off x="4619297" y="3129455"/>
              <a:ext cx="575441" cy="354724"/>
            </a:xfrm>
            <a:custGeom>
              <a:avLst/>
              <a:gdLst>
                <a:gd name="connsiteX0" fmla="*/ 0 w 575441"/>
                <a:gd name="connsiteY0" fmla="*/ 0 h 354724"/>
                <a:gd name="connsiteX1" fmla="*/ 94593 w 575441"/>
                <a:gd name="connsiteY1" fmla="*/ 31531 h 354724"/>
                <a:gd name="connsiteX2" fmla="*/ 165537 w 575441"/>
                <a:gd name="connsiteY2" fmla="*/ 86711 h 354724"/>
                <a:gd name="connsiteX3" fmla="*/ 212834 w 575441"/>
                <a:gd name="connsiteY3" fmla="*/ 110359 h 354724"/>
                <a:gd name="connsiteX4" fmla="*/ 299544 w 575441"/>
                <a:gd name="connsiteY4" fmla="*/ 165538 h 354724"/>
                <a:gd name="connsiteX5" fmla="*/ 331075 w 575441"/>
                <a:gd name="connsiteY5" fmla="*/ 197069 h 354724"/>
                <a:gd name="connsiteX6" fmla="*/ 354724 w 575441"/>
                <a:gd name="connsiteY6" fmla="*/ 204952 h 354724"/>
                <a:gd name="connsiteX7" fmla="*/ 378372 w 575441"/>
                <a:gd name="connsiteY7" fmla="*/ 220717 h 354724"/>
                <a:gd name="connsiteX8" fmla="*/ 409903 w 575441"/>
                <a:gd name="connsiteY8" fmla="*/ 236483 h 354724"/>
                <a:gd name="connsiteX9" fmla="*/ 480848 w 575441"/>
                <a:gd name="connsiteY9" fmla="*/ 291662 h 354724"/>
                <a:gd name="connsiteX10" fmla="*/ 504496 w 575441"/>
                <a:gd name="connsiteY10" fmla="*/ 307428 h 354724"/>
                <a:gd name="connsiteX11" fmla="*/ 559675 w 575441"/>
                <a:gd name="connsiteY11" fmla="*/ 338959 h 354724"/>
                <a:gd name="connsiteX12" fmla="*/ 575441 w 575441"/>
                <a:gd name="connsiteY12" fmla="*/ 354724 h 35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5441" h="354724">
                  <a:moveTo>
                    <a:pt x="0" y="0"/>
                  </a:moveTo>
                  <a:cubicBezTo>
                    <a:pt x="31531" y="10510"/>
                    <a:pt x="65151" y="16109"/>
                    <a:pt x="94593" y="31531"/>
                  </a:cubicBezTo>
                  <a:cubicBezTo>
                    <a:pt x="121132" y="45432"/>
                    <a:pt x="138741" y="73313"/>
                    <a:pt x="165537" y="86711"/>
                  </a:cubicBezTo>
                  <a:cubicBezTo>
                    <a:pt x="181303" y="94594"/>
                    <a:pt x="198733" y="99783"/>
                    <a:pt x="212834" y="110359"/>
                  </a:cubicBezTo>
                  <a:cubicBezTo>
                    <a:pt x="295410" y="172290"/>
                    <a:pt x="222761" y="150181"/>
                    <a:pt x="299544" y="165538"/>
                  </a:cubicBezTo>
                  <a:cubicBezTo>
                    <a:pt x="310054" y="176048"/>
                    <a:pt x="318980" y="188430"/>
                    <a:pt x="331075" y="197069"/>
                  </a:cubicBezTo>
                  <a:cubicBezTo>
                    <a:pt x="337837" y="201899"/>
                    <a:pt x="347292" y="201236"/>
                    <a:pt x="354724" y="204952"/>
                  </a:cubicBezTo>
                  <a:cubicBezTo>
                    <a:pt x="363198" y="209189"/>
                    <a:pt x="370147" y="216017"/>
                    <a:pt x="378372" y="220717"/>
                  </a:cubicBezTo>
                  <a:cubicBezTo>
                    <a:pt x="388575" y="226547"/>
                    <a:pt x="400241" y="229794"/>
                    <a:pt x="409903" y="236483"/>
                  </a:cubicBezTo>
                  <a:cubicBezTo>
                    <a:pt x="434535" y="253536"/>
                    <a:pt x="455921" y="275043"/>
                    <a:pt x="480848" y="291662"/>
                  </a:cubicBezTo>
                  <a:cubicBezTo>
                    <a:pt x="488731" y="296917"/>
                    <a:pt x="496270" y="302728"/>
                    <a:pt x="504496" y="307428"/>
                  </a:cubicBezTo>
                  <a:cubicBezTo>
                    <a:pt x="532827" y="323617"/>
                    <a:pt x="535662" y="319748"/>
                    <a:pt x="559675" y="338959"/>
                  </a:cubicBezTo>
                  <a:cubicBezTo>
                    <a:pt x="565478" y="343602"/>
                    <a:pt x="570186" y="349469"/>
                    <a:pt x="575441" y="354724"/>
                  </a:cubicBezTo>
                </a:path>
              </a:pathLst>
            </a:cu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A354AC7-A9FF-4DF5-8368-1DD194C04447}"/>
                </a:ext>
              </a:extLst>
            </p:cNvPr>
            <p:cNvSpPr/>
            <p:nvPr/>
          </p:nvSpPr>
          <p:spPr>
            <a:xfrm rot="16606173">
              <a:off x="4619296" y="3129454"/>
              <a:ext cx="575441" cy="354724"/>
            </a:xfrm>
            <a:custGeom>
              <a:avLst/>
              <a:gdLst>
                <a:gd name="connsiteX0" fmla="*/ 0 w 575441"/>
                <a:gd name="connsiteY0" fmla="*/ 0 h 354724"/>
                <a:gd name="connsiteX1" fmla="*/ 94593 w 575441"/>
                <a:gd name="connsiteY1" fmla="*/ 31531 h 354724"/>
                <a:gd name="connsiteX2" fmla="*/ 165537 w 575441"/>
                <a:gd name="connsiteY2" fmla="*/ 86711 h 354724"/>
                <a:gd name="connsiteX3" fmla="*/ 212834 w 575441"/>
                <a:gd name="connsiteY3" fmla="*/ 110359 h 354724"/>
                <a:gd name="connsiteX4" fmla="*/ 299544 w 575441"/>
                <a:gd name="connsiteY4" fmla="*/ 165538 h 354724"/>
                <a:gd name="connsiteX5" fmla="*/ 331075 w 575441"/>
                <a:gd name="connsiteY5" fmla="*/ 197069 h 354724"/>
                <a:gd name="connsiteX6" fmla="*/ 354724 w 575441"/>
                <a:gd name="connsiteY6" fmla="*/ 204952 h 354724"/>
                <a:gd name="connsiteX7" fmla="*/ 378372 w 575441"/>
                <a:gd name="connsiteY7" fmla="*/ 220717 h 354724"/>
                <a:gd name="connsiteX8" fmla="*/ 409903 w 575441"/>
                <a:gd name="connsiteY8" fmla="*/ 236483 h 354724"/>
                <a:gd name="connsiteX9" fmla="*/ 480848 w 575441"/>
                <a:gd name="connsiteY9" fmla="*/ 291662 h 354724"/>
                <a:gd name="connsiteX10" fmla="*/ 504496 w 575441"/>
                <a:gd name="connsiteY10" fmla="*/ 307428 h 354724"/>
                <a:gd name="connsiteX11" fmla="*/ 559675 w 575441"/>
                <a:gd name="connsiteY11" fmla="*/ 338959 h 354724"/>
                <a:gd name="connsiteX12" fmla="*/ 575441 w 575441"/>
                <a:gd name="connsiteY12" fmla="*/ 354724 h 354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5441" h="354724">
                  <a:moveTo>
                    <a:pt x="0" y="0"/>
                  </a:moveTo>
                  <a:cubicBezTo>
                    <a:pt x="31531" y="10510"/>
                    <a:pt x="65151" y="16109"/>
                    <a:pt x="94593" y="31531"/>
                  </a:cubicBezTo>
                  <a:cubicBezTo>
                    <a:pt x="121132" y="45432"/>
                    <a:pt x="138741" y="73313"/>
                    <a:pt x="165537" y="86711"/>
                  </a:cubicBezTo>
                  <a:cubicBezTo>
                    <a:pt x="181303" y="94594"/>
                    <a:pt x="198733" y="99783"/>
                    <a:pt x="212834" y="110359"/>
                  </a:cubicBezTo>
                  <a:cubicBezTo>
                    <a:pt x="295410" y="172290"/>
                    <a:pt x="222761" y="150181"/>
                    <a:pt x="299544" y="165538"/>
                  </a:cubicBezTo>
                  <a:cubicBezTo>
                    <a:pt x="310054" y="176048"/>
                    <a:pt x="318980" y="188430"/>
                    <a:pt x="331075" y="197069"/>
                  </a:cubicBezTo>
                  <a:cubicBezTo>
                    <a:pt x="337837" y="201899"/>
                    <a:pt x="347292" y="201236"/>
                    <a:pt x="354724" y="204952"/>
                  </a:cubicBezTo>
                  <a:cubicBezTo>
                    <a:pt x="363198" y="209189"/>
                    <a:pt x="370147" y="216017"/>
                    <a:pt x="378372" y="220717"/>
                  </a:cubicBezTo>
                  <a:cubicBezTo>
                    <a:pt x="388575" y="226547"/>
                    <a:pt x="400241" y="229794"/>
                    <a:pt x="409903" y="236483"/>
                  </a:cubicBezTo>
                  <a:cubicBezTo>
                    <a:pt x="434535" y="253536"/>
                    <a:pt x="455921" y="275043"/>
                    <a:pt x="480848" y="291662"/>
                  </a:cubicBezTo>
                  <a:cubicBezTo>
                    <a:pt x="488731" y="296917"/>
                    <a:pt x="496270" y="302728"/>
                    <a:pt x="504496" y="307428"/>
                  </a:cubicBezTo>
                  <a:cubicBezTo>
                    <a:pt x="532827" y="323617"/>
                    <a:pt x="535662" y="319748"/>
                    <a:pt x="559675" y="338959"/>
                  </a:cubicBezTo>
                  <a:cubicBezTo>
                    <a:pt x="565478" y="343602"/>
                    <a:pt x="570186" y="349469"/>
                    <a:pt x="575441" y="354724"/>
                  </a:cubicBezTo>
                </a:path>
              </a:pathLst>
            </a:cu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D08B3079-E091-4E11-989F-BC9BB6E3B817}"/>
              </a:ext>
            </a:extLst>
          </p:cNvPr>
          <p:cNvSpPr txBox="1"/>
          <p:nvPr/>
        </p:nvSpPr>
        <p:spPr>
          <a:xfrm>
            <a:off x="5809928" y="5581650"/>
            <a:ext cx="388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没有考虑字符的排列顺序！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任意多边形: 形状 6">
                <a:extLst>
                  <a:ext uri="{FF2B5EF4-FFF2-40B4-BE49-F238E27FC236}">
                    <a16:creationId xmlns:a16="http://schemas.microsoft.com/office/drawing/2014/main" id="{B98EC9D7-5F62-4EFD-8DC8-29809C1C6714}"/>
                  </a:ext>
                </a:extLst>
              </p:cNvPr>
              <p:cNvSpPr/>
              <p:nvPr/>
            </p:nvSpPr>
            <p:spPr>
              <a:xfrm>
                <a:off x="2896806" y="1083906"/>
                <a:ext cx="5826243" cy="3141253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HashCode1(s,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输入：字符串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，正整数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输出：计算字符串对应的哈希值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0  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for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0 to Length(s)-1 do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  sum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sum + s[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 sum % D</a:t>
                </a:r>
              </a:p>
              <a:p>
                <a:pPr marL="72000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</a:t>
                </a:r>
              </a:p>
            </p:txBody>
          </p:sp>
        </mc:Choice>
        <mc:Fallback xmlns="">
          <p:sp>
            <p:nvSpPr>
              <p:cNvPr id="15" name="任意多边形: 形状 6">
                <a:extLst>
                  <a:ext uri="{FF2B5EF4-FFF2-40B4-BE49-F238E27FC236}">
                    <a16:creationId xmlns:a16="http://schemas.microsoft.com/office/drawing/2014/main" id="{B98EC9D7-5F62-4EFD-8DC8-29809C1C67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806" y="1083906"/>
                <a:ext cx="5826243" cy="3141253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967" b="-3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236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4471BD-AFFA-4BEA-9846-3BDA3911F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99F040-DF51-47B0-A255-C37AE6A714C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 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en-US" altLang="zh-CN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）计算简单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）冲突少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7F02F40-1935-436C-8D99-F52CDC4ACA1E}"/>
              </a:ext>
            </a:extLst>
          </p:cNvPr>
          <p:cNvSpPr/>
          <p:nvPr/>
        </p:nvSpPr>
        <p:spPr>
          <a:xfrm>
            <a:off x="4824248" y="4828083"/>
            <a:ext cx="725214" cy="275897"/>
          </a:xfrm>
          <a:custGeom>
            <a:avLst/>
            <a:gdLst>
              <a:gd name="connsiteX0" fmla="*/ 0 w 725214"/>
              <a:gd name="connsiteY0" fmla="*/ 31531 h 275897"/>
              <a:gd name="connsiteX1" fmla="*/ 39414 w 725214"/>
              <a:gd name="connsiteY1" fmla="*/ 47297 h 275897"/>
              <a:gd name="connsiteX2" fmla="*/ 55180 w 725214"/>
              <a:gd name="connsiteY2" fmla="*/ 70945 h 275897"/>
              <a:gd name="connsiteX3" fmla="*/ 78828 w 725214"/>
              <a:gd name="connsiteY3" fmla="*/ 110359 h 275897"/>
              <a:gd name="connsiteX4" fmla="*/ 102476 w 725214"/>
              <a:gd name="connsiteY4" fmla="*/ 134007 h 275897"/>
              <a:gd name="connsiteX5" fmla="*/ 149773 w 725214"/>
              <a:gd name="connsiteY5" fmla="*/ 197069 h 275897"/>
              <a:gd name="connsiteX6" fmla="*/ 173421 w 725214"/>
              <a:gd name="connsiteY6" fmla="*/ 252248 h 275897"/>
              <a:gd name="connsiteX7" fmla="*/ 197069 w 725214"/>
              <a:gd name="connsiteY7" fmla="*/ 275897 h 275897"/>
              <a:gd name="connsiteX8" fmla="*/ 228600 w 725214"/>
              <a:gd name="connsiteY8" fmla="*/ 268014 h 275897"/>
              <a:gd name="connsiteX9" fmla="*/ 252249 w 725214"/>
              <a:gd name="connsiteY9" fmla="*/ 252248 h 275897"/>
              <a:gd name="connsiteX10" fmla="*/ 291663 w 725214"/>
              <a:gd name="connsiteY10" fmla="*/ 228600 h 275897"/>
              <a:gd name="connsiteX11" fmla="*/ 315311 w 725214"/>
              <a:gd name="connsiteY11" fmla="*/ 212835 h 275897"/>
              <a:gd name="connsiteX12" fmla="*/ 362607 w 725214"/>
              <a:gd name="connsiteY12" fmla="*/ 189186 h 275897"/>
              <a:gd name="connsiteX13" fmla="*/ 394138 w 725214"/>
              <a:gd name="connsiteY13" fmla="*/ 165538 h 275897"/>
              <a:gd name="connsiteX14" fmla="*/ 449318 w 725214"/>
              <a:gd name="connsiteY14" fmla="*/ 134007 h 275897"/>
              <a:gd name="connsiteX15" fmla="*/ 496614 w 725214"/>
              <a:gd name="connsiteY15" fmla="*/ 94593 h 275897"/>
              <a:gd name="connsiteX16" fmla="*/ 520263 w 725214"/>
              <a:gd name="connsiteY16" fmla="*/ 70945 h 275897"/>
              <a:gd name="connsiteX17" fmla="*/ 583325 w 725214"/>
              <a:gd name="connsiteY17" fmla="*/ 47297 h 275897"/>
              <a:gd name="connsiteX18" fmla="*/ 614856 w 725214"/>
              <a:gd name="connsiteY18" fmla="*/ 39414 h 275897"/>
              <a:gd name="connsiteX19" fmla="*/ 646387 w 725214"/>
              <a:gd name="connsiteY19" fmla="*/ 23648 h 275897"/>
              <a:gd name="connsiteX20" fmla="*/ 677918 w 725214"/>
              <a:gd name="connsiteY20" fmla="*/ 15766 h 275897"/>
              <a:gd name="connsiteX21" fmla="*/ 725214 w 725214"/>
              <a:gd name="connsiteY21" fmla="*/ 0 h 27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25214" h="275897">
                <a:moveTo>
                  <a:pt x="0" y="31531"/>
                </a:moveTo>
                <a:cubicBezTo>
                  <a:pt x="13138" y="36786"/>
                  <a:pt x="27900" y="39072"/>
                  <a:pt x="39414" y="47297"/>
                </a:cubicBezTo>
                <a:cubicBezTo>
                  <a:pt x="47123" y="52804"/>
                  <a:pt x="50159" y="62911"/>
                  <a:pt x="55180" y="70945"/>
                </a:cubicBezTo>
                <a:cubicBezTo>
                  <a:pt x="63300" y="83937"/>
                  <a:pt x="69635" y="98102"/>
                  <a:pt x="78828" y="110359"/>
                </a:cubicBezTo>
                <a:cubicBezTo>
                  <a:pt x="85517" y="119277"/>
                  <a:pt x="95787" y="125089"/>
                  <a:pt x="102476" y="134007"/>
                </a:cubicBezTo>
                <a:cubicBezTo>
                  <a:pt x="161244" y="212363"/>
                  <a:pt x="93912" y="141208"/>
                  <a:pt x="149773" y="197069"/>
                </a:cubicBezTo>
                <a:cubicBezTo>
                  <a:pt x="156206" y="216366"/>
                  <a:pt x="161246" y="235203"/>
                  <a:pt x="173421" y="252248"/>
                </a:cubicBezTo>
                <a:cubicBezTo>
                  <a:pt x="179901" y="261320"/>
                  <a:pt x="189186" y="268014"/>
                  <a:pt x="197069" y="275897"/>
                </a:cubicBezTo>
                <a:cubicBezTo>
                  <a:pt x="207579" y="273269"/>
                  <a:pt x="218642" y="272282"/>
                  <a:pt x="228600" y="268014"/>
                </a:cubicBezTo>
                <a:cubicBezTo>
                  <a:pt x="237308" y="264282"/>
                  <a:pt x="244215" y="257269"/>
                  <a:pt x="252249" y="252248"/>
                </a:cubicBezTo>
                <a:cubicBezTo>
                  <a:pt x="265242" y="244128"/>
                  <a:pt x="278670" y="236720"/>
                  <a:pt x="291663" y="228600"/>
                </a:cubicBezTo>
                <a:cubicBezTo>
                  <a:pt x="299697" y="223579"/>
                  <a:pt x="307030" y="217436"/>
                  <a:pt x="315311" y="212835"/>
                </a:cubicBezTo>
                <a:cubicBezTo>
                  <a:pt x="330719" y="204275"/>
                  <a:pt x="347493" y="198255"/>
                  <a:pt x="362607" y="189186"/>
                </a:cubicBezTo>
                <a:cubicBezTo>
                  <a:pt x="373873" y="182427"/>
                  <a:pt x="382997" y="172501"/>
                  <a:pt x="394138" y="165538"/>
                </a:cubicBezTo>
                <a:cubicBezTo>
                  <a:pt x="436721" y="138924"/>
                  <a:pt x="413813" y="161622"/>
                  <a:pt x="449318" y="134007"/>
                </a:cubicBezTo>
                <a:cubicBezTo>
                  <a:pt x="465517" y="121408"/>
                  <a:pt x="481276" y="108227"/>
                  <a:pt x="496614" y="94593"/>
                </a:cubicBezTo>
                <a:cubicBezTo>
                  <a:pt x="504946" y="87187"/>
                  <a:pt x="510810" y="76853"/>
                  <a:pt x="520263" y="70945"/>
                </a:cubicBezTo>
                <a:cubicBezTo>
                  <a:pt x="527287" y="66555"/>
                  <a:pt x="569803" y="51160"/>
                  <a:pt x="583325" y="47297"/>
                </a:cubicBezTo>
                <a:cubicBezTo>
                  <a:pt x="593742" y="44321"/>
                  <a:pt x="604712" y="43218"/>
                  <a:pt x="614856" y="39414"/>
                </a:cubicBezTo>
                <a:cubicBezTo>
                  <a:pt x="625859" y="35288"/>
                  <a:pt x="635384" y="27774"/>
                  <a:pt x="646387" y="23648"/>
                </a:cubicBezTo>
                <a:cubicBezTo>
                  <a:pt x="656531" y="19844"/>
                  <a:pt x="667541" y="18879"/>
                  <a:pt x="677918" y="15766"/>
                </a:cubicBezTo>
                <a:cubicBezTo>
                  <a:pt x="693835" y="10991"/>
                  <a:pt x="725214" y="0"/>
                  <a:pt x="725214" y="0"/>
                </a:cubicBezTo>
              </a:path>
            </a:pathLst>
          </a:cu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DC3EE5-D828-4859-8CB7-5007BE8CBCF8}"/>
              </a:ext>
            </a:extLst>
          </p:cNvPr>
          <p:cNvSpPr txBox="1"/>
          <p:nvPr/>
        </p:nvSpPr>
        <p:spPr>
          <a:xfrm>
            <a:off x="5809928" y="4765976"/>
            <a:ext cx="3709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所有字符的数值总和</a:t>
            </a:r>
            <a:r>
              <a:rPr lang="en-US" altLang="zh-CN" sz="20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循环移位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08B3079-E091-4E11-989F-BC9BB6E3B817}"/>
              </a:ext>
            </a:extLst>
          </p:cNvPr>
          <p:cNvSpPr txBox="1"/>
          <p:nvPr/>
        </p:nvSpPr>
        <p:spPr>
          <a:xfrm>
            <a:off x="5809928" y="5581650"/>
            <a:ext cx="388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结果受字符的排列顺序影响！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任意多边形: 形状 6">
                <a:extLst>
                  <a:ext uri="{FF2B5EF4-FFF2-40B4-BE49-F238E27FC236}">
                    <a16:creationId xmlns:a16="http://schemas.microsoft.com/office/drawing/2014/main" id="{B98EC9D7-5F62-4EFD-8DC8-29809C1C6714}"/>
                  </a:ext>
                </a:extLst>
              </p:cNvPr>
              <p:cNvSpPr/>
              <p:nvPr/>
            </p:nvSpPr>
            <p:spPr>
              <a:xfrm>
                <a:off x="2896806" y="1083906"/>
                <a:ext cx="4864359" cy="3436272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HashCode2(s,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输入：字符串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，正整数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输出：计算字符串对应的哈希值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endPara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0 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for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0 to Length(s)-1 do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  </a:t>
                </a:r>
                <a:r>
                  <a:rPr lang="en-US" altLang="zh-CN" sz="20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(sum &lt;&lt; 8) | (sum &gt;&gt; 24)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  sum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sum + s[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00" lvl="0" indent="-2880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 sum % D</a:t>
                </a:r>
              </a:p>
              <a:p>
                <a:pPr marL="72000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</a:t>
                </a:r>
              </a:p>
            </p:txBody>
          </p:sp>
        </mc:Choice>
        <mc:Fallback xmlns="">
          <p:sp>
            <p:nvSpPr>
              <p:cNvPr id="15" name="任意多边形: 形状 6">
                <a:extLst>
                  <a:ext uri="{FF2B5EF4-FFF2-40B4-BE49-F238E27FC236}">
                    <a16:creationId xmlns:a16="http://schemas.microsoft.com/office/drawing/2014/main" id="{B98EC9D7-5F62-4EFD-8DC8-29809C1C67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806" y="1083906"/>
                <a:ext cx="4864359" cy="3436272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885" b="-3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>
            <a:extLst>
              <a:ext uri="{FF2B5EF4-FFF2-40B4-BE49-F238E27FC236}">
                <a16:creationId xmlns:a16="http://schemas.microsoft.com/office/drawing/2014/main" id="{DBAD5E25-FB99-48A0-961A-4971E1D0BF61}"/>
              </a:ext>
            </a:extLst>
          </p:cNvPr>
          <p:cNvSpPr txBox="1"/>
          <p:nvPr/>
        </p:nvSpPr>
        <p:spPr>
          <a:xfrm>
            <a:off x="7664763" y="2929563"/>
            <a:ext cx="152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//cyclic shift</a:t>
            </a:r>
            <a:endParaRPr lang="zh-CN" altLang="en-US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5170FAE-7065-4B18-92DE-384E421FC089}"/>
              </a:ext>
            </a:extLst>
          </p:cNvPr>
          <p:cNvGrpSpPr/>
          <p:nvPr/>
        </p:nvGrpSpPr>
        <p:grpSpPr>
          <a:xfrm>
            <a:off x="4761186" y="5550996"/>
            <a:ext cx="788276" cy="313887"/>
            <a:chOff x="4761186" y="5550996"/>
            <a:chExt cx="788276" cy="313887"/>
          </a:xfrm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F50D2769-5140-4812-B2C4-29B35028C5C4}"/>
                </a:ext>
              </a:extLst>
            </p:cNvPr>
            <p:cNvSpPr/>
            <p:nvPr/>
          </p:nvSpPr>
          <p:spPr>
            <a:xfrm>
              <a:off x="4761186" y="5573221"/>
              <a:ext cx="788276" cy="291662"/>
            </a:xfrm>
            <a:custGeom>
              <a:avLst/>
              <a:gdLst>
                <a:gd name="connsiteX0" fmla="*/ 0 w 788276"/>
                <a:gd name="connsiteY0" fmla="*/ 70945 h 291662"/>
                <a:gd name="connsiteX1" fmla="*/ 31531 w 788276"/>
                <a:gd name="connsiteY1" fmla="*/ 134007 h 291662"/>
                <a:gd name="connsiteX2" fmla="*/ 55179 w 788276"/>
                <a:gd name="connsiteY2" fmla="*/ 197069 h 291662"/>
                <a:gd name="connsiteX3" fmla="*/ 78827 w 788276"/>
                <a:gd name="connsiteY3" fmla="*/ 220718 h 291662"/>
                <a:gd name="connsiteX4" fmla="*/ 110358 w 788276"/>
                <a:gd name="connsiteY4" fmla="*/ 275897 h 291662"/>
                <a:gd name="connsiteX5" fmla="*/ 134007 w 788276"/>
                <a:gd name="connsiteY5" fmla="*/ 291662 h 291662"/>
                <a:gd name="connsiteX6" fmla="*/ 189186 w 788276"/>
                <a:gd name="connsiteY6" fmla="*/ 283780 h 291662"/>
                <a:gd name="connsiteX7" fmla="*/ 220717 w 788276"/>
                <a:gd name="connsiteY7" fmla="*/ 268014 h 291662"/>
                <a:gd name="connsiteX8" fmla="*/ 275896 w 788276"/>
                <a:gd name="connsiteY8" fmla="*/ 244366 h 291662"/>
                <a:gd name="connsiteX9" fmla="*/ 315310 w 788276"/>
                <a:gd name="connsiteY9" fmla="*/ 220718 h 291662"/>
                <a:gd name="connsiteX10" fmla="*/ 378372 w 788276"/>
                <a:gd name="connsiteY10" fmla="*/ 204952 h 291662"/>
                <a:gd name="connsiteX11" fmla="*/ 457200 w 788276"/>
                <a:gd name="connsiteY11" fmla="*/ 181304 h 291662"/>
                <a:gd name="connsiteX12" fmla="*/ 480848 w 788276"/>
                <a:gd name="connsiteY12" fmla="*/ 173421 h 291662"/>
                <a:gd name="connsiteX13" fmla="*/ 606972 w 788276"/>
                <a:gd name="connsiteY13" fmla="*/ 110359 h 291662"/>
                <a:gd name="connsiteX14" fmla="*/ 638503 w 788276"/>
                <a:gd name="connsiteY14" fmla="*/ 94593 h 291662"/>
                <a:gd name="connsiteX15" fmla="*/ 670034 w 788276"/>
                <a:gd name="connsiteY15" fmla="*/ 70945 h 291662"/>
                <a:gd name="connsiteX16" fmla="*/ 693682 w 788276"/>
                <a:gd name="connsiteY16" fmla="*/ 63062 h 291662"/>
                <a:gd name="connsiteX17" fmla="*/ 717331 w 788276"/>
                <a:gd name="connsiteY17" fmla="*/ 47297 h 291662"/>
                <a:gd name="connsiteX18" fmla="*/ 764627 w 788276"/>
                <a:gd name="connsiteY18" fmla="*/ 23649 h 291662"/>
                <a:gd name="connsiteX19" fmla="*/ 788276 w 788276"/>
                <a:gd name="connsiteY19" fmla="*/ 0 h 291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8276" h="291662">
                  <a:moveTo>
                    <a:pt x="0" y="70945"/>
                  </a:moveTo>
                  <a:cubicBezTo>
                    <a:pt x="10510" y="91966"/>
                    <a:pt x="21806" y="112612"/>
                    <a:pt x="31531" y="134007"/>
                  </a:cubicBezTo>
                  <a:cubicBezTo>
                    <a:pt x="43764" y="160921"/>
                    <a:pt x="36536" y="167240"/>
                    <a:pt x="55179" y="197069"/>
                  </a:cubicBezTo>
                  <a:cubicBezTo>
                    <a:pt x="61087" y="206522"/>
                    <a:pt x="72347" y="211646"/>
                    <a:pt x="78827" y="220718"/>
                  </a:cubicBezTo>
                  <a:cubicBezTo>
                    <a:pt x="94278" y="242349"/>
                    <a:pt x="91745" y="257284"/>
                    <a:pt x="110358" y="275897"/>
                  </a:cubicBezTo>
                  <a:cubicBezTo>
                    <a:pt x="117057" y="282596"/>
                    <a:pt x="126124" y="286407"/>
                    <a:pt x="134007" y="291662"/>
                  </a:cubicBezTo>
                  <a:cubicBezTo>
                    <a:pt x="152400" y="289035"/>
                    <a:pt x="171261" y="288669"/>
                    <a:pt x="189186" y="283780"/>
                  </a:cubicBezTo>
                  <a:cubicBezTo>
                    <a:pt x="200523" y="280688"/>
                    <a:pt x="209916" y="272643"/>
                    <a:pt x="220717" y="268014"/>
                  </a:cubicBezTo>
                  <a:cubicBezTo>
                    <a:pt x="269559" y="247081"/>
                    <a:pt x="217069" y="277047"/>
                    <a:pt x="275896" y="244366"/>
                  </a:cubicBezTo>
                  <a:cubicBezTo>
                    <a:pt x="289289" y="236925"/>
                    <a:pt x="301010" y="226218"/>
                    <a:pt x="315310" y="220718"/>
                  </a:cubicBezTo>
                  <a:cubicBezTo>
                    <a:pt x="335533" y="212940"/>
                    <a:pt x="357351" y="210207"/>
                    <a:pt x="378372" y="204952"/>
                  </a:cubicBezTo>
                  <a:cubicBezTo>
                    <a:pt x="426021" y="193039"/>
                    <a:pt x="399632" y="200493"/>
                    <a:pt x="457200" y="181304"/>
                  </a:cubicBezTo>
                  <a:lnTo>
                    <a:pt x="480848" y="173421"/>
                  </a:lnTo>
                  <a:cubicBezTo>
                    <a:pt x="538311" y="115958"/>
                    <a:pt x="468038" y="179828"/>
                    <a:pt x="606972" y="110359"/>
                  </a:cubicBezTo>
                  <a:cubicBezTo>
                    <a:pt x="617482" y="105104"/>
                    <a:pt x="628538" y="100821"/>
                    <a:pt x="638503" y="94593"/>
                  </a:cubicBezTo>
                  <a:cubicBezTo>
                    <a:pt x="649644" y="87630"/>
                    <a:pt x="658627" y="77463"/>
                    <a:pt x="670034" y="70945"/>
                  </a:cubicBezTo>
                  <a:cubicBezTo>
                    <a:pt x="677248" y="66823"/>
                    <a:pt x="686250" y="66778"/>
                    <a:pt x="693682" y="63062"/>
                  </a:cubicBezTo>
                  <a:cubicBezTo>
                    <a:pt x="702156" y="58825"/>
                    <a:pt x="708857" y="51534"/>
                    <a:pt x="717331" y="47297"/>
                  </a:cubicBezTo>
                  <a:cubicBezTo>
                    <a:pt x="752879" y="29524"/>
                    <a:pt x="730745" y="51884"/>
                    <a:pt x="764627" y="23649"/>
                  </a:cubicBezTo>
                  <a:cubicBezTo>
                    <a:pt x="773191" y="16512"/>
                    <a:pt x="788276" y="0"/>
                    <a:pt x="788276" y="0"/>
                  </a:cubicBezTo>
                </a:path>
              </a:pathLst>
            </a:cu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0B9D2A7-0618-40FA-A470-A4AF2A14A28D}"/>
                </a:ext>
              </a:extLst>
            </p:cNvPr>
            <p:cNvCxnSpPr>
              <a:cxnSpLocks/>
            </p:cNvCxnSpPr>
            <p:nvPr/>
          </p:nvCxnSpPr>
          <p:spPr>
            <a:xfrm>
              <a:off x="5328985" y="5550996"/>
              <a:ext cx="119599" cy="230709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8BF0C4C-9738-4766-8866-3BADE7EFA9EA}"/>
              </a:ext>
            </a:extLst>
          </p:cNvPr>
          <p:cNvGrpSpPr/>
          <p:nvPr/>
        </p:nvGrpSpPr>
        <p:grpSpPr>
          <a:xfrm>
            <a:off x="9267978" y="1865324"/>
            <a:ext cx="2798379" cy="1970358"/>
            <a:chOff x="9267978" y="1865324"/>
            <a:chExt cx="2798379" cy="1970358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99C99B0-53B2-4EDB-AA9E-1ED98C1E4E4E}"/>
                </a:ext>
              </a:extLst>
            </p:cNvPr>
            <p:cNvGrpSpPr/>
            <p:nvPr/>
          </p:nvGrpSpPr>
          <p:grpSpPr>
            <a:xfrm>
              <a:off x="9377246" y="2315732"/>
              <a:ext cx="2494253" cy="1276847"/>
              <a:chOff x="8859547" y="2340325"/>
              <a:chExt cx="2494253" cy="1276847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21AE81D-2E99-4A56-A3D5-0FA6A2BDA8DF}"/>
                  </a:ext>
                </a:extLst>
              </p:cNvPr>
              <p:cNvSpPr/>
              <p:nvPr/>
            </p:nvSpPr>
            <p:spPr>
              <a:xfrm>
                <a:off x="8912776" y="2717606"/>
                <a:ext cx="656894" cy="1693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A5DDCCD-BF9D-4584-8B9B-C55553041C95}"/>
                  </a:ext>
                </a:extLst>
              </p:cNvPr>
              <p:cNvSpPr/>
              <p:nvPr/>
            </p:nvSpPr>
            <p:spPr>
              <a:xfrm>
                <a:off x="9569670" y="2717605"/>
                <a:ext cx="1784130" cy="1684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3C15309-9979-4386-BA59-F3298B000D17}"/>
                  </a:ext>
                </a:extLst>
              </p:cNvPr>
              <p:cNvSpPr txBox="1"/>
              <p:nvPr/>
            </p:nvSpPr>
            <p:spPr>
              <a:xfrm>
                <a:off x="8859547" y="2340325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前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位</a:t>
                </a: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793AE64-A2C6-460B-853A-C351B1410893}"/>
                  </a:ext>
                </a:extLst>
              </p:cNvPr>
              <p:cNvSpPr txBox="1"/>
              <p:nvPr/>
            </p:nvSpPr>
            <p:spPr>
              <a:xfrm>
                <a:off x="9917729" y="2348274"/>
                <a:ext cx="880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后</a:t>
                </a:r>
                <a:r>
                  <a:rPr lang="en-US" altLang="zh-CN" dirty="0"/>
                  <a:t>24</a:t>
                </a:r>
                <a:r>
                  <a:rPr lang="zh-CN" altLang="en-US" dirty="0"/>
                  <a:t>位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08EB175E-1B3C-468E-BB08-C88CC518A306}"/>
                  </a:ext>
                </a:extLst>
              </p:cNvPr>
              <p:cNvSpPr/>
              <p:nvPr/>
            </p:nvSpPr>
            <p:spPr>
              <a:xfrm>
                <a:off x="10696903" y="3437614"/>
                <a:ext cx="656894" cy="1693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B13274A-4972-4755-A839-57A6460DD53F}"/>
                  </a:ext>
                </a:extLst>
              </p:cNvPr>
              <p:cNvSpPr/>
              <p:nvPr/>
            </p:nvSpPr>
            <p:spPr>
              <a:xfrm>
                <a:off x="8912773" y="3437613"/>
                <a:ext cx="1784130" cy="17955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箭头: 下 19">
                <a:extLst>
                  <a:ext uri="{FF2B5EF4-FFF2-40B4-BE49-F238E27FC236}">
                    <a16:creationId xmlns:a16="http://schemas.microsoft.com/office/drawing/2014/main" id="{61867C3E-E4E4-4DCC-8C3D-9A61BBDF534C}"/>
                  </a:ext>
                </a:extLst>
              </p:cNvPr>
              <p:cNvSpPr/>
              <p:nvPr/>
            </p:nvSpPr>
            <p:spPr>
              <a:xfrm>
                <a:off x="9622898" y="2978975"/>
                <a:ext cx="1223909" cy="372239"/>
              </a:xfrm>
              <a:prstGeom prst="downArrow">
                <a:avLst>
                  <a:gd name="adj1" fmla="val 66727"/>
                  <a:gd name="adj2" fmla="val 34811"/>
                </a:avLst>
              </a:prstGeom>
              <a:solidFill>
                <a:srgbClr val="00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循环移位</a:t>
                </a:r>
              </a:p>
            </p:txBody>
          </p:sp>
        </p:grp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0C17DC6-AC57-4DC6-A783-AF3804E52208}"/>
                </a:ext>
              </a:extLst>
            </p:cNvPr>
            <p:cNvSpPr txBox="1"/>
            <p:nvPr/>
          </p:nvSpPr>
          <p:spPr>
            <a:xfrm>
              <a:off x="9800585" y="1912183"/>
              <a:ext cx="18389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</a:t>
              </a:r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位无符号整数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02D0DED-7B37-487B-86FE-3D85B68E0163}"/>
                </a:ext>
              </a:extLst>
            </p:cNvPr>
            <p:cNvSpPr/>
            <p:nvPr/>
          </p:nvSpPr>
          <p:spPr>
            <a:xfrm>
              <a:off x="9267978" y="1865324"/>
              <a:ext cx="2798379" cy="197035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078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4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2" name="副标题 1">
            <a:extLst>
              <a:ext uri="{FF2B5EF4-FFF2-40B4-BE49-F238E27FC236}">
                <a16:creationId xmlns:a16="http://schemas.microsoft.com/office/drawing/2014/main" id="{2A6B0639-9ACC-4AA2-B7C8-F89088489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010E2-F0FE-4195-A844-4FE17CBA907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kumimoji="1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常见的散列函数构造方法有：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直接散列函数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数字分析法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平方取中法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折叠法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除留余数法</a:t>
            </a:r>
          </a:p>
          <a:p>
            <a:pPr lvl="3">
              <a:lnSpc>
                <a:spcPct val="120000"/>
              </a:lnSpc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随机数法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914400">
              <a:defRPr/>
            </a:pPr>
            <a:fld id="{E68D7D60-4CD7-4C74-9660-3E7E745EADFA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93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0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0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0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0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0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0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B9308619-6F97-46C8-83AA-2F420C240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1234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rmAutofit fontScale="62500" lnSpcReduction="20000"/>
          </a:bodyPr>
          <a:lstStyle/>
          <a:p>
            <a:pPr marL="400050" indent="-400050">
              <a:lnSpc>
                <a:spcPct val="110000"/>
              </a:lnSpc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4033381499"/>
              </p:ext>
            </p:extLst>
          </p:nvPr>
        </p:nvGraphicFramePr>
        <p:xfrm>
          <a:off x="1518091" y="4375353"/>
          <a:ext cx="8008046" cy="1266825"/>
        </p:xfrm>
        <a:graphic>
          <a:graphicData uri="http://schemas.openxmlformats.org/drawingml/2006/table">
            <a:tbl>
              <a:tblPr/>
              <a:tblGrid>
                <a:gridCol w="1123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6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07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267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散列</a:t>
                      </a: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02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03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481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出生年份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1949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1950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1951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1970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67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出生人数</a:t>
                      </a:r>
                      <a:endParaRPr kumimoji="0" lang="zh-CN" altLang="pt-B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××××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……</a:t>
                      </a:r>
                      <a:endParaRPr kumimoji="0" lang="pt-BR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8532" marR="18532" marT="35100" marB="351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406207" y="1355029"/>
            <a:ext cx="377539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）直接散列函数：</a:t>
            </a:r>
          </a:p>
        </p:txBody>
      </p:sp>
      <p:sp>
        <p:nvSpPr>
          <p:cNvPr id="11" name="Rectangle 37"/>
          <p:cNvSpPr>
            <a:spLocks noChangeArrowheads="1"/>
          </p:cNvSpPr>
          <p:nvPr/>
        </p:nvSpPr>
        <p:spPr bwMode="auto">
          <a:xfrm>
            <a:off x="3405789" y="5874556"/>
            <a:ext cx="3433504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>
            <a:spAutoFit/>
          </a:bodyPr>
          <a:lstStyle/>
          <a:p>
            <a:pPr defTabSz="914400" eaLnBrk="0" hangingPunct="0">
              <a:defRPr/>
            </a:pPr>
            <a:r>
              <a:rPr lang="en-US" altLang="zh-CN" sz="2800" dirty="0">
                <a:solidFill>
                  <a:prstClr val="black"/>
                </a:solidFill>
              </a:rPr>
              <a:t>H(key) = key + (-1948)</a:t>
            </a:r>
            <a:r>
              <a:rPr lang="zh-CN" altLang="en-US" sz="2800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2" name="矩形 11"/>
          <p:cNvSpPr/>
          <p:nvPr/>
        </p:nvSpPr>
        <p:spPr>
          <a:xfrm>
            <a:off x="2648622" y="4375353"/>
            <a:ext cx="6894756" cy="4005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sz="1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94377" y="3603664"/>
            <a:ext cx="517912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解放后每年出生人数的统计：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29D391-190F-4D45-BFAE-CFDA8F6FE387}"/>
              </a:ext>
            </a:extLst>
          </p:cNvPr>
          <p:cNvSpPr/>
          <p:nvPr/>
        </p:nvSpPr>
        <p:spPr>
          <a:xfrm>
            <a:off x="2133600" y="2133177"/>
            <a:ext cx="6096000" cy="98520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00050" indent="-4000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取关键字本身或关键字的某个线性函数值作为散列地址，</a:t>
            </a:r>
          </a:p>
          <a:p>
            <a:pPr marL="400050" indent="-400050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即：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H(key)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key</a:t>
            </a:r>
          </a:p>
          <a:p>
            <a:pPr marL="400050" indent="-400050"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或：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H(key)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a* key + 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为常数）。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4343C3A6-3B7B-4B7E-B17A-A40BC8A0BD52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222162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1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 build="p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3"/>
          <p:cNvGraphicFramePr>
            <a:graphicFrameLocks noGrp="1" noChangeAspect="1"/>
          </p:cNvGraphicFramePr>
          <p:nvPr>
            <p:ph idx="11"/>
            <p:extLst>
              <p:ext uri="{D42A27DB-BD31-4B8C-83A1-F6EECF244321}">
                <p14:modId xmlns:p14="http://schemas.microsoft.com/office/powerpoint/2010/main" val="4134766094"/>
              </p:ext>
            </p:extLst>
          </p:nvPr>
        </p:nvGraphicFramePr>
        <p:xfrm>
          <a:off x="866677" y="3224698"/>
          <a:ext cx="4051756" cy="3573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2140458" imgH="1887093" progId="Word.Document.8">
                  <p:embed/>
                </p:oleObj>
              </mc:Choice>
              <mc:Fallback>
                <p:oleObj name="文档" r:id="rId3" imgW="2140458" imgH="1887093" progId="Word.Document.8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677" y="3224698"/>
                        <a:ext cx="4051756" cy="3573842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chemeClr val="accent1">
                              <a:tint val="66000"/>
                              <a:satMod val="160000"/>
                            </a:schemeClr>
                          </a:gs>
                          <a:gs pos="50000">
                            <a:schemeClr val="accent1">
                              <a:tint val="44500"/>
                              <a:satMod val="160000"/>
                            </a:schemeClr>
                          </a:gs>
                          <a:gs pos="100000">
                            <a:schemeClr val="accent1">
                              <a:tint val="23500"/>
                              <a:satMod val="160000"/>
                            </a:schemeClr>
                          </a:gs>
                        </a:gsLst>
                        <a:lin ang="8100000" scaled="1"/>
                        <a:tileRect/>
                      </a:gra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副标题 3">
            <a:extLst>
              <a:ext uri="{FF2B5EF4-FFF2-40B4-BE49-F238E27FC236}">
                <a16:creationId xmlns:a16="http://schemas.microsoft.com/office/drawing/2014/main" id="{5648ECD7-575B-4CE5-8713-CDB3AC046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730637" y="2283854"/>
            <a:ext cx="10350119" cy="926884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设ｎ个ｄ位数的关键字，由ｒ个不同的符号组成，此ｒ个符号在关键字</a:t>
            </a:r>
            <a:r>
              <a:rPr lang="zh-CN" altLang="en-US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各位出现的频率不一定相同：</a:t>
            </a:r>
            <a:endParaRPr lang="en-US" altLang="zh-CN" sz="1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在某些位上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均匀分布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，即每个符号出现的次数都接近于ｎ／ｒ次；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在另一些位上分布不均匀。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选择其中分布均匀的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位作为散列地址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1800" dirty="0">
                <a:solidFill>
                  <a:srgbClr val="C0000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en-US" altLang="zh-CN" sz="1800" dirty="0">
                <a:solidFill>
                  <a:srgbClr val="C00000"/>
                </a:solidFill>
              </a:rPr>
              <a:t>) 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=“key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中数字均匀分布的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位” </a:t>
            </a:r>
          </a:p>
        </p:txBody>
      </p:sp>
      <p:sp>
        <p:nvSpPr>
          <p:cNvPr id="5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3A13CAFF-095F-44EC-8D60-8B32E5C5F44D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19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80410" y="821894"/>
            <a:ext cx="33265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数字分析法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7090208" y="3942512"/>
            <a:ext cx="4235115" cy="2138214"/>
          </a:xfrm>
          <a:prstGeom prst="rect">
            <a:avLst/>
          </a:prstGeom>
          <a:solidFill>
            <a:srgbClr val="009999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defTabSz="914400">
              <a:lnSpc>
                <a:spcPts val="2300"/>
              </a:lnSpc>
              <a:defRPr/>
            </a:pP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n=80, d=8, r=10, </a:t>
            </a:r>
            <a:r>
              <a:rPr lang="en-US" altLang="zh-CN" sz="1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s=2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defTabSz="914400">
              <a:lnSpc>
                <a:spcPts val="2300"/>
              </a:lnSpc>
              <a:defRPr/>
            </a:pP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914400">
              <a:lnSpc>
                <a:spcPts val="23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位分布不均匀，不能取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defTabSz="914400">
              <a:lnSpc>
                <a:spcPts val="23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位分布相对均匀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ts val="2300"/>
              </a:lnSpc>
              <a:defRPr/>
            </a:pP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ts val="2300"/>
              </a:lnSpc>
              <a:defRPr/>
            </a:pP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取第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两位组成的</a:t>
            </a:r>
            <a:r>
              <a:rPr lang="en-US" altLang="zh-CN" sz="1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位十进制数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作为每个数据的散列地址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D6DAA4DF-0ED6-4462-8A06-48022C2A94E4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FE9560-C655-4A69-9FDA-525329059E86}"/>
              </a:ext>
            </a:extLst>
          </p:cNvPr>
          <p:cNvSpPr txBox="1"/>
          <p:nvPr/>
        </p:nvSpPr>
        <p:spPr>
          <a:xfrm>
            <a:off x="8166537" y="2290520"/>
            <a:ext cx="1099019" cy="369332"/>
          </a:xfrm>
          <a:prstGeom prst="rect">
            <a:avLst/>
          </a:prstGeom>
          <a:solidFill>
            <a:srgbClr val="009999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数学分析</a:t>
            </a:r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1273E438-B06A-4A58-97AE-19CB236C3E0F}"/>
              </a:ext>
            </a:extLst>
          </p:cNvPr>
          <p:cNvSpPr/>
          <p:nvPr/>
        </p:nvSpPr>
        <p:spPr>
          <a:xfrm>
            <a:off x="7701455" y="2167759"/>
            <a:ext cx="260131" cy="61485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939340-B7A6-4F1F-B685-0D23E61FCA3A}"/>
              </a:ext>
            </a:extLst>
          </p:cNvPr>
          <p:cNvSpPr/>
          <p:nvPr/>
        </p:nvSpPr>
        <p:spPr>
          <a:xfrm>
            <a:off x="2466150" y="3646486"/>
            <a:ext cx="425669" cy="2840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4A2432-AD3F-46F8-87DA-ACAFEADCF915}"/>
              </a:ext>
            </a:extLst>
          </p:cNvPr>
          <p:cNvSpPr/>
          <p:nvPr/>
        </p:nvSpPr>
        <p:spPr>
          <a:xfrm>
            <a:off x="3491908" y="3651624"/>
            <a:ext cx="425669" cy="2840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2F7A15-AA30-45F7-AD03-2DA7DB778CB5}"/>
              </a:ext>
            </a:extLst>
          </p:cNvPr>
          <p:cNvSpPr txBox="1"/>
          <p:nvPr/>
        </p:nvSpPr>
        <p:spPr>
          <a:xfrm>
            <a:off x="5324353" y="32100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散列地址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0BE4CE-E0AA-419A-8F3F-DFA04D985A9E}"/>
              </a:ext>
            </a:extLst>
          </p:cNvPr>
          <p:cNvGrpSpPr/>
          <p:nvPr/>
        </p:nvGrpSpPr>
        <p:grpSpPr>
          <a:xfrm>
            <a:off x="4918433" y="3579421"/>
            <a:ext cx="1222659" cy="3070712"/>
            <a:chOff x="4918433" y="3579421"/>
            <a:chExt cx="1222659" cy="307071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BA56401-AAB7-4D50-BF22-81E8228C0AF8}"/>
                </a:ext>
              </a:extLst>
            </p:cNvPr>
            <p:cNvSpPr txBox="1"/>
            <p:nvPr/>
          </p:nvSpPr>
          <p:spPr>
            <a:xfrm>
              <a:off x="5722388" y="3579421"/>
              <a:ext cx="418704" cy="30707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45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72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84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03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28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39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51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65</a:t>
              </a:r>
            </a:p>
            <a:p>
              <a:pPr>
                <a:lnSpc>
                  <a:spcPts val="2500"/>
                </a:lnSpc>
              </a:pPr>
              <a:r>
                <a:rPr lang="en-US" altLang="zh-CN" dirty="0">
                  <a:solidFill>
                    <a:srgbClr val="009999"/>
                  </a:solidFill>
                </a:rPr>
                <a:t>13</a:t>
              </a:r>
              <a:endParaRPr lang="zh-CN" altLang="en-US" dirty="0">
                <a:solidFill>
                  <a:srgbClr val="009999"/>
                </a:solidFill>
              </a:endParaRPr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E2485741-1730-4368-A700-5B9078C36DF5}"/>
                </a:ext>
              </a:extLst>
            </p:cNvPr>
            <p:cNvCxnSpPr/>
            <p:nvPr/>
          </p:nvCxnSpPr>
          <p:spPr>
            <a:xfrm>
              <a:off x="4918433" y="3807372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20F0A2F-BD15-408B-AFFD-827C02B06F6E}"/>
                </a:ext>
              </a:extLst>
            </p:cNvPr>
            <p:cNvCxnSpPr/>
            <p:nvPr/>
          </p:nvCxnSpPr>
          <p:spPr>
            <a:xfrm>
              <a:off x="4930541" y="4109544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F80222A-5302-40B6-A48C-252D6DC1F084}"/>
                </a:ext>
              </a:extLst>
            </p:cNvPr>
            <p:cNvCxnSpPr/>
            <p:nvPr/>
          </p:nvCxnSpPr>
          <p:spPr>
            <a:xfrm>
              <a:off x="4930541" y="4419599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BC7F0D0-EF80-47F0-A4AF-B6C252A151EB}"/>
                </a:ext>
              </a:extLst>
            </p:cNvPr>
            <p:cNvCxnSpPr/>
            <p:nvPr/>
          </p:nvCxnSpPr>
          <p:spPr>
            <a:xfrm>
              <a:off x="4930541" y="4753302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0704C8C-83F7-4F8F-A930-2AEC6FD853BB}"/>
                </a:ext>
              </a:extLst>
            </p:cNvPr>
            <p:cNvCxnSpPr/>
            <p:nvPr/>
          </p:nvCxnSpPr>
          <p:spPr>
            <a:xfrm>
              <a:off x="4930541" y="5039709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CBDFA16-E006-45F3-A0E1-32FFDE76B350}"/>
                </a:ext>
              </a:extLst>
            </p:cNvPr>
            <p:cNvCxnSpPr/>
            <p:nvPr/>
          </p:nvCxnSpPr>
          <p:spPr>
            <a:xfrm>
              <a:off x="4930541" y="5357647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709CBBF-4F3C-46FB-B155-2468F85A2A6E}"/>
                </a:ext>
              </a:extLst>
            </p:cNvPr>
            <p:cNvCxnSpPr/>
            <p:nvPr/>
          </p:nvCxnSpPr>
          <p:spPr>
            <a:xfrm>
              <a:off x="4918433" y="5683468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4D4E8F46-DA68-45A9-8617-1D80E41F3A51}"/>
                </a:ext>
              </a:extLst>
            </p:cNvPr>
            <p:cNvCxnSpPr/>
            <p:nvPr/>
          </p:nvCxnSpPr>
          <p:spPr>
            <a:xfrm>
              <a:off x="4918433" y="5985641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E30C8CD-DD90-4DAC-B265-8A90267D0360}"/>
                </a:ext>
              </a:extLst>
            </p:cNvPr>
            <p:cNvCxnSpPr/>
            <p:nvPr/>
          </p:nvCxnSpPr>
          <p:spPr>
            <a:xfrm>
              <a:off x="4930541" y="6330074"/>
              <a:ext cx="803955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40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6" grpId="0" animBg="1"/>
      <p:bldP spid="7" grpId="0" animBg="1"/>
      <p:bldP spid="12" grpId="0" animBg="1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7D160BFB-B874-421D-B3E0-2C86E9753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5330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55331" name="Group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3091175411"/>
              </p:ext>
            </p:extLst>
          </p:nvPr>
        </p:nvGraphicFramePr>
        <p:xfrm>
          <a:off x="1849222" y="3429000"/>
          <a:ext cx="6214129" cy="27480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478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2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9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数据</a:t>
                      </a:r>
                      <a:endParaRPr kumimoji="0" lang="zh-CN" altLang="pt-B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关键字</a:t>
                      </a:r>
                      <a:endParaRPr kumimoji="0" lang="zh-CN" altLang="pt-BR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pt-BR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关键字</a:t>
                      </a: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pt-BR" altLang="zh-CN" sz="1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散列</a:t>
                      </a:r>
                      <a:r>
                        <a:rPr kumimoji="0" lang="zh-CN" alt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45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1160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370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370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2061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310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541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310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1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2062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314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704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314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2161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734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741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734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78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2162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741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304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741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46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Q3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2163</a:t>
                      </a:r>
                      <a:endParaRPr kumimoji="0" lang="pt-BR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pt-BR" altLang="zh-CN" sz="1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745</a:t>
                      </a: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651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4343400" algn="r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隶书" panose="02010509060101010101" pitchFamily="49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343400" algn="r"/>
                        </a:tabLst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4343400" algn="r"/>
                        </a:tabLst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343400" algn="r"/>
                        </a:tabLst>
                      </a:pPr>
                      <a:r>
                        <a:rPr kumimoji="0" lang="pt-BR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745</a:t>
                      </a:r>
                      <a:endParaRPr kumimoji="0" lang="pt-BR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0008" marR="120008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0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A78BDC92-19E0-4CA7-AD9B-003353F3EC9F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28773" y="1052125"/>
            <a:ext cx="269817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）平方取中法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841543-A5E2-4314-9ECD-A5C645AA818C}"/>
              </a:ext>
            </a:extLst>
          </p:cNvPr>
          <p:cNvSpPr/>
          <p:nvPr/>
        </p:nvSpPr>
        <p:spPr>
          <a:xfrm>
            <a:off x="990600" y="2642637"/>
            <a:ext cx="9793637" cy="53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其中，所取的位数由散列表的大小确定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97BA2D-6700-4BD3-9E69-CA059085C259}"/>
              </a:ext>
            </a:extLst>
          </p:cNvPr>
          <p:cNvSpPr/>
          <p:nvPr/>
        </p:nvSpPr>
        <p:spPr>
          <a:xfrm>
            <a:off x="1849222" y="1516824"/>
            <a:ext cx="9504577" cy="1011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取关键字平方后的中间几位作为散列地址，即散列函数为：</a:t>
            </a:r>
          </a:p>
          <a:p>
            <a:pPr lvl="2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H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=“ key</a:t>
            </a:r>
            <a:r>
              <a:rPr lang="en-US" altLang="zh-CN" sz="2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的中间几位”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7E79866E-271E-40DB-94F3-1C76E3DA82F1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422491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7FF7F80-A1DE-4BAB-9669-6FE2E23A0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39C264-5DEF-4300-AE8E-B7BA3979ACB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294967295"/>
          </p:nvPr>
        </p:nvSpPr>
        <p:spPr>
          <a:ln/>
        </p:spPr>
        <p:txBody>
          <a:bodyPr/>
          <a:lstStyle/>
          <a:p>
            <a:pPr defTabSz="914400">
              <a:defRPr/>
            </a:pPr>
            <a:fld id="{C66906E7-116D-4FD7-B362-E1ECC76BC76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21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57378" name="Text Box 2"/>
          <p:cNvSpPr txBox="1">
            <a:spLocks noChangeArrowheads="1"/>
          </p:cNvSpPr>
          <p:nvPr/>
        </p:nvSpPr>
        <p:spPr bwMode="auto">
          <a:xfrm>
            <a:off x="1392304" y="2467030"/>
            <a:ext cx="9284174" cy="250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40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以关键字的平方值的中间几位作为存储地址。求“关键字的平方值” 的目的是“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扩大差别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”和“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贡献均衡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  <a:p>
            <a:pPr defTabSz="914400">
              <a:lnSpc>
                <a:spcPct val="140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kumimoji="1" lang="zh-CN" altLang="en-US" sz="2800" dirty="0">
                <a:solidFill>
                  <a:srgbClr val="0099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关键字的各位都在平方值的中间几位有所贡献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值中应该有各位影子。</a:t>
            </a:r>
          </a:p>
        </p:txBody>
      </p:sp>
      <p:sp>
        <p:nvSpPr>
          <p:cNvPr id="357379" name="Text Box 3"/>
          <p:cNvSpPr txBox="1">
            <a:spLocks noChangeArrowheads="1"/>
          </p:cNvSpPr>
          <p:nvPr/>
        </p:nvSpPr>
        <p:spPr bwMode="auto">
          <a:xfrm>
            <a:off x="1613795" y="1798554"/>
            <a:ext cx="3834789" cy="584775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buFontTx/>
              <a:buChar char="•"/>
              <a:defRPr sz="2400">
                <a:solidFill>
                  <a:schemeClr val="bg1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algn="ctr" defTabSz="914400">
              <a:defRPr/>
            </a:pPr>
            <a:r>
              <a:rPr lang="zh-CN" altLang="en-US" sz="3200" dirty="0">
                <a:solidFill>
                  <a:prstClr val="white">
                    <a:lumMod val="20000"/>
                    <a:lumOff val="80000"/>
                  </a:prstClr>
                </a:solidFill>
              </a:rPr>
              <a:t>平方取中法思想     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953965-9EB0-4205-94E2-BE6DE8657F6B}"/>
              </a:ext>
            </a:extLst>
          </p:cNvPr>
          <p:cNvSpPr/>
          <p:nvPr/>
        </p:nvSpPr>
        <p:spPr>
          <a:xfrm>
            <a:off x="1328773" y="1052125"/>
            <a:ext cx="269817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）平方取中法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EADD4FA8-D205-47CA-963F-FC1E9650DB08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34815067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78" grpId="0"/>
      <p:bldP spid="35737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C5154F19-30B4-49B0-A290-179E9D46F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71623D-6E3D-42F7-86BD-333FEBBD397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848" y="3138394"/>
            <a:ext cx="1286054" cy="1333686"/>
          </a:xfrm>
        </p:spPr>
      </p:pic>
      <p:sp>
        <p:nvSpPr>
          <p:cNvPr id="7" name="云形标注 6"/>
          <p:cNvSpPr/>
          <p:nvPr/>
        </p:nvSpPr>
        <p:spPr>
          <a:xfrm>
            <a:off x="5736981" y="1429482"/>
            <a:ext cx="4542136" cy="1158448"/>
          </a:xfrm>
          <a:prstGeom prst="cloudCallout">
            <a:avLst>
              <a:gd name="adj1" fmla="val -61374"/>
              <a:gd name="adj2" fmla="val 89661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关键字位数特别多，怎么办？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983D523-6D9B-46FE-A577-0A7C229B6704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159735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E57187A9-49C9-493A-B80F-D764754A8D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8FF268A-7567-4887-B7BA-4E9717A0E94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84225" y="1731212"/>
            <a:ext cx="10766947" cy="50577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关键字位数较长</a:t>
            </a:r>
            <a:r>
              <a:rPr lang="zh-CN" altLang="en-US" dirty="0"/>
              <a:t>时，可将关键字</a:t>
            </a:r>
            <a:r>
              <a:rPr lang="zh-CN" altLang="en-US" b="1" dirty="0"/>
              <a:t>分割成位数相等的几部分</a:t>
            </a:r>
            <a:r>
              <a:rPr lang="zh-CN" altLang="en-US" dirty="0"/>
              <a:t>（最后一部分位数可以不同），取这几部分的叠加和（舍去高位的进位）作为散列地址。位数由存储地址的位数确定。</a:t>
            </a:r>
            <a:endParaRPr lang="en-US" altLang="zh-CN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叠加时有两种方法：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移位叠加法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，即将每部分的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最后一位对齐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，然后相加；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边界叠加法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，即把关键字看作一纸条，从一端向另一端沿边界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逐次折叠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，然后对齐相加。 </a:t>
            </a:r>
          </a:p>
          <a:p>
            <a:endParaRPr lang="zh-CN" altLang="en-US" dirty="0"/>
          </a:p>
        </p:txBody>
      </p:sp>
      <p:sp>
        <p:nvSpPr>
          <p:cNvPr id="358403" name="Rectangle 3"/>
          <p:cNvSpPr>
            <a:spLocks noChangeArrowheads="1"/>
          </p:cNvSpPr>
          <p:nvPr/>
        </p:nvSpPr>
        <p:spPr bwMode="auto">
          <a:xfrm>
            <a:off x="2292428" y="2576025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>
              <a:defRPr/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3584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520845"/>
              </p:ext>
            </p:extLst>
          </p:nvPr>
        </p:nvGraphicFramePr>
        <p:xfrm>
          <a:off x="3120675" y="4016367"/>
          <a:ext cx="4859208" cy="176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857462" imgH="1038089" progId="Visio.Drawing.11">
                  <p:embed/>
                </p:oleObj>
              </mc:Choice>
              <mc:Fallback>
                <p:oleObj name="Visio" r:id="rId3" imgW="2857462" imgH="1038089" progId="Visio.Drawing.11">
                  <p:embed/>
                  <p:pic>
                    <p:nvPicPr>
                      <p:cNvPr id="3584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675" y="4016367"/>
                        <a:ext cx="4859208" cy="17616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46933" y="897153"/>
            <a:ext cx="1877438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）折叠法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24371" y="5909819"/>
            <a:ext cx="5928078" cy="400110"/>
          </a:xfrm>
          <a:prstGeom prst="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此方法适合于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关键字的数字位数特别多。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3940BC5-820B-4B4E-BCCB-93C6CC2FAE05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3E10A7E-2406-4D8E-92A2-2C8925CBEA32}"/>
              </a:ext>
            </a:extLst>
          </p:cNvPr>
          <p:cNvCxnSpPr/>
          <p:nvPr/>
        </p:nvCxnSpPr>
        <p:spPr>
          <a:xfrm>
            <a:off x="4966138" y="4650827"/>
            <a:ext cx="1269124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5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:a16="http://schemas.microsoft.com/office/drawing/2014/main" id="{89C4BAC8-BB79-4625-9C06-6A210990E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1497933" y="2465042"/>
            <a:ext cx="9855867" cy="4616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取关键字被某个不大于散列表长度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除后的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余数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作为散列地址，即：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=key MOD p  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p≤m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graphicFrame>
        <p:nvGraphicFramePr>
          <p:cNvPr id="360451" name="Object 3"/>
          <p:cNvGraphicFramePr>
            <a:graphicFrameLocks noGrp="1" noChangeAspect="1"/>
          </p:cNvGraphicFramePr>
          <p:nvPr>
            <p:ph idx="11"/>
            <p:extLst>
              <p:ext uri="{D42A27DB-BD31-4B8C-83A1-F6EECF244321}">
                <p14:modId xmlns:p14="http://schemas.microsoft.com/office/powerpoint/2010/main" val="901113762"/>
              </p:ext>
            </p:extLst>
          </p:nvPr>
        </p:nvGraphicFramePr>
        <p:xfrm>
          <a:off x="4349697" y="3784378"/>
          <a:ext cx="3773883" cy="712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2221230" imgH="419481" progId="Word.Document.8">
                  <p:embed/>
                </p:oleObj>
              </mc:Choice>
              <mc:Fallback>
                <p:oleObj name="文档" r:id="rId3" imgW="2221230" imgH="419481" progId="Word.Document.8">
                  <p:embed/>
                  <p:pic>
                    <p:nvPicPr>
                      <p:cNvPr id="3604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697" y="3784378"/>
                        <a:ext cx="3773883" cy="712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51132865-F13E-4B05-8ED6-30D2823F13F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24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60452" name="Text Box 4"/>
          <p:cNvSpPr txBox="1">
            <a:spLocks noChangeArrowheads="1"/>
          </p:cNvSpPr>
          <p:nvPr/>
        </p:nvSpPr>
        <p:spPr bwMode="auto">
          <a:xfrm>
            <a:off x="1808812" y="4872460"/>
            <a:ext cx="7841963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spcBef>
                <a:spcPct val="30000"/>
              </a:spcBef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的选择很重要，如果选得不好会产生很多冲突。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30000"/>
              </a:spcBef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关键字都是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的倍数，而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p=10</a:t>
            </a:r>
          </a:p>
          <a:p>
            <a:pPr marL="285750" indent="-285750" defTabSz="914400">
              <a:spcBef>
                <a:spcPct val="3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一般取小于表长的最大质数</a:t>
            </a:r>
          </a:p>
        </p:txBody>
      </p:sp>
      <p:sp>
        <p:nvSpPr>
          <p:cNvPr id="2" name="矩形 1"/>
          <p:cNvSpPr/>
          <p:nvPr/>
        </p:nvSpPr>
        <p:spPr>
          <a:xfrm>
            <a:off x="851066" y="1071840"/>
            <a:ext cx="257634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）除留余数法</a:t>
            </a:r>
          </a:p>
        </p:txBody>
      </p:sp>
      <p:sp>
        <p:nvSpPr>
          <p:cNvPr id="3" name="矩形 2"/>
          <p:cNvSpPr/>
          <p:nvPr/>
        </p:nvSpPr>
        <p:spPr>
          <a:xfrm>
            <a:off x="1673615" y="3909622"/>
            <a:ext cx="22816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2" defTabSz="91440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p=21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0E808A1-E7B0-44F5-BE05-BABEDADE8C47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96649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0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0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0" grpId="0" build="p"/>
      <p:bldP spid="360452" grpId="0"/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:a16="http://schemas.microsoft.com/office/drawing/2014/main" id="{FB926B14-7E3F-4AFB-8282-570A3F079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400050" indent="-400050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5575A2E-D96E-480A-B448-2F4C47FDFE1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653978" y="1800225"/>
            <a:ext cx="11055325" cy="5057775"/>
          </a:xfrm>
        </p:spPr>
        <p:txBody>
          <a:bodyPr/>
          <a:lstStyle/>
          <a:p>
            <a:pPr marL="400050" indent="-400050"/>
            <a:r>
              <a:rPr lang="zh-CN" altLang="en-US" dirty="0"/>
              <a:t>选择一个随机函数，取关键字的随机函数值作为散列地址，</a:t>
            </a:r>
          </a:p>
          <a:p>
            <a:pPr marL="400050" indent="-400050"/>
            <a:r>
              <a:rPr lang="zh-CN" altLang="en-US" dirty="0"/>
              <a:t>即：</a:t>
            </a:r>
            <a:r>
              <a:rPr lang="en-US" altLang="zh-CN" dirty="0"/>
              <a:t>H</a:t>
            </a:r>
            <a:r>
              <a:rPr lang="zh-CN" altLang="en-US" dirty="0"/>
              <a:t>（</a:t>
            </a:r>
            <a:r>
              <a:rPr lang="en-US" altLang="zh-CN" dirty="0"/>
              <a:t>key</a:t>
            </a:r>
            <a:r>
              <a:rPr lang="zh-CN" altLang="en-US" dirty="0"/>
              <a:t>）</a:t>
            </a:r>
            <a:r>
              <a:rPr lang="en-US" altLang="zh-CN" dirty="0"/>
              <a:t>=random</a:t>
            </a:r>
            <a:r>
              <a:rPr lang="zh-CN" altLang="en-US" dirty="0"/>
              <a:t>（</a:t>
            </a:r>
            <a:r>
              <a:rPr lang="en-US" altLang="zh-CN" dirty="0"/>
              <a:t>key</a:t>
            </a:r>
            <a:r>
              <a:rPr lang="zh-CN" altLang="en-US" dirty="0"/>
              <a:t>）</a:t>
            </a:r>
          </a:p>
          <a:p>
            <a:pPr marL="400050" indent="-400050"/>
            <a:r>
              <a:rPr lang="zh-CN" altLang="en-US" dirty="0"/>
              <a:t>其中</a:t>
            </a:r>
            <a:r>
              <a:rPr lang="en-US" altLang="zh-CN" dirty="0"/>
              <a:t>random</a:t>
            </a:r>
            <a:r>
              <a:rPr lang="zh-CN" altLang="en-US" dirty="0"/>
              <a:t>为随机函数。</a:t>
            </a:r>
          </a:p>
          <a:p>
            <a:endParaRPr lang="zh-CN" altLang="en-US" dirty="0"/>
          </a:p>
        </p:txBody>
      </p:sp>
      <p:sp>
        <p:nvSpPr>
          <p:cNvPr id="3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BC39DD19-4FEF-4899-91FF-88722A3832C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15014" y="955418"/>
            <a:ext cx="2287806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随机数法</a:t>
            </a:r>
          </a:p>
        </p:txBody>
      </p:sp>
      <p:sp>
        <p:nvSpPr>
          <p:cNvPr id="4" name="矩形 3"/>
          <p:cNvSpPr/>
          <p:nvPr/>
        </p:nvSpPr>
        <p:spPr>
          <a:xfrm>
            <a:off x="1436589" y="3497807"/>
            <a:ext cx="9318822" cy="2058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实际工作中需根据不同的情况采用不同的散列函数。通常需要考虑的因素有：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计算散列函数所需时间；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关键字的长度；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散列表的大小；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关键字的分布情况；</a:t>
            </a:r>
          </a:p>
          <a:p>
            <a:pPr marL="1358504" lvl="3" indent="-228600" defTabSz="914400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记录的查找频率。 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6F9A00A-3E2B-40B0-B315-356DA04456F6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</p:spTree>
    <p:extLst>
      <p:ext uri="{BB962C8B-B14F-4D97-AF65-F5344CB8AC3E}">
        <p14:creationId xmlns:p14="http://schemas.microsoft.com/office/powerpoint/2010/main" val="315366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build="p"/>
      <p:bldP spid="2" grpId="0"/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:a16="http://schemas.microsoft.com/office/drawing/2014/main" id="{FB926B14-7E3F-4AFB-8282-570A3F079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400050" indent="-400050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BC39DD19-4FEF-4899-91FF-88722A3832C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2742" y="1161716"/>
            <a:ext cx="2673662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4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常用的哈希函数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6F9A00A-3E2B-40B0-B315-356DA04456F6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1E17817-18DA-4C50-942E-E48291BB5649}"/>
              </a:ext>
            </a:extLst>
          </p:cNvPr>
          <p:cNvSpPr txBox="1">
            <a:spLocks noChangeArrowheads="1"/>
          </p:cNvSpPr>
          <p:nvPr/>
        </p:nvSpPr>
        <p:spPr>
          <a:xfrm>
            <a:off x="1303892" y="1862396"/>
            <a:ext cx="9109231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  <a:defRPr/>
            </a:pPr>
            <a:r>
              <a:rPr lang="en" altLang="zh-CN" sz="2800" dirty="0">
                <a:solidFill>
                  <a:srgbClr val="FF0000"/>
                </a:solidFill>
              </a:rPr>
              <a:t>MD4</a:t>
            </a:r>
            <a:r>
              <a:rPr lang="zh-CN" altLang="en" sz="2800" dirty="0"/>
              <a:t>（</a:t>
            </a:r>
            <a:r>
              <a:rPr lang="en" altLang="zh-CN" sz="2800" dirty="0"/>
              <a:t> RFC 1320 </a:t>
            </a:r>
            <a:r>
              <a:rPr lang="zh-CN" altLang="en" sz="2800" dirty="0"/>
              <a:t>）</a:t>
            </a:r>
            <a:r>
              <a:rPr lang="zh-CN" altLang="en-US" sz="2800" dirty="0"/>
              <a:t>是 </a:t>
            </a:r>
            <a:r>
              <a:rPr lang="en" altLang="zh-CN" sz="2800" dirty="0"/>
              <a:t>MIT </a:t>
            </a:r>
            <a:r>
              <a:rPr lang="zh-CN" altLang="en-US" sz="2800" dirty="0"/>
              <a:t>的 </a:t>
            </a:r>
            <a:r>
              <a:rPr lang="en" altLang="zh-CN" sz="2800" dirty="0"/>
              <a:t>Rivest </a:t>
            </a:r>
            <a:r>
              <a:rPr lang="zh-CN" altLang="en-US" sz="2800" dirty="0"/>
              <a:t>在 </a:t>
            </a:r>
            <a:r>
              <a:rPr lang="en-US" altLang="zh-CN" sz="2800" dirty="0"/>
              <a:t>1990 </a:t>
            </a:r>
            <a:r>
              <a:rPr lang="zh-CN" altLang="en-US" sz="2800" dirty="0"/>
              <a:t>年设计的，其输出为 </a:t>
            </a:r>
            <a:r>
              <a:rPr lang="en-US" altLang="zh-CN" sz="2800" dirty="0">
                <a:solidFill>
                  <a:srgbClr val="C00000"/>
                </a:solidFill>
              </a:rPr>
              <a:t>128 </a:t>
            </a:r>
            <a:r>
              <a:rPr lang="zh-CN" altLang="en-US" sz="2800" dirty="0">
                <a:solidFill>
                  <a:srgbClr val="C00000"/>
                </a:solidFill>
              </a:rPr>
              <a:t>位</a:t>
            </a:r>
            <a:r>
              <a:rPr lang="zh-CN" altLang="en-US" sz="2800" dirty="0"/>
              <a:t>。</a:t>
            </a:r>
            <a:r>
              <a:rPr lang="en" altLang="zh-CN" sz="2800" dirty="0"/>
              <a:t>MD4 </a:t>
            </a:r>
            <a:r>
              <a:rPr lang="zh-CN" altLang="en-US" sz="2800" dirty="0"/>
              <a:t>已证明</a:t>
            </a:r>
            <a:r>
              <a:rPr lang="zh-CN" altLang="en-US" sz="2800" dirty="0">
                <a:solidFill>
                  <a:srgbClr val="0070C0"/>
                </a:solidFill>
              </a:rPr>
              <a:t>不够安全</a:t>
            </a:r>
            <a:endParaRPr lang="en-US" altLang="zh-CN" sz="2800" dirty="0">
              <a:solidFill>
                <a:srgbClr val="0070C0"/>
              </a:solidFill>
            </a:endParaRPr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  <a:defRPr/>
            </a:pPr>
            <a:r>
              <a:rPr lang="en" altLang="zh-CN" sz="2800" dirty="0">
                <a:solidFill>
                  <a:srgbClr val="FF0000"/>
                </a:solidFill>
              </a:rPr>
              <a:t>MD5</a:t>
            </a:r>
            <a:r>
              <a:rPr lang="zh-CN" altLang="en" sz="2800" dirty="0"/>
              <a:t>（</a:t>
            </a:r>
            <a:r>
              <a:rPr lang="en" altLang="zh-CN" sz="2800" dirty="0"/>
              <a:t>RFC 1321</a:t>
            </a:r>
            <a:r>
              <a:rPr lang="zh-CN" altLang="en" sz="2800" dirty="0"/>
              <a:t>）</a:t>
            </a:r>
            <a:r>
              <a:rPr lang="zh-CN" altLang="en-US" sz="2800" dirty="0"/>
              <a:t>对 </a:t>
            </a:r>
            <a:r>
              <a:rPr lang="en" altLang="zh-CN" sz="2800" dirty="0"/>
              <a:t>MD4 </a:t>
            </a:r>
            <a:r>
              <a:rPr lang="zh-CN" altLang="en-US" sz="2800" dirty="0"/>
              <a:t>的改进版本。它对输入仍以 </a:t>
            </a:r>
            <a:r>
              <a:rPr lang="en-US" altLang="zh-CN" sz="2800" dirty="0"/>
              <a:t>512 </a:t>
            </a:r>
            <a:r>
              <a:rPr lang="zh-CN" altLang="en-US" sz="2800" dirty="0"/>
              <a:t>位分组，其输出是 </a:t>
            </a:r>
            <a:r>
              <a:rPr lang="en-US" altLang="zh-CN" sz="2800" dirty="0">
                <a:solidFill>
                  <a:srgbClr val="C00000"/>
                </a:solidFill>
              </a:rPr>
              <a:t>128</a:t>
            </a:r>
            <a:r>
              <a:rPr lang="en-US" altLang="zh-CN" sz="2800" dirty="0"/>
              <a:t> </a:t>
            </a:r>
            <a:r>
              <a:rPr lang="zh-CN" altLang="en-US" sz="2800" dirty="0"/>
              <a:t>位。</a:t>
            </a:r>
            <a:r>
              <a:rPr lang="en" altLang="zh-CN" sz="2800" dirty="0"/>
              <a:t>MD5 </a:t>
            </a:r>
            <a:r>
              <a:rPr lang="zh-CN" altLang="en-US" sz="2800" dirty="0"/>
              <a:t>比 </a:t>
            </a:r>
            <a:r>
              <a:rPr lang="en" altLang="zh-CN" sz="2800" dirty="0"/>
              <a:t>MD4 </a:t>
            </a:r>
            <a:r>
              <a:rPr lang="zh-CN" altLang="en-US" sz="2800" dirty="0"/>
              <a:t>复杂，并且计算速度要慢一点，更安全一些。</a:t>
            </a:r>
            <a:r>
              <a:rPr lang="en" altLang="zh-CN" sz="2800" dirty="0"/>
              <a:t>MD5 </a:t>
            </a:r>
            <a:r>
              <a:rPr lang="zh-CN" altLang="en-US" sz="2800" dirty="0"/>
              <a:t>已被证明不具备”强抗碰撞性”</a:t>
            </a:r>
            <a:endParaRPr lang="en-US" altLang="zh-CN" sz="2800" dirty="0"/>
          </a:p>
          <a:p>
            <a:pPr marL="457200" indent="-457200">
              <a:lnSpc>
                <a:spcPct val="120000"/>
              </a:lnSpc>
              <a:buFont typeface="Wingdings" pitchFamily="2" charset="2"/>
              <a:buAutoNum type="arabicPeriod"/>
              <a:defRPr/>
            </a:pPr>
            <a:r>
              <a:rPr lang="en" altLang="zh-CN" sz="2800" dirty="0">
                <a:solidFill>
                  <a:srgbClr val="FF0000"/>
                </a:solidFill>
              </a:rPr>
              <a:t>SHA</a:t>
            </a:r>
            <a:r>
              <a:rPr lang="en" altLang="zh-CN" sz="2800" dirty="0"/>
              <a:t> </a:t>
            </a:r>
            <a:r>
              <a:rPr lang="zh-CN" altLang="en" sz="2800" dirty="0"/>
              <a:t>（</a:t>
            </a:r>
            <a:r>
              <a:rPr lang="en" altLang="zh-CN" sz="2800" dirty="0"/>
              <a:t>Secure Hash Algorithm</a:t>
            </a:r>
            <a:r>
              <a:rPr lang="zh-CN" altLang="en" sz="2800" dirty="0"/>
              <a:t>）</a:t>
            </a:r>
            <a:r>
              <a:rPr lang="zh-CN" altLang="en-US" sz="2800" dirty="0"/>
              <a:t>是一个 </a:t>
            </a:r>
            <a:r>
              <a:rPr lang="en" altLang="zh-CN" sz="2800" dirty="0"/>
              <a:t>Hash </a:t>
            </a:r>
            <a:r>
              <a:rPr lang="zh-CN" altLang="en-US" sz="2800" dirty="0"/>
              <a:t>函数族，由 </a:t>
            </a:r>
            <a:r>
              <a:rPr lang="en" altLang="zh-CN" sz="2800" dirty="0"/>
              <a:t>NIST</a:t>
            </a:r>
            <a:r>
              <a:rPr lang="zh-CN" altLang="en-US" sz="2800" dirty="0"/>
              <a:t>于 </a:t>
            </a:r>
            <a:r>
              <a:rPr lang="en-US" altLang="zh-CN" sz="2800" dirty="0"/>
              <a:t>1993 </a:t>
            </a:r>
            <a:r>
              <a:rPr lang="zh-CN" altLang="en-US" sz="2800" dirty="0"/>
              <a:t>年发布第一个算法。目前知名的 </a:t>
            </a:r>
            <a:r>
              <a:rPr lang="en" altLang="zh-CN" sz="2800" dirty="0"/>
              <a:t>SHA-1 </a:t>
            </a:r>
            <a:r>
              <a:rPr lang="zh-CN" altLang="en-US" sz="2800" dirty="0"/>
              <a:t>在 </a:t>
            </a:r>
            <a:r>
              <a:rPr lang="en-US" altLang="zh-CN" sz="2800" dirty="0"/>
              <a:t>1995 </a:t>
            </a:r>
            <a:r>
              <a:rPr lang="zh-CN" altLang="en-US" sz="2800" dirty="0"/>
              <a:t>年面世，它的输出为长度 </a:t>
            </a:r>
            <a:r>
              <a:rPr lang="en-US" altLang="zh-CN" sz="2800" dirty="0">
                <a:solidFill>
                  <a:srgbClr val="C00000"/>
                </a:solidFill>
              </a:rPr>
              <a:t>160</a:t>
            </a:r>
            <a:r>
              <a:rPr lang="en-US" altLang="zh-CN" sz="2800" dirty="0"/>
              <a:t> </a:t>
            </a:r>
            <a:r>
              <a:rPr lang="zh-CN" altLang="en-US" sz="2800" dirty="0"/>
              <a:t>位的 </a:t>
            </a:r>
            <a:r>
              <a:rPr lang="en" altLang="zh-CN" sz="2800" dirty="0"/>
              <a:t>hash </a:t>
            </a:r>
            <a:r>
              <a:rPr lang="zh-CN" altLang="en-US" sz="2800" dirty="0"/>
              <a:t>值，因此抗穷举性更好。</a:t>
            </a:r>
            <a:r>
              <a:rPr lang="en" altLang="zh-CN" sz="2800" dirty="0"/>
              <a:t>SHA-1 </a:t>
            </a:r>
            <a:r>
              <a:rPr lang="zh-CN" altLang="en-US" sz="2800" dirty="0"/>
              <a:t>设计时基于和 </a:t>
            </a:r>
            <a:r>
              <a:rPr lang="en" altLang="zh-CN" sz="2800" dirty="0"/>
              <a:t>MD4 </a:t>
            </a:r>
            <a:r>
              <a:rPr lang="zh-CN" altLang="en-US" sz="2800" dirty="0"/>
              <a:t>相同原理，并且模仿了该算法。</a:t>
            </a:r>
            <a:r>
              <a:rPr lang="en" altLang="zh-CN" sz="2800" dirty="0"/>
              <a:t>SHA-1 </a:t>
            </a:r>
            <a:r>
              <a:rPr lang="zh-CN" altLang="en-US" sz="2800" dirty="0"/>
              <a:t>已被证明不具”强抗碰撞性”。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79070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:a16="http://schemas.microsoft.com/office/drawing/2014/main" id="{FB926B14-7E3F-4AFB-8282-570A3F079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400050" indent="-400050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BC39DD19-4FEF-4899-91FF-88722A3832C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6F9A00A-3E2B-40B0-B315-356DA04456F6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8D4EC684-7E6B-4E23-96CB-2415066A8316}"/>
              </a:ext>
            </a:extLst>
          </p:cNvPr>
          <p:cNvSpPr txBox="1">
            <a:spLocks/>
          </p:cNvSpPr>
          <p:nvPr/>
        </p:nvSpPr>
        <p:spPr>
          <a:xfrm>
            <a:off x="696310" y="1429482"/>
            <a:ext cx="8345214" cy="535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" altLang="zh-CN" sz="2400" dirty="0"/>
              <a:t>MD5</a:t>
            </a:r>
            <a:r>
              <a:rPr lang="zh-CN" altLang="en-US" sz="2400" dirty="0"/>
              <a:t>的碰撞案例</a:t>
            </a:r>
          </a:p>
          <a:p>
            <a:pPr>
              <a:buFont typeface="Wingdings" pitchFamily="2" charset="2"/>
              <a:buNone/>
              <a:defRPr/>
            </a:pPr>
            <a:endParaRPr kumimoji="1" lang="zh-CN" altLang="en-US" sz="2400" dirty="0"/>
          </a:p>
        </p:txBody>
      </p:sp>
      <p:sp>
        <p:nvSpPr>
          <p:cNvPr id="10" name="矩形 2">
            <a:extLst>
              <a:ext uri="{FF2B5EF4-FFF2-40B4-BE49-F238E27FC236}">
                <a16:creationId xmlns:a16="http://schemas.microsoft.com/office/drawing/2014/main" id="{2EBF1136-DAAA-4A98-9FAA-BDF201013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965014"/>
            <a:ext cx="8686800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import hashlib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#  </a:t>
            </a:r>
            <a:r>
              <a:rPr lang="zh-CN" altLang="en-US" sz="1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两段HEX字节串，注意它们有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细微差别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a = bytearray.fromhex("0e306561559aa787d00bc6f70bbdfe3404cf03659e7</a:t>
            </a:r>
            <a:r>
              <a:rPr lang="zh-CN" altLang="en-US" sz="1400" b="0" dirty="0">
                <a:solidFill>
                  <a:srgbClr val="FF0000"/>
                </a:solidFill>
                <a:latin typeface="Verdana" panose="020B0604030504040204" pitchFamily="34" charset="0"/>
              </a:rPr>
              <a:t>0</a:t>
            </a:r>
            <a:r>
              <a:rPr lang="zh-CN" altLang="en-US" sz="1400" b="0" dirty="0">
                <a:latin typeface="Verdana" panose="020B0604030504040204" pitchFamily="34" charset="0"/>
              </a:rPr>
              <a:t>4f8534c00ffb659c4c8740cc942feb2da115a3f415</a:t>
            </a:r>
            <a:r>
              <a:rPr lang="zh-CN" altLang="en-US" sz="1400" b="0" dirty="0">
                <a:solidFill>
                  <a:srgbClr val="FF0000"/>
                </a:solidFill>
                <a:latin typeface="Verdana" panose="020B0604030504040204" pitchFamily="34" charset="0"/>
              </a:rPr>
              <a:t>5</a:t>
            </a:r>
            <a:r>
              <a:rPr lang="zh-CN" altLang="en-US" sz="1400" b="0" dirty="0">
                <a:latin typeface="Verdana" panose="020B0604030504040204" pitchFamily="34" charset="0"/>
              </a:rPr>
              <a:t>cbb8607497386656d7d1f34a42059d78f5a8dd1ef")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b = bytearray.fromhex("0e306561559aa787d00bc6f70bbdfe3404cf03659e7</a:t>
            </a:r>
            <a:r>
              <a:rPr lang="zh-CN" altLang="en-US" sz="1400" b="0" dirty="0">
                <a:solidFill>
                  <a:srgbClr val="00B0F0"/>
                </a:solidFill>
                <a:latin typeface="Verdana" panose="020B0604030504040204" pitchFamily="34" charset="0"/>
              </a:rPr>
              <a:t>4</a:t>
            </a:r>
            <a:r>
              <a:rPr lang="zh-CN" altLang="en-US" sz="1400" b="0" dirty="0">
                <a:latin typeface="Verdana" panose="020B0604030504040204" pitchFamily="34" charset="0"/>
              </a:rPr>
              <a:t>4f8534c00ffb659c4c8740cc942feb2da115a3f415</a:t>
            </a:r>
            <a:r>
              <a:rPr lang="zh-CN" altLang="en-US" sz="1400" b="0" dirty="0">
                <a:solidFill>
                  <a:srgbClr val="00B0F0"/>
                </a:solidFill>
                <a:latin typeface="Verdana" panose="020B0604030504040204" pitchFamily="34" charset="0"/>
              </a:rPr>
              <a:t>d</a:t>
            </a:r>
            <a:r>
              <a:rPr lang="zh-CN" altLang="en-US" sz="1400" b="0" dirty="0">
                <a:latin typeface="Verdana" panose="020B0604030504040204" pitchFamily="34" charset="0"/>
              </a:rPr>
              <a:t>cbb8607497386656d7d1f34a42059d78f5a8dd1ef")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4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#  输出MD5，它们的结果一致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print(hashlib.md5(a).hexdigest())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b="0" dirty="0">
                <a:latin typeface="Verdana" panose="020B0604030504040204" pitchFamily="34" charset="0"/>
              </a:rPr>
              <a:t>print(hashlib.md5(b).hexdigest())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latin typeface="Verdana" panose="020B0604030504040204" pitchFamily="34" charset="0"/>
              </a:rPr>
              <a:t>### a和b输出结果都为：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latin typeface="Verdana" panose="020B0604030504040204" pitchFamily="34" charset="0"/>
              </a:rPr>
              <a:t>cee9a457e790cf20d4bdaa6d69f01e41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0" dirty="0">
                <a:latin typeface="Verdana" panose="020B0604030504040204" pitchFamily="34" charset="0"/>
              </a:rPr>
              <a:t>cee9a457e790cf20d4bdaa6d69f01e41</a:t>
            </a:r>
          </a:p>
        </p:txBody>
      </p:sp>
    </p:spTree>
    <p:extLst>
      <p:ext uri="{BB962C8B-B14F-4D97-AF65-F5344CB8AC3E}">
        <p14:creationId xmlns:p14="http://schemas.microsoft.com/office/powerpoint/2010/main" val="109703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5">
            <a:extLst>
              <a:ext uri="{FF2B5EF4-FFF2-40B4-BE49-F238E27FC236}">
                <a16:creationId xmlns:a16="http://schemas.microsoft.com/office/drawing/2014/main" id="{FB926B14-7E3F-4AFB-8282-570A3F079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body" idx="10"/>
          </p:nvPr>
        </p:nvSpPr>
        <p:spPr/>
        <p:txBody>
          <a:bodyPr>
            <a:noAutofit/>
          </a:bodyPr>
          <a:lstStyle/>
          <a:p>
            <a:pPr marL="400050" indent="-400050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6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 defTabSz="914400">
              <a:defRPr/>
            </a:pPr>
            <a:fld id="{BC39DD19-4FEF-4899-91FF-88722A3832C7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28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E6F9A00A-3E2B-40B0-B315-356DA04456F6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13239F-9EEF-47D7-8C28-9AAB334D3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15" y="1112319"/>
            <a:ext cx="8370533" cy="4633362"/>
          </a:xfrm>
          <a:prstGeom prst="rect">
            <a:avLst/>
          </a:prstGeom>
        </p:spPr>
      </p:pic>
      <p:sp>
        <p:nvSpPr>
          <p:cNvPr id="12" name="矩形 3">
            <a:extLst>
              <a:ext uri="{FF2B5EF4-FFF2-40B4-BE49-F238E27FC236}">
                <a16:creationId xmlns:a16="http://schemas.microsoft.com/office/drawing/2014/main" id="{C56B07F5-D563-4E1E-8FDD-F1D6D1470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3301" y="1983871"/>
            <a:ext cx="8648700" cy="4372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28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算法本质上是类似的，但安全性要领先很多</a:t>
            </a:r>
            <a:r>
              <a:rPr lang="en-US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这种领先型更多的表现在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碰撞攻击的时间开销更大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，当然计算时间慢</a:t>
            </a: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SHA0、SHA1、SHA256、SHA384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等等，它们的计算方式和计算速度都有差别。</a:t>
            </a:r>
            <a:endParaRPr lang="en-US" altLang="zh-CN" sz="2000" b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zh-CN" sz="20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SHA1</a:t>
            </a:r>
            <a:r>
              <a:rPr lang="zh-CN" altLang="en-US" sz="2000" b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是现在用途最广泛的一种算法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。包括</a:t>
            </a:r>
            <a:r>
              <a:rPr lang="zh-CN" altLang="zh-CN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在内的版本控制工具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以及各种</a:t>
            </a:r>
            <a:r>
              <a:rPr lang="zh-CN" altLang="en-US" sz="2000" b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云同步服务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都是用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SHA1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来区别文件。长期以来，人们都认为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SHA1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是十分安全的，至少大家还没有找到一次碰撞案例。</a:t>
            </a: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但在</a:t>
            </a:r>
            <a:r>
              <a:rPr lang="en-US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CWI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的研究人员们成功找到了一例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SHA1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碰撞，而且很厉害的是，发生碰撞的是两个真实的、可阅读的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文件。这两个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文件内容不相同，但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SHA1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值完全一样。</a:t>
            </a:r>
            <a:endParaRPr lang="en-US" altLang="zh-CN" sz="2000" b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所以，对于一些大的商业机构来说， 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zh-CN" altLang="zh-CN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SHA1 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已经不够安全，推荐至少使用 </a:t>
            </a:r>
            <a:r>
              <a:rPr lang="zh-CN" altLang="zh-CN" sz="20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SHA2-256 </a:t>
            </a:r>
            <a:r>
              <a:rPr lang="zh-CN" altLang="en-US" sz="2000" b="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算法。</a:t>
            </a:r>
          </a:p>
        </p:txBody>
      </p:sp>
    </p:spTree>
    <p:extLst>
      <p:ext uri="{BB962C8B-B14F-4D97-AF65-F5344CB8AC3E}">
        <p14:creationId xmlns:p14="http://schemas.microsoft.com/office/powerpoint/2010/main" val="389367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2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9BAB2F2-66B9-4B88-A1AD-1B6D4DC2D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27AC8C0-53BA-4A1F-92AC-53BEEC504C7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404" y="2221924"/>
            <a:ext cx="2926821" cy="3035223"/>
          </a:xfrm>
        </p:spPr>
      </p:pic>
      <p:sp>
        <p:nvSpPr>
          <p:cNvPr id="5" name="云形标注 4"/>
          <p:cNvSpPr/>
          <p:nvPr/>
        </p:nvSpPr>
        <p:spPr>
          <a:xfrm>
            <a:off x="5126817" y="1157493"/>
            <a:ext cx="5614629" cy="1948722"/>
          </a:xfrm>
          <a:prstGeom prst="cloudCallout">
            <a:avLst>
              <a:gd name="adj1" fmla="val -50773"/>
              <a:gd name="adj2" fmla="val 74038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建立散列表如果遇到两个相同关键字的情况怎么办？</a:t>
            </a:r>
          </a:p>
        </p:txBody>
      </p:sp>
      <p:sp>
        <p:nvSpPr>
          <p:cNvPr id="6" name="云形标注 4">
            <a:extLst>
              <a:ext uri="{FF2B5EF4-FFF2-40B4-BE49-F238E27FC236}">
                <a16:creationId xmlns:a16="http://schemas.microsoft.com/office/drawing/2014/main" id="{4BCDDF83-7D3D-49E9-943E-5835D8FD6827}"/>
              </a:ext>
            </a:extLst>
          </p:cNvPr>
          <p:cNvSpPr/>
          <p:nvPr/>
        </p:nvSpPr>
        <p:spPr>
          <a:xfrm>
            <a:off x="5126816" y="3346465"/>
            <a:ext cx="5614629" cy="1948722"/>
          </a:xfrm>
          <a:prstGeom prst="cloudCallout">
            <a:avLst>
              <a:gd name="adj1" fmla="val -54423"/>
              <a:gd name="adj2" fmla="val 51386"/>
            </a:avLst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有可能有两个相同关键字吗？</a:t>
            </a:r>
          </a:p>
        </p:txBody>
      </p:sp>
    </p:spTree>
    <p:extLst>
      <p:ext uri="{BB962C8B-B14F-4D97-AF65-F5344CB8AC3E}">
        <p14:creationId xmlns:p14="http://schemas.microsoft.com/office/powerpoint/2010/main" val="140052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2.59259E-6 L 8.33333E-7 -0.07222 " pathEditMode="relative" rAng="0" ptsTypes="AA">
                                      <p:cBhvr>
                                        <p:cTn id="21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3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4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5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8.33333E-7 -2.59259E-6 L 8.33333E-7 -0.07222 " pathEditMode="relative" rAng="0" ptsTypes="AA">
                                      <p:cBhvr>
                                        <p:cTn id="4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4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5" grpId="1" build="p" animBg="1"/>
      <p:bldP spid="6" grpId="0" build="p" animBg="1"/>
      <p:bldP spid="6" grpId="1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28CC4F2E-BE5B-4CD5-8D09-69BEFD302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906B1-8E58-4F72-B49D-D9462F28089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1"/>
          </p:nvPr>
        </p:nvSpPr>
        <p:spPr>
          <a:xfrm>
            <a:off x="440364" y="1435492"/>
            <a:ext cx="11055325" cy="505777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冲突：</a:t>
            </a:r>
            <a:endParaRPr kumimoji="1" lang="en-US" altLang="zh-CN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是指由关键字得到的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地址上已有其他记录。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好的散列函数可以减少冲突，但</a:t>
            </a: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很难避免冲突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 ：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为出现散列地址冲突的关键字寻找下一个散列地址。</a:t>
            </a:r>
          </a:p>
          <a:p>
            <a:pPr>
              <a:lnSpc>
                <a:spcPct val="120000"/>
              </a:lnSpc>
            </a:pP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A422A7C1-CC45-4D1D-AF6D-73F4ACAC91E5}"/>
              </a:ext>
            </a:extLst>
          </p:cNvPr>
          <p:cNvSpPr txBox="1">
            <a:spLocks/>
          </p:cNvSpPr>
          <p:nvPr/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327844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3765EB69-E6FD-4FED-917C-ACD1A4C2D5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散列函数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708280-072E-43B3-87A1-1C3392BE747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常见的冲突处理方法有：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开放地址法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再散列法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</a:p>
          <a:p>
            <a:pPr lvl="3">
              <a:lnSpc>
                <a:spcPct val="150000"/>
              </a:lnSpc>
            </a:pPr>
            <a:r>
              <a:rPr kumimoji="1"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公共溢出区法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FB98DBF-411E-4207-9718-4F8AFD027B16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290921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2AC97455-55BC-4B3E-8F84-8FB634CC65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散列函数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B24A87-DB1D-4DC7-808D-9449C76A6DF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Rectangle 2"/>
          <p:cNvSpPr>
            <a:spLocks noGrp="1" noChangeArrowheads="1"/>
          </p:cNvSpPr>
          <p:nvPr>
            <p:ph idx="11"/>
          </p:nvPr>
        </p:nvSpPr>
        <p:spPr>
          <a:xfrm>
            <a:off x="1436632" y="1716049"/>
            <a:ext cx="11055325" cy="5057775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为产生冲突的地址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求得一个地址序列：</a:t>
            </a: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…,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 s≤m-1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  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H(key)</a:t>
            </a: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H</a:t>
            </a:r>
            <a:r>
              <a:rPr kumimoji="1" lang="en-US" altLang="zh-CN" sz="24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( H(key) + 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MOD m </a:t>
            </a:r>
          </a:p>
          <a:p>
            <a:pPr marL="971550" lvl="2" indent="-285750">
              <a:lnSpc>
                <a:spcPct val="130000"/>
              </a:lnSpc>
              <a:buNone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</a:t>
            </a:r>
            <a:r>
              <a:rPr kumimoji="1" lang="en-US" altLang="zh-CN" sz="24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=1, 2, …, s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353260" y="4923866"/>
            <a:ext cx="6065044" cy="1255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为第</a:t>
            </a:r>
            <a:r>
              <a:rPr kumimoji="1"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次冲突的地址，</a:t>
            </a:r>
            <a:r>
              <a:rPr kumimoji="1" lang="en-US" altLang="zh-CN" 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=1, 2, …, s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函数值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kumimoji="1"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表表长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defRPr/>
            </a:pPr>
            <a:r>
              <a:rPr kumimoji="1" lang="en-US" altLang="zh-CN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kumimoji="1" lang="en-US" altLang="zh-CN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增量序列</a:t>
            </a:r>
          </a:p>
        </p:txBody>
      </p:sp>
      <p:sp>
        <p:nvSpPr>
          <p:cNvPr id="14" name="矩形 13"/>
          <p:cNvSpPr/>
          <p:nvPr/>
        </p:nvSpPr>
        <p:spPr>
          <a:xfrm>
            <a:off x="1664087" y="1131274"/>
            <a:ext cx="2986715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marL="457200" indent="-457200" defTabSz="914400">
              <a:defRPr/>
            </a:pP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）开放地址法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E634500-9A08-4A0C-9CCE-F88E38426004}"/>
              </a:ext>
            </a:extLst>
          </p:cNvPr>
          <p:cNvSpPr txBox="1">
            <a:spLocks/>
          </p:cNvSpPr>
          <p:nvPr/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42003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7555" y="1896498"/>
            <a:ext cx="5506641" cy="515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algn="ctr" eaLnBrk="0" hangingPunct="0"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algn="just" defTabSz="914400">
              <a:defRPr/>
            </a:pPr>
            <a:r>
              <a:rPr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对增量 </a:t>
            </a:r>
            <a:r>
              <a:rPr lang="en-US" altLang="zh-CN" sz="2400" b="0" i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b="0" i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b="0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有三种取法：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47554" y="2690458"/>
            <a:ext cx="8163093" cy="3500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Aft>
                <a:spcPct val="2000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3"/>
              </a:buBlip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(linear probing)</a:t>
            </a:r>
            <a:b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c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  </a:t>
            </a:r>
            <a:r>
              <a:rPr lang="en-US" altLang="zh-CN" sz="2400" i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一般情况： </a:t>
            </a:r>
            <a:r>
              <a:rPr lang="en-US" altLang="zh-CN" sz="2400" i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c=1</a:t>
            </a:r>
            <a:endParaRPr lang="en-US" altLang="zh-CN" sz="24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平方探测再散列</a:t>
            </a:r>
            <a:b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1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-1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2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-2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…,  </a:t>
            </a:r>
            <a:r>
              <a:rPr lang="zh-CN" altLang="en-US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2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3</a:t>
            </a:r>
            <a:r>
              <a:rPr lang="en-US" altLang="zh-CN" sz="2400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…</a:t>
            </a:r>
            <a:endParaRPr lang="en-US" altLang="zh-CN" sz="2400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30000"/>
              </a:lnSpc>
              <a:defRPr/>
            </a:pPr>
            <a:r>
              <a:rPr lang="en-US" altLang="zh-CN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随机探测再散列</a:t>
            </a:r>
            <a:b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是一组伪随机数列</a:t>
            </a:r>
            <a:endParaRPr lang="en-US" altLang="zh-CN" sz="2400" i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64087" y="1131274"/>
            <a:ext cx="2986715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marL="457200" indent="-457200" defTabSz="914400">
              <a:defRPr/>
            </a:pP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）开放地址法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AA70B7-F41A-4712-BED9-372D08AF93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67EEE0-DCCD-4ED2-A286-B1816281604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869968E-0382-4EE6-9C74-385AE4FA1201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396016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build="p" autoUpdateAnimBg="0"/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1DFC7ADD-B951-4CB8-9972-BFBDE246D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99AD24-2223-4CD0-B41C-2FA3BA8BCBA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0418" name="灯片编号占位符 3"/>
          <p:cNvSpPr>
            <a:spLocks noGrp="1"/>
          </p:cNvSpPr>
          <p:nvPr>
            <p:ph type="sldNum" sz="quarter" idx="4294967295"/>
          </p:nvPr>
        </p:nvSpPr>
        <p:spPr>
          <a:xfrm rot="900000">
            <a:off x="11476038" y="6200775"/>
            <a:ext cx="715962" cy="365125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fld id="{7F40D193-2919-4242-B94E-855C8FD5F5A5}" type="slidenum">
              <a:rPr lang="en-US" altLang="zh-CN" smtClean="0"/>
              <a:pPr eaLnBrk="1" hangingPunct="1"/>
              <a:t>34</a:t>
            </a:fld>
            <a:endParaRPr lang="en-US" altLang="zh-CN" dirty="0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25229" y="1244094"/>
            <a:ext cx="4341807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zh-CN" altLang="en-US" sz="2000" b="1" dirty="0">
                <a:latin typeface="Times New Roman" pitchFamily="18" charset="0"/>
              </a:rPr>
              <a:t>例</a:t>
            </a:r>
            <a:r>
              <a:rPr kumimoji="1" lang="en-US" altLang="zh-CN" sz="2000" b="1" dirty="0">
                <a:latin typeface="Times New Roman" pitchFamily="18" charset="0"/>
              </a:rPr>
              <a:t>:</a:t>
            </a:r>
            <a:r>
              <a:rPr kumimoji="1" lang="zh-CN" altLang="en-US" sz="2000" b="1" dirty="0">
                <a:latin typeface="Times New Roman" pitchFamily="18" charset="0"/>
              </a:rPr>
              <a:t>  </a:t>
            </a:r>
            <a:endParaRPr kumimoji="1" lang="en-US" altLang="zh-CN" sz="2000" b="1" dirty="0">
              <a:latin typeface="Times New Roman" pitchFamily="18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Times New Roman" pitchFamily="18" charset="0"/>
              </a:rPr>
              <a:t>表长为</a:t>
            </a:r>
            <a:r>
              <a:rPr kumimoji="1" lang="en-US" altLang="zh-CN" sz="2000" b="1" dirty="0">
                <a:latin typeface="Times New Roman" pitchFamily="18" charset="0"/>
              </a:rPr>
              <a:t>11</a:t>
            </a:r>
            <a:r>
              <a:rPr kumimoji="1" lang="zh-CN" altLang="en-US" sz="2000" b="1" dirty="0">
                <a:latin typeface="Times New Roman" pitchFamily="18" charset="0"/>
              </a:rPr>
              <a:t>的散列表中已填有关键字为</a:t>
            </a:r>
            <a:r>
              <a:rPr kumimoji="1" lang="en-US" altLang="zh-CN" sz="2000" b="1" dirty="0">
                <a:latin typeface="Times New Roman" pitchFamily="18" charset="0"/>
              </a:rPr>
              <a:t>17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r>
              <a:rPr kumimoji="1" lang="en-US" altLang="zh-CN" sz="2000" b="1" dirty="0">
                <a:latin typeface="Times New Roman" pitchFamily="18" charset="0"/>
              </a:rPr>
              <a:t>60</a:t>
            </a:r>
            <a:r>
              <a:rPr kumimoji="1" lang="zh-CN" altLang="en-US" sz="2000" b="1" dirty="0">
                <a:latin typeface="Times New Roman" pitchFamily="18" charset="0"/>
              </a:rPr>
              <a:t>，</a:t>
            </a:r>
            <a:r>
              <a:rPr kumimoji="1" lang="en-US" altLang="zh-CN" sz="2000" b="1" dirty="0">
                <a:latin typeface="Times New Roman" pitchFamily="18" charset="0"/>
              </a:rPr>
              <a:t>29</a:t>
            </a:r>
            <a:r>
              <a:rPr kumimoji="1" lang="zh-CN" altLang="en-US" sz="2000" b="1" dirty="0">
                <a:latin typeface="Times New Roman" pitchFamily="18" charset="0"/>
              </a:rPr>
              <a:t>的记录</a:t>
            </a:r>
            <a:endParaRPr kumimoji="1" lang="en-US" altLang="zh-CN" sz="2000" b="1" dirty="0">
              <a:latin typeface="Times New Roman" pitchFamily="18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solidFill>
                  <a:srgbClr val="009999"/>
                </a:solidFill>
                <a:latin typeface="Times New Roman" pitchFamily="18" charset="0"/>
              </a:rPr>
              <a:t>哈希函数</a:t>
            </a:r>
            <a:r>
              <a:rPr kumimoji="1" lang="zh-CN" altLang="en-US" sz="2000" b="1" dirty="0">
                <a:latin typeface="Times New Roman" pitchFamily="18" charset="0"/>
              </a:rPr>
              <a:t>：</a:t>
            </a:r>
            <a:r>
              <a:rPr kumimoji="1" lang="en-US" altLang="zh-CN" sz="2000" b="1" dirty="0">
                <a:latin typeface="Times New Roman" pitchFamily="18" charset="0"/>
              </a:rPr>
              <a:t>H(key) = key  MOD  11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kumimoji="1" lang="zh-CN" altLang="zh-CN" sz="2000" b="1" dirty="0">
                <a:latin typeface="Times New Roman" pitchFamily="18" charset="0"/>
              </a:rPr>
              <a:t>现</a:t>
            </a:r>
            <a:r>
              <a:rPr kumimoji="1" lang="zh-CN" altLang="en-US" sz="2000" b="1" dirty="0">
                <a:latin typeface="Times New Roman" pitchFamily="18" charset="0"/>
              </a:rPr>
              <a:t>增加</a:t>
            </a:r>
            <a:r>
              <a:rPr kumimoji="1" lang="zh-CN" altLang="zh-CN" sz="2000" b="1" dirty="0">
                <a:latin typeface="Times New Roman" pitchFamily="18" charset="0"/>
              </a:rPr>
              <a:t>第4个记录，其关键字为38，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</a:t>
            </a:r>
            <a:endParaRPr kumimoji="1" lang="zh-CN" altLang="en-US" sz="2000" b="1" dirty="0">
              <a:latin typeface="Times New Roman" pitchFamily="18" charset="0"/>
            </a:endParaRPr>
          </a:p>
        </p:txBody>
      </p:sp>
      <p:grpSp>
        <p:nvGrpSpPr>
          <p:cNvPr id="29721" name="Group 25"/>
          <p:cNvGrpSpPr>
            <a:grpSpLocks/>
          </p:cNvGrpSpPr>
          <p:nvPr/>
        </p:nvGrpSpPr>
        <p:grpSpPr bwMode="auto">
          <a:xfrm>
            <a:off x="6476784" y="1466248"/>
            <a:ext cx="4256087" cy="690562"/>
            <a:chOff x="1261" y="1173"/>
            <a:chExt cx="2681" cy="435"/>
          </a:xfrm>
        </p:grpSpPr>
        <p:sp>
          <p:nvSpPr>
            <p:cNvPr id="60427" name="Text Box 5"/>
            <p:cNvSpPr txBox="1">
              <a:spLocks noChangeArrowheads="1"/>
            </p:cNvSpPr>
            <p:nvPr/>
          </p:nvSpPr>
          <p:spPr bwMode="auto">
            <a:xfrm>
              <a:off x="1295" y="1173"/>
              <a:ext cx="26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latin typeface="Times New Roman" pitchFamily="18" charset="0"/>
                </a:rPr>
                <a:t>0    1    2    3    4    5    6    7    8    9   10</a:t>
              </a:r>
            </a:p>
          </p:txBody>
        </p:sp>
        <p:sp>
          <p:nvSpPr>
            <p:cNvPr id="60428" name="Rectangle 7"/>
            <p:cNvSpPr>
              <a:spLocks noChangeArrowheads="1"/>
            </p:cNvSpPr>
            <p:nvPr/>
          </p:nvSpPr>
          <p:spPr bwMode="auto">
            <a:xfrm>
              <a:off x="1261" y="1366"/>
              <a:ext cx="2681" cy="2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9" name="Line 8"/>
            <p:cNvSpPr>
              <a:spLocks noChangeShapeType="1"/>
            </p:cNvSpPr>
            <p:nvPr/>
          </p:nvSpPr>
          <p:spPr bwMode="auto">
            <a:xfrm>
              <a:off x="1498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0" name="Line 9"/>
            <p:cNvSpPr>
              <a:spLocks noChangeShapeType="1"/>
            </p:cNvSpPr>
            <p:nvPr/>
          </p:nvSpPr>
          <p:spPr bwMode="auto">
            <a:xfrm>
              <a:off x="1741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1" name="Line 10"/>
            <p:cNvSpPr>
              <a:spLocks noChangeShapeType="1"/>
            </p:cNvSpPr>
            <p:nvPr/>
          </p:nvSpPr>
          <p:spPr bwMode="auto">
            <a:xfrm>
              <a:off x="1985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2" name="Line 11"/>
            <p:cNvSpPr>
              <a:spLocks noChangeShapeType="1"/>
            </p:cNvSpPr>
            <p:nvPr/>
          </p:nvSpPr>
          <p:spPr bwMode="auto">
            <a:xfrm>
              <a:off x="2229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3" name="Line 12"/>
            <p:cNvSpPr>
              <a:spLocks noChangeShapeType="1"/>
            </p:cNvSpPr>
            <p:nvPr/>
          </p:nvSpPr>
          <p:spPr bwMode="auto">
            <a:xfrm>
              <a:off x="2473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4" name="Line 13"/>
            <p:cNvSpPr>
              <a:spLocks noChangeShapeType="1"/>
            </p:cNvSpPr>
            <p:nvPr/>
          </p:nvSpPr>
          <p:spPr bwMode="auto">
            <a:xfrm>
              <a:off x="2716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5" name="Line 14"/>
            <p:cNvSpPr>
              <a:spLocks noChangeShapeType="1"/>
            </p:cNvSpPr>
            <p:nvPr/>
          </p:nvSpPr>
          <p:spPr bwMode="auto">
            <a:xfrm>
              <a:off x="2960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6" name="Line 15"/>
            <p:cNvSpPr>
              <a:spLocks noChangeShapeType="1"/>
            </p:cNvSpPr>
            <p:nvPr/>
          </p:nvSpPr>
          <p:spPr bwMode="auto">
            <a:xfrm>
              <a:off x="3204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7" name="Line 16"/>
            <p:cNvSpPr>
              <a:spLocks noChangeShapeType="1"/>
            </p:cNvSpPr>
            <p:nvPr/>
          </p:nvSpPr>
          <p:spPr bwMode="auto">
            <a:xfrm>
              <a:off x="3448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8" name="Line 17"/>
            <p:cNvSpPr>
              <a:spLocks noChangeShapeType="1"/>
            </p:cNvSpPr>
            <p:nvPr/>
          </p:nvSpPr>
          <p:spPr bwMode="auto">
            <a:xfrm>
              <a:off x="3692" y="1366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39" name="Text Box 18"/>
            <p:cNvSpPr txBox="1">
              <a:spLocks noChangeArrowheads="1"/>
            </p:cNvSpPr>
            <p:nvPr/>
          </p:nvSpPr>
          <p:spPr bwMode="auto">
            <a:xfrm>
              <a:off x="2454" y="1358"/>
              <a:ext cx="7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latin typeface="Times New Roman" pitchFamily="18" charset="0"/>
                </a:rPr>
                <a:t>60  17  29</a:t>
              </a:r>
            </a:p>
          </p:txBody>
        </p:sp>
      </p:grp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6532345" y="2863003"/>
            <a:ext cx="424372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Times New Roman" pitchFamily="18" charset="0"/>
              </a:rPr>
              <a:t>(</a:t>
            </a:r>
            <a:r>
              <a:rPr kumimoji="1" lang="en-US" altLang="zh-CN" sz="2000" b="1" dirty="0">
                <a:solidFill>
                  <a:srgbClr val="0066FF"/>
                </a:solidFill>
                <a:latin typeface="Times New Roman" pitchFamily="18" charset="0"/>
              </a:rPr>
              <a:t>1</a:t>
            </a:r>
            <a:r>
              <a:rPr kumimoji="1" lang="en-US" altLang="zh-CN" sz="2000" b="1" dirty="0">
                <a:latin typeface="Times New Roman" pitchFamily="18" charset="0"/>
              </a:rPr>
              <a:t>)  H(38) = 38 MOD 11 = 5    </a:t>
            </a:r>
            <a:r>
              <a:rPr kumimoji="1" lang="zh-CN" altLang="zh-CN" sz="2000" b="1" dirty="0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</a:t>
            </a:r>
            <a:r>
              <a:rPr kumimoji="1" lang="en-US" altLang="zh-CN" sz="2000" b="1" dirty="0">
                <a:latin typeface="Times New Roman" pitchFamily="18" charset="0"/>
              </a:rPr>
              <a:t>H</a:t>
            </a:r>
            <a:r>
              <a:rPr kumimoji="1" lang="en-US" altLang="zh-CN" sz="1400" b="1" dirty="0">
                <a:latin typeface="Times New Roman" pitchFamily="18" charset="0"/>
              </a:rPr>
              <a:t>1 </a:t>
            </a:r>
            <a:r>
              <a:rPr kumimoji="1" lang="en-US" altLang="zh-CN" sz="2000" b="1" dirty="0">
                <a:latin typeface="Times New Roman" pitchFamily="18" charset="0"/>
              </a:rPr>
              <a:t>= (5+1) MOD 11 = 6    </a:t>
            </a:r>
            <a:r>
              <a:rPr kumimoji="1" lang="zh-CN" altLang="zh-CN" sz="2000" b="1" dirty="0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</a:t>
            </a:r>
            <a:r>
              <a:rPr kumimoji="1" lang="en-US" altLang="zh-CN" sz="2000" b="1" dirty="0">
                <a:latin typeface="Times New Roman" pitchFamily="18" charset="0"/>
              </a:rPr>
              <a:t>H</a:t>
            </a:r>
            <a:r>
              <a:rPr kumimoji="1" lang="en-US" altLang="zh-CN" sz="1400" b="1" dirty="0">
                <a:latin typeface="Times New Roman" pitchFamily="18" charset="0"/>
              </a:rPr>
              <a:t>2 </a:t>
            </a:r>
            <a:r>
              <a:rPr kumimoji="1" lang="en-US" altLang="zh-CN" sz="2000" b="1" dirty="0">
                <a:latin typeface="Times New Roman" pitchFamily="18" charset="0"/>
              </a:rPr>
              <a:t>= (5+2) MOD 11 = 7    </a:t>
            </a:r>
            <a:r>
              <a:rPr kumimoji="1" lang="zh-CN" altLang="zh-CN" sz="2000" b="1" dirty="0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</a:t>
            </a:r>
            <a:r>
              <a:rPr kumimoji="1" lang="en-US" altLang="zh-CN" sz="2000" b="1" dirty="0">
                <a:latin typeface="Times New Roman" pitchFamily="18" charset="0"/>
              </a:rPr>
              <a:t>H</a:t>
            </a:r>
            <a:r>
              <a:rPr kumimoji="1" lang="en-US" altLang="zh-CN" sz="1400" b="1" dirty="0">
                <a:latin typeface="Times New Roman" pitchFamily="18" charset="0"/>
              </a:rPr>
              <a:t>3 </a:t>
            </a:r>
            <a:r>
              <a:rPr kumimoji="1" lang="en-US" altLang="zh-CN" sz="2000" b="1" dirty="0">
                <a:latin typeface="Times New Roman" pitchFamily="18" charset="0"/>
              </a:rPr>
              <a:t>= (5+3) MOD 11 = 8    </a:t>
            </a:r>
            <a:r>
              <a:rPr kumimoji="1" lang="zh-CN" altLang="zh-CN" sz="2000" b="1" dirty="0">
                <a:solidFill>
                  <a:srgbClr val="C00000"/>
                </a:solidFill>
                <a:latin typeface="Times New Roman" pitchFamily="18" charset="0"/>
              </a:rPr>
              <a:t>不冲突 </a:t>
            </a:r>
            <a:endParaRPr kumimoji="1" lang="zh-CN" altLang="en-US" sz="20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9554945" y="1761524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0066FF"/>
                </a:solidFill>
                <a:latin typeface="Times New Roman" pitchFamily="18" charset="0"/>
              </a:rPr>
              <a:t>38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6487896" y="4263178"/>
            <a:ext cx="437998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Times New Roman" pitchFamily="18" charset="0"/>
              </a:rPr>
              <a:t> (</a:t>
            </a:r>
            <a:r>
              <a:rPr kumimoji="1" lang="en-US" altLang="zh-CN" sz="2000" b="1" dirty="0">
                <a:solidFill>
                  <a:schemeClr val="folHlink"/>
                </a:solidFill>
                <a:latin typeface="Times New Roman" pitchFamily="18" charset="0"/>
              </a:rPr>
              <a:t>2</a:t>
            </a:r>
            <a:r>
              <a:rPr kumimoji="1" lang="en-US" altLang="zh-CN" sz="2000" b="1" dirty="0">
                <a:latin typeface="Times New Roman" pitchFamily="18" charset="0"/>
              </a:rPr>
              <a:t>)  H(38) = 38 MOD 11  = 5    </a:t>
            </a:r>
            <a:r>
              <a:rPr kumimoji="1" lang="zh-CN" altLang="zh-CN" sz="2000" b="1" dirty="0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</a:t>
            </a:r>
            <a:r>
              <a:rPr kumimoji="1" lang="en-US" altLang="zh-CN" sz="2000" b="1" dirty="0">
                <a:latin typeface="Times New Roman" pitchFamily="18" charset="0"/>
              </a:rPr>
              <a:t> H</a:t>
            </a:r>
            <a:r>
              <a:rPr kumimoji="1" lang="en-US" altLang="zh-CN" sz="1400" b="1" dirty="0">
                <a:latin typeface="Times New Roman" pitchFamily="18" charset="0"/>
              </a:rPr>
              <a:t>1 </a:t>
            </a:r>
            <a:r>
              <a:rPr kumimoji="1" lang="en-US" altLang="zh-CN" sz="2000" b="1" dirty="0">
                <a:latin typeface="Times New Roman" pitchFamily="18" charset="0"/>
              </a:rPr>
              <a:t>= (5+1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²</a:t>
            </a:r>
            <a:r>
              <a:rPr kumimoji="1" lang="en-US" altLang="zh-CN" sz="2000" b="1" dirty="0">
                <a:latin typeface="Times New Roman" pitchFamily="18" charset="0"/>
              </a:rPr>
              <a:t>) MOD 11 = 6    </a:t>
            </a:r>
            <a:r>
              <a:rPr kumimoji="1" lang="zh-CN" altLang="zh-CN" sz="2000" b="1" dirty="0">
                <a:latin typeface="Times New Roman" pitchFamily="18" charset="0"/>
              </a:rPr>
              <a:t>冲突</a:t>
            </a:r>
          </a:p>
          <a:p>
            <a:pPr eaLnBrk="1" hangingPunct="1"/>
            <a:r>
              <a:rPr kumimoji="1" lang="zh-CN" altLang="zh-CN" sz="2000" b="1" dirty="0">
                <a:latin typeface="Times New Roman" pitchFamily="18" charset="0"/>
              </a:rPr>
              <a:t>       </a:t>
            </a:r>
            <a:r>
              <a:rPr kumimoji="1" lang="en-US" altLang="zh-CN" sz="2000" b="1" dirty="0">
                <a:latin typeface="Times New Roman" pitchFamily="18" charset="0"/>
              </a:rPr>
              <a:t> H</a:t>
            </a:r>
            <a:r>
              <a:rPr kumimoji="1" lang="en-US" altLang="zh-CN" sz="1400" b="1" dirty="0">
                <a:latin typeface="Times New Roman" pitchFamily="18" charset="0"/>
              </a:rPr>
              <a:t>2 </a:t>
            </a:r>
            <a:r>
              <a:rPr kumimoji="1" lang="en-US" altLang="zh-CN" sz="2000" b="1" dirty="0">
                <a:latin typeface="Times New Roman" pitchFamily="18" charset="0"/>
              </a:rPr>
              <a:t>= (5-1</a:t>
            </a:r>
            <a:r>
              <a:rPr kumimoji="1" lang="en-US" altLang="zh-CN" b="1" dirty="0">
                <a:latin typeface="Times New Roman" pitchFamily="18" charset="0"/>
                <a:sym typeface="Symbol" pitchFamily="18" charset="2"/>
              </a:rPr>
              <a:t>²</a:t>
            </a:r>
            <a:r>
              <a:rPr kumimoji="1" lang="en-US" altLang="zh-CN" sz="2000" b="1" dirty="0">
                <a:latin typeface="Times New Roman" pitchFamily="18" charset="0"/>
              </a:rPr>
              <a:t>) MOD 11  = 4    </a:t>
            </a:r>
            <a:r>
              <a:rPr kumimoji="1" lang="zh-CN" altLang="zh-CN" sz="2000" b="1" dirty="0">
                <a:solidFill>
                  <a:srgbClr val="C00000"/>
                </a:solidFill>
                <a:latin typeface="Times New Roman" pitchFamily="18" charset="0"/>
              </a:rPr>
              <a:t>不冲突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7999195" y="1766286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folHlink"/>
                </a:solidFill>
                <a:latin typeface="Times New Roman" pitchFamily="18" charset="0"/>
              </a:rPr>
              <a:t>38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6484720" y="5442691"/>
            <a:ext cx="424372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Times New Roman" pitchFamily="18" charset="0"/>
              </a:rPr>
              <a:t> (</a:t>
            </a:r>
            <a:r>
              <a:rPr kumimoji="1" lang="en-US" altLang="zh-CN" sz="2000" b="1" dirty="0">
                <a:solidFill>
                  <a:srgbClr val="FF3300"/>
                </a:solidFill>
                <a:latin typeface="Times New Roman" pitchFamily="18" charset="0"/>
              </a:rPr>
              <a:t>3</a:t>
            </a:r>
            <a:r>
              <a:rPr kumimoji="1" lang="en-US" altLang="zh-CN" sz="2000" b="1" dirty="0">
                <a:latin typeface="Times New Roman" pitchFamily="18" charset="0"/>
              </a:rPr>
              <a:t>)  H(38) = 38 MOD 11 = 5    </a:t>
            </a:r>
            <a:r>
              <a:rPr kumimoji="1" lang="zh-CN" altLang="zh-CN" sz="2000" b="1" dirty="0">
                <a:latin typeface="Times New Roman" pitchFamily="18" charset="0"/>
              </a:rPr>
              <a:t>冲突</a:t>
            </a:r>
            <a:endParaRPr kumimoji="1" lang="zh-CN" altLang="en-US" sz="2000" b="1" dirty="0">
              <a:latin typeface="Times New Roman" pitchFamily="18" charset="0"/>
            </a:endParaRPr>
          </a:p>
          <a:p>
            <a:pPr eaLnBrk="1" hangingPunct="1"/>
            <a:r>
              <a:rPr kumimoji="1" lang="zh-CN" altLang="en-US" sz="2000" b="1" dirty="0">
                <a:latin typeface="Times New Roman" pitchFamily="18" charset="0"/>
              </a:rPr>
              <a:t>         设伪随机数序列为</a:t>
            </a:r>
            <a:r>
              <a:rPr kumimoji="1" lang="en-US" altLang="zh-CN" sz="2000" b="1" dirty="0">
                <a:latin typeface="Times New Roman" pitchFamily="18" charset="0"/>
              </a:rPr>
              <a:t>9</a:t>
            </a:r>
            <a:r>
              <a:rPr kumimoji="1" lang="zh-CN" altLang="en-US" sz="2000" b="1" dirty="0">
                <a:latin typeface="Times New Roman" pitchFamily="18" charset="0"/>
              </a:rPr>
              <a:t>，则：</a:t>
            </a:r>
          </a:p>
          <a:p>
            <a:pPr eaLnBrk="1" hangingPunct="1"/>
            <a:r>
              <a:rPr kumimoji="1" lang="zh-CN" altLang="en-US" sz="2000" b="1" dirty="0">
                <a:latin typeface="Times New Roman" pitchFamily="18" charset="0"/>
              </a:rPr>
              <a:t>        </a:t>
            </a:r>
            <a:r>
              <a:rPr kumimoji="1" lang="en-US" altLang="zh-CN" sz="2000" b="1" dirty="0">
                <a:latin typeface="Times New Roman" pitchFamily="18" charset="0"/>
              </a:rPr>
              <a:t>H</a:t>
            </a:r>
            <a:r>
              <a:rPr kumimoji="1" lang="en-US" altLang="zh-CN" sz="1400" b="1" dirty="0">
                <a:latin typeface="Times New Roman" pitchFamily="18" charset="0"/>
              </a:rPr>
              <a:t>1 </a:t>
            </a:r>
            <a:r>
              <a:rPr kumimoji="1" lang="en-US" altLang="zh-CN" sz="2000" b="1" dirty="0">
                <a:latin typeface="Times New Roman" pitchFamily="18" charset="0"/>
              </a:rPr>
              <a:t>= (5+9) MOD 11 = 3    </a:t>
            </a:r>
            <a:r>
              <a:rPr kumimoji="1" lang="zh-CN" altLang="zh-CN" sz="2000" b="1" dirty="0">
                <a:solidFill>
                  <a:srgbClr val="C00000"/>
                </a:solidFill>
                <a:latin typeface="Times New Roman" pitchFamily="18" charset="0"/>
              </a:rPr>
              <a:t>不冲突</a:t>
            </a:r>
            <a:endParaRPr kumimoji="1" lang="zh-CN" altLang="en-US" sz="2000" b="1" dirty="0">
              <a:solidFill>
                <a:srgbClr val="C00000"/>
              </a:solidFill>
              <a:latin typeface="Times New Roman" pitchFamily="18" charset="0"/>
            </a:endParaRPr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7608670" y="1755174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rgbClr val="FF3300"/>
                </a:solidFill>
                <a:latin typeface="Times New Roman" pitchFamily="18" charset="0"/>
              </a:rPr>
              <a:t>38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D1DFD70B-39B8-4920-BE34-D61225562742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311236-A8AA-4864-9CF4-FA05A3819C03}"/>
              </a:ext>
            </a:extLst>
          </p:cNvPr>
          <p:cNvSpPr/>
          <p:nvPr/>
        </p:nvSpPr>
        <p:spPr>
          <a:xfrm>
            <a:off x="6373954" y="2314016"/>
            <a:ext cx="4683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按三种处理冲突的方法，将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kumimoji="1"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填入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散列</a:t>
            </a:r>
            <a:r>
              <a:rPr kumimoji="1"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0891FC-190A-4C46-B69B-AC859730FCB6}"/>
              </a:ext>
            </a:extLst>
          </p:cNvPr>
          <p:cNvSpPr/>
          <p:nvPr/>
        </p:nvSpPr>
        <p:spPr>
          <a:xfrm>
            <a:off x="5214625" y="333185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9F704A-4B94-4508-8561-47FCCC4D4758}"/>
              </a:ext>
            </a:extLst>
          </p:cNvPr>
          <p:cNvSpPr/>
          <p:nvPr/>
        </p:nvSpPr>
        <p:spPr>
          <a:xfrm>
            <a:off x="5214625" y="464789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平方探测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66B786-CCD0-4CBD-BCF4-B5C2361CA2CC}"/>
              </a:ext>
            </a:extLst>
          </p:cNvPr>
          <p:cNvSpPr/>
          <p:nvPr/>
        </p:nvSpPr>
        <p:spPr>
          <a:xfrm>
            <a:off x="5214625" y="576126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A7AC5C-1660-42F3-B3D4-FAADC3A7E886}"/>
              </a:ext>
            </a:extLst>
          </p:cNvPr>
          <p:cNvSpPr txBox="1"/>
          <p:nvPr/>
        </p:nvSpPr>
        <p:spPr>
          <a:xfrm>
            <a:off x="458875" y="3586069"/>
            <a:ext cx="4074513" cy="2862322"/>
          </a:xfrm>
          <a:prstGeom prst="rect">
            <a:avLst/>
          </a:prstGeom>
          <a:solidFill>
            <a:srgbClr val="0099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线性探测法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逻辑上，把哈希表当作首尾相连的循环结构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从散列地址开始“向下”逐个探寻，直到找到表中第一个</a:t>
            </a:r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空位置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，然后填入数据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容易造成大量数字</a:t>
            </a:r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聚集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在一个区域的情况，降低插入和查找的效率！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694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7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7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7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97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5" grpId="0" build="p" autoUpdateAnimBg="0"/>
      <p:bldP spid="29716" grpId="0" autoUpdateAnimBg="0"/>
      <p:bldP spid="29717" grpId="0" build="p" autoUpdateAnimBg="0"/>
      <p:bldP spid="29718" grpId="0" autoUpdateAnimBg="0"/>
      <p:bldP spid="29719" grpId="0" build="p" autoUpdateAnimBg="0"/>
      <p:bldP spid="29720" grpId="0" autoUpdateAnimBg="0"/>
      <p:bldP spid="5" grpId="0"/>
      <p:bldP spid="6" grpId="0"/>
      <p:bldP spid="7" grpId="0"/>
      <p:bldP spid="8" grpId="0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926592" y="1385560"/>
            <a:ext cx="2476960" cy="107721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400">
              <a:defRPr/>
            </a:pPr>
            <a:r>
              <a:rPr lang="en-US" altLang="zh-CN" dirty="0"/>
              <a:t>2</a:t>
            </a:r>
            <a:r>
              <a:rPr lang="zh-CN" altLang="en-US" dirty="0"/>
              <a:t>）再散列法</a:t>
            </a:r>
          </a:p>
          <a:p>
            <a:pPr defTabSz="914400"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926592" y="2300574"/>
            <a:ext cx="8512807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个不同散列函数排成一个序列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当发生冲突时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kumimoji="1"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确定第</a:t>
            </a:r>
            <a:r>
              <a:rPr kumimoji="1"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次冲突的地址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。即：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Hi =</a:t>
            </a:r>
            <a:r>
              <a:rPr kumimoji="1"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RHi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(key)  </a:t>
            </a:r>
            <a:r>
              <a:rPr kumimoji="1" lang="en-US" altLang="zh-CN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=1, 2, …, n</a:t>
            </a:r>
            <a:endParaRPr kumimoji="1" lang="en-US" altLang="zh-CN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kumimoji="1" lang="en-US" altLang="zh-CN" dirty="0" err="1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RHi</a:t>
            </a:r>
            <a:r>
              <a:rPr kumimoji="1" lang="en-US" altLang="zh-CN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solidFill>
                  <a:prstClr val="blac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为不同散列函数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这种方法不会产生“聚类”，但会增加计算时间。</a:t>
            </a:r>
            <a:endParaRPr kumimoji="1" lang="en-US" altLang="zh-CN" dirty="0">
              <a:solidFill>
                <a:prstClr val="blac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9DBCE78-2544-4864-BEE2-2D6907850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95C0249-B9DF-4E93-927C-4169141892A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5FB6961-1B33-4B5C-B012-30ACD3C90FC4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263789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副标题 62">
            <a:extLst>
              <a:ext uri="{FF2B5EF4-FFF2-40B4-BE49-F238E27FC236}">
                <a16:creationId xmlns:a16="http://schemas.microsoft.com/office/drawing/2014/main" id="{6B6DB336-4E53-4239-A73B-1F53F9E4D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4" name="文本占位符 63">
            <a:extLst>
              <a:ext uri="{FF2B5EF4-FFF2-40B4-BE49-F238E27FC236}">
                <a16:creationId xmlns:a16="http://schemas.microsoft.com/office/drawing/2014/main" id="{ADEDEA5D-8DDD-4126-85CE-F5BC08F251A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ln/>
        </p:spPr>
        <p:txBody>
          <a:bodyPr/>
          <a:lstStyle/>
          <a:p>
            <a:pPr defTabSz="914400">
              <a:defRPr/>
            </a:pPr>
            <a:fld id="{7F7E39C6-6711-49C5-BCEE-3C51FC1C432D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36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48299" y="1751946"/>
            <a:ext cx="7369887" cy="39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defTabSz="914400"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将所有散列地址相同的记录都链接在同一链表中。       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2832918" y="2667000"/>
            <a:ext cx="685800" cy="3429000"/>
            <a:chOff x="672" y="1200"/>
            <a:chExt cx="576" cy="2880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960" y="1200"/>
              <a:ext cx="288" cy="288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960" y="1632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960" y="20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960" y="2400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960" y="2784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960" y="32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960" y="3648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672" y="1233"/>
              <a:ext cx="336" cy="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4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5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1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3404418" y="3238500"/>
            <a:ext cx="1200150" cy="342900"/>
            <a:chOff x="1152" y="1680"/>
            <a:chExt cx="1008" cy="288"/>
          </a:xfrm>
        </p:grpSpPr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63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196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1152" y="1824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17" name="Group 17"/>
          <p:cNvGrpSpPr>
            <a:grpSpLocks/>
          </p:cNvGrpSpPr>
          <p:nvPr/>
        </p:nvGrpSpPr>
        <p:grpSpPr bwMode="auto">
          <a:xfrm>
            <a:off x="3404418" y="5181600"/>
            <a:ext cx="1200150" cy="342900"/>
            <a:chOff x="1152" y="3312"/>
            <a:chExt cx="1008" cy="288"/>
          </a:xfrm>
        </p:grpSpPr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63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19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196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1152" y="345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5633268" y="5181600"/>
            <a:ext cx="1257300" cy="342900"/>
            <a:chOff x="3024" y="3312"/>
            <a:chExt cx="1056" cy="288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355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82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388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302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25" name="Group 25"/>
          <p:cNvGrpSpPr>
            <a:grpSpLocks/>
          </p:cNvGrpSpPr>
          <p:nvPr/>
        </p:nvGrpSpPr>
        <p:grpSpPr bwMode="auto">
          <a:xfrm>
            <a:off x="3404418" y="3695701"/>
            <a:ext cx="1200150" cy="400050"/>
            <a:chOff x="1152" y="2064"/>
            <a:chExt cx="1008" cy="336"/>
          </a:xfrm>
        </p:grpSpPr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632" y="206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196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1152" y="2208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1660" y="2090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23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" name="Group 30"/>
          <p:cNvGrpSpPr>
            <a:grpSpLocks/>
          </p:cNvGrpSpPr>
          <p:nvPr/>
        </p:nvGrpSpPr>
        <p:grpSpPr bwMode="auto">
          <a:xfrm>
            <a:off x="3404418" y="4610102"/>
            <a:ext cx="1200150" cy="369094"/>
            <a:chOff x="1152" y="2832"/>
            <a:chExt cx="1008" cy="310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632" y="283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1968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1152" y="297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1660" y="2832"/>
              <a:ext cx="33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" name="Group 35"/>
          <p:cNvGrpSpPr>
            <a:grpSpLocks/>
          </p:cNvGrpSpPr>
          <p:nvPr/>
        </p:nvGrpSpPr>
        <p:grpSpPr bwMode="auto">
          <a:xfrm>
            <a:off x="4490268" y="5181601"/>
            <a:ext cx="1257300" cy="400050"/>
            <a:chOff x="2064" y="3312"/>
            <a:chExt cx="1056" cy="336"/>
          </a:xfrm>
        </p:grpSpPr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259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292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206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39" name="Text Box 39"/>
            <p:cNvSpPr txBox="1">
              <a:spLocks noChangeArrowheads="1"/>
            </p:cNvSpPr>
            <p:nvPr/>
          </p:nvSpPr>
          <p:spPr bwMode="auto">
            <a:xfrm>
              <a:off x="2620" y="3338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68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" name="Group 40"/>
          <p:cNvGrpSpPr>
            <a:grpSpLocks/>
          </p:cNvGrpSpPr>
          <p:nvPr/>
        </p:nvGrpSpPr>
        <p:grpSpPr bwMode="auto">
          <a:xfrm>
            <a:off x="3404418" y="5695953"/>
            <a:ext cx="1200150" cy="369094"/>
            <a:chOff x="1152" y="3744"/>
            <a:chExt cx="1008" cy="310"/>
          </a:xfrm>
        </p:grpSpPr>
        <p:sp>
          <p:nvSpPr>
            <p:cNvPr id="41" name="Rectangle 41"/>
            <p:cNvSpPr>
              <a:spLocks noChangeArrowheads="1"/>
            </p:cNvSpPr>
            <p:nvPr/>
          </p:nvSpPr>
          <p:spPr bwMode="auto">
            <a:xfrm>
              <a:off x="1632" y="374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1968" y="37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1152" y="38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1660" y="3744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55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5" name="Group 45"/>
          <p:cNvGrpSpPr>
            <a:grpSpLocks/>
          </p:cNvGrpSpPr>
          <p:nvPr/>
        </p:nvGrpSpPr>
        <p:grpSpPr bwMode="auto">
          <a:xfrm>
            <a:off x="3404418" y="2724150"/>
            <a:ext cx="1200150" cy="342900"/>
            <a:chOff x="1152" y="1248"/>
            <a:chExt cx="1008" cy="288"/>
          </a:xfrm>
        </p:grpSpPr>
        <p:sp>
          <p:nvSpPr>
            <p:cNvPr id="46" name="Line 46"/>
            <p:cNvSpPr>
              <a:spLocks noChangeShapeType="1"/>
            </p:cNvSpPr>
            <p:nvPr/>
          </p:nvSpPr>
          <p:spPr bwMode="auto">
            <a:xfrm>
              <a:off x="1152" y="14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Rectangle 47"/>
            <p:cNvSpPr>
              <a:spLocks noChangeArrowheads="1"/>
            </p:cNvSpPr>
            <p:nvPr/>
          </p:nvSpPr>
          <p:spPr bwMode="auto">
            <a:xfrm>
              <a:off x="1632" y="1248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Line 48"/>
            <p:cNvSpPr>
              <a:spLocks noChangeShapeType="1"/>
            </p:cNvSpPr>
            <p:nvPr/>
          </p:nvSpPr>
          <p:spPr bwMode="auto">
            <a:xfrm>
              <a:off x="1968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49" name="Text Box 49"/>
          <p:cNvSpPr txBox="1">
            <a:spLocks noChangeArrowheads="1"/>
          </p:cNvSpPr>
          <p:nvPr/>
        </p:nvSpPr>
        <p:spPr bwMode="auto">
          <a:xfrm>
            <a:off x="4362871" y="266700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0" name="Group 50"/>
          <p:cNvGrpSpPr>
            <a:grpSpLocks/>
          </p:cNvGrpSpPr>
          <p:nvPr/>
        </p:nvGrpSpPr>
        <p:grpSpPr bwMode="auto">
          <a:xfrm>
            <a:off x="4490268" y="3238500"/>
            <a:ext cx="1257300" cy="342900"/>
            <a:chOff x="2064" y="1680"/>
            <a:chExt cx="1056" cy="288"/>
          </a:xfrm>
        </p:grpSpPr>
        <p:sp>
          <p:nvSpPr>
            <p:cNvPr id="51" name="Rectangle 51"/>
            <p:cNvSpPr>
              <a:spLocks noChangeArrowheads="1"/>
            </p:cNvSpPr>
            <p:nvPr/>
          </p:nvSpPr>
          <p:spPr bwMode="auto">
            <a:xfrm>
              <a:off x="259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36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Line 52"/>
            <p:cNvSpPr>
              <a:spLocks noChangeShapeType="1"/>
            </p:cNvSpPr>
            <p:nvPr/>
          </p:nvSpPr>
          <p:spPr bwMode="auto">
            <a:xfrm>
              <a:off x="292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53" name="Line 53"/>
            <p:cNvSpPr>
              <a:spLocks noChangeShapeType="1"/>
            </p:cNvSpPr>
            <p:nvPr/>
          </p:nvSpPr>
          <p:spPr bwMode="auto">
            <a:xfrm>
              <a:off x="2064" y="1824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5505871" y="31920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4362871" y="36492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4362871" y="45636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6648871" y="512445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" name="Text Box 58"/>
          <p:cNvSpPr txBox="1">
            <a:spLocks noChangeArrowheads="1"/>
          </p:cNvSpPr>
          <p:nvPr/>
        </p:nvSpPr>
        <p:spPr bwMode="auto">
          <a:xfrm>
            <a:off x="4318819" y="564951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" name="Text Box 59"/>
          <p:cNvSpPr txBox="1">
            <a:spLocks noChangeArrowheads="1"/>
          </p:cNvSpPr>
          <p:nvPr/>
        </p:nvSpPr>
        <p:spPr bwMode="auto">
          <a:xfrm>
            <a:off x="3219871" y="41064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Text Box 61"/>
          <p:cNvSpPr txBox="1">
            <a:spLocks noChangeArrowheads="1"/>
          </p:cNvSpPr>
          <p:nvPr/>
        </p:nvSpPr>
        <p:spPr bwMode="auto">
          <a:xfrm>
            <a:off x="6995441" y="2491085"/>
            <a:ext cx="3955588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关键字集合为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{19,01,23,14,55,68,11,82,36}</a:t>
            </a: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 </a:t>
            </a:r>
            <a:r>
              <a:rPr kumimoji="1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MOD 7</a:t>
            </a: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1094990" y="1053525"/>
            <a:ext cx="3475856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914400" lvl="2" defTabSz="914400">
              <a:defRPr/>
            </a:pPr>
            <a:r>
              <a:rPr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）链地址法：</a:t>
            </a:r>
          </a:p>
        </p:txBody>
      </p:sp>
      <p:sp>
        <p:nvSpPr>
          <p:cNvPr id="65" name="标题 1">
            <a:extLst>
              <a:ext uri="{FF2B5EF4-FFF2-40B4-BE49-F238E27FC236}">
                <a16:creationId xmlns:a16="http://schemas.microsoft.com/office/drawing/2014/main" id="{454AB220-4FB6-4ECA-BB74-B78BC93087F1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68733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9" grpId="0"/>
      <p:bldP spid="54" grpId="0"/>
      <p:bldP spid="55" grpId="0"/>
      <p:bldP spid="56" grpId="0"/>
      <p:bldP spid="57" grpId="0"/>
      <p:bldP spid="58" grpId="0"/>
      <p:bldP spid="59" grpId="0"/>
      <p:bldP spid="60" grpId="0" autoUpdateAnimBg="0"/>
      <p:bldP spid="6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副标题 62">
            <a:extLst>
              <a:ext uri="{FF2B5EF4-FFF2-40B4-BE49-F238E27FC236}">
                <a16:creationId xmlns:a16="http://schemas.microsoft.com/office/drawing/2014/main" id="{6B6DB336-4E53-4239-A73B-1F53F9E4D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64" name="文本占位符 63">
            <a:extLst>
              <a:ext uri="{FF2B5EF4-FFF2-40B4-BE49-F238E27FC236}">
                <a16:creationId xmlns:a16="http://schemas.microsoft.com/office/drawing/2014/main" id="{ADEDEA5D-8DDD-4126-85CE-F5BC08F251A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ln/>
        </p:spPr>
        <p:txBody>
          <a:bodyPr/>
          <a:lstStyle/>
          <a:p>
            <a:pPr defTabSz="914400">
              <a:defRPr/>
            </a:pPr>
            <a:fld id="{7F7E39C6-6711-49C5-BCEE-3C51FC1C432D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914400">
                <a:defRPr/>
              </a:pPr>
              <a:t>37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48299" y="1751946"/>
            <a:ext cx="7369887" cy="39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defTabSz="914400"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将所有散列地址相同的记录都链接在同一链表中。       </a:t>
            </a: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1094990" y="1053525"/>
            <a:ext cx="3475856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914400" lvl="2" defTabSz="914400">
              <a:defRPr/>
            </a:pPr>
            <a:r>
              <a:rPr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）链地址法：</a:t>
            </a:r>
          </a:p>
        </p:txBody>
      </p:sp>
      <p:sp>
        <p:nvSpPr>
          <p:cNvPr id="65" name="标题 1">
            <a:extLst>
              <a:ext uri="{FF2B5EF4-FFF2-40B4-BE49-F238E27FC236}">
                <a16:creationId xmlns:a16="http://schemas.microsoft.com/office/drawing/2014/main" id="{454AB220-4FB6-4ECA-BB74-B78BC93087F1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B1FA66C6-B938-4BC6-A0E1-7C1034F9B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50" y="3026721"/>
            <a:ext cx="83121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" name="Rectangle 1026">
            <a:extLst>
              <a:ext uri="{FF2B5EF4-FFF2-40B4-BE49-F238E27FC236}">
                <a16:creationId xmlns:a16="http://schemas.microsoft.com/office/drawing/2014/main" id="{7B582B81-DF5E-48CE-8100-88046A7EB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4866" y="2340921"/>
            <a:ext cx="5683534" cy="6858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应用：</a:t>
            </a:r>
            <a:r>
              <a:rPr lang="en-US" altLang="zh-CN" sz="3200" dirty="0"/>
              <a:t>HashMap</a:t>
            </a:r>
            <a:r>
              <a:rPr lang="zh-CN" altLang="en-US" sz="3200" dirty="0"/>
              <a:t> </a:t>
            </a:r>
            <a:r>
              <a:rPr lang="en-US" altLang="zh-CN" sz="3200" dirty="0"/>
              <a:t>(JDK1.8)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0822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79651" y="1617207"/>
            <a:ext cx="8629480" cy="27003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假设某散列函数的值域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m-1]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 indent="0">
              <a:lnSpc>
                <a:spcPct val="110000"/>
              </a:lnSpc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kumimoji="1"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HashTable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m-1]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基本表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，每个分量存放一个记录，另设一个向量</a:t>
            </a:r>
            <a:r>
              <a:rPr kumimoji="1" lang="en-US" altLang="zh-CN" sz="2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OverTable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 v]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溢出表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。将与基本表中的关键字发生冲突的所有记录都填入溢出表中。</a:t>
            </a:r>
          </a:p>
          <a:p>
            <a:pPr marL="0" indent="0">
              <a:lnSpc>
                <a:spcPct val="110000"/>
              </a:lnSpc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如一组关键字序列为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79}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，散列函数为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key mod 13</a:t>
            </a:r>
            <a:r>
              <a:rPr kumimoji="1"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，采用公共溢出区法得到的结果为： 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87286" y="3440544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>
              <a:defRPr/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990389" y="4841761"/>
          <a:ext cx="5761725" cy="149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827934" imgH="734873" progId="Visio.Drawing.11">
                  <p:embed/>
                </p:oleObj>
              </mc:Choice>
              <mc:Fallback>
                <p:oleObj name="Visio" r:id="rId3" imgW="2827934" imgH="734873" progId="Visio.Drawing.11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389" y="4841761"/>
                        <a:ext cx="5761725" cy="14915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457323" y="1032432"/>
            <a:ext cx="3118161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 marL="457200" indent="-457200" defTabSz="914400">
              <a:defRPr/>
            </a:pPr>
            <a:r>
              <a:rPr kumimoji="1" lang="en-US" altLang="zh-CN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</a:t>
            </a:r>
            <a:r>
              <a:rPr kumimoji="1"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公共溢出区法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F633637B-5F79-4BA9-A895-540828065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4BE218F9-E769-4AB7-9B28-2467A9D73AB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F5FB629-E9D1-4E1B-A06E-13197BDF95DC}"/>
              </a:ext>
            </a:extLst>
          </p:cNvPr>
          <p:cNvSpPr txBox="1">
            <a:spLocks/>
          </p:cNvSpPr>
          <p:nvPr/>
        </p:nvSpPr>
        <p:spPr>
          <a:xfrm>
            <a:off x="990600" y="717348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11.4.2 </a:t>
            </a:r>
            <a:r>
              <a:rPr lang="zh-CN" altLang="en-US" dirty="0"/>
              <a:t>冲突处理</a:t>
            </a:r>
          </a:p>
        </p:txBody>
      </p:sp>
    </p:spTree>
    <p:extLst>
      <p:ext uri="{BB962C8B-B14F-4D97-AF65-F5344CB8AC3E}">
        <p14:creationId xmlns:p14="http://schemas.microsoft.com/office/powerpoint/2010/main" val="399944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58CCD4E4-50B4-4021-882C-18ECA5A0C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BA75AD-FBE1-4202-8689-7C9E5CBC6C8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2739" name="Rectangle 3"/>
          <p:cNvSpPr>
            <a:spLocks noGrp="1" noChangeArrowheads="1"/>
          </p:cNvSpPr>
          <p:nvPr>
            <p:ph idx="11"/>
          </p:nvPr>
        </p:nvSpPr>
        <p:spPr>
          <a:xfrm>
            <a:off x="492925" y="1831099"/>
            <a:ext cx="11055325" cy="5057775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在散列表上查找的过程和散列造表的构造过程基本一致。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）给定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值，根据构造表时所用的散列函数求散列地址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endParaRPr lang="zh-CN" altLang="en-US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）若此位置无记录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则查找不成功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）如果有记录，比较关键字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</a:rPr>
              <a:t>4</a:t>
            </a:r>
            <a:r>
              <a:rPr lang="zh-CN" altLang="en-US" sz="2400" dirty="0">
                <a:solidFill>
                  <a:srgbClr val="0070C0"/>
                </a:solidFill>
              </a:rPr>
              <a:t>）如果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和给定的关键字相等则成功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）否则根据构造表时设定的冲突处理的方法计算“下一地址”， 重复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457200">
              <a:defRPr/>
            </a:pPr>
            <a:fld id="{FC0A6BE7-FED0-4B08-9EF2-7168B047CFB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39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FD85FE53-95B8-4671-87C0-D6BC2236E70A}"/>
              </a:ext>
            </a:extLst>
          </p:cNvPr>
          <p:cNvSpPr txBox="1">
            <a:spLocks/>
          </p:cNvSpPr>
          <p:nvPr/>
        </p:nvSpPr>
        <p:spPr>
          <a:xfrm>
            <a:off x="762788" y="757392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11.4.3 </a:t>
            </a:r>
            <a:r>
              <a:rPr lang="zh-CN" altLang="en-US" dirty="0"/>
              <a:t>散列表查找算法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5547E0-8CAF-49A6-B8B9-B7C95154FDDB}"/>
              </a:ext>
            </a:extLst>
          </p:cNvPr>
          <p:cNvSpPr txBox="1"/>
          <p:nvPr/>
        </p:nvSpPr>
        <p:spPr>
          <a:xfrm>
            <a:off x="3162032" y="5494712"/>
            <a:ext cx="6596678" cy="400110"/>
          </a:xfrm>
          <a:prstGeom prst="rect">
            <a:avLst/>
          </a:prstGeom>
          <a:solidFill>
            <a:srgbClr val="009999"/>
          </a:solidFill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可能需要查重，避免在表装满或重复比较同一个关键字！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EB68FC-4F6B-4172-BEBB-D4C4AE292DEA}"/>
              </a:ext>
            </a:extLst>
          </p:cNvPr>
          <p:cNvSpPr txBox="1"/>
          <p:nvPr/>
        </p:nvSpPr>
        <p:spPr>
          <a:xfrm>
            <a:off x="3235769" y="6049461"/>
            <a:ext cx="6596678" cy="400110"/>
          </a:xfrm>
          <a:prstGeom prst="rect">
            <a:avLst/>
          </a:prstGeom>
          <a:solidFill>
            <a:srgbClr val="009999"/>
          </a:solidFill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如果散列表始终留有空位，可以不用查重（线性探测？）</a:t>
            </a:r>
          </a:p>
        </p:txBody>
      </p:sp>
    </p:spTree>
    <p:extLst>
      <p:ext uri="{BB962C8B-B14F-4D97-AF65-F5344CB8AC3E}">
        <p14:creationId xmlns:p14="http://schemas.microsoft.com/office/powerpoint/2010/main" val="375127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6B64C81C-4D71-48AB-8BBD-E42FEDAD2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BC91F2E-470C-43AF-9E93-9E59E0A9C8C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314" name="Rectangle 2"/>
          <p:cNvSpPr>
            <a:spLocks noGrp="1" noRot="1" noChangeArrowheads="1"/>
          </p:cNvSpPr>
          <p:nvPr>
            <p:ph idx="1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zh-CN" altLang="en-US" b="1" dirty="0"/>
              <a:t>存在冲突检测与处理的散列查找流程图</a:t>
            </a:r>
            <a:endParaRPr lang="en-US" altLang="zh-CN" b="1" dirty="0"/>
          </a:p>
        </p:txBody>
      </p:sp>
      <p:grpSp>
        <p:nvGrpSpPr>
          <p:cNvPr id="141315" name="Group 3"/>
          <p:cNvGrpSpPr>
            <a:grpSpLocks/>
          </p:cNvGrpSpPr>
          <p:nvPr/>
        </p:nvGrpSpPr>
        <p:grpSpPr bwMode="auto">
          <a:xfrm>
            <a:off x="2961596" y="1698944"/>
            <a:ext cx="3849895" cy="4465637"/>
            <a:chOff x="927" y="859"/>
            <a:chExt cx="2559" cy="2813"/>
          </a:xfrm>
        </p:grpSpPr>
        <p:grpSp>
          <p:nvGrpSpPr>
            <p:cNvPr id="58373" name="Group 4"/>
            <p:cNvGrpSpPr>
              <a:grpSpLocks/>
            </p:cNvGrpSpPr>
            <p:nvPr/>
          </p:nvGrpSpPr>
          <p:grpSpPr bwMode="auto">
            <a:xfrm>
              <a:off x="927" y="859"/>
              <a:ext cx="2559" cy="2813"/>
              <a:chOff x="699" y="1200"/>
              <a:chExt cx="2559" cy="2813"/>
            </a:xfrm>
          </p:grpSpPr>
          <p:sp>
            <p:nvSpPr>
              <p:cNvPr id="58378" name="AutoShape 5"/>
              <p:cNvSpPr>
                <a:spLocks noChangeArrowheads="1"/>
              </p:cNvSpPr>
              <p:nvPr/>
            </p:nvSpPr>
            <p:spPr bwMode="auto">
              <a:xfrm>
                <a:off x="1769" y="1407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Input k</a:t>
                </a:r>
              </a:p>
            </p:txBody>
          </p:sp>
          <p:sp>
            <p:nvSpPr>
              <p:cNvPr id="58379" name="AutoShape 6"/>
              <p:cNvSpPr>
                <a:spLocks noChangeArrowheads="1"/>
              </p:cNvSpPr>
              <p:nvPr/>
            </p:nvSpPr>
            <p:spPr bwMode="auto">
              <a:xfrm>
                <a:off x="1782" y="1844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Pos=H(k)</a:t>
                </a:r>
              </a:p>
            </p:txBody>
          </p:sp>
          <p:sp>
            <p:nvSpPr>
              <p:cNvPr id="58380" name="AutoShape 7"/>
              <p:cNvSpPr>
                <a:spLocks noChangeArrowheads="1"/>
              </p:cNvSpPr>
              <p:nvPr/>
            </p:nvSpPr>
            <p:spPr bwMode="auto">
              <a:xfrm>
                <a:off x="1492" y="2279"/>
                <a:ext cx="1381" cy="365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Pos==NULL?</a:t>
                </a:r>
              </a:p>
            </p:txBody>
          </p:sp>
          <p:sp>
            <p:nvSpPr>
              <p:cNvPr id="58381" name="AutoShape 8"/>
              <p:cNvSpPr>
                <a:spLocks noChangeArrowheads="1"/>
              </p:cNvSpPr>
              <p:nvPr/>
            </p:nvSpPr>
            <p:spPr bwMode="auto">
              <a:xfrm>
                <a:off x="1506" y="2831"/>
                <a:ext cx="1381" cy="365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key==k</a:t>
                </a:r>
              </a:p>
            </p:txBody>
          </p:sp>
          <p:sp>
            <p:nvSpPr>
              <p:cNvPr id="58382" name="AutoShape 9"/>
              <p:cNvSpPr>
                <a:spLocks noChangeArrowheads="1"/>
              </p:cNvSpPr>
              <p:nvPr/>
            </p:nvSpPr>
            <p:spPr bwMode="auto">
              <a:xfrm>
                <a:off x="699" y="2603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fail</a:t>
                </a:r>
              </a:p>
            </p:txBody>
          </p:sp>
          <p:sp>
            <p:nvSpPr>
              <p:cNvPr id="58383" name="AutoShape 10"/>
              <p:cNvSpPr>
                <a:spLocks noChangeArrowheads="1"/>
              </p:cNvSpPr>
              <p:nvPr/>
            </p:nvSpPr>
            <p:spPr bwMode="auto">
              <a:xfrm>
                <a:off x="722" y="3163"/>
                <a:ext cx="807" cy="23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success</a:t>
                </a:r>
              </a:p>
            </p:txBody>
          </p:sp>
          <p:sp>
            <p:nvSpPr>
              <p:cNvPr id="58384" name="AutoShape 11"/>
              <p:cNvSpPr>
                <a:spLocks noChangeArrowheads="1"/>
              </p:cNvSpPr>
              <p:nvPr/>
            </p:nvSpPr>
            <p:spPr bwMode="auto">
              <a:xfrm>
                <a:off x="1867" y="3480"/>
                <a:ext cx="717" cy="252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000" b="1">
                    <a:solidFill>
                      <a:prstClr val="black"/>
                    </a:solidFill>
                    <a:latin typeface="Times New Roman" pitchFamily="18" charset="0"/>
                  </a:rPr>
                  <a:t>collision</a:t>
                </a:r>
              </a:p>
            </p:txBody>
          </p:sp>
          <p:sp>
            <p:nvSpPr>
              <p:cNvPr id="58385" name="Line 12"/>
              <p:cNvSpPr>
                <a:spLocks noChangeShapeType="1"/>
              </p:cNvSpPr>
              <p:nvPr/>
            </p:nvSpPr>
            <p:spPr bwMode="auto">
              <a:xfrm>
                <a:off x="2152" y="1200"/>
                <a:ext cx="0" cy="20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6" name="Line 13"/>
              <p:cNvSpPr>
                <a:spLocks noChangeShapeType="1"/>
              </p:cNvSpPr>
              <p:nvPr/>
            </p:nvSpPr>
            <p:spPr bwMode="auto">
              <a:xfrm>
                <a:off x="2172" y="1645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7" name="Line 14"/>
              <p:cNvSpPr>
                <a:spLocks noChangeShapeType="1"/>
              </p:cNvSpPr>
              <p:nvPr/>
            </p:nvSpPr>
            <p:spPr bwMode="auto">
              <a:xfrm>
                <a:off x="2183" y="2079"/>
                <a:ext cx="0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8" name="Line 15"/>
              <p:cNvSpPr>
                <a:spLocks noChangeShapeType="1"/>
              </p:cNvSpPr>
              <p:nvPr/>
            </p:nvSpPr>
            <p:spPr bwMode="auto">
              <a:xfrm>
                <a:off x="2193" y="2648"/>
                <a:ext cx="0" cy="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89" name="Line 16"/>
              <p:cNvSpPr>
                <a:spLocks noChangeShapeType="1"/>
              </p:cNvSpPr>
              <p:nvPr/>
            </p:nvSpPr>
            <p:spPr bwMode="auto">
              <a:xfrm>
                <a:off x="2193" y="3196"/>
                <a:ext cx="0" cy="1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0" name="Line 17"/>
              <p:cNvSpPr>
                <a:spLocks noChangeShapeType="1"/>
              </p:cNvSpPr>
              <p:nvPr/>
            </p:nvSpPr>
            <p:spPr bwMode="auto">
              <a:xfrm flipH="1">
                <a:off x="1076" y="2462"/>
                <a:ext cx="39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1" name="Line 18"/>
              <p:cNvSpPr>
                <a:spLocks noChangeShapeType="1"/>
              </p:cNvSpPr>
              <p:nvPr/>
            </p:nvSpPr>
            <p:spPr bwMode="auto">
              <a:xfrm>
                <a:off x="1086" y="2462"/>
                <a:ext cx="0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2" name="Line 19"/>
              <p:cNvSpPr>
                <a:spLocks noChangeShapeType="1"/>
              </p:cNvSpPr>
              <p:nvPr/>
            </p:nvSpPr>
            <p:spPr bwMode="auto">
              <a:xfrm flipH="1">
                <a:off x="1107" y="3010"/>
                <a:ext cx="4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3" name="Line 20"/>
              <p:cNvSpPr>
                <a:spLocks noChangeShapeType="1"/>
              </p:cNvSpPr>
              <p:nvPr/>
            </p:nvSpPr>
            <p:spPr bwMode="auto">
              <a:xfrm>
                <a:off x="1107" y="3020"/>
                <a:ext cx="0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4" name="Line 21"/>
              <p:cNvSpPr>
                <a:spLocks noChangeShapeType="1"/>
              </p:cNvSpPr>
              <p:nvPr/>
            </p:nvSpPr>
            <p:spPr bwMode="auto">
              <a:xfrm>
                <a:off x="2203" y="3827"/>
                <a:ext cx="0" cy="1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5" name="Line 22"/>
              <p:cNvSpPr>
                <a:spLocks noChangeShapeType="1"/>
              </p:cNvSpPr>
              <p:nvPr/>
            </p:nvSpPr>
            <p:spPr bwMode="auto">
              <a:xfrm>
                <a:off x="2214" y="4013"/>
                <a:ext cx="10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6" name="Line 23"/>
              <p:cNvSpPr>
                <a:spLocks noChangeShapeType="1"/>
              </p:cNvSpPr>
              <p:nvPr/>
            </p:nvSpPr>
            <p:spPr bwMode="auto">
              <a:xfrm flipV="1">
                <a:off x="3258" y="2203"/>
                <a:ext cx="0" cy="18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  <p:sp>
            <p:nvSpPr>
              <p:cNvPr id="58397" name="Line 24"/>
              <p:cNvSpPr>
                <a:spLocks noChangeShapeType="1"/>
              </p:cNvSpPr>
              <p:nvPr/>
            </p:nvSpPr>
            <p:spPr bwMode="auto">
              <a:xfrm flipH="1">
                <a:off x="2183" y="2203"/>
                <a:ext cx="10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b="1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8374" name="Text Box 25"/>
            <p:cNvSpPr txBox="1">
              <a:spLocks noChangeArrowheads="1"/>
            </p:cNvSpPr>
            <p:nvPr/>
          </p:nvSpPr>
          <p:spPr bwMode="auto">
            <a:xfrm>
              <a:off x="1610" y="1888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Y</a:t>
              </a:r>
            </a:p>
          </p:txBody>
        </p:sp>
        <p:sp>
          <p:nvSpPr>
            <p:cNvPr id="58375" name="Text Box 26"/>
            <p:cNvSpPr txBox="1">
              <a:spLocks noChangeArrowheads="1"/>
            </p:cNvSpPr>
            <p:nvPr/>
          </p:nvSpPr>
          <p:spPr bwMode="auto">
            <a:xfrm>
              <a:off x="2421" y="2273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  <p:sp>
          <p:nvSpPr>
            <p:cNvPr id="58376" name="Text Box 27"/>
            <p:cNvSpPr txBox="1">
              <a:spLocks noChangeArrowheads="1"/>
            </p:cNvSpPr>
            <p:nvPr/>
          </p:nvSpPr>
          <p:spPr bwMode="auto">
            <a:xfrm>
              <a:off x="1609" y="2473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Y</a:t>
              </a:r>
            </a:p>
          </p:txBody>
        </p:sp>
        <p:sp>
          <p:nvSpPr>
            <p:cNvPr id="58377" name="Text Box 28"/>
            <p:cNvSpPr txBox="1">
              <a:spLocks noChangeArrowheads="1"/>
            </p:cNvSpPr>
            <p:nvPr/>
          </p:nvSpPr>
          <p:spPr bwMode="auto">
            <a:xfrm>
              <a:off x="2420" y="2794"/>
              <a:ext cx="24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幼圆" pitchFamily="49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N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745812" y="5726891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冲突处理</a:t>
            </a:r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AA4D6169-0612-48C1-93F2-23E04D82F015}"/>
              </a:ext>
            </a:extLst>
          </p:cNvPr>
          <p:cNvSpPr txBox="1">
            <a:spLocks/>
          </p:cNvSpPr>
          <p:nvPr/>
        </p:nvSpPr>
        <p:spPr>
          <a:xfrm>
            <a:off x="762788" y="757392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11.4.3 </a:t>
            </a:r>
            <a:r>
              <a:rPr lang="zh-CN" altLang="en-US" dirty="0"/>
              <a:t>散列表查找算法</a:t>
            </a:r>
          </a:p>
        </p:txBody>
      </p:sp>
    </p:spTree>
    <p:extLst>
      <p:ext uri="{BB962C8B-B14F-4D97-AF65-F5344CB8AC3E}">
        <p14:creationId xmlns:p14="http://schemas.microsoft.com/office/powerpoint/2010/main" val="161716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 build="p" bldLvl="5" autoUpdateAnimBg="0"/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>
            <a:extLst>
              <a:ext uri="{FF2B5EF4-FFF2-40B4-BE49-F238E27FC236}">
                <a16:creationId xmlns:a16="http://schemas.microsoft.com/office/drawing/2014/main" id="{34264C50-BFB9-411E-8DA4-4D2EF79DE9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6143DF4-EEDD-4F6A-8D62-1BB6FBB060F1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5810" name="Rectangle 2"/>
          <p:cNvSpPr>
            <a:spLocks noGrp="1" noChangeArrowheads="1"/>
          </p:cNvSpPr>
          <p:nvPr>
            <p:ph idx="11"/>
          </p:nvPr>
        </p:nvSpPr>
        <p:spPr>
          <a:xfrm>
            <a:off x="1270690" y="1663700"/>
            <a:ext cx="11055325" cy="50577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关键字序列为：</a:t>
            </a: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79}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key mod 13 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pt-BR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线性探测处理冲突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457200">
              <a:defRPr/>
            </a:pPr>
            <a:fld id="{F4E1F763-0417-44ED-A3F5-B9C6CECE44B1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41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75811" name="Rectangle 3"/>
          <p:cNvSpPr>
            <a:spLocks noChangeArrowheads="1"/>
          </p:cNvSpPr>
          <p:nvPr/>
        </p:nvSpPr>
        <p:spPr bwMode="auto">
          <a:xfrm>
            <a:off x="2643852" y="3783476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35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75812" name="Object 4"/>
          <p:cNvGraphicFramePr>
            <a:graphicFrameLocks noChangeAspect="1"/>
          </p:cNvGraphicFramePr>
          <p:nvPr/>
        </p:nvGraphicFramePr>
        <p:xfrm>
          <a:off x="3349001" y="3813905"/>
          <a:ext cx="4806554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11101" imgH="928543" progId="Visio.Drawing.11">
                  <p:embed/>
                </p:oleObj>
              </mc:Choice>
              <mc:Fallback>
                <p:oleObj name="Visio" r:id="rId3" imgW="3111101" imgH="928543" progId="Visio.Drawing.11">
                  <p:embed/>
                  <p:pic>
                    <p:nvPicPr>
                      <p:cNvPr id="3758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8219" r="20163" b="32036"/>
                      <a:stretch>
                        <a:fillRect/>
                      </a:stretch>
                    </p:blipFill>
                    <p:spPr bwMode="auto">
                      <a:xfrm>
                        <a:off x="3349001" y="3813905"/>
                        <a:ext cx="4806554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5813" name="Rectangle 5"/>
          <p:cNvSpPr>
            <a:spLocks noChangeArrowheads="1"/>
          </p:cNvSpPr>
          <p:nvPr/>
        </p:nvSpPr>
        <p:spPr bwMode="auto">
          <a:xfrm>
            <a:off x="2244192" y="4754597"/>
            <a:ext cx="8497114" cy="1726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457200" eaLnBrk="0" hangingPunct="0">
              <a:lnSpc>
                <a:spcPct val="120000"/>
              </a:lnSpc>
              <a:defRPr/>
            </a:pP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Key=84</a:t>
            </a:r>
          </a:p>
          <a:p>
            <a:pPr defTabSz="457200" eaLnBrk="0" hangingPunct="0">
              <a:lnSpc>
                <a:spcPct val="120000"/>
              </a:lnSpc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散列地址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H(84)=6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e.data[6]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e.data[6].key=19≠84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，冲突</a:t>
            </a:r>
          </a:p>
          <a:p>
            <a:pPr defTabSz="457200" eaLnBrk="0" hangingPunct="0">
              <a:lnSpc>
                <a:spcPct val="120000"/>
              </a:lnSpc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H1=(6+1)MOD13=7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e.data[7]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e.data[7].key=20≠84, 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  <a:p>
            <a:pPr defTabSz="457200" eaLnBrk="0" hangingPunct="0">
              <a:lnSpc>
                <a:spcPct val="120000"/>
              </a:lnSpc>
              <a:defRPr/>
            </a:pP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H2=(6+2)MOD13=8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e.data[8]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e.elem[8].key=84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查找成功</a:t>
            </a:r>
            <a:r>
              <a:rPr lang="zh-CN" altLang="pt-BR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返回数据在散列表中的序号</a:t>
            </a:r>
            <a:r>
              <a:rPr lang="pt-BR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994960" y="3479647"/>
            <a:ext cx="561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建立散列查找表如下：请查找关键字为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</a:t>
            </a:r>
          </a:p>
        </p:txBody>
      </p:sp>
      <p:sp>
        <p:nvSpPr>
          <p:cNvPr id="3" name="矩形 2"/>
          <p:cNvSpPr/>
          <p:nvPr/>
        </p:nvSpPr>
        <p:spPr>
          <a:xfrm>
            <a:off x="729348" y="957348"/>
            <a:ext cx="5022929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散列表查找与插入算法举例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927946FC-B09E-4E8A-B5BC-BBC88A23172F}"/>
              </a:ext>
            </a:extLst>
          </p:cNvPr>
          <p:cNvSpPr txBox="1">
            <a:spLocks/>
          </p:cNvSpPr>
          <p:nvPr/>
        </p:nvSpPr>
        <p:spPr>
          <a:xfrm>
            <a:off x="584225" y="603256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11.4.3 </a:t>
            </a:r>
            <a:r>
              <a:rPr lang="zh-CN" altLang="en-US" dirty="0"/>
              <a:t>散列表查找算法</a:t>
            </a:r>
          </a:p>
        </p:txBody>
      </p:sp>
    </p:spTree>
    <p:extLst>
      <p:ext uri="{BB962C8B-B14F-4D97-AF65-F5344CB8AC3E}">
        <p14:creationId xmlns:p14="http://schemas.microsoft.com/office/powerpoint/2010/main" val="130467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58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58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58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58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5" dur="500"/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8" dur="500"/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4" dur="500"/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58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0" grpId="0" build="p"/>
      <p:bldP spid="375813" grpId="0" build="allAtOnce"/>
      <p:bldP spid="2" grpId="0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7FC1045B-726B-4F79-ADD8-EDFCE50B7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66D911-1F36-430C-B465-684E3F955E4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1"/>
          </p:nvPr>
        </p:nvSpPr>
        <p:spPr>
          <a:xfrm>
            <a:off x="1136675" y="1882627"/>
            <a:ext cx="11055325" cy="50577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关键字序列为：</a:t>
            </a:r>
          </a:p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79}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key mod 13 </a:t>
            </a:r>
            <a:endParaRPr lang="zh-CN" altLang="en-US" sz="1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90000"/>
              </a:lnSpc>
            </a:pPr>
            <a:r>
              <a:rPr lang="zh-CN" altLang="pt-BR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线性探测处理冲突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ln/>
        </p:spPr>
        <p:txBody>
          <a:bodyPr/>
          <a:lstStyle/>
          <a:p>
            <a:pPr defTabSz="457200">
              <a:defRPr/>
            </a:pPr>
            <a:fld id="{822501A5-71DC-41D2-B773-C0E45FFD1E14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42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77859" name="Rectangle 3"/>
          <p:cNvSpPr>
            <a:spLocks noChangeArrowheads="1"/>
          </p:cNvSpPr>
          <p:nvPr/>
        </p:nvSpPr>
        <p:spPr bwMode="auto">
          <a:xfrm>
            <a:off x="2832807" y="3904251"/>
            <a:ext cx="18473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377860" name="Object 4"/>
          <p:cNvGraphicFramePr>
            <a:graphicFrameLocks noChangeAspect="1"/>
          </p:cNvGraphicFramePr>
          <p:nvPr/>
        </p:nvGraphicFramePr>
        <p:xfrm>
          <a:off x="3348999" y="3961459"/>
          <a:ext cx="4806554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11101" imgH="928543" progId="Visio.Drawing.11">
                  <p:embed/>
                </p:oleObj>
              </mc:Choice>
              <mc:Fallback>
                <p:oleObj name="Visio" r:id="rId3" imgW="3111101" imgH="928543" progId="Visio.Drawing.11">
                  <p:embed/>
                  <p:pic>
                    <p:nvPicPr>
                      <p:cNvPr id="3778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8219" r="20163" b="32036"/>
                      <a:stretch>
                        <a:fillRect/>
                      </a:stretch>
                    </p:blipFill>
                    <p:spPr bwMode="auto">
                      <a:xfrm>
                        <a:off x="3348999" y="3961459"/>
                        <a:ext cx="4806554" cy="90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7861" name="Rectangle 5"/>
          <p:cNvSpPr>
            <a:spLocks noChangeArrowheads="1"/>
          </p:cNvSpPr>
          <p:nvPr/>
        </p:nvSpPr>
        <p:spPr bwMode="auto">
          <a:xfrm>
            <a:off x="1476224" y="4475317"/>
            <a:ext cx="923955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457200" eaLnBrk="0" hangingPunct="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Key=38</a:t>
            </a:r>
          </a:p>
          <a:p>
            <a:pPr defTabSz="457200" eaLnBrk="0" hangingPunct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散列地址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H(38)=12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，因为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[12]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不空，且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[12].key=10≠38,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</a:t>
            </a:r>
          </a:p>
          <a:p>
            <a:pPr defTabSz="457200" eaLnBrk="0" hangingPunct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冲突处理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H1=(12+1)MOD13=0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e.data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[0]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没有存放数据，表明散列表中不存在关键字为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的记录，查找失败。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994960" y="3525833"/>
            <a:ext cx="561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建立散列查找表如下：请查找关键字为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的记录</a:t>
            </a:r>
          </a:p>
        </p:txBody>
      </p:sp>
      <p:sp>
        <p:nvSpPr>
          <p:cNvPr id="10" name="矩形 9"/>
          <p:cNvSpPr/>
          <p:nvPr/>
        </p:nvSpPr>
        <p:spPr>
          <a:xfrm>
            <a:off x="729348" y="957348"/>
            <a:ext cx="5022929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散列表查找与插入算法举例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C02D51D1-EDD2-47A6-ABED-1BBE6F37479A}"/>
              </a:ext>
            </a:extLst>
          </p:cNvPr>
          <p:cNvSpPr txBox="1">
            <a:spLocks/>
          </p:cNvSpPr>
          <p:nvPr/>
        </p:nvSpPr>
        <p:spPr>
          <a:xfrm>
            <a:off x="584225" y="603256"/>
            <a:ext cx="10515600" cy="518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defRPr>
            </a:lvl1pPr>
          </a:lstStyle>
          <a:p>
            <a:r>
              <a:rPr lang="en-US" altLang="zh-CN" dirty="0"/>
              <a:t>11.4.3 </a:t>
            </a:r>
            <a:r>
              <a:rPr lang="zh-CN" altLang="en-US" dirty="0"/>
              <a:t>散列表查找算法</a:t>
            </a:r>
          </a:p>
        </p:txBody>
      </p:sp>
    </p:spTree>
    <p:extLst>
      <p:ext uri="{BB962C8B-B14F-4D97-AF65-F5344CB8AC3E}">
        <p14:creationId xmlns:p14="http://schemas.microsoft.com/office/powerpoint/2010/main" val="57045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7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7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7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88548" y="3524520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548" y="3524520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5890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76004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3458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8601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2599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4173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1902799" y="3013742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49460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54603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60318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2317136" y="4088877"/>
            <a:ext cx="477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1      1      2      1      3       6      2      5      1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297357" y="4851116"/>
            <a:ext cx="3313354" cy="132343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defTabSz="914400"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使用线性探测法解决冲突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marL="457200" indent="-457200" defTabSz="914400">
              <a:buAutoNum type="arabicParenBoth"/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求查找成功的</a:t>
            </a:r>
            <a:r>
              <a:rPr lang="en-US" altLang="zh-CN" sz="2000" dirty="0">
                <a:solidFill>
                  <a:schemeClr val="bg1"/>
                </a:solidFill>
              </a:rPr>
              <a:t>ASL</a:t>
            </a:r>
          </a:p>
          <a:p>
            <a:pPr marL="457200" indent="-457200" defTabSz="914400">
              <a:buAutoNum type="arabicParenBoth"/>
              <a:defRPr/>
            </a:pPr>
            <a:r>
              <a:rPr lang="zh-CN" altLang="en-US" sz="2000" dirty="0">
                <a:solidFill>
                  <a:schemeClr val="bg1"/>
                </a:solidFill>
              </a:rPr>
              <a:t>查找失败的</a:t>
            </a:r>
            <a:r>
              <a:rPr lang="en-US" altLang="zh-CN" sz="2000" dirty="0">
                <a:solidFill>
                  <a:schemeClr val="bg1"/>
                </a:solidFill>
              </a:rPr>
              <a:t>ASL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EE00F0-34B9-487C-B672-44A299B6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  <p:sp>
        <p:nvSpPr>
          <p:cNvPr id="18" name="副标题 17">
            <a:extLst>
              <a:ext uri="{FF2B5EF4-FFF2-40B4-BE49-F238E27FC236}">
                <a16:creationId xmlns:a16="http://schemas.microsoft.com/office/drawing/2014/main" id="{FA8E46E8-BFD6-4857-B351-2C93F6F6F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21B4AC73-347E-4930-B502-05318570C43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82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88548" y="3524520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548" y="3524520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5890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76004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3458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8601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2599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173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1902799" y="3013742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49460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54603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0318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317136" y="4088877"/>
            <a:ext cx="477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1      1      2      1      3       6      2      5      1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59986" y="5159715"/>
            <a:ext cx="7506314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lvl="1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algn="ctr" defTabSz="914400">
              <a:defRPr/>
            </a:pPr>
            <a:r>
              <a:rPr lang="en-US" altLang="zh-CN" sz="2400" dirty="0">
                <a:solidFill>
                  <a:prstClr val="black"/>
                </a:solidFill>
              </a:rPr>
              <a:t>ASL(</a:t>
            </a:r>
            <a:r>
              <a:rPr lang="zh-CN" altLang="en-US" sz="2400" dirty="0">
                <a:solidFill>
                  <a:prstClr val="black"/>
                </a:solidFill>
              </a:rPr>
              <a:t>成功</a:t>
            </a:r>
            <a:r>
              <a:rPr lang="en-US" altLang="zh-CN" sz="2400" dirty="0">
                <a:solidFill>
                  <a:prstClr val="black"/>
                </a:solidFill>
              </a:rPr>
              <a:t>)=(1+1+2+1+3+6+2+5+1) / 9 = 22/9</a:t>
            </a:r>
          </a:p>
        </p:txBody>
      </p:sp>
      <p:sp>
        <p:nvSpPr>
          <p:cNvPr id="18" name="副标题 17">
            <a:extLst>
              <a:ext uri="{FF2B5EF4-FFF2-40B4-BE49-F238E27FC236}">
                <a16:creationId xmlns:a16="http://schemas.microsoft.com/office/drawing/2014/main" id="{1E79944E-65DA-48E1-A65C-5FE349295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03F264BD-93DE-455E-A4E6-46C00D384EC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9D364171-76CA-47B9-9F7E-E85D7E95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72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150" fill="hold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15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1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15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88548" y="3524520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548" y="3524520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65890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276004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3458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8601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2599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17399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1902799" y="3013742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12" name="Text Box 19"/>
          <p:cNvSpPr txBox="1">
            <a:spLocks noChangeArrowheads="1"/>
          </p:cNvSpPr>
          <p:nvPr/>
        </p:nvSpPr>
        <p:spPr bwMode="auto">
          <a:xfrm>
            <a:off x="494603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54603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6031886" y="369597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317136" y="4088877"/>
            <a:ext cx="47740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1      1      2      1      3       6      2      5      1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188548" y="4660377"/>
            <a:ext cx="21675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185486" y="5370377"/>
            <a:ext cx="79675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9+8+7+6+5+4+3+2+1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11= 45/11</a:t>
            </a:r>
            <a:endParaRPr lang="zh-CN" altLang="en-US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22000A09-A862-4FF4-A29A-56607A9B1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0D2B468F-7B09-4809-873E-AD75DA90D8B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55134A72-6ACD-4646-9143-B1616908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F49358-C346-4BF0-B561-F3DC92B4D709}"/>
              </a:ext>
            </a:extLst>
          </p:cNvPr>
          <p:cNvSpPr txBox="1"/>
          <p:nvPr/>
        </p:nvSpPr>
        <p:spPr>
          <a:xfrm>
            <a:off x="3627323" y="4700471"/>
            <a:ext cx="8039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9999"/>
                </a:solidFill>
              </a:rPr>
              <a:t>如果查找数据的散列地址是</a:t>
            </a:r>
            <a:r>
              <a:rPr lang="en-US" altLang="zh-CN" dirty="0">
                <a:solidFill>
                  <a:srgbClr val="009999"/>
                </a:solidFill>
              </a:rPr>
              <a:t>9</a:t>
            </a:r>
            <a:r>
              <a:rPr lang="zh-CN" altLang="en-US" dirty="0">
                <a:solidFill>
                  <a:srgbClr val="009999"/>
                </a:solidFill>
              </a:rPr>
              <a:t>和</a:t>
            </a:r>
            <a:r>
              <a:rPr lang="en-US" altLang="zh-CN" dirty="0">
                <a:solidFill>
                  <a:srgbClr val="009999"/>
                </a:solidFill>
              </a:rPr>
              <a:t>10</a:t>
            </a:r>
            <a:r>
              <a:rPr lang="zh-CN" altLang="en-US" dirty="0">
                <a:solidFill>
                  <a:srgbClr val="009999"/>
                </a:solidFill>
              </a:rPr>
              <a:t>，无需移动，如果地址是其它值，要移动至</a:t>
            </a:r>
            <a:r>
              <a:rPr lang="en-US" altLang="zh-CN" dirty="0">
                <a:solidFill>
                  <a:srgbClr val="009999"/>
                </a:solidFill>
              </a:rPr>
              <a:t>9</a:t>
            </a:r>
            <a:endParaRPr lang="zh-CN" altLang="en-US" dirty="0">
              <a:solidFill>
                <a:srgbClr val="0099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39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487978" y="3682257"/>
          <a:ext cx="6057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978" y="3682257"/>
                        <a:ext cx="6057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690281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30737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6452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414532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580267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259379" y="3178623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2545129" y="385370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4700160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52454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6320601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2565369" y="4296620"/>
            <a:ext cx="4846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1      1      2      1      3       1      4      4      1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97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例题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7" name="副标题 16">
            <a:extLst>
              <a:ext uri="{FF2B5EF4-FFF2-40B4-BE49-F238E27FC236}">
                <a16:creationId xmlns:a16="http://schemas.microsoft.com/office/drawing/2014/main" id="{AC4947D9-84FC-4212-89B6-59CCA561F8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796CC2-15A9-4768-AAD2-3205EAB1999C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5646C682-B410-4355-8653-C9D3C371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54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487978" y="3682257"/>
          <a:ext cx="6057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978" y="3682257"/>
                        <a:ext cx="6057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690281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30737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36452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414532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580267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2259379" y="3178623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2545129" y="385370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4700160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4"/>
          <p:cNvSpPr txBox="1">
            <a:spLocks noChangeArrowheads="1"/>
          </p:cNvSpPr>
          <p:nvPr/>
        </p:nvSpPr>
        <p:spPr bwMode="auto">
          <a:xfrm>
            <a:off x="52454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5"/>
          <p:cNvSpPr txBox="1">
            <a:spLocks noChangeArrowheads="1"/>
          </p:cNvSpPr>
          <p:nvPr/>
        </p:nvSpPr>
        <p:spPr bwMode="auto">
          <a:xfrm>
            <a:off x="6320601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2565369" y="4296620"/>
            <a:ext cx="4846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1      1      2      1      3       1      4      4      1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矩形 15"/>
          <p:cNvSpPr/>
          <p:nvPr/>
        </p:nvSpPr>
        <p:spPr>
          <a:xfrm>
            <a:off x="2487978" y="4957077"/>
            <a:ext cx="242929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466800" y="5700532"/>
            <a:ext cx="713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1+1+2+1+3+1+4+4+1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/9=2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6EC2C776-0E65-44F7-9784-62BC0500BB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3F414553-229B-4D79-A8F5-BE52B324B1F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D193EE00-A728-4D12-AC87-6C0C5D88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35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500894" y="5441172"/>
            <a:ext cx="216758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5" name="Text Box 26"/>
          <p:cNvSpPr txBox="1">
            <a:spLocks noChangeArrowheads="1"/>
          </p:cNvSpPr>
          <p:nvPr/>
        </p:nvSpPr>
        <p:spPr bwMode="auto">
          <a:xfrm>
            <a:off x="2567494" y="4596242"/>
            <a:ext cx="59394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4      3      7      6      5       4      3      2      1     0        0</a:t>
            </a: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2487978" y="3682257"/>
          <a:ext cx="6057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978" y="3682257"/>
                        <a:ext cx="6057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690281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30737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6452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414532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5802679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2259379" y="3178623"/>
            <a:ext cx="3977371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二次探测再散列</a:t>
            </a:r>
            <a:r>
              <a:rPr kumimoji="1" lang="zh-CN" altLang="en-US" sz="2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2545129" y="385370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4700160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24"/>
          <p:cNvSpPr txBox="1">
            <a:spLocks noChangeArrowheads="1"/>
          </p:cNvSpPr>
          <p:nvPr/>
        </p:nvSpPr>
        <p:spPr bwMode="auto">
          <a:xfrm>
            <a:off x="5245466" y="3876330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6320601" y="386799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Box 27"/>
          <p:cNvSpPr txBox="1">
            <a:spLocks noChangeArrowheads="1"/>
          </p:cNvSpPr>
          <p:nvPr/>
        </p:nvSpPr>
        <p:spPr bwMode="auto">
          <a:xfrm>
            <a:off x="2565369" y="4296620"/>
            <a:ext cx="48461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1      1      2      1      3       1      4      4      1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473A65-3259-4428-AB41-641EB63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75D0E5-78CD-4C6A-A09E-08647C2979F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9D1CA5C0-0C92-497A-99D7-D9E7980AB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26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443844" y="3535405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44" y="3535405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84439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01534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75642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1154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557747" y="3714553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158095" y="3024627"/>
            <a:ext cx="492474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处理冲突，随机数假设为</a:t>
            </a:r>
            <a:r>
              <a:rPr kumimoji="1"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kumimoji="1"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386797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164591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732593" y="3692039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598749" y="4166414"/>
            <a:ext cx="5945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1      1       1     1              1       5             1       2     2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7" name="副标题 16">
            <a:extLst>
              <a:ext uri="{FF2B5EF4-FFF2-40B4-BE49-F238E27FC236}">
                <a16:creationId xmlns:a16="http://schemas.microsoft.com/office/drawing/2014/main" id="{C89A3B6A-ED50-4333-989A-04FFB51731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BAB4494-C01E-44DA-80DF-E0F27C61CEC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D0EE6C89-9CE8-4AC4-9FA5-569338C0D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716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443844" y="3535405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44" y="3535405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84439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01534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75642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1154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547480" y="3717253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158095" y="3024627"/>
            <a:ext cx="492474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处理冲突，随机数假设为</a:t>
            </a:r>
            <a:r>
              <a:rPr kumimoji="1"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kumimoji="1"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386797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164591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732593" y="3692039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598749" y="4166414"/>
            <a:ext cx="5945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1      1       1     1              1       5             1       2     2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矩形 15"/>
          <p:cNvSpPr/>
          <p:nvPr/>
        </p:nvSpPr>
        <p:spPr>
          <a:xfrm>
            <a:off x="2231576" y="4799529"/>
            <a:ext cx="253163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7" name="矩形 16"/>
          <p:cNvSpPr/>
          <p:nvPr/>
        </p:nvSpPr>
        <p:spPr>
          <a:xfrm>
            <a:off x="2296611" y="5578625"/>
            <a:ext cx="7434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1+1+1+1+1+5+1+2+2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/9=5/3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副标题 18">
            <a:extLst>
              <a:ext uri="{FF2B5EF4-FFF2-40B4-BE49-F238E27FC236}">
                <a16:creationId xmlns:a16="http://schemas.microsoft.com/office/drawing/2014/main" id="{395894D8-F111-4D2B-A5A4-2E4ABD7CC0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50EA107C-AB65-4FD0-9C68-66E7C9F9ECE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448FAB5-3280-4C17-ABB6-A2AFDE867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585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2443844" y="3535405"/>
          <a:ext cx="60293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3" imgW="6001560" imgH="749520" progId="Word.Document.8">
                  <p:embed/>
                </p:oleObj>
              </mc:Choice>
              <mc:Fallback>
                <p:oleObj name="文档" r:id="rId3" imgW="6001560" imgH="749520" progId="Word.Document.8">
                  <p:embed/>
                  <p:pic>
                    <p:nvPicPr>
                      <p:cNvPr id="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44" y="3535405"/>
                        <a:ext cx="60293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684439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3015345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75642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41154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kumimoji="1" lang="en-US" altLang="zh-CN" sz="27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515282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3547480" y="3717253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7"/>
          <p:cNvSpPr>
            <a:spLocks noChangeArrowheads="1"/>
          </p:cNvSpPr>
          <p:nvPr/>
        </p:nvSpPr>
        <p:spPr bwMode="auto">
          <a:xfrm>
            <a:off x="2158095" y="3024627"/>
            <a:ext cx="492474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若采用</a:t>
            </a:r>
            <a:r>
              <a:rPr kumimoji="1" lang="zh-CN" altLang="en-US" sz="21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随机数</a:t>
            </a:r>
            <a:r>
              <a:rPr kumimoji="1" lang="zh-CN" altLang="en-US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处理冲突，随机数假设为</a:t>
            </a:r>
            <a:r>
              <a:rPr kumimoji="1" lang="en-US" altLang="zh-CN" sz="21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kumimoji="1" lang="zh-CN" altLang="en-US" sz="2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7386797" y="3679937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5164591" y="3706855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333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732593" y="3692039"/>
            <a:ext cx="562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  <a:endParaRPr kumimoji="1" lang="en-US" altLang="zh-CN" sz="27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2598749" y="4166414"/>
            <a:ext cx="59458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1      1       1     1              1       5             1       2     2</a:t>
            </a:r>
            <a:endParaRPr kumimoji="1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626225" y="1160389"/>
            <a:ext cx="58849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课堂练习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 </a:t>
            </a:r>
          </a:p>
          <a:p>
            <a:pPr defTabSz="914400">
              <a:lnSpc>
                <a:spcPct val="125000"/>
              </a:lnSpc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19, 01, 23, 14, 55, 68, 11, 82, 36 }</a:t>
            </a: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752600" y="2261777"/>
            <a:ext cx="52867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设定散列函数 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 = key MOD 11 ( </a:t>
            </a: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表长</a:t>
            </a:r>
            <a:r>
              <a:rPr kumimoji="1"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=11 )</a:t>
            </a:r>
          </a:p>
        </p:txBody>
      </p: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2598749" y="4449805"/>
            <a:ext cx="58015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3      5      4      6      1      5       2      1      3      2     4</a:t>
            </a:r>
          </a:p>
        </p:txBody>
      </p:sp>
      <p:sp>
        <p:nvSpPr>
          <p:cNvPr id="17" name="矩形 16"/>
          <p:cNvSpPr/>
          <p:nvPr/>
        </p:nvSpPr>
        <p:spPr>
          <a:xfrm>
            <a:off x="2461653" y="4937778"/>
            <a:ext cx="22168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25000"/>
              </a:lnSpc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8" name="矩形 17"/>
          <p:cNvSpPr/>
          <p:nvPr/>
        </p:nvSpPr>
        <p:spPr>
          <a:xfrm>
            <a:off x="2443844" y="5547109"/>
            <a:ext cx="741861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3+5+4+6+1+5+2+1+3+2+4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/11=36/11</a:t>
            </a:r>
            <a:endParaRPr lang="zh-CN" altLang="en-US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副标题 19">
            <a:extLst>
              <a:ext uri="{FF2B5EF4-FFF2-40B4-BE49-F238E27FC236}">
                <a16:creationId xmlns:a16="http://schemas.microsoft.com/office/drawing/2014/main" id="{E4B76DD5-3E6C-4059-90B5-93C009739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2033BE32-B224-4011-9EBB-FCAC42D6F78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3AFB20BE-FA98-4D9A-AFE9-754CC453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89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1748299" y="1751946"/>
            <a:ext cx="7369887" cy="39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905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381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 defTabSz="914400" eaLnBrk="1" hangingPunct="1">
              <a:lnSpc>
                <a:spcPct val="12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将所有散列地址相同的记录都链接在同一链表中。       </a:t>
            </a:r>
          </a:p>
        </p:txBody>
      </p:sp>
      <p:grpSp>
        <p:nvGrpSpPr>
          <p:cNvPr id="61" name="Group 4"/>
          <p:cNvGrpSpPr>
            <a:grpSpLocks/>
          </p:cNvGrpSpPr>
          <p:nvPr/>
        </p:nvGrpSpPr>
        <p:grpSpPr bwMode="auto">
          <a:xfrm>
            <a:off x="2832918" y="2667000"/>
            <a:ext cx="685800" cy="3429000"/>
            <a:chOff x="672" y="1200"/>
            <a:chExt cx="576" cy="2880"/>
          </a:xfrm>
        </p:grpSpPr>
        <p:sp>
          <p:nvSpPr>
            <p:cNvPr id="62" name="Rectangle 5"/>
            <p:cNvSpPr>
              <a:spLocks noChangeArrowheads="1"/>
            </p:cNvSpPr>
            <p:nvPr/>
          </p:nvSpPr>
          <p:spPr bwMode="auto">
            <a:xfrm>
              <a:off x="960" y="1200"/>
              <a:ext cx="288" cy="288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3" name="Line 6"/>
            <p:cNvSpPr>
              <a:spLocks noChangeShapeType="1"/>
            </p:cNvSpPr>
            <p:nvPr/>
          </p:nvSpPr>
          <p:spPr bwMode="auto">
            <a:xfrm>
              <a:off x="960" y="1632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4" name="Line 7"/>
            <p:cNvSpPr>
              <a:spLocks noChangeShapeType="1"/>
            </p:cNvSpPr>
            <p:nvPr/>
          </p:nvSpPr>
          <p:spPr bwMode="auto">
            <a:xfrm>
              <a:off x="960" y="20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5" name="Line 8"/>
            <p:cNvSpPr>
              <a:spLocks noChangeShapeType="1"/>
            </p:cNvSpPr>
            <p:nvPr/>
          </p:nvSpPr>
          <p:spPr bwMode="auto">
            <a:xfrm>
              <a:off x="960" y="2400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6" name="Line 9"/>
            <p:cNvSpPr>
              <a:spLocks noChangeShapeType="1"/>
            </p:cNvSpPr>
            <p:nvPr/>
          </p:nvSpPr>
          <p:spPr bwMode="auto">
            <a:xfrm>
              <a:off x="960" y="2784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7" name="Line 10"/>
            <p:cNvSpPr>
              <a:spLocks noChangeShapeType="1"/>
            </p:cNvSpPr>
            <p:nvPr/>
          </p:nvSpPr>
          <p:spPr bwMode="auto">
            <a:xfrm>
              <a:off x="960" y="3216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8" name="Line 11"/>
            <p:cNvSpPr>
              <a:spLocks noChangeShapeType="1"/>
            </p:cNvSpPr>
            <p:nvPr/>
          </p:nvSpPr>
          <p:spPr bwMode="auto">
            <a:xfrm>
              <a:off x="960" y="3648"/>
              <a:ext cx="288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69" name="Text Box 12"/>
            <p:cNvSpPr txBox="1">
              <a:spLocks noChangeArrowheads="1"/>
            </p:cNvSpPr>
            <p:nvPr/>
          </p:nvSpPr>
          <p:spPr bwMode="auto">
            <a:xfrm>
              <a:off x="672" y="1233"/>
              <a:ext cx="336" cy="27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0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2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4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5</a:t>
              </a:r>
            </a:p>
            <a:p>
              <a:pPr defTabSz="914400">
                <a:spcBef>
                  <a:spcPct val="50000"/>
                </a:spcBef>
                <a:defRPr/>
              </a:pPr>
              <a:r>
                <a:rPr kumimoji="1" lang="en-US" altLang="zh-CN" sz="2100">
                  <a:solidFill>
                    <a:srgbClr val="6600CC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1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0" name="Group 13"/>
          <p:cNvGrpSpPr>
            <a:grpSpLocks/>
          </p:cNvGrpSpPr>
          <p:nvPr/>
        </p:nvGrpSpPr>
        <p:grpSpPr bwMode="auto">
          <a:xfrm>
            <a:off x="3404418" y="3238500"/>
            <a:ext cx="1200150" cy="342900"/>
            <a:chOff x="1152" y="1680"/>
            <a:chExt cx="1008" cy="288"/>
          </a:xfrm>
        </p:grpSpPr>
        <p:sp>
          <p:nvSpPr>
            <p:cNvPr id="71" name="Rectangle 14"/>
            <p:cNvSpPr>
              <a:spLocks noChangeArrowheads="1"/>
            </p:cNvSpPr>
            <p:nvPr/>
          </p:nvSpPr>
          <p:spPr bwMode="auto">
            <a:xfrm>
              <a:off x="163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01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Line 15"/>
            <p:cNvSpPr>
              <a:spLocks noChangeShapeType="1"/>
            </p:cNvSpPr>
            <p:nvPr/>
          </p:nvSpPr>
          <p:spPr bwMode="auto">
            <a:xfrm>
              <a:off x="196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73" name="Line 16"/>
            <p:cNvSpPr>
              <a:spLocks noChangeShapeType="1"/>
            </p:cNvSpPr>
            <p:nvPr/>
          </p:nvSpPr>
          <p:spPr bwMode="auto">
            <a:xfrm>
              <a:off x="1152" y="1824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74" name="Group 17"/>
          <p:cNvGrpSpPr>
            <a:grpSpLocks/>
          </p:cNvGrpSpPr>
          <p:nvPr/>
        </p:nvGrpSpPr>
        <p:grpSpPr bwMode="auto">
          <a:xfrm>
            <a:off x="3404418" y="5181600"/>
            <a:ext cx="1200150" cy="342900"/>
            <a:chOff x="1152" y="3312"/>
            <a:chExt cx="1008" cy="288"/>
          </a:xfrm>
        </p:grpSpPr>
        <p:sp>
          <p:nvSpPr>
            <p:cNvPr id="75" name="Rectangle 18"/>
            <p:cNvSpPr>
              <a:spLocks noChangeArrowheads="1"/>
            </p:cNvSpPr>
            <p:nvPr/>
          </p:nvSpPr>
          <p:spPr bwMode="auto">
            <a:xfrm>
              <a:off x="163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19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196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77" name="Line 20"/>
            <p:cNvSpPr>
              <a:spLocks noChangeShapeType="1"/>
            </p:cNvSpPr>
            <p:nvPr/>
          </p:nvSpPr>
          <p:spPr bwMode="auto">
            <a:xfrm>
              <a:off x="1152" y="345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78" name="Group 21"/>
          <p:cNvGrpSpPr>
            <a:grpSpLocks/>
          </p:cNvGrpSpPr>
          <p:nvPr/>
        </p:nvGrpSpPr>
        <p:grpSpPr bwMode="auto">
          <a:xfrm>
            <a:off x="5633268" y="5181600"/>
            <a:ext cx="1257300" cy="342900"/>
            <a:chOff x="3024" y="3312"/>
            <a:chExt cx="1056" cy="288"/>
          </a:xfrm>
        </p:grpSpPr>
        <p:sp>
          <p:nvSpPr>
            <p:cNvPr id="79" name="Rectangle 22"/>
            <p:cNvSpPr>
              <a:spLocks noChangeArrowheads="1"/>
            </p:cNvSpPr>
            <p:nvPr/>
          </p:nvSpPr>
          <p:spPr bwMode="auto">
            <a:xfrm>
              <a:off x="355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82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Line 23"/>
            <p:cNvSpPr>
              <a:spLocks noChangeShapeType="1"/>
            </p:cNvSpPr>
            <p:nvPr/>
          </p:nvSpPr>
          <p:spPr bwMode="auto">
            <a:xfrm>
              <a:off x="388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1" name="Line 24"/>
            <p:cNvSpPr>
              <a:spLocks noChangeShapeType="1"/>
            </p:cNvSpPr>
            <p:nvPr/>
          </p:nvSpPr>
          <p:spPr bwMode="auto">
            <a:xfrm>
              <a:off x="302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grpSp>
        <p:nvGrpSpPr>
          <p:cNvPr id="82" name="Group 25"/>
          <p:cNvGrpSpPr>
            <a:grpSpLocks/>
          </p:cNvGrpSpPr>
          <p:nvPr/>
        </p:nvGrpSpPr>
        <p:grpSpPr bwMode="auto">
          <a:xfrm>
            <a:off x="3404418" y="3695701"/>
            <a:ext cx="1200150" cy="400050"/>
            <a:chOff x="1152" y="2064"/>
            <a:chExt cx="1008" cy="336"/>
          </a:xfrm>
        </p:grpSpPr>
        <p:sp>
          <p:nvSpPr>
            <p:cNvPr id="83" name="Rectangle 26"/>
            <p:cNvSpPr>
              <a:spLocks noChangeArrowheads="1"/>
            </p:cNvSpPr>
            <p:nvPr/>
          </p:nvSpPr>
          <p:spPr bwMode="auto">
            <a:xfrm>
              <a:off x="1632" y="206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4" name="Line 27"/>
            <p:cNvSpPr>
              <a:spLocks noChangeShapeType="1"/>
            </p:cNvSpPr>
            <p:nvPr/>
          </p:nvSpPr>
          <p:spPr bwMode="auto">
            <a:xfrm>
              <a:off x="1968" y="20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5" name="Line 28"/>
            <p:cNvSpPr>
              <a:spLocks noChangeShapeType="1"/>
            </p:cNvSpPr>
            <p:nvPr/>
          </p:nvSpPr>
          <p:spPr bwMode="auto">
            <a:xfrm>
              <a:off x="1152" y="2208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1660" y="2090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23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7" name="Group 30"/>
          <p:cNvGrpSpPr>
            <a:grpSpLocks/>
          </p:cNvGrpSpPr>
          <p:nvPr/>
        </p:nvGrpSpPr>
        <p:grpSpPr bwMode="auto">
          <a:xfrm>
            <a:off x="3404418" y="4610102"/>
            <a:ext cx="1200150" cy="369094"/>
            <a:chOff x="1152" y="2832"/>
            <a:chExt cx="1008" cy="310"/>
          </a:xfrm>
        </p:grpSpPr>
        <p:sp>
          <p:nvSpPr>
            <p:cNvPr id="88" name="Rectangle 31"/>
            <p:cNvSpPr>
              <a:spLocks noChangeArrowheads="1"/>
            </p:cNvSpPr>
            <p:nvPr/>
          </p:nvSpPr>
          <p:spPr bwMode="auto">
            <a:xfrm>
              <a:off x="1632" y="283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1968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0" name="Line 33"/>
            <p:cNvSpPr>
              <a:spLocks noChangeShapeType="1"/>
            </p:cNvSpPr>
            <p:nvPr/>
          </p:nvSpPr>
          <p:spPr bwMode="auto">
            <a:xfrm>
              <a:off x="1152" y="2976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1" name="Text Box 34"/>
            <p:cNvSpPr txBox="1">
              <a:spLocks noChangeArrowheads="1"/>
            </p:cNvSpPr>
            <p:nvPr/>
          </p:nvSpPr>
          <p:spPr bwMode="auto">
            <a:xfrm>
              <a:off x="1660" y="2832"/>
              <a:ext cx="33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2" name="Group 35"/>
          <p:cNvGrpSpPr>
            <a:grpSpLocks/>
          </p:cNvGrpSpPr>
          <p:nvPr/>
        </p:nvGrpSpPr>
        <p:grpSpPr bwMode="auto">
          <a:xfrm>
            <a:off x="4490268" y="5181601"/>
            <a:ext cx="1257300" cy="400050"/>
            <a:chOff x="2064" y="3312"/>
            <a:chExt cx="1056" cy="336"/>
          </a:xfrm>
        </p:grpSpPr>
        <p:sp>
          <p:nvSpPr>
            <p:cNvPr id="93" name="Rectangle 36"/>
            <p:cNvSpPr>
              <a:spLocks noChangeArrowheads="1"/>
            </p:cNvSpPr>
            <p:nvPr/>
          </p:nvSpPr>
          <p:spPr bwMode="auto">
            <a:xfrm>
              <a:off x="2592" y="3312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4" name="Line 37"/>
            <p:cNvSpPr>
              <a:spLocks noChangeShapeType="1"/>
            </p:cNvSpPr>
            <p:nvPr/>
          </p:nvSpPr>
          <p:spPr bwMode="auto">
            <a:xfrm>
              <a:off x="2928" y="331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5" name="Line 38"/>
            <p:cNvSpPr>
              <a:spLocks noChangeShapeType="1"/>
            </p:cNvSpPr>
            <p:nvPr/>
          </p:nvSpPr>
          <p:spPr bwMode="auto">
            <a:xfrm>
              <a:off x="2064" y="3456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6" name="Text Box 39"/>
            <p:cNvSpPr txBox="1">
              <a:spLocks noChangeArrowheads="1"/>
            </p:cNvSpPr>
            <p:nvPr/>
          </p:nvSpPr>
          <p:spPr bwMode="auto">
            <a:xfrm>
              <a:off x="2620" y="3338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68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7" name="Group 40"/>
          <p:cNvGrpSpPr>
            <a:grpSpLocks/>
          </p:cNvGrpSpPr>
          <p:nvPr/>
        </p:nvGrpSpPr>
        <p:grpSpPr bwMode="auto">
          <a:xfrm>
            <a:off x="3404418" y="5695953"/>
            <a:ext cx="1200150" cy="369094"/>
            <a:chOff x="1152" y="3744"/>
            <a:chExt cx="1008" cy="310"/>
          </a:xfrm>
        </p:grpSpPr>
        <p:sp>
          <p:nvSpPr>
            <p:cNvPr id="98" name="Rectangle 41"/>
            <p:cNvSpPr>
              <a:spLocks noChangeArrowheads="1"/>
            </p:cNvSpPr>
            <p:nvPr/>
          </p:nvSpPr>
          <p:spPr bwMode="auto">
            <a:xfrm>
              <a:off x="1632" y="3744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99" name="Line 42"/>
            <p:cNvSpPr>
              <a:spLocks noChangeShapeType="1"/>
            </p:cNvSpPr>
            <p:nvPr/>
          </p:nvSpPr>
          <p:spPr bwMode="auto">
            <a:xfrm>
              <a:off x="1968" y="374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0" name="Line 43"/>
            <p:cNvSpPr>
              <a:spLocks noChangeShapeType="1"/>
            </p:cNvSpPr>
            <p:nvPr/>
          </p:nvSpPr>
          <p:spPr bwMode="auto">
            <a:xfrm>
              <a:off x="1152" y="38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1" name="Text Box 44"/>
            <p:cNvSpPr txBox="1">
              <a:spLocks noChangeArrowheads="1"/>
            </p:cNvSpPr>
            <p:nvPr/>
          </p:nvSpPr>
          <p:spPr bwMode="auto">
            <a:xfrm>
              <a:off x="1660" y="3744"/>
              <a:ext cx="34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55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2" name="Group 45"/>
          <p:cNvGrpSpPr>
            <a:grpSpLocks/>
          </p:cNvGrpSpPr>
          <p:nvPr/>
        </p:nvGrpSpPr>
        <p:grpSpPr bwMode="auto">
          <a:xfrm>
            <a:off x="3404418" y="2724150"/>
            <a:ext cx="1200150" cy="342900"/>
            <a:chOff x="1152" y="1248"/>
            <a:chExt cx="1008" cy="288"/>
          </a:xfrm>
        </p:grpSpPr>
        <p:sp>
          <p:nvSpPr>
            <p:cNvPr id="103" name="Line 46"/>
            <p:cNvSpPr>
              <a:spLocks noChangeShapeType="1"/>
            </p:cNvSpPr>
            <p:nvPr/>
          </p:nvSpPr>
          <p:spPr bwMode="auto">
            <a:xfrm>
              <a:off x="1152" y="1440"/>
              <a:ext cx="48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04" name="Rectangle 47"/>
            <p:cNvSpPr>
              <a:spLocks noChangeArrowheads="1"/>
            </p:cNvSpPr>
            <p:nvPr/>
          </p:nvSpPr>
          <p:spPr bwMode="auto">
            <a:xfrm>
              <a:off x="1632" y="1248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14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5" name="Line 48"/>
            <p:cNvSpPr>
              <a:spLocks noChangeShapeType="1"/>
            </p:cNvSpPr>
            <p:nvPr/>
          </p:nvSpPr>
          <p:spPr bwMode="auto">
            <a:xfrm>
              <a:off x="1968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06" name="Text Box 49"/>
          <p:cNvSpPr txBox="1">
            <a:spLocks noChangeArrowheads="1"/>
          </p:cNvSpPr>
          <p:nvPr/>
        </p:nvSpPr>
        <p:spPr bwMode="auto">
          <a:xfrm>
            <a:off x="4362871" y="266700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7" name="Group 50"/>
          <p:cNvGrpSpPr>
            <a:grpSpLocks/>
          </p:cNvGrpSpPr>
          <p:nvPr/>
        </p:nvGrpSpPr>
        <p:grpSpPr bwMode="auto">
          <a:xfrm>
            <a:off x="4490268" y="3238500"/>
            <a:ext cx="1257300" cy="342900"/>
            <a:chOff x="2064" y="1680"/>
            <a:chExt cx="1056" cy="288"/>
          </a:xfrm>
        </p:grpSpPr>
        <p:sp>
          <p:nvSpPr>
            <p:cNvPr id="108" name="Rectangle 51"/>
            <p:cNvSpPr>
              <a:spLocks noChangeArrowheads="1"/>
            </p:cNvSpPr>
            <p:nvPr/>
          </p:nvSpPr>
          <p:spPr bwMode="auto">
            <a:xfrm>
              <a:off x="2592" y="1680"/>
              <a:ext cx="52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r>
                <a:rPr kumimoji="1" lang="en-US" altLang="zh-CN" sz="1800" b="1">
                  <a:solidFill>
                    <a:prstClr val="black"/>
                  </a:solidFill>
                  <a:latin typeface="Times New Roman" panose="02020603050405020304" pitchFamily="18" charset="0"/>
                </a:rPr>
                <a:t>36</a:t>
              </a:r>
              <a:endParaRPr kumimoji="1" lang="en-US" altLang="zh-CN" sz="180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9" name="Line 52"/>
            <p:cNvSpPr>
              <a:spLocks noChangeShapeType="1"/>
            </p:cNvSpPr>
            <p:nvPr/>
          </p:nvSpPr>
          <p:spPr bwMode="auto">
            <a:xfrm>
              <a:off x="2928" y="16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110" name="Line 53"/>
            <p:cNvSpPr>
              <a:spLocks noChangeShapeType="1"/>
            </p:cNvSpPr>
            <p:nvPr/>
          </p:nvSpPr>
          <p:spPr bwMode="auto">
            <a:xfrm>
              <a:off x="2064" y="1824"/>
              <a:ext cx="52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>
                <a:defRPr/>
              </a:pPr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sp>
        <p:nvSpPr>
          <p:cNvPr id="111" name="Text Box 54"/>
          <p:cNvSpPr txBox="1">
            <a:spLocks noChangeArrowheads="1"/>
          </p:cNvSpPr>
          <p:nvPr/>
        </p:nvSpPr>
        <p:spPr bwMode="auto">
          <a:xfrm>
            <a:off x="5505871" y="31920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" name="Text Box 55"/>
          <p:cNvSpPr txBox="1">
            <a:spLocks noChangeArrowheads="1"/>
          </p:cNvSpPr>
          <p:nvPr/>
        </p:nvSpPr>
        <p:spPr bwMode="auto">
          <a:xfrm>
            <a:off x="4362871" y="36492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" name="Text Box 56"/>
          <p:cNvSpPr txBox="1">
            <a:spLocks noChangeArrowheads="1"/>
          </p:cNvSpPr>
          <p:nvPr/>
        </p:nvSpPr>
        <p:spPr bwMode="auto">
          <a:xfrm>
            <a:off x="4362871" y="45636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4" name="Text Box 57"/>
          <p:cNvSpPr txBox="1">
            <a:spLocks noChangeArrowheads="1"/>
          </p:cNvSpPr>
          <p:nvPr/>
        </p:nvSpPr>
        <p:spPr bwMode="auto">
          <a:xfrm>
            <a:off x="6648871" y="5124451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" name="Text Box 58"/>
          <p:cNvSpPr txBox="1">
            <a:spLocks noChangeArrowheads="1"/>
          </p:cNvSpPr>
          <p:nvPr/>
        </p:nvSpPr>
        <p:spPr bwMode="auto">
          <a:xfrm>
            <a:off x="4318819" y="564951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Text Box 59"/>
          <p:cNvSpPr txBox="1">
            <a:spLocks noChangeArrowheads="1"/>
          </p:cNvSpPr>
          <p:nvPr/>
        </p:nvSpPr>
        <p:spPr bwMode="auto">
          <a:xfrm>
            <a:off x="3219871" y="4106466"/>
            <a:ext cx="34657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zh-CN" altLang="en-US" sz="2100" b="1">
                <a:solidFill>
                  <a:prstClr val="blac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kumimoji="1" lang="zh-CN" altLang="en-US" sz="18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" name="Text Box 3"/>
          <p:cNvSpPr txBox="1">
            <a:spLocks noChangeArrowheads="1"/>
          </p:cNvSpPr>
          <p:nvPr/>
        </p:nvSpPr>
        <p:spPr bwMode="auto">
          <a:xfrm>
            <a:off x="1094990" y="1053525"/>
            <a:ext cx="3475856" cy="5847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 marL="457200" indent="-457200">
              <a:defRPr kumimoji="1" sz="3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914400" lvl="2" defTabSz="914400">
              <a:defRPr/>
            </a:pP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链地址法：</a:t>
            </a:r>
          </a:p>
        </p:txBody>
      </p:sp>
      <p:sp>
        <p:nvSpPr>
          <p:cNvPr id="118" name="Text Box 60"/>
          <p:cNvSpPr txBox="1">
            <a:spLocks noChangeArrowheads="1"/>
          </p:cNvSpPr>
          <p:nvPr/>
        </p:nvSpPr>
        <p:spPr bwMode="auto">
          <a:xfrm>
            <a:off x="6941501" y="4106466"/>
            <a:ext cx="442621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)=(6×1+2×2+3)/9=13/9</a:t>
            </a:r>
          </a:p>
        </p:txBody>
      </p:sp>
      <p:sp>
        <p:nvSpPr>
          <p:cNvPr id="119" name="Text Box 60"/>
          <p:cNvSpPr txBox="1">
            <a:spLocks noChangeArrowheads="1"/>
          </p:cNvSpPr>
          <p:nvPr/>
        </p:nvSpPr>
        <p:spPr bwMode="auto">
          <a:xfrm>
            <a:off x="6941501" y="4550938"/>
            <a:ext cx="3908442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>
              <a:defRPr/>
            </a:pP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ASL(</a:t>
            </a:r>
            <a:r>
              <a:rPr kumimoji="1" lang="zh-CN" altLang="en-US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r>
              <a:rPr kumimoji="1" lang="en-US" altLang="zh-CN" sz="2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)=(4×1+2+3)/7=9/7</a:t>
            </a:r>
          </a:p>
        </p:txBody>
      </p:sp>
      <p:sp>
        <p:nvSpPr>
          <p:cNvPr id="120" name="Text Box 61"/>
          <p:cNvSpPr txBox="1">
            <a:spLocks noChangeArrowheads="1"/>
          </p:cNvSpPr>
          <p:nvPr/>
        </p:nvSpPr>
        <p:spPr bwMode="auto">
          <a:xfrm>
            <a:off x="6890568" y="2481435"/>
            <a:ext cx="3955588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关键字集合为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{19,01,23,14,55,68,11,82,36}</a:t>
            </a:r>
            <a:r>
              <a:rPr kumimoji="1"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defTabSz="914400">
              <a:lnSpc>
                <a:spcPct val="150000"/>
              </a:lnSpc>
              <a:defRPr/>
            </a:pPr>
            <a:r>
              <a:rPr kumimoji="1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散列函数为 </a:t>
            </a:r>
            <a:r>
              <a:rPr kumimoji="1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MOD 7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B26FCE-E889-4D4A-9BFE-F210A195B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BAC164-27D6-4A83-B560-7CCAFF15A927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1" name="标题 1">
            <a:extLst>
              <a:ext uri="{FF2B5EF4-FFF2-40B4-BE49-F238E27FC236}">
                <a16:creationId xmlns:a16="http://schemas.microsoft.com/office/drawing/2014/main" id="{EA1F8E66-D13D-474D-ADDC-50B9AE0D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40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utoUpdateAnimBg="0"/>
      <p:bldP spid="119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25CF8668-6B33-47C0-B5DF-088D18289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3F60BB-9796-45A3-A0CE-75310F9F232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3731" name="Rectangle 2"/>
          <p:cNvSpPr>
            <a:spLocks noGrp="1" noRot="1" noChangeArrowheads="1"/>
          </p:cNvSpPr>
          <p:nvPr>
            <p:ph idx="11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查找性能分析         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1876058" y="4508455"/>
            <a:ext cx="8112125" cy="777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lnSpc>
                <a:spcPct val="130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一般情况下，可以认为选用的散列函数是“均匀”的，则在讨论</a:t>
            </a: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时，可以不考虑散列函数的因素。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1876058" y="1746206"/>
            <a:ext cx="80660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pPr defTabSz="457200" eaLnBrk="1" hangingPunct="1">
              <a:defRPr/>
            </a:pPr>
            <a:r>
              <a:rPr kumimoji="1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关键字序列 </a:t>
            </a: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79</a:t>
            </a: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defTabSz="457200" eaLnBrk="1" hangingPunct="1"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H(key)=key % 12</a:t>
            </a:r>
          </a:p>
        </p:txBody>
      </p:sp>
      <p:sp>
        <p:nvSpPr>
          <p:cNvPr id="109574" name="Text Box 6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099895" y="2730455"/>
            <a:ext cx="45384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线性探测处理冲突时，    </a:t>
            </a:r>
            <a:r>
              <a:rPr kumimoji="1" lang="en-US" altLang="zh-CN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 =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575" name="Text Box 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115770" y="3619455"/>
            <a:ext cx="45384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链地址法处理冲突时，    </a:t>
            </a:r>
            <a:r>
              <a:rPr kumimoji="1" lang="en-US" altLang="zh-CN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 =</a:t>
            </a:r>
            <a:endParaRPr kumimoji="1" lang="en-US" altLang="zh-CN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576" name="Rectangle 8"/>
          <p:cNvSpPr>
            <a:spLocks noChangeArrowheads="1"/>
          </p:cNvSpPr>
          <p:nvPr/>
        </p:nvSpPr>
        <p:spPr bwMode="auto">
          <a:xfrm>
            <a:off x="6484568" y="2682831"/>
            <a:ext cx="45167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1/12(1×6+2+3×3+4+9)=2.5 </a:t>
            </a:r>
          </a:p>
        </p:txBody>
      </p:sp>
      <p:sp>
        <p:nvSpPr>
          <p:cNvPr id="109577" name="Rectangle 9"/>
          <p:cNvSpPr>
            <a:spLocks noChangeArrowheads="1"/>
          </p:cNvSpPr>
          <p:nvPr/>
        </p:nvSpPr>
        <p:spPr bwMode="auto">
          <a:xfrm>
            <a:off x="6484569" y="3619456"/>
            <a:ext cx="41606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1/12(1×6+2×4+3+4)=1.75 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696658" y="5873873"/>
            <a:ext cx="9304618" cy="52322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ctr" defTabSz="457200">
              <a:spcBef>
                <a:spcPct val="50000"/>
              </a:spcBef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实际上，散列表的</a:t>
            </a:r>
            <a:r>
              <a:rPr kumimoji="1"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处理冲突方法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装载因子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FE45FE08-5B94-48C5-8799-45368CE4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206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  <p:bldP spid="109571" grpId="0" autoUpdateAnimBg="0"/>
      <p:bldP spid="109573" grpId="0" autoUpdateAnimBg="0"/>
      <p:bldP spid="109574" grpId="0" autoUpdateAnimBg="0"/>
      <p:bldP spid="109575" grpId="0" autoUpdateAnimBg="0"/>
      <p:bldP spid="109576" grpId="0" autoUpdateAnimBg="0"/>
      <p:bldP spid="109577" grpId="0" autoUpdateAnimBg="0"/>
      <p:bldP spid="12" grpId="0" animBg="1"/>
      <p:bldP spid="12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C542224-E925-48F1-AB41-2ED865E2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11.4.4 </a:t>
            </a:r>
            <a:r>
              <a:rPr lang="zh-CN" altLang="en-US" dirty="0"/>
              <a:t>查找性能分析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0C6C8F27-B97B-496F-883C-0DAFD31D8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588698-AC6F-4EEF-BDAA-B0D0E33A9D7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Rectangle 2"/>
          <p:cNvSpPr>
            <a:spLocks noGrp="1" noRot="1" noChangeArrowheads="1"/>
          </p:cNvSpPr>
          <p:nvPr>
            <p:ph idx="11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查找性能分析         </a:t>
            </a: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2495551" y="2967038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3414714" y="5256212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2566988" y="4225925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随机探测再散列</a:t>
            </a:r>
          </a:p>
        </p:txBody>
      </p:sp>
      <p:graphicFrame>
        <p:nvGraphicFramePr>
          <p:cNvPr id="110598" name="Object 6"/>
          <p:cNvGraphicFramePr>
            <a:graphicFrameLocks noChangeAspect="1"/>
          </p:cNvGraphicFramePr>
          <p:nvPr/>
        </p:nvGraphicFramePr>
        <p:xfrm>
          <a:off x="5020355" y="2560638"/>
          <a:ext cx="2895346" cy="1089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43000" imgH="393480" progId="">
                  <p:embed/>
                </p:oleObj>
              </mc:Choice>
              <mc:Fallback>
                <p:oleObj name="公式" r:id="rId3" imgW="1143000" imgH="393480" progId="">
                  <p:embed/>
                  <p:pic>
                    <p:nvPicPr>
                      <p:cNvPr id="1105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355" y="2560638"/>
                        <a:ext cx="2895346" cy="108999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5020355" y="3737366"/>
          <a:ext cx="4028112" cy="1248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473120" imgH="406080" progId="Equation.3">
                  <p:embed/>
                </p:oleObj>
              </mc:Choice>
              <mc:Fallback>
                <p:oleObj name="公式" r:id="rId5" imgW="1473120" imgH="406080" progId="Equation.3">
                  <p:embed/>
                  <p:pic>
                    <p:nvPicPr>
                      <p:cNvPr id="1105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0355" y="3737366"/>
                        <a:ext cx="4028112" cy="124898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/>
        </p:nvGraphicFramePr>
        <p:xfrm>
          <a:off x="5029202" y="5063858"/>
          <a:ext cx="1985748" cy="95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28560" imgH="297360" progId="">
                  <p:embed/>
                </p:oleObj>
              </mc:Choice>
              <mc:Fallback>
                <p:oleObj name="公式" r:id="rId7" imgW="628560" imgH="297360" progId="">
                  <p:embed/>
                  <p:pic>
                    <p:nvPicPr>
                      <p:cNvPr id="1106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2" y="5063858"/>
                        <a:ext cx="1985748" cy="95594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2359025" y="1840034"/>
            <a:ext cx="7559675" cy="48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lnSpc>
                <a:spcPct val="115000"/>
              </a:lnSpc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可以证明：</a:t>
            </a:r>
            <a:r>
              <a:rPr kumimoji="1"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查找成功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时的平均查找长度为：</a:t>
            </a:r>
          </a:p>
        </p:txBody>
      </p:sp>
      <p:sp>
        <p:nvSpPr>
          <p:cNvPr id="2" name="矩形 1"/>
          <p:cNvSpPr/>
          <p:nvPr/>
        </p:nvSpPr>
        <p:spPr>
          <a:xfrm>
            <a:off x="949644" y="1453306"/>
            <a:ext cx="91087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lvl="4"/>
            <a:r>
              <a:rPr lang="zh-CN" altLang="en-US" b="1" dirty="0"/>
              <a:t>散列表的填满因子</a:t>
            </a:r>
            <a:r>
              <a:rPr lang="zh-CN" altLang="en-US" b="1" dirty="0">
                <a:sym typeface="Symbol" pitchFamily="18" charset="2"/>
              </a:rPr>
              <a:t></a:t>
            </a:r>
            <a:r>
              <a:rPr lang="en-US" altLang="zh-CN" b="1" dirty="0">
                <a:sym typeface="Symbol" pitchFamily="18" charset="2"/>
              </a:rPr>
              <a:t>=</a:t>
            </a:r>
            <a:r>
              <a:rPr lang="zh-CN" altLang="en-US" b="1" dirty="0">
                <a:sym typeface="Symbol" pitchFamily="18" charset="2"/>
              </a:rPr>
              <a:t>表中填入的记录数</a:t>
            </a:r>
            <a:r>
              <a:rPr lang="en-US" altLang="zh-CN" b="1" dirty="0">
                <a:sym typeface="Symbol" pitchFamily="18" charset="2"/>
              </a:rPr>
              <a:t>/</a:t>
            </a:r>
            <a:r>
              <a:rPr lang="zh-CN" altLang="en-US" b="1" dirty="0">
                <a:sym typeface="Symbol" pitchFamily="18" charset="2"/>
              </a:rPr>
              <a:t>散列表长度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31957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autoUpdateAnimBg="0"/>
      <p:bldP spid="110596" grpId="0" autoUpdateAnimBg="0"/>
      <p:bldP spid="110597" grpId="0" autoUpdateAnimBg="0"/>
      <p:bldP spid="110601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19047" y="1122656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1" defTabSz="457200">
              <a:defRPr/>
            </a:pP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查找性能分析         </a:t>
            </a:r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CE1EC91B-A6C8-4416-846A-3C45B17C0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B3D53B-DD49-44BF-B65C-B8EB967BF13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5779" name="Rectangle 2"/>
          <p:cNvSpPr>
            <a:spLocks noGrp="1" noRot="1" noChangeArrowheads="1"/>
          </p:cNvSpPr>
          <p:nvPr>
            <p:ph idx="11"/>
          </p:nvPr>
        </p:nvSpPr>
        <p:spPr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algn="ctr">
              <a:spcBef>
                <a:spcPct val="0"/>
              </a:spcBef>
              <a:buNone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散列表查找与性能分析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2424115" y="2372805"/>
            <a:ext cx="5327650" cy="587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lnSpc>
                <a:spcPct val="115000"/>
              </a:lnSpc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查找不成功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时的平均查找长度为：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424115" y="3351118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线性探测再散列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3359150" y="5472018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链地址法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2495551" y="4498880"/>
            <a:ext cx="252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幼圆" pitchFamily="49" charset="-122"/>
              </a:defRPr>
            </a:lvl9pPr>
          </a:lstStyle>
          <a:p>
            <a:pPr defTabSz="457200" eaLnBrk="1" hangingPunct="1">
              <a:defRPr/>
            </a:pPr>
            <a:r>
              <a:rPr kumimoji="1"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随机探测再散列</a:t>
            </a:r>
          </a:p>
        </p:txBody>
      </p:sp>
      <p:sp>
        <p:nvSpPr>
          <p:cNvPr id="75784" name="Rectangle 7"/>
          <p:cNvSpPr>
            <a:spLocks noChangeArrowheads="1"/>
          </p:cNvSpPr>
          <p:nvPr/>
        </p:nvSpPr>
        <p:spPr bwMode="auto">
          <a:xfrm>
            <a:off x="1524001" y="331885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1624" name="Object 8"/>
          <p:cNvGraphicFramePr>
            <a:graphicFrameLocks noChangeAspect="1"/>
          </p:cNvGraphicFramePr>
          <p:nvPr/>
        </p:nvGraphicFramePr>
        <p:xfrm>
          <a:off x="5059366" y="3180220"/>
          <a:ext cx="251936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95400" imgH="419100" progId="">
                  <p:embed/>
                </p:oleObj>
              </mc:Choice>
              <mc:Fallback>
                <p:oleObj name="Equation" r:id="rId3" imgW="1295400" imgH="419100" progId="">
                  <p:embed/>
                  <p:pic>
                    <p:nvPicPr>
                      <p:cNvPr id="1116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6" y="3180220"/>
                        <a:ext cx="2519363" cy="8207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6" name="Rectangle 9"/>
          <p:cNvSpPr>
            <a:spLocks noChangeArrowheads="1"/>
          </p:cNvSpPr>
          <p:nvPr/>
        </p:nvSpPr>
        <p:spPr bwMode="auto">
          <a:xfrm>
            <a:off x="1524001" y="332361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1626" name="Object 10"/>
          <p:cNvGraphicFramePr>
            <a:graphicFrameLocks noChangeAspect="1"/>
          </p:cNvGraphicFramePr>
          <p:nvPr/>
        </p:nvGraphicFramePr>
        <p:xfrm>
          <a:off x="5059365" y="4261308"/>
          <a:ext cx="15128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0891" imgH="393529" progId="">
                  <p:embed/>
                </p:oleObj>
              </mc:Choice>
              <mc:Fallback>
                <p:oleObj name="Equation" r:id="rId5" imgW="710891" imgH="393529" progId="">
                  <p:embed/>
                  <p:pic>
                    <p:nvPicPr>
                      <p:cNvPr id="1116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9365" y="4261308"/>
                        <a:ext cx="1512888" cy="838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8" name="Rectangle 11"/>
          <p:cNvSpPr>
            <a:spLocks noChangeArrowheads="1"/>
          </p:cNvSpPr>
          <p:nvPr/>
        </p:nvSpPr>
        <p:spPr bwMode="auto">
          <a:xfrm>
            <a:off x="1524001" y="339505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457200">
              <a:defRPr/>
            </a:pPr>
            <a:endParaRPr lang="zh-CN" altLang="en-US" sz="18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1628" name="Object 12"/>
          <p:cNvGraphicFramePr>
            <a:graphicFrameLocks noChangeAspect="1"/>
          </p:cNvGraphicFramePr>
          <p:nvPr/>
        </p:nvGraphicFramePr>
        <p:xfrm>
          <a:off x="5016501" y="5340808"/>
          <a:ext cx="21590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4" imgH="241195" progId="">
                  <p:embed/>
                </p:oleObj>
              </mc:Choice>
              <mc:Fallback>
                <p:oleObj name="Equation" r:id="rId7" imgW="774364" imgH="241195" progId="">
                  <p:embed/>
                  <p:pic>
                    <p:nvPicPr>
                      <p:cNvPr id="11162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5340808"/>
                        <a:ext cx="2159000" cy="6794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标题 1">
            <a:extLst>
              <a:ext uri="{FF2B5EF4-FFF2-40B4-BE49-F238E27FC236}">
                <a16:creationId xmlns:a16="http://schemas.microsoft.com/office/drawing/2014/main" id="{4B22D064-02FB-4808-AEDA-726AE9E7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607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1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5779" grpId="0" build="p"/>
      <p:bldP spid="111619" grpId="0"/>
      <p:bldP spid="111620" grpId="0" autoUpdateAnimBg="0"/>
      <p:bldP spid="111621" grpId="0" autoUpdateAnimBg="0"/>
      <p:bldP spid="11162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47E8930-216F-4FDF-9B21-22493E230E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DC675B-A58B-4039-8AE1-06DD347A070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294967295"/>
          </p:nvPr>
        </p:nvSpPr>
        <p:spPr>
          <a:ln/>
        </p:spPr>
        <p:txBody>
          <a:bodyPr/>
          <a:lstStyle/>
          <a:p>
            <a:pPr defTabSz="457200">
              <a:defRPr/>
            </a:pPr>
            <a:fld id="{0EBF6B27-73F2-4309-B4BF-6D408699BE12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 defTabSz="457200">
                <a:defRPr/>
              </a:pPr>
              <a:t>56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84002" name="Text Box 2"/>
          <p:cNvSpPr txBox="1">
            <a:spLocks noChangeArrowheads="1"/>
          </p:cNvSpPr>
          <p:nvPr/>
        </p:nvSpPr>
        <p:spPr bwMode="auto">
          <a:xfrm>
            <a:off x="1635937" y="2081409"/>
            <a:ext cx="8681771" cy="112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lnSpc>
                <a:spcPct val="125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散列表的平均查找长度是装填因子 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 的函数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 </a:t>
            </a:r>
            <a:r>
              <a:rPr kumimoji="1" lang="en-US" altLang="zh-CN" sz="28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的函数。</a:t>
            </a:r>
          </a:p>
        </p:txBody>
      </p:sp>
      <p:sp>
        <p:nvSpPr>
          <p:cNvPr id="384003" name="Text Box 3"/>
          <p:cNvSpPr txBox="1">
            <a:spLocks noChangeArrowheads="1"/>
          </p:cNvSpPr>
          <p:nvPr/>
        </p:nvSpPr>
        <p:spPr bwMode="auto">
          <a:xfrm>
            <a:off x="1635937" y="3537169"/>
            <a:ext cx="8463408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457200">
              <a:lnSpc>
                <a:spcPct val="125000"/>
              </a:lnSpc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这说明，用散列表构造查找表时，可以选择一个适当的装填因子 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 ，使得</a:t>
            </a:r>
            <a:r>
              <a:rPr kumimoji="1"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平均查找长度限定在某个范围内。</a:t>
            </a:r>
          </a:p>
        </p:txBody>
      </p:sp>
      <p:sp>
        <p:nvSpPr>
          <p:cNvPr id="384004" name="Text Box 4"/>
          <p:cNvSpPr txBox="1">
            <a:spLocks noChangeArrowheads="1"/>
          </p:cNvSpPr>
          <p:nvPr/>
        </p:nvSpPr>
        <p:spPr bwMode="auto">
          <a:xfrm>
            <a:off x="4942519" y="5546053"/>
            <a:ext cx="53751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457200">
              <a:defRPr/>
            </a:pPr>
            <a:r>
              <a:rPr kumimoji="1" lang="en-US" altLang="zh-CN" sz="28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kumimoji="1" lang="zh-CN" altLang="en-US" sz="2800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这是散列表所特有的特点。</a:t>
            </a:r>
            <a:endParaRPr kumimoji="1"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"/>
          <p:cNvSpPr txBox="1">
            <a:spLocks noRot="1" noChangeArrowheads="1"/>
          </p:cNvSpPr>
          <p:nvPr/>
        </p:nvSpPr>
        <p:spPr>
          <a:xfrm>
            <a:off x="1275608" y="1204423"/>
            <a:ext cx="3666911" cy="5762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ctr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查找性能分析         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59BE5B5D-05A7-4196-949B-4801292A4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8731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4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4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840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2" grpId="0" autoUpdateAnimBg="0"/>
      <p:bldP spid="384003" grpId="0" autoUpdateAnimBg="0"/>
      <p:bldP spid="384004" grpId="0"/>
      <p:bldP spid="384004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84922" y="1233166"/>
            <a:ext cx="2332641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Autofit/>
          </a:bodyPr>
          <a:lstStyle>
            <a:defPPr>
              <a:defRPr lang="en-US"/>
            </a:defPPr>
            <a:lvl1pPr indent="-228600" algn="ctr" defTabSz="9144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60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defRPr/>
            </a:pPr>
            <a:r>
              <a:rPr lang="zh-CN" altLang="en-US" sz="4400" dirty="0">
                <a:solidFill>
                  <a:srgbClr val="5B9BD5">
                    <a:lumMod val="75000"/>
                  </a:srgbClr>
                </a:solidFill>
              </a:rPr>
              <a:t>总  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97434" y="1228926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一一映射的散列函数</a:t>
            </a:r>
            <a:endParaRPr lang="en-US" altLang="zh-CN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defRPr/>
            </a:pPr>
            <a:endParaRPr lang="zh-CN" altLang="en-US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4541882" y="2688983"/>
            <a:ext cx="2130542" cy="385361"/>
          </a:xfrm>
          <a:prstGeom prst="rightArrow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zh-CN" altLang="en-US" sz="28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44997" y="260874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关键字范围广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15710" y="2594811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存储空间范围小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75654" y="221455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散列函数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332880" y="3539965"/>
            <a:ext cx="6585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冲突不可避免，不同解决冲突的策略的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51243" y="4161114"/>
            <a:ext cx="5969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查找表大小与解决冲突策略和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ASL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范围相关</a:t>
            </a:r>
          </a:p>
        </p:txBody>
      </p:sp>
      <p:graphicFrame>
        <p:nvGraphicFramePr>
          <p:cNvPr id="10" name="图示 9"/>
          <p:cNvGraphicFramePr/>
          <p:nvPr/>
        </p:nvGraphicFramePr>
        <p:xfrm>
          <a:off x="1603555" y="3406698"/>
          <a:ext cx="8536731" cy="4196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副标题 11">
            <a:extLst>
              <a:ext uri="{FF2B5EF4-FFF2-40B4-BE49-F238E27FC236}">
                <a16:creationId xmlns:a16="http://schemas.microsoft.com/office/drawing/2014/main" id="{125E7EF5-5CE5-49AD-9642-8FC874DF9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3CAE955-13BB-4DEB-8005-F4D296EA739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5E56F7C-922E-496C-851A-4E23BF17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11.4.4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pitchFamily="34" charset="-122"/>
              </a:rPr>
              <a:t>查找性能分析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4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9301F4C-D697-464F-9380-859D320B79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>
                                            <p:graphicEl>
                                              <a:dgm id="{29301F4C-D697-464F-9380-859D320B79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F863560-9B44-4B90-9DB1-DB135075A6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>
                                            <p:graphicEl>
                                              <a:dgm id="{6F863560-9B44-4B90-9DB1-DB135075A6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1FA80A7-A7C1-44F4-B849-367F22B373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>
                                            <p:graphicEl>
                                              <a:dgm id="{D1FA80A7-A7C1-44F4-B849-367F22B373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  <p:bldP spid="8" grpId="0"/>
      <p:bldP spid="9" grpId="0"/>
      <p:bldGraphic spid="10" grpId="0">
        <p:bldSub>
          <a:bldDgm bld="one"/>
        </p:bldSub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7A342A01-6D35-4873-B9A4-0BD46E17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11.4.5</a:t>
            </a:r>
            <a:r>
              <a:rPr lang="zh-CN" altLang="en-US" dirty="0"/>
              <a:t>分布式散列表</a:t>
            </a:r>
          </a:p>
        </p:txBody>
      </p:sp>
      <p:sp>
        <p:nvSpPr>
          <p:cNvPr id="12" name="副标题 11">
            <a:extLst>
              <a:ext uri="{FF2B5EF4-FFF2-40B4-BE49-F238E27FC236}">
                <a16:creationId xmlns:a16="http://schemas.microsoft.com/office/drawing/2014/main" id="{125E7EF5-5CE5-49AD-9642-8FC874DF9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 </a:t>
            </a:r>
            <a:r>
              <a:rPr lang="zh-CN" altLang="en-US" dirty="0"/>
              <a:t>散列查找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3CAE955-13BB-4DEB-8005-F4D296EA739D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4E70984-0D2A-4822-829A-34DAF1BA64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43037" y="2382369"/>
            <a:ext cx="8696625" cy="326445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8B4C064-F704-4FCE-80B1-D0487C0BC8F2}"/>
              </a:ext>
            </a:extLst>
          </p:cNvPr>
          <p:cNvSpPr/>
          <p:nvPr/>
        </p:nvSpPr>
        <p:spPr>
          <a:xfrm>
            <a:off x="1315453" y="1083906"/>
            <a:ext cx="98017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cs typeface="宋体" panose="02010600030101010101" pitchFamily="2" charset="-122"/>
              </a:rPr>
              <a:t>当面对分布式系统时，传统用于单机系统的散列表数据结构已无法支撑数据存储应用需求。此时，需要采用能够支撑分布式系统的散列数据结构，即分布式</a:t>
            </a:r>
            <a:r>
              <a:rPr lang="en-US" altLang="zh-CN" sz="2400" kern="100" dirty="0" err="1">
                <a:cs typeface="宋体" panose="0201060003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散列</a:t>
            </a:r>
            <a:r>
              <a:rPr lang="zh-CN" altLang="zh-CN" sz="2400" kern="100" dirty="0">
                <a:cs typeface="宋体" panose="02010600030101010101" pitchFamily="2" charset="-122"/>
              </a:rPr>
              <a:t>列表</a:t>
            </a:r>
            <a:r>
              <a:rPr lang="en-US" altLang="zh-CN" sz="2400" kern="100" dirty="0">
                <a:cs typeface="宋体" panose="02010600030101010101" pitchFamily="2" charset="-122"/>
              </a:rPr>
              <a:t>DHT</a:t>
            </a:r>
            <a:r>
              <a:rPr lang="zh-CN" altLang="zh-CN" sz="2400" kern="100" dirty="0">
                <a:cs typeface="宋体" panose="02010600030101010101" pitchFamily="2" charset="-122"/>
              </a:rPr>
              <a:t>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92194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11.4.6  </a:t>
            </a:r>
            <a:r>
              <a:rPr lang="zh-CN" altLang="en-US" dirty="0"/>
              <a:t>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11.4.5 </a:t>
            </a:r>
            <a:r>
              <a:rPr lang="zh-CN" altLang="en-US" dirty="0"/>
              <a:t>作业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2EFC24-31C4-4C6A-8494-7F2CB9E11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71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CA4134-5452-41F4-B7D1-1667C47E5CE1}"/>
              </a:ext>
            </a:extLst>
          </p:cNvPr>
          <p:cNvSpPr/>
          <p:nvPr/>
        </p:nvSpPr>
        <p:spPr>
          <a:xfrm>
            <a:off x="278969" y="1807915"/>
            <a:ext cx="1167717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zh-CN" sz="2800" dirty="0"/>
              <a:t>、设有一组关键字</a:t>
            </a:r>
            <a:r>
              <a:rPr lang="en-US" altLang="zh-CN" sz="2800" dirty="0"/>
              <a:t>{19</a:t>
            </a:r>
            <a:r>
              <a:rPr lang="zh-CN" altLang="zh-CN" sz="2800" dirty="0"/>
              <a:t>，</a:t>
            </a:r>
            <a:r>
              <a:rPr lang="en-US" altLang="zh-CN" sz="2800" dirty="0"/>
              <a:t>01</a:t>
            </a:r>
            <a:r>
              <a:rPr lang="zh-CN" altLang="zh-CN" sz="2800" dirty="0"/>
              <a:t>，</a:t>
            </a:r>
            <a:r>
              <a:rPr lang="en-US" altLang="zh-CN" sz="2800" dirty="0"/>
              <a:t>23</a:t>
            </a:r>
            <a:r>
              <a:rPr lang="zh-CN" altLang="zh-CN" sz="2800" dirty="0"/>
              <a:t>，</a:t>
            </a:r>
            <a:r>
              <a:rPr lang="en-US" altLang="zh-CN" sz="2800" dirty="0"/>
              <a:t>14</a:t>
            </a:r>
            <a:r>
              <a:rPr lang="zh-CN" altLang="zh-CN" sz="2800" dirty="0"/>
              <a:t>，</a:t>
            </a:r>
            <a:r>
              <a:rPr lang="en-US" altLang="zh-CN" sz="2800" dirty="0"/>
              <a:t>55</a:t>
            </a:r>
            <a:r>
              <a:rPr lang="zh-CN" altLang="zh-CN" sz="2800" dirty="0"/>
              <a:t>，</a:t>
            </a:r>
            <a:r>
              <a:rPr lang="en-US" altLang="zh-CN" sz="2800" dirty="0"/>
              <a:t>20</a:t>
            </a:r>
            <a:r>
              <a:rPr lang="zh-CN" altLang="zh-CN" sz="2800" dirty="0"/>
              <a:t>，</a:t>
            </a:r>
            <a:r>
              <a:rPr lang="en-US" altLang="zh-CN" sz="2800" dirty="0"/>
              <a:t>84</a:t>
            </a:r>
            <a:r>
              <a:rPr lang="zh-CN" altLang="zh-CN" sz="2800" dirty="0"/>
              <a:t>，</a:t>
            </a:r>
            <a:r>
              <a:rPr lang="en-US" altLang="zh-CN" sz="2800" dirty="0"/>
              <a:t>27</a:t>
            </a:r>
            <a:r>
              <a:rPr lang="zh-CN" altLang="zh-CN" sz="2800" dirty="0"/>
              <a:t>，</a:t>
            </a:r>
            <a:r>
              <a:rPr lang="en-US" altLang="zh-CN" sz="2800" dirty="0"/>
              <a:t>68</a:t>
            </a:r>
            <a:r>
              <a:rPr lang="zh-CN" altLang="zh-CN" sz="2800" dirty="0"/>
              <a:t>，</a:t>
            </a:r>
            <a:r>
              <a:rPr lang="en-US" altLang="zh-CN" sz="2800" dirty="0"/>
              <a:t>11}</a:t>
            </a:r>
            <a:r>
              <a:rPr lang="zh-CN" altLang="zh-CN" sz="2800" dirty="0"/>
              <a:t>，采用散列函数：</a:t>
            </a:r>
            <a:r>
              <a:rPr lang="en-US" altLang="zh-CN" sz="2800" dirty="0"/>
              <a:t>H</a:t>
            </a:r>
            <a:r>
              <a:rPr lang="zh-CN" altLang="zh-CN" sz="2800" dirty="0"/>
              <a:t>（</a:t>
            </a:r>
            <a:r>
              <a:rPr lang="en-US" altLang="zh-CN" sz="2800" i="1" dirty="0"/>
              <a:t>key</a:t>
            </a:r>
            <a:r>
              <a:rPr lang="zh-CN" altLang="zh-CN" sz="2800" dirty="0"/>
              <a:t>）</a:t>
            </a:r>
            <a:r>
              <a:rPr lang="en-US" altLang="zh-CN" sz="2800" dirty="0"/>
              <a:t> =</a:t>
            </a:r>
            <a:r>
              <a:rPr lang="en-US" altLang="zh-CN" sz="2800" i="1" dirty="0"/>
              <a:t>key</a:t>
            </a:r>
            <a:r>
              <a:rPr lang="en-US" altLang="zh-CN" sz="2800" dirty="0"/>
              <a:t>%13</a:t>
            </a:r>
            <a:r>
              <a:rPr lang="zh-CN" altLang="zh-CN" sz="2800" dirty="0"/>
              <a:t>，采用开放地址法的线性探测再散列方法解决冲突，试在</a:t>
            </a:r>
            <a:r>
              <a:rPr lang="en-US" altLang="zh-CN" sz="2800" dirty="0"/>
              <a:t> 0 </a:t>
            </a:r>
            <a:r>
              <a:rPr lang="zh-CN" altLang="zh-CN" sz="2800" dirty="0"/>
              <a:t>到</a:t>
            </a:r>
            <a:r>
              <a:rPr lang="en-US" altLang="zh-CN" sz="2800" dirty="0"/>
              <a:t> 18 </a:t>
            </a:r>
            <a:r>
              <a:rPr lang="zh-CN" altLang="zh-CN" sz="2800" dirty="0"/>
              <a:t>的散列地址空间中对该关键字序列构造散列表。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24384" y="4587109"/>
            <a:ext cx="9165288" cy="254690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18" name="六边形 1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7"/>
          <p:cNvSpPr/>
          <p:nvPr/>
        </p:nvSpPr>
        <p:spPr>
          <a:xfrm>
            <a:off x="2421652" y="2038221"/>
            <a:ext cx="7054775" cy="31185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  <a:alpha val="5000"/>
            </a:schemeClr>
          </a:solidFill>
          <a:ln>
            <a:solidFill>
              <a:schemeClr val="bg1"/>
            </a:solidFill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7558543" y="954064"/>
            <a:ext cx="5262302" cy="5007863"/>
            <a:chOff x="6175345" y="153244"/>
            <a:chExt cx="7792878" cy="7416082"/>
          </a:xfrm>
        </p:grpSpPr>
        <p:grpSp>
          <p:nvGrpSpPr>
            <p:cNvPr id="32" name="组合 31"/>
            <p:cNvGrpSpPr/>
            <p:nvPr/>
          </p:nvGrpSpPr>
          <p:grpSpPr>
            <a:xfrm>
              <a:off x="6175345" y="342257"/>
              <a:ext cx="7792878" cy="7227069"/>
              <a:chOff x="5983104" y="1708488"/>
              <a:chExt cx="4080721" cy="3784437"/>
            </a:xfrm>
          </p:grpSpPr>
          <p:sp>
            <p:nvSpPr>
              <p:cNvPr id="33" name="六边形 32"/>
              <p:cNvSpPr/>
              <p:nvPr/>
            </p:nvSpPr>
            <p:spPr>
              <a:xfrm rot="5400000">
                <a:off x="5811401" y="1880191"/>
                <a:ext cx="3784437" cy="3441032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77000">
                    <a:srgbClr val="016773"/>
                  </a:gs>
                  <a:gs pos="100000">
                    <a:srgbClr val="007684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平行四边形 33"/>
              <p:cNvSpPr/>
              <p:nvPr/>
            </p:nvSpPr>
            <p:spPr>
              <a:xfrm rot="19714174">
                <a:off x="7064019" y="3212601"/>
                <a:ext cx="2999806" cy="1616793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 rot="1849986">
              <a:off x="8151150" y="153244"/>
              <a:ext cx="4944370" cy="216360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isometricTopUp">
                  <a:rot lat="19176265" lon="2388000" rev="19890000"/>
                </a:camera>
                <a:lightRig rig="threePt" dir="t"/>
              </a:scene3d>
            </a:bodyPr>
            <a:lstStyle/>
            <a:p>
              <a:pPr algn="ctr"/>
              <a:r>
                <a:rPr lang="en-US" altLang="zh-CN" sz="11500" b="1" dirty="0">
                  <a:gradFill>
                    <a:gsLst>
                      <a:gs pos="30000">
                        <a:srgbClr val="007684"/>
                      </a:gs>
                      <a:gs pos="83000">
                        <a:srgbClr val="016773"/>
                      </a:gs>
                    </a:gsLst>
                    <a:lin ang="5400000" scaled="0"/>
                  </a:gradFill>
                  <a:latin typeface="Bauhaus 93" panose="04030905020B02020C02" pitchFamily="82" charset="0"/>
                  <a:ea typeface="Segoe UI Black" panose="020B0A02040204020203" pitchFamily="34" charset="0"/>
                </a:rPr>
                <a:t>101</a:t>
              </a:r>
              <a:endParaRPr lang="zh-CN" altLang="en-US" sz="115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774000" y="4177005"/>
            <a:ext cx="4644000" cy="124808"/>
            <a:chOff x="3774000" y="4177005"/>
            <a:chExt cx="4644000" cy="124808"/>
          </a:xfrm>
        </p:grpSpPr>
        <p:pic>
          <p:nvPicPr>
            <p:cNvPr id="24" name="图片 23"/>
            <p:cNvPicPr>
              <a:picLocks noChangeAspect="1" noChangeArrowheads="1"/>
            </p:cNvPicPr>
            <p:nvPr/>
          </p:nvPicPr>
          <p:blipFill>
            <a:blip r:embed="rId6">
              <a:biLevel thresh="5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19" t="22713" r="2956" b="25211"/>
            <a:stretch>
              <a:fillRect/>
            </a:stretch>
          </p:blipFill>
          <p:spPr bwMode="auto">
            <a:xfrm rot="5400000">
              <a:off x="6033596" y="1917409"/>
              <a:ext cx="124808" cy="46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</p:pic>
        <p:cxnSp>
          <p:nvCxnSpPr>
            <p:cNvPr id="25" name="直接连接符 24"/>
            <p:cNvCxnSpPr/>
            <p:nvPr/>
          </p:nvCxnSpPr>
          <p:spPr>
            <a:xfrm>
              <a:off x="3936000" y="4177005"/>
              <a:ext cx="4320000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69000">
                    <a:schemeClr val="bg1"/>
                  </a:gs>
                  <a:gs pos="100000">
                    <a:schemeClr val="bg1">
                      <a:alpha val="0"/>
                    </a:schemeClr>
                  </a:gs>
                  <a:gs pos="40000">
                    <a:schemeClr val="bg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890173" y="4315438"/>
            <a:ext cx="2268815" cy="2101347"/>
            <a:chOff x="6175344" y="342254"/>
            <a:chExt cx="7803037" cy="7227071"/>
          </a:xfrm>
        </p:grpSpPr>
        <p:sp>
          <p:nvSpPr>
            <p:cNvPr id="6" name="六边形 5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4548" y="5375868"/>
            <a:ext cx="1123874" cy="1040917"/>
            <a:chOff x="6175344" y="342254"/>
            <a:chExt cx="7803037" cy="7227071"/>
          </a:xfrm>
        </p:grpSpPr>
        <p:sp>
          <p:nvSpPr>
            <p:cNvPr id="12" name="六边形 1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09077" y="4985964"/>
            <a:ext cx="1077639" cy="994687"/>
            <a:chOff x="6175344" y="342254"/>
            <a:chExt cx="7829785" cy="7227071"/>
          </a:xfrm>
        </p:grpSpPr>
        <p:sp>
          <p:nvSpPr>
            <p:cNvPr id="45" name="六边形 4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453603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307690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48718" y="2830973"/>
            <a:ext cx="766167" cy="1054879"/>
          </a:xfrm>
          <a:custGeom>
            <a:avLst/>
            <a:gdLst/>
            <a:ahLst/>
            <a:cxnLst/>
            <a:rect l="l" t="t" r="r" b="b"/>
            <a:pathLst>
              <a:path w="766167" h="1054879">
                <a:moveTo>
                  <a:pt x="478854" y="261193"/>
                </a:moveTo>
                <a:lnTo>
                  <a:pt x="578978" y="261193"/>
                </a:lnTo>
                <a:lnTo>
                  <a:pt x="578978" y="470148"/>
                </a:lnTo>
                <a:cubicBezTo>
                  <a:pt x="578978" y="548506"/>
                  <a:pt x="570272" y="619608"/>
                  <a:pt x="552859" y="683456"/>
                </a:cubicBezTo>
                <a:lnTo>
                  <a:pt x="635570" y="683456"/>
                </a:lnTo>
                <a:lnTo>
                  <a:pt x="635570" y="914177"/>
                </a:lnTo>
                <a:cubicBezTo>
                  <a:pt x="635570" y="922883"/>
                  <a:pt x="638472" y="927236"/>
                  <a:pt x="644277" y="927236"/>
                </a:cubicBezTo>
                <a:cubicBezTo>
                  <a:pt x="650081" y="927236"/>
                  <a:pt x="655885" y="924334"/>
                  <a:pt x="661690" y="918530"/>
                </a:cubicBezTo>
                <a:cubicBezTo>
                  <a:pt x="687809" y="874998"/>
                  <a:pt x="712477" y="824210"/>
                  <a:pt x="735694" y="766167"/>
                </a:cubicBezTo>
                <a:lnTo>
                  <a:pt x="748754" y="770520"/>
                </a:lnTo>
                <a:cubicBezTo>
                  <a:pt x="716830" y="854682"/>
                  <a:pt x="718281" y="908372"/>
                  <a:pt x="753107" y="931589"/>
                </a:cubicBezTo>
                <a:cubicBezTo>
                  <a:pt x="761814" y="937394"/>
                  <a:pt x="764716" y="941747"/>
                  <a:pt x="761814" y="944649"/>
                </a:cubicBezTo>
                <a:cubicBezTo>
                  <a:pt x="735694" y="1020105"/>
                  <a:pt x="690711" y="1056382"/>
                  <a:pt x="626864" y="1053480"/>
                </a:cubicBezTo>
                <a:cubicBezTo>
                  <a:pt x="539799" y="1062186"/>
                  <a:pt x="499169" y="1030262"/>
                  <a:pt x="504973" y="957709"/>
                </a:cubicBezTo>
                <a:lnTo>
                  <a:pt x="504973" y="792286"/>
                </a:lnTo>
                <a:cubicBezTo>
                  <a:pt x="458539" y="885155"/>
                  <a:pt x="358415" y="972220"/>
                  <a:pt x="204601" y="1053480"/>
                </a:cubicBezTo>
                <a:lnTo>
                  <a:pt x="200248" y="1040420"/>
                </a:lnTo>
                <a:cubicBezTo>
                  <a:pt x="385985" y="895313"/>
                  <a:pt x="478854" y="705222"/>
                  <a:pt x="478854" y="470148"/>
                </a:cubicBezTo>
                <a:close/>
                <a:moveTo>
                  <a:pt x="644277" y="0"/>
                </a:moveTo>
                <a:lnTo>
                  <a:pt x="766167" y="47885"/>
                </a:lnTo>
                <a:lnTo>
                  <a:pt x="726988" y="100124"/>
                </a:lnTo>
                <a:lnTo>
                  <a:pt x="726988" y="626864"/>
                </a:lnTo>
                <a:lnTo>
                  <a:pt x="605098" y="626864"/>
                </a:lnTo>
                <a:lnTo>
                  <a:pt x="605098" y="134950"/>
                </a:lnTo>
                <a:lnTo>
                  <a:pt x="452735" y="134950"/>
                </a:lnTo>
                <a:lnTo>
                  <a:pt x="452735" y="622511"/>
                </a:lnTo>
                <a:lnTo>
                  <a:pt x="335198" y="622511"/>
                </a:lnTo>
                <a:lnTo>
                  <a:pt x="330845" y="626864"/>
                </a:lnTo>
                <a:lnTo>
                  <a:pt x="330845" y="69651"/>
                </a:lnTo>
                <a:lnTo>
                  <a:pt x="300372" y="117537"/>
                </a:lnTo>
                <a:cubicBezTo>
                  <a:pt x="300372" y="280057"/>
                  <a:pt x="284410" y="415007"/>
                  <a:pt x="252487" y="522386"/>
                </a:cubicBezTo>
                <a:cubicBezTo>
                  <a:pt x="301823" y="618157"/>
                  <a:pt x="327942" y="703771"/>
                  <a:pt x="330845" y="779227"/>
                </a:cubicBezTo>
                <a:cubicBezTo>
                  <a:pt x="330845" y="837270"/>
                  <a:pt x="314883" y="872095"/>
                  <a:pt x="282959" y="883704"/>
                </a:cubicBezTo>
                <a:cubicBezTo>
                  <a:pt x="242329" y="889508"/>
                  <a:pt x="217661" y="866291"/>
                  <a:pt x="208954" y="814052"/>
                </a:cubicBezTo>
                <a:cubicBezTo>
                  <a:pt x="203150" y="767618"/>
                  <a:pt x="197346" y="726988"/>
                  <a:pt x="191541" y="692162"/>
                </a:cubicBezTo>
                <a:cubicBezTo>
                  <a:pt x="142205" y="790835"/>
                  <a:pt x="81260" y="869193"/>
                  <a:pt x="8706" y="927236"/>
                </a:cubicBezTo>
                <a:lnTo>
                  <a:pt x="0" y="922883"/>
                </a:lnTo>
                <a:cubicBezTo>
                  <a:pt x="63847" y="812601"/>
                  <a:pt x="111732" y="679102"/>
                  <a:pt x="143656" y="522386"/>
                </a:cubicBezTo>
                <a:cubicBezTo>
                  <a:pt x="120439" y="444028"/>
                  <a:pt x="87064" y="351160"/>
                  <a:pt x="43532" y="243780"/>
                </a:cubicBezTo>
                <a:cubicBezTo>
                  <a:pt x="40630" y="235074"/>
                  <a:pt x="37728" y="229269"/>
                  <a:pt x="34826" y="226367"/>
                </a:cubicBezTo>
                <a:lnTo>
                  <a:pt x="43532" y="217661"/>
                </a:lnTo>
                <a:cubicBezTo>
                  <a:pt x="84162" y="261193"/>
                  <a:pt x="126243" y="316334"/>
                  <a:pt x="169775" y="383083"/>
                </a:cubicBezTo>
                <a:cubicBezTo>
                  <a:pt x="181384" y="296019"/>
                  <a:pt x="187188" y="216210"/>
                  <a:pt x="187188" y="143656"/>
                </a:cubicBezTo>
                <a:lnTo>
                  <a:pt x="17413" y="143656"/>
                </a:lnTo>
                <a:lnTo>
                  <a:pt x="17413" y="65298"/>
                </a:lnTo>
                <a:lnTo>
                  <a:pt x="187188" y="65298"/>
                </a:lnTo>
                <a:lnTo>
                  <a:pt x="226367" y="13059"/>
                </a:lnTo>
                <a:lnTo>
                  <a:pt x="330845" y="56592"/>
                </a:lnTo>
                <a:lnTo>
                  <a:pt x="330845" y="8706"/>
                </a:lnTo>
                <a:lnTo>
                  <a:pt x="452735" y="8706"/>
                </a:lnTo>
                <a:lnTo>
                  <a:pt x="452735" y="56592"/>
                </a:lnTo>
                <a:lnTo>
                  <a:pt x="600744" y="56592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11511" y="2830973"/>
            <a:ext cx="757461" cy="1057833"/>
          </a:xfrm>
          <a:custGeom>
            <a:avLst/>
            <a:gdLst/>
            <a:ahLst/>
            <a:cxnLst/>
            <a:rect l="l" t="t" r="r" b="b"/>
            <a:pathLst>
              <a:path w="757461" h="1057833">
                <a:moveTo>
                  <a:pt x="252487" y="892410"/>
                </a:moveTo>
                <a:lnTo>
                  <a:pt x="252487" y="940296"/>
                </a:lnTo>
                <a:lnTo>
                  <a:pt x="531093" y="940296"/>
                </a:lnTo>
                <a:lnTo>
                  <a:pt x="531093" y="892410"/>
                </a:lnTo>
                <a:close/>
                <a:moveTo>
                  <a:pt x="252487" y="761814"/>
                </a:moveTo>
                <a:lnTo>
                  <a:pt x="252487" y="818406"/>
                </a:lnTo>
                <a:lnTo>
                  <a:pt x="531093" y="818406"/>
                </a:lnTo>
                <a:lnTo>
                  <a:pt x="531093" y="761814"/>
                </a:lnTo>
                <a:close/>
                <a:moveTo>
                  <a:pt x="252487" y="635570"/>
                </a:moveTo>
                <a:lnTo>
                  <a:pt x="252487" y="692162"/>
                </a:lnTo>
                <a:lnTo>
                  <a:pt x="531093" y="692162"/>
                </a:lnTo>
                <a:lnTo>
                  <a:pt x="531093" y="635570"/>
                </a:lnTo>
                <a:close/>
                <a:moveTo>
                  <a:pt x="565919" y="0"/>
                </a:moveTo>
                <a:lnTo>
                  <a:pt x="687809" y="100124"/>
                </a:lnTo>
                <a:cubicBezTo>
                  <a:pt x="609451" y="123341"/>
                  <a:pt x="525289" y="136401"/>
                  <a:pt x="435322" y="139303"/>
                </a:cubicBezTo>
                <a:cubicBezTo>
                  <a:pt x="435322" y="145107"/>
                  <a:pt x="433871" y="155265"/>
                  <a:pt x="430969" y="169775"/>
                </a:cubicBezTo>
                <a:cubicBezTo>
                  <a:pt x="428067" y="187188"/>
                  <a:pt x="425165" y="198797"/>
                  <a:pt x="422263" y="204601"/>
                </a:cubicBezTo>
                <a:lnTo>
                  <a:pt x="692163" y="204601"/>
                </a:lnTo>
                <a:lnTo>
                  <a:pt x="692163" y="282959"/>
                </a:lnTo>
                <a:lnTo>
                  <a:pt x="400497" y="282959"/>
                </a:lnTo>
                <a:cubicBezTo>
                  <a:pt x="397594" y="291666"/>
                  <a:pt x="391790" y="306176"/>
                  <a:pt x="383084" y="326491"/>
                </a:cubicBezTo>
                <a:cubicBezTo>
                  <a:pt x="374377" y="349709"/>
                  <a:pt x="368573" y="365670"/>
                  <a:pt x="365671" y="374377"/>
                </a:cubicBezTo>
                <a:lnTo>
                  <a:pt x="757461" y="374377"/>
                </a:lnTo>
                <a:lnTo>
                  <a:pt x="757461" y="448382"/>
                </a:lnTo>
                <a:lnTo>
                  <a:pt x="326492" y="448382"/>
                </a:lnTo>
                <a:cubicBezTo>
                  <a:pt x="300372" y="489012"/>
                  <a:pt x="271351" y="526740"/>
                  <a:pt x="239427" y="561565"/>
                </a:cubicBezTo>
                <a:lnTo>
                  <a:pt x="522387" y="561565"/>
                </a:lnTo>
                <a:lnTo>
                  <a:pt x="557213" y="509327"/>
                </a:lnTo>
                <a:lnTo>
                  <a:pt x="692163" y="548506"/>
                </a:lnTo>
                <a:lnTo>
                  <a:pt x="657337" y="600744"/>
                </a:lnTo>
                <a:lnTo>
                  <a:pt x="657337" y="1057833"/>
                </a:lnTo>
                <a:lnTo>
                  <a:pt x="531093" y="1057833"/>
                </a:lnTo>
                <a:lnTo>
                  <a:pt x="531093" y="1009947"/>
                </a:lnTo>
                <a:lnTo>
                  <a:pt x="252487" y="1009947"/>
                </a:lnTo>
                <a:lnTo>
                  <a:pt x="252487" y="1057833"/>
                </a:lnTo>
                <a:lnTo>
                  <a:pt x="126244" y="1057833"/>
                </a:lnTo>
                <a:lnTo>
                  <a:pt x="126244" y="661690"/>
                </a:lnTo>
                <a:cubicBezTo>
                  <a:pt x="120439" y="664592"/>
                  <a:pt x="110282" y="670396"/>
                  <a:pt x="95771" y="679102"/>
                </a:cubicBezTo>
                <a:cubicBezTo>
                  <a:pt x="63847" y="699418"/>
                  <a:pt x="33375" y="716830"/>
                  <a:pt x="4353" y="731341"/>
                </a:cubicBezTo>
                <a:lnTo>
                  <a:pt x="0" y="722635"/>
                </a:lnTo>
                <a:cubicBezTo>
                  <a:pt x="84162" y="635570"/>
                  <a:pt x="149461" y="544153"/>
                  <a:pt x="195895" y="448382"/>
                </a:cubicBezTo>
                <a:lnTo>
                  <a:pt x="8707" y="448382"/>
                </a:lnTo>
                <a:lnTo>
                  <a:pt x="8707" y="374377"/>
                </a:lnTo>
                <a:lnTo>
                  <a:pt x="230721" y="374377"/>
                </a:lnTo>
                <a:cubicBezTo>
                  <a:pt x="242330" y="342453"/>
                  <a:pt x="253938" y="311981"/>
                  <a:pt x="265547" y="282959"/>
                </a:cubicBezTo>
                <a:lnTo>
                  <a:pt x="74005" y="282959"/>
                </a:lnTo>
                <a:lnTo>
                  <a:pt x="74005" y="204601"/>
                </a:lnTo>
                <a:lnTo>
                  <a:pt x="287313" y="204601"/>
                </a:lnTo>
                <a:cubicBezTo>
                  <a:pt x="287313" y="198797"/>
                  <a:pt x="290215" y="184286"/>
                  <a:pt x="296019" y="161069"/>
                </a:cubicBezTo>
                <a:cubicBezTo>
                  <a:pt x="298921" y="152363"/>
                  <a:pt x="300372" y="145107"/>
                  <a:pt x="300372" y="139303"/>
                </a:cubicBezTo>
                <a:cubicBezTo>
                  <a:pt x="236525" y="136401"/>
                  <a:pt x="153814" y="124792"/>
                  <a:pt x="52239" y="104477"/>
                </a:cubicBezTo>
                <a:lnTo>
                  <a:pt x="52239" y="91417"/>
                </a:lnTo>
                <a:cubicBezTo>
                  <a:pt x="240878" y="82711"/>
                  <a:pt x="412105" y="52238"/>
                  <a:pt x="565919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U4YmNlNWMwMjlhM2UyZmExYjU5ZGZkYjU0MmU2OG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5385</Words>
  <Application>Microsoft Macintosh PowerPoint</Application>
  <PresentationFormat>宽屏</PresentationFormat>
  <Paragraphs>805</Paragraphs>
  <Slides>60</Slides>
  <Notes>55</Notes>
  <HiddenSlides>11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60</vt:i4>
      </vt:variant>
    </vt:vector>
  </HeadingPairs>
  <TitlesOfParts>
    <vt:vector size="79" baseType="lpstr">
      <vt:lpstr>方正美黑简体</vt:lpstr>
      <vt:lpstr>方正颜宋简体_中</vt:lpstr>
      <vt:lpstr>华文中宋</vt:lpstr>
      <vt:lpstr>宋体</vt:lpstr>
      <vt:lpstr>微软雅黑</vt:lpstr>
      <vt:lpstr>Bauhaus 93</vt:lpstr>
      <vt:lpstr>Arial</vt:lpstr>
      <vt:lpstr>Calibri</vt:lpstr>
      <vt:lpstr>Calibri Light</vt:lpstr>
      <vt:lpstr>Cambria Math</vt:lpstr>
      <vt:lpstr>Tahoma</vt:lpstr>
      <vt:lpstr>Times New Roman</vt:lpstr>
      <vt:lpstr>Verdana</vt:lpstr>
      <vt:lpstr>Wingdings</vt:lpstr>
      <vt:lpstr>Office 主题</vt:lpstr>
      <vt:lpstr>Visio</vt:lpstr>
      <vt:lpstr>文档</vt:lpstr>
      <vt:lpstr>公式</vt:lpstr>
      <vt:lpstr>Equation</vt:lpstr>
      <vt:lpstr>PowerPoint 演示文稿</vt:lpstr>
      <vt:lpstr>PowerPoint 演示文稿</vt:lpstr>
      <vt:lpstr>PowerPoint 演示文稿</vt:lpstr>
      <vt:lpstr>11.4.1散列函数</vt:lpstr>
      <vt:lpstr>11.4.1散列函数</vt:lpstr>
      <vt:lpstr>11.4.1散列函数</vt:lpstr>
      <vt:lpstr>11.4.1散列函数</vt:lpstr>
      <vt:lpstr>11.4.1散列函数</vt:lpstr>
      <vt:lpstr>11.4.1散列函数</vt:lpstr>
      <vt:lpstr>11.4.1散列函数</vt:lpstr>
      <vt:lpstr>11.4.1散列函数</vt:lpstr>
      <vt:lpstr>PowerPoint 演示文稿</vt:lpstr>
      <vt:lpstr>散列函数</vt:lpstr>
      <vt:lpstr>散列函数</vt:lpstr>
      <vt:lpstr>散列函数</vt:lpstr>
      <vt:lpstr>散列函数</vt:lpstr>
      <vt:lpstr>散列函数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应用：HashMap (JDK1.8)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  查找性能分析</vt:lpstr>
      <vt:lpstr>11.4.4 查找性能分析</vt:lpstr>
      <vt:lpstr>11.4.4   查找性能分析</vt:lpstr>
      <vt:lpstr>11.4.4   查找性能分析</vt:lpstr>
      <vt:lpstr>11.4.4   查找性能分析</vt:lpstr>
      <vt:lpstr>11.4.5分布式散列表</vt:lpstr>
      <vt:lpstr>11.4.6  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lijia@cqu.edu.cn</cp:lastModifiedBy>
  <cp:revision>308</cp:revision>
  <dcterms:created xsi:type="dcterms:W3CDTF">2023-07-28T08:56:00Z</dcterms:created>
  <dcterms:modified xsi:type="dcterms:W3CDTF">2023-12-04T04:05:21Z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E456A48CC34F4B5B84FF1D304CE39A82_13</vt:lpwstr>
  </property>
  <property fmtid="{D5CDD505-2E9C-101B-9397-08002B2CF9AE}" pid="3" name="KSOProductBuildVer">
    <vt:lpwstr>2052-12.1.0.15120</vt:lpwstr>
  </property>
</Properties>
</file>