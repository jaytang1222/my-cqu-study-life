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7.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7"/>
  </p:notesMasterIdLst>
  <p:handoutMasterIdLst>
    <p:handoutMasterId r:id="rId138"/>
  </p:handoutMasterIdLst>
  <p:sldIdLst>
    <p:sldId id="256" r:id="rId2"/>
    <p:sldId id="257" r:id="rId3"/>
    <p:sldId id="258" r:id="rId4"/>
    <p:sldId id="309" r:id="rId5"/>
    <p:sldId id="688" r:id="rId6"/>
    <p:sldId id="687" r:id="rId7"/>
    <p:sldId id="689" r:id="rId8"/>
    <p:sldId id="940" r:id="rId9"/>
    <p:sldId id="691" r:id="rId10"/>
    <p:sldId id="1066" r:id="rId11"/>
    <p:sldId id="943" r:id="rId12"/>
    <p:sldId id="531" r:id="rId13"/>
    <p:sldId id="944" r:id="rId14"/>
    <p:sldId id="1068" r:id="rId15"/>
    <p:sldId id="1067" r:id="rId16"/>
    <p:sldId id="1069" r:id="rId17"/>
    <p:sldId id="609" r:id="rId18"/>
    <p:sldId id="1070" r:id="rId19"/>
    <p:sldId id="945" r:id="rId20"/>
    <p:sldId id="692" r:id="rId21"/>
    <p:sldId id="1071" r:id="rId22"/>
    <p:sldId id="1072" r:id="rId23"/>
    <p:sldId id="1073" r:id="rId24"/>
    <p:sldId id="693" r:id="rId25"/>
    <p:sldId id="694" r:id="rId26"/>
    <p:sldId id="698" r:id="rId27"/>
    <p:sldId id="700" r:id="rId28"/>
    <p:sldId id="701" r:id="rId29"/>
    <p:sldId id="702" r:id="rId30"/>
    <p:sldId id="1015" r:id="rId31"/>
    <p:sldId id="705" r:id="rId32"/>
    <p:sldId id="707" r:id="rId33"/>
    <p:sldId id="708" r:id="rId34"/>
    <p:sldId id="709" r:id="rId35"/>
    <p:sldId id="710" r:id="rId36"/>
    <p:sldId id="711" r:id="rId37"/>
    <p:sldId id="1016" r:id="rId38"/>
    <p:sldId id="946" r:id="rId39"/>
    <p:sldId id="947" r:id="rId40"/>
    <p:sldId id="948" r:id="rId41"/>
    <p:sldId id="949" r:id="rId42"/>
    <p:sldId id="950" r:id="rId43"/>
    <p:sldId id="1012" r:id="rId44"/>
    <p:sldId id="951" r:id="rId45"/>
    <p:sldId id="952" r:id="rId46"/>
    <p:sldId id="1074" r:id="rId47"/>
    <p:sldId id="1076" r:id="rId48"/>
    <p:sldId id="959" r:id="rId49"/>
    <p:sldId id="1077" r:id="rId50"/>
    <p:sldId id="1078" r:id="rId51"/>
    <p:sldId id="1079" r:id="rId52"/>
    <p:sldId id="1080" r:id="rId53"/>
    <p:sldId id="953" r:id="rId54"/>
    <p:sldId id="1103" r:id="rId55"/>
    <p:sldId id="956" r:id="rId56"/>
    <p:sldId id="957" r:id="rId57"/>
    <p:sldId id="960" r:id="rId58"/>
    <p:sldId id="961" r:id="rId59"/>
    <p:sldId id="962" r:id="rId60"/>
    <p:sldId id="1011" r:id="rId61"/>
    <p:sldId id="1059" r:id="rId62"/>
    <p:sldId id="964" r:id="rId63"/>
    <p:sldId id="1081" r:id="rId64"/>
    <p:sldId id="1010" r:id="rId65"/>
    <p:sldId id="1100" r:id="rId66"/>
    <p:sldId id="1102" r:id="rId67"/>
    <p:sldId id="1101" r:id="rId68"/>
    <p:sldId id="966" r:id="rId69"/>
    <p:sldId id="1009" r:id="rId70"/>
    <p:sldId id="1020" r:id="rId71"/>
    <p:sldId id="1082" r:id="rId72"/>
    <p:sldId id="1084" r:id="rId73"/>
    <p:sldId id="1083" r:id="rId74"/>
    <p:sldId id="1085" r:id="rId75"/>
    <p:sldId id="1086" r:id="rId76"/>
    <p:sldId id="1087" r:id="rId77"/>
    <p:sldId id="1088" r:id="rId78"/>
    <p:sldId id="1021" r:id="rId79"/>
    <p:sldId id="1022" r:id="rId80"/>
    <p:sldId id="1023" r:id="rId81"/>
    <p:sldId id="1024" r:id="rId82"/>
    <p:sldId id="1025" r:id="rId83"/>
    <p:sldId id="1026" r:id="rId84"/>
    <p:sldId id="1027" r:id="rId85"/>
    <p:sldId id="1028" r:id="rId86"/>
    <p:sldId id="1029" r:id="rId87"/>
    <p:sldId id="721" r:id="rId88"/>
    <p:sldId id="1034" r:id="rId89"/>
    <p:sldId id="1035" r:id="rId90"/>
    <p:sldId id="1036" r:id="rId91"/>
    <p:sldId id="1037" r:id="rId92"/>
    <p:sldId id="1089" r:id="rId93"/>
    <p:sldId id="1090" r:id="rId94"/>
    <p:sldId id="1091" r:id="rId95"/>
    <p:sldId id="1038" r:id="rId96"/>
    <p:sldId id="1104" r:id="rId97"/>
    <p:sldId id="1107" r:id="rId98"/>
    <p:sldId id="1108" r:id="rId99"/>
    <p:sldId id="1109" r:id="rId100"/>
    <p:sldId id="1110" r:id="rId101"/>
    <p:sldId id="1111" r:id="rId102"/>
    <p:sldId id="1040" r:id="rId103"/>
    <p:sldId id="1041" r:id="rId104"/>
    <p:sldId id="1042" r:id="rId105"/>
    <p:sldId id="1043" r:id="rId106"/>
    <p:sldId id="1044" r:id="rId107"/>
    <p:sldId id="1045" r:id="rId108"/>
    <p:sldId id="1049" r:id="rId109"/>
    <p:sldId id="1050" r:id="rId110"/>
    <p:sldId id="1051" r:id="rId111"/>
    <p:sldId id="1052" r:id="rId112"/>
    <p:sldId id="1053" r:id="rId113"/>
    <p:sldId id="1055" r:id="rId114"/>
    <p:sldId id="1056" r:id="rId115"/>
    <p:sldId id="1057" r:id="rId116"/>
    <p:sldId id="1058" r:id="rId117"/>
    <p:sldId id="917" r:id="rId118"/>
    <p:sldId id="965" r:id="rId119"/>
    <p:sldId id="1092" r:id="rId120"/>
    <p:sldId id="1093" r:id="rId121"/>
    <p:sldId id="1094" r:id="rId122"/>
    <p:sldId id="1095" r:id="rId123"/>
    <p:sldId id="264" r:id="rId124"/>
    <p:sldId id="265" r:id="rId125"/>
    <p:sldId id="1096" r:id="rId126"/>
    <p:sldId id="1097" r:id="rId127"/>
    <p:sldId id="1098" r:id="rId128"/>
    <p:sldId id="1060" r:id="rId129"/>
    <p:sldId id="1062" r:id="rId130"/>
    <p:sldId id="1061" r:id="rId131"/>
    <p:sldId id="1065" r:id="rId132"/>
    <p:sldId id="1063" r:id="rId133"/>
    <p:sldId id="1064" r:id="rId134"/>
    <p:sldId id="331" r:id="rId135"/>
    <p:sldId id="270" r:id="rId1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51ADB7"/>
    <a:srgbClr val="0033CC"/>
    <a:srgbClr val="FF9933"/>
    <a:srgbClr val="FF6600"/>
    <a:srgbClr val="FF7C80"/>
    <a:srgbClr val="FF3399"/>
    <a:srgbClr val="FF33CC"/>
    <a:srgbClr val="C1E2E5"/>
    <a:srgbClr val="7DC2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7" autoAdjust="0"/>
    <p:restoredTop sz="88209" autoAdjust="0"/>
  </p:normalViewPr>
  <p:slideViewPr>
    <p:cSldViewPr snapToGrid="0">
      <p:cViewPr varScale="1">
        <p:scale>
          <a:sx n="112" d="100"/>
          <a:sy n="112" d="100"/>
        </p:scale>
        <p:origin x="102" y="312"/>
      </p:cViewPr>
      <p:guideLst/>
    </p:cSldViewPr>
  </p:slideViewPr>
  <p:notesTextViewPr>
    <p:cViewPr>
      <p:scale>
        <a:sx n="1" d="1"/>
        <a:sy n="1" d="1"/>
      </p:scale>
      <p:origin x="0" y="0"/>
    </p:cViewPr>
  </p:notesTextViewPr>
  <p:sorterViewPr>
    <p:cViewPr>
      <p:scale>
        <a:sx n="100" d="100"/>
        <a:sy n="100" d="100"/>
      </p:scale>
      <p:origin x="0" y="-41010"/>
    </p:cViewPr>
  </p:sorterViewPr>
  <p:notesViewPr>
    <p:cSldViewPr snapToGrid="0">
      <p:cViewPr varScale="1">
        <p:scale>
          <a:sx n="67" d="100"/>
          <a:sy n="67" d="100"/>
        </p:scale>
        <p:origin x="2400" y="7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7FE23-F5A8-42E9-9888-C3A84DB64DCA}" type="datetimeFigureOut">
              <a:rPr lang="zh-CN" altLang="en-US" smtClean="0"/>
              <a:t>2025/10/10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E0775B-E8BF-40E3-8D21-20EEF706AAF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2025/10/10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EADD95B7-26E2-4C14-BF94-E6252C1D2764}"/>
              </a:ext>
            </a:extLst>
          </p:cNvPr>
          <p:cNvSpPr>
            <a:spLocks noGrp="1" noRot="1" noChangeAspect="1" noChangeArrowheads="1" noTextEdit="1"/>
          </p:cNvSpPr>
          <p:nvPr>
            <p:ph type="sldImg"/>
          </p:nvPr>
        </p:nvSpPr>
        <p:spPr>
          <a:ln/>
        </p:spPr>
      </p:sp>
      <p:sp>
        <p:nvSpPr>
          <p:cNvPr id="19458" name="备注占位符 2">
            <a:extLst>
              <a:ext uri="{FF2B5EF4-FFF2-40B4-BE49-F238E27FC236}">
                <a16:creationId xmlns:a16="http://schemas.microsoft.com/office/drawing/2014/main" id="{4E8BAF10-50D0-4E93-B558-788FDE535A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桶装薯片，（手枪）子弹夹，网页返回</a:t>
            </a:r>
            <a:endParaRPr lang="en-US" altLang="zh-CN">
              <a:latin typeface="Arial" panose="020B0604020202020204" pitchFamily="34" charset="0"/>
            </a:endParaRPr>
          </a:p>
          <a:p>
            <a:r>
              <a:rPr lang="zh-CN" altLang="en-US">
                <a:latin typeface="Arial" panose="020B0604020202020204" pitchFamily="34" charset="0"/>
              </a:rPr>
              <a:t>如何判断一个字符串是否回文？</a:t>
            </a:r>
            <a:endParaRPr lang="en-US" altLang="zh-CN">
              <a:latin typeface="Arial" panose="020B0604020202020204" pitchFamily="34" charset="0"/>
            </a:endParaRPr>
          </a:p>
          <a:p>
            <a:endParaRPr lang="zh-CN" altLang="en-US">
              <a:latin typeface="Arial" panose="020B0604020202020204" pitchFamily="34" charset="0"/>
            </a:endParaRPr>
          </a:p>
        </p:txBody>
      </p:sp>
      <p:sp>
        <p:nvSpPr>
          <p:cNvPr id="19459" name="灯片编号占位符 3">
            <a:extLst>
              <a:ext uri="{FF2B5EF4-FFF2-40B4-BE49-F238E27FC236}">
                <a16:creationId xmlns:a16="http://schemas.microsoft.com/office/drawing/2014/main" id="{14E4848C-8786-400D-9688-3402B461F1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BD60FD2-1D79-438B-8F88-A02A8197104E}" type="slidenum">
              <a:rPr kumimoji="0" lang="en-US" altLang="zh-CN"/>
              <a:pPr>
                <a:spcBef>
                  <a:spcPct val="0"/>
                </a:spcBef>
              </a:pPr>
              <a:t>7</a:t>
            </a:fld>
            <a:endParaRPr kumimoji="0"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EADD95B7-26E2-4C14-BF94-E6252C1D2764}"/>
              </a:ext>
            </a:extLst>
          </p:cNvPr>
          <p:cNvSpPr>
            <a:spLocks noGrp="1" noRot="1" noChangeAspect="1" noChangeArrowheads="1" noTextEdit="1"/>
          </p:cNvSpPr>
          <p:nvPr>
            <p:ph type="sldImg"/>
          </p:nvPr>
        </p:nvSpPr>
        <p:spPr>
          <a:ln/>
        </p:spPr>
      </p:sp>
      <p:sp>
        <p:nvSpPr>
          <p:cNvPr id="19458" name="备注占位符 2">
            <a:extLst>
              <a:ext uri="{FF2B5EF4-FFF2-40B4-BE49-F238E27FC236}">
                <a16:creationId xmlns:a16="http://schemas.microsoft.com/office/drawing/2014/main" id="{4E8BAF10-50D0-4E93-B558-788FDE535A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桶装薯片，（手枪）子弹夹，网页返回</a:t>
            </a:r>
            <a:endParaRPr lang="en-US" altLang="zh-CN">
              <a:latin typeface="Arial" panose="020B0604020202020204" pitchFamily="34" charset="0"/>
            </a:endParaRPr>
          </a:p>
          <a:p>
            <a:r>
              <a:rPr lang="zh-CN" altLang="en-US">
                <a:latin typeface="Arial" panose="020B0604020202020204" pitchFamily="34" charset="0"/>
              </a:rPr>
              <a:t>如何判断一个字符串是否回文？</a:t>
            </a:r>
            <a:endParaRPr lang="en-US" altLang="zh-CN">
              <a:latin typeface="Arial" panose="020B0604020202020204" pitchFamily="34" charset="0"/>
            </a:endParaRPr>
          </a:p>
          <a:p>
            <a:endParaRPr lang="zh-CN" altLang="en-US">
              <a:latin typeface="Arial" panose="020B0604020202020204" pitchFamily="34" charset="0"/>
            </a:endParaRPr>
          </a:p>
        </p:txBody>
      </p:sp>
      <p:sp>
        <p:nvSpPr>
          <p:cNvPr id="19459" name="灯片编号占位符 3">
            <a:extLst>
              <a:ext uri="{FF2B5EF4-FFF2-40B4-BE49-F238E27FC236}">
                <a16:creationId xmlns:a16="http://schemas.microsoft.com/office/drawing/2014/main" id="{14E4848C-8786-400D-9688-3402B461F1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BD60FD2-1D79-438B-8F88-A02A8197104E}" type="slidenum">
              <a:rPr kumimoji="0" lang="en-US" altLang="zh-CN"/>
              <a:pPr>
                <a:spcBef>
                  <a:spcPct val="0"/>
                </a:spcBef>
              </a:pPr>
              <a:t>10</a:t>
            </a:fld>
            <a:endParaRPr kumimoji="0" lang="en-US" altLang="zh-CN"/>
          </a:p>
        </p:txBody>
      </p:sp>
    </p:spTree>
    <p:extLst>
      <p:ext uri="{BB962C8B-B14F-4D97-AF65-F5344CB8AC3E}">
        <p14:creationId xmlns:p14="http://schemas.microsoft.com/office/powerpoint/2010/main" val="1820381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C1AEBA42-7257-49EA-B9B4-27F918BA8BA6}"/>
              </a:ext>
            </a:extLst>
          </p:cNvPr>
          <p:cNvSpPr>
            <a:spLocks noGrp="1" noRot="1" noChangeAspect="1" noChangeArrowheads="1" noTextEdit="1"/>
          </p:cNvSpPr>
          <p:nvPr>
            <p:ph type="sldImg"/>
          </p:nvPr>
        </p:nvSpPr>
        <p:spPr>
          <a:ln/>
        </p:spPr>
      </p:sp>
      <p:sp>
        <p:nvSpPr>
          <p:cNvPr id="25602" name="备注占位符 2">
            <a:extLst>
              <a:ext uri="{FF2B5EF4-FFF2-40B4-BE49-F238E27FC236}">
                <a16:creationId xmlns:a16="http://schemas.microsoft.com/office/drawing/2014/main" id="{CCB2371F-E461-4E9F-883D-DBC44ED8C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ea typeface="MS PGothic" panose="020B0600070205080204" pitchFamily="34" charset="-128"/>
              </a:rPr>
              <a:t>设</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是最后一个出栈的，那么</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把序列一切为二；在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之前入栈的元素，一定比在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之后入栈的元素，要提前出栈。</a:t>
            </a:r>
            <a:r>
              <a:rPr lang="en-US" altLang="zh-CN">
                <a:latin typeface="Arial" panose="020B0604020202020204" pitchFamily="34" charset="0"/>
                <a:ea typeface="MS PGothic" panose="020B0600070205080204" pitchFamily="34" charset="-128"/>
              </a:rPr>
              <a:t>WHY? </a:t>
            </a:r>
          </a:p>
          <a:p>
            <a:endParaRPr lang="en-US" altLang="zh-CN">
              <a:latin typeface="Arial" panose="020B0604020202020204" pitchFamily="34" charset="0"/>
              <a:ea typeface="MS PGothic" panose="020B0600070205080204" pitchFamily="34" charset="-128"/>
            </a:endParaRPr>
          </a:p>
          <a:p>
            <a:r>
              <a:rPr lang="en-US" altLang="zh-CN">
                <a:latin typeface="Arial" panose="020B0604020202020204" pitchFamily="34" charset="0"/>
                <a:ea typeface="MS PGothic" panose="020B0600070205080204" pitchFamily="34" charset="-128"/>
              </a:rPr>
              <a:t>1423</a:t>
            </a:r>
            <a:r>
              <a:rPr lang="zh-CN" altLang="en-US">
                <a:latin typeface="Arial" panose="020B0604020202020204" pitchFamily="34" charset="0"/>
                <a:ea typeface="MS PGothic" panose="020B0600070205080204" pitchFamily="34" charset="-128"/>
              </a:rPr>
              <a:t>不行 </a:t>
            </a:r>
            <a:r>
              <a:rPr lang="en-US" altLang="zh-CN">
                <a:latin typeface="Arial" panose="020B0604020202020204" pitchFamily="34" charset="0"/>
                <a:ea typeface="MS PGothic" panose="020B0600070205080204" pitchFamily="34" charset="-128"/>
              </a:rPr>
              <a:t>why</a:t>
            </a:r>
            <a:r>
              <a:rPr lang="zh-CN" altLang="en-US">
                <a:latin typeface="Arial" panose="020B0604020202020204" pitchFamily="34" charset="0"/>
                <a:ea typeface="MS PGothic" panose="020B0600070205080204" pitchFamily="34" charset="-128"/>
              </a:rPr>
              <a:t> ？</a:t>
            </a:r>
            <a:endParaRPr lang="en-US" altLang="zh-CN">
              <a:latin typeface="Arial" panose="020B0604020202020204" pitchFamily="34" charset="0"/>
              <a:ea typeface="MS PGothic" panose="020B0600070205080204" pitchFamily="34" charset="-128"/>
            </a:endParaRPr>
          </a:p>
          <a:p>
            <a:endParaRPr lang="zh-CN" altLang="en-US">
              <a:latin typeface="Arial" panose="020B0604020202020204" pitchFamily="34" charset="0"/>
            </a:endParaRPr>
          </a:p>
        </p:txBody>
      </p:sp>
      <p:sp>
        <p:nvSpPr>
          <p:cNvPr id="25603" name="灯片编号占位符 3">
            <a:extLst>
              <a:ext uri="{FF2B5EF4-FFF2-40B4-BE49-F238E27FC236}">
                <a16:creationId xmlns:a16="http://schemas.microsoft.com/office/drawing/2014/main" id="{FD82A928-3E5C-4926-BF81-BF2821C874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E39DB9-9C78-4850-B921-F3793A419989}" type="slidenum">
              <a:rPr lang="zh-CN" altLang="en-US"/>
              <a:pPr/>
              <a:t>12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a:extLst>
              <a:ext uri="{FF2B5EF4-FFF2-40B4-BE49-F238E27FC236}">
                <a16:creationId xmlns:a16="http://schemas.microsoft.com/office/drawing/2014/main" id="{AD502B1E-D18B-4DE3-AC6E-E3FB641688F2}"/>
              </a:ext>
            </a:extLst>
          </p:cNvPr>
          <p:cNvSpPr>
            <a:spLocks noGrp="1" noRot="1" noChangeAspect="1" noChangeArrowheads="1" noTextEdit="1"/>
          </p:cNvSpPr>
          <p:nvPr>
            <p:ph type="sldImg"/>
          </p:nvPr>
        </p:nvSpPr>
        <p:spPr>
          <a:ln/>
        </p:spPr>
      </p:sp>
      <p:sp>
        <p:nvSpPr>
          <p:cNvPr id="22530" name="备注占位符 2">
            <a:extLst>
              <a:ext uri="{FF2B5EF4-FFF2-40B4-BE49-F238E27FC236}">
                <a16:creationId xmlns:a16="http://schemas.microsoft.com/office/drawing/2014/main" id="{078A6251-2167-45C8-A0A7-A3E6B727C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1" name="灯片编号占位符 3">
            <a:extLst>
              <a:ext uri="{FF2B5EF4-FFF2-40B4-BE49-F238E27FC236}">
                <a16:creationId xmlns:a16="http://schemas.microsoft.com/office/drawing/2014/main" id="{BB39C93A-0ABC-4448-B5F3-B0EF57E832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4FC13A-E2FD-4DFD-8AF5-40B0E352A315}" type="slidenum">
              <a:rPr lang="en-US" altLang="zh-CN"/>
              <a:pPr/>
              <a:t>13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C1AEBA42-7257-49EA-B9B4-27F918BA8BA6}"/>
              </a:ext>
            </a:extLst>
          </p:cNvPr>
          <p:cNvSpPr>
            <a:spLocks noGrp="1" noRot="1" noChangeAspect="1" noChangeArrowheads="1" noTextEdit="1"/>
          </p:cNvSpPr>
          <p:nvPr>
            <p:ph type="sldImg"/>
          </p:nvPr>
        </p:nvSpPr>
        <p:spPr>
          <a:ln/>
        </p:spPr>
      </p:sp>
      <p:sp>
        <p:nvSpPr>
          <p:cNvPr id="25602" name="备注占位符 2">
            <a:extLst>
              <a:ext uri="{FF2B5EF4-FFF2-40B4-BE49-F238E27FC236}">
                <a16:creationId xmlns:a16="http://schemas.microsoft.com/office/drawing/2014/main" id="{CCB2371F-E461-4E9F-883D-DBC44ED8C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ea typeface="MS PGothic" panose="020B0600070205080204" pitchFamily="34" charset="-128"/>
              </a:rPr>
              <a:t>设</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是最后一个出栈的，那么</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把序列一切为二；在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之前入栈的元素，一定比在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之后入栈的元素，要提前出栈。</a:t>
            </a:r>
            <a:r>
              <a:rPr lang="en-US" altLang="zh-CN">
                <a:latin typeface="Arial" panose="020B0604020202020204" pitchFamily="34" charset="0"/>
                <a:ea typeface="MS PGothic" panose="020B0600070205080204" pitchFamily="34" charset="-128"/>
              </a:rPr>
              <a:t>WHY? </a:t>
            </a:r>
          </a:p>
          <a:p>
            <a:endParaRPr lang="en-US" altLang="zh-CN">
              <a:latin typeface="Arial" panose="020B0604020202020204" pitchFamily="34" charset="0"/>
              <a:ea typeface="MS PGothic" panose="020B0600070205080204" pitchFamily="34" charset="-128"/>
            </a:endParaRPr>
          </a:p>
          <a:p>
            <a:r>
              <a:rPr lang="en-US" altLang="zh-CN">
                <a:latin typeface="Arial" panose="020B0604020202020204" pitchFamily="34" charset="0"/>
                <a:ea typeface="MS PGothic" panose="020B0600070205080204" pitchFamily="34" charset="-128"/>
              </a:rPr>
              <a:t>1423</a:t>
            </a:r>
            <a:r>
              <a:rPr lang="zh-CN" altLang="en-US">
                <a:latin typeface="Arial" panose="020B0604020202020204" pitchFamily="34" charset="0"/>
                <a:ea typeface="MS PGothic" panose="020B0600070205080204" pitchFamily="34" charset="-128"/>
              </a:rPr>
              <a:t>不行 </a:t>
            </a:r>
            <a:r>
              <a:rPr lang="en-US" altLang="zh-CN">
                <a:latin typeface="Arial" panose="020B0604020202020204" pitchFamily="34" charset="0"/>
                <a:ea typeface="MS PGothic" panose="020B0600070205080204" pitchFamily="34" charset="-128"/>
              </a:rPr>
              <a:t>why</a:t>
            </a:r>
            <a:r>
              <a:rPr lang="zh-CN" altLang="en-US">
                <a:latin typeface="Arial" panose="020B0604020202020204" pitchFamily="34" charset="0"/>
                <a:ea typeface="MS PGothic" panose="020B0600070205080204" pitchFamily="34" charset="-128"/>
              </a:rPr>
              <a:t> ？</a:t>
            </a:r>
            <a:endParaRPr lang="en-US" altLang="zh-CN">
              <a:latin typeface="Arial" panose="020B0604020202020204" pitchFamily="34" charset="0"/>
              <a:ea typeface="MS PGothic" panose="020B0600070205080204" pitchFamily="34" charset="-128"/>
            </a:endParaRPr>
          </a:p>
          <a:p>
            <a:endParaRPr lang="zh-CN" altLang="en-US">
              <a:latin typeface="Arial" panose="020B0604020202020204" pitchFamily="34" charset="0"/>
            </a:endParaRPr>
          </a:p>
        </p:txBody>
      </p:sp>
      <p:sp>
        <p:nvSpPr>
          <p:cNvPr id="25603" name="灯片编号占位符 3">
            <a:extLst>
              <a:ext uri="{FF2B5EF4-FFF2-40B4-BE49-F238E27FC236}">
                <a16:creationId xmlns:a16="http://schemas.microsoft.com/office/drawing/2014/main" id="{FD82A928-3E5C-4926-BF81-BF2821C874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E39DB9-9C78-4850-B921-F3793A419989}" type="slidenum">
              <a:rPr lang="zh-CN" altLang="en-US"/>
              <a:pPr/>
              <a:t>14</a:t>
            </a:fld>
            <a:endParaRPr lang="zh-CN" altLang="en-US"/>
          </a:p>
        </p:txBody>
      </p:sp>
    </p:spTree>
    <p:extLst>
      <p:ext uri="{BB962C8B-B14F-4D97-AF65-F5344CB8AC3E}">
        <p14:creationId xmlns:p14="http://schemas.microsoft.com/office/powerpoint/2010/main" val="274577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a:extLst>
              <a:ext uri="{FF2B5EF4-FFF2-40B4-BE49-F238E27FC236}">
                <a16:creationId xmlns:a16="http://schemas.microsoft.com/office/drawing/2014/main" id="{AD502B1E-D18B-4DE3-AC6E-E3FB641688F2}"/>
              </a:ext>
            </a:extLst>
          </p:cNvPr>
          <p:cNvSpPr>
            <a:spLocks noGrp="1" noRot="1" noChangeAspect="1" noChangeArrowheads="1" noTextEdit="1"/>
          </p:cNvSpPr>
          <p:nvPr>
            <p:ph type="sldImg"/>
          </p:nvPr>
        </p:nvSpPr>
        <p:spPr>
          <a:ln/>
        </p:spPr>
      </p:sp>
      <p:sp>
        <p:nvSpPr>
          <p:cNvPr id="22530" name="备注占位符 2">
            <a:extLst>
              <a:ext uri="{FF2B5EF4-FFF2-40B4-BE49-F238E27FC236}">
                <a16:creationId xmlns:a16="http://schemas.microsoft.com/office/drawing/2014/main" id="{078A6251-2167-45C8-A0A7-A3E6B727C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1" name="灯片编号占位符 3">
            <a:extLst>
              <a:ext uri="{FF2B5EF4-FFF2-40B4-BE49-F238E27FC236}">
                <a16:creationId xmlns:a16="http://schemas.microsoft.com/office/drawing/2014/main" id="{BB39C93A-0ABC-4448-B5F3-B0EF57E832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4FC13A-E2FD-4DFD-8AF5-40B0E352A315}" type="slidenum">
              <a:rPr lang="en-US" altLang="zh-CN"/>
              <a:pPr/>
              <a:t>15</a:t>
            </a:fld>
            <a:endParaRPr lang="en-US" altLang="zh-CN"/>
          </a:p>
        </p:txBody>
      </p:sp>
    </p:spTree>
    <p:extLst>
      <p:ext uri="{BB962C8B-B14F-4D97-AF65-F5344CB8AC3E}">
        <p14:creationId xmlns:p14="http://schemas.microsoft.com/office/powerpoint/2010/main" val="2766125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F907CA27-5131-471A-9321-8DC274E7BDA9}"/>
              </a:ext>
            </a:extLst>
          </p:cNvPr>
          <p:cNvSpPr>
            <a:spLocks noGrp="1" noRot="1" noChangeAspect="1" noChangeArrowheads="1" noTextEdit="1"/>
          </p:cNvSpPr>
          <p:nvPr>
            <p:ph type="sldImg"/>
          </p:nvPr>
        </p:nvSpPr>
        <p:spPr>
          <a:ln/>
        </p:spPr>
      </p:sp>
      <p:sp>
        <p:nvSpPr>
          <p:cNvPr id="27650" name="备注占位符 2">
            <a:extLst>
              <a:ext uri="{FF2B5EF4-FFF2-40B4-BE49-F238E27FC236}">
                <a16:creationId xmlns:a16="http://schemas.microsoft.com/office/drawing/2014/main" id="{A7E8DDFB-7899-455E-AF60-F02AB96D68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这个进一步推广可以得到第</a:t>
            </a:r>
            <a:r>
              <a:rPr lang="en-US" altLang="zh-CN" dirty="0">
                <a:latin typeface="Arial" panose="020B0604020202020204" pitchFamily="34" charset="0"/>
              </a:rPr>
              <a:t>1</a:t>
            </a:r>
            <a:r>
              <a:rPr lang="zh-CN" altLang="en-US" dirty="0">
                <a:latin typeface="Arial" panose="020B0604020202020204" pitchFamily="34" charset="0"/>
              </a:rPr>
              <a:t>题：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第</a:t>
            </a:r>
            <a:r>
              <a:rPr lang="en-US" altLang="zh-CN" dirty="0">
                <a:latin typeface="Arial" panose="020B0604020202020204" pitchFamily="34" charset="0"/>
              </a:rPr>
              <a:t>1</a:t>
            </a:r>
            <a:r>
              <a:rPr lang="zh-CN" altLang="en-US" dirty="0">
                <a:latin typeface="Arial" panose="020B0604020202020204" pitchFamily="34" charset="0"/>
              </a:rPr>
              <a:t>题 可以利用上页的引理：</a:t>
            </a:r>
            <a:r>
              <a:rPr lang="zh-CN" altLang="en-US" dirty="0">
                <a:latin typeface="Arial" panose="020B0604020202020204" pitchFamily="34" charset="0"/>
                <a:ea typeface="MS PGothic" panose="020B0600070205080204" pitchFamily="34" charset="-128"/>
              </a:rPr>
              <a:t>设</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是最后一个出栈的，那么</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把序列一切为二；在</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之前入栈的元素，一定比在</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之后入栈的元素，要提前出栈。</a:t>
            </a:r>
            <a:r>
              <a:rPr lang="en-US" altLang="zh-CN" dirty="0">
                <a:latin typeface="Arial" panose="020B0604020202020204" pitchFamily="34" charset="0"/>
                <a:ea typeface="MS PGothic" panose="020B0600070205080204" pitchFamily="34" charset="-128"/>
              </a:rPr>
              <a:t>WHY? </a:t>
            </a:r>
          </a:p>
          <a:p>
            <a:endParaRPr lang="en-US" altLang="zh-CN" dirty="0">
              <a:latin typeface="Arial" panose="020B0604020202020204" pitchFamily="34" charset="0"/>
              <a:ea typeface="MS PGothic" panose="020B0600070205080204" pitchFamily="34" charset="-128"/>
            </a:endParaRPr>
          </a:p>
          <a:p>
            <a:endParaRPr lang="en-US" altLang="zh-CN" dirty="0">
              <a:latin typeface="Arial" panose="020B0604020202020204" pitchFamily="34" charset="0"/>
            </a:endParaRPr>
          </a:p>
          <a:p>
            <a:r>
              <a:rPr lang="zh-CN" altLang="en-US" dirty="0">
                <a:latin typeface="Arial" panose="020B0604020202020204" pitchFamily="34" charset="0"/>
              </a:rPr>
              <a:t>第</a:t>
            </a:r>
            <a:r>
              <a:rPr lang="en-US" altLang="zh-CN" dirty="0">
                <a:latin typeface="Arial" panose="020B0604020202020204" pitchFamily="34" charset="0"/>
              </a:rPr>
              <a:t>2</a:t>
            </a:r>
            <a:r>
              <a:rPr lang="zh-CN" altLang="en-US" dirty="0">
                <a:latin typeface="Arial" panose="020B0604020202020204" pitchFamily="34" charset="0"/>
              </a:rPr>
              <a:t>题：若</a:t>
            </a:r>
            <a:r>
              <a:rPr lang="en-US" altLang="zh-CN" dirty="0">
                <a:latin typeface="Arial" panose="020B0604020202020204" pitchFamily="34" charset="0"/>
              </a:rPr>
              <a:t>N</a:t>
            </a:r>
            <a:r>
              <a:rPr lang="zh-CN" altLang="en-US" dirty="0">
                <a:latin typeface="Arial" panose="020B0604020202020204" pitchFamily="34" charset="0"/>
              </a:rPr>
              <a:t>长序列的出栈序列数为 </a:t>
            </a:r>
            <a:r>
              <a:rPr lang="en-US" altLang="zh-CN" dirty="0">
                <a:latin typeface="Arial" panose="020B0604020202020204" pitchFamily="34" charset="0"/>
              </a:rPr>
              <a:t>f(N) ,</a:t>
            </a:r>
            <a:r>
              <a:rPr lang="zh-CN" altLang="en-US" dirty="0">
                <a:latin typeface="Arial" panose="020B0604020202020204" pitchFamily="34" charset="0"/>
              </a:rPr>
              <a:t>根据引理，</a:t>
            </a:r>
            <a:r>
              <a:rPr lang="en-US" altLang="zh-CN" dirty="0">
                <a:latin typeface="Arial" panose="020B0604020202020204" pitchFamily="34" charset="0"/>
              </a:rPr>
              <a:t>k </a:t>
            </a:r>
            <a:r>
              <a:rPr lang="zh-CN" altLang="en-US" dirty="0">
                <a:latin typeface="Arial" panose="020B0604020202020204" pitchFamily="34" charset="0"/>
              </a:rPr>
              <a:t>划分序列，其左侧有</a:t>
            </a:r>
            <a:r>
              <a:rPr lang="en-US" altLang="zh-CN" dirty="0">
                <a:latin typeface="Arial" panose="020B0604020202020204" pitchFamily="34" charset="0"/>
              </a:rPr>
              <a:t>k </a:t>
            </a:r>
            <a:r>
              <a:rPr lang="zh-CN" altLang="en-US" dirty="0">
                <a:latin typeface="Arial" panose="020B0604020202020204" pitchFamily="34" charset="0"/>
              </a:rPr>
              <a:t>个元素，右侧则有</a:t>
            </a:r>
            <a:r>
              <a:rPr lang="en-US" altLang="zh-CN" dirty="0">
                <a:latin typeface="Arial" panose="020B0604020202020204" pitchFamily="34" charset="0"/>
              </a:rPr>
              <a:t>N-1-k </a:t>
            </a:r>
            <a:r>
              <a:rPr lang="zh-CN" altLang="en-US" dirty="0">
                <a:latin typeface="Arial" panose="020B0604020202020204" pitchFamily="34" charset="0"/>
              </a:rPr>
              <a:t>个元素 ，其分别的出栈数可用 </a:t>
            </a:r>
            <a:r>
              <a:rPr lang="en-US" altLang="zh-CN" dirty="0">
                <a:latin typeface="Arial" panose="020B0604020202020204" pitchFamily="34" charset="0"/>
              </a:rPr>
              <a:t>f(k) </a:t>
            </a:r>
            <a:r>
              <a:rPr lang="zh-CN" altLang="en-US" dirty="0">
                <a:latin typeface="Arial" panose="020B0604020202020204" pitchFamily="34" charset="0"/>
              </a:rPr>
              <a:t>和</a:t>
            </a:r>
            <a:r>
              <a:rPr lang="en-US" altLang="zh-CN" dirty="0">
                <a:latin typeface="Arial" panose="020B0604020202020204" pitchFamily="34" charset="0"/>
              </a:rPr>
              <a:t>f(N-1-k)</a:t>
            </a:r>
            <a:r>
              <a:rPr lang="zh-CN" altLang="en-US" dirty="0">
                <a:latin typeface="Arial" panose="020B0604020202020204" pitchFamily="34" charset="0"/>
              </a:rPr>
              <a:t>表示</a:t>
            </a:r>
            <a:r>
              <a:rPr lang="en-US" altLang="zh-CN" dirty="0">
                <a:latin typeface="Arial" panose="020B0604020202020204" pitchFamily="34" charset="0"/>
              </a:rPr>
              <a:t>k</a:t>
            </a:r>
            <a:r>
              <a:rPr lang="zh-CN" altLang="en-US" dirty="0">
                <a:latin typeface="Arial" panose="020B0604020202020204" pitchFamily="34" charset="0"/>
              </a:rPr>
              <a:t>的取值从</a:t>
            </a:r>
            <a:r>
              <a:rPr lang="en-US" altLang="zh-CN" dirty="0">
                <a:latin typeface="Arial" panose="020B0604020202020204" pitchFamily="34" charset="0"/>
              </a:rPr>
              <a:t>0</a:t>
            </a:r>
            <a:r>
              <a:rPr lang="zh-CN" altLang="en-US" dirty="0">
                <a:latin typeface="Arial" panose="020B0604020202020204" pitchFamily="34" charset="0"/>
              </a:rPr>
              <a:t>到</a:t>
            </a:r>
            <a:r>
              <a:rPr lang="en-US" altLang="zh-CN" dirty="0">
                <a:latin typeface="Arial" panose="020B0604020202020204" pitchFamily="34" charset="0"/>
              </a:rPr>
              <a:t>n-1 </a:t>
            </a:r>
            <a:r>
              <a:rPr lang="zh-CN" altLang="en-US" dirty="0">
                <a:latin typeface="Arial" panose="020B0604020202020204" pitchFamily="34" charset="0"/>
              </a:rPr>
              <a:t>，固故有 </a:t>
            </a:r>
            <a:r>
              <a:rPr lang="en-US" altLang="zh-CN" dirty="0" err="1">
                <a:latin typeface="Arial" panose="020B0604020202020204" pitchFamily="34" charset="0"/>
              </a:rPr>
              <a:t>Sigam</a:t>
            </a:r>
            <a:r>
              <a:rPr lang="zh-CN" altLang="en-US" dirty="0">
                <a:latin typeface="Arial" panose="020B0604020202020204" pitchFamily="34" charset="0"/>
              </a:rPr>
              <a:t>（</a:t>
            </a:r>
            <a:r>
              <a:rPr lang="en-US" altLang="zh-CN" dirty="0">
                <a:latin typeface="Arial" panose="020B0604020202020204" pitchFamily="34" charset="0"/>
              </a:rPr>
              <a:t>k =0..k-1)( f(k)*f(N-1-k))</a:t>
            </a:r>
            <a:r>
              <a:rPr lang="zh-CN" altLang="en-US" dirty="0">
                <a:latin typeface="Arial" panose="020B0604020202020204" pitchFamily="34" charset="0"/>
              </a:rPr>
              <a:t>，即</a:t>
            </a:r>
            <a:r>
              <a:rPr lang="en-US" altLang="zh-CN" dirty="0" err="1">
                <a:latin typeface="Arial" panose="020B0604020202020204" pitchFamily="34" charset="0"/>
              </a:rPr>
              <a:t>catalan</a:t>
            </a:r>
            <a:r>
              <a:rPr lang="zh-CN" altLang="en-US" dirty="0">
                <a:latin typeface="Arial" panose="020B0604020202020204" pitchFamily="34" charset="0"/>
              </a:rPr>
              <a:t>数</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27651" name="灯片编号占位符 3">
            <a:extLst>
              <a:ext uri="{FF2B5EF4-FFF2-40B4-BE49-F238E27FC236}">
                <a16:creationId xmlns:a16="http://schemas.microsoft.com/office/drawing/2014/main" id="{0B832294-C347-4A0C-8D66-CEB31F2CF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86C6F2-CF8E-42D7-AFC9-5C552A90F963}" type="slidenum">
              <a:rPr lang="zh-CN" altLang="en-US"/>
              <a:pPr/>
              <a:t>17</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32747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871577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2428967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E04EC5F7-7F22-4396-92DF-9CA2AAC66BE6}"/>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4E6877A-3C42-4988-B466-EEA5FECC2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6868" name="灯片编号占位符 3">
            <a:extLst>
              <a:ext uri="{FF2B5EF4-FFF2-40B4-BE49-F238E27FC236}">
                <a16:creationId xmlns:a16="http://schemas.microsoft.com/office/drawing/2014/main" id="{7FF9D53C-9E1C-4F0B-8812-7CAB606A7F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2D9524-F570-46BA-A40F-CCE1071AD056}" type="slidenum">
              <a:rPr lang="en-US" altLang="zh-CN" smtClean="0"/>
              <a:pPr/>
              <a:t>30</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B5610C45-16D6-44A5-B5E1-3934238F3BE9}"/>
              </a:ext>
            </a:extLst>
          </p:cNvPr>
          <p:cNvSpPr>
            <a:spLocks noGrp="1" noRot="1" noChangeAspect="1" noChangeArrowheads="1" noTextEdit="1"/>
          </p:cNvSpPr>
          <p:nvPr>
            <p:ph type="sldImg"/>
          </p:nvPr>
        </p:nvSpPr>
        <p:spPr>
          <a:ln/>
        </p:spPr>
      </p:sp>
      <p:sp>
        <p:nvSpPr>
          <p:cNvPr id="44035" name="备注占位符 2">
            <a:extLst>
              <a:ext uri="{FF2B5EF4-FFF2-40B4-BE49-F238E27FC236}">
                <a16:creationId xmlns:a16="http://schemas.microsoft.com/office/drawing/2014/main" id="{5828422C-163C-4C91-A4E1-D54CDF827F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4036" name="灯片编号占位符 3">
            <a:extLst>
              <a:ext uri="{FF2B5EF4-FFF2-40B4-BE49-F238E27FC236}">
                <a16:creationId xmlns:a16="http://schemas.microsoft.com/office/drawing/2014/main" id="{7181E366-45D8-4171-8FE6-3F447FA179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D74BB0-4B0A-4FFE-A5F3-7E7F84D8D396}" type="slidenum">
              <a:rPr lang="en-US" altLang="zh-CN" smtClean="0"/>
              <a:pPr/>
              <a:t>36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2609648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1856786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3619745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576297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3344FD87-3681-450A-B331-1D6E46DF5F40}"/>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753093EE-DA3C-4B68-BD88-43C8F2230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 能力不是由老师“教”出来的，而是学生在实践过 程中“学、做、练、悟”中逐步形成的 ；能力培养不是一次性、短期的，而是一个循序渐进、 长期实践、逐步提升的过程 </a:t>
            </a:r>
          </a:p>
          <a:p>
            <a:endParaRPr lang="zh-CN" altLang="en-US">
              <a:latin typeface="Arial" panose="020B0604020202020204" pitchFamily="34" charset="0"/>
            </a:endParaRPr>
          </a:p>
          <a:p>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46786ACF-4409-418B-A7E2-05FB61BA2D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07C797-2AE1-4D03-9EB0-0773049BC769}" type="slidenum">
              <a:rPr lang="en-US" altLang="zh-CN" smtClean="0"/>
              <a:pPr/>
              <a:t>63</a:t>
            </a:fld>
            <a:endParaRPr lang="en-US" altLang="zh-CN"/>
          </a:p>
        </p:txBody>
      </p:sp>
    </p:spTree>
    <p:extLst>
      <p:ext uri="{BB962C8B-B14F-4D97-AF65-F5344CB8AC3E}">
        <p14:creationId xmlns:p14="http://schemas.microsoft.com/office/powerpoint/2010/main" val="2791929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3344FD87-3681-450A-B331-1D6E46DF5F40}"/>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753093EE-DA3C-4B68-BD88-43C8F2230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 能力不是由老师“教”出来的，而是学生在实践过 程中“学、做、练、悟”中逐步形成的 ；能力培养不是一次性、短期的，而是一个循序渐进、 长期实践、逐步提升的过程 </a:t>
            </a:r>
          </a:p>
          <a:p>
            <a:endParaRPr lang="zh-CN" altLang="en-US">
              <a:latin typeface="Arial" panose="020B0604020202020204" pitchFamily="34" charset="0"/>
            </a:endParaRPr>
          </a:p>
          <a:p>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46786ACF-4409-418B-A7E2-05FB61BA2D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07C797-2AE1-4D03-9EB0-0773049BC769}" type="slidenum">
              <a:rPr lang="en-US" altLang="zh-CN" smtClean="0"/>
              <a:pPr/>
              <a:t>64</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3344FD87-3681-450A-B331-1D6E46DF5F40}"/>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753093EE-DA3C-4B68-BD88-43C8F2230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 能力不是由老师“教”出来的，而是学生在实践过 程中“学、做、练、悟”中逐步形成的 ；能力培养不是一次性、短期的，而是一个循序渐进、 长期实践、逐步提升的过程 </a:t>
            </a:r>
          </a:p>
          <a:p>
            <a:endParaRPr lang="zh-CN" altLang="en-US">
              <a:latin typeface="Arial" panose="020B0604020202020204" pitchFamily="34" charset="0"/>
            </a:endParaRPr>
          </a:p>
          <a:p>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46786ACF-4409-418B-A7E2-05FB61BA2D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07C797-2AE1-4D03-9EB0-0773049BC769}" type="slidenum">
              <a:rPr lang="en-US" altLang="zh-CN" smtClean="0"/>
              <a:pPr/>
              <a:t>67</a:t>
            </a:fld>
            <a:endParaRPr lang="en-US" altLang="zh-CN"/>
          </a:p>
        </p:txBody>
      </p:sp>
    </p:spTree>
    <p:extLst>
      <p:ext uri="{BB962C8B-B14F-4D97-AF65-F5344CB8AC3E}">
        <p14:creationId xmlns:p14="http://schemas.microsoft.com/office/powerpoint/2010/main" val="616781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C9FADD46-1E67-433D-83E5-7D1F4D2DF7EA}"/>
              </a:ext>
            </a:extLst>
          </p:cNvPr>
          <p:cNvSpPr>
            <a:spLocks noGrp="1" noRot="1" noChangeAspect="1" noChangeArrowheads="1" noTextEdit="1"/>
          </p:cNvSpPr>
          <p:nvPr>
            <p:ph type="sldImg"/>
          </p:nvPr>
        </p:nvSpPr>
        <p:spPr>
          <a:ln/>
        </p:spPr>
      </p:sp>
      <p:sp>
        <p:nvSpPr>
          <p:cNvPr id="67587" name="备注占位符 2">
            <a:extLst>
              <a:ext uri="{FF2B5EF4-FFF2-40B4-BE49-F238E27FC236}">
                <a16:creationId xmlns:a16="http://schemas.microsoft.com/office/drawing/2014/main" id="{8C99159D-0D8C-4C6C-96B3-FEA6060E55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7588" name="灯片编号占位符 3">
            <a:extLst>
              <a:ext uri="{FF2B5EF4-FFF2-40B4-BE49-F238E27FC236}">
                <a16:creationId xmlns:a16="http://schemas.microsoft.com/office/drawing/2014/main" id="{F3BA7135-07E0-454D-9A90-CBF35C8BAC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1AF84E3-2F45-4592-A8F4-97D8C4F9D981}" type="slidenum">
              <a:rPr kumimoji="0" lang="en-US" altLang="zh-CN" smtClean="0"/>
              <a:pPr>
                <a:spcBef>
                  <a:spcPct val="0"/>
                </a:spcBef>
              </a:pPr>
              <a:t>68</a:t>
            </a:fld>
            <a:endParaRPr kumimoji="0"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使用数学归纳法可证明，整个括号语句可分解为两组基本形态 </a:t>
            </a:r>
            <a:r>
              <a:rPr lang="en-US" altLang="zh-CN" dirty="0"/>
              <a:t>(A) </a:t>
            </a:r>
            <a:r>
              <a:rPr lang="zh-CN" altLang="en-US" dirty="0"/>
              <a:t>或</a:t>
            </a:r>
            <a:r>
              <a:rPr lang="en-US" altLang="zh-CN" dirty="0"/>
              <a:t>BC</a:t>
            </a:r>
            <a:r>
              <a:rPr lang="zh-CN" altLang="en-US" dirty="0"/>
              <a:t>，其中</a:t>
            </a:r>
            <a:r>
              <a:rPr lang="en-US" altLang="zh-CN" dirty="0"/>
              <a:t>A,B,C</a:t>
            </a:r>
            <a:r>
              <a:rPr lang="zh-CN" altLang="en-US" dirty="0"/>
              <a:t>都是括号语句</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76</a:t>
            </a:fld>
            <a:endParaRPr lang="zh-CN" altLang="en-US"/>
          </a:p>
        </p:txBody>
      </p:sp>
    </p:spTree>
    <p:extLst>
      <p:ext uri="{BB962C8B-B14F-4D97-AF65-F5344CB8AC3E}">
        <p14:creationId xmlns:p14="http://schemas.microsoft.com/office/powerpoint/2010/main" val="338180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非线性特征是指计算过程不能简单地按从左向右的顺序，依次对各运算符进行评价（计算）。这种非线性的逻辑结构更适合用树形结构表达。</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81</a:t>
            </a:fld>
            <a:endParaRPr lang="zh-CN" altLang="en-US"/>
          </a:p>
        </p:txBody>
      </p:sp>
    </p:spTree>
    <p:extLst>
      <p:ext uri="{BB962C8B-B14F-4D97-AF65-F5344CB8AC3E}">
        <p14:creationId xmlns:p14="http://schemas.microsoft.com/office/powerpoint/2010/main" val="10348335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8F0EF8E-DBD1-4B5E-960C-9CA8A0CA1A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9C505F-D1C0-4AFB-8F9E-DE98A17EC8A3}" type="slidenum">
              <a:rPr lang="en-US" altLang="zh-CN"/>
              <a:pPr/>
              <a:t>87</a:t>
            </a:fld>
            <a:endParaRPr lang="en-US" altLang="zh-CN"/>
          </a:p>
        </p:txBody>
      </p:sp>
      <p:sp>
        <p:nvSpPr>
          <p:cNvPr id="78851" name="Rectangle 2">
            <a:extLst>
              <a:ext uri="{FF2B5EF4-FFF2-40B4-BE49-F238E27FC236}">
                <a16:creationId xmlns:a16="http://schemas.microsoft.com/office/drawing/2014/main" id="{B69BC73F-F06C-4921-A076-F0A0C6156E27}"/>
              </a:ext>
            </a:extLst>
          </p:cNvPr>
          <p:cNvSpPr>
            <a:spLocks noGrp="1" noRot="1" noChangeAspect="1" noChangeArrowheads="1" noTextEdit="1"/>
          </p:cNvSpPr>
          <p:nvPr>
            <p:ph type="sldImg"/>
          </p:nvPr>
        </p:nvSpPr>
        <p:spPr>
          <a:xfrm>
            <a:off x="141288" y="768350"/>
            <a:ext cx="6818312" cy="3836988"/>
          </a:xfrm>
          <a:ln/>
        </p:spPr>
      </p:sp>
      <p:sp>
        <p:nvSpPr>
          <p:cNvPr id="78852" name="Rectangle 3">
            <a:extLst>
              <a:ext uri="{FF2B5EF4-FFF2-40B4-BE49-F238E27FC236}">
                <a16:creationId xmlns:a16="http://schemas.microsoft.com/office/drawing/2014/main" id="{B15E9BC1-777D-4E21-A738-2729ABAE04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22A0BDCE-FC83-4BFD-A251-DE25FC4A1BC1}"/>
              </a:ext>
            </a:extLst>
          </p:cNvPr>
          <p:cNvSpPr>
            <a:spLocks noGrp="1" noRot="1" noChangeAspect="1" noChangeArrowheads="1" noTextEdit="1"/>
          </p:cNvSpPr>
          <p:nvPr>
            <p:ph type="sldImg"/>
          </p:nvPr>
        </p:nvSpPr>
        <p:spPr>
          <a:ln/>
        </p:spPr>
      </p:sp>
      <p:sp>
        <p:nvSpPr>
          <p:cNvPr id="80899" name="备注占位符 2">
            <a:extLst>
              <a:ext uri="{FF2B5EF4-FFF2-40B4-BE49-F238E27FC236}">
                <a16:creationId xmlns:a16="http://schemas.microsoft.com/office/drawing/2014/main" id="{41803741-E277-4C24-B9CF-C6D236628B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B5F05A60-70F9-4595-9705-EB8A9E629BA5}"/>
              </a:ext>
            </a:extLst>
          </p:cNvPr>
          <p:cNvSpPr>
            <a:spLocks noGrp="1" noRot="1" noChangeAspect="1" noChangeArrowheads="1" noTextEdit="1"/>
          </p:cNvSpPr>
          <p:nvPr>
            <p:ph type="sldImg"/>
          </p:nvPr>
        </p:nvSpPr>
        <p:spPr>
          <a:ln/>
        </p:spPr>
      </p:sp>
      <p:sp>
        <p:nvSpPr>
          <p:cNvPr id="82947" name="备注占位符 2">
            <a:extLst>
              <a:ext uri="{FF2B5EF4-FFF2-40B4-BE49-F238E27FC236}">
                <a16:creationId xmlns:a16="http://schemas.microsoft.com/office/drawing/2014/main" id="{2DFFB0F6-23CE-4C15-AD90-E4BD834354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82948" name="灯片编号占位符 3">
            <a:extLst>
              <a:ext uri="{FF2B5EF4-FFF2-40B4-BE49-F238E27FC236}">
                <a16:creationId xmlns:a16="http://schemas.microsoft.com/office/drawing/2014/main" id="{6D7164EC-CC05-4590-8ABC-2C163BDCB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9AA553-5643-43ED-9175-F4C3ED3274D4}" type="slidenum">
              <a:rPr lang="en-US" altLang="zh-CN"/>
              <a:pPr/>
              <a:t>89</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D92B5891-775E-4712-B5F4-B792CDE01C23}"/>
              </a:ext>
            </a:extLst>
          </p:cNvPr>
          <p:cNvSpPr>
            <a:spLocks noGrp="1" noRot="1" noChangeAspect="1" noChangeArrowheads="1" noTextEdit="1"/>
          </p:cNvSpPr>
          <p:nvPr>
            <p:ph type="sldImg"/>
          </p:nvPr>
        </p:nvSpPr>
        <p:spPr>
          <a:ln/>
        </p:spPr>
      </p:sp>
      <p:sp>
        <p:nvSpPr>
          <p:cNvPr id="87043" name="备注占位符 2">
            <a:extLst>
              <a:ext uri="{FF2B5EF4-FFF2-40B4-BE49-F238E27FC236}">
                <a16:creationId xmlns:a16="http://schemas.microsoft.com/office/drawing/2014/main" id="{48E75E1F-EA92-48C2-A8B7-32F31A6D85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双栈</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最大栈的栈顶是原栈中的最大值</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97</a:t>
            </a:fld>
            <a:endParaRPr lang="zh-CN" altLang="en-US"/>
          </a:p>
        </p:txBody>
      </p:sp>
    </p:spTree>
    <p:extLst>
      <p:ext uri="{BB962C8B-B14F-4D97-AF65-F5344CB8AC3E}">
        <p14:creationId xmlns:p14="http://schemas.microsoft.com/office/powerpoint/2010/main" val="41567814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最大栈栈顶仍然是原栈剩下元素的最大值</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99</a:t>
            </a:fld>
            <a:endParaRPr lang="zh-CN" altLang="en-US"/>
          </a:p>
        </p:txBody>
      </p:sp>
    </p:spTree>
    <p:extLst>
      <p:ext uri="{BB962C8B-B14F-4D97-AF65-F5344CB8AC3E}">
        <p14:creationId xmlns:p14="http://schemas.microsoft.com/office/powerpoint/2010/main" val="904672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100</a:t>
            </a:fld>
            <a:endParaRPr lang="zh-CN" altLang="en-US"/>
          </a:p>
        </p:txBody>
      </p:sp>
    </p:spTree>
    <p:extLst>
      <p:ext uri="{BB962C8B-B14F-4D97-AF65-F5344CB8AC3E}">
        <p14:creationId xmlns:p14="http://schemas.microsoft.com/office/powerpoint/2010/main" val="38113672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4C9A3B35-86E1-487C-B1D8-D8567525FC92}"/>
              </a:ext>
            </a:extLst>
          </p:cNvPr>
          <p:cNvSpPr>
            <a:spLocks noGrp="1" noRot="1" noChangeAspect="1" noChangeArrowheads="1" noTextEdit="1"/>
          </p:cNvSpPr>
          <p:nvPr>
            <p:ph type="sldImg"/>
          </p:nvPr>
        </p:nvSpPr>
        <p:spPr>
          <a:ln/>
        </p:spPr>
      </p:sp>
      <p:sp>
        <p:nvSpPr>
          <p:cNvPr id="93187" name="备注占位符 2">
            <a:extLst>
              <a:ext uri="{FF2B5EF4-FFF2-40B4-BE49-F238E27FC236}">
                <a16:creationId xmlns:a16="http://schemas.microsoft.com/office/drawing/2014/main" id="{7734F171-1870-4FF5-9E7C-67049446F2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zh-CN" altLang="en-US">
                <a:latin typeface="Arial" panose="020B0604020202020204" pitchFamily="34" charset="0"/>
              </a:rPr>
              <a:t>递归的能力在于用有限的语句来定义对象的无限集合</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107</a:t>
            </a:fld>
            <a:endParaRPr lang="zh-CN" altLang="en-US"/>
          </a:p>
        </p:txBody>
      </p:sp>
    </p:spTree>
    <p:extLst>
      <p:ext uri="{BB962C8B-B14F-4D97-AF65-F5344CB8AC3E}">
        <p14:creationId xmlns:p14="http://schemas.microsoft.com/office/powerpoint/2010/main" val="5052632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a:extLst>
              <a:ext uri="{FF2B5EF4-FFF2-40B4-BE49-F238E27FC236}">
                <a16:creationId xmlns:a16="http://schemas.microsoft.com/office/drawing/2014/main" id="{6A4F7DD9-2DD0-4726-A9D6-D5517A65D5C0}"/>
              </a:ext>
            </a:extLst>
          </p:cNvPr>
          <p:cNvSpPr>
            <a:spLocks noGrp="1" noRot="1" noChangeAspect="1" noChangeArrowheads="1" noTextEdit="1"/>
          </p:cNvSpPr>
          <p:nvPr>
            <p:ph type="sldImg"/>
          </p:nvPr>
        </p:nvSpPr>
        <p:spPr>
          <a:ln/>
        </p:spPr>
      </p:sp>
      <p:sp>
        <p:nvSpPr>
          <p:cNvPr id="112643" name="备注占位符 2">
            <a:extLst>
              <a:ext uri="{FF2B5EF4-FFF2-40B4-BE49-F238E27FC236}">
                <a16:creationId xmlns:a16="http://schemas.microsoft.com/office/drawing/2014/main" id="{C1289585-8789-4E10-A0E8-6A8E5705E7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latin typeface="Arial" panose="020B0604020202020204" pitchFamily="34" charset="0"/>
              </a:rPr>
              <a:t>待学了树形结构可知，所有递归问题，其递归过程可以展开成一棵树，叶结点是可解的</a:t>
            </a:r>
          </a:p>
          <a:p>
            <a:endParaRPr lang="zh-CN"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进入缓冲队列的车厢其相对顺序不会改变！</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124</a:t>
            </a:fld>
            <a:endParaRPr lang="zh-CN" altLang="en-US"/>
          </a:p>
        </p:txBody>
      </p:sp>
    </p:spTree>
    <p:extLst>
      <p:ext uri="{BB962C8B-B14F-4D97-AF65-F5344CB8AC3E}">
        <p14:creationId xmlns:p14="http://schemas.microsoft.com/office/powerpoint/2010/main" val="1478057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H3</a:t>
            </a:r>
            <a:r>
              <a:rPr lang="zh-CN" altLang="en-US" dirty="0"/>
              <a:t>可以去掉，因为入轨</a:t>
            </a:r>
            <a:r>
              <a:rPr lang="en-US" altLang="zh-CN" dirty="0"/>
              <a:t>I</a:t>
            </a:r>
            <a:r>
              <a:rPr lang="zh-CN" altLang="en-US" dirty="0"/>
              <a:t>也可作为队列使用，也就是把</a:t>
            </a:r>
            <a:r>
              <a:rPr lang="en-US" altLang="zh-CN" dirty="0"/>
              <a:t>5</a:t>
            </a:r>
            <a:r>
              <a:rPr lang="zh-CN" altLang="en-US" dirty="0"/>
              <a:t>留在入轨上。</a:t>
            </a:r>
          </a:p>
        </p:txBody>
      </p:sp>
      <p:sp>
        <p:nvSpPr>
          <p:cNvPr id="4" name="灯片编号占位符 3"/>
          <p:cNvSpPr>
            <a:spLocks noGrp="1"/>
          </p:cNvSpPr>
          <p:nvPr>
            <p:ph type="sldNum" sz="quarter" idx="5"/>
          </p:nvPr>
        </p:nvSpPr>
        <p:spPr/>
        <p:txBody>
          <a:bodyPr/>
          <a:lstStyle/>
          <a:p>
            <a:fld id="{FC8AECDA-B852-4CA6-98F9-FDA299AD4FD3}" type="slidenum">
              <a:rPr lang="zh-CN" altLang="en-US" smtClean="0"/>
              <a:t>126</a:t>
            </a:fld>
            <a:endParaRPr lang="zh-CN" altLang="en-US"/>
          </a:p>
        </p:txBody>
      </p:sp>
    </p:spTree>
    <p:extLst>
      <p:ext uri="{BB962C8B-B14F-4D97-AF65-F5344CB8AC3E}">
        <p14:creationId xmlns:p14="http://schemas.microsoft.com/office/powerpoint/2010/main" val="10707288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3.1 </a:t>
            </a:r>
            <a:r>
              <a:rPr lang="zh-CN" altLang="en-US" dirty="0"/>
              <a:t>问题引入</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342900" indent="-342900">
              <a:lnSpc>
                <a:spcPct val="120000"/>
              </a:lnSpc>
              <a:spcBef>
                <a:spcPts val="6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1pPr>
            <a:lvl2pPr marL="914400" indent="-457200">
              <a:lnSpc>
                <a:spcPct val="120000"/>
              </a:lnSpc>
              <a:spcBef>
                <a:spcPts val="600"/>
              </a:spcBef>
              <a:buFont typeface="Wingdings" panose="05000000000000000000" pitchFamily="2" charset="2"/>
              <a:buChar char="ü"/>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endParaRPr lang="en-US" altLang="zh-CN" dirty="0"/>
          </a:p>
          <a:p>
            <a:pPr lvl="1"/>
            <a:r>
              <a:rPr lang="en-US" altLang="zh-CN" dirty="0"/>
              <a:t>    </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8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3.2 </a:t>
            </a:r>
            <a:r>
              <a:rPr lang="zh-CN" altLang="en-US" dirty="0"/>
              <a:t>栈的定义与结构</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endParaRPr lang="en-US" altLang="zh-CN" dirty="0"/>
          </a:p>
          <a:p>
            <a:pPr marL="800100" lvl="1" indent="-342900">
              <a:lnSpc>
                <a:spcPct val="120000"/>
              </a:lnSpc>
              <a:spcBef>
                <a:spcPts val="600"/>
              </a:spcBef>
            </a:pPr>
            <a:endParaRPr lang="en-US" altLang="zh-CN" dirty="0"/>
          </a:p>
          <a:p>
            <a:pPr marL="342900" lvl="0" indent="-342900">
              <a:lnSpc>
                <a:spcPct val="120000"/>
              </a:lnSpc>
              <a:spcBef>
                <a:spcPts val="600"/>
              </a:spcBef>
            </a:pPr>
            <a:endParaRPr lang="zh-CN" altLang="en-US" dirty="0"/>
          </a:p>
        </p:txBody>
      </p:sp>
    </p:spTree>
    <p:extLst>
      <p:ext uri="{BB962C8B-B14F-4D97-AF65-F5344CB8AC3E}">
        <p14:creationId xmlns:p14="http://schemas.microsoft.com/office/powerpoint/2010/main" val="291226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3.3 </a:t>
            </a:r>
            <a:r>
              <a:rPr lang="zh-CN" altLang="en-US" dirty="0"/>
              <a:t>队列的定义与结构</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209248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3.4  </a:t>
            </a:r>
            <a:r>
              <a:rPr lang="zh-CN" altLang="en-US" dirty="0"/>
              <a:t>栈与队列的应用</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4203349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3.5  </a:t>
            </a:r>
            <a:r>
              <a:rPr lang="zh-CN" altLang="en-US" dirty="0"/>
              <a:t>拓展延伸</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1436306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3.6  </a:t>
            </a:r>
            <a:r>
              <a:rPr lang="zh-CN" altLang="en-US" dirty="0"/>
              <a:t>应用场景</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849605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深色）">
    <p:spTree>
      <p:nvGrpSpPr>
        <p:cNvPr id="1" name=""/>
        <p:cNvGrpSpPr/>
        <p:nvPr/>
      </p:nvGrpSpPr>
      <p:grpSpPr>
        <a:xfrm>
          <a:off x="0" y="0"/>
          <a:ext cx="0" cy="0"/>
          <a:chOff x="0" y="0"/>
          <a:chExt cx="0" cy="0"/>
        </a:xfrm>
      </p:grpSpPr>
      <p:sp>
        <p:nvSpPr>
          <p:cNvPr id="15" name="矩形: 圆角 6"/>
          <p:cNvSpPr/>
          <p:nvPr userDrawn="1"/>
        </p:nvSpPr>
        <p:spPr>
          <a:xfrm>
            <a:off x="0" y="0"/>
            <a:ext cx="12192000" cy="68579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defRPr>
            </a:lvl1pPr>
          </a:lstStyle>
          <a:p>
            <a:r>
              <a:rPr lang="en-US" altLang="zh-CN" dirty="0"/>
              <a:t>3.1 </a:t>
            </a:r>
            <a:r>
              <a:rPr lang="en-US" altLang="zh-CN" dirty="0" err="1"/>
              <a:t>em</a:t>
            </a:r>
            <a:endParaRPr lang="zh-CN" altLang="en-US" dirty="0"/>
          </a:p>
        </p:txBody>
      </p:sp>
      <p:cxnSp>
        <p:nvCxnSpPr>
          <p:cNvPr id="4" name="直接连接符 3"/>
          <p:cNvCxnSpPr/>
          <p:nvPr userDrawn="1"/>
        </p:nvCxnSpPr>
        <p:spPr>
          <a:xfrm flipH="1">
            <a:off x="33391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10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7DC2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rgbClr val="C1E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784250" y="271204"/>
            <a:ext cx="4864359" cy="327421"/>
          </a:xfrm>
          <a:prstGeom prst="rect">
            <a:avLst/>
          </a:prstGeom>
        </p:spPr>
        <p:txBody>
          <a:bodyPr>
            <a:normAutofit/>
          </a:bodyPr>
          <a:lstStyle>
            <a:lvl1pPr marL="0" indent="0" algn="l">
              <a:buNone/>
              <a:defRPr sz="1200">
                <a:solidFill>
                  <a:srgbClr val="C1E2E5"/>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rgbClr val="C1E2E5"/>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2109" y="6483552"/>
            <a:ext cx="1647783" cy="24509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3" name="直接连接符 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8754004" y="255456"/>
            <a:ext cx="3216924" cy="276999"/>
          </a:xfrm>
          <a:prstGeom prst="rect">
            <a:avLst/>
          </a:prstGeom>
          <a:noFill/>
        </p:spPr>
        <p:txBody>
          <a:bodyPr wrap="square" rtlCol="0">
            <a:spAutoFit/>
          </a:bodyPr>
          <a:lstStyle/>
          <a:p>
            <a:pPr algn="r"/>
            <a:r>
              <a:rPr lang="zh-CN" altLang="en-US" sz="1200" spc="120" dirty="0">
                <a:solidFill>
                  <a:schemeClr val="bg1">
                    <a:lumMod val="65000"/>
                  </a:schemeClr>
                </a:solidFill>
                <a:latin typeface="微软雅黑" panose="020B0503020204020204" pitchFamily="34" charset="-122"/>
                <a:ea typeface="微软雅黑" panose="020B0503020204020204" pitchFamily="34" charset="-122"/>
              </a:rPr>
              <a:t>数据结构</a:t>
            </a:r>
            <a:endParaRPr lang="zh-CN" altLang="zh-CN" sz="1200" spc="12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9" name="组合 8"/>
          <p:cNvGrpSpPr/>
          <p:nvPr userDrawn="1"/>
        </p:nvGrpSpPr>
        <p:grpSpPr>
          <a:xfrm>
            <a:off x="333915" y="84221"/>
            <a:ext cx="531773" cy="420912"/>
            <a:chOff x="218722" y="105704"/>
            <a:chExt cx="573744" cy="454133"/>
          </a:xfrm>
        </p:grpSpPr>
        <p:grpSp>
          <p:nvGrpSpPr>
            <p:cNvPr id="3" name="组合 2"/>
            <p:cNvGrpSpPr/>
            <p:nvPr userDrawn="1"/>
          </p:nvGrpSpPr>
          <p:grpSpPr>
            <a:xfrm>
              <a:off x="218722" y="105704"/>
              <a:ext cx="490325" cy="454133"/>
              <a:chOff x="6175344" y="342254"/>
              <a:chExt cx="7803037" cy="7227071"/>
            </a:xfrm>
          </p:grpSpPr>
          <p:sp>
            <p:nvSpPr>
              <p:cNvPr id="4" name="六边形 3"/>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平行四边形 7"/>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userDrawn="1"/>
        </p:nvSpPr>
        <p:spPr>
          <a:xfrm>
            <a:off x="572335" y="230736"/>
            <a:ext cx="6324687" cy="275590"/>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第一节</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前馈神经网络</a:t>
            </a: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13" name="直接连接符 1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AD4BB0E-FBC4-4BEF-968B-097207DC0D58}"/>
              </a:ext>
            </a:extLst>
          </p:cNvPr>
          <p:cNvSpPr txBox="1">
            <a:spLocks noChangeArrowheads="1"/>
          </p:cNvSpPr>
          <p:nvPr userDrawn="1"/>
        </p:nvSpPr>
        <p:spPr bwMode="auto">
          <a:xfrm>
            <a:off x="833438" y="561975"/>
            <a:ext cx="1293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Arial Unicode MS" pitchFamily="34" charset="-122"/>
                <a:cs typeface="Arial Unicode MS" pitchFamily="34" charset="-122"/>
              </a:defRPr>
            </a:lvl1pPr>
            <a:lvl2pPr marL="742950" indent="-285750">
              <a:defRPr sz="1400">
                <a:solidFill>
                  <a:schemeClr val="tx1"/>
                </a:solidFill>
                <a:latin typeface="Verdana" pitchFamily="34" charset="0"/>
                <a:ea typeface="Arial Unicode MS" pitchFamily="34" charset="-122"/>
                <a:cs typeface="Arial Unicode MS" pitchFamily="34" charset="-122"/>
              </a:defRPr>
            </a:lvl2pPr>
            <a:lvl3pPr marL="1143000" indent="-228600">
              <a:defRPr sz="1400">
                <a:solidFill>
                  <a:schemeClr val="tx1"/>
                </a:solidFill>
                <a:latin typeface="Verdana" pitchFamily="34" charset="0"/>
                <a:ea typeface="Arial Unicode MS" pitchFamily="34" charset="-122"/>
                <a:cs typeface="Arial Unicode MS" pitchFamily="34" charset="-122"/>
              </a:defRPr>
            </a:lvl3pPr>
            <a:lvl4pPr marL="1600200" indent="-228600">
              <a:defRPr sz="1400">
                <a:solidFill>
                  <a:schemeClr val="tx1"/>
                </a:solidFill>
                <a:latin typeface="Verdana" pitchFamily="34" charset="0"/>
                <a:ea typeface="Arial Unicode MS" pitchFamily="34" charset="-122"/>
                <a:cs typeface="Arial Unicode MS" pitchFamily="34" charset="-122"/>
              </a:defRPr>
            </a:lvl4pPr>
            <a:lvl5pPr marL="2057400" indent="-228600">
              <a:defRPr sz="1400">
                <a:solidFill>
                  <a:schemeClr val="tx1"/>
                </a:solidFill>
                <a:latin typeface="Verdana" pitchFamily="34" charset="0"/>
                <a:ea typeface="Arial Unicode MS" pitchFamily="34" charset="-122"/>
                <a:cs typeface="Arial Unicode MS" pitchFamily="34" charset="-122"/>
              </a:defRPr>
            </a:lvl5pPr>
            <a:lvl6pPr marL="25146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6pPr>
            <a:lvl7pPr marL="29718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7pPr>
            <a:lvl8pPr marL="34290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8pPr>
            <a:lvl9pPr marL="38862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9pPr>
          </a:lstStyle>
          <a:p>
            <a:pPr algn="ctr">
              <a:defRPr/>
            </a:pPr>
            <a:r>
              <a:rPr lang="zh-CN" altLang="en-US" sz="1800">
                <a:solidFill>
                  <a:srgbClr val="FFFFFF"/>
                </a:solidFill>
                <a:latin typeface="Arial" charset="0"/>
                <a:ea typeface="微软雅黑" pitchFamily="34" charset="-122"/>
              </a:rPr>
              <a:t>目录页</a:t>
            </a:r>
          </a:p>
        </p:txBody>
      </p:sp>
      <p:cxnSp>
        <p:nvCxnSpPr>
          <p:cNvPr id="5" name="直接连接符 4">
            <a:extLst>
              <a:ext uri="{FF2B5EF4-FFF2-40B4-BE49-F238E27FC236}">
                <a16:creationId xmlns:a16="http://schemas.microsoft.com/office/drawing/2014/main" id="{2A9A37AB-AA8D-4AF2-8C41-4C75D92CB54F}"/>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C18F3F83-BA88-4A8E-9BD3-49F3E803AA6E}"/>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DCDE4F6F-9C22-4932-B705-F251E50962C3}"/>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4B8F7B05-D731-4C5A-93BF-32267FB55798}"/>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5FFB306-136E-446A-9333-DD6D1A05FD50}"/>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1BEBEFF-489A-41C0-8852-F40E4FAD032A}"/>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DE0A290B-3864-44C5-AD77-C9203AC88425}"/>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63543954-1B0E-47DC-9CD9-31EE9E9772BC}"/>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3B398F5-29BC-48D2-9B98-4B5F3987DD6E}"/>
              </a:ext>
            </a:extLst>
          </p:cNvPr>
          <p:cNvPicPr>
            <a:picLocks/>
          </p:cNvPicPr>
          <p:nvPr userDrawn="1"/>
        </p:nvPicPr>
        <p:blipFill>
          <a:blip r:embed="rId2" cstate="print">
            <a:duotone>
              <a:schemeClr val="accent1">
                <a:shade val="45000"/>
                <a:satMod val="135000"/>
              </a:schemeClr>
              <a:prstClr val="white"/>
            </a:duotone>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6A0B74CB-D30D-4477-8D7D-27BC115A1D62}"/>
              </a:ext>
            </a:extLst>
          </p:cNvPr>
          <p:cNvSpPr txBox="1">
            <a:spLocks/>
          </p:cNvSpPr>
          <p:nvPr userDrawn="1"/>
        </p:nvSpPr>
        <p:spPr bwMode="auto">
          <a:xfrm>
            <a:off x="3359150" y="527050"/>
            <a:ext cx="54879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宋体" panose="02010600030101010101" pitchFamily="2" charset="-122"/>
              </a:defRPr>
            </a:lvl1pPr>
            <a:lvl2pPr marL="669925" indent="-325438">
              <a:defRPr sz="1400">
                <a:solidFill>
                  <a:schemeClr val="tx1"/>
                </a:solidFill>
                <a:latin typeface="Arial" panose="020B0604020202020204" pitchFamily="34" charset="0"/>
                <a:ea typeface="宋体" panose="02010600030101010101" pitchFamily="2" charset="-122"/>
              </a:defRPr>
            </a:lvl2pPr>
            <a:lvl3pPr marL="1081088" indent="-366713">
              <a:defRPr sz="1400">
                <a:solidFill>
                  <a:schemeClr val="tx1"/>
                </a:solidFill>
                <a:latin typeface="Arial" panose="020B0604020202020204" pitchFamily="34" charset="0"/>
                <a:ea typeface="宋体" panose="02010600030101010101" pitchFamily="2" charset="-122"/>
              </a:defRPr>
            </a:lvl3pPr>
            <a:lvl4pPr marL="1339850" indent="-315913">
              <a:defRPr sz="1400">
                <a:solidFill>
                  <a:schemeClr val="tx1"/>
                </a:solidFill>
                <a:latin typeface="Arial" panose="020B0604020202020204" pitchFamily="34" charset="0"/>
                <a:ea typeface="宋体" panose="02010600030101010101" pitchFamily="2" charset="-122"/>
              </a:defRPr>
            </a:lvl4pPr>
            <a:lvl5pPr marL="1681163" indent="-339725">
              <a:defRPr sz="14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dirty="0">
                <a:solidFill>
                  <a:srgbClr val="0070C0"/>
                </a:solidFill>
                <a:latin typeface="Lucida Fax" panose="02060602050505020204" pitchFamily="18" charset="0"/>
                <a:ea typeface="微软雅黑" panose="020B0503020204020204" pitchFamily="34" charset="-122"/>
              </a:rPr>
              <a:t>3.1 </a:t>
            </a:r>
            <a:r>
              <a:rPr kumimoji="1" lang="zh-CN" altLang="en-US" sz="2800" b="1" dirty="0">
                <a:solidFill>
                  <a:srgbClr val="0070C0"/>
                </a:solidFill>
                <a:latin typeface="Lucida Fax" panose="02060602050505020204" pitchFamily="18" charset="0"/>
                <a:ea typeface="微软雅黑" panose="020B0503020204020204" pitchFamily="34" charset="-122"/>
              </a:rPr>
              <a:t>栈</a:t>
            </a:r>
          </a:p>
        </p:txBody>
      </p:sp>
      <p:sp>
        <p:nvSpPr>
          <p:cNvPr id="15" name="矩形 31">
            <a:extLst>
              <a:ext uri="{FF2B5EF4-FFF2-40B4-BE49-F238E27FC236}">
                <a16:creationId xmlns:a16="http://schemas.microsoft.com/office/drawing/2014/main" id="{FB5DDCB7-862A-49D4-8EC1-6DF5BE8ADFBA}"/>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ABFE3B55-D92E-4441-9FB2-136B5E9A0647}"/>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内容占位符 18">
            <a:extLst>
              <a:ext uri="{FF2B5EF4-FFF2-40B4-BE49-F238E27FC236}">
                <a16:creationId xmlns:a16="http://schemas.microsoft.com/office/drawing/2014/main" id="{9FBF8B2E-2A18-4CC3-9B5A-6E76D1D4325B}"/>
              </a:ext>
            </a:extLst>
          </p:cNvPr>
          <p:cNvSpPr txBox="1">
            <a:spLocks/>
          </p:cNvSpPr>
          <p:nvPr userDrawn="1"/>
        </p:nvSpPr>
        <p:spPr>
          <a:xfrm>
            <a:off x="908050" y="581025"/>
            <a:ext cx="1920875" cy="409575"/>
          </a:xfrm>
          <a:prstGeom prst="rect">
            <a:avLst/>
          </a:prstGeom>
        </p:spPr>
        <p:txBody>
          <a:bodyPr/>
          <a:lstStyle>
            <a:lvl1pPr marL="0" indent="0" algn="ctr" rtl="0" eaLnBrk="1" fontAlgn="base" hangingPunct="1">
              <a:spcBef>
                <a:spcPct val="0"/>
              </a:spcBef>
              <a:spcAft>
                <a:spcPct val="0"/>
              </a:spcAft>
              <a:buClr>
                <a:srgbClr val="002060"/>
              </a:buClr>
              <a:buSzPct val="65000"/>
              <a:buFontTx/>
              <a:buNone/>
              <a:defRPr kumimoji="1" lang="zh-CN" altLang="en-US" sz="2400" b="1" kern="1200" dirty="0" smtClean="0">
                <a:solidFill>
                  <a:srgbClr val="FF6600"/>
                </a:solidFill>
                <a:latin typeface="Lucida Fax" panose="02060602050505020204" pitchFamily="18" charset="0"/>
                <a:ea typeface="微软雅黑" panose="020B0503020204020204" pitchFamily="34" charset="-122"/>
                <a:cs typeface="Arial Unicode MS" panose="020B0604020202020204" pitchFamily="34" charset="-122"/>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800"/>
              <a:t>栈与队列</a:t>
            </a:r>
          </a:p>
        </p:txBody>
      </p:sp>
      <p:sp>
        <p:nvSpPr>
          <p:cNvPr id="18" name="内容占位符 18">
            <a:extLst>
              <a:ext uri="{FF2B5EF4-FFF2-40B4-BE49-F238E27FC236}">
                <a16:creationId xmlns:a16="http://schemas.microsoft.com/office/drawing/2014/main" id="{4462C938-3611-42EE-AA3A-4AE212540AC1}"/>
              </a:ext>
            </a:extLst>
          </p:cNvPr>
          <p:cNvSpPr txBox="1">
            <a:spLocks/>
          </p:cNvSpPr>
          <p:nvPr userDrawn="1"/>
        </p:nvSpPr>
        <p:spPr>
          <a:xfrm>
            <a:off x="908050" y="15081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t>第三章</a:t>
            </a:r>
          </a:p>
        </p:txBody>
      </p:sp>
      <p:sp>
        <p:nvSpPr>
          <p:cNvPr id="19" name="TextBox 6">
            <a:extLst>
              <a:ext uri="{FF2B5EF4-FFF2-40B4-BE49-F238E27FC236}">
                <a16:creationId xmlns:a16="http://schemas.microsoft.com/office/drawing/2014/main" id="{B1DA9F59-F771-46F2-8493-BF6BF6C0BEAD}"/>
              </a:ext>
            </a:extLst>
          </p:cNvPr>
          <p:cNvSpPr txBox="1">
            <a:spLocks noChangeArrowheads="1"/>
          </p:cNvSpPr>
          <p:nvPr userDrawn="1"/>
        </p:nvSpPr>
        <p:spPr bwMode="auto">
          <a:xfrm>
            <a:off x="3122613" y="6407150"/>
            <a:ext cx="5334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1pPr>
            <a:lvl2pPr marL="742950" indent="-28575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2pPr>
            <a:lvl3pPr marL="11430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3pPr>
            <a:lvl4pPr marL="16002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4pPr>
            <a:lvl5pPr marL="20574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9pPr>
          </a:lstStyle>
          <a:p>
            <a:pPr algn="ctr">
              <a:defRPr/>
            </a:pPr>
            <a:fld id="{C54CBAF4-4C30-4E9D-8D2D-555A17F6AF5C}" type="slidenum">
              <a:rPr lang="en-US" altLang="zh-CN" sz="1200" smtClean="0"/>
              <a:pPr algn="ctr">
                <a:defRPr/>
              </a:pPr>
              <a:t>‹#›</a:t>
            </a:fld>
            <a:endParaRPr lang="zh-CN" altLang="en-US" sz="1200" dirty="0"/>
          </a:p>
        </p:txBody>
      </p:sp>
      <p:sp>
        <p:nvSpPr>
          <p:cNvPr id="20" name="文本框 19">
            <a:extLst>
              <a:ext uri="{FF2B5EF4-FFF2-40B4-BE49-F238E27FC236}">
                <a16:creationId xmlns:a16="http://schemas.microsoft.com/office/drawing/2014/main" id="{1B2C0C05-8F47-4F95-B72B-4B72CD5D3A12}"/>
              </a:ext>
            </a:extLst>
          </p:cNvPr>
          <p:cNvSpPr txBox="1">
            <a:spLocks noChangeArrowheads="1"/>
          </p:cNvSpPr>
          <p:nvPr userDrawn="1"/>
        </p:nvSpPr>
        <p:spPr bwMode="auto">
          <a:xfrm>
            <a:off x="5186363" y="6407150"/>
            <a:ext cx="24241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200" dirty="0">
                <a:solidFill>
                  <a:schemeClr val="bg1"/>
                </a:solidFill>
                <a:latin typeface="微软雅黑" panose="020B0503020204020204" pitchFamily="34" charset="-122"/>
                <a:ea typeface="微软雅黑" panose="020B0503020204020204" pitchFamily="34" charset="-122"/>
              </a:rPr>
              <a:t>北大</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数据结构与算法</a:t>
            </a:r>
            <a:r>
              <a:rPr lang="en-US" altLang="zh-CN" sz="1200" dirty="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标题 1"/>
          <p:cNvSpPr>
            <a:spLocks noGrp="1"/>
          </p:cNvSpPr>
          <p:nvPr>
            <p:ph type="title"/>
          </p:nvPr>
        </p:nvSpPr>
        <p:spPr>
          <a:xfrm>
            <a:off x="381295" y="1173160"/>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
        <p:nvSpPr>
          <p:cNvPr id="35" name="内容占位符 2"/>
          <p:cNvSpPr>
            <a:spLocks noGrp="1"/>
          </p:cNvSpPr>
          <p:nvPr>
            <p:ph idx="1"/>
          </p:nvPr>
        </p:nvSpPr>
        <p:spPr>
          <a:xfrm>
            <a:off x="380775" y="1777991"/>
            <a:ext cx="11430968" cy="4640542"/>
          </a:xfrm>
          <a:prstGeom prst="rect">
            <a:avLst/>
          </a:prstGeom>
        </p:spPr>
        <p:txBody>
          <a:bodyPr/>
          <a:lstStyle>
            <a:lvl1pPr marL="342866" indent="-342866">
              <a:lnSpc>
                <a:spcPct val="110000"/>
              </a:lnSpc>
              <a:spcBef>
                <a:spcPts val="600"/>
              </a:spcBef>
              <a:buSzPct val="70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lnSpc>
                <a:spcPct val="110000"/>
              </a:lnSpc>
              <a:spcBef>
                <a:spcPts val="600"/>
              </a:spcBef>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09650" indent="-333375">
              <a:lnSpc>
                <a:spcPct val="110000"/>
              </a:lnSpc>
              <a:spcBef>
                <a:spcPts val="600"/>
              </a:spcBef>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433513" indent="-352425">
              <a:lnSpc>
                <a:spcPct val="110000"/>
              </a:lnSpc>
              <a:spcBef>
                <a:spcPts val="600"/>
              </a:spcBef>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extLst>
      <p:ext uri="{BB962C8B-B14F-4D97-AF65-F5344CB8AC3E}">
        <p14:creationId xmlns:p14="http://schemas.microsoft.com/office/powerpoint/2010/main" val="1364200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E0FB296-BE02-43D7-9CA7-D371F000C115}"/>
              </a:ext>
            </a:extLst>
          </p:cNvPr>
          <p:cNvSpPr txBox="1">
            <a:spLocks noChangeArrowheads="1"/>
          </p:cNvSpPr>
          <p:nvPr userDrawn="1"/>
        </p:nvSpPr>
        <p:spPr bwMode="auto">
          <a:xfrm>
            <a:off x="833438" y="561975"/>
            <a:ext cx="1293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Arial Unicode MS" pitchFamily="34" charset="-122"/>
                <a:cs typeface="Arial Unicode MS" pitchFamily="34" charset="-122"/>
              </a:defRPr>
            </a:lvl1pPr>
            <a:lvl2pPr marL="742950" indent="-285750">
              <a:defRPr sz="1400">
                <a:solidFill>
                  <a:schemeClr val="tx1"/>
                </a:solidFill>
                <a:latin typeface="Verdana" pitchFamily="34" charset="0"/>
                <a:ea typeface="Arial Unicode MS" pitchFamily="34" charset="-122"/>
                <a:cs typeface="Arial Unicode MS" pitchFamily="34" charset="-122"/>
              </a:defRPr>
            </a:lvl2pPr>
            <a:lvl3pPr marL="1143000" indent="-228600">
              <a:defRPr sz="1400">
                <a:solidFill>
                  <a:schemeClr val="tx1"/>
                </a:solidFill>
                <a:latin typeface="Verdana" pitchFamily="34" charset="0"/>
                <a:ea typeface="Arial Unicode MS" pitchFamily="34" charset="-122"/>
                <a:cs typeface="Arial Unicode MS" pitchFamily="34" charset="-122"/>
              </a:defRPr>
            </a:lvl3pPr>
            <a:lvl4pPr marL="1600200" indent="-228600">
              <a:defRPr sz="1400">
                <a:solidFill>
                  <a:schemeClr val="tx1"/>
                </a:solidFill>
                <a:latin typeface="Verdana" pitchFamily="34" charset="0"/>
                <a:ea typeface="Arial Unicode MS" pitchFamily="34" charset="-122"/>
                <a:cs typeface="Arial Unicode MS" pitchFamily="34" charset="-122"/>
              </a:defRPr>
            </a:lvl4pPr>
            <a:lvl5pPr marL="2057400" indent="-228600">
              <a:defRPr sz="1400">
                <a:solidFill>
                  <a:schemeClr val="tx1"/>
                </a:solidFill>
                <a:latin typeface="Verdana" pitchFamily="34" charset="0"/>
                <a:ea typeface="Arial Unicode MS" pitchFamily="34" charset="-122"/>
                <a:cs typeface="Arial Unicode MS" pitchFamily="34" charset="-122"/>
              </a:defRPr>
            </a:lvl5pPr>
            <a:lvl6pPr marL="25146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6pPr>
            <a:lvl7pPr marL="29718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7pPr>
            <a:lvl8pPr marL="34290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8pPr>
            <a:lvl9pPr marL="38862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9pPr>
          </a:lstStyle>
          <a:p>
            <a:pPr algn="ctr">
              <a:defRPr/>
            </a:pPr>
            <a:r>
              <a:rPr lang="zh-CN" altLang="en-US" sz="1800">
                <a:solidFill>
                  <a:srgbClr val="FFFFFF"/>
                </a:solidFill>
                <a:latin typeface="Arial" charset="0"/>
                <a:ea typeface="微软雅黑" pitchFamily="34" charset="-122"/>
              </a:rPr>
              <a:t>目录页</a:t>
            </a:r>
          </a:p>
        </p:txBody>
      </p:sp>
      <p:cxnSp>
        <p:nvCxnSpPr>
          <p:cNvPr id="5" name="直接连接符 4">
            <a:extLst>
              <a:ext uri="{FF2B5EF4-FFF2-40B4-BE49-F238E27FC236}">
                <a16:creationId xmlns:a16="http://schemas.microsoft.com/office/drawing/2014/main" id="{97C9312A-636A-4960-9CAD-E6EE9D2CB02A}"/>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73557132-4289-41BA-A393-B45BD8F2871B}"/>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81230488-E14A-43B1-9E95-F12760D6CB3C}"/>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C2E03609-3263-4E0A-8073-8909A4F288EA}"/>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66B1E4F-0713-48BC-A0ED-9074FCA3C4D7}"/>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86A3616-17FA-4F55-9D69-7D9106E3170F}"/>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BFE94831-C519-4691-81A7-097165B0850C}"/>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F3B4C20E-A186-4049-9003-8E57AEAFBD11}"/>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3CC88DCE-2348-40EA-B037-7C344C09BC35}"/>
              </a:ext>
            </a:extLst>
          </p:cNvPr>
          <p:cNvPicPr>
            <a:picLocks/>
          </p:cNvPicPr>
          <p:nvPr userDrawn="1"/>
        </p:nvPicPr>
        <p:blipFill>
          <a:blip r:embed="rId2" cstate="print">
            <a:duotone>
              <a:schemeClr val="accent1">
                <a:shade val="45000"/>
                <a:satMod val="135000"/>
              </a:schemeClr>
              <a:prstClr val="white"/>
            </a:duotone>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F92A4047-001E-43AD-86E7-01C0B15810FA}"/>
              </a:ext>
            </a:extLst>
          </p:cNvPr>
          <p:cNvSpPr txBox="1">
            <a:spLocks/>
          </p:cNvSpPr>
          <p:nvPr userDrawn="1"/>
        </p:nvSpPr>
        <p:spPr bwMode="auto">
          <a:xfrm>
            <a:off x="3352800" y="536575"/>
            <a:ext cx="54879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宋体" panose="02010600030101010101" pitchFamily="2" charset="-122"/>
              </a:defRPr>
            </a:lvl1pPr>
            <a:lvl2pPr marL="669925" indent="-325438">
              <a:defRPr sz="1400">
                <a:solidFill>
                  <a:schemeClr val="tx1"/>
                </a:solidFill>
                <a:latin typeface="Arial" panose="020B0604020202020204" pitchFamily="34" charset="0"/>
                <a:ea typeface="宋体" panose="02010600030101010101" pitchFamily="2" charset="-122"/>
              </a:defRPr>
            </a:lvl2pPr>
            <a:lvl3pPr marL="1081088" indent="-366713">
              <a:defRPr sz="1400">
                <a:solidFill>
                  <a:schemeClr val="tx1"/>
                </a:solidFill>
                <a:latin typeface="Arial" panose="020B0604020202020204" pitchFamily="34" charset="0"/>
                <a:ea typeface="宋体" panose="02010600030101010101" pitchFamily="2" charset="-122"/>
              </a:defRPr>
            </a:lvl3pPr>
            <a:lvl4pPr marL="1339850" indent="-315913">
              <a:defRPr sz="1400">
                <a:solidFill>
                  <a:schemeClr val="tx1"/>
                </a:solidFill>
                <a:latin typeface="Arial" panose="020B0604020202020204" pitchFamily="34" charset="0"/>
                <a:ea typeface="宋体" panose="02010600030101010101" pitchFamily="2" charset="-122"/>
              </a:defRPr>
            </a:lvl4pPr>
            <a:lvl5pPr marL="1681163" indent="-339725">
              <a:defRPr sz="14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dirty="0">
                <a:solidFill>
                  <a:srgbClr val="0070C0"/>
                </a:solidFill>
                <a:latin typeface="Lucida Fax" panose="02060602050505020204" pitchFamily="18" charset="0"/>
                <a:ea typeface="微软雅黑" panose="020B0503020204020204" pitchFamily="34" charset="-122"/>
              </a:rPr>
              <a:t>3.2 </a:t>
            </a:r>
            <a:r>
              <a:rPr kumimoji="1" lang="zh-CN" altLang="en-US" sz="2800" b="1" dirty="0">
                <a:solidFill>
                  <a:srgbClr val="0070C0"/>
                </a:solidFill>
                <a:latin typeface="Lucida Fax" panose="02060602050505020204" pitchFamily="18" charset="0"/>
                <a:ea typeface="微软雅黑" panose="020B0503020204020204" pitchFamily="34" charset="-122"/>
              </a:rPr>
              <a:t> 队列</a:t>
            </a:r>
          </a:p>
        </p:txBody>
      </p:sp>
      <p:sp>
        <p:nvSpPr>
          <p:cNvPr id="15" name="矩形 31">
            <a:extLst>
              <a:ext uri="{FF2B5EF4-FFF2-40B4-BE49-F238E27FC236}">
                <a16:creationId xmlns:a16="http://schemas.microsoft.com/office/drawing/2014/main" id="{9AAAC9FE-1697-41EC-9DED-FAD5A94BDC21}"/>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C57945C5-A68D-46CE-970B-8E41B7C09BA2}"/>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内容占位符 18">
            <a:extLst>
              <a:ext uri="{FF2B5EF4-FFF2-40B4-BE49-F238E27FC236}">
                <a16:creationId xmlns:a16="http://schemas.microsoft.com/office/drawing/2014/main" id="{010F3718-2EE0-4402-8786-AEF3B3215B29}"/>
              </a:ext>
            </a:extLst>
          </p:cNvPr>
          <p:cNvSpPr txBox="1">
            <a:spLocks/>
          </p:cNvSpPr>
          <p:nvPr userDrawn="1"/>
        </p:nvSpPr>
        <p:spPr>
          <a:xfrm>
            <a:off x="908050" y="581025"/>
            <a:ext cx="1920875" cy="409575"/>
          </a:xfrm>
          <a:prstGeom prst="rect">
            <a:avLst/>
          </a:prstGeom>
        </p:spPr>
        <p:txBody>
          <a:bodyPr/>
          <a:lstStyle>
            <a:lvl1pPr marL="0" indent="0" algn="ctr" rtl="0" eaLnBrk="1" fontAlgn="base" hangingPunct="1">
              <a:spcBef>
                <a:spcPct val="0"/>
              </a:spcBef>
              <a:spcAft>
                <a:spcPct val="0"/>
              </a:spcAft>
              <a:buClr>
                <a:srgbClr val="002060"/>
              </a:buClr>
              <a:buSzPct val="65000"/>
              <a:buFontTx/>
              <a:buNone/>
              <a:defRPr kumimoji="1" lang="zh-CN" altLang="en-US" sz="2400" b="1" kern="1200" dirty="0" smtClean="0">
                <a:solidFill>
                  <a:srgbClr val="FF6600"/>
                </a:solidFill>
                <a:latin typeface="Lucida Fax" panose="02060602050505020204" pitchFamily="18" charset="0"/>
                <a:ea typeface="微软雅黑" panose="020B0503020204020204" pitchFamily="34" charset="-122"/>
                <a:cs typeface="Arial Unicode MS" panose="020B0604020202020204" pitchFamily="34" charset="-122"/>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800"/>
              <a:t>栈与队列</a:t>
            </a:r>
          </a:p>
        </p:txBody>
      </p:sp>
      <p:sp>
        <p:nvSpPr>
          <p:cNvPr id="18" name="内容占位符 18">
            <a:extLst>
              <a:ext uri="{FF2B5EF4-FFF2-40B4-BE49-F238E27FC236}">
                <a16:creationId xmlns:a16="http://schemas.microsoft.com/office/drawing/2014/main" id="{4BCA4BE1-C5C5-4505-939E-48CE7092087C}"/>
              </a:ext>
            </a:extLst>
          </p:cNvPr>
          <p:cNvSpPr txBox="1">
            <a:spLocks/>
          </p:cNvSpPr>
          <p:nvPr userDrawn="1"/>
        </p:nvSpPr>
        <p:spPr>
          <a:xfrm>
            <a:off x="908050" y="15081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t>第三章</a:t>
            </a:r>
          </a:p>
        </p:txBody>
      </p:sp>
      <p:sp>
        <p:nvSpPr>
          <p:cNvPr id="19" name="TextBox 6">
            <a:extLst>
              <a:ext uri="{FF2B5EF4-FFF2-40B4-BE49-F238E27FC236}">
                <a16:creationId xmlns:a16="http://schemas.microsoft.com/office/drawing/2014/main" id="{BD4095C9-B65C-4563-9A59-6993EA0B9F95}"/>
              </a:ext>
            </a:extLst>
          </p:cNvPr>
          <p:cNvSpPr txBox="1">
            <a:spLocks noChangeArrowheads="1"/>
          </p:cNvSpPr>
          <p:nvPr userDrawn="1"/>
        </p:nvSpPr>
        <p:spPr bwMode="auto">
          <a:xfrm>
            <a:off x="3122613" y="6407150"/>
            <a:ext cx="5334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1pPr>
            <a:lvl2pPr marL="742950" indent="-28575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2pPr>
            <a:lvl3pPr marL="11430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3pPr>
            <a:lvl4pPr marL="16002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4pPr>
            <a:lvl5pPr marL="20574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9pPr>
          </a:lstStyle>
          <a:p>
            <a:pPr algn="ctr">
              <a:defRPr/>
            </a:pPr>
            <a:fld id="{86B08D97-24CC-45B8-892C-D687009A71A5}" type="slidenum">
              <a:rPr lang="en-US" altLang="zh-CN" sz="1200" smtClean="0"/>
              <a:pPr algn="ctr">
                <a:defRPr/>
              </a:pPr>
              <a:t>‹#›</a:t>
            </a:fld>
            <a:endParaRPr lang="zh-CN" altLang="en-US" sz="1200" dirty="0"/>
          </a:p>
        </p:txBody>
      </p:sp>
      <p:sp>
        <p:nvSpPr>
          <p:cNvPr id="20" name="文本框 19">
            <a:extLst>
              <a:ext uri="{FF2B5EF4-FFF2-40B4-BE49-F238E27FC236}">
                <a16:creationId xmlns:a16="http://schemas.microsoft.com/office/drawing/2014/main" id="{9D0835B2-9BD7-455A-A406-AE07BECE79B9}"/>
              </a:ext>
            </a:extLst>
          </p:cNvPr>
          <p:cNvSpPr txBox="1">
            <a:spLocks noChangeArrowheads="1"/>
          </p:cNvSpPr>
          <p:nvPr userDrawn="1"/>
        </p:nvSpPr>
        <p:spPr bwMode="auto">
          <a:xfrm>
            <a:off x="5186363" y="6407150"/>
            <a:ext cx="24241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200" dirty="0">
                <a:solidFill>
                  <a:schemeClr val="bg1"/>
                </a:solidFill>
                <a:latin typeface="微软雅黑" panose="020B0503020204020204" pitchFamily="34" charset="-122"/>
                <a:ea typeface="微软雅黑" panose="020B0503020204020204" pitchFamily="34" charset="-122"/>
              </a:rPr>
              <a:t>北大</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数据结构与算法</a:t>
            </a:r>
            <a:r>
              <a:rPr lang="en-US" altLang="zh-CN" sz="1200" dirty="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标题 1"/>
          <p:cNvSpPr>
            <a:spLocks noGrp="1"/>
          </p:cNvSpPr>
          <p:nvPr>
            <p:ph type="title"/>
          </p:nvPr>
        </p:nvSpPr>
        <p:spPr>
          <a:xfrm>
            <a:off x="381295" y="1173160"/>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
        <p:nvSpPr>
          <p:cNvPr id="35" name="内容占位符 2"/>
          <p:cNvSpPr>
            <a:spLocks noGrp="1"/>
          </p:cNvSpPr>
          <p:nvPr>
            <p:ph idx="1"/>
          </p:nvPr>
        </p:nvSpPr>
        <p:spPr>
          <a:xfrm>
            <a:off x="401139" y="1655483"/>
            <a:ext cx="11430968" cy="4640542"/>
          </a:xfrm>
          <a:prstGeom prst="rect">
            <a:avLst/>
          </a:prstGeom>
        </p:spPr>
        <p:txBody>
          <a:bodyPr/>
          <a:lstStyle>
            <a:lvl1pPr marL="342866" indent="-342866">
              <a:lnSpc>
                <a:spcPct val="110000"/>
              </a:lnSpc>
              <a:spcBef>
                <a:spcPts val="600"/>
              </a:spcBef>
              <a:buSzPct val="75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lnSpc>
                <a:spcPct val="110000"/>
              </a:lnSpc>
              <a:spcBef>
                <a:spcPts val="600"/>
              </a:spcBef>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81088" indent="-363538">
              <a:lnSpc>
                <a:spcPct val="110000"/>
              </a:lnSpc>
              <a:spcBef>
                <a:spcPts val="600"/>
              </a:spcBef>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433513" indent="-352425">
              <a:lnSpc>
                <a:spcPct val="110000"/>
              </a:lnSpc>
              <a:spcBef>
                <a:spcPts val="600"/>
              </a:spcBef>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extLst>
      <p:ext uri="{BB962C8B-B14F-4D97-AF65-F5344CB8AC3E}">
        <p14:creationId xmlns:p14="http://schemas.microsoft.com/office/powerpoint/2010/main" val="2487674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标题和内容">
    <p:spTree>
      <p:nvGrpSpPr>
        <p:cNvPr id="1" name=""/>
        <p:cNvGrpSpPr/>
        <p:nvPr/>
      </p:nvGrpSpPr>
      <p:grpSpPr>
        <a:xfrm>
          <a:off x="0" y="0"/>
          <a:ext cx="0" cy="0"/>
          <a:chOff x="0" y="0"/>
          <a:chExt cx="0" cy="0"/>
        </a:xfrm>
      </p:grpSpPr>
      <p:sp>
        <p:nvSpPr>
          <p:cNvPr id="4" name="文本框 24">
            <a:extLst>
              <a:ext uri="{FF2B5EF4-FFF2-40B4-BE49-F238E27FC236}">
                <a16:creationId xmlns:a16="http://schemas.microsoft.com/office/drawing/2014/main" id="{5DE5BCFA-D198-4852-97D7-471A668203E3}"/>
              </a:ext>
            </a:extLst>
          </p:cNvPr>
          <p:cNvSpPr txBox="1">
            <a:spLocks noChangeArrowheads="1"/>
          </p:cNvSpPr>
          <p:nvPr userDrawn="1"/>
        </p:nvSpPr>
        <p:spPr bwMode="auto">
          <a:xfrm>
            <a:off x="833438" y="561975"/>
            <a:ext cx="1293812" cy="369888"/>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a:solidFill>
                  <a:srgbClr val="FFFFFF"/>
                </a:solidFill>
                <a:ea typeface="微软雅黑" panose="020B0503020204020204" pitchFamily="34" charset="-122"/>
                <a:cs typeface="Arial Unicode MS" pitchFamily="34" charset="-128"/>
              </a:rPr>
              <a:t>目录页</a:t>
            </a:r>
          </a:p>
        </p:txBody>
      </p:sp>
      <p:cxnSp>
        <p:nvCxnSpPr>
          <p:cNvPr id="5" name="直接连接符 4">
            <a:extLst>
              <a:ext uri="{FF2B5EF4-FFF2-40B4-BE49-F238E27FC236}">
                <a16:creationId xmlns:a16="http://schemas.microsoft.com/office/drawing/2014/main" id="{18315102-61E2-4816-9405-8E7D2DE99004}"/>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473235C7-7541-420B-ACA3-45813647FCCC}"/>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94663E30-06F7-4E5F-AAC6-BDC4FF6EDE15}"/>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9064CFA7-6B78-4197-8D8D-5EB647D9B8D4}"/>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A5CA1BA-22DE-4D48-9716-4A75D4C8F660}"/>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849F321-542B-4FE4-8676-08ECE19F1221}"/>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ED479A77-E5E6-4A4B-B705-279150C8C240}"/>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33DC3BD8-8643-4824-9A7B-7172E6EE02F8}"/>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6E9E49EF-8D2B-45A6-BECE-7D8FD19C7EA3}"/>
              </a:ext>
            </a:extLst>
          </p:cNvPr>
          <p:cNvPicPr>
            <a:picLocks/>
          </p:cNvPicPr>
          <p:nvPr userDrawn="1"/>
        </p:nvPicPr>
        <p:blipFill>
          <a:blip r:embed="rId2" cstate="print">
            <a:duotone>
              <a:schemeClr val="accent1">
                <a:shade val="45000"/>
                <a:satMod val="135000"/>
              </a:schemeClr>
              <a:prstClr val="white"/>
            </a:duotone>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AD8193C7-5F4C-479B-B161-AF238958F20E}"/>
              </a:ext>
            </a:extLst>
          </p:cNvPr>
          <p:cNvSpPr txBox="1">
            <a:spLocks/>
          </p:cNvSpPr>
          <p:nvPr userDrawn="1"/>
        </p:nvSpPr>
        <p:spPr bwMode="auto">
          <a:xfrm>
            <a:off x="3359150" y="527050"/>
            <a:ext cx="5487988" cy="493713"/>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669925" indent="-325438">
              <a:defRPr>
                <a:solidFill>
                  <a:schemeClr val="tx1"/>
                </a:solidFill>
                <a:latin typeface="Arial" panose="020B0604020202020204" pitchFamily="34" charset="0"/>
                <a:ea typeface="宋体" panose="02010600030101010101" pitchFamily="2" charset="-122"/>
              </a:defRPr>
            </a:lvl2pPr>
            <a:lvl3pPr marL="1081088" indent="-366713">
              <a:defRPr>
                <a:solidFill>
                  <a:schemeClr val="tx1"/>
                </a:solidFill>
                <a:latin typeface="Arial" panose="020B0604020202020204" pitchFamily="34" charset="0"/>
                <a:ea typeface="宋体" panose="02010600030101010101" pitchFamily="2" charset="-122"/>
              </a:defRPr>
            </a:lvl3pPr>
            <a:lvl4pPr marL="1339850" indent="-315913">
              <a:defRPr>
                <a:solidFill>
                  <a:schemeClr val="tx1"/>
                </a:solidFill>
                <a:latin typeface="Arial" panose="020B0604020202020204" pitchFamily="34" charset="0"/>
                <a:ea typeface="宋体" panose="02010600030101010101" pitchFamily="2" charset="-122"/>
              </a:defRPr>
            </a:lvl4pPr>
            <a:lvl5pPr marL="1681163" indent="-339725">
              <a:defRPr>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a:solidFill>
                  <a:srgbClr val="0070C0"/>
                </a:solidFill>
                <a:latin typeface="Lucida Fax" panose="02060602050505020204" pitchFamily="18" charset="0"/>
                <a:ea typeface="微软雅黑" panose="020B0503020204020204" pitchFamily="34" charset="-122"/>
              </a:rPr>
              <a:t>3.3 </a:t>
            </a:r>
            <a:r>
              <a:rPr kumimoji="1" lang="zh-CN" altLang="en-US" sz="2800" b="1">
                <a:solidFill>
                  <a:srgbClr val="0070C0"/>
                </a:solidFill>
                <a:latin typeface="Lucida Fax" panose="02060602050505020204" pitchFamily="18" charset="0"/>
                <a:ea typeface="微软雅黑" panose="020B0503020204020204" pitchFamily="34" charset="-122"/>
              </a:rPr>
              <a:t> 栈的应用</a:t>
            </a:r>
          </a:p>
        </p:txBody>
      </p:sp>
      <p:sp>
        <p:nvSpPr>
          <p:cNvPr id="15" name="矩形 31">
            <a:extLst>
              <a:ext uri="{FF2B5EF4-FFF2-40B4-BE49-F238E27FC236}">
                <a16:creationId xmlns:a16="http://schemas.microsoft.com/office/drawing/2014/main" id="{04EE704B-687D-4C93-9CDC-76585DA47BD0}"/>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845C81A2-5DB5-4A28-8D21-59F6D2D87062}"/>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TextBox 6">
            <a:extLst>
              <a:ext uri="{FF2B5EF4-FFF2-40B4-BE49-F238E27FC236}">
                <a16:creationId xmlns:a16="http://schemas.microsoft.com/office/drawing/2014/main" id="{15ED2BE6-71C6-4E57-AF5D-E51790169600}"/>
              </a:ext>
            </a:extLst>
          </p:cNvPr>
          <p:cNvSpPr txBox="1">
            <a:spLocks noChangeArrowheads="1"/>
          </p:cNvSpPr>
          <p:nvPr userDrawn="1"/>
        </p:nvSpPr>
        <p:spPr bwMode="auto">
          <a:xfrm>
            <a:off x="3122613" y="6432550"/>
            <a:ext cx="533400" cy="25400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fld id="{4AB2D3A5-5B64-4811-A622-8FF310B2306D}" type="slidenum">
              <a:rPr lang="en-US" altLang="zh-CN" sz="1000" smtClean="0">
                <a:latin typeface="Verdana" panose="020B0604030504040204" pitchFamily="34" charset="0"/>
                <a:ea typeface="Arial Unicode MS" pitchFamily="34" charset="-128"/>
              </a:rPr>
              <a:pPr algn="ctr">
                <a:defRPr/>
              </a:pPr>
              <a:t>‹#›</a:t>
            </a:fld>
            <a:endParaRPr lang="zh-CN" altLang="en-US" sz="1000">
              <a:latin typeface="Verdana" panose="020B0604030504040204" pitchFamily="34" charset="0"/>
              <a:ea typeface="Arial Unicode MS" pitchFamily="34" charset="-128"/>
            </a:endParaRPr>
          </a:p>
        </p:txBody>
      </p:sp>
      <p:sp>
        <p:nvSpPr>
          <p:cNvPr id="18" name="文本框 17">
            <a:extLst>
              <a:ext uri="{FF2B5EF4-FFF2-40B4-BE49-F238E27FC236}">
                <a16:creationId xmlns:a16="http://schemas.microsoft.com/office/drawing/2014/main" id="{9ED2FBD6-89BF-4805-A6E1-E4C14271BE3D}"/>
              </a:ext>
            </a:extLst>
          </p:cNvPr>
          <p:cNvSpPr txBox="1">
            <a:spLocks noChangeArrowheads="1"/>
          </p:cNvSpPr>
          <p:nvPr userDrawn="1"/>
        </p:nvSpPr>
        <p:spPr bwMode="auto">
          <a:xfrm>
            <a:off x="4511675" y="6421438"/>
            <a:ext cx="3168650" cy="27622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200">
                <a:solidFill>
                  <a:schemeClr val="bg1"/>
                </a:solidFill>
                <a:latin typeface="微软雅黑" panose="020B0503020204020204" pitchFamily="34" charset="-122"/>
                <a:ea typeface="微软雅黑" panose="020B0503020204020204" pitchFamily="34" charset="-122"/>
              </a:rPr>
              <a:t>北京大学</a:t>
            </a:r>
            <a:r>
              <a:rPr lang="en-US" altLang="zh-CN" sz="1200">
                <a:solidFill>
                  <a:schemeClr val="bg1"/>
                </a:solidFill>
                <a:latin typeface="微软雅黑" panose="020B0503020204020204" pitchFamily="34" charset="-122"/>
                <a:ea typeface="微软雅黑" panose="020B0503020204020204" pitchFamily="34" charset="-122"/>
              </a:rPr>
              <a:t>《</a:t>
            </a:r>
            <a:r>
              <a:rPr lang="zh-CN" altLang="en-US" sz="1200">
                <a:solidFill>
                  <a:schemeClr val="bg1"/>
                </a:solidFill>
                <a:latin typeface="微软雅黑" panose="020B0503020204020204" pitchFamily="34" charset="-122"/>
                <a:ea typeface="微软雅黑" panose="020B0503020204020204" pitchFamily="34" charset="-122"/>
              </a:rPr>
              <a:t>数据结构与算法 </a:t>
            </a:r>
            <a:r>
              <a:rPr lang="en-US" altLang="zh-CN" sz="1200">
                <a:solidFill>
                  <a:schemeClr val="bg1"/>
                </a:solidFill>
                <a:latin typeface="微软雅黑" panose="020B0503020204020204" pitchFamily="34" charset="-122"/>
                <a:ea typeface="微软雅黑" panose="020B0503020204020204" pitchFamily="34" charset="-122"/>
              </a:rPr>
              <a:t>B》      </a:t>
            </a:r>
            <a:r>
              <a:rPr lang="zh-CN" altLang="en-US" sz="1200">
                <a:solidFill>
                  <a:schemeClr val="bg1"/>
                </a:solidFill>
                <a:latin typeface="微软雅黑" panose="020B0503020204020204" pitchFamily="34" charset="-122"/>
                <a:ea typeface="微软雅黑" panose="020B0503020204020204" pitchFamily="34" charset="-122"/>
              </a:rPr>
              <a:t>赵海燕</a:t>
            </a:r>
          </a:p>
        </p:txBody>
      </p:sp>
      <p:sp>
        <p:nvSpPr>
          <p:cNvPr id="19" name="内容占位符 18">
            <a:extLst>
              <a:ext uri="{FF2B5EF4-FFF2-40B4-BE49-F238E27FC236}">
                <a16:creationId xmlns:a16="http://schemas.microsoft.com/office/drawing/2014/main" id="{167D4390-8A04-49DF-AB6B-6D55B7AF5902}"/>
              </a:ext>
            </a:extLst>
          </p:cNvPr>
          <p:cNvSpPr txBox="1">
            <a:spLocks/>
          </p:cNvSpPr>
          <p:nvPr userDrawn="1"/>
        </p:nvSpPr>
        <p:spPr>
          <a:xfrm>
            <a:off x="908050" y="581025"/>
            <a:ext cx="1920875" cy="409575"/>
          </a:xfrm>
          <a:prstGeom prst="rect">
            <a:avLst/>
          </a:prstGeom>
        </p:spPr>
        <p:txBody>
          <a:bodyPr/>
          <a:lstStyle>
            <a:lvl1pPr>
              <a:defRPr>
                <a:solidFill>
                  <a:schemeClr val="tx1"/>
                </a:solidFill>
                <a:latin typeface="Arial" panose="020B0604020202020204" pitchFamily="34" charset="0"/>
                <a:ea typeface="宋体" panose="02010600030101010101" pitchFamily="2" charset="-122"/>
              </a:defRPr>
            </a:lvl1pPr>
            <a:lvl2pPr marL="669925" indent="-325438">
              <a:defRPr>
                <a:solidFill>
                  <a:schemeClr val="tx1"/>
                </a:solidFill>
                <a:latin typeface="Arial" panose="020B0604020202020204" pitchFamily="34" charset="0"/>
                <a:ea typeface="宋体" panose="02010600030101010101" pitchFamily="2" charset="-122"/>
              </a:defRPr>
            </a:lvl2pPr>
            <a:lvl3pPr marL="1081088" indent="-366713">
              <a:defRPr>
                <a:solidFill>
                  <a:schemeClr val="tx1"/>
                </a:solidFill>
                <a:latin typeface="Arial" panose="020B0604020202020204" pitchFamily="34" charset="0"/>
                <a:ea typeface="宋体" panose="02010600030101010101" pitchFamily="2" charset="-122"/>
              </a:defRPr>
            </a:lvl3pPr>
            <a:lvl4pPr marL="1339850" indent="-315913">
              <a:defRPr>
                <a:solidFill>
                  <a:schemeClr val="tx1"/>
                </a:solidFill>
                <a:latin typeface="Arial" panose="020B0604020202020204" pitchFamily="34" charset="0"/>
                <a:ea typeface="宋体" panose="02010600030101010101" pitchFamily="2" charset="-122"/>
              </a:defRPr>
            </a:lvl4pPr>
            <a:lvl5pPr marL="1681163" indent="-339725">
              <a:defRPr>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65000"/>
              <a:defRPr/>
            </a:pPr>
            <a:r>
              <a:rPr kumimoji="1" lang="zh-CN" altLang="en-US" b="1">
                <a:solidFill>
                  <a:srgbClr val="FF6600"/>
                </a:solidFill>
                <a:latin typeface="Lucida Fax" panose="02060602050505020204" pitchFamily="18" charset="0"/>
                <a:ea typeface="微软雅黑" panose="020B0503020204020204" pitchFamily="34" charset="-122"/>
                <a:cs typeface="Arial Unicode MS" pitchFamily="34" charset="-128"/>
              </a:rPr>
              <a:t>栈与队列</a:t>
            </a:r>
          </a:p>
        </p:txBody>
      </p:sp>
      <p:sp>
        <p:nvSpPr>
          <p:cNvPr id="20" name="内容占位符 18">
            <a:extLst>
              <a:ext uri="{FF2B5EF4-FFF2-40B4-BE49-F238E27FC236}">
                <a16:creationId xmlns:a16="http://schemas.microsoft.com/office/drawing/2014/main" id="{0B653835-5CA6-421F-A03E-D47F13D30B91}"/>
              </a:ext>
            </a:extLst>
          </p:cNvPr>
          <p:cNvSpPr txBox="1">
            <a:spLocks/>
          </p:cNvSpPr>
          <p:nvPr userDrawn="1"/>
        </p:nvSpPr>
        <p:spPr>
          <a:xfrm>
            <a:off x="908050" y="16986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200"/>
              <a:t>第</a:t>
            </a:r>
            <a:r>
              <a:rPr lang="en-US" altLang="zh-CN" sz="1200"/>
              <a:t>3</a:t>
            </a:r>
            <a:r>
              <a:rPr sz="1200"/>
              <a:t>章</a:t>
            </a:r>
          </a:p>
        </p:txBody>
      </p:sp>
      <p:sp>
        <p:nvSpPr>
          <p:cNvPr id="35" name="内容占位符 2"/>
          <p:cNvSpPr>
            <a:spLocks noGrp="1"/>
          </p:cNvSpPr>
          <p:nvPr>
            <p:ph idx="1"/>
          </p:nvPr>
        </p:nvSpPr>
        <p:spPr>
          <a:xfrm>
            <a:off x="380776" y="1672598"/>
            <a:ext cx="11430448" cy="4640542"/>
          </a:xfrm>
          <a:prstGeom prst="rect">
            <a:avLst/>
          </a:prstGeom>
        </p:spPr>
        <p:txBody>
          <a:bodyPr/>
          <a:lstStyle>
            <a:lvl1pPr marL="342866" indent="-342866">
              <a:buSzPct val="75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09650" indent="-333375">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343025" indent="-333375">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23" name="标题 1"/>
          <p:cNvSpPr>
            <a:spLocks noGrp="1"/>
          </p:cNvSpPr>
          <p:nvPr>
            <p:ph type="title"/>
          </p:nvPr>
        </p:nvSpPr>
        <p:spPr>
          <a:xfrm>
            <a:off x="380776" y="1101725"/>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Tree>
    <p:extLst>
      <p:ext uri="{BB962C8B-B14F-4D97-AF65-F5344CB8AC3E}">
        <p14:creationId xmlns:p14="http://schemas.microsoft.com/office/powerpoint/2010/main" val="360496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1D61378-96A5-D01A-9AF1-FB7357DA9B14}"/>
              </a:ext>
            </a:extLst>
          </p:cNvPr>
          <p:cNvSpPr>
            <a:spLocks noGrp="1"/>
          </p:cNvSpPr>
          <p:nvPr>
            <p:ph type="dt" sz="half" idx="10"/>
          </p:nvPr>
        </p:nvSpPr>
        <p:spPr/>
        <p:txBody>
          <a:bodyPr/>
          <a:lstStyle/>
          <a:p>
            <a:fld id="{1FCE56C6-9774-47FC-A39E-CCCBDFE7815A}" type="datetimeFigureOut">
              <a:rPr lang="zh-CN" altLang="en-US" smtClean="0"/>
              <a:t>2025/10/10</a:t>
            </a:fld>
            <a:endParaRPr lang="zh-CN" altLang="en-US"/>
          </a:p>
        </p:txBody>
      </p:sp>
      <p:sp>
        <p:nvSpPr>
          <p:cNvPr id="3" name="页脚占位符 2">
            <a:extLst>
              <a:ext uri="{FF2B5EF4-FFF2-40B4-BE49-F238E27FC236}">
                <a16:creationId xmlns:a16="http://schemas.microsoft.com/office/drawing/2014/main" id="{577C0397-37FF-49F6-72E1-320E049893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9F819A4-AE93-72AC-7461-119C92E9A747}"/>
              </a:ext>
            </a:extLst>
          </p:cNvPr>
          <p:cNvSpPr>
            <a:spLocks noGrp="1"/>
          </p:cNvSpPr>
          <p:nvPr>
            <p:ph type="sldNum" sz="quarter" idx="12"/>
          </p:nvPr>
        </p:nvSpPr>
        <p:spPr/>
        <p:txBody>
          <a:bodyPr/>
          <a:lstStyle/>
          <a:p>
            <a:fld id="{A8FC8200-D7D1-4D60-9004-3F0BBDC27A78}" type="slidenum">
              <a:rPr lang="zh-CN" altLang="en-US" smtClean="0"/>
              <a:t>‹#›</a:t>
            </a:fld>
            <a:endParaRPr lang="zh-CN" altLang="en-US"/>
          </a:p>
        </p:txBody>
      </p:sp>
    </p:spTree>
    <p:extLst>
      <p:ext uri="{BB962C8B-B14F-4D97-AF65-F5344CB8AC3E}">
        <p14:creationId xmlns:p14="http://schemas.microsoft.com/office/powerpoint/2010/main" val="274915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CE56C6-9774-47FC-A39E-CCCBDFE7815A}" type="datetimeFigureOut">
              <a:rPr lang="zh-CN" altLang="en-US" smtClean="0"/>
              <a:t>2025/10/10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FC8200-D7D1-4D60-9004-3F0BBDC27A7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 id="2147483658" r:id="rId6"/>
    <p:sldLayoutId id="2147483650" r:id="rId7"/>
    <p:sldLayoutId id="2147483651" r:id="rId8"/>
    <p:sldLayoutId id="2147483652" r:id="rId9"/>
    <p:sldLayoutId id="2147483653"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poj.org/problem?id=1363"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1.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21" Type="http://schemas.openxmlformats.org/officeDocument/2006/relationships/image" Target="../media/image11.png"/><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19.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8.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31.emf"/><Relationship Id="rId3" Type="http://schemas.openxmlformats.org/officeDocument/2006/relationships/image" Target="../media/image21.emf"/><Relationship Id="rId7" Type="http://schemas.openxmlformats.org/officeDocument/2006/relationships/image" Target="../media/image25.emf"/><Relationship Id="rId12" Type="http://schemas.openxmlformats.org/officeDocument/2006/relationships/image" Target="../media/image30.emf"/><Relationship Id="rId2" Type="http://schemas.openxmlformats.org/officeDocument/2006/relationships/image" Target="../media/image20.emf"/><Relationship Id="rId1" Type="http://schemas.openxmlformats.org/officeDocument/2006/relationships/slideLayout" Target="../slideLayouts/slideLayout2.xml"/><Relationship Id="rId6" Type="http://schemas.openxmlformats.org/officeDocument/2006/relationships/image" Target="../media/image24.emf"/><Relationship Id="rId11" Type="http://schemas.openxmlformats.org/officeDocument/2006/relationships/image" Target="../media/image29.emf"/><Relationship Id="rId5" Type="http://schemas.openxmlformats.org/officeDocument/2006/relationships/image" Target="../media/image23.emf"/><Relationship Id="rId15" Type="http://schemas.openxmlformats.org/officeDocument/2006/relationships/image" Target="../media/image33.emf"/><Relationship Id="rId10" Type="http://schemas.openxmlformats.org/officeDocument/2006/relationships/image" Target="../media/image28.emf"/><Relationship Id="rId4" Type="http://schemas.openxmlformats.org/officeDocument/2006/relationships/image" Target="../media/image22.emf"/><Relationship Id="rId9" Type="http://schemas.openxmlformats.org/officeDocument/2006/relationships/image" Target="../media/image27.emf"/><Relationship Id="rId14" Type="http://schemas.openxmlformats.org/officeDocument/2006/relationships/image" Target="../media/image32.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slideLayout" Target="../slideLayouts/slideLayout14.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image" Target="../media/image34.tmp"/></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tags" Target="../tags/tag59.xml"/><Relationship Id="rId18" Type="http://schemas.openxmlformats.org/officeDocument/2006/relationships/slideLayout" Target="../slideLayouts/slideLayout14.xml"/><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tags" Target="../tags/tag58.xml"/><Relationship Id="rId17" Type="http://schemas.openxmlformats.org/officeDocument/2006/relationships/tags" Target="../tags/tag63.xml"/><Relationship Id="rId2" Type="http://schemas.openxmlformats.org/officeDocument/2006/relationships/tags" Target="../tags/tag48.xml"/><Relationship Id="rId16" Type="http://schemas.openxmlformats.org/officeDocument/2006/relationships/tags" Target="../tags/tag62.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5" Type="http://schemas.openxmlformats.org/officeDocument/2006/relationships/tags" Target="../tags/tag51.xml"/><Relationship Id="rId15" Type="http://schemas.openxmlformats.org/officeDocument/2006/relationships/tags" Target="../tags/tag61.xml"/><Relationship Id="rId10" Type="http://schemas.openxmlformats.org/officeDocument/2006/relationships/tags" Target="../tags/tag56.xml"/><Relationship Id="rId19" Type="http://schemas.openxmlformats.org/officeDocument/2006/relationships/image" Target="../media/image34.tmp"/><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s>
</file>

<file path=ppt/slides/_rels/slide50.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slideLayout" Target="../slideLayouts/slideLayout14.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image" Target="../media/image34.tmp"/><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slideLayout" Target="../slideLayouts/slideLayout14.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tags" Target="../tags/tag97.xml"/><Relationship Id="rId2" Type="http://schemas.openxmlformats.org/officeDocument/2006/relationships/tags" Target="../tags/tag82.xml"/><Relationship Id="rId16" Type="http://schemas.openxmlformats.org/officeDocument/2006/relationships/tags" Target="../tags/tag96.xml"/><Relationship Id="rId20" Type="http://schemas.openxmlformats.org/officeDocument/2006/relationships/image" Target="../media/image11.png"/><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tags" Target="../tags/tag95.xml"/><Relationship Id="rId10" Type="http://schemas.openxmlformats.org/officeDocument/2006/relationships/tags" Target="../tags/tag90.xml"/><Relationship Id="rId19" Type="http://schemas.openxmlformats.org/officeDocument/2006/relationships/image" Target="../media/image35.png"/><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s>
</file>

<file path=ppt/slides/_rels/slide66.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slideLayout" Target="../slideLayouts/slideLayout14.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image" Target="../media/image11.png"/><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10" Type="http://schemas.openxmlformats.org/officeDocument/2006/relationships/tags" Target="../tags/tag107.xml"/><Relationship Id="rId19" Type="http://schemas.openxmlformats.org/officeDocument/2006/relationships/image" Target="../media/image35.png"/><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0.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8" Type="http://schemas.openxmlformats.org/officeDocument/2006/relationships/tags" Target="../tags/tag122.xml"/><Relationship Id="rId13" Type="http://schemas.openxmlformats.org/officeDocument/2006/relationships/tags" Target="../tags/tag127.xml"/><Relationship Id="rId18" Type="http://schemas.openxmlformats.org/officeDocument/2006/relationships/slideLayout" Target="../slideLayouts/slideLayout14.xml"/><Relationship Id="rId3" Type="http://schemas.openxmlformats.org/officeDocument/2006/relationships/tags" Target="../tags/tag117.xml"/><Relationship Id="rId7" Type="http://schemas.openxmlformats.org/officeDocument/2006/relationships/tags" Target="../tags/tag121.xml"/><Relationship Id="rId12" Type="http://schemas.openxmlformats.org/officeDocument/2006/relationships/tags" Target="../tags/tag126.xml"/><Relationship Id="rId17" Type="http://schemas.openxmlformats.org/officeDocument/2006/relationships/tags" Target="../tags/tag131.xml"/><Relationship Id="rId2" Type="http://schemas.openxmlformats.org/officeDocument/2006/relationships/tags" Target="../tags/tag116.xml"/><Relationship Id="rId16" Type="http://schemas.openxmlformats.org/officeDocument/2006/relationships/tags" Target="../tags/tag130.xml"/><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tags" Target="../tags/tag125.xml"/><Relationship Id="rId5" Type="http://schemas.openxmlformats.org/officeDocument/2006/relationships/tags" Target="../tags/tag119.xml"/><Relationship Id="rId15" Type="http://schemas.openxmlformats.org/officeDocument/2006/relationships/tags" Target="../tags/tag129.xml"/><Relationship Id="rId10" Type="http://schemas.openxmlformats.org/officeDocument/2006/relationships/tags" Target="../tags/tag124.xml"/><Relationship Id="rId19" Type="http://schemas.openxmlformats.org/officeDocument/2006/relationships/image" Target="../media/image11.png"/><Relationship Id="rId4" Type="http://schemas.openxmlformats.org/officeDocument/2006/relationships/tags" Target="../tags/tag118.xml"/><Relationship Id="rId9" Type="http://schemas.openxmlformats.org/officeDocument/2006/relationships/tags" Target="../tags/tag123.xml"/><Relationship Id="rId14" Type="http://schemas.openxmlformats.org/officeDocument/2006/relationships/tags" Target="../tags/tag12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tags" Target="../tags/tag144.xml"/><Relationship Id="rId18" Type="http://schemas.openxmlformats.org/officeDocument/2006/relationships/slideLayout" Target="../slideLayouts/slideLayout14.xml"/><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tags" Target="../tags/tag143.xml"/><Relationship Id="rId17" Type="http://schemas.openxmlformats.org/officeDocument/2006/relationships/tags" Target="../tags/tag148.xml"/><Relationship Id="rId2" Type="http://schemas.openxmlformats.org/officeDocument/2006/relationships/tags" Target="../tags/tag133.xml"/><Relationship Id="rId16" Type="http://schemas.openxmlformats.org/officeDocument/2006/relationships/tags" Target="../tags/tag147.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tags" Target="../tags/tag142.xml"/><Relationship Id="rId5" Type="http://schemas.openxmlformats.org/officeDocument/2006/relationships/tags" Target="../tags/tag136.xml"/><Relationship Id="rId15" Type="http://schemas.openxmlformats.org/officeDocument/2006/relationships/tags" Target="../tags/tag146.xml"/><Relationship Id="rId10" Type="http://schemas.openxmlformats.org/officeDocument/2006/relationships/tags" Target="../tags/tag141.xml"/><Relationship Id="rId19" Type="http://schemas.openxmlformats.org/officeDocument/2006/relationships/image" Target="../media/image34.tmp"/><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tags" Target="../tags/tag145.xml"/></Relationships>
</file>

<file path=ppt/slides/_rels/slide93.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tags" Target="../tags/tag161.xml"/><Relationship Id="rId18" Type="http://schemas.openxmlformats.org/officeDocument/2006/relationships/slideLayout" Target="../slideLayouts/slideLayout14.xml"/><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tags" Target="../tags/tag160.xml"/><Relationship Id="rId17" Type="http://schemas.openxmlformats.org/officeDocument/2006/relationships/tags" Target="../tags/tag165.xml"/><Relationship Id="rId2" Type="http://schemas.openxmlformats.org/officeDocument/2006/relationships/tags" Target="../tags/tag150.xml"/><Relationship Id="rId16" Type="http://schemas.openxmlformats.org/officeDocument/2006/relationships/tags" Target="../tags/tag164.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tags" Target="../tags/tag159.xml"/><Relationship Id="rId5" Type="http://schemas.openxmlformats.org/officeDocument/2006/relationships/tags" Target="../tags/tag153.xml"/><Relationship Id="rId15" Type="http://schemas.openxmlformats.org/officeDocument/2006/relationships/tags" Target="../tags/tag163.xml"/><Relationship Id="rId10" Type="http://schemas.openxmlformats.org/officeDocument/2006/relationships/tags" Target="../tags/tag158.xml"/><Relationship Id="rId19" Type="http://schemas.openxmlformats.org/officeDocument/2006/relationships/image" Target="../media/image34.tmp"/><Relationship Id="rId4" Type="http://schemas.openxmlformats.org/officeDocument/2006/relationships/tags" Target="../tags/tag152.xml"/><Relationship Id="rId9" Type="http://schemas.openxmlformats.org/officeDocument/2006/relationships/tags" Target="../tags/tag157.xml"/><Relationship Id="rId14" Type="http://schemas.openxmlformats.org/officeDocument/2006/relationships/tags" Target="../tags/tag16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38.w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数据结构</a:t>
            </a:r>
          </a:p>
        </p:txBody>
      </p:sp>
      <p:sp>
        <p:nvSpPr>
          <p:cNvPr id="5" name="文本框 4"/>
          <p:cNvSpPr txBox="1"/>
          <p:nvPr/>
        </p:nvSpPr>
        <p:spPr>
          <a:xfrm>
            <a:off x="1598664" y="342255"/>
            <a:ext cx="3015569" cy="609398"/>
          </a:xfrm>
          <a:prstGeom prst="rect">
            <a:avLst/>
          </a:prstGeom>
          <a:noFill/>
        </p:spPr>
        <p:txBody>
          <a:bodyPr wrap="none" rtlCol="0">
            <a:spAutoFit/>
          </a:body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计算机领域本科教育教学改革试点</a:t>
            </a:r>
            <a:endParaRPr lang="en-US" altLang="zh-CN" sz="1400" dirty="0">
              <a:solidFill>
                <a:schemeClr val="bg1"/>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工作计划（“</a:t>
            </a:r>
            <a:r>
              <a:rPr lang="en-US" altLang="zh-CN" sz="1400" dirty="0">
                <a:solidFill>
                  <a:schemeClr val="bg1"/>
                </a:solidFill>
                <a:latin typeface="微软雅黑" panose="020B0503020204020204" pitchFamily="34" charset="-122"/>
                <a:ea typeface="微软雅黑" panose="020B0503020204020204" pitchFamily="34" charset="-122"/>
              </a:rPr>
              <a:t>101</a:t>
            </a:r>
            <a:r>
              <a:rPr lang="zh-CN" altLang="en-US" sz="1400" dirty="0">
                <a:solidFill>
                  <a:schemeClr val="bg1"/>
                </a:solidFill>
                <a:latin typeface="微软雅黑" panose="020B0503020204020204" pitchFamily="34" charset="-122"/>
                <a:ea typeface="微软雅黑" panose="020B0503020204020204" pitchFamily="34" charset="-122"/>
              </a:rPr>
              <a:t>计划”）研究成果</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865" y="231750"/>
            <a:ext cx="701051" cy="808481"/>
          </a:xfrm>
          <a:prstGeom prst="rect">
            <a:avLst/>
          </a:prstGeom>
        </p:spPr>
      </p:pic>
      <p:sp>
        <p:nvSpPr>
          <p:cNvPr id="7" name="文本框 6"/>
          <p:cNvSpPr txBox="1"/>
          <p:nvPr/>
        </p:nvSpPr>
        <p:spPr>
          <a:xfrm>
            <a:off x="4034782" y="4299065"/>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俞勇、张铭、陈越、韩文弢</a:t>
            </a:r>
          </a:p>
        </p:txBody>
      </p:sp>
      <p:sp>
        <p:nvSpPr>
          <p:cNvPr id="8" name="文本框 7"/>
          <p:cNvSpPr txBox="1"/>
          <p:nvPr/>
        </p:nvSpPr>
        <p:spPr>
          <a:xfrm>
            <a:off x="3016738" y="4985017"/>
            <a:ext cx="615852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上海交通大学、北京大学、浙江大学、清华大学</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768B4DF6-32FD-47E3-B7CC-A91F9FF88B5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453547" y="4311097"/>
            <a:ext cx="9165288" cy="2546903"/>
          </a:xfrm>
          <a:prstGeom prst="rect">
            <a:avLst/>
          </a:prstGeom>
        </p:spPr>
      </p:pic>
      <p:pic>
        <p:nvPicPr>
          <p:cNvPr id="130" name="图片 129"/>
          <p:cNvPicPr>
            <a:picLocks noChangeAspect="1"/>
          </p:cNvPicPr>
          <p:nvPr/>
        </p:nvPicPr>
        <p:blipFill rotWithShape="1">
          <a:blip r:embed="rId4"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5"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875155" y="3439840"/>
            <a:ext cx="2441694"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栈与队列</a:t>
            </a:r>
          </a:p>
        </p:txBody>
      </p:sp>
      <p:sp>
        <p:nvSpPr>
          <p:cNvPr id="8" name="矩形 7"/>
          <p:cNvSpPr/>
          <p:nvPr/>
        </p:nvSpPr>
        <p:spPr>
          <a:xfrm>
            <a:off x="5261477" y="2445722"/>
            <a:ext cx="1669047"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a:extLst>
              <a:ext uri="{FF2B5EF4-FFF2-40B4-BE49-F238E27FC236}">
                <a16:creationId xmlns:a16="http://schemas.microsoft.com/office/drawing/2014/main" id="{01EF47B7-ACB2-48A4-B6FF-CD0A170062B0}"/>
              </a:ext>
            </a:extLst>
          </p:cNvPr>
          <p:cNvSpPr txBox="1"/>
          <p:nvPr/>
        </p:nvSpPr>
        <p:spPr>
          <a:xfrm>
            <a:off x="4034782" y="4861769"/>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赵海燕</a:t>
            </a:r>
          </a:p>
        </p:txBody>
      </p:sp>
      <p:sp>
        <p:nvSpPr>
          <p:cNvPr id="31" name="文本框 30">
            <a:extLst>
              <a:ext uri="{FF2B5EF4-FFF2-40B4-BE49-F238E27FC236}">
                <a16:creationId xmlns:a16="http://schemas.microsoft.com/office/drawing/2014/main" id="{450B8CC5-78DC-4EBA-8877-DC819C7FB976}"/>
              </a:ext>
            </a:extLst>
          </p:cNvPr>
          <p:cNvSpPr txBox="1"/>
          <p:nvPr/>
        </p:nvSpPr>
        <p:spPr>
          <a:xfrm>
            <a:off x="3016738" y="5305446"/>
            <a:ext cx="615852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北京大学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6" presetClass="entr" presetSubtype="37"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outVertical)">
                                      <p:cBhvr>
                                        <p:cTn id="10" dur="500"/>
                                        <p:tgtEl>
                                          <p:spTgt spid="9"/>
                                        </p:tgtEl>
                                      </p:cBhvr>
                                    </p:animEffect>
                                  </p:childTnLst>
                                </p:cTn>
                              </p:par>
                            </p:childTnLst>
                          </p:cTn>
                        </p:par>
                        <p:par>
                          <p:cTn id="11" fill="hold">
                            <p:stCondLst>
                              <p:cond delay="600"/>
                            </p:stCondLst>
                            <p:childTnLst>
                              <p:par>
                                <p:cTn id="12" presetID="10" presetClass="entr" presetSubtype="0" fill="hold" grpId="0" nodeType="afterEffect">
                                  <p:stCondLst>
                                    <p:cond delay="0"/>
                                  </p:stCondLst>
                                  <p:iterate type="wd">
                                    <p:tmPct val="10000"/>
                                  </p:iterate>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790639"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5019638" y="1716967"/>
            <a:ext cx="3871444" cy="4053354"/>
          </a:xfrm>
          <a:prstGeom prst="rect">
            <a:avLst/>
          </a:prstGeom>
          <a:noFill/>
        </p:spPr>
        <p:txBody>
          <a:bodyPr wrap="square" tIns="0" rtlCol="0">
            <a:spAutoFit/>
          </a:bodyPr>
          <a:lstStyle/>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3.1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问题引入</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3.2   </a:t>
            </a:r>
            <a:r>
              <a:rPr lang="zh-CN"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栈的定义与结构</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3.3   </a:t>
            </a:r>
            <a:r>
              <a:rPr lang="zh-CN"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队列的定义与结构</a:t>
            </a: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3.4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栈与队列的应用</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3.5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拓展延伸</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3.6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应用场景</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12" presetClass="entr" presetSubtype="2" fill="hold" grpId="0" nodeType="withEffect">
                                  <p:stCondLst>
                                    <p:cond delay="5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p:tgtEl>
                                          <p:spTgt spid="11"/>
                                        </p:tgtEl>
                                        <p:attrNameLst>
                                          <p:attrName>ppt_x</p:attrName>
                                        </p:attrNameLst>
                                      </p:cBhvr>
                                      <p:tavLst>
                                        <p:tav tm="0">
                                          <p:val>
                                            <p:strVal val="#ppt_x+#ppt_w*1.125000"/>
                                          </p:val>
                                        </p:tav>
                                        <p:tav tm="100000">
                                          <p:val>
                                            <p:strVal val="#ppt_x"/>
                                          </p:val>
                                        </p:tav>
                                      </p:tavLst>
                                    </p:anim>
                                    <p:animEffect transition="in" filter="wipe(left)">
                                      <p:cBhvr>
                                        <p:cTn id="16" dur="500"/>
                                        <p:tgtEl>
                                          <p:spTgt spid="1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par>
                                <p:cTn id="21" presetID="10" presetClass="entr" presetSubtype="0" fill="hold" grpId="0" nodeType="withEffect">
                                  <p:stCondLst>
                                    <p:cond delay="1000"/>
                                  </p:stCondLst>
                                  <p:iterate type="wd">
                                    <p:tmPct val="1000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11"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6169" y="435377"/>
            <a:ext cx="10515600" cy="518958"/>
          </a:xfrm>
        </p:spPr>
        <p:txBody>
          <a:bodyPr>
            <a:normAutofit/>
          </a:bodyPr>
          <a:lstStyle/>
          <a:p>
            <a:r>
              <a:rPr lang="zh-CN" altLang="en-US" sz="2800" dirty="0"/>
              <a:t>超市货架</a:t>
            </a:r>
          </a:p>
        </p:txBody>
      </p:sp>
      <p:sp>
        <p:nvSpPr>
          <p:cNvPr id="3" name="副标题 2"/>
          <p:cNvSpPr>
            <a:spLocks noGrp="1"/>
          </p:cNvSpPr>
          <p:nvPr>
            <p:ph type="subTitle" idx="1"/>
          </p:nvPr>
        </p:nvSpPr>
        <p:spPr/>
        <p:txBody>
          <a:bodyPr/>
          <a:lstStyle/>
          <a:p>
            <a:r>
              <a:rPr lang="en-US" altLang="zh-CN" dirty="0"/>
              <a:t>3.1 </a:t>
            </a:r>
            <a:r>
              <a:rPr lang="zh-CN" altLang="en-US" dirty="0"/>
              <a:t>问题引入</a:t>
            </a:r>
          </a:p>
        </p:txBody>
      </p:sp>
      <p:sp>
        <p:nvSpPr>
          <p:cNvPr id="4" name="文本占位符 3"/>
          <p:cNvSpPr>
            <a:spLocks noGrp="1"/>
          </p:cNvSpPr>
          <p:nvPr>
            <p:ph type="body" idx="10"/>
          </p:nvPr>
        </p:nvSpPr>
        <p:spPr/>
        <p:txBody>
          <a:bodyPr/>
          <a:lstStyle/>
          <a:p>
            <a:r>
              <a:rPr lang="zh-CN" altLang="en-US" dirty="0"/>
              <a:t>数据结构</a:t>
            </a:r>
          </a:p>
        </p:txBody>
      </p:sp>
      <p:sp>
        <p:nvSpPr>
          <p:cNvPr id="5" name="内容占位符 4"/>
          <p:cNvSpPr>
            <a:spLocks noGrp="1"/>
          </p:cNvSpPr>
          <p:nvPr>
            <p:ph idx="11"/>
          </p:nvPr>
        </p:nvSpPr>
        <p:spPr>
          <a:xfrm>
            <a:off x="584223" y="1114424"/>
            <a:ext cx="11055325" cy="5057775"/>
          </a:xfrm>
        </p:spPr>
        <p:txBody>
          <a:bodyPr>
            <a:normAutofit/>
          </a:bodyPr>
          <a:lstStyle/>
          <a:p>
            <a:pPr>
              <a:lnSpc>
                <a:spcPct val="110000"/>
              </a:lnSpc>
            </a:pPr>
            <a:r>
              <a:rPr lang="zh-CN" altLang="zh-CN" sz="2400" b="1" dirty="0"/>
              <a:t>商品陈列</a:t>
            </a:r>
            <a:endParaRPr lang="en-US" altLang="zh-CN" sz="2400" b="1" dirty="0"/>
          </a:p>
          <a:p>
            <a:pPr lvl="1">
              <a:lnSpc>
                <a:spcPct val="110000"/>
              </a:lnSpc>
            </a:pPr>
            <a:r>
              <a:rPr lang="zh-CN" altLang="zh-CN" sz="2400" dirty="0">
                <a:latin typeface="微软雅黑" panose="020B0503020204020204" pitchFamily="34" charset="-122"/>
                <a:ea typeface="微软雅黑" panose="020B0503020204020204" pitchFamily="34" charset="-122"/>
              </a:rPr>
              <a:t>商品分类陈列原则</a:t>
            </a:r>
            <a:r>
              <a:rPr lang="zh-CN" altLang="en-US" sz="2400" dirty="0">
                <a:latin typeface="微软雅黑" panose="020B0503020204020204" pitchFamily="34" charset="-122"/>
                <a:ea typeface="微软雅黑" panose="020B0503020204020204" pitchFamily="34" charset="-122"/>
              </a:rPr>
              <a:t>：按照商品的分类层次，大区域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中区域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小区域</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zh-CN" sz="2400" dirty="0">
                <a:latin typeface="微软雅黑" panose="020B0503020204020204" pitchFamily="34" charset="-122"/>
                <a:ea typeface="微软雅黑" panose="020B0503020204020204" pitchFamily="34" charset="-122"/>
              </a:rPr>
              <a:t>价格按序</a:t>
            </a:r>
            <a:r>
              <a:rPr lang="zh-CN" altLang="en-US" sz="2400" dirty="0">
                <a:latin typeface="微软雅黑" panose="020B0503020204020204" pitchFamily="34" charset="-122"/>
                <a:ea typeface="微软雅黑" panose="020B0503020204020204" pitchFamily="34" charset="-122"/>
              </a:rPr>
              <a:t>陈列</a:t>
            </a:r>
            <a:r>
              <a:rPr lang="zh-CN" altLang="zh-CN" sz="2400" dirty="0">
                <a:latin typeface="微软雅黑" panose="020B0503020204020204" pitchFamily="34" charset="-122"/>
                <a:ea typeface="微软雅黑" panose="020B0503020204020204" pitchFamily="34" charset="-122"/>
              </a:rPr>
              <a:t>原则</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由上至下、由左向右，价格由低到高陈列</a:t>
            </a:r>
          </a:p>
          <a:p>
            <a:pPr lvl="1">
              <a:lnSpc>
                <a:spcPct val="110000"/>
              </a:lnSpc>
            </a:pPr>
            <a:r>
              <a:rPr lang="zh-CN" altLang="en-US" sz="2400" dirty="0">
                <a:latin typeface="微软雅黑" panose="020B0503020204020204" pitchFamily="34" charset="-122"/>
                <a:ea typeface="微软雅黑" panose="020B0503020204020204" pitchFamily="34" charset="-122"/>
              </a:rPr>
              <a:t>按吸引力</a:t>
            </a:r>
            <a:r>
              <a:rPr lang="zh-CN" altLang="zh-CN" sz="2400" dirty="0">
                <a:latin typeface="微软雅黑" panose="020B0503020204020204" pitchFamily="34" charset="-122"/>
                <a:ea typeface="微软雅黑" panose="020B0503020204020204" pitchFamily="34" charset="-122"/>
              </a:rPr>
              <a:t>陈列原则</a:t>
            </a:r>
            <a:r>
              <a:rPr lang="zh-CN" altLang="en-US" sz="2400" dirty="0">
                <a:latin typeface="微软雅黑" panose="020B0503020204020204" pitchFamily="34" charset="-122"/>
                <a:ea typeface="微软雅黑" panose="020B0503020204020204" pitchFamily="34" charset="-122"/>
              </a:rPr>
              <a:t>：应季、紧俏、特价等特点</a:t>
            </a:r>
            <a:endParaRPr lang="zh-CN"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400" dirty="0">
                <a:latin typeface="微软雅黑" panose="020B0503020204020204" pitchFamily="34" charset="-122"/>
                <a:ea typeface="微软雅黑" panose="020B0503020204020204" pitchFamily="34" charset="-122"/>
              </a:rPr>
              <a:t>按方便性</a:t>
            </a:r>
            <a:r>
              <a:rPr lang="zh-CN" altLang="zh-CN" sz="2400" dirty="0">
                <a:latin typeface="微软雅黑" panose="020B0503020204020204" pitchFamily="34" charset="-122"/>
                <a:ea typeface="微软雅黑" panose="020B0503020204020204" pitchFamily="34" charset="-122"/>
              </a:rPr>
              <a:t>陈列原则</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b="1" dirty="0"/>
              <a:t>问题</a:t>
            </a:r>
            <a:endParaRPr lang="en-US" altLang="zh-CN" sz="2400" b="1" dirty="0"/>
          </a:p>
          <a:p>
            <a:pPr>
              <a:lnSpc>
                <a:spcPct val="110000"/>
              </a:lnSpc>
            </a:pPr>
            <a:endParaRPr lang="en-US" altLang="zh-CN" sz="2400" dirty="0">
              <a:latin typeface="微软雅黑" panose="020B0503020204020204" pitchFamily="34" charset="-122"/>
              <a:ea typeface="微软雅黑" panose="020B0503020204020204" pitchFamily="34" charset="-122"/>
            </a:endParaRPr>
          </a:p>
          <a:p>
            <a:pPr>
              <a:lnSpc>
                <a:spcPct val="110000"/>
              </a:lnSpc>
            </a:pPr>
            <a:endParaRPr lang="en-US" altLang="zh-CN" sz="2400" dirty="0"/>
          </a:p>
          <a:p>
            <a:pPr>
              <a:lnSpc>
                <a:spcPct val="110000"/>
              </a:lnSpc>
            </a:pPr>
            <a:endParaRPr lang="en-US" altLang="zh-CN" sz="2400" dirty="0">
              <a:latin typeface="微软雅黑" panose="020B0503020204020204" pitchFamily="34" charset="-122"/>
              <a:ea typeface="微软雅黑" panose="020B0503020204020204" pitchFamily="34" charset="-122"/>
            </a:endParaRPr>
          </a:p>
          <a:p>
            <a:pPr>
              <a:lnSpc>
                <a:spcPct val="110000"/>
              </a:lnSpc>
            </a:pPr>
            <a:endParaRPr lang="en-US" altLang="zh-CN" sz="2400" dirty="0"/>
          </a:p>
        </p:txBody>
      </p:sp>
      <p:grpSp>
        <p:nvGrpSpPr>
          <p:cNvPr id="15" name="组合 14">
            <a:extLst>
              <a:ext uri="{FF2B5EF4-FFF2-40B4-BE49-F238E27FC236}">
                <a16:creationId xmlns:a16="http://schemas.microsoft.com/office/drawing/2014/main" id="{51E3DA34-B96A-4CBB-BEFD-683A9F1EBF2E}"/>
              </a:ext>
            </a:extLst>
          </p:cNvPr>
          <p:cNvGrpSpPr/>
          <p:nvPr/>
        </p:nvGrpSpPr>
        <p:grpSpPr>
          <a:xfrm>
            <a:off x="1521495" y="3710352"/>
            <a:ext cx="9180783" cy="2461847"/>
            <a:chOff x="191817" y="2399860"/>
            <a:chExt cx="11055350" cy="3971504"/>
          </a:xfrm>
          <a:solidFill>
            <a:srgbClr val="009999"/>
          </a:solidFill>
        </p:grpSpPr>
        <p:sp>
          <p:nvSpPr>
            <p:cNvPr id="17" name="任意多边形: 形状 16">
              <a:extLst>
                <a:ext uri="{FF2B5EF4-FFF2-40B4-BE49-F238E27FC236}">
                  <a16:creationId xmlns:a16="http://schemas.microsoft.com/office/drawing/2014/main" id="{CB201381-2B31-4769-A268-82351FECB3B7}"/>
                </a:ext>
              </a:extLst>
            </p:cNvPr>
            <p:cNvSpPr/>
            <p:nvPr/>
          </p:nvSpPr>
          <p:spPr>
            <a:xfrm>
              <a:off x="191817" y="2399860"/>
              <a:ext cx="11055350" cy="190167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如何</a:t>
              </a:r>
              <a:r>
                <a:rPr lang="zh-CN" altLang="zh-CN" sz="2400" kern="1200" dirty="0">
                  <a:latin typeface="微软雅黑" panose="020B0503020204020204" pitchFamily="34" charset="-122"/>
                  <a:ea typeface="微软雅黑" panose="020B0503020204020204" pitchFamily="34" charset="-122"/>
                </a:rPr>
                <a:t>对商品信息（数据）进行合理的组织（商品分类）、存储（商品陈列）、以及提供必须的操作（商品补架、下架及查找商品）</a:t>
              </a:r>
              <a:r>
                <a:rPr lang="zh-CN" altLang="en-US" sz="2400" kern="1200" dirty="0">
                  <a:latin typeface="微软雅黑" panose="020B0503020204020204" pitchFamily="34" charset="-122"/>
                  <a:ea typeface="微软雅黑" panose="020B0503020204020204" pitchFamily="34" charset="-122"/>
                </a:rPr>
                <a:t>？</a:t>
              </a:r>
              <a:endParaRPr lang="zh-CN" altLang="en-US" sz="2400" kern="1200" dirty="0"/>
            </a:p>
          </p:txBody>
        </p:sp>
        <p:sp>
          <p:nvSpPr>
            <p:cNvPr id="18" name="任意多边形: 形状 17">
              <a:extLst>
                <a:ext uri="{FF2B5EF4-FFF2-40B4-BE49-F238E27FC236}">
                  <a16:creationId xmlns:a16="http://schemas.microsoft.com/office/drawing/2014/main" id="{ABC22EA0-B1CC-4873-89B1-745A64CBBA02}"/>
                </a:ext>
              </a:extLst>
            </p:cNvPr>
            <p:cNvSpPr/>
            <p:nvPr/>
          </p:nvSpPr>
          <p:spPr>
            <a:xfrm>
              <a:off x="5396906" y="4445697"/>
              <a:ext cx="606909" cy="628058"/>
            </a:xfrm>
            <a:custGeom>
              <a:avLst/>
              <a:gdLst>
                <a:gd name="connsiteX0" fmla="*/ 0 w 888566"/>
                <a:gd name="connsiteY0" fmla="*/ 236935 h 1184675"/>
                <a:gd name="connsiteX1" fmla="*/ 444283 w 888566"/>
                <a:gd name="connsiteY1" fmla="*/ 236935 h 1184675"/>
                <a:gd name="connsiteX2" fmla="*/ 444283 w 888566"/>
                <a:gd name="connsiteY2" fmla="*/ 0 h 1184675"/>
                <a:gd name="connsiteX3" fmla="*/ 888566 w 888566"/>
                <a:gd name="connsiteY3" fmla="*/ 592338 h 1184675"/>
                <a:gd name="connsiteX4" fmla="*/ 444283 w 888566"/>
                <a:gd name="connsiteY4" fmla="*/ 1184675 h 1184675"/>
                <a:gd name="connsiteX5" fmla="*/ 444283 w 888566"/>
                <a:gd name="connsiteY5" fmla="*/ 947740 h 1184675"/>
                <a:gd name="connsiteX6" fmla="*/ 0 w 888566"/>
                <a:gd name="connsiteY6" fmla="*/ 947740 h 1184675"/>
                <a:gd name="connsiteX7" fmla="*/ 0 w 888566"/>
                <a:gd name="connsiteY7" fmla="*/ 236935 h 118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566" h="1184675">
                  <a:moveTo>
                    <a:pt x="710853" y="1"/>
                  </a:moveTo>
                  <a:lnTo>
                    <a:pt x="710853" y="592338"/>
                  </a:lnTo>
                  <a:lnTo>
                    <a:pt x="888566" y="592338"/>
                  </a:lnTo>
                  <a:lnTo>
                    <a:pt x="444283" y="1184674"/>
                  </a:lnTo>
                  <a:lnTo>
                    <a:pt x="0" y="592338"/>
                  </a:lnTo>
                  <a:lnTo>
                    <a:pt x="177713" y="592338"/>
                  </a:lnTo>
                  <a:lnTo>
                    <a:pt x="177713" y="1"/>
                  </a:lnTo>
                  <a:lnTo>
                    <a:pt x="710853" y="1"/>
                  </a:lnTo>
                  <a:close/>
                </a:path>
              </a:pathLst>
            </a:custGeom>
            <a:grp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36936" tIns="0" rIns="236935" bIns="266571" numCol="1" spcCol="1270" anchor="ctr" anchorCtr="0">
              <a:noAutofit/>
            </a:bodyPr>
            <a:lstStyle/>
            <a:p>
              <a:pPr marL="0" lvl="0" indent="0" algn="ctr" defTabSz="933450">
                <a:spcBef>
                  <a:spcPct val="0"/>
                </a:spcBef>
                <a:buNone/>
              </a:pPr>
              <a:endParaRPr lang="zh-CN" altLang="en-US" sz="2100" kern="1200"/>
            </a:p>
          </p:txBody>
        </p:sp>
        <p:sp>
          <p:nvSpPr>
            <p:cNvPr id="19" name="任意多边形: 形状 18">
              <a:extLst>
                <a:ext uri="{FF2B5EF4-FFF2-40B4-BE49-F238E27FC236}">
                  <a16:creationId xmlns:a16="http://schemas.microsoft.com/office/drawing/2014/main" id="{97827219-4E3E-4A30-80BD-9230257B491D}"/>
                </a:ext>
              </a:extLst>
            </p:cNvPr>
            <p:cNvSpPr/>
            <p:nvPr/>
          </p:nvSpPr>
          <p:spPr>
            <a:xfrm>
              <a:off x="191817" y="5130739"/>
              <a:ext cx="11055350" cy="1240625"/>
            </a:xfrm>
            <a:custGeom>
              <a:avLst/>
              <a:gdLst>
                <a:gd name="connsiteX0" fmla="*/ 0 w 11055350"/>
                <a:gd name="connsiteY0" fmla="*/ 184991 h 1849909"/>
                <a:gd name="connsiteX1" fmla="*/ 184991 w 11055350"/>
                <a:gd name="connsiteY1" fmla="*/ 0 h 1849909"/>
                <a:gd name="connsiteX2" fmla="*/ 10870359 w 11055350"/>
                <a:gd name="connsiteY2" fmla="*/ 0 h 1849909"/>
                <a:gd name="connsiteX3" fmla="*/ 11055350 w 11055350"/>
                <a:gd name="connsiteY3" fmla="*/ 184991 h 1849909"/>
                <a:gd name="connsiteX4" fmla="*/ 11055350 w 11055350"/>
                <a:gd name="connsiteY4" fmla="*/ 1664918 h 1849909"/>
                <a:gd name="connsiteX5" fmla="*/ 10870359 w 11055350"/>
                <a:gd name="connsiteY5" fmla="*/ 1849909 h 1849909"/>
                <a:gd name="connsiteX6" fmla="*/ 184991 w 11055350"/>
                <a:gd name="connsiteY6" fmla="*/ 1849909 h 1849909"/>
                <a:gd name="connsiteX7" fmla="*/ 0 w 11055350"/>
                <a:gd name="connsiteY7" fmla="*/ 1664918 h 1849909"/>
                <a:gd name="connsiteX8" fmla="*/ 0 w 11055350"/>
                <a:gd name="connsiteY8" fmla="*/ 184991 h 18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49909">
                  <a:moveTo>
                    <a:pt x="0" y="184991"/>
                  </a:moveTo>
                  <a:cubicBezTo>
                    <a:pt x="0" y="82823"/>
                    <a:pt x="82823" y="0"/>
                    <a:pt x="184991" y="0"/>
                  </a:cubicBezTo>
                  <a:lnTo>
                    <a:pt x="10870359" y="0"/>
                  </a:lnTo>
                  <a:cubicBezTo>
                    <a:pt x="10972527" y="0"/>
                    <a:pt x="11055350" y="82823"/>
                    <a:pt x="11055350" y="184991"/>
                  </a:cubicBezTo>
                  <a:lnTo>
                    <a:pt x="11055350" y="1664918"/>
                  </a:lnTo>
                  <a:cubicBezTo>
                    <a:pt x="11055350" y="1767086"/>
                    <a:pt x="10972527" y="1849909"/>
                    <a:pt x="10870359" y="1849909"/>
                  </a:cubicBezTo>
                  <a:lnTo>
                    <a:pt x="184991" y="1849909"/>
                  </a:lnTo>
                  <a:cubicBezTo>
                    <a:pt x="82823" y="1849909"/>
                    <a:pt x="0" y="1767086"/>
                    <a:pt x="0" y="1664918"/>
                  </a:cubicBezTo>
                  <a:lnTo>
                    <a:pt x="0" y="18499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242" tIns="153242" rIns="153242" bIns="153242" numCol="1" spcCol="1270" anchor="ctr" anchorCtr="0">
              <a:noAutofit/>
            </a:bodyPr>
            <a:lstStyle/>
            <a:p>
              <a:pPr lvl="0" algn="ctr" defTabSz="1155700">
                <a:lnSpc>
                  <a:spcPct val="120000"/>
                </a:lnSpc>
                <a:spcBef>
                  <a:spcPct val="0"/>
                </a:spcBef>
              </a:pPr>
              <a:r>
                <a:rPr lang="zh-CN" altLang="zh-CN" sz="2600" dirty="0">
                  <a:latin typeface="微软雅黑" panose="020B0503020204020204" pitchFamily="34" charset="-122"/>
                  <a:ea typeface="微软雅黑" panose="020B0503020204020204" pitchFamily="34" charset="-122"/>
                </a:rPr>
                <a:t>如何兼顾商品的特点与商品的补货和选购呢 </a:t>
              </a:r>
              <a:endParaRPr lang="en-US" altLang="zh-CN" sz="26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98104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BDA3E-56C4-4238-BE3B-BFEDC4EC87DF}"/>
              </a:ext>
            </a:extLst>
          </p:cNvPr>
          <p:cNvSpPr>
            <a:spLocks noGrp="1"/>
          </p:cNvSpPr>
          <p:nvPr>
            <p:ph type="title"/>
          </p:nvPr>
        </p:nvSpPr>
        <p:spPr/>
        <p:txBody>
          <a:bodyPr>
            <a:normAutofit/>
          </a:bodyPr>
          <a:lstStyle/>
          <a:p>
            <a:r>
              <a:rPr lang="zh-CN" altLang="en-US" sz="2800" dirty="0"/>
              <a:t>超市货架</a:t>
            </a:r>
          </a:p>
        </p:txBody>
      </p:sp>
      <p:sp>
        <p:nvSpPr>
          <p:cNvPr id="3" name="副标题 2">
            <a:extLst>
              <a:ext uri="{FF2B5EF4-FFF2-40B4-BE49-F238E27FC236}">
                <a16:creationId xmlns:a16="http://schemas.microsoft.com/office/drawing/2014/main" id="{921A29D7-D260-43D0-A242-58E97B5FC183}"/>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0CDE71A4-E73A-410A-AFA2-5915EAE64723}"/>
              </a:ext>
            </a:extLst>
          </p:cNvPr>
          <p:cNvSpPr>
            <a:spLocks noGrp="1"/>
          </p:cNvSpPr>
          <p:nvPr>
            <p:ph type="body" idx="10"/>
          </p:nvPr>
        </p:nvSpPr>
        <p:spPr/>
        <p:txBody>
          <a:bodyPr/>
          <a:lstStyle/>
          <a:p>
            <a:endParaRPr lang="zh-CN" altLang="en-US"/>
          </a:p>
        </p:txBody>
      </p:sp>
      <p:sp>
        <p:nvSpPr>
          <p:cNvPr id="6" name="内容占位符 4">
            <a:extLst>
              <a:ext uri="{FF2B5EF4-FFF2-40B4-BE49-F238E27FC236}">
                <a16:creationId xmlns:a16="http://schemas.microsoft.com/office/drawing/2014/main" id="{A213D83D-8F8F-4321-8388-B5D9F5F63966}"/>
              </a:ext>
            </a:extLst>
          </p:cNvPr>
          <p:cNvSpPr txBox="1">
            <a:spLocks/>
          </p:cNvSpPr>
          <p:nvPr/>
        </p:nvSpPr>
        <p:spPr>
          <a:xfrm>
            <a:off x="544829" y="2489937"/>
            <a:ext cx="8832417" cy="39271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Tx/>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a:lnSpc>
                <a:spcPct val="110000"/>
              </a:lnSpc>
            </a:pPr>
            <a:r>
              <a:rPr lang="zh-CN" altLang="en-US" sz="2400" b="1" dirty="0"/>
              <a:t>根据货架规格特点，形成不同的选购补货策略</a:t>
            </a:r>
            <a:endParaRPr lang="en-US" altLang="zh-CN" sz="2400" b="1" dirty="0"/>
          </a:p>
          <a:p>
            <a:pPr lvl="1">
              <a:lnSpc>
                <a:spcPct val="110000"/>
              </a:lnSpc>
            </a:pPr>
            <a:r>
              <a:rPr lang="zh-CN" altLang="en-US" sz="2400" b="1" dirty="0">
                <a:latin typeface="微软雅黑" panose="020B0503020204020204" pitchFamily="34" charset="-122"/>
                <a:ea typeface="微软雅黑" panose="020B0503020204020204" pitchFamily="34" charset="-122"/>
              </a:rPr>
              <a:t>选购补货统一：</a:t>
            </a:r>
            <a:r>
              <a:rPr lang="zh-CN" altLang="zh-CN" sz="2400" dirty="0">
                <a:latin typeface="微软雅黑" panose="020B0503020204020204" pitchFamily="34" charset="-122"/>
                <a:ea typeface="微软雅黑" panose="020B0503020204020204" pitchFamily="34" charset="-122"/>
              </a:rPr>
              <a:t>单门式冰柜因其构造特点，理货人员补</a:t>
            </a:r>
            <a:r>
              <a:rPr lang="zh-CN" altLang="en-US" sz="2400" dirty="0">
                <a:latin typeface="微软雅黑" panose="020B0503020204020204" pitchFamily="34" charset="-122"/>
                <a:ea typeface="微软雅黑" panose="020B0503020204020204" pitchFamily="34" charset="-122"/>
              </a:rPr>
              <a:t>货</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顾客选购商品</a:t>
            </a:r>
            <a:r>
              <a:rPr lang="zh-CN" altLang="en-US" sz="2400" dirty="0">
                <a:latin typeface="微软雅黑" panose="020B0503020204020204" pitchFamily="34" charset="-122"/>
                <a:ea typeface="微软雅黑" panose="020B0503020204020204" pitchFamily="34" charset="-122"/>
              </a:rPr>
              <a:t>往往都是</a:t>
            </a:r>
            <a:r>
              <a:rPr lang="zh-CN" altLang="zh-CN" sz="2400" dirty="0">
                <a:latin typeface="微软雅黑" panose="020B0503020204020204" pitchFamily="34" charset="-122"/>
                <a:ea typeface="微软雅黑" panose="020B0503020204020204" pitchFamily="34" charset="-122"/>
              </a:rPr>
              <a:t>打开冰柜门直接</a:t>
            </a:r>
            <a:r>
              <a:rPr lang="zh-CN" altLang="en-US" sz="2400" dirty="0">
                <a:latin typeface="微软雅黑" panose="020B0503020204020204" pitchFamily="34" charset="-122"/>
                <a:ea typeface="微软雅黑" panose="020B0503020204020204" pitchFamily="34" charset="-122"/>
              </a:rPr>
              <a:t>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取</a:t>
            </a:r>
            <a:r>
              <a:rPr lang="zh-CN" altLang="zh-CN" sz="2400" dirty="0">
                <a:latin typeface="微软雅黑" panose="020B0503020204020204" pitchFamily="34" charset="-122"/>
                <a:ea typeface="微软雅黑" panose="020B0503020204020204" pitchFamily="34" charset="-122"/>
              </a:rPr>
              <a:t>最前面的物品，这样使得商品的补架和选购均在冰柜门一端进行</a:t>
            </a:r>
          </a:p>
          <a:p>
            <a:pPr lvl="1">
              <a:lnSpc>
                <a:spcPct val="100000"/>
              </a:lnSpc>
            </a:pPr>
            <a:r>
              <a:rPr lang="zh-CN" altLang="en-US" sz="2400" b="1" dirty="0">
                <a:latin typeface="微软雅黑" panose="020B0503020204020204" pitchFamily="34" charset="-122"/>
                <a:ea typeface="微软雅黑" panose="020B0503020204020204" pitchFamily="34" charset="-122"/>
              </a:rPr>
              <a:t>选购补货分离</a:t>
            </a:r>
            <a:r>
              <a:rPr lang="zh-CN" altLang="en-US" sz="3200" dirty="0"/>
              <a:t>：</a:t>
            </a:r>
            <a:r>
              <a:rPr lang="zh-CN" altLang="zh-CN" sz="2400" dirty="0">
                <a:latin typeface="微软雅黑" panose="020B0503020204020204" pitchFamily="34" charset="-122"/>
                <a:ea typeface="微软雅黑" panose="020B0503020204020204" pitchFamily="34" charset="-122"/>
              </a:rPr>
              <a:t>装备面向顾客的前门和面向理货人员的后门</a:t>
            </a:r>
            <a:r>
              <a:rPr lang="zh-CN" altLang="en-US" sz="2400" dirty="0">
                <a:latin typeface="微软雅黑" panose="020B0503020204020204" pitchFamily="34" charset="-122"/>
                <a:ea typeface="微软雅黑" panose="020B0503020204020204" pitchFamily="34" charset="-122"/>
              </a:rPr>
              <a:t>的大型</a:t>
            </a:r>
            <a:r>
              <a:rPr lang="zh-CN" altLang="zh-CN" sz="2400" dirty="0">
                <a:latin typeface="微软雅黑" panose="020B0503020204020204" pitchFamily="34" charset="-122"/>
                <a:ea typeface="微软雅黑" panose="020B0503020204020204" pitchFamily="34" charset="-122"/>
              </a:rPr>
              <a:t>冰柜，补架在后门进行，选购则在另一端前门进行</a:t>
            </a:r>
          </a:p>
          <a:p>
            <a:pPr>
              <a:lnSpc>
                <a:spcPct val="110000"/>
              </a:lnSpc>
            </a:pPr>
            <a:endParaRPr lang="zh-CN" altLang="zh-CN" sz="2400" dirty="0"/>
          </a:p>
        </p:txBody>
      </p:sp>
      <p:grpSp>
        <p:nvGrpSpPr>
          <p:cNvPr id="7" name="组合 6">
            <a:extLst>
              <a:ext uri="{FF2B5EF4-FFF2-40B4-BE49-F238E27FC236}">
                <a16:creationId xmlns:a16="http://schemas.microsoft.com/office/drawing/2014/main" id="{1A867958-9A65-46F2-A3B6-0B5FB9F7DC47}"/>
              </a:ext>
            </a:extLst>
          </p:cNvPr>
          <p:cNvGrpSpPr/>
          <p:nvPr/>
        </p:nvGrpSpPr>
        <p:grpSpPr>
          <a:xfrm>
            <a:off x="1505608" y="1080516"/>
            <a:ext cx="9180783" cy="1214916"/>
            <a:chOff x="191817" y="4070994"/>
            <a:chExt cx="11055350" cy="2300370"/>
          </a:xfrm>
          <a:solidFill>
            <a:srgbClr val="009999"/>
          </a:solidFill>
        </p:grpSpPr>
        <p:sp>
          <p:nvSpPr>
            <p:cNvPr id="8" name="任意多边形: 形状 7">
              <a:extLst>
                <a:ext uri="{FF2B5EF4-FFF2-40B4-BE49-F238E27FC236}">
                  <a16:creationId xmlns:a16="http://schemas.microsoft.com/office/drawing/2014/main" id="{2FCBD21D-DDA9-46EC-8A4E-5AB7F10D5728}"/>
                </a:ext>
              </a:extLst>
            </p:cNvPr>
            <p:cNvSpPr/>
            <p:nvPr/>
          </p:nvSpPr>
          <p:spPr>
            <a:xfrm>
              <a:off x="5396906" y="4445697"/>
              <a:ext cx="606909" cy="628058"/>
            </a:xfrm>
            <a:custGeom>
              <a:avLst/>
              <a:gdLst>
                <a:gd name="connsiteX0" fmla="*/ 0 w 888566"/>
                <a:gd name="connsiteY0" fmla="*/ 236935 h 1184675"/>
                <a:gd name="connsiteX1" fmla="*/ 444283 w 888566"/>
                <a:gd name="connsiteY1" fmla="*/ 236935 h 1184675"/>
                <a:gd name="connsiteX2" fmla="*/ 444283 w 888566"/>
                <a:gd name="connsiteY2" fmla="*/ 0 h 1184675"/>
                <a:gd name="connsiteX3" fmla="*/ 888566 w 888566"/>
                <a:gd name="connsiteY3" fmla="*/ 592338 h 1184675"/>
                <a:gd name="connsiteX4" fmla="*/ 444283 w 888566"/>
                <a:gd name="connsiteY4" fmla="*/ 1184675 h 1184675"/>
                <a:gd name="connsiteX5" fmla="*/ 444283 w 888566"/>
                <a:gd name="connsiteY5" fmla="*/ 947740 h 1184675"/>
                <a:gd name="connsiteX6" fmla="*/ 0 w 888566"/>
                <a:gd name="connsiteY6" fmla="*/ 947740 h 1184675"/>
                <a:gd name="connsiteX7" fmla="*/ 0 w 888566"/>
                <a:gd name="connsiteY7" fmla="*/ 236935 h 118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566" h="1184675">
                  <a:moveTo>
                    <a:pt x="710853" y="1"/>
                  </a:moveTo>
                  <a:lnTo>
                    <a:pt x="710853" y="592338"/>
                  </a:lnTo>
                  <a:lnTo>
                    <a:pt x="888566" y="592338"/>
                  </a:lnTo>
                  <a:lnTo>
                    <a:pt x="444283" y="1184674"/>
                  </a:lnTo>
                  <a:lnTo>
                    <a:pt x="0" y="592338"/>
                  </a:lnTo>
                  <a:lnTo>
                    <a:pt x="177713" y="592338"/>
                  </a:lnTo>
                  <a:lnTo>
                    <a:pt x="177713" y="1"/>
                  </a:lnTo>
                  <a:lnTo>
                    <a:pt x="710853" y="1"/>
                  </a:lnTo>
                  <a:close/>
                </a:path>
              </a:pathLst>
            </a:custGeom>
            <a:grp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36936" tIns="0" rIns="236935" bIns="266571" numCol="1" spcCol="1270" anchor="ctr" anchorCtr="0">
              <a:noAutofit/>
            </a:bodyPr>
            <a:lstStyle/>
            <a:p>
              <a:pPr marL="0" lvl="0" indent="0" algn="ctr" defTabSz="933450">
                <a:spcBef>
                  <a:spcPct val="0"/>
                </a:spcBef>
                <a:buNone/>
              </a:pPr>
              <a:endParaRPr lang="zh-CN" altLang="en-US" sz="2100" kern="1200"/>
            </a:p>
          </p:txBody>
        </p:sp>
        <p:sp>
          <p:nvSpPr>
            <p:cNvPr id="9" name="任意多边形: 形状 8">
              <a:extLst>
                <a:ext uri="{FF2B5EF4-FFF2-40B4-BE49-F238E27FC236}">
                  <a16:creationId xmlns:a16="http://schemas.microsoft.com/office/drawing/2014/main" id="{4AFFED68-9A45-4A06-BF04-0100A4152452}"/>
                </a:ext>
              </a:extLst>
            </p:cNvPr>
            <p:cNvSpPr/>
            <p:nvPr/>
          </p:nvSpPr>
          <p:spPr>
            <a:xfrm>
              <a:off x="191817" y="4070994"/>
              <a:ext cx="11055350" cy="2300370"/>
            </a:xfrm>
            <a:custGeom>
              <a:avLst/>
              <a:gdLst>
                <a:gd name="connsiteX0" fmla="*/ 0 w 11055350"/>
                <a:gd name="connsiteY0" fmla="*/ 184991 h 1849909"/>
                <a:gd name="connsiteX1" fmla="*/ 184991 w 11055350"/>
                <a:gd name="connsiteY1" fmla="*/ 0 h 1849909"/>
                <a:gd name="connsiteX2" fmla="*/ 10870359 w 11055350"/>
                <a:gd name="connsiteY2" fmla="*/ 0 h 1849909"/>
                <a:gd name="connsiteX3" fmla="*/ 11055350 w 11055350"/>
                <a:gd name="connsiteY3" fmla="*/ 184991 h 1849909"/>
                <a:gd name="connsiteX4" fmla="*/ 11055350 w 11055350"/>
                <a:gd name="connsiteY4" fmla="*/ 1664918 h 1849909"/>
                <a:gd name="connsiteX5" fmla="*/ 10870359 w 11055350"/>
                <a:gd name="connsiteY5" fmla="*/ 1849909 h 1849909"/>
                <a:gd name="connsiteX6" fmla="*/ 184991 w 11055350"/>
                <a:gd name="connsiteY6" fmla="*/ 1849909 h 1849909"/>
                <a:gd name="connsiteX7" fmla="*/ 0 w 11055350"/>
                <a:gd name="connsiteY7" fmla="*/ 1664918 h 1849909"/>
                <a:gd name="connsiteX8" fmla="*/ 0 w 11055350"/>
                <a:gd name="connsiteY8" fmla="*/ 184991 h 18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49909">
                  <a:moveTo>
                    <a:pt x="0" y="184991"/>
                  </a:moveTo>
                  <a:cubicBezTo>
                    <a:pt x="0" y="82823"/>
                    <a:pt x="82823" y="0"/>
                    <a:pt x="184991" y="0"/>
                  </a:cubicBezTo>
                  <a:lnTo>
                    <a:pt x="10870359" y="0"/>
                  </a:lnTo>
                  <a:cubicBezTo>
                    <a:pt x="10972527" y="0"/>
                    <a:pt x="11055350" y="82823"/>
                    <a:pt x="11055350" y="184991"/>
                  </a:cubicBezTo>
                  <a:lnTo>
                    <a:pt x="11055350" y="1664918"/>
                  </a:lnTo>
                  <a:cubicBezTo>
                    <a:pt x="11055350" y="1767086"/>
                    <a:pt x="10972527" y="1849909"/>
                    <a:pt x="10870359" y="1849909"/>
                  </a:cubicBezTo>
                  <a:lnTo>
                    <a:pt x="184991" y="1849909"/>
                  </a:lnTo>
                  <a:cubicBezTo>
                    <a:pt x="82823" y="1849909"/>
                    <a:pt x="0" y="1767086"/>
                    <a:pt x="0" y="1664918"/>
                  </a:cubicBezTo>
                  <a:lnTo>
                    <a:pt x="0" y="18499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242" tIns="153242" rIns="153242" bIns="153242" numCol="1" spcCol="1270" anchor="ctr" anchorCtr="0">
              <a:noAutofit/>
            </a:bodyPr>
            <a:lstStyle/>
            <a:p>
              <a:pPr algn="ctr" defTabSz="1155700">
                <a:lnSpc>
                  <a:spcPct val="120000"/>
                </a:lnSpc>
                <a:spcBef>
                  <a:spcPct val="0"/>
                </a:spcBef>
              </a:pPr>
              <a:r>
                <a:rPr lang="zh-CN" altLang="zh-CN" sz="2400" dirty="0">
                  <a:latin typeface="微软雅黑" panose="020B0503020204020204" pitchFamily="34" charset="-122"/>
                  <a:ea typeface="微软雅黑" panose="020B0503020204020204" pitchFamily="34" charset="-122"/>
                </a:rPr>
                <a:t>补货是将特定商品</a:t>
              </a:r>
              <a:r>
                <a:rPr lang="en-US" altLang="zh-CN" sz="2400"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插入</a:t>
              </a:r>
              <a:r>
                <a:rPr lang="en-US" altLang="zh-CN" sz="2400" b="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到货架的某个位置</a:t>
              </a:r>
              <a:endParaRPr lang="en-US" altLang="zh-CN" sz="2400" dirty="0">
                <a:latin typeface="微软雅黑" panose="020B0503020204020204" pitchFamily="34" charset="-122"/>
                <a:ea typeface="微软雅黑" panose="020B0503020204020204" pitchFamily="34" charset="-122"/>
              </a:endParaRPr>
            </a:p>
            <a:p>
              <a:pPr algn="ctr" defTabSz="1155700">
                <a:lnSpc>
                  <a:spcPct val="120000"/>
                </a:lnSpc>
                <a:spcBef>
                  <a:spcPct val="0"/>
                </a:spcBef>
              </a:pPr>
              <a:r>
                <a:rPr lang="zh-CN" altLang="zh-CN" sz="2400" dirty="0">
                  <a:latin typeface="微软雅黑" panose="020B0503020204020204" pitchFamily="34" charset="-122"/>
                  <a:ea typeface="微软雅黑" panose="020B0503020204020204" pitchFamily="34" charset="-122"/>
                </a:rPr>
                <a:t>顾客选购则是从货架的某个位置</a:t>
              </a:r>
              <a:r>
                <a:rPr lang="en-US" altLang="zh-CN" sz="2400"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删除</a:t>
              </a:r>
              <a:r>
                <a:rPr lang="en-US" altLang="zh-CN" sz="2400" b="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选定的商品</a:t>
              </a:r>
            </a:p>
          </p:txBody>
        </p:sp>
      </p:grpSp>
      <p:sp>
        <p:nvSpPr>
          <p:cNvPr id="10" name="任意多边形: 形状 9">
            <a:extLst>
              <a:ext uri="{FF2B5EF4-FFF2-40B4-BE49-F238E27FC236}">
                <a16:creationId xmlns:a16="http://schemas.microsoft.com/office/drawing/2014/main" id="{E5A46936-F7F2-4B6E-ACD5-5548A6CFB9CD}"/>
              </a:ext>
            </a:extLst>
          </p:cNvPr>
          <p:cNvSpPr/>
          <p:nvPr/>
        </p:nvSpPr>
        <p:spPr>
          <a:xfrm>
            <a:off x="1340887" y="5394323"/>
            <a:ext cx="9180783" cy="117880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两种典型的</a:t>
            </a:r>
            <a:r>
              <a:rPr lang="zh-CN" altLang="zh-CN" sz="2400" kern="1200" dirty="0">
                <a:latin typeface="微软雅黑" panose="020B0503020204020204" pitchFamily="34" charset="-122"/>
                <a:ea typeface="微软雅黑" panose="020B0503020204020204" pitchFamily="34" charset="-122"/>
              </a:rPr>
              <a:t>商品陈列</a:t>
            </a:r>
            <a:r>
              <a:rPr lang="zh-CN" altLang="en-US" sz="2400" kern="1200" dirty="0">
                <a:latin typeface="微软雅黑" panose="020B0503020204020204" pitchFamily="34" charset="-122"/>
                <a:ea typeface="微软雅黑" panose="020B0503020204020204" pitchFamily="34" charset="-122"/>
              </a:rPr>
              <a:t>和</a:t>
            </a:r>
            <a:r>
              <a:rPr lang="zh-CN" altLang="zh-CN" sz="2400" kern="1200" dirty="0">
                <a:latin typeface="微软雅黑" panose="020B0503020204020204" pitchFamily="34" charset="-122"/>
                <a:ea typeface="微软雅黑" panose="020B0503020204020204" pitchFamily="34" charset="-122"/>
              </a:rPr>
              <a:t>商品补架</a:t>
            </a:r>
            <a:r>
              <a:rPr lang="zh-CN" altLang="en-US" sz="2400" kern="1200" dirty="0">
                <a:latin typeface="微软雅黑" panose="020B0503020204020204" pitchFamily="34" charset="-122"/>
                <a:ea typeface="微软雅黑" panose="020B0503020204020204" pitchFamily="34" charset="-122"/>
              </a:rPr>
              <a:t>的方式</a:t>
            </a:r>
            <a:endParaRPr lang="en-US" altLang="zh-CN" sz="2400" kern="1200" dirty="0">
              <a:latin typeface="微软雅黑" panose="020B0503020204020204" pitchFamily="34" charset="-122"/>
              <a:ea typeface="微软雅黑" panose="020B0503020204020204" pitchFamily="34" charset="-122"/>
            </a:endParaRPr>
          </a:p>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栈  </a:t>
            </a:r>
            <a:r>
              <a:rPr lang="en-US" altLang="zh-CN" sz="2400" kern="1200" dirty="0">
                <a:latin typeface="微软雅黑" panose="020B0503020204020204" pitchFamily="34" charset="-122"/>
                <a:ea typeface="微软雅黑" panose="020B0503020204020204" pitchFamily="34" charset="-122"/>
              </a:rPr>
              <a:t>vs  </a:t>
            </a:r>
            <a:r>
              <a:rPr lang="zh-CN" altLang="en-US" sz="2400" kern="1200" dirty="0">
                <a:latin typeface="微软雅黑" panose="020B0503020204020204" pitchFamily="34" charset="-122"/>
                <a:ea typeface="微软雅黑" panose="020B0503020204020204" pitchFamily="34" charset="-122"/>
              </a:rPr>
              <a:t>队列</a:t>
            </a:r>
            <a:endParaRPr lang="en-US" altLang="zh-CN" sz="2400" kern="1200"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D79EDD03-F50A-88DA-BE11-5C3EE999FD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12592" y="2489937"/>
            <a:ext cx="1112858" cy="14828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28D3AF9-BFF1-C4C5-AB13-DA5E8AA22C5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1964" b="15755"/>
          <a:stretch/>
        </p:blipFill>
        <p:spPr bwMode="auto">
          <a:xfrm>
            <a:off x="9512592" y="4248987"/>
            <a:ext cx="1711433" cy="1193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51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5A9B5208-314F-443F-A693-216B69BAA5E5}"/>
              </a:ext>
            </a:extLst>
          </p:cNvPr>
          <p:cNvSpPr>
            <a:spLocks noGrp="1" noChangeArrowheads="1"/>
          </p:cNvSpPr>
          <p:nvPr>
            <p:ph type="title"/>
          </p:nvPr>
        </p:nvSpPr>
        <p:spPr/>
        <p:txBody>
          <a:bodyPr anchor="ctr">
            <a:normAutofit/>
          </a:bodyPr>
          <a:lstStyle/>
          <a:p>
            <a:pPr>
              <a:defRPr/>
            </a:pPr>
            <a:r>
              <a:rPr sz="2800" dirty="0" err="1"/>
              <a:t>操作受限的线性表</a:t>
            </a:r>
            <a:endParaRPr sz="2800" dirty="0"/>
          </a:p>
        </p:txBody>
      </p:sp>
      <p:sp>
        <p:nvSpPr>
          <p:cNvPr id="4" name="副标题 3">
            <a:extLst>
              <a:ext uri="{FF2B5EF4-FFF2-40B4-BE49-F238E27FC236}">
                <a16:creationId xmlns:a16="http://schemas.microsoft.com/office/drawing/2014/main" id="{1F89A04C-BE46-467C-A72B-5BF956BFC65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AB1548D4-36EA-4755-8BB4-6D835B169D2A}"/>
              </a:ext>
            </a:extLst>
          </p:cNvPr>
          <p:cNvSpPr>
            <a:spLocks noGrp="1"/>
          </p:cNvSpPr>
          <p:nvPr>
            <p:ph type="body" idx="10"/>
          </p:nvPr>
        </p:nvSpPr>
        <p:spPr/>
        <p:txBody>
          <a:bodyPr/>
          <a:lstStyle/>
          <a:p>
            <a:endParaRPr lang="zh-CN" altLang="en-US"/>
          </a:p>
        </p:txBody>
      </p:sp>
      <p:sp>
        <p:nvSpPr>
          <p:cNvPr id="9219" name="Rectangle 3">
            <a:extLst>
              <a:ext uri="{FF2B5EF4-FFF2-40B4-BE49-F238E27FC236}">
                <a16:creationId xmlns:a16="http://schemas.microsoft.com/office/drawing/2014/main" id="{C65AC607-45B7-4991-9EB9-99450162F255}"/>
              </a:ext>
            </a:extLst>
          </p:cNvPr>
          <p:cNvSpPr>
            <a:spLocks noGrp="1" noChangeArrowheads="1"/>
          </p:cNvSpPr>
          <p:nvPr>
            <p:ph idx="1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defRPr/>
            </a:pPr>
            <a:r>
              <a:rPr lang="zh-CN" altLang="zh-CN" sz="2400" b="1" dirty="0"/>
              <a:t>栈（</a:t>
            </a:r>
            <a:r>
              <a:rPr lang="en-US" altLang="zh-CN" sz="2400" b="1" dirty="0"/>
              <a:t>Stack</a:t>
            </a:r>
            <a:r>
              <a:rPr lang="zh-CN" altLang="zh-CN" sz="2400" b="1" dirty="0"/>
              <a:t>）</a:t>
            </a:r>
          </a:p>
          <a:p>
            <a:pPr marL="715963" lvl="1" indent="-357188">
              <a:lnSpc>
                <a:spcPct val="150000"/>
              </a:lnSpc>
              <a:buClr>
                <a:srgbClr val="CC3300"/>
              </a:buClr>
              <a:defRPr/>
            </a:pPr>
            <a:r>
              <a:rPr lang="zh-CN" altLang="zh-CN" sz="2400" dirty="0">
                <a:latin typeface="微软雅黑" panose="020B0503020204020204" pitchFamily="34" charset="-122"/>
                <a:ea typeface="微软雅黑" panose="020B0503020204020204" pitchFamily="34" charset="-122"/>
              </a:rPr>
              <a:t>运算只在表的</a:t>
            </a:r>
            <a:r>
              <a:rPr lang="zh-CN" altLang="zh-CN" sz="2400" b="1" dirty="0">
                <a:solidFill>
                  <a:srgbClr val="0033CC"/>
                </a:solidFill>
                <a:latin typeface="微软雅黑" panose="020B0503020204020204" pitchFamily="34" charset="-122"/>
                <a:ea typeface="微软雅黑" panose="020B0503020204020204" pitchFamily="34" charset="-122"/>
              </a:rPr>
              <a:t>一端</a:t>
            </a:r>
            <a:r>
              <a:rPr lang="zh-CN" altLang="zh-CN" sz="2400" dirty="0">
                <a:latin typeface="微软雅黑" panose="020B0503020204020204" pitchFamily="34" charset="-122"/>
                <a:ea typeface="微软雅黑" panose="020B0503020204020204" pitchFamily="34" charset="-122"/>
              </a:rPr>
              <a:t>进行</a:t>
            </a:r>
          </a:p>
          <a:p>
            <a:pPr>
              <a:lnSpc>
                <a:spcPct val="150000"/>
              </a:lnSpc>
              <a:defRPr/>
            </a:pPr>
            <a:r>
              <a:rPr lang="zh-CN" altLang="zh-CN" sz="2400" b="1" dirty="0"/>
              <a:t>队列（</a:t>
            </a:r>
            <a:r>
              <a:rPr lang="en-US" altLang="zh-CN" sz="2400" b="1" dirty="0"/>
              <a:t>Queue</a:t>
            </a:r>
            <a:r>
              <a:rPr lang="zh-CN" altLang="zh-CN" sz="2400" b="1" dirty="0"/>
              <a:t>）</a:t>
            </a:r>
          </a:p>
          <a:p>
            <a:pPr marL="715963" lvl="1" indent="-357188">
              <a:lnSpc>
                <a:spcPct val="150000"/>
              </a:lnSpc>
              <a:buClr>
                <a:srgbClr val="CC3300"/>
              </a:buClr>
              <a:defRPr/>
            </a:pPr>
            <a:r>
              <a:rPr lang="zh-CN" altLang="zh-CN" sz="2400" dirty="0">
                <a:latin typeface="微软雅黑" panose="020B0503020204020204" pitchFamily="34" charset="-122"/>
                <a:ea typeface="微软雅黑" panose="020B0503020204020204" pitchFamily="34" charset="-122"/>
              </a:rPr>
              <a:t>运算只在表的</a:t>
            </a:r>
            <a:r>
              <a:rPr lang="zh-CN" altLang="zh-CN" sz="2400" b="1" dirty="0">
                <a:solidFill>
                  <a:srgbClr val="0033CC"/>
                </a:solidFill>
                <a:latin typeface="微软雅黑" panose="020B0503020204020204" pitchFamily="34" charset="-122"/>
                <a:ea typeface="微软雅黑" panose="020B0503020204020204" pitchFamily="34" charset="-122"/>
              </a:rPr>
              <a:t>两端</a:t>
            </a:r>
            <a:r>
              <a:rPr lang="zh-CN" altLang="zh-CN" sz="2400" dirty="0">
                <a:latin typeface="微软雅黑" panose="020B0503020204020204" pitchFamily="34" charset="-122"/>
                <a:ea typeface="微软雅黑" panose="020B0503020204020204" pitchFamily="34" charset="-122"/>
              </a:rPr>
              <a:t>进行</a:t>
            </a:r>
          </a:p>
          <a:p>
            <a:pPr marL="341313" indent="-341313">
              <a:lnSpc>
                <a:spcPct val="105000"/>
              </a:lnSpc>
              <a:defRPr/>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BD3D693-E5D8-4A71-B690-74DF59249097}"/>
              </a:ext>
            </a:extLst>
          </p:cNvPr>
          <p:cNvSpPr>
            <a:spLocks noGrp="1" noChangeArrowheads="1"/>
          </p:cNvSpPr>
          <p:nvPr>
            <p:ph type="title"/>
          </p:nvPr>
        </p:nvSpPr>
        <p:spPr/>
        <p:txBody>
          <a:bodyPr anchor="ctr">
            <a:normAutofit/>
          </a:bodyPr>
          <a:lstStyle/>
          <a:p>
            <a:pPr eaLnBrk="1" hangingPunct="1">
              <a:defRPr/>
            </a:pPr>
            <a:r>
              <a:rPr kumimoji="0" sz="2800" dirty="0"/>
              <a:t>栈</a:t>
            </a:r>
          </a:p>
        </p:txBody>
      </p:sp>
      <p:sp>
        <p:nvSpPr>
          <p:cNvPr id="6" name="副标题 5">
            <a:extLst>
              <a:ext uri="{FF2B5EF4-FFF2-40B4-BE49-F238E27FC236}">
                <a16:creationId xmlns:a16="http://schemas.microsoft.com/office/drawing/2014/main" id="{18709724-2C93-4B18-96C8-15740EA1901A}"/>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358BDF5-9D6C-410F-A505-ECC6C7E1A467}"/>
              </a:ext>
            </a:extLst>
          </p:cNvPr>
          <p:cNvSpPr>
            <a:spLocks noGrp="1"/>
          </p:cNvSpPr>
          <p:nvPr>
            <p:ph type="body" idx="10"/>
          </p:nvPr>
        </p:nvSpPr>
        <p:spPr/>
        <p:txBody>
          <a:bodyPr/>
          <a:lstStyle/>
          <a:p>
            <a:endParaRPr lang="zh-CN" altLang="en-US"/>
          </a:p>
        </p:txBody>
      </p:sp>
      <p:sp>
        <p:nvSpPr>
          <p:cNvPr id="10243" name="Rectangle 3">
            <a:extLst>
              <a:ext uri="{FF2B5EF4-FFF2-40B4-BE49-F238E27FC236}">
                <a16:creationId xmlns:a16="http://schemas.microsoft.com/office/drawing/2014/main" id="{FF615D95-91A7-421D-BE35-99D7EE1C5EC8}"/>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spcBef>
                <a:spcPts val="600"/>
              </a:spcBef>
            </a:pPr>
            <a:r>
              <a:rPr lang="zh-CN" altLang="zh-CN" sz="2800" dirty="0"/>
              <a:t>后进先出（</a:t>
            </a:r>
            <a:r>
              <a:rPr lang="en-US" altLang="zh-CN" sz="2800" b="1" dirty="0" err="1">
                <a:solidFill>
                  <a:srgbClr val="0000FF"/>
                </a:solidFill>
              </a:rPr>
              <a:t>L</a:t>
            </a:r>
            <a:r>
              <a:rPr lang="en-US" altLang="zh-CN" sz="2800" dirty="0" err="1"/>
              <a:t>ast</a:t>
            </a:r>
            <a:r>
              <a:rPr lang="en-US" altLang="zh-CN" sz="2800" b="1" dirty="0" err="1">
                <a:solidFill>
                  <a:srgbClr val="0000FF"/>
                </a:solidFill>
              </a:rPr>
              <a:t>I</a:t>
            </a:r>
            <a:r>
              <a:rPr lang="en-US" altLang="zh-CN" sz="2800" dirty="0" err="1"/>
              <a:t>n</a:t>
            </a:r>
            <a:r>
              <a:rPr lang="en-US" altLang="zh-CN" sz="2800" b="1" dirty="0" err="1">
                <a:solidFill>
                  <a:srgbClr val="0000FF"/>
                </a:solidFill>
              </a:rPr>
              <a:t>F</a:t>
            </a:r>
            <a:r>
              <a:rPr lang="en-US" altLang="zh-CN" sz="2800" dirty="0" err="1"/>
              <a:t>irst</a:t>
            </a:r>
            <a:r>
              <a:rPr lang="en-US" altLang="zh-CN" sz="2800" b="1" dirty="0" err="1">
                <a:solidFill>
                  <a:srgbClr val="0000FF"/>
                </a:solidFill>
              </a:rPr>
              <a:t>O</a:t>
            </a:r>
            <a:r>
              <a:rPr lang="en-US" altLang="zh-CN" sz="2800" dirty="0" err="1"/>
              <a:t>ut</a:t>
            </a:r>
            <a:r>
              <a:rPr lang="zh-CN" altLang="zh-CN" sz="2800" dirty="0"/>
              <a:t>）</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一种</a:t>
            </a:r>
            <a:r>
              <a:rPr lang="zh-CN" altLang="zh-CN" sz="2400" dirty="0">
                <a:solidFill>
                  <a:srgbClr val="C00000"/>
                </a:solidFill>
                <a:latin typeface="微软雅黑" panose="020B0503020204020204" pitchFamily="34" charset="-122"/>
                <a:ea typeface="微软雅黑" panose="020B0503020204020204" pitchFamily="34" charset="-122"/>
              </a:rPr>
              <a:t>限制访问端口</a:t>
            </a:r>
            <a:r>
              <a:rPr lang="zh-CN" altLang="zh-CN" sz="2400" dirty="0">
                <a:latin typeface="微软雅黑" panose="020B0503020204020204" pitchFamily="34" charset="-122"/>
                <a:ea typeface="微软雅黑" panose="020B0503020204020204" pitchFamily="34" charset="-122"/>
              </a:rPr>
              <a:t>的线性表</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栈存储和删除元素的顺序与元素插入顺序</a:t>
            </a:r>
            <a:r>
              <a:rPr lang="zh-CN" altLang="zh-CN" sz="2400" dirty="0">
                <a:solidFill>
                  <a:srgbClr val="009999"/>
                </a:solidFill>
                <a:latin typeface="微软雅黑" panose="020B0503020204020204" pitchFamily="34" charset="-122"/>
                <a:ea typeface="微软雅黑" panose="020B0503020204020204" pitchFamily="34" charset="-122"/>
              </a:rPr>
              <a:t>相反</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也称为“下推表”</a:t>
            </a:r>
          </a:p>
          <a:p>
            <a:pPr marL="341313" indent="-341313">
              <a:lnSpc>
                <a:spcPct val="105000"/>
              </a:lnSpc>
            </a:pPr>
            <a:r>
              <a:rPr lang="zh-CN" altLang="zh-CN" sz="2800" dirty="0"/>
              <a:t>栈的主要元素</a:t>
            </a:r>
          </a:p>
          <a:p>
            <a:pPr marL="714375" lvl="1" indent="-369888">
              <a:lnSpc>
                <a:spcPct val="105000"/>
              </a:lnSpc>
              <a:spcBef>
                <a:spcPts val="600"/>
              </a:spcBef>
              <a:buClr>
                <a:srgbClr val="CC3300"/>
              </a:buClr>
            </a:pPr>
            <a:r>
              <a:rPr lang="zh-CN" altLang="zh-CN" sz="2400" b="1" dirty="0">
                <a:solidFill>
                  <a:srgbClr val="0000FF"/>
                </a:solidFill>
                <a:latin typeface="微软雅黑" panose="020B0503020204020204" pitchFamily="34" charset="-122"/>
                <a:ea typeface="微软雅黑" panose="020B0503020204020204" pitchFamily="34" charset="-122"/>
              </a:rPr>
              <a:t>栈顶</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top</a:t>
            </a:r>
            <a:r>
              <a:rPr lang="zh-CN" altLang="zh-CN" sz="2400" dirty="0">
                <a:latin typeface="微软雅黑" panose="020B0503020204020204" pitchFamily="34" charset="-122"/>
                <a:ea typeface="微软雅黑" panose="020B0503020204020204" pitchFamily="34" charset="-122"/>
              </a:rPr>
              <a:t>）元素：栈的唯一可访问元素</a:t>
            </a:r>
          </a:p>
          <a:p>
            <a:pPr marL="1081088" lvl="3" indent="-366713">
              <a:lnSpc>
                <a:spcPct val="105000"/>
              </a:lnSpc>
              <a:spcBef>
                <a:spcPts val="600"/>
              </a:spcBef>
              <a:buClr>
                <a:srgbClr val="7030A0"/>
              </a:buClr>
              <a:buFont typeface="Wingdings" panose="05000000000000000000" pitchFamily="2" charset="2"/>
              <a:buChar char="u"/>
            </a:pPr>
            <a:r>
              <a:rPr lang="zh-CN" altLang="zh-CN" sz="2400" dirty="0">
                <a:latin typeface="微软雅黑" panose="020B0503020204020204" pitchFamily="34" charset="-122"/>
                <a:ea typeface="微软雅黑" panose="020B0503020204020204" pitchFamily="34" charset="-122"/>
              </a:rPr>
              <a:t>元素插入栈称为“入栈”或“压栈”（</a:t>
            </a:r>
            <a:r>
              <a:rPr lang="en-US" altLang="zh-CN" sz="2400" dirty="0">
                <a:latin typeface="微软雅黑" panose="020B0503020204020204" pitchFamily="34" charset="-122"/>
                <a:ea typeface="微软雅黑" panose="020B0503020204020204" pitchFamily="34" charset="-122"/>
              </a:rPr>
              <a:t>push</a:t>
            </a:r>
            <a:r>
              <a:rPr lang="zh-CN" altLang="zh-CN" sz="2400" dirty="0">
                <a:latin typeface="微软雅黑" panose="020B0503020204020204" pitchFamily="34" charset="-122"/>
                <a:ea typeface="微软雅黑" panose="020B0503020204020204" pitchFamily="34" charset="-122"/>
              </a:rPr>
              <a:t>）</a:t>
            </a:r>
          </a:p>
          <a:p>
            <a:pPr marL="1081088" lvl="3" indent="-366713">
              <a:lnSpc>
                <a:spcPct val="105000"/>
              </a:lnSpc>
              <a:spcBef>
                <a:spcPts val="600"/>
              </a:spcBef>
              <a:buClr>
                <a:srgbClr val="7030A0"/>
              </a:buClr>
              <a:buFont typeface="Wingdings" panose="05000000000000000000" pitchFamily="2" charset="2"/>
              <a:buChar char="u"/>
            </a:pPr>
            <a:r>
              <a:rPr lang="zh-CN" altLang="zh-CN" sz="2400" dirty="0">
                <a:latin typeface="微软雅黑" panose="020B0503020204020204" pitchFamily="34" charset="-122"/>
                <a:ea typeface="微软雅黑" panose="020B0503020204020204" pitchFamily="34" charset="-122"/>
              </a:rPr>
              <a:t>删除元素称为“出栈”或“弹出”（</a:t>
            </a:r>
            <a:r>
              <a:rPr lang="en-US" altLang="zh-CN" sz="2400" dirty="0">
                <a:latin typeface="微软雅黑" panose="020B0503020204020204" pitchFamily="34" charset="-122"/>
                <a:ea typeface="微软雅黑" panose="020B0503020204020204" pitchFamily="34" charset="-122"/>
              </a:rPr>
              <a:t>pop</a:t>
            </a:r>
            <a:r>
              <a:rPr lang="zh-CN" altLang="zh-CN" sz="2400" dirty="0">
                <a:latin typeface="微软雅黑" panose="020B0503020204020204" pitchFamily="34" charset="-122"/>
                <a:ea typeface="微软雅黑" panose="020B0503020204020204" pitchFamily="34" charset="-122"/>
              </a:rPr>
              <a:t>）</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栈底：另一端</a:t>
            </a:r>
            <a:endParaRPr lang="zh-CN" altLang="zh-CN" sz="2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a:extLst>
              <a:ext uri="{FF2B5EF4-FFF2-40B4-BE49-F238E27FC236}">
                <a16:creationId xmlns:a16="http://schemas.microsoft.com/office/drawing/2014/main" id="{9BA171C4-399E-4BBD-88FF-FA8821C3E07A}"/>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栈的图示</a:t>
            </a:r>
            <a:endParaRPr kumimoji="0" sz="2800" dirty="0"/>
          </a:p>
        </p:txBody>
      </p:sp>
      <p:sp>
        <p:nvSpPr>
          <p:cNvPr id="6" name="副标题 5">
            <a:extLst>
              <a:ext uri="{FF2B5EF4-FFF2-40B4-BE49-F238E27FC236}">
                <a16:creationId xmlns:a16="http://schemas.microsoft.com/office/drawing/2014/main" id="{A094326D-50A8-4D06-B981-78E0F4BFB7BA}"/>
              </a:ext>
            </a:extLst>
          </p:cNvPr>
          <p:cNvSpPr>
            <a:spLocks noGrp="1"/>
          </p:cNvSpPr>
          <p:nvPr>
            <p:ph type="subTitle" idx="1"/>
          </p:nvPr>
        </p:nvSpPr>
        <p:spPr/>
        <p:txBody>
          <a:bodyPr/>
          <a:lstStyle/>
          <a:p>
            <a:endParaRPr lang="zh-CN" altLang="en-US"/>
          </a:p>
        </p:txBody>
      </p:sp>
      <p:sp>
        <p:nvSpPr>
          <p:cNvPr id="20" name="文本占位符 19">
            <a:extLst>
              <a:ext uri="{FF2B5EF4-FFF2-40B4-BE49-F238E27FC236}">
                <a16:creationId xmlns:a16="http://schemas.microsoft.com/office/drawing/2014/main" id="{94B35380-8E5D-45DA-9E43-F923B7C33A20}"/>
              </a:ext>
            </a:extLst>
          </p:cNvPr>
          <p:cNvSpPr>
            <a:spLocks noGrp="1"/>
          </p:cNvSpPr>
          <p:nvPr>
            <p:ph type="body" idx="10"/>
          </p:nvPr>
        </p:nvSpPr>
        <p:spPr/>
        <p:txBody>
          <a:bodyPr/>
          <a:lstStyle/>
          <a:p>
            <a:endParaRPr lang="zh-CN" altLang="en-US"/>
          </a:p>
        </p:txBody>
      </p:sp>
      <p:sp>
        <p:nvSpPr>
          <p:cNvPr id="20482" name="内容占位符 2">
            <a:extLst>
              <a:ext uri="{FF2B5EF4-FFF2-40B4-BE49-F238E27FC236}">
                <a16:creationId xmlns:a16="http://schemas.microsoft.com/office/drawing/2014/main" id="{1D3C89E7-D518-474C-BF40-7A24D7FC687E}"/>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spcBef>
                <a:spcPts val="600"/>
              </a:spcBef>
            </a:pPr>
            <a:r>
              <a:rPr lang="zh-CN" altLang="zh-CN" dirty="0"/>
              <a:t>每次取出（被删除）的总是刚压进的元素，而最先压入的元素则</a:t>
            </a:r>
            <a:r>
              <a:rPr lang="zh-CN" altLang="en-US" dirty="0"/>
              <a:t>位于</a:t>
            </a:r>
            <a:r>
              <a:rPr lang="zh-CN" altLang="zh-CN" dirty="0"/>
              <a:t>栈的底部  </a:t>
            </a:r>
          </a:p>
          <a:p>
            <a:pPr marL="341313" indent="-341313">
              <a:lnSpc>
                <a:spcPct val="105000"/>
              </a:lnSpc>
              <a:spcBef>
                <a:spcPts val="600"/>
              </a:spcBef>
            </a:pPr>
            <a:endParaRPr lang="en-US" altLang="zh-CN" sz="2000" dirty="0"/>
          </a:p>
          <a:p>
            <a:pPr marL="341313" indent="-341313">
              <a:lnSpc>
                <a:spcPct val="105000"/>
              </a:lnSpc>
              <a:spcBef>
                <a:spcPts val="600"/>
              </a:spcBef>
            </a:pPr>
            <a:r>
              <a:rPr lang="zh-CN" altLang="zh-CN" dirty="0">
                <a:solidFill>
                  <a:srgbClr val="C00000"/>
                </a:solidFill>
              </a:rPr>
              <a:t>空栈</a:t>
            </a:r>
            <a:r>
              <a:rPr lang="zh-CN" altLang="en-US" dirty="0">
                <a:solidFill>
                  <a:srgbClr val="C00000"/>
                </a:solidFill>
              </a:rPr>
              <a:t>：</a:t>
            </a:r>
            <a:r>
              <a:rPr lang="zh-CN" altLang="zh-CN" dirty="0"/>
              <a:t>没有元素</a:t>
            </a:r>
            <a:r>
              <a:rPr lang="zh-CN" altLang="en-US" dirty="0"/>
              <a:t>的</a:t>
            </a:r>
            <a:r>
              <a:rPr lang="zh-CN" altLang="zh-CN" dirty="0"/>
              <a:t>栈</a:t>
            </a:r>
            <a:endParaRPr lang="en-US" altLang="zh-CN" dirty="0"/>
          </a:p>
          <a:p>
            <a:pPr marL="341313" indent="-341313">
              <a:lnSpc>
                <a:spcPct val="105000"/>
              </a:lnSpc>
              <a:spcBef>
                <a:spcPts val="600"/>
              </a:spcBef>
            </a:pPr>
            <a:endParaRPr lang="en-US" altLang="zh-CN" sz="2000" dirty="0"/>
          </a:p>
          <a:p>
            <a:pPr marL="341313" indent="-341313">
              <a:lnSpc>
                <a:spcPct val="105000"/>
              </a:lnSpc>
              <a:spcBef>
                <a:spcPts val="600"/>
              </a:spcBef>
            </a:pPr>
            <a:r>
              <a:rPr lang="zh-CN" altLang="zh-CN" dirty="0"/>
              <a:t>应用</a:t>
            </a:r>
            <a:endParaRPr lang="en-US" altLang="zh-CN" dirty="0"/>
          </a:p>
          <a:p>
            <a:pPr marL="714375" lvl="1" indent="-369888">
              <a:lnSpc>
                <a:spcPct val="105000"/>
              </a:lnSpc>
              <a:spcBef>
                <a:spcPts val="600"/>
              </a:spcBef>
              <a:buClr>
                <a:srgbClr val="CC3300"/>
              </a:buClr>
            </a:pPr>
            <a:r>
              <a:rPr lang="zh-CN" altLang="en-US" dirty="0">
                <a:latin typeface="微软雅黑" panose="020B0503020204020204" pitchFamily="34" charset="-122"/>
                <a:ea typeface="微软雅黑" panose="020B0503020204020204" pitchFamily="34" charset="-122"/>
              </a:rPr>
              <a:t>进制转换</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en-US" dirty="0">
                <a:latin typeface="微软雅黑" panose="020B0503020204020204" pitchFamily="34" charset="-122"/>
                <a:ea typeface="微软雅黑" panose="020B0503020204020204" pitchFamily="34" charset="-122"/>
              </a:rPr>
              <a:t>括号语句判断</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表达式</a:t>
            </a:r>
            <a:r>
              <a:rPr lang="zh-CN" altLang="zh-CN">
                <a:latin typeface="微软雅黑" panose="020B0503020204020204" pitchFamily="34" charset="-122"/>
                <a:ea typeface="微软雅黑" panose="020B0503020204020204" pitchFamily="34" charset="-122"/>
              </a:rPr>
              <a:t>求值</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深度优先搜索</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en-US" dirty="0">
                <a:latin typeface="微软雅黑" panose="020B0503020204020204" pitchFamily="34" charset="-122"/>
                <a:ea typeface="微软雅黑" panose="020B0503020204020204" pitchFamily="34" charset="-122"/>
              </a:rPr>
              <a:t>函数调用</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endParaRPr lang="zh-CN" altLang="zh-CN" dirty="0">
              <a:latin typeface="微软雅黑" panose="020B0503020204020204" pitchFamily="34" charset="-122"/>
              <a:ea typeface="微软雅黑" panose="020B0503020204020204" pitchFamily="34" charset="-122"/>
            </a:endParaRPr>
          </a:p>
          <a:p>
            <a:pPr marL="341313" indent="-341313">
              <a:lnSpc>
                <a:spcPct val="105000"/>
              </a:lnSpc>
              <a:spcBef>
                <a:spcPts val="600"/>
              </a:spcBef>
            </a:pPr>
            <a:endParaRPr lang="en-US" altLang="zh-CN" sz="3200" dirty="0"/>
          </a:p>
          <a:p>
            <a:pPr marL="341313" indent="-341313">
              <a:lnSpc>
                <a:spcPct val="105000"/>
              </a:lnSpc>
              <a:spcBef>
                <a:spcPts val="600"/>
              </a:spcBef>
            </a:pPr>
            <a:endParaRPr lang="zh-CN" altLang="zh-CN" sz="3200" dirty="0"/>
          </a:p>
          <a:p>
            <a:pPr marL="341313" indent="-341313">
              <a:lnSpc>
                <a:spcPct val="105000"/>
              </a:lnSpc>
              <a:spcBef>
                <a:spcPts val="600"/>
              </a:spcBef>
            </a:pPr>
            <a:endParaRPr lang="zh-CN" altLang="zh-CN" sz="3200" dirty="0"/>
          </a:p>
        </p:txBody>
      </p:sp>
      <p:sp>
        <p:nvSpPr>
          <p:cNvPr id="7" name="Text Box 5">
            <a:extLst>
              <a:ext uri="{FF2B5EF4-FFF2-40B4-BE49-F238E27FC236}">
                <a16:creationId xmlns:a16="http://schemas.microsoft.com/office/drawing/2014/main" id="{765E1204-081A-4D07-B98C-1CEB70A38D11}"/>
              </a:ext>
            </a:extLst>
          </p:cNvPr>
          <p:cNvSpPr txBox="1">
            <a:spLocks noChangeArrowheads="1"/>
          </p:cNvSpPr>
          <p:nvPr/>
        </p:nvSpPr>
        <p:spPr bwMode="auto">
          <a:xfrm>
            <a:off x="8359775" y="49387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1</a:t>
            </a:r>
            <a:endParaRPr kumimoji="1" lang="en-US" altLang="zh-CN" sz="2400" b="1">
              <a:latin typeface="华文细黑" panose="02010600040101010101" pitchFamily="2" charset="-122"/>
              <a:ea typeface="华文细黑" panose="02010600040101010101" pitchFamily="2" charset="-122"/>
            </a:endParaRPr>
          </a:p>
        </p:txBody>
      </p:sp>
      <p:sp>
        <p:nvSpPr>
          <p:cNvPr id="8" name="Text Box 6">
            <a:extLst>
              <a:ext uri="{FF2B5EF4-FFF2-40B4-BE49-F238E27FC236}">
                <a16:creationId xmlns:a16="http://schemas.microsoft.com/office/drawing/2014/main" id="{2B8C1A20-31EF-4F58-82A8-B9302792708F}"/>
              </a:ext>
            </a:extLst>
          </p:cNvPr>
          <p:cNvSpPr txBox="1">
            <a:spLocks noChangeArrowheads="1"/>
          </p:cNvSpPr>
          <p:nvPr/>
        </p:nvSpPr>
        <p:spPr bwMode="auto">
          <a:xfrm>
            <a:off x="8359775" y="44815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a:t>
            </a:r>
          </a:p>
        </p:txBody>
      </p:sp>
      <p:sp>
        <p:nvSpPr>
          <p:cNvPr id="9" name="Text Box 7">
            <a:extLst>
              <a:ext uri="{FF2B5EF4-FFF2-40B4-BE49-F238E27FC236}">
                <a16:creationId xmlns:a16="http://schemas.microsoft.com/office/drawing/2014/main" id="{9BB2C938-60A2-4C19-A243-D0107ED236EE}"/>
              </a:ext>
            </a:extLst>
          </p:cNvPr>
          <p:cNvSpPr txBox="1">
            <a:spLocks noChangeArrowheads="1"/>
          </p:cNvSpPr>
          <p:nvPr/>
        </p:nvSpPr>
        <p:spPr bwMode="auto">
          <a:xfrm>
            <a:off x="8359775" y="40243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i</a:t>
            </a:r>
          </a:p>
        </p:txBody>
      </p:sp>
      <p:sp>
        <p:nvSpPr>
          <p:cNvPr id="10" name="Text Box 8">
            <a:extLst>
              <a:ext uri="{FF2B5EF4-FFF2-40B4-BE49-F238E27FC236}">
                <a16:creationId xmlns:a16="http://schemas.microsoft.com/office/drawing/2014/main" id="{6A47E616-155C-4C78-AAD5-7C3E56EF3A26}"/>
              </a:ext>
            </a:extLst>
          </p:cNvPr>
          <p:cNvSpPr txBox="1">
            <a:spLocks noChangeArrowheads="1"/>
          </p:cNvSpPr>
          <p:nvPr/>
        </p:nvSpPr>
        <p:spPr bwMode="auto">
          <a:xfrm>
            <a:off x="8359775" y="3609975"/>
            <a:ext cx="1598613" cy="461963"/>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i+1</a:t>
            </a:r>
            <a:endParaRPr kumimoji="1" lang="en-US" altLang="zh-CN" sz="2400" b="1">
              <a:latin typeface="华文细黑" panose="02010600040101010101" pitchFamily="2" charset="-122"/>
              <a:ea typeface="华文细黑" panose="02010600040101010101" pitchFamily="2" charset="-122"/>
            </a:endParaRPr>
          </a:p>
        </p:txBody>
      </p:sp>
      <p:sp>
        <p:nvSpPr>
          <p:cNvPr id="11" name="Rectangle 9">
            <a:extLst>
              <a:ext uri="{FF2B5EF4-FFF2-40B4-BE49-F238E27FC236}">
                <a16:creationId xmlns:a16="http://schemas.microsoft.com/office/drawing/2014/main" id="{07C53E5E-323F-4635-8270-FA11008CFC28}"/>
              </a:ext>
            </a:extLst>
          </p:cNvPr>
          <p:cNvSpPr>
            <a:spLocks noChangeArrowheads="1"/>
          </p:cNvSpPr>
          <p:nvPr/>
        </p:nvSpPr>
        <p:spPr bwMode="auto">
          <a:xfrm>
            <a:off x="7133431" y="4094163"/>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dirty="0">
                <a:solidFill>
                  <a:srgbClr val="000000"/>
                </a:solidFill>
                <a:latin typeface="华文细黑" panose="02010600040101010101" pitchFamily="2" charset="-122"/>
                <a:ea typeface="华文细黑" panose="02010600040101010101" pitchFamily="2" charset="-122"/>
              </a:rPr>
              <a:t>栈顶</a:t>
            </a:r>
          </a:p>
        </p:txBody>
      </p:sp>
      <p:sp>
        <p:nvSpPr>
          <p:cNvPr id="12" name="Line 10">
            <a:extLst>
              <a:ext uri="{FF2B5EF4-FFF2-40B4-BE49-F238E27FC236}">
                <a16:creationId xmlns:a16="http://schemas.microsoft.com/office/drawing/2014/main" id="{8B6357B1-4B82-47DF-83FC-A02B777E094E}"/>
              </a:ext>
            </a:extLst>
          </p:cNvPr>
          <p:cNvSpPr>
            <a:spLocks noChangeShapeType="1"/>
          </p:cNvSpPr>
          <p:nvPr/>
        </p:nvSpPr>
        <p:spPr bwMode="auto">
          <a:xfrm>
            <a:off x="7845425" y="4283075"/>
            <a:ext cx="514350" cy="0"/>
          </a:xfrm>
          <a:prstGeom prst="line">
            <a:avLst/>
          </a:prstGeom>
          <a:noFill/>
          <a:ln w="34925">
            <a:solidFill>
              <a:schemeClr val="accent2"/>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Rectangle 11">
            <a:extLst>
              <a:ext uri="{FF2B5EF4-FFF2-40B4-BE49-F238E27FC236}">
                <a16:creationId xmlns:a16="http://schemas.microsoft.com/office/drawing/2014/main" id="{7652B945-366D-429E-A54E-B4624D506504}"/>
              </a:ext>
            </a:extLst>
          </p:cNvPr>
          <p:cNvSpPr>
            <a:spLocks noChangeArrowheads="1"/>
          </p:cNvSpPr>
          <p:nvPr/>
        </p:nvSpPr>
        <p:spPr bwMode="auto">
          <a:xfrm>
            <a:off x="6953250" y="5402263"/>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华文细黑" panose="02010600040101010101" pitchFamily="2" charset="-122"/>
                <a:ea typeface="华文细黑" panose="02010600040101010101" pitchFamily="2" charset="-122"/>
              </a:rPr>
              <a:t>栈底</a:t>
            </a:r>
          </a:p>
        </p:txBody>
      </p:sp>
      <p:sp>
        <p:nvSpPr>
          <p:cNvPr id="14" name="Arc 13">
            <a:extLst>
              <a:ext uri="{FF2B5EF4-FFF2-40B4-BE49-F238E27FC236}">
                <a16:creationId xmlns:a16="http://schemas.microsoft.com/office/drawing/2014/main" id="{DEDD7AA1-A1B2-4EA3-B258-D1D8EB183561}"/>
              </a:ext>
            </a:extLst>
          </p:cNvPr>
          <p:cNvSpPr>
            <a:spLocks/>
          </p:cNvSpPr>
          <p:nvPr/>
        </p:nvSpPr>
        <p:spPr bwMode="auto">
          <a:xfrm>
            <a:off x="8626475" y="3198813"/>
            <a:ext cx="360363" cy="4111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4925">
            <a:solidFill>
              <a:srgbClr val="C0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Arc 14">
            <a:extLst>
              <a:ext uri="{FF2B5EF4-FFF2-40B4-BE49-F238E27FC236}">
                <a16:creationId xmlns:a16="http://schemas.microsoft.com/office/drawing/2014/main" id="{29497A8A-5069-49FA-A258-C480B32AAC60}"/>
              </a:ext>
            </a:extLst>
          </p:cNvPr>
          <p:cNvSpPr>
            <a:spLocks/>
          </p:cNvSpPr>
          <p:nvPr/>
        </p:nvSpPr>
        <p:spPr bwMode="auto">
          <a:xfrm rot="-5400000">
            <a:off x="9205913" y="3224213"/>
            <a:ext cx="411162" cy="3603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4925">
            <a:solidFill>
              <a:srgbClr val="00B05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Text Box 15">
            <a:extLst>
              <a:ext uri="{FF2B5EF4-FFF2-40B4-BE49-F238E27FC236}">
                <a16:creationId xmlns:a16="http://schemas.microsoft.com/office/drawing/2014/main" id="{A9CF3369-8E0D-4E33-933F-0D042A09E79E}"/>
              </a:ext>
            </a:extLst>
          </p:cNvPr>
          <p:cNvSpPr txBox="1">
            <a:spLocks noChangeArrowheads="1"/>
          </p:cNvSpPr>
          <p:nvPr/>
        </p:nvSpPr>
        <p:spPr bwMode="auto">
          <a:xfrm>
            <a:off x="7824788" y="2924175"/>
            <a:ext cx="928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C00000"/>
                </a:solidFill>
                <a:latin typeface="华文细黑" panose="02010600040101010101" pitchFamily="2" charset="-122"/>
                <a:ea typeface="华文细黑" panose="02010600040101010101" pitchFamily="2" charset="-122"/>
              </a:rPr>
              <a:t>出栈</a:t>
            </a:r>
          </a:p>
        </p:txBody>
      </p:sp>
      <p:sp>
        <p:nvSpPr>
          <p:cNvPr id="17" name="Text Box 16">
            <a:extLst>
              <a:ext uri="{FF2B5EF4-FFF2-40B4-BE49-F238E27FC236}">
                <a16:creationId xmlns:a16="http://schemas.microsoft.com/office/drawing/2014/main" id="{CFB70145-42B4-4A31-9723-A200637302E3}"/>
              </a:ext>
            </a:extLst>
          </p:cNvPr>
          <p:cNvSpPr txBox="1">
            <a:spLocks noChangeArrowheads="1"/>
          </p:cNvSpPr>
          <p:nvPr/>
        </p:nvSpPr>
        <p:spPr bwMode="auto">
          <a:xfrm>
            <a:off x="9564688" y="2924175"/>
            <a:ext cx="869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008000"/>
                </a:solidFill>
                <a:latin typeface="华文细黑" panose="02010600040101010101" pitchFamily="2" charset="-122"/>
                <a:ea typeface="华文细黑" panose="02010600040101010101" pitchFamily="2" charset="-122"/>
              </a:rPr>
              <a:t>进栈</a:t>
            </a:r>
          </a:p>
        </p:txBody>
      </p:sp>
      <p:sp>
        <p:nvSpPr>
          <p:cNvPr id="18" name="Line 10">
            <a:extLst>
              <a:ext uri="{FF2B5EF4-FFF2-40B4-BE49-F238E27FC236}">
                <a16:creationId xmlns:a16="http://schemas.microsoft.com/office/drawing/2014/main" id="{7D832E10-16FC-439A-85E3-E8A1B291ECAC}"/>
              </a:ext>
            </a:extLst>
          </p:cNvPr>
          <p:cNvSpPr>
            <a:spLocks noChangeShapeType="1"/>
          </p:cNvSpPr>
          <p:nvPr/>
        </p:nvSpPr>
        <p:spPr bwMode="auto">
          <a:xfrm>
            <a:off x="7845425" y="5667375"/>
            <a:ext cx="514350" cy="0"/>
          </a:xfrm>
          <a:prstGeom prst="line">
            <a:avLst/>
          </a:prstGeom>
          <a:noFill/>
          <a:ln w="349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6">
            <a:extLst>
              <a:ext uri="{FF2B5EF4-FFF2-40B4-BE49-F238E27FC236}">
                <a16:creationId xmlns:a16="http://schemas.microsoft.com/office/drawing/2014/main" id="{B922C2E6-BD11-4136-8E36-3F6449D6423C}"/>
              </a:ext>
            </a:extLst>
          </p:cNvPr>
          <p:cNvSpPr txBox="1">
            <a:spLocks noChangeArrowheads="1"/>
          </p:cNvSpPr>
          <p:nvPr/>
        </p:nvSpPr>
        <p:spPr bwMode="auto">
          <a:xfrm>
            <a:off x="8361363" y="5395913"/>
            <a:ext cx="1597025"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0</a:t>
            </a:r>
            <a:endParaRPr kumimoji="1" lang="en-US" altLang="zh-CN" sz="2400" b="1">
              <a:latin typeface="华文细黑" panose="02010600040101010101" pitchFamily="2" charset="-122"/>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path" presetSubtype="0" accel="50000" decel="50000" fill="hold" nodeType="clickEffect">
                                  <p:stCondLst>
                                    <p:cond delay="0"/>
                                  </p:stCondLst>
                                  <p:childTnLst>
                                    <p:animMotion origin="layout" path="M 1.45833E-6 0.00023 L 0.00026 -0.0618 " pathEditMode="relative" rAng="0" ptsTypes="AA">
                                      <p:cBhvr>
                                        <p:cTn id="34" dur="2000" fill="hold"/>
                                        <p:tgtEl>
                                          <p:spTgt spid="11"/>
                                        </p:tgtEl>
                                        <p:attrNameLst>
                                          <p:attrName>ppt_x</p:attrName>
                                          <p:attrName>ppt_y</p:attrName>
                                        </p:attrNameLst>
                                      </p:cBhvr>
                                      <p:rCtr x="13" y="-3102"/>
                                    </p:animMotion>
                                  </p:childTnLst>
                                </p:cTn>
                              </p:par>
                              <p:par>
                                <p:cTn id="35" presetID="42" presetClass="path" presetSubtype="0" accel="50000" decel="50000" fill="hold" nodeType="withEffect">
                                  <p:stCondLst>
                                    <p:cond delay="0"/>
                                  </p:stCondLst>
                                  <p:childTnLst>
                                    <p:animMotion origin="layout" path="M -3.33333E-6 2.96296E-6 L 0.00052 -0.06667 " pathEditMode="relative" rAng="0" ptsTypes="AA">
                                      <p:cBhvr>
                                        <p:cTn id="36" dur="2000" fill="hold"/>
                                        <p:tgtEl>
                                          <p:spTgt spid="12"/>
                                        </p:tgtEl>
                                        <p:attrNameLst>
                                          <p:attrName>ppt_x</p:attrName>
                                          <p:attrName>ppt_y</p:attrName>
                                        </p:attrNameLst>
                                      </p:cBhvr>
                                      <p:rCtr x="26" y="-3333"/>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fade">
                                      <p:cBhvr>
                                        <p:cTn id="41" dur="500"/>
                                        <p:tgtEl>
                                          <p:spTgt spid="10">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xit" presetSubtype="0" fill="hold" nodeType="clickEffect">
                                  <p:stCondLst>
                                    <p:cond delay="0"/>
                                  </p:stCondLst>
                                  <p:childTnLst>
                                    <p:set>
                                      <p:cBhvr>
                                        <p:cTn id="45" dur="1" fill="hold">
                                          <p:stCondLst>
                                            <p:cond delay="0"/>
                                          </p:stCondLst>
                                        </p:cTn>
                                        <p:tgtEl>
                                          <p:spTgt spid="17"/>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5"/>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xit" presetSubtype="0" fill="hold" nodeType="clickEffect">
                                  <p:stCondLst>
                                    <p:cond delay="0"/>
                                  </p:stCondLst>
                                  <p:childTnLst>
                                    <p:animEffect transition="out" filter="fade">
                                      <p:cBhvr>
                                        <p:cTn id="55" dur="500"/>
                                        <p:tgtEl>
                                          <p:spTgt spid="10">
                                            <p:txEl>
                                              <p:pRg st="0" end="0"/>
                                            </p:txEl>
                                          </p:spTgt>
                                        </p:tgtEl>
                                      </p:cBhvr>
                                    </p:animEffect>
                                    <p:set>
                                      <p:cBhvr>
                                        <p:cTn id="56" dur="1" fill="hold">
                                          <p:stCondLst>
                                            <p:cond delay="499"/>
                                          </p:stCondLst>
                                        </p:cTn>
                                        <p:tgtEl>
                                          <p:spTgt spid="10">
                                            <p:txEl>
                                              <p:pRg st="0" end="0"/>
                                            </p:txEl>
                                          </p:spTgt>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42" presetClass="path" presetSubtype="0" accel="50000" decel="50000" fill="hold" nodeType="clickEffect">
                                  <p:stCondLst>
                                    <p:cond delay="0"/>
                                  </p:stCondLst>
                                  <p:childTnLst>
                                    <p:animMotion origin="layout" path="M 1.45833E-6 -2.59259E-6 L 1.45833E-6 0.00023 " pathEditMode="relative" rAng="0" ptsTypes="AA">
                                      <p:cBhvr>
                                        <p:cTn id="60" dur="2000" fill="hold"/>
                                        <p:tgtEl>
                                          <p:spTgt spid="11"/>
                                        </p:tgtEl>
                                        <p:attrNameLst>
                                          <p:attrName>ppt_x</p:attrName>
                                          <p:attrName>ppt_y</p:attrName>
                                        </p:attrNameLst>
                                      </p:cBhvr>
                                      <p:rCtr x="0" y="0"/>
                                    </p:animMotion>
                                  </p:childTnLst>
                                </p:cTn>
                              </p:par>
                              <p:par>
                                <p:cTn id="61" presetID="42" presetClass="path" presetSubtype="0" accel="50000" decel="50000" fill="hold" nodeType="withEffect">
                                  <p:stCondLst>
                                    <p:cond delay="0"/>
                                  </p:stCondLst>
                                  <p:childTnLst>
                                    <p:animMotion origin="layout" path="M 0.00052 -0.06667 L -3.33333E-6 2.96296E-6 " pathEditMode="relative" rAng="0" ptsTypes="AA">
                                      <p:cBhvr>
                                        <p:cTn id="62" dur="2000" fill="hold"/>
                                        <p:tgtEl>
                                          <p:spTgt spid="12"/>
                                        </p:tgtEl>
                                        <p:attrNameLst>
                                          <p:attrName>ppt_x</p:attrName>
                                          <p:attrName>ppt_y</p:attrName>
                                        </p:attrNameLst>
                                      </p:cBhvr>
                                      <p:rCtr x="-26" y="33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P spid="11" grpId="1"/>
      <p:bldP spid="11" grpId="2"/>
      <p:bldP spid="13" grpId="0"/>
      <p:bldP spid="16" grpId="0"/>
      <p:bldP spid="17" grpId="0"/>
      <p:bldP spid="17" grpId="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9ED98991-3212-4EF1-A60B-9706D61A125D}"/>
              </a:ext>
            </a:extLst>
          </p:cNvPr>
          <p:cNvSpPr>
            <a:spLocks noGrp="1" noChangeArrowheads="1"/>
          </p:cNvSpPr>
          <p:nvPr>
            <p:ph type="title"/>
          </p:nvPr>
        </p:nvSpPr>
        <p:spPr/>
        <p:txBody>
          <a:bodyPr>
            <a:normAutofit/>
          </a:bodyPr>
          <a:lstStyle/>
          <a:p>
            <a:pPr eaLnBrk="1" hangingPunct="1">
              <a:spcBef>
                <a:spcPct val="50000"/>
              </a:spcBef>
              <a:defRPr/>
            </a:pPr>
            <a:r>
              <a:rPr kumimoji="0" dirty="0" err="1"/>
              <a:t>栈的抽象数据类型</a:t>
            </a:r>
            <a:r>
              <a:rPr kumimoji="0" dirty="0"/>
              <a:t> </a:t>
            </a:r>
          </a:p>
        </p:txBody>
      </p:sp>
      <p:sp>
        <p:nvSpPr>
          <p:cNvPr id="2" name="副标题 1">
            <a:extLst>
              <a:ext uri="{FF2B5EF4-FFF2-40B4-BE49-F238E27FC236}">
                <a16:creationId xmlns:a16="http://schemas.microsoft.com/office/drawing/2014/main" id="{DEC3F316-0B88-451C-9770-D8A6ECCEAD2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825D9F6-E003-41A8-9590-52F5B02B13F4}"/>
              </a:ext>
            </a:extLst>
          </p:cNvPr>
          <p:cNvSpPr>
            <a:spLocks noGrp="1"/>
          </p:cNvSpPr>
          <p:nvPr>
            <p:ph type="body" idx="10"/>
          </p:nvPr>
        </p:nvSpPr>
        <p:spPr/>
        <p:txBody>
          <a:bodyPr/>
          <a:lstStyle/>
          <a:p>
            <a:endParaRPr lang="zh-CN" altLang="en-US"/>
          </a:p>
        </p:txBody>
      </p:sp>
      <p:sp>
        <p:nvSpPr>
          <p:cNvPr id="7" name="内容占位符 6">
            <a:extLst>
              <a:ext uri="{FF2B5EF4-FFF2-40B4-BE49-F238E27FC236}">
                <a16:creationId xmlns:a16="http://schemas.microsoft.com/office/drawing/2014/main" id="{6031AC70-2093-4477-BA57-635DBF87DB30}"/>
              </a:ext>
            </a:extLst>
          </p:cNvPr>
          <p:cNvSpPr>
            <a:spLocks noGrp="1"/>
          </p:cNvSpPr>
          <p:nvPr>
            <p:ph idx="11"/>
          </p:nvPr>
        </p:nvSpPr>
        <p:spPr>
          <a:xfrm>
            <a:off x="584225" y="1124682"/>
            <a:ext cx="11055325" cy="5215222"/>
          </a:xfrm>
        </p:spPr>
        <p:txBody>
          <a:bodyPr>
            <a:normAutofit fontScale="70000" lnSpcReduction="20000"/>
          </a:bodyPr>
          <a:lstStyle/>
          <a:p>
            <a:pPr marL="0" indent="0">
              <a:buNone/>
            </a:pPr>
            <a:endParaRPr lang="en-US" altLang="zh-CN" b="1" dirty="0"/>
          </a:p>
          <a:p>
            <a:pPr marL="0" indent="0">
              <a:buNone/>
            </a:pPr>
            <a:r>
              <a:rPr lang="zh-CN" altLang="zh-CN" b="1" dirty="0"/>
              <a:t>代码</a:t>
            </a:r>
            <a:r>
              <a:rPr lang="en-US" altLang="zh-CN" b="1" dirty="0"/>
              <a:t>3-1</a:t>
            </a:r>
            <a:r>
              <a:rPr lang="zh-CN" altLang="zh-CN" dirty="0"/>
              <a:t>：栈的抽象数据类型定义</a:t>
            </a:r>
          </a:p>
          <a:p>
            <a:pPr marL="0" indent="0">
              <a:lnSpc>
                <a:spcPct val="100000"/>
              </a:lnSpc>
              <a:spcBef>
                <a:spcPts val="600"/>
              </a:spcBef>
              <a:buNone/>
            </a:pPr>
            <a:endParaRPr lang="en-US" altLang="zh-CN" b="1" dirty="0"/>
          </a:p>
          <a:p>
            <a:pPr marL="0" indent="0">
              <a:lnSpc>
                <a:spcPct val="100000"/>
              </a:lnSpc>
              <a:spcBef>
                <a:spcPts val="600"/>
              </a:spcBef>
              <a:buNone/>
            </a:pPr>
            <a:r>
              <a:rPr lang="en-US" altLang="zh-CN" b="1" dirty="0"/>
              <a:t>ADT Stack </a:t>
            </a:r>
            <a:r>
              <a:rPr lang="en-US" altLang="zh-CN" dirty="0"/>
              <a:t>{</a:t>
            </a:r>
            <a:endParaRPr lang="zh-CN" altLang="zh-CN" dirty="0"/>
          </a:p>
          <a:p>
            <a:pPr marL="0" indent="0">
              <a:lnSpc>
                <a:spcPct val="100000"/>
              </a:lnSpc>
              <a:spcBef>
                <a:spcPts val="600"/>
              </a:spcBef>
              <a:buNone/>
            </a:pPr>
            <a:r>
              <a:rPr lang="zh-CN" altLang="zh-CN" b="1" dirty="0"/>
              <a:t>数据对象：</a:t>
            </a:r>
            <a:endParaRPr lang="zh-CN" altLang="zh-CN" dirty="0"/>
          </a:p>
          <a:p>
            <a:pPr marL="457200" lvl="1" indent="0">
              <a:lnSpc>
                <a:spcPct val="100000"/>
              </a:lnSpc>
              <a:spcBef>
                <a:spcPts val="600"/>
              </a:spcBef>
              <a:buNone/>
            </a:pPr>
            <a:r>
              <a:rPr lang="en-US" altLang="zh-CN" dirty="0"/>
              <a:t>{ </a:t>
            </a:r>
            <a:r>
              <a:rPr lang="en-US" altLang="zh-CN" i="1" dirty="0"/>
              <a:t>ai</a:t>
            </a:r>
            <a:r>
              <a:rPr lang="en-US" altLang="zh-CN" dirty="0"/>
              <a:t>| </a:t>
            </a:r>
            <a:r>
              <a:rPr lang="en-US" altLang="zh-CN" i="1" dirty="0"/>
              <a:t>ai</a:t>
            </a:r>
            <a:r>
              <a:rPr lang="zh-CN" altLang="zh-CN" dirty="0"/>
              <a:t>∈</a:t>
            </a:r>
            <a:r>
              <a:rPr lang="en-US" altLang="zh-CN" dirty="0" err="1"/>
              <a:t>ElemSet</a:t>
            </a:r>
            <a:r>
              <a:rPr lang="zh-CN" altLang="zh-CN" dirty="0"/>
              <a:t>，</a:t>
            </a:r>
            <a:r>
              <a:rPr lang="en-US" altLang="zh-CN" i="1" dirty="0" err="1"/>
              <a:t>i</a:t>
            </a:r>
            <a:r>
              <a:rPr lang="en-US" altLang="zh-CN" dirty="0"/>
              <a:t>=1,2,…</a:t>
            </a:r>
            <a:r>
              <a:rPr lang="en-US" altLang="zh-CN" i="1" dirty="0"/>
              <a:t>n</a:t>
            </a:r>
            <a:r>
              <a:rPr lang="en-US" altLang="zh-CN" dirty="0"/>
              <a:t>, </a:t>
            </a:r>
            <a:r>
              <a:rPr lang="en-US" altLang="zh-CN" i="1" dirty="0"/>
              <a:t>n</a:t>
            </a:r>
            <a:r>
              <a:rPr lang="en-US" altLang="zh-CN" dirty="0"/>
              <a:t> &gt; 0 } </a:t>
            </a:r>
            <a:r>
              <a:rPr lang="zh-CN" altLang="zh-CN" dirty="0"/>
              <a:t>或</a:t>
            </a:r>
            <a:r>
              <a:rPr lang="en-US" altLang="zh-CN" i="1" dirty="0"/>
              <a:t>Φ</a:t>
            </a:r>
            <a:r>
              <a:rPr lang="zh-CN" altLang="zh-CN" dirty="0"/>
              <a:t>，即空表；</a:t>
            </a:r>
            <a:r>
              <a:rPr lang="en-US" altLang="zh-CN" dirty="0" err="1"/>
              <a:t>ElemSet</a:t>
            </a:r>
            <a:r>
              <a:rPr lang="zh-CN" altLang="zh-CN" dirty="0"/>
              <a:t>为元素集合。</a:t>
            </a:r>
          </a:p>
          <a:p>
            <a:pPr marL="0" indent="0">
              <a:lnSpc>
                <a:spcPct val="100000"/>
              </a:lnSpc>
              <a:spcBef>
                <a:spcPts val="600"/>
              </a:spcBef>
              <a:buNone/>
            </a:pPr>
            <a:r>
              <a:rPr lang="zh-CN" altLang="zh-CN" b="1" dirty="0"/>
              <a:t>数据关系：</a:t>
            </a:r>
            <a:endParaRPr lang="zh-CN" altLang="zh-CN" dirty="0"/>
          </a:p>
          <a:p>
            <a:pPr marL="457200" lvl="1" indent="0">
              <a:lnSpc>
                <a:spcPct val="100000"/>
              </a:lnSpc>
              <a:spcBef>
                <a:spcPts val="600"/>
              </a:spcBef>
              <a:buNone/>
            </a:pPr>
            <a:r>
              <a:rPr lang="en-US" altLang="zh-CN" dirty="0"/>
              <a:t>{&lt;</a:t>
            </a:r>
            <a:r>
              <a:rPr lang="en-US" altLang="zh-CN" i="1" dirty="0"/>
              <a:t>ai</a:t>
            </a:r>
            <a:r>
              <a:rPr lang="en-US" altLang="zh-CN" dirty="0"/>
              <a:t>, </a:t>
            </a:r>
            <a:r>
              <a:rPr lang="en-US" altLang="zh-CN" i="1" dirty="0"/>
              <a:t>ai</a:t>
            </a:r>
            <a:r>
              <a:rPr lang="en-US" altLang="zh-CN" dirty="0"/>
              <a:t>+1&gt;|</a:t>
            </a:r>
            <a:r>
              <a:rPr lang="en-US" altLang="zh-CN" i="1" dirty="0"/>
              <a:t>ai</a:t>
            </a:r>
            <a:r>
              <a:rPr lang="en-US" altLang="zh-CN" dirty="0"/>
              <a:t>, </a:t>
            </a:r>
            <a:r>
              <a:rPr lang="en-US" altLang="zh-CN" i="1" dirty="0"/>
              <a:t>ai</a:t>
            </a:r>
            <a:r>
              <a:rPr lang="en-US" altLang="zh-CN" dirty="0"/>
              <a:t>+1</a:t>
            </a:r>
            <a:r>
              <a:rPr lang="zh-CN" altLang="zh-CN" dirty="0"/>
              <a:t>∈</a:t>
            </a:r>
            <a:r>
              <a:rPr lang="en-US" altLang="zh-CN" dirty="0" err="1"/>
              <a:t>ElemSet</a:t>
            </a:r>
            <a:r>
              <a:rPr lang="zh-CN" altLang="zh-CN" dirty="0"/>
              <a:t>，</a:t>
            </a:r>
            <a:r>
              <a:rPr lang="en-US" altLang="zh-CN" i="1" dirty="0" err="1"/>
              <a:t>i</a:t>
            </a:r>
            <a:r>
              <a:rPr lang="en-US" altLang="zh-CN" dirty="0"/>
              <a:t>=0,1,…</a:t>
            </a:r>
            <a:r>
              <a:rPr lang="en-US" altLang="zh-CN" i="1" dirty="0"/>
              <a:t>n</a:t>
            </a:r>
            <a:r>
              <a:rPr lang="en-US" altLang="zh-CN" dirty="0"/>
              <a:t>-2 }</a:t>
            </a:r>
            <a:r>
              <a:rPr lang="zh-CN" altLang="zh-CN" dirty="0"/>
              <a:t>。</a:t>
            </a:r>
          </a:p>
          <a:p>
            <a:pPr marL="0" indent="0">
              <a:lnSpc>
                <a:spcPct val="100000"/>
              </a:lnSpc>
              <a:spcBef>
                <a:spcPts val="600"/>
              </a:spcBef>
              <a:buNone/>
            </a:pPr>
            <a:r>
              <a:rPr lang="zh-CN" altLang="zh-CN" b="1" dirty="0"/>
              <a:t>基本操作：</a:t>
            </a:r>
            <a:endParaRPr lang="zh-CN" altLang="zh-CN" dirty="0"/>
          </a:p>
          <a:p>
            <a:pPr marL="457200" lvl="1" indent="0">
              <a:lnSpc>
                <a:spcPct val="100000"/>
              </a:lnSpc>
              <a:spcBef>
                <a:spcPts val="600"/>
              </a:spcBef>
              <a:buNone/>
            </a:pPr>
            <a:r>
              <a:rPr lang="en-US" altLang="zh-CN" dirty="0" err="1"/>
              <a:t>InitStack</a:t>
            </a:r>
            <a:r>
              <a:rPr lang="en-US" altLang="zh-CN" dirty="0"/>
              <a:t> (</a:t>
            </a:r>
            <a:r>
              <a:rPr lang="en-US" altLang="zh-CN" i="1" dirty="0"/>
              <a:t>stack</a:t>
            </a:r>
            <a:r>
              <a:rPr lang="en-US" altLang="zh-CN" dirty="0"/>
              <a:t>)</a:t>
            </a:r>
            <a:r>
              <a:rPr lang="zh-CN" altLang="zh-CN" dirty="0"/>
              <a:t>：</a:t>
            </a:r>
            <a:r>
              <a:rPr lang="en-US" altLang="zh-CN" dirty="0"/>
              <a:t>	</a:t>
            </a:r>
            <a:r>
              <a:rPr lang="zh-CN" altLang="zh-CN" dirty="0"/>
              <a:t>初始化一个空的栈</a:t>
            </a:r>
            <a:r>
              <a:rPr lang="en-US" altLang="zh-CN" i="1" dirty="0"/>
              <a:t>stack</a:t>
            </a:r>
            <a:r>
              <a:rPr lang="zh-CN" altLang="zh-CN" dirty="0"/>
              <a:t>。</a:t>
            </a:r>
          </a:p>
          <a:p>
            <a:pPr marL="457200" lvl="1" indent="0">
              <a:lnSpc>
                <a:spcPct val="100000"/>
              </a:lnSpc>
              <a:spcBef>
                <a:spcPts val="600"/>
              </a:spcBef>
              <a:buNone/>
            </a:pPr>
            <a:r>
              <a:rPr lang="en-US" altLang="zh-CN" dirty="0" err="1"/>
              <a:t>DestroyStack</a:t>
            </a:r>
            <a:r>
              <a:rPr lang="en-US" altLang="zh-CN" dirty="0"/>
              <a:t> (</a:t>
            </a:r>
            <a:r>
              <a:rPr lang="en-US" altLang="zh-CN" i="1" dirty="0"/>
              <a:t>stack</a:t>
            </a:r>
            <a:r>
              <a:rPr lang="en-US" altLang="zh-CN" dirty="0"/>
              <a:t>)</a:t>
            </a:r>
            <a:r>
              <a:rPr lang="zh-CN" altLang="zh-CN" dirty="0"/>
              <a:t>：</a:t>
            </a:r>
            <a:r>
              <a:rPr lang="en-US" altLang="zh-CN" dirty="0"/>
              <a:t>	</a:t>
            </a:r>
            <a:r>
              <a:rPr lang="zh-CN" altLang="zh-CN" dirty="0"/>
              <a:t>释放栈</a:t>
            </a:r>
            <a:r>
              <a:rPr lang="en-US" altLang="zh-CN" i="1" dirty="0"/>
              <a:t>stack</a:t>
            </a:r>
            <a:r>
              <a:rPr lang="zh-CN" altLang="zh-CN" dirty="0"/>
              <a:t>占用的所有空间。</a:t>
            </a:r>
          </a:p>
          <a:p>
            <a:pPr marL="457200" lvl="1" indent="0">
              <a:lnSpc>
                <a:spcPct val="100000"/>
              </a:lnSpc>
              <a:spcBef>
                <a:spcPts val="600"/>
              </a:spcBef>
              <a:buNone/>
            </a:pPr>
            <a:r>
              <a:rPr lang="en-US" altLang="zh-CN" dirty="0"/>
              <a:t>Clear (</a:t>
            </a:r>
            <a:r>
              <a:rPr lang="en-US" altLang="zh-CN" i="1" dirty="0"/>
              <a:t>stack</a:t>
            </a:r>
            <a:r>
              <a:rPr lang="en-US" altLang="zh-CN" dirty="0"/>
              <a:t>)</a:t>
            </a:r>
            <a:r>
              <a:rPr lang="zh-CN" altLang="zh-CN" dirty="0"/>
              <a:t>：</a:t>
            </a:r>
            <a:r>
              <a:rPr lang="en-US" altLang="zh-CN" dirty="0"/>
              <a:t>		</a:t>
            </a:r>
            <a:r>
              <a:rPr lang="zh-CN" altLang="zh-CN" dirty="0"/>
              <a:t>清空栈</a:t>
            </a:r>
            <a:r>
              <a:rPr lang="en-US" altLang="zh-CN" i="1" dirty="0"/>
              <a:t>stack</a:t>
            </a:r>
            <a:r>
              <a:rPr lang="zh-CN" altLang="zh-CN" dirty="0"/>
              <a:t>。</a:t>
            </a:r>
          </a:p>
          <a:p>
            <a:pPr marL="457200" lvl="1" indent="0">
              <a:lnSpc>
                <a:spcPct val="100000"/>
              </a:lnSpc>
              <a:spcBef>
                <a:spcPts val="600"/>
              </a:spcBef>
              <a:buNone/>
            </a:pPr>
            <a:r>
              <a:rPr lang="en-US" altLang="zh-CN" dirty="0" err="1"/>
              <a:t>IsEmpty</a:t>
            </a:r>
            <a:r>
              <a:rPr lang="en-US" altLang="zh-CN" dirty="0"/>
              <a:t> (</a:t>
            </a:r>
            <a:r>
              <a:rPr lang="en-US" altLang="zh-CN" i="1" dirty="0"/>
              <a:t>stack</a:t>
            </a:r>
            <a:r>
              <a:rPr lang="en-US" altLang="zh-CN" dirty="0"/>
              <a:t>)</a:t>
            </a:r>
            <a:r>
              <a:rPr lang="zh-CN" altLang="zh-CN" dirty="0"/>
              <a:t>：</a:t>
            </a:r>
            <a:r>
              <a:rPr lang="en-US" altLang="zh-CN" dirty="0"/>
              <a:t>	</a:t>
            </a:r>
            <a:r>
              <a:rPr lang="zh-CN" altLang="zh-CN" dirty="0"/>
              <a:t>栈</a:t>
            </a:r>
            <a:r>
              <a:rPr lang="en-US" altLang="zh-CN" i="1" dirty="0"/>
              <a:t>stack</a:t>
            </a:r>
            <a:r>
              <a:rPr lang="zh-CN" altLang="zh-CN" dirty="0"/>
              <a:t>为空返回真，否则返回假。</a:t>
            </a:r>
          </a:p>
          <a:p>
            <a:pPr marL="457200" lvl="1" indent="0">
              <a:lnSpc>
                <a:spcPct val="100000"/>
              </a:lnSpc>
              <a:spcBef>
                <a:spcPts val="600"/>
              </a:spcBef>
              <a:buNone/>
            </a:pPr>
            <a:r>
              <a:rPr lang="en-US" altLang="zh-CN" dirty="0" err="1"/>
              <a:t>IsFull</a:t>
            </a:r>
            <a:r>
              <a:rPr lang="en-US" altLang="zh-CN" dirty="0"/>
              <a:t> (</a:t>
            </a:r>
            <a:r>
              <a:rPr lang="en-US" altLang="zh-CN" i="1" dirty="0"/>
              <a:t>stack</a:t>
            </a:r>
            <a:r>
              <a:rPr lang="en-US" altLang="zh-CN" dirty="0"/>
              <a:t>)</a:t>
            </a:r>
            <a:r>
              <a:rPr lang="zh-CN" altLang="zh-CN" dirty="0"/>
              <a:t>：</a:t>
            </a:r>
            <a:r>
              <a:rPr lang="en-US" altLang="zh-CN" dirty="0"/>
              <a:t>		</a:t>
            </a:r>
            <a:r>
              <a:rPr lang="zh-CN" altLang="zh-CN" dirty="0"/>
              <a:t>栈</a:t>
            </a:r>
            <a:r>
              <a:rPr lang="en-US" altLang="zh-CN" i="1" dirty="0"/>
              <a:t>stack</a:t>
            </a:r>
            <a:r>
              <a:rPr lang="zh-CN" altLang="zh-CN" dirty="0"/>
              <a:t>满返回真，否则返回假。</a:t>
            </a:r>
          </a:p>
          <a:p>
            <a:pPr marL="457200" lvl="1" indent="0">
              <a:lnSpc>
                <a:spcPct val="100000"/>
              </a:lnSpc>
              <a:spcBef>
                <a:spcPts val="600"/>
              </a:spcBef>
              <a:buNone/>
            </a:pPr>
            <a:r>
              <a:rPr lang="en-US" altLang="zh-CN" dirty="0"/>
              <a:t>Top (</a:t>
            </a:r>
            <a:r>
              <a:rPr lang="en-US" altLang="zh-CN" i="1" dirty="0"/>
              <a:t>stack</a:t>
            </a:r>
            <a:r>
              <a:rPr lang="en-US" altLang="zh-CN" dirty="0"/>
              <a:t>)</a:t>
            </a:r>
            <a:r>
              <a:rPr lang="zh-CN" altLang="zh-CN" dirty="0"/>
              <a:t>：</a:t>
            </a:r>
            <a:r>
              <a:rPr lang="en-US" altLang="zh-CN" dirty="0"/>
              <a:t>		</a:t>
            </a:r>
            <a:r>
              <a:rPr lang="zh-CN" altLang="zh-CN" dirty="0"/>
              <a:t>返回栈</a:t>
            </a:r>
            <a:r>
              <a:rPr lang="en-US" altLang="zh-CN" i="1" dirty="0"/>
              <a:t>stack</a:t>
            </a:r>
            <a:r>
              <a:rPr lang="zh-CN" altLang="zh-CN" dirty="0"/>
              <a:t>的栈顶结点，栈顶结点不变。</a:t>
            </a:r>
          </a:p>
          <a:p>
            <a:pPr marL="457200" lvl="1" indent="0">
              <a:lnSpc>
                <a:spcPct val="100000"/>
              </a:lnSpc>
              <a:spcBef>
                <a:spcPts val="600"/>
              </a:spcBef>
              <a:buNone/>
            </a:pPr>
            <a:r>
              <a:rPr lang="en-US" altLang="zh-CN" dirty="0"/>
              <a:t>Push (</a:t>
            </a:r>
            <a:r>
              <a:rPr lang="en-US" altLang="zh-CN" i="1" dirty="0"/>
              <a:t>stack, x</a:t>
            </a:r>
            <a:r>
              <a:rPr lang="en-US" altLang="zh-CN" dirty="0"/>
              <a:t>)</a:t>
            </a:r>
            <a:r>
              <a:rPr lang="zh-CN" altLang="zh-CN" dirty="0"/>
              <a:t>：</a:t>
            </a:r>
            <a:r>
              <a:rPr lang="en-US" altLang="zh-CN" dirty="0"/>
              <a:t>	</a:t>
            </a:r>
            <a:r>
              <a:rPr lang="zh-CN" altLang="zh-CN" dirty="0"/>
              <a:t>将结点</a:t>
            </a:r>
            <a:r>
              <a:rPr lang="en-US" altLang="zh-CN" i="1" dirty="0"/>
              <a:t>x</a:t>
            </a:r>
            <a:r>
              <a:rPr lang="zh-CN" altLang="zh-CN" dirty="0"/>
              <a:t>压入栈</a:t>
            </a:r>
            <a:r>
              <a:rPr lang="en-US" altLang="zh-CN" i="1" dirty="0"/>
              <a:t>stack</a:t>
            </a:r>
            <a:r>
              <a:rPr lang="zh-CN" altLang="zh-CN" dirty="0"/>
              <a:t>，使其成为新的栈顶。</a:t>
            </a:r>
          </a:p>
          <a:p>
            <a:pPr marL="457200" lvl="1" indent="0">
              <a:lnSpc>
                <a:spcPct val="100000"/>
              </a:lnSpc>
              <a:spcBef>
                <a:spcPts val="600"/>
              </a:spcBef>
              <a:buNone/>
            </a:pPr>
            <a:r>
              <a:rPr lang="en-US" altLang="zh-CN" dirty="0"/>
              <a:t>Pop (</a:t>
            </a:r>
            <a:r>
              <a:rPr lang="en-US" altLang="zh-CN" i="1" dirty="0"/>
              <a:t>stack</a:t>
            </a:r>
            <a:r>
              <a:rPr lang="en-US" altLang="zh-CN" dirty="0"/>
              <a:t>)</a:t>
            </a:r>
            <a:r>
              <a:rPr lang="zh-CN" altLang="zh-CN" dirty="0"/>
              <a:t>：</a:t>
            </a:r>
            <a:r>
              <a:rPr lang="en-US" altLang="zh-CN" dirty="0"/>
              <a:t>		</a:t>
            </a:r>
            <a:r>
              <a:rPr lang="zh-CN" altLang="zh-CN" dirty="0"/>
              <a:t>将栈顶结点弹出栈</a:t>
            </a:r>
            <a:r>
              <a:rPr lang="en-US" altLang="zh-CN" i="1" dirty="0"/>
              <a:t>stack</a:t>
            </a:r>
            <a:r>
              <a:rPr lang="zh-CN" altLang="zh-CN" dirty="0"/>
              <a:t>。</a:t>
            </a:r>
          </a:p>
          <a:p>
            <a:pPr marL="0" indent="0">
              <a:lnSpc>
                <a:spcPct val="100000"/>
              </a:lnSpc>
              <a:spcBef>
                <a:spcPts val="600"/>
              </a:spcBef>
              <a:buNone/>
            </a:pPr>
            <a:r>
              <a:rPr lang="en-US" altLang="zh-CN" dirty="0"/>
              <a:t>}</a:t>
            </a:r>
            <a:endParaRPr lang="zh-CN" altLang="zh-CN" dirty="0"/>
          </a:p>
          <a:p>
            <a:endParaRPr lang="zh-CN" altLang="en-US" dirty="0"/>
          </a:p>
        </p:txBody>
      </p:sp>
      <p:cxnSp>
        <p:nvCxnSpPr>
          <p:cNvPr id="9" name="直接连接符 8">
            <a:extLst>
              <a:ext uri="{FF2B5EF4-FFF2-40B4-BE49-F238E27FC236}">
                <a16:creationId xmlns:a16="http://schemas.microsoft.com/office/drawing/2014/main" id="{D1299C51-955F-4F70-BEEF-CFF438DA6214}"/>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B9AD592-DA23-4897-9AEE-DEF4AEB4E32E}"/>
              </a:ext>
            </a:extLst>
          </p:cNvPr>
          <p:cNvCxnSpPr>
            <a:cxnSpLocks/>
          </p:cNvCxnSpPr>
          <p:nvPr/>
        </p:nvCxnSpPr>
        <p:spPr>
          <a:xfrm>
            <a:off x="584225" y="177755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BD3D693-E5D8-4A71-B690-74DF59249097}"/>
              </a:ext>
            </a:extLst>
          </p:cNvPr>
          <p:cNvSpPr>
            <a:spLocks noGrp="1" noChangeArrowheads="1"/>
          </p:cNvSpPr>
          <p:nvPr>
            <p:ph type="title"/>
          </p:nvPr>
        </p:nvSpPr>
        <p:spPr/>
        <p:txBody>
          <a:bodyPr anchor="ctr">
            <a:normAutofit/>
          </a:bodyPr>
          <a:lstStyle/>
          <a:p>
            <a:pPr eaLnBrk="1" hangingPunct="1">
              <a:defRPr/>
            </a:pPr>
            <a:r>
              <a:rPr kumimoji="0" sz="2800" dirty="0" err="1"/>
              <a:t>栈</a:t>
            </a:r>
            <a:r>
              <a:rPr kumimoji="0" lang="zh-CN" altLang="en-US" sz="2800" dirty="0"/>
              <a:t>的示例</a:t>
            </a:r>
            <a:endParaRPr kumimoji="0" sz="2800" dirty="0"/>
          </a:p>
        </p:txBody>
      </p:sp>
      <p:sp>
        <p:nvSpPr>
          <p:cNvPr id="6" name="副标题 5">
            <a:extLst>
              <a:ext uri="{FF2B5EF4-FFF2-40B4-BE49-F238E27FC236}">
                <a16:creationId xmlns:a16="http://schemas.microsoft.com/office/drawing/2014/main" id="{18709724-2C93-4B18-96C8-15740EA1901A}"/>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358BDF5-9D6C-410F-A505-ECC6C7E1A467}"/>
              </a:ext>
            </a:extLst>
          </p:cNvPr>
          <p:cNvSpPr>
            <a:spLocks noGrp="1"/>
          </p:cNvSpPr>
          <p:nvPr>
            <p:ph type="body" idx="10"/>
          </p:nvPr>
        </p:nvSpPr>
        <p:spPr/>
        <p:txBody>
          <a:bodyPr/>
          <a:lstStyle/>
          <a:p>
            <a:endParaRPr lang="zh-CN" altLang="en-US"/>
          </a:p>
        </p:txBody>
      </p:sp>
      <p:grpSp>
        <p:nvGrpSpPr>
          <p:cNvPr id="3" name="Group 4">
            <a:extLst>
              <a:ext uri="{FF2B5EF4-FFF2-40B4-BE49-F238E27FC236}">
                <a16:creationId xmlns:a16="http://schemas.microsoft.com/office/drawing/2014/main" id="{61CF8DEB-D5D9-9377-DC18-FFBE2CD512A1}"/>
              </a:ext>
            </a:extLst>
          </p:cNvPr>
          <p:cNvGrpSpPr>
            <a:grpSpLocks/>
          </p:cNvGrpSpPr>
          <p:nvPr/>
        </p:nvGrpSpPr>
        <p:grpSpPr bwMode="auto">
          <a:xfrm>
            <a:off x="2298700" y="2285256"/>
            <a:ext cx="685800" cy="2362200"/>
            <a:chOff x="624" y="1728"/>
            <a:chExt cx="432" cy="1488"/>
          </a:xfrm>
        </p:grpSpPr>
        <p:sp>
          <p:nvSpPr>
            <p:cNvPr id="4" name="Line 5">
              <a:extLst>
                <a:ext uri="{FF2B5EF4-FFF2-40B4-BE49-F238E27FC236}">
                  <a16:creationId xmlns:a16="http://schemas.microsoft.com/office/drawing/2014/main" id="{2FA2CDA6-8CB0-91E3-EC58-A09558D54CA7}"/>
                </a:ext>
              </a:extLst>
            </p:cNvPr>
            <p:cNvSpPr>
              <a:spLocks noChangeShapeType="1"/>
            </p:cNvSpPr>
            <p:nvPr/>
          </p:nvSpPr>
          <p:spPr bwMode="auto">
            <a:xfrm>
              <a:off x="624" y="32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5" name="Line 6">
              <a:extLst>
                <a:ext uri="{FF2B5EF4-FFF2-40B4-BE49-F238E27FC236}">
                  <a16:creationId xmlns:a16="http://schemas.microsoft.com/office/drawing/2014/main" id="{D6D78AE9-4815-15BD-5B29-5E241F5B5B9E}"/>
                </a:ext>
              </a:extLst>
            </p:cNvPr>
            <p:cNvSpPr>
              <a:spLocks noChangeShapeType="1"/>
            </p:cNvSpPr>
            <p:nvPr/>
          </p:nvSpPr>
          <p:spPr bwMode="auto">
            <a:xfrm>
              <a:off x="624"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8" name="Line 7">
              <a:extLst>
                <a:ext uri="{FF2B5EF4-FFF2-40B4-BE49-F238E27FC236}">
                  <a16:creationId xmlns:a16="http://schemas.microsoft.com/office/drawing/2014/main" id="{3D2CA31F-0CC2-D5B9-3E58-4018AA012F40}"/>
                </a:ext>
              </a:extLst>
            </p:cNvPr>
            <p:cNvSpPr>
              <a:spLocks noChangeShapeType="1"/>
            </p:cNvSpPr>
            <p:nvPr/>
          </p:nvSpPr>
          <p:spPr bwMode="auto">
            <a:xfrm>
              <a:off x="1056"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grpSp>
      <p:sp>
        <p:nvSpPr>
          <p:cNvPr id="9" name="AutoShape 8">
            <a:extLst>
              <a:ext uri="{FF2B5EF4-FFF2-40B4-BE49-F238E27FC236}">
                <a16:creationId xmlns:a16="http://schemas.microsoft.com/office/drawing/2014/main" id="{7C6B427A-1A67-A781-85DA-7EAB5FFB6F17}"/>
              </a:ext>
            </a:extLst>
          </p:cNvPr>
          <p:cNvSpPr>
            <a:spLocks noChangeArrowheads="1"/>
          </p:cNvSpPr>
          <p:nvPr/>
        </p:nvSpPr>
        <p:spPr bwMode="auto">
          <a:xfrm>
            <a:off x="3213100" y="3352056"/>
            <a:ext cx="685800" cy="304800"/>
          </a:xfrm>
          <a:prstGeom prst="righ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zh-CN" altLang="zh-CN">
              <a:solidFill>
                <a:srgbClr val="33CCFF"/>
              </a:solidFill>
              <a:latin typeface="Arial" charset="0"/>
              <a:ea typeface="宋体" charset="0"/>
            </a:endParaRPr>
          </a:p>
        </p:txBody>
      </p:sp>
      <p:grpSp>
        <p:nvGrpSpPr>
          <p:cNvPr id="10" name="Group 9">
            <a:extLst>
              <a:ext uri="{FF2B5EF4-FFF2-40B4-BE49-F238E27FC236}">
                <a16:creationId xmlns:a16="http://schemas.microsoft.com/office/drawing/2014/main" id="{70DED885-D3DC-EC40-927F-9B1726A2F910}"/>
              </a:ext>
            </a:extLst>
          </p:cNvPr>
          <p:cNvGrpSpPr>
            <a:grpSpLocks/>
          </p:cNvGrpSpPr>
          <p:nvPr/>
        </p:nvGrpSpPr>
        <p:grpSpPr bwMode="auto">
          <a:xfrm>
            <a:off x="4051300" y="2285256"/>
            <a:ext cx="685800" cy="1905000"/>
            <a:chOff x="624" y="1728"/>
            <a:chExt cx="432" cy="1488"/>
          </a:xfrm>
        </p:grpSpPr>
        <p:sp>
          <p:nvSpPr>
            <p:cNvPr id="11" name="Line 10">
              <a:extLst>
                <a:ext uri="{FF2B5EF4-FFF2-40B4-BE49-F238E27FC236}">
                  <a16:creationId xmlns:a16="http://schemas.microsoft.com/office/drawing/2014/main" id="{28EED500-3956-7ACB-A6A1-6FF8E89F3A39}"/>
                </a:ext>
              </a:extLst>
            </p:cNvPr>
            <p:cNvSpPr>
              <a:spLocks noChangeShapeType="1"/>
            </p:cNvSpPr>
            <p:nvPr/>
          </p:nvSpPr>
          <p:spPr bwMode="auto">
            <a:xfrm>
              <a:off x="624" y="32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12" name="Line 11">
              <a:extLst>
                <a:ext uri="{FF2B5EF4-FFF2-40B4-BE49-F238E27FC236}">
                  <a16:creationId xmlns:a16="http://schemas.microsoft.com/office/drawing/2014/main" id="{4FAF91EE-0040-76CA-7A48-FA7EAC483221}"/>
                </a:ext>
              </a:extLst>
            </p:cNvPr>
            <p:cNvSpPr>
              <a:spLocks noChangeShapeType="1"/>
            </p:cNvSpPr>
            <p:nvPr/>
          </p:nvSpPr>
          <p:spPr bwMode="auto">
            <a:xfrm>
              <a:off x="624"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13" name="Line 12">
              <a:extLst>
                <a:ext uri="{FF2B5EF4-FFF2-40B4-BE49-F238E27FC236}">
                  <a16:creationId xmlns:a16="http://schemas.microsoft.com/office/drawing/2014/main" id="{989DEEE1-061F-4F49-2829-1007CA16E3E8}"/>
                </a:ext>
              </a:extLst>
            </p:cNvPr>
            <p:cNvSpPr>
              <a:spLocks noChangeShapeType="1"/>
            </p:cNvSpPr>
            <p:nvPr/>
          </p:nvSpPr>
          <p:spPr bwMode="auto">
            <a:xfrm>
              <a:off x="1056"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grpSp>
      <p:grpSp>
        <p:nvGrpSpPr>
          <p:cNvPr id="14" name="Group 13">
            <a:extLst>
              <a:ext uri="{FF2B5EF4-FFF2-40B4-BE49-F238E27FC236}">
                <a16:creationId xmlns:a16="http://schemas.microsoft.com/office/drawing/2014/main" id="{3791C040-BEE9-4648-7120-B7856403F56E}"/>
              </a:ext>
            </a:extLst>
          </p:cNvPr>
          <p:cNvGrpSpPr>
            <a:grpSpLocks/>
          </p:cNvGrpSpPr>
          <p:nvPr/>
        </p:nvGrpSpPr>
        <p:grpSpPr bwMode="auto">
          <a:xfrm>
            <a:off x="5651500" y="2285256"/>
            <a:ext cx="685800" cy="1447800"/>
            <a:chOff x="624" y="1728"/>
            <a:chExt cx="432" cy="1488"/>
          </a:xfrm>
        </p:grpSpPr>
        <p:sp>
          <p:nvSpPr>
            <p:cNvPr id="15" name="Line 14">
              <a:extLst>
                <a:ext uri="{FF2B5EF4-FFF2-40B4-BE49-F238E27FC236}">
                  <a16:creationId xmlns:a16="http://schemas.microsoft.com/office/drawing/2014/main" id="{85E30DEE-8F02-BFFC-B8F3-8667D94C7275}"/>
                </a:ext>
              </a:extLst>
            </p:cNvPr>
            <p:cNvSpPr>
              <a:spLocks noChangeShapeType="1"/>
            </p:cNvSpPr>
            <p:nvPr/>
          </p:nvSpPr>
          <p:spPr bwMode="auto">
            <a:xfrm>
              <a:off x="624" y="32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16" name="Line 15">
              <a:extLst>
                <a:ext uri="{FF2B5EF4-FFF2-40B4-BE49-F238E27FC236}">
                  <a16:creationId xmlns:a16="http://schemas.microsoft.com/office/drawing/2014/main" id="{08933EC7-69F5-0724-6B06-FB42CEF643EE}"/>
                </a:ext>
              </a:extLst>
            </p:cNvPr>
            <p:cNvSpPr>
              <a:spLocks noChangeShapeType="1"/>
            </p:cNvSpPr>
            <p:nvPr/>
          </p:nvSpPr>
          <p:spPr bwMode="auto">
            <a:xfrm>
              <a:off x="624"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17" name="Line 16">
              <a:extLst>
                <a:ext uri="{FF2B5EF4-FFF2-40B4-BE49-F238E27FC236}">
                  <a16:creationId xmlns:a16="http://schemas.microsoft.com/office/drawing/2014/main" id="{6803BACB-92FA-C140-B940-05D38F66C4FF}"/>
                </a:ext>
              </a:extLst>
            </p:cNvPr>
            <p:cNvSpPr>
              <a:spLocks noChangeShapeType="1"/>
            </p:cNvSpPr>
            <p:nvPr/>
          </p:nvSpPr>
          <p:spPr bwMode="auto">
            <a:xfrm>
              <a:off x="1056"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grpSp>
      <p:grpSp>
        <p:nvGrpSpPr>
          <p:cNvPr id="18" name="Group 17">
            <a:extLst>
              <a:ext uri="{FF2B5EF4-FFF2-40B4-BE49-F238E27FC236}">
                <a16:creationId xmlns:a16="http://schemas.microsoft.com/office/drawing/2014/main" id="{EA30731E-2828-E51D-552D-3C090F9A754A}"/>
              </a:ext>
            </a:extLst>
          </p:cNvPr>
          <p:cNvGrpSpPr>
            <a:grpSpLocks/>
          </p:cNvGrpSpPr>
          <p:nvPr/>
        </p:nvGrpSpPr>
        <p:grpSpPr bwMode="auto">
          <a:xfrm>
            <a:off x="7251700" y="2361456"/>
            <a:ext cx="685800" cy="914400"/>
            <a:chOff x="624" y="1728"/>
            <a:chExt cx="432" cy="1488"/>
          </a:xfrm>
        </p:grpSpPr>
        <p:sp>
          <p:nvSpPr>
            <p:cNvPr id="19" name="Line 18">
              <a:extLst>
                <a:ext uri="{FF2B5EF4-FFF2-40B4-BE49-F238E27FC236}">
                  <a16:creationId xmlns:a16="http://schemas.microsoft.com/office/drawing/2014/main" id="{2108E3B7-A0E9-98CF-7CB0-9DC7BF410D7A}"/>
                </a:ext>
              </a:extLst>
            </p:cNvPr>
            <p:cNvSpPr>
              <a:spLocks noChangeShapeType="1"/>
            </p:cNvSpPr>
            <p:nvPr/>
          </p:nvSpPr>
          <p:spPr bwMode="auto">
            <a:xfrm>
              <a:off x="624" y="32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20" name="Line 19">
              <a:extLst>
                <a:ext uri="{FF2B5EF4-FFF2-40B4-BE49-F238E27FC236}">
                  <a16:creationId xmlns:a16="http://schemas.microsoft.com/office/drawing/2014/main" id="{B48A2542-6755-9C76-33FE-058591EDF119}"/>
                </a:ext>
              </a:extLst>
            </p:cNvPr>
            <p:cNvSpPr>
              <a:spLocks noChangeShapeType="1"/>
            </p:cNvSpPr>
            <p:nvPr/>
          </p:nvSpPr>
          <p:spPr bwMode="auto">
            <a:xfrm>
              <a:off x="624"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21" name="Line 20">
              <a:extLst>
                <a:ext uri="{FF2B5EF4-FFF2-40B4-BE49-F238E27FC236}">
                  <a16:creationId xmlns:a16="http://schemas.microsoft.com/office/drawing/2014/main" id="{FBA11AA0-19BF-2152-F149-54C226A8FB21}"/>
                </a:ext>
              </a:extLst>
            </p:cNvPr>
            <p:cNvSpPr>
              <a:spLocks noChangeShapeType="1"/>
            </p:cNvSpPr>
            <p:nvPr/>
          </p:nvSpPr>
          <p:spPr bwMode="auto">
            <a:xfrm>
              <a:off x="1056"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grpSp>
      <p:sp>
        <p:nvSpPr>
          <p:cNvPr id="22" name="Rectangle 21">
            <a:extLst>
              <a:ext uri="{FF2B5EF4-FFF2-40B4-BE49-F238E27FC236}">
                <a16:creationId xmlns:a16="http://schemas.microsoft.com/office/drawing/2014/main" id="{66D21956-1DA7-DFFB-16FB-3C13BF717978}"/>
              </a:ext>
            </a:extLst>
          </p:cNvPr>
          <p:cNvSpPr>
            <a:spLocks noChangeArrowheads="1"/>
          </p:cNvSpPr>
          <p:nvPr/>
        </p:nvSpPr>
        <p:spPr bwMode="auto">
          <a:xfrm>
            <a:off x="4051300" y="41902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a</a:t>
            </a:r>
            <a:r>
              <a:rPr lang="en-US" altLang="zh-CN" sz="2000">
                <a:latin typeface="Arial" charset="0"/>
                <a:ea typeface="宋体" charset="0"/>
              </a:rPr>
              <a:t>’</a:t>
            </a:r>
            <a:endParaRPr lang="en-US" altLang="zh-CN" sz="2000">
              <a:latin typeface="Tahoma" charset="0"/>
              <a:ea typeface="宋体" charset="0"/>
            </a:endParaRPr>
          </a:p>
        </p:txBody>
      </p:sp>
      <p:sp>
        <p:nvSpPr>
          <p:cNvPr id="23" name="Text Box 22">
            <a:extLst>
              <a:ext uri="{FF2B5EF4-FFF2-40B4-BE49-F238E27FC236}">
                <a16:creationId xmlns:a16="http://schemas.microsoft.com/office/drawing/2014/main" id="{0BAC7FCF-7A4B-D282-B057-7EBB12E4422F}"/>
              </a:ext>
            </a:extLst>
          </p:cNvPr>
          <p:cNvSpPr txBox="1">
            <a:spLocks noChangeArrowheads="1"/>
          </p:cNvSpPr>
          <p:nvPr/>
        </p:nvSpPr>
        <p:spPr bwMode="auto">
          <a:xfrm>
            <a:off x="3027350" y="2968437"/>
            <a:ext cx="1057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spcBef>
                <a:spcPct val="50000"/>
              </a:spcBef>
              <a:defRPr/>
            </a:pPr>
            <a:r>
              <a:rPr lang="en-US" altLang="zh-CN" dirty="0">
                <a:solidFill>
                  <a:srgbClr val="00B0F0"/>
                </a:solidFill>
                <a:latin typeface="Tahoma" charset="0"/>
                <a:ea typeface="宋体" charset="0"/>
              </a:rPr>
              <a:t>push ‘a’</a:t>
            </a:r>
          </a:p>
        </p:txBody>
      </p:sp>
      <p:sp>
        <p:nvSpPr>
          <p:cNvPr id="24" name="Rectangle 23">
            <a:extLst>
              <a:ext uri="{FF2B5EF4-FFF2-40B4-BE49-F238E27FC236}">
                <a16:creationId xmlns:a16="http://schemas.microsoft.com/office/drawing/2014/main" id="{544E6338-6DD3-B867-9AD5-0D26342E6743}"/>
              </a:ext>
            </a:extLst>
          </p:cNvPr>
          <p:cNvSpPr>
            <a:spLocks noChangeArrowheads="1"/>
          </p:cNvSpPr>
          <p:nvPr/>
        </p:nvSpPr>
        <p:spPr bwMode="auto">
          <a:xfrm>
            <a:off x="5651500" y="37330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b</a:t>
            </a:r>
            <a:r>
              <a:rPr lang="en-US" altLang="zh-CN" sz="2000">
                <a:latin typeface="Arial" charset="0"/>
                <a:ea typeface="宋体" charset="0"/>
              </a:rPr>
              <a:t>’</a:t>
            </a:r>
            <a:endParaRPr lang="en-US" altLang="zh-CN" sz="2000">
              <a:latin typeface="Tahoma" charset="0"/>
              <a:ea typeface="宋体" charset="0"/>
            </a:endParaRPr>
          </a:p>
        </p:txBody>
      </p:sp>
      <p:sp>
        <p:nvSpPr>
          <p:cNvPr id="25" name="Rectangle 24">
            <a:extLst>
              <a:ext uri="{FF2B5EF4-FFF2-40B4-BE49-F238E27FC236}">
                <a16:creationId xmlns:a16="http://schemas.microsoft.com/office/drawing/2014/main" id="{52E9E1DC-7BE1-F236-6FA1-E66130CF7A72}"/>
              </a:ext>
            </a:extLst>
          </p:cNvPr>
          <p:cNvSpPr>
            <a:spLocks noChangeArrowheads="1"/>
          </p:cNvSpPr>
          <p:nvPr/>
        </p:nvSpPr>
        <p:spPr bwMode="auto">
          <a:xfrm>
            <a:off x="5651500" y="41902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a</a:t>
            </a:r>
            <a:r>
              <a:rPr lang="en-US" altLang="zh-CN" sz="2000">
                <a:latin typeface="Arial" charset="0"/>
                <a:ea typeface="宋体" charset="0"/>
              </a:rPr>
              <a:t>’</a:t>
            </a:r>
            <a:endParaRPr lang="en-US" altLang="zh-CN" sz="2000">
              <a:latin typeface="Tahoma" charset="0"/>
              <a:ea typeface="宋体" charset="0"/>
            </a:endParaRPr>
          </a:p>
        </p:txBody>
      </p:sp>
      <p:sp>
        <p:nvSpPr>
          <p:cNvPr id="26" name="AutoShape 25">
            <a:extLst>
              <a:ext uri="{FF2B5EF4-FFF2-40B4-BE49-F238E27FC236}">
                <a16:creationId xmlns:a16="http://schemas.microsoft.com/office/drawing/2014/main" id="{D54F6716-B80B-8B6E-7F4C-836D0FB463D4}"/>
              </a:ext>
            </a:extLst>
          </p:cNvPr>
          <p:cNvSpPr>
            <a:spLocks noChangeArrowheads="1"/>
          </p:cNvSpPr>
          <p:nvPr/>
        </p:nvSpPr>
        <p:spPr bwMode="auto">
          <a:xfrm>
            <a:off x="4889500" y="3352056"/>
            <a:ext cx="685800" cy="304800"/>
          </a:xfrm>
          <a:prstGeom prst="righ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latin typeface="Tahoma" charset="0"/>
              <a:ea typeface="宋体" charset="0"/>
            </a:endParaRPr>
          </a:p>
        </p:txBody>
      </p:sp>
      <p:sp>
        <p:nvSpPr>
          <p:cNvPr id="27" name="AutoShape 27">
            <a:extLst>
              <a:ext uri="{FF2B5EF4-FFF2-40B4-BE49-F238E27FC236}">
                <a16:creationId xmlns:a16="http://schemas.microsoft.com/office/drawing/2014/main" id="{C789BD79-3091-7C4C-2D70-773B39ECA9A2}"/>
              </a:ext>
            </a:extLst>
          </p:cNvPr>
          <p:cNvSpPr>
            <a:spLocks noChangeArrowheads="1"/>
          </p:cNvSpPr>
          <p:nvPr/>
        </p:nvSpPr>
        <p:spPr bwMode="auto">
          <a:xfrm>
            <a:off x="6481974" y="2781417"/>
            <a:ext cx="685800" cy="304800"/>
          </a:xfrm>
          <a:prstGeom prst="righ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latin typeface="Tahoma" charset="0"/>
              <a:ea typeface="宋体" charset="0"/>
            </a:endParaRPr>
          </a:p>
        </p:txBody>
      </p:sp>
      <p:sp>
        <p:nvSpPr>
          <p:cNvPr id="28" name="Rectangle 29">
            <a:extLst>
              <a:ext uri="{FF2B5EF4-FFF2-40B4-BE49-F238E27FC236}">
                <a16:creationId xmlns:a16="http://schemas.microsoft.com/office/drawing/2014/main" id="{DFD0DF3A-CC4B-3E58-E757-5AB901A391C6}"/>
              </a:ext>
            </a:extLst>
          </p:cNvPr>
          <p:cNvSpPr>
            <a:spLocks noChangeArrowheads="1"/>
          </p:cNvSpPr>
          <p:nvPr/>
        </p:nvSpPr>
        <p:spPr bwMode="auto">
          <a:xfrm>
            <a:off x="7251700" y="37330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b</a:t>
            </a:r>
            <a:r>
              <a:rPr lang="en-US" altLang="zh-CN" sz="2000">
                <a:latin typeface="Arial" charset="0"/>
                <a:ea typeface="宋体" charset="0"/>
              </a:rPr>
              <a:t>’</a:t>
            </a:r>
            <a:endParaRPr lang="en-US" altLang="zh-CN" sz="2000">
              <a:latin typeface="Tahoma" charset="0"/>
              <a:ea typeface="宋体" charset="0"/>
            </a:endParaRPr>
          </a:p>
        </p:txBody>
      </p:sp>
      <p:sp>
        <p:nvSpPr>
          <p:cNvPr id="29" name="Rectangle 30">
            <a:extLst>
              <a:ext uri="{FF2B5EF4-FFF2-40B4-BE49-F238E27FC236}">
                <a16:creationId xmlns:a16="http://schemas.microsoft.com/office/drawing/2014/main" id="{0D4F0DA6-4799-AC8C-17B2-1F43222523BD}"/>
              </a:ext>
            </a:extLst>
          </p:cNvPr>
          <p:cNvSpPr>
            <a:spLocks noChangeArrowheads="1"/>
          </p:cNvSpPr>
          <p:nvPr/>
        </p:nvSpPr>
        <p:spPr bwMode="auto">
          <a:xfrm>
            <a:off x="7251700" y="41902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a</a:t>
            </a:r>
            <a:r>
              <a:rPr lang="en-US" altLang="zh-CN" sz="2000">
                <a:latin typeface="Arial" charset="0"/>
                <a:ea typeface="宋体" charset="0"/>
              </a:rPr>
              <a:t>’</a:t>
            </a:r>
            <a:endParaRPr lang="en-US" altLang="zh-CN" sz="2000">
              <a:latin typeface="Tahoma" charset="0"/>
              <a:ea typeface="宋体" charset="0"/>
            </a:endParaRPr>
          </a:p>
        </p:txBody>
      </p:sp>
      <p:sp>
        <p:nvSpPr>
          <p:cNvPr id="30" name="Rectangle 31">
            <a:extLst>
              <a:ext uri="{FF2B5EF4-FFF2-40B4-BE49-F238E27FC236}">
                <a16:creationId xmlns:a16="http://schemas.microsoft.com/office/drawing/2014/main" id="{ED4E65C5-976A-9A6C-7F6B-12EA7EB0C272}"/>
              </a:ext>
            </a:extLst>
          </p:cNvPr>
          <p:cNvSpPr>
            <a:spLocks noChangeArrowheads="1"/>
          </p:cNvSpPr>
          <p:nvPr/>
        </p:nvSpPr>
        <p:spPr bwMode="auto">
          <a:xfrm>
            <a:off x="7251700" y="32758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c</a:t>
            </a:r>
            <a:r>
              <a:rPr lang="en-US" altLang="zh-CN" sz="2000">
                <a:latin typeface="Arial" charset="0"/>
                <a:ea typeface="宋体" charset="0"/>
              </a:rPr>
              <a:t>’</a:t>
            </a:r>
            <a:endParaRPr lang="en-US" altLang="zh-CN" sz="2000">
              <a:latin typeface="Tahoma" charset="0"/>
              <a:ea typeface="宋体" charset="0"/>
            </a:endParaRPr>
          </a:p>
        </p:txBody>
      </p:sp>
      <p:sp>
        <p:nvSpPr>
          <p:cNvPr id="31" name="AutoShape 32">
            <a:extLst>
              <a:ext uri="{FF2B5EF4-FFF2-40B4-BE49-F238E27FC236}">
                <a16:creationId xmlns:a16="http://schemas.microsoft.com/office/drawing/2014/main" id="{504BBF56-A703-3522-E31F-5B583F28A186}"/>
              </a:ext>
            </a:extLst>
          </p:cNvPr>
          <p:cNvSpPr>
            <a:spLocks noChangeArrowheads="1"/>
          </p:cNvSpPr>
          <p:nvPr/>
        </p:nvSpPr>
        <p:spPr bwMode="auto">
          <a:xfrm>
            <a:off x="8033778" y="4139896"/>
            <a:ext cx="685800" cy="304800"/>
          </a:xfrm>
          <a:prstGeom prst="righ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zh-CN" altLang="en-US">
              <a:latin typeface="Tahoma" charset="0"/>
              <a:ea typeface="宋体" charset="0"/>
            </a:endParaRPr>
          </a:p>
        </p:txBody>
      </p:sp>
      <p:sp>
        <p:nvSpPr>
          <p:cNvPr id="32" name="Text Box 33">
            <a:extLst>
              <a:ext uri="{FF2B5EF4-FFF2-40B4-BE49-F238E27FC236}">
                <a16:creationId xmlns:a16="http://schemas.microsoft.com/office/drawing/2014/main" id="{DBCE0744-6FDF-77CF-B131-58C0A8BF0F21}"/>
              </a:ext>
            </a:extLst>
          </p:cNvPr>
          <p:cNvSpPr txBox="1">
            <a:spLocks noChangeArrowheads="1"/>
          </p:cNvSpPr>
          <p:nvPr/>
        </p:nvSpPr>
        <p:spPr bwMode="auto">
          <a:xfrm>
            <a:off x="8048339" y="36880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tLang="zh-CN" dirty="0">
                <a:solidFill>
                  <a:srgbClr val="0000FF"/>
                </a:solidFill>
                <a:latin typeface="Tahoma" charset="0"/>
                <a:ea typeface="宋体" charset="0"/>
              </a:rPr>
              <a:t>pop</a:t>
            </a:r>
          </a:p>
        </p:txBody>
      </p:sp>
      <p:grpSp>
        <p:nvGrpSpPr>
          <p:cNvPr id="33" name="Group 34">
            <a:extLst>
              <a:ext uri="{FF2B5EF4-FFF2-40B4-BE49-F238E27FC236}">
                <a16:creationId xmlns:a16="http://schemas.microsoft.com/office/drawing/2014/main" id="{756DCCE3-858D-3F0F-1C3A-EC3BB69B20C9}"/>
              </a:ext>
            </a:extLst>
          </p:cNvPr>
          <p:cNvGrpSpPr>
            <a:grpSpLocks/>
          </p:cNvGrpSpPr>
          <p:nvPr/>
        </p:nvGrpSpPr>
        <p:grpSpPr bwMode="auto">
          <a:xfrm>
            <a:off x="8928100" y="2285256"/>
            <a:ext cx="685800" cy="1447800"/>
            <a:chOff x="624" y="1728"/>
            <a:chExt cx="432" cy="1488"/>
          </a:xfrm>
        </p:grpSpPr>
        <p:sp>
          <p:nvSpPr>
            <p:cNvPr id="34" name="Line 35">
              <a:extLst>
                <a:ext uri="{FF2B5EF4-FFF2-40B4-BE49-F238E27FC236}">
                  <a16:creationId xmlns:a16="http://schemas.microsoft.com/office/drawing/2014/main" id="{21FC1A3D-F3EA-D55E-AA9F-E092E269275C}"/>
                </a:ext>
              </a:extLst>
            </p:cNvPr>
            <p:cNvSpPr>
              <a:spLocks noChangeShapeType="1"/>
            </p:cNvSpPr>
            <p:nvPr/>
          </p:nvSpPr>
          <p:spPr bwMode="auto">
            <a:xfrm>
              <a:off x="624" y="321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35" name="Line 36">
              <a:extLst>
                <a:ext uri="{FF2B5EF4-FFF2-40B4-BE49-F238E27FC236}">
                  <a16:creationId xmlns:a16="http://schemas.microsoft.com/office/drawing/2014/main" id="{86583F09-7F08-1596-55C8-7E5408142919}"/>
                </a:ext>
              </a:extLst>
            </p:cNvPr>
            <p:cNvSpPr>
              <a:spLocks noChangeShapeType="1"/>
            </p:cNvSpPr>
            <p:nvPr/>
          </p:nvSpPr>
          <p:spPr bwMode="auto">
            <a:xfrm>
              <a:off x="624"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sp>
          <p:nvSpPr>
            <p:cNvPr id="36" name="Line 37">
              <a:extLst>
                <a:ext uri="{FF2B5EF4-FFF2-40B4-BE49-F238E27FC236}">
                  <a16:creationId xmlns:a16="http://schemas.microsoft.com/office/drawing/2014/main" id="{FEA6AB43-E879-5CD0-3D2D-8F1723D3119A}"/>
                </a:ext>
              </a:extLst>
            </p:cNvPr>
            <p:cNvSpPr>
              <a:spLocks noChangeShapeType="1"/>
            </p:cNvSpPr>
            <p:nvPr/>
          </p:nvSpPr>
          <p:spPr bwMode="auto">
            <a:xfrm>
              <a:off x="1056" y="172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zh-CN" altLang="en-US">
                <a:latin typeface="Tahoma" charset="0"/>
                <a:ea typeface="宋体" charset="0"/>
              </a:endParaRPr>
            </a:p>
          </p:txBody>
        </p:sp>
      </p:grpSp>
      <p:sp>
        <p:nvSpPr>
          <p:cNvPr id="37" name="Rectangle 38">
            <a:extLst>
              <a:ext uri="{FF2B5EF4-FFF2-40B4-BE49-F238E27FC236}">
                <a16:creationId xmlns:a16="http://schemas.microsoft.com/office/drawing/2014/main" id="{34912FD6-9B75-EB86-DAB5-9758A3485ECA}"/>
              </a:ext>
            </a:extLst>
          </p:cNvPr>
          <p:cNvSpPr>
            <a:spLocks noChangeArrowheads="1"/>
          </p:cNvSpPr>
          <p:nvPr/>
        </p:nvSpPr>
        <p:spPr bwMode="auto">
          <a:xfrm>
            <a:off x="8928100" y="37330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b</a:t>
            </a:r>
            <a:r>
              <a:rPr lang="en-US" altLang="zh-CN" sz="2000">
                <a:latin typeface="Arial" charset="0"/>
                <a:ea typeface="宋体" charset="0"/>
              </a:rPr>
              <a:t>’</a:t>
            </a:r>
            <a:endParaRPr lang="en-US" altLang="zh-CN" sz="2000">
              <a:latin typeface="Tahoma" charset="0"/>
              <a:ea typeface="宋体" charset="0"/>
            </a:endParaRPr>
          </a:p>
        </p:txBody>
      </p:sp>
      <p:sp>
        <p:nvSpPr>
          <p:cNvPr id="38" name="Rectangle 39">
            <a:extLst>
              <a:ext uri="{FF2B5EF4-FFF2-40B4-BE49-F238E27FC236}">
                <a16:creationId xmlns:a16="http://schemas.microsoft.com/office/drawing/2014/main" id="{416CD0E7-60DE-157A-51BF-A042122D7D92}"/>
              </a:ext>
            </a:extLst>
          </p:cNvPr>
          <p:cNvSpPr>
            <a:spLocks noChangeArrowheads="1"/>
          </p:cNvSpPr>
          <p:nvPr/>
        </p:nvSpPr>
        <p:spPr bwMode="auto">
          <a:xfrm>
            <a:off x="8928100" y="4190256"/>
            <a:ext cx="6858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altLang="zh-CN" sz="2000">
                <a:latin typeface="Arial" charset="0"/>
                <a:ea typeface="宋体" charset="0"/>
              </a:rPr>
              <a:t>‘</a:t>
            </a:r>
            <a:r>
              <a:rPr lang="en-US" altLang="zh-CN" sz="2000">
                <a:latin typeface="Tahoma" charset="0"/>
                <a:ea typeface="宋体" charset="0"/>
              </a:rPr>
              <a:t>a</a:t>
            </a:r>
            <a:r>
              <a:rPr lang="en-US" altLang="zh-CN" sz="2000">
                <a:latin typeface="Arial" charset="0"/>
                <a:ea typeface="宋体" charset="0"/>
              </a:rPr>
              <a:t>’</a:t>
            </a:r>
            <a:endParaRPr lang="en-US" altLang="zh-CN" sz="2000">
              <a:latin typeface="Tahoma" charset="0"/>
              <a:ea typeface="宋体" charset="0"/>
            </a:endParaRPr>
          </a:p>
        </p:txBody>
      </p:sp>
      <p:sp>
        <p:nvSpPr>
          <p:cNvPr id="39" name="Text Box 22">
            <a:extLst>
              <a:ext uri="{FF2B5EF4-FFF2-40B4-BE49-F238E27FC236}">
                <a16:creationId xmlns:a16="http://schemas.microsoft.com/office/drawing/2014/main" id="{89F37AE7-DD05-74A2-395E-EC5BBCA77539}"/>
              </a:ext>
            </a:extLst>
          </p:cNvPr>
          <p:cNvSpPr txBox="1">
            <a:spLocks noChangeArrowheads="1"/>
          </p:cNvSpPr>
          <p:nvPr/>
        </p:nvSpPr>
        <p:spPr bwMode="auto">
          <a:xfrm>
            <a:off x="4738875" y="2961625"/>
            <a:ext cx="1057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spcBef>
                <a:spcPct val="50000"/>
              </a:spcBef>
              <a:defRPr/>
            </a:pPr>
            <a:r>
              <a:rPr lang="en-US" altLang="zh-CN" dirty="0">
                <a:solidFill>
                  <a:srgbClr val="00B0F0"/>
                </a:solidFill>
                <a:latin typeface="Tahoma" charset="0"/>
                <a:ea typeface="宋体" charset="0"/>
              </a:rPr>
              <a:t>push ‘b’</a:t>
            </a:r>
          </a:p>
        </p:txBody>
      </p:sp>
      <p:sp>
        <p:nvSpPr>
          <p:cNvPr id="40" name="Text Box 22">
            <a:extLst>
              <a:ext uri="{FF2B5EF4-FFF2-40B4-BE49-F238E27FC236}">
                <a16:creationId xmlns:a16="http://schemas.microsoft.com/office/drawing/2014/main" id="{4768F7D1-543C-77F2-9124-1A641D190BD6}"/>
              </a:ext>
            </a:extLst>
          </p:cNvPr>
          <p:cNvSpPr txBox="1">
            <a:spLocks noChangeArrowheads="1"/>
          </p:cNvSpPr>
          <p:nvPr/>
        </p:nvSpPr>
        <p:spPr bwMode="auto">
          <a:xfrm>
            <a:off x="6304406" y="2362890"/>
            <a:ext cx="10573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spcBef>
                <a:spcPct val="50000"/>
              </a:spcBef>
              <a:defRPr/>
            </a:pPr>
            <a:r>
              <a:rPr lang="en-US" altLang="zh-CN" dirty="0">
                <a:solidFill>
                  <a:srgbClr val="00B0F0"/>
                </a:solidFill>
                <a:latin typeface="Tahoma" charset="0"/>
                <a:ea typeface="宋体" charset="0"/>
              </a:rPr>
              <a:t>push ‘c’</a:t>
            </a:r>
          </a:p>
        </p:txBody>
      </p:sp>
      <p:sp>
        <p:nvSpPr>
          <p:cNvPr id="41" name="文本框 40">
            <a:extLst>
              <a:ext uri="{FF2B5EF4-FFF2-40B4-BE49-F238E27FC236}">
                <a16:creationId xmlns:a16="http://schemas.microsoft.com/office/drawing/2014/main" id="{3469685D-F988-2F12-05B9-00EC43E16C80}"/>
              </a:ext>
            </a:extLst>
          </p:cNvPr>
          <p:cNvSpPr txBox="1"/>
          <p:nvPr/>
        </p:nvSpPr>
        <p:spPr>
          <a:xfrm>
            <a:off x="1920890" y="4783043"/>
            <a:ext cx="1441420" cy="369332"/>
          </a:xfrm>
          <a:prstGeom prst="rect">
            <a:avLst/>
          </a:prstGeom>
          <a:noFill/>
        </p:spPr>
        <p:txBody>
          <a:bodyPr wrap="none" rtlCol="0">
            <a:spAutoFit/>
          </a:bodyPr>
          <a:lstStyle/>
          <a:p>
            <a:r>
              <a:rPr lang="en-US" altLang="zh-CN" dirty="0"/>
              <a:t>empty stack</a:t>
            </a:r>
            <a:endParaRPr lang="zh-CN" altLang="en-US" dirty="0"/>
          </a:p>
        </p:txBody>
      </p:sp>
      <p:grpSp>
        <p:nvGrpSpPr>
          <p:cNvPr id="42" name="组合 41">
            <a:extLst>
              <a:ext uri="{FF2B5EF4-FFF2-40B4-BE49-F238E27FC236}">
                <a16:creationId xmlns:a16="http://schemas.microsoft.com/office/drawing/2014/main" id="{1D5D21FB-F29C-EA26-182A-724FD69F9278}"/>
              </a:ext>
            </a:extLst>
          </p:cNvPr>
          <p:cNvGrpSpPr/>
          <p:nvPr/>
        </p:nvGrpSpPr>
        <p:grpSpPr>
          <a:xfrm>
            <a:off x="3054827" y="4545973"/>
            <a:ext cx="614966" cy="338554"/>
            <a:chOff x="1604950" y="3977430"/>
            <a:chExt cx="614966" cy="338554"/>
          </a:xfrm>
        </p:grpSpPr>
        <p:sp>
          <p:nvSpPr>
            <p:cNvPr id="43" name="文本框 42">
              <a:extLst>
                <a:ext uri="{FF2B5EF4-FFF2-40B4-BE49-F238E27FC236}">
                  <a16:creationId xmlns:a16="http://schemas.microsoft.com/office/drawing/2014/main" id="{57F4EE77-85F4-0D5D-14FF-13A2FB2E10F5}"/>
                </a:ext>
              </a:extLst>
            </p:cNvPr>
            <p:cNvSpPr txBox="1"/>
            <p:nvPr/>
          </p:nvSpPr>
          <p:spPr>
            <a:xfrm>
              <a:off x="1749916" y="3977430"/>
              <a:ext cx="470000" cy="338554"/>
            </a:xfrm>
            <a:prstGeom prst="rect">
              <a:avLst/>
            </a:prstGeom>
            <a:noFill/>
          </p:spPr>
          <p:txBody>
            <a:bodyPr wrap="none" rtlCol="0">
              <a:spAutoFit/>
            </a:bodyPr>
            <a:lstStyle/>
            <a:p>
              <a:r>
                <a:rPr lang="en-US" altLang="zh-CN" sz="1600" dirty="0">
                  <a:solidFill>
                    <a:srgbClr val="FF0000"/>
                  </a:solidFill>
                </a:rPr>
                <a:t>top</a:t>
              </a:r>
              <a:endParaRPr lang="zh-CN" altLang="en-US" sz="1600" dirty="0">
                <a:solidFill>
                  <a:srgbClr val="FF0000"/>
                </a:solidFill>
              </a:endParaRPr>
            </a:p>
          </p:txBody>
        </p:sp>
        <p:cxnSp>
          <p:nvCxnSpPr>
            <p:cNvPr id="44" name="直接箭头连接符 4">
              <a:extLst>
                <a:ext uri="{FF2B5EF4-FFF2-40B4-BE49-F238E27FC236}">
                  <a16:creationId xmlns:a16="http://schemas.microsoft.com/office/drawing/2014/main" id="{506A1507-5D79-E6C4-D028-1243B4F2CC60}"/>
                </a:ext>
              </a:extLst>
            </p:cNvPr>
            <p:cNvCxnSpPr/>
            <p:nvPr/>
          </p:nvCxnSpPr>
          <p:spPr>
            <a:xfrm flipH="1">
              <a:off x="1604950" y="4157668"/>
              <a:ext cx="185750" cy="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p:grpSp>
        <p:nvGrpSpPr>
          <p:cNvPr id="45" name="组合 44">
            <a:extLst>
              <a:ext uri="{FF2B5EF4-FFF2-40B4-BE49-F238E27FC236}">
                <a16:creationId xmlns:a16="http://schemas.microsoft.com/office/drawing/2014/main" id="{EB47FB37-FF3A-AB04-72B9-3352C3A47CE9}"/>
              </a:ext>
            </a:extLst>
          </p:cNvPr>
          <p:cNvGrpSpPr/>
          <p:nvPr/>
        </p:nvGrpSpPr>
        <p:grpSpPr>
          <a:xfrm>
            <a:off x="4781663" y="4257475"/>
            <a:ext cx="614966" cy="338554"/>
            <a:chOff x="1604950" y="3977430"/>
            <a:chExt cx="614966" cy="338554"/>
          </a:xfrm>
        </p:grpSpPr>
        <p:sp>
          <p:nvSpPr>
            <p:cNvPr id="46" name="文本框 45">
              <a:extLst>
                <a:ext uri="{FF2B5EF4-FFF2-40B4-BE49-F238E27FC236}">
                  <a16:creationId xmlns:a16="http://schemas.microsoft.com/office/drawing/2014/main" id="{81DC8BA4-EF11-B3BD-59D2-28D9CDF858FE}"/>
                </a:ext>
              </a:extLst>
            </p:cNvPr>
            <p:cNvSpPr txBox="1"/>
            <p:nvPr/>
          </p:nvSpPr>
          <p:spPr>
            <a:xfrm>
              <a:off x="1749916" y="3977430"/>
              <a:ext cx="470000" cy="338554"/>
            </a:xfrm>
            <a:prstGeom prst="rect">
              <a:avLst/>
            </a:prstGeom>
            <a:noFill/>
          </p:spPr>
          <p:txBody>
            <a:bodyPr wrap="none" rtlCol="0">
              <a:spAutoFit/>
            </a:bodyPr>
            <a:lstStyle/>
            <a:p>
              <a:r>
                <a:rPr lang="en-US" altLang="zh-CN" sz="1600" dirty="0">
                  <a:solidFill>
                    <a:srgbClr val="FF0000"/>
                  </a:solidFill>
                </a:rPr>
                <a:t>top</a:t>
              </a:r>
              <a:endParaRPr lang="zh-CN" altLang="en-US" sz="1600" dirty="0">
                <a:solidFill>
                  <a:srgbClr val="FF0000"/>
                </a:solidFill>
              </a:endParaRPr>
            </a:p>
          </p:txBody>
        </p:sp>
        <p:cxnSp>
          <p:nvCxnSpPr>
            <p:cNvPr id="47" name="直接箭头连接符 60">
              <a:extLst>
                <a:ext uri="{FF2B5EF4-FFF2-40B4-BE49-F238E27FC236}">
                  <a16:creationId xmlns:a16="http://schemas.microsoft.com/office/drawing/2014/main" id="{8AF46CB0-C668-6977-EC67-16DDA12891C6}"/>
                </a:ext>
              </a:extLst>
            </p:cNvPr>
            <p:cNvCxnSpPr/>
            <p:nvPr/>
          </p:nvCxnSpPr>
          <p:spPr>
            <a:xfrm flipH="1">
              <a:off x="1604950" y="4157668"/>
              <a:ext cx="185750" cy="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p:grpSp>
        <p:nvGrpSpPr>
          <p:cNvPr id="48" name="组合 47">
            <a:extLst>
              <a:ext uri="{FF2B5EF4-FFF2-40B4-BE49-F238E27FC236}">
                <a16:creationId xmlns:a16="http://schemas.microsoft.com/office/drawing/2014/main" id="{290C8216-02D1-5F9E-D803-F45149EBEBF9}"/>
              </a:ext>
            </a:extLst>
          </p:cNvPr>
          <p:cNvGrpSpPr/>
          <p:nvPr/>
        </p:nvGrpSpPr>
        <p:grpSpPr>
          <a:xfrm>
            <a:off x="6387468" y="3792379"/>
            <a:ext cx="614966" cy="338554"/>
            <a:chOff x="1604950" y="3977430"/>
            <a:chExt cx="614966" cy="338554"/>
          </a:xfrm>
        </p:grpSpPr>
        <p:sp>
          <p:nvSpPr>
            <p:cNvPr id="49" name="文本框 48">
              <a:extLst>
                <a:ext uri="{FF2B5EF4-FFF2-40B4-BE49-F238E27FC236}">
                  <a16:creationId xmlns:a16="http://schemas.microsoft.com/office/drawing/2014/main" id="{7C1FBF09-3B32-CA6D-F79E-76C50F604D02}"/>
                </a:ext>
              </a:extLst>
            </p:cNvPr>
            <p:cNvSpPr txBox="1"/>
            <p:nvPr/>
          </p:nvSpPr>
          <p:spPr>
            <a:xfrm>
              <a:off x="1749916" y="3977430"/>
              <a:ext cx="470000" cy="338554"/>
            </a:xfrm>
            <a:prstGeom prst="rect">
              <a:avLst/>
            </a:prstGeom>
            <a:noFill/>
          </p:spPr>
          <p:txBody>
            <a:bodyPr wrap="none" rtlCol="0">
              <a:spAutoFit/>
            </a:bodyPr>
            <a:lstStyle/>
            <a:p>
              <a:r>
                <a:rPr lang="en-US" altLang="zh-CN" sz="1600" dirty="0">
                  <a:solidFill>
                    <a:srgbClr val="FF0000"/>
                  </a:solidFill>
                </a:rPr>
                <a:t>top</a:t>
              </a:r>
              <a:endParaRPr lang="zh-CN" altLang="en-US" sz="1600" dirty="0">
                <a:solidFill>
                  <a:srgbClr val="FF0000"/>
                </a:solidFill>
              </a:endParaRPr>
            </a:p>
          </p:txBody>
        </p:sp>
        <p:cxnSp>
          <p:nvCxnSpPr>
            <p:cNvPr id="50" name="直接箭头连接符 63">
              <a:extLst>
                <a:ext uri="{FF2B5EF4-FFF2-40B4-BE49-F238E27FC236}">
                  <a16:creationId xmlns:a16="http://schemas.microsoft.com/office/drawing/2014/main" id="{CA01B427-D9A8-EC01-D115-8520DAC66793}"/>
                </a:ext>
              </a:extLst>
            </p:cNvPr>
            <p:cNvCxnSpPr/>
            <p:nvPr/>
          </p:nvCxnSpPr>
          <p:spPr>
            <a:xfrm flipH="1">
              <a:off x="1604950" y="4157668"/>
              <a:ext cx="185750" cy="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p:grpSp>
        <p:nvGrpSpPr>
          <p:cNvPr id="51" name="组合 50">
            <a:extLst>
              <a:ext uri="{FF2B5EF4-FFF2-40B4-BE49-F238E27FC236}">
                <a16:creationId xmlns:a16="http://schemas.microsoft.com/office/drawing/2014/main" id="{9BC367EE-0265-8DC3-26A2-15DDC9F62604}"/>
              </a:ext>
            </a:extLst>
          </p:cNvPr>
          <p:cNvGrpSpPr/>
          <p:nvPr/>
        </p:nvGrpSpPr>
        <p:grpSpPr>
          <a:xfrm>
            <a:off x="7999293" y="3233994"/>
            <a:ext cx="614966" cy="338554"/>
            <a:chOff x="1604950" y="3977430"/>
            <a:chExt cx="614966" cy="338554"/>
          </a:xfrm>
        </p:grpSpPr>
        <p:sp>
          <p:nvSpPr>
            <p:cNvPr id="52" name="文本框 51">
              <a:extLst>
                <a:ext uri="{FF2B5EF4-FFF2-40B4-BE49-F238E27FC236}">
                  <a16:creationId xmlns:a16="http://schemas.microsoft.com/office/drawing/2014/main" id="{846022E9-C09B-804B-7C80-33FCA258B411}"/>
                </a:ext>
              </a:extLst>
            </p:cNvPr>
            <p:cNvSpPr txBox="1"/>
            <p:nvPr/>
          </p:nvSpPr>
          <p:spPr>
            <a:xfrm>
              <a:off x="1749916" y="3977430"/>
              <a:ext cx="470000" cy="338554"/>
            </a:xfrm>
            <a:prstGeom prst="rect">
              <a:avLst/>
            </a:prstGeom>
            <a:noFill/>
          </p:spPr>
          <p:txBody>
            <a:bodyPr wrap="none" rtlCol="0">
              <a:spAutoFit/>
            </a:bodyPr>
            <a:lstStyle/>
            <a:p>
              <a:r>
                <a:rPr lang="en-US" altLang="zh-CN" sz="1600" dirty="0">
                  <a:solidFill>
                    <a:srgbClr val="FF0000"/>
                  </a:solidFill>
                </a:rPr>
                <a:t>top</a:t>
              </a:r>
              <a:endParaRPr lang="zh-CN" altLang="en-US" sz="1600" dirty="0">
                <a:solidFill>
                  <a:srgbClr val="FF0000"/>
                </a:solidFill>
              </a:endParaRPr>
            </a:p>
          </p:txBody>
        </p:sp>
        <p:cxnSp>
          <p:nvCxnSpPr>
            <p:cNvPr id="53" name="直接箭头连接符 66">
              <a:extLst>
                <a:ext uri="{FF2B5EF4-FFF2-40B4-BE49-F238E27FC236}">
                  <a16:creationId xmlns:a16="http://schemas.microsoft.com/office/drawing/2014/main" id="{01BEFEB6-A8B3-45C1-368A-2B6D5E3B1B7B}"/>
                </a:ext>
              </a:extLst>
            </p:cNvPr>
            <p:cNvCxnSpPr/>
            <p:nvPr/>
          </p:nvCxnSpPr>
          <p:spPr>
            <a:xfrm flipH="1">
              <a:off x="1604950" y="4157668"/>
              <a:ext cx="185750" cy="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p:grpSp>
        <p:nvGrpSpPr>
          <p:cNvPr id="54" name="组合 53">
            <a:extLst>
              <a:ext uri="{FF2B5EF4-FFF2-40B4-BE49-F238E27FC236}">
                <a16:creationId xmlns:a16="http://schemas.microsoft.com/office/drawing/2014/main" id="{D1BE89C6-B6B4-A619-BC45-9E85A7883C06}"/>
              </a:ext>
            </a:extLst>
          </p:cNvPr>
          <p:cNvGrpSpPr/>
          <p:nvPr/>
        </p:nvGrpSpPr>
        <p:grpSpPr>
          <a:xfrm>
            <a:off x="9683956" y="3781017"/>
            <a:ext cx="614966" cy="338554"/>
            <a:chOff x="1604950" y="3977430"/>
            <a:chExt cx="614966" cy="338554"/>
          </a:xfrm>
        </p:grpSpPr>
        <p:sp>
          <p:nvSpPr>
            <p:cNvPr id="55" name="文本框 54">
              <a:extLst>
                <a:ext uri="{FF2B5EF4-FFF2-40B4-BE49-F238E27FC236}">
                  <a16:creationId xmlns:a16="http://schemas.microsoft.com/office/drawing/2014/main" id="{F7F07B8B-F66F-90A4-E27B-2553C9E58653}"/>
                </a:ext>
              </a:extLst>
            </p:cNvPr>
            <p:cNvSpPr txBox="1"/>
            <p:nvPr/>
          </p:nvSpPr>
          <p:spPr>
            <a:xfrm>
              <a:off x="1749916" y="3977430"/>
              <a:ext cx="470000" cy="338554"/>
            </a:xfrm>
            <a:prstGeom prst="rect">
              <a:avLst/>
            </a:prstGeom>
            <a:noFill/>
          </p:spPr>
          <p:txBody>
            <a:bodyPr wrap="none" rtlCol="0">
              <a:spAutoFit/>
            </a:bodyPr>
            <a:lstStyle/>
            <a:p>
              <a:r>
                <a:rPr lang="en-US" altLang="zh-CN" sz="1600" dirty="0">
                  <a:solidFill>
                    <a:srgbClr val="FF0000"/>
                  </a:solidFill>
                </a:rPr>
                <a:t>top</a:t>
              </a:r>
              <a:endParaRPr lang="zh-CN" altLang="en-US" sz="1600" dirty="0">
                <a:solidFill>
                  <a:srgbClr val="FF0000"/>
                </a:solidFill>
              </a:endParaRPr>
            </a:p>
          </p:txBody>
        </p:sp>
        <p:cxnSp>
          <p:nvCxnSpPr>
            <p:cNvPr id="56" name="直接箭头连接符 69">
              <a:extLst>
                <a:ext uri="{FF2B5EF4-FFF2-40B4-BE49-F238E27FC236}">
                  <a16:creationId xmlns:a16="http://schemas.microsoft.com/office/drawing/2014/main" id="{ADD0F9BC-89AD-D80E-FF97-A82D298771AE}"/>
                </a:ext>
              </a:extLst>
            </p:cNvPr>
            <p:cNvCxnSpPr/>
            <p:nvPr/>
          </p:nvCxnSpPr>
          <p:spPr>
            <a:xfrm flipH="1">
              <a:off x="1604950" y="4157668"/>
              <a:ext cx="185750" cy="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pSp>
    </p:spTree>
    <p:extLst>
      <p:ext uri="{BB962C8B-B14F-4D97-AF65-F5344CB8AC3E}">
        <p14:creationId xmlns:p14="http://schemas.microsoft.com/office/powerpoint/2010/main" val="400935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383D5B3E-7E7D-46B2-8F3E-B03EB1017905}"/>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示例：火车进出栈问题</a:t>
            </a:r>
            <a:endParaRPr kumimoji="0" sz="2800" dirty="0"/>
          </a:p>
        </p:txBody>
      </p:sp>
      <p:sp>
        <p:nvSpPr>
          <p:cNvPr id="6" name="副标题 5">
            <a:extLst>
              <a:ext uri="{FF2B5EF4-FFF2-40B4-BE49-F238E27FC236}">
                <a16:creationId xmlns:a16="http://schemas.microsoft.com/office/drawing/2014/main" id="{D6D9B388-FF2E-4100-9EB5-2FB5CBD6AD14}"/>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25849A5E-48C5-4AC2-9773-73BF748CC4B2}"/>
              </a:ext>
            </a:extLst>
          </p:cNvPr>
          <p:cNvSpPr>
            <a:spLocks noGrp="1"/>
          </p:cNvSpPr>
          <p:nvPr>
            <p:ph type="body" idx="10"/>
          </p:nvPr>
        </p:nvSpPr>
        <p:spPr/>
        <p:txBody>
          <a:bodyPr/>
          <a:lstStyle/>
          <a:p>
            <a:endParaRPr lang="zh-CN" altLang="en-US"/>
          </a:p>
        </p:txBody>
      </p:sp>
      <p:sp>
        <p:nvSpPr>
          <p:cNvPr id="83970" name="内容占位符 2">
            <a:extLst>
              <a:ext uri="{FF2B5EF4-FFF2-40B4-BE49-F238E27FC236}">
                <a16:creationId xmlns:a16="http://schemas.microsoft.com/office/drawing/2014/main" id="{677F0AC2-8E73-4AAC-9ED7-E2FAAD48F12F}"/>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pPr>
            <a:r>
              <a:rPr lang="zh-CN" altLang="zh-CN" dirty="0">
                <a:latin typeface="Calibri Light" panose="020F0302020204030204" pitchFamily="34" charset="0"/>
              </a:rPr>
              <a:t>判断火车的出栈顺序是否合法</a:t>
            </a:r>
            <a:endParaRPr lang="en-US" altLang="zh-CN" dirty="0">
              <a:latin typeface="Calibri Light" panose="020F0302020204030204" pitchFamily="34" charset="0"/>
            </a:endParaRPr>
          </a:p>
          <a:p>
            <a:pPr marL="714375" lvl="1" indent="-369888">
              <a:lnSpc>
                <a:spcPct val="120000"/>
              </a:lnSpc>
              <a:buClr>
                <a:srgbClr val="CC3300"/>
              </a:buClr>
            </a:pPr>
            <a:r>
              <a:rPr lang="en-US" altLang="zh-CN" dirty="0">
                <a:latin typeface="Calibri Light" panose="020F0302020204030204" pitchFamily="34" charset="0"/>
                <a:hlinkClick r:id="rId2"/>
              </a:rPr>
              <a:t>http://poj.org/problem?id=1363</a:t>
            </a:r>
            <a:endParaRPr lang="en-US" altLang="zh-CN" dirty="0">
              <a:latin typeface="Calibri Light" panose="020F0302020204030204" pitchFamily="34" charset="0"/>
            </a:endParaRPr>
          </a:p>
          <a:p>
            <a:pPr marL="341313" indent="-341313">
              <a:lnSpc>
                <a:spcPct val="120000"/>
              </a:lnSpc>
            </a:pPr>
            <a:r>
              <a:rPr lang="zh-CN" altLang="zh-CN" dirty="0">
                <a:latin typeface="Calibri Light" panose="020F0302020204030204" pitchFamily="34" charset="0"/>
              </a:rPr>
              <a:t>编号为</a:t>
            </a:r>
            <a:r>
              <a:rPr lang="en-US" altLang="zh-CN" dirty="0">
                <a:latin typeface="Calibri Light" panose="020F0302020204030204" pitchFamily="34" charset="0"/>
              </a:rPr>
              <a:t>1, 2, …, n </a:t>
            </a:r>
            <a:r>
              <a:rPr lang="zh-CN" altLang="zh-CN" dirty="0">
                <a:latin typeface="Calibri Light" panose="020F0302020204030204" pitchFamily="34" charset="0"/>
              </a:rPr>
              <a:t>的</a:t>
            </a:r>
            <a:r>
              <a:rPr lang="zh-CN" altLang="zh-CN" i="1" dirty="0">
                <a:solidFill>
                  <a:srgbClr val="0000FF"/>
                </a:solidFill>
                <a:latin typeface="Calibri Light" panose="020F0302020204030204" pitchFamily="34" charset="0"/>
              </a:rPr>
              <a:t> </a:t>
            </a:r>
            <a:r>
              <a:rPr lang="en-US" altLang="zh-CN" i="1" dirty="0">
                <a:solidFill>
                  <a:srgbClr val="0000FF"/>
                </a:solidFill>
                <a:latin typeface="Calibri Light" panose="020F0302020204030204" pitchFamily="34" charset="0"/>
              </a:rPr>
              <a:t>n </a:t>
            </a:r>
            <a:r>
              <a:rPr lang="zh-CN" altLang="zh-CN" dirty="0">
                <a:latin typeface="Calibri Light" panose="020F0302020204030204" pitchFamily="34" charset="0"/>
              </a:rPr>
              <a:t>辆火车依次进站，给定一个 </a:t>
            </a:r>
            <a:r>
              <a:rPr lang="en-US" altLang="zh-CN" i="1" dirty="0">
                <a:solidFill>
                  <a:srgbClr val="0000FF"/>
                </a:solidFill>
                <a:latin typeface="Calibri Light" panose="020F0302020204030204" pitchFamily="34" charset="0"/>
              </a:rPr>
              <a:t>n </a:t>
            </a:r>
            <a:r>
              <a:rPr lang="zh-CN" altLang="zh-CN" dirty="0">
                <a:latin typeface="Calibri Light" panose="020F0302020204030204" pitchFamily="34" charset="0"/>
              </a:rPr>
              <a:t>的排列，判断是否为合法的出站顺序？</a:t>
            </a:r>
          </a:p>
        </p:txBody>
      </p:sp>
      <p:pic>
        <p:nvPicPr>
          <p:cNvPr id="8" name="图片 7">
            <a:extLst>
              <a:ext uri="{FF2B5EF4-FFF2-40B4-BE49-F238E27FC236}">
                <a16:creationId xmlns:a16="http://schemas.microsoft.com/office/drawing/2014/main" id="{3E60B147-F50D-4B73-9136-0EE8EA1909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4038600"/>
            <a:ext cx="3786188"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4EC99B9C-A266-4D17-A24D-45E7C22D8D4E}"/>
              </a:ext>
            </a:extLst>
          </p:cNvPr>
          <p:cNvSpPr txBox="1">
            <a:spLocks noChangeArrowheads="1"/>
          </p:cNvSpPr>
          <p:nvPr/>
        </p:nvSpPr>
        <p:spPr bwMode="auto">
          <a:xfrm>
            <a:off x="4860925" y="5843588"/>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cs typeface="华文细黑" panose="02010600040101010101" pitchFamily="2" charset="-122"/>
              </a:rPr>
              <a:t>车站</a:t>
            </a:r>
          </a:p>
        </p:txBody>
      </p:sp>
      <p:sp>
        <p:nvSpPr>
          <p:cNvPr id="10" name="文本框 9">
            <a:extLst>
              <a:ext uri="{FF2B5EF4-FFF2-40B4-BE49-F238E27FC236}">
                <a16:creationId xmlns:a16="http://schemas.microsoft.com/office/drawing/2014/main" id="{D8BC930B-4768-48C9-8808-4B9608ADB2D5}"/>
              </a:ext>
            </a:extLst>
          </p:cNvPr>
          <p:cNvSpPr txBox="1">
            <a:spLocks noChangeArrowheads="1"/>
          </p:cNvSpPr>
          <p:nvPr/>
        </p:nvSpPr>
        <p:spPr bwMode="auto">
          <a:xfrm>
            <a:off x="3687763" y="3810000"/>
            <a:ext cx="14970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Lucida Fax" panose="02060602050505020204" pitchFamily="18" charset="0"/>
                <a:ea typeface="华文细黑" panose="02010600040101010101" pitchFamily="2" charset="-122"/>
              </a:rPr>
              <a:t>5, 4, 3, 2, 1</a:t>
            </a:r>
            <a:endParaRPr lang="zh-CN" altLang="en-US">
              <a:latin typeface="Lucida Fax" panose="02060602050505020204" pitchFamily="18" charset="0"/>
              <a:ea typeface="华文细黑" panose="02010600040101010101" pitchFamily="2" charset="-122"/>
            </a:endParaRPr>
          </a:p>
        </p:txBody>
      </p:sp>
      <p:sp>
        <p:nvSpPr>
          <p:cNvPr id="11" name="文本框 10">
            <a:extLst>
              <a:ext uri="{FF2B5EF4-FFF2-40B4-BE49-F238E27FC236}">
                <a16:creationId xmlns:a16="http://schemas.microsoft.com/office/drawing/2014/main" id="{82F9A02C-A796-4BC0-88C9-A895BE4829F0}"/>
              </a:ext>
            </a:extLst>
          </p:cNvPr>
          <p:cNvSpPr txBox="1">
            <a:spLocks noChangeArrowheads="1"/>
          </p:cNvSpPr>
          <p:nvPr/>
        </p:nvSpPr>
        <p:spPr bwMode="auto">
          <a:xfrm>
            <a:off x="6729413" y="3810000"/>
            <a:ext cx="149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Lucida Fax" panose="02060602050505020204" pitchFamily="18" charset="0"/>
                <a:ea typeface="华文细黑" panose="02010600040101010101" pitchFamily="2" charset="-122"/>
              </a:rPr>
              <a:t>1, 2, 3, 4, 5</a:t>
            </a:r>
            <a:endParaRPr lang="zh-CN" altLang="en-US">
              <a:latin typeface="Lucida Fax" panose="02060602050505020204" pitchFamily="18"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39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397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57180A4-4C99-4672-AA91-F558A1EBE136}"/>
              </a:ext>
            </a:extLst>
          </p:cNvPr>
          <p:cNvSpPr>
            <a:spLocks noGrp="1"/>
          </p:cNvSpPr>
          <p:nvPr>
            <p:ph type="title"/>
          </p:nvPr>
        </p:nvSpPr>
        <p:spPr/>
        <p:txBody>
          <a:bodyPr>
            <a:normAutofit/>
          </a:bodyPr>
          <a:lstStyle/>
          <a:p>
            <a:pPr>
              <a:defRPr/>
            </a:pPr>
            <a:r>
              <a:t>思考</a:t>
            </a:r>
          </a:p>
        </p:txBody>
      </p:sp>
      <p:sp>
        <p:nvSpPr>
          <p:cNvPr id="11" name="副标题 10">
            <a:extLst>
              <a:ext uri="{FF2B5EF4-FFF2-40B4-BE49-F238E27FC236}">
                <a16:creationId xmlns:a16="http://schemas.microsoft.com/office/drawing/2014/main" id="{E650751E-E910-48F5-8F4A-63A3C0019428}"/>
              </a:ext>
            </a:extLst>
          </p:cNvPr>
          <p:cNvSpPr>
            <a:spLocks noGrp="1"/>
          </p:cNvSpPr>
          <p:nvPr>
            <p:ph type="subTitle" idx="1"/>
          </p:nvPr>
        </p:nvSpPr>
        <p:spPr/>
        <p:txBody>
          <a:bodyPr/>
          <a:lstStyle/>
          <a:p>
            <a:endParaRPr lang="zh-CN" altLang="en-US"/>
          </a:p>
        </p:txBody>
      </p:sp>
      <p:sp>
        <p:nvSpPr>
          <p:cNvPr id="12" name="文本占位符 11">
            <a:extLst>
              <a:ext uri="{FF2B5EF4-FFF2-40B4-BE49-F238E27FC236}">
                <a16:creationId xmlns:a16="http://schemas.microsoft.com/office/drawing/2014/main" id="{AF4486E6-E536-42CD-936F-5D00C296E031}"/>
              </a:ext>
            </a:extLst>
          </p:cNvPr>
          <p:cNvSpPr>
            <a:spLocks noGrp="1"/>
          </p:cNvSpPr>
          <p:nvPr>
            <p:ph type="body" idx="10"/>
          </p:nvPr>
        </p:nvSpPr>
        <p:spPr/>
        <p:txBody>
          <a:bodyPr/>
          <a:lstStyle/>
          <a:p>
            <a:endParaRPr lang="zh-CN" altLang="en-US"/>
          </a:p>
        </p:txBody>
      </p:sp>
      <p:sp>
        <p:nvSpPr>
          <p:cNvPr id="8" name="内容占位符 7">
            <a:extLst>
              <a:ext uri="{FF2B5EF4-FFF2-40B4-BE49-F238E27FC236}">
                <a16:creationId xmlns:a16="http://schemas.microsoft.com/office/drawing/2014/main" id="{D2B05337-97B3-4AB8-BC55-B0CA4479E05C}"/>
              </a:ext>
            </a:extLst>
          </p:cNvPr>
          <p:cNvSpPr>
            <a:spLocks noGrp="1"/>
          </p:cNvSpPr>
          <p:nvPr>
            <p:ph idx="11"/>
          </p:nvPr>
        </p:nvSpPr>
        <p:spPr/>
        <p:txBody>
          <a:bodyPr>
            <a:normAutofit fontScale="92500" lnSpcReduction="10000"/>
          </a:bodyPr>
          <a:lstStyle/>
          <a:p>
            <a:pPr>
              <a:lnSpc>
                <a:spcPct val="130000"/>
              </a:lnSpc>
            </a:pPr>
            <a:r>
              <a:rPr lang="zh-CN" altLang="en-US" sz="2800" dirty="0">
                <a:latin typeface="Lucida Fax" panose="02060602050505020204" pitchFamily="18" charset="0"/>
              </a:rPr>
              <a:t>若入栈顺序为</a:t>
            </a:r>
            <a:r>
              <a:rPr lang="en-US" altLang="zh-CN" sz="2800" dirty="0">
                <a:latin typeface="Lucida Fax" panose="02060602050505020204" pitchFamily="18" charset="0"/>
              </a:rPr>
              <a:t>1,2,3,4</a:t>
            </a:r>
            <a:r>
              <a:rPr lang="zh-CN" altLang="en-US" sz="2800" dirty="0">
                <a:latin typeface="Lucida Fax" panose="02060602050505020204" pitchFamily="18" charset="0"/>
              </a:rPr>
              <a:t>的话，则出栈的顺序可以有哪些</a:t>
            </a:r>
            <a:r>
              <a:rPr lang="en-US" altLang="zh-CN" sz="2800" dirty="0">
                <a:latin typeface="Lucida Fax" panose="02060602050505020204" pitchFamily="18" charset="0"/>
              </a:rPr>
              <a:t>?  </a:t>
            </a:r>
          </a:p>
          <a:p>
            <a:pPr lvl="1">
              <a:lnSpc>
                <a:spcPct val="130000"/>
              </a:lnSpc>
            </a:pPr>
            <a:r>
              <a:rPr lang="en-US" altLang="zh-CN" sz="2400" dirty="0">
                <a:latin typeface="Lucida Fax" panose="02060602050505020204" pitchFamily="18" charset="0"/>
                <a:ea typeface="微软雅黑" panose="020B0503020204020204" pitchFamily="34" charset="-122"/>
              </a:rPr>
              <a:t>1234</a:t>
            </a:r>
          </a:p>
          <a:p>
            <a:pPr lvl="1">
              <a:lnSpc>
                <a:spcPct val="130000"/>
              </a:lnSpc>
            </a:pPr>
            <a:r>
              <a:rPr lang="en-US" altLang="zh-CN" sz="2400" dirty="0">
                <a:latin typeface="Lucida Fax" panose="02060602050505020204" pitchFamily="18" charset="0"/>
                <a:ea typeface="微软雅黑" panose="020B0503020204020204" pitchFamily="34" charset="-122"/>
              </a:rPr>
              <a:t>1243</a:t>
            </a:r>
          </a:p>
          <a:p>
            <a:pPr lvl="1">
              <a:lnSpc>
                <a:spcPct val="130000"/>
              </a:lnSpc>
            </a:pPr>
            <a:r>
              <a:rPr lang="en-US" altLang="zh-CN" sz="2400" dirty="0">
                <a:latin typeface="Lucida Fax" panose="02060602050505020204" pitchFamily="18" charset="0"/>
                <a:ea typeface="微软雅黑" panose="020B0503020204020204" pitchFamily="34" charset="-122"/>
              </a:rPr>
              <a:t>1324</a:t>
            </a:r>
          </a:p>
          <a:p>
            <a:pPr lvl="1">
              <a:lnSpc>
                <a:spcPct val="130000"/>
              </a:lnSpc>
            </a:pPr>
            <a:r>
              <a:rPr lang="en-US" altLang="zh-CN" sz="2400" dirty="0">
                <a:latin typeface="Lucida Fax" panose="02060602050505020204" pitchFamily="18" charset="0"/>
                <a:ea typeface="微软雅黑" panose="020B0503020204020204" pitchFamily="34" charset="-122"/>
              </a:rPr>
              <a:t>1342</a:t>
            </a:r>
          </a:p>
          <a:p>
            <a:pPr lvl="1">
              <a:lnSpc>
                <a:spcPct val="130000"/>
              </a:lnSpc>
            </a:pPr>
            <a:r>
              <a:rPr lang="en-US" altLang="zh-CN" sz="2400" dirty="0">
                <a:latin typeface="Lucida Fax" panose="02060602050505020204" pitchFamily="18" charset="0"/>
                <a:ea typeface="微软雅黑" panose="020B0503020204020204" pitchFamily="34" charset="-122"/>
              </a:rPr>
              <a:t>1423</a:t>
            </a:r>
          </a:p>
          <a:p>
            <a:pPr lvl="1">
              <a:lnSpc>
                <a:spcPct val="130000"/>
              </a:lnSpc>
            </a:pPr>
            <a:r>
              <a:rPr lang="en-US" altLang="zh-CN" sz="2400" dirty="0">
                <a:latin typeface="Lucida Fax" panose="02060602050505020204" pitchFamily="18" charset="0"/>
                <a:ea typeface="微软雅黑" panose="020B0503020204020204" pitchFamily="34" charset="-122"/>
              </a:rPr>
              <a:t>1432</a:t>
            </a:r>
          </a:p>
          <a:p>
            <a:pPr lvl="1">
              <a:lnSpc>
                <a:spcPct val="130000"/>
              </a:lnSpc>
            </a:pPr>
            <a:r>
              <a:rPr lang="en-US" altLang="zh-CN" sz="2400" dirty="0">
                <a:latin typeface="Lucida Fax" panose="02060602050505020204" pitchFamily="18" charset="0"/>
                <a:ea typeface="微软雅黑" panose="020B0503020204020204" pitchFamily="34" charset="-122"/>
              </a:rPr>
              <a:t>2134</a:t>
            </a:r>
          </a:p>
          <a:p>
            <a:pPr lvl="1">
              <a:lnSpc>
                <a:spcPct val="130000"/>
              </a:lnSpc>
            </a:pPr>
            <a:r>
              <a:rPr lang="en-US" altLang="zh-CN" sz="2400" dirty="0">
                <a:latin typeface="Lucida Fax" panose="02060602050505020204" pitchFamily="18" charset="0"/>
                <a:ea typeface="微软雅黑" panose="020B0503020204020204" pitchFamily="34" charset="-122"/>
              </a:rPr>
              <a:t>2143</a:t>
            </a:r>
          </a:p>
          <a:p>
            <a:pPr lvl="1">
              <a:lnSpc>
                <a:spcPct val="130000"/>
              </a:lnSpc>
            </a:pPr>
            <a:r>
              <a:rPr lang="en-US" altLang="zh-CN" sz="2400" dirty="0">
                <a:latin typeface="Lucida Fax" panose="02060602050505020204" pitchFamily="18" charset="0"/>
                <a:ea typeface="微软雅黑" panose="020B0503020204020204" pitchFamily="34" charset="-122"/>
              </a:rPr>
              <a:t>……</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a:extLst>
              <a:ext uri="{FF2B5EF4-FFF2-40B4-BE49-F238E27FC236}">
                <a16:creationId xmlns:a16="http://schemas.microsoft.com/office/drawing/2014/main" id="{6412E1DA-FE0E-4089-B816-7FC78137F91B}"/>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示例：火车进出栈问题</a:t>
            </a:r>
            <a:endParaRPr kumimoji="0" sz="2800" dirty="0"/>
          </a:p>
        </p:txBody>
      </p:sp>
      <p:sp>
        <p:nvSpPr>
          <p:cNvPr id="6" name="副标题 5">
            <a:extLst>
              <a:ext uri="{FF2B5EF4-FFF2-40B4-BE49-F238E27FC236}">
                <a16:creationId xmlns:a16="http://schemas.microsoft.com/office/drawing/2014/main" id="{41F599A3-9957-4A08-BBF5-3256BA000912}"/>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EF5A364-1727-4627-88C3-EF465AAA3739}"/>
              </a:ext>
            </a:extLst>
          </p:cNvPr>
          <p:cNvSpPr>
            <a:spLocks noGrp="1"/>
          </p:cNvSpPr>
          <p:nvPr>
            <p:ph type="body" idx="10"/>
          </p:nvPr>
        </p:nvSpPr>
        <p:spPr/>
        <p:txBody>
          <a:bodyPr/>
          <a:lstStyle/>
          <a:p>
            <a:endParaRPr lang="zh-CN" altLang="en-US"/>
          </a:p>
        </p:txBody>
      </p:sp>
      <p:sp>
        <p:nvSpPr>
          <p:cNvPr id="21506" name="内容占位符 2">
            <a:extLst>
              <a:ext uri="{FF2B5EF4-FFF2-40B4-BE49-F238E27FC236}">
                <a16:creationId xmlns:a16="http://schemas.microsoft.com/office/drawing/2014/main" id="{B3C02DC2-1DE6-4203-988B-0A59CCE52449}"/>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zh-CN" altLang="en-US" dirty="0">
                <a:solidFill>
                  <a:srgbClr val="C00000"/>
                </a:solidFill>
              </a:rPr>
              <a:t>         </a:t>
            </a:r>
            <a:endParaRPr lang="en-US" altLang="zh-CN" dirty="0">
              <a:solidFill>
                <a:srgbClr val="C00000"/>
              </a:solidFill>
            </a:endParaRPr>
          </a:p>
          <a:p>
            <a:pPr marL="0" indent="0">
              <a:buNone/>
            </a:pPr>
            <a:r>
              <a:rPr lang="zh-CN" altLang="en-US" dirty="0">
                <a:solidFill>
                  <a:srgbClr val="C00000"/>
                </a:solidFill>
              </a:rPr>
              <a:t>                         出栈顺序                                            入栈顺序</a:t>
            </a:r>
            <a:endParaRPr lang="zh-CN" altLang="zh-CN" dirty="0">
              <a:solidFill>
                <a:srgbClr val="C00000"/>
              </a:solidFill>
            </a:endParaRPr>
          </a:p>
        </p:txBody>
      </p:sp>
      <p:grpSp>
        <p:nvGrpSpPr>
          <p:cNvPr id="21507" name="Group 3">
            <a:extLst>
              <a:ext uri="{FF2B5EF4-FFF2-40B4-BE49-F238E27FC236}">
                <a16:creationId xmlns:a16="http://schemas.microsoft.com/office/drawing/2014/main" id="{376F14C1-3B33-4C58-BFF7-BC8C2ED522FB}"/>
              </a:ext>
            </a:extLst>
          </p:cNvPr>
          <p:cNvGrpSpPr>
            <a:grpSpLocks/>
          </p:cNvGrpSpPr>
          <p:nvPr/>
        </p:nvGrpSpPr>
        <p:grpSpPr bwMode="auto">
          <a:xfrm>
            <a:off x="5559425" y="3703638"/>
            <a:ext cx="1223963" cy="2495550"/>
            <a:chOff x="2744" y="2840"/>
            <a:chExt cx="771" cy="998"/>
          </a:xfrm>
        </p:grpSpPr>
        <p:sp>
          <p:nvSpPr>
            <p:cNvPr id="34" name="Line 4">
              <a:extLst>
                <a:ext uri="{FF2B5EF4-FFF2-40B4-BE49-F238E27FC236}">
                  <a16:creationId xmlns:a16="http://schemas.microsoft.com/office/drawing/2014/main" id="{66A4975E-4FC0-40F2-B776-2A42521ACAB3}"/>
                </a:ext>
              </a:extLst>
            </p:cNvPr>
            <p:cNvSpPr>
              <a:spLocks noChangeShapeType="1"/>
            </p:cNvSpPr>
            <p:nvPr/>
          </p:nvSpPr>
          <p:spPr bwMode="auto">
            <a:xfrm>
              <a:off x="3515" y="2840"/>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nvGrpSpPr>
            <p:cNvPr id="21534" name="Group 5">
              <a:extLst>
                <a:ext uri="{FF2B5EF4-FFF2-40B4-BE49-F238E27FC236}">
                  <a16:creationId xmlns:a16="http://schemas.microsoft.com/office/drawing/2014/main" id="{C1B15288-D73D-433C-B4F1-C7140F1E9711}"/>
                </a:ext>
              </a:extLst>
            </p:cNvPr>
            <p:cNvGrpSpPr>
              <a:grpSpLocks/>
            </p:cNvGrpSpPr>
            <p:nvPr/>
          </p:nvGrpSpPr>
          <p:grpSpPr bwMode="auto">
            <a:xfrm>
              <a:off x="2744" y="2840"/>
              <a:ext cx="771" cy="998"/>
              <a:chOff x="2245" y="2523"/>
              <a:chExt cx="771" cy="998"/>
            </a:xfrm>
          </p:grpSpPr>
          <p:sp>
            <p:nvSpPr>
              <p:cNvPr id="36" name="Line 6">
                <a:extLst>
                  <a:ext uri="{FF2B5EF4-FFF2-40B4-BE49-F238E27FC236}">
                    <a16:creationId xmlns:a16="http://schemas.microsoft.com/office/drawing/2014/main" id="{25E3DF0E-1DD3-4D3C-86F8-A0547BDD2BD3}"/>
                  </a:ext>
                </a:extLst>
              </p:cNvPr>
              <p:cNvSpPr>
                <a:spLocks noChangeShapeType="1"/>
              </p:cNvSpPr>
              <p:nvPr/>
            </p:nvSpPr>
            <p:spPr bwMode="auto">
              <a:xfrm>
                <a:off x="2245" y="2523"/>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sp>
            <p:nvSpPr>
              <p:cNvPr id="37" name="Line 7">
                <a:extLst>
                  <a:ext uri="{FF2B5EF4-FFF2-40B4-BE49-F238E27FC236}">
                    <a16:creationId xmlns:a16="http://schemas.microsoft.com/office/drawing/2014/main" id="{625200EF-C359-4E6A-97C3-E96AB9186317}"/>
                  </a:ext>
                </a:extLst>
              </p:cNvPr>
              <p:cNvSpPr>
                <a:spLocks noChangeShapeType="1"/>
              </p:cNvSpPr>
              <p:nvPr/>
            </p:nvSpPr>
            <p:spPr bwMode="auto">
              <a:xfrm>
                <a:off x="2245" y="3521"/>
                <a:ext cx="771" cy="0"/>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grpSp>
      <p:grpSp>
        <p:nvGrpSpPr>
          <p:cNvPr id="38" name="Group 8">
            <a:extLst>
              <a:ext uri="{FF2B5EF4-FFF2-40B4-BE49-F238E27FC236}">
                <a16:creationId xmlns:a16="http://schemas.microsoft.com/office/drawing/2014/main" id="{14454B93-50B4-4E7C-B95B-219E3A4FBBFC}"/>
              </a:ext>
            </a:extLst>
          </p:cNvPr>
          <p:cNvGrpSpPr>
            <a:grpSpLocks/>
          </p:cNvGrpSpPr>
          <p:nvPr/>
        </p:nvGrpSpPr>
        <p:grpSpPr bwMode="auto">
          <a:xfrm>
            <a:off x="7442200" y="2466975"/>
            <a:ext cx="431800" cy="576263"/>
            <a:chOff x="4105" y="2069"/>
            <a:chExt cx="272" cy="272"/>
          </a:xfrm>
        </p:grpSpPr>
        <p:sp>
          <p:nvSpPr>
            <p:cNvPr id="39" name="Rectangle 9">
              <a:extLst>
                <a:ext uri="{FF2B5EF4-FFF2-40B4-BE49-F238E27FC236}">
                  <a16:creationId xmlns:a16="http://schemas.microsoft.com/office/drawing/2014/main" id="{873A4255-63B4-4233-A33B-9A3993BBC422}"/>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0" name="Text Box 10">
              <a:extLst>
                <a:ext uri="{FF2B5EF4-FFF2-40B4-BE49-F238E27FC236}">
                  <a16:creationId xmlns:a16="http://schemas.microsoft.com/office/drawing/2014/main" id="{B80C17C2-D50D-4670-8AFB-E0453794DD9A}"/>
                </a:ext>
              </a:extLst>
            </p:cNvPr>
            <p:cNvSpPr txBox="1">
              <a:spLocks noChangeArrowheads="1"/>
            </p:cNvSpPr>
            <p:nvPr/>
          </p:nvSpPr>
          <p:spPr bwMode="auto">
            <a:xfrm>
              <a:off x="4120" y="2092"/>
              <a:ext cx="257"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41" name="Group 11">
            <a:extLst>
              <a:ext uri="{FF2B5EF4-FFF2-40B4-BE49-F238E27FC236}">
                <a16:creationId xmlns:a16="http://schemas.microsoft.com/office/drawing/2014/main" id="{01ED193E-265D-4029-8551-F31BAEA00094}"/>
              </a:ext>
            </a:extLst>
          </p:cNvPr>
          <p:cNvGrpSpPr>
            <a:grpSpLocks/>
          </p:cNvGrpSpPr>
          <p:nvPr/>
        </p:nvGrpSpPr>
        <p:grpSpPr bwMode="auto">
          <a:xfrm>
            <a:off x="8239125" y="2466975"/>
            <a:ext cx="463550" cy="576263"/>
            <a:chOff x="4085" y="2069"/>
            <a:chExt cx="292" cy="272"/>
          </a:xfrm>
        </p:grpSpPr>
        <p:sp>
          <p:nvSpPr>
            <p:cNvPr id="42" name="Rectangle 12">
              <a:extLst>
                <a:ext uri="{FF2B5EF4-FFF2-40B4-BE49-F238E27FC236}">
                  <a16:creationId xmlns:a16="http://schemas.microsoft.com/office/drawing/2014/main" id="{36C69A0C-2065-4418-9C3D-FA33A1B6BE65}"/>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lIns="167978"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3" name="Text Box 13">
              <a:extLst>
                <a:ext uri="{FF2B5EF4-FFF2-40B4-BE49-F238E27FC236}">
                  <a16:creationId xmlns:a16="http://schemas.microsoft.com/office/drawing/2014/main" id="{9ED4A45E-6870-4BF0-8FE1-91FA77538578}"/>
                </a:ext>
              </a:extLst>
            </p:cNvPr>
            <p:cNvSpPr txBox="1">
              <a:spLocks noChangeArrowheads="1"/>
            </p:cNvSpPr>
            <p:nvPr/>
          </p:nvSpPr>
          <p:spPr bwMode="auto">
            <a:xfrm>
              <a:off x="4085" y="2078"/>
              <a:ext cx="272" cy="237"/>
            </a:xfrm>
            <a:prstGeom prst="rect">
              <a:avLst/>
            </a:prstGeom>
            <a:noFill/>
            <a:ln w="9525">
              <a:noFill/>
              <a:miter lim="800000"/>
              <a:headEnd/>
              <a:tailEnd/>
            </a:ln>
          </p:spPr>
          <p:txBody>
            <a:bodyPr lIns="167978">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44" name="Group 14">
            <a:extLst>
              <a:ext uri="{FF2B5EF4-FFF2-40B4-BE49-F238E27FC236}">
                <a16:creationId xmlns:a16="http://schemas.microsoft.com/office/drawing/2014/main" id="{8CE8D3C7-4B9E-4245-AE86-3C178F881831}"/>
              </a:ext>
            </a:extLst>
          </p:cNvPr>
          <p:cNvGrpSpPr>
            <a:grpSpLocks/>
          </p:cNvGrpSpPr>
          <p:nvPr/>
        </p:nvGrpSpPr>
        <p:grpSpPr bwMode="auto">
          <a:xfrm>
            <a:off x="9097963" y="2466975"/>
            <a:ext cx="423862" cy="576263"/>
            <a:chOff x="4105" y="2069"/>
            <a:chExt cx="272" cy="272"/>
          </a:xfrm>
        </p:grpSpPr>
        <p:sp>
          <p:nvSpPr>
            <p:cNvPr id="45" name="Rectangle 15">
              <a:extLst>
                <a:ext uri="{FF2B5EF4-FFF2-40B4-BE49-F238E27FC236}">
                  <a16:creationId xmlns:a16="http://schemas.microsoft.com/office/drawing/2014/main" id="{09B84D61-2459-4A9D-9A40-86E950154C6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algn="ct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6" name="Text Box 16">
              <a:extLst>
                <a:ext uri="{FF2B5EF4-FFF2-40B4-BE49-F238E27FC236}">
                  <a16:creationId xmlns:a16="http://schemas.microsoft.com/office/drawing/2014/main" id="{7BC05803-7209-4DC0-A81F-9C38ECCC07B3}"/>
                </a:ext>
              </a:extLst>
            </p:cNvPr>
            <p:cNvSpPr txBox="1">
              <a:spLocks noChangeArrowheads="1"/>
            </p:cNvSpPr>
            <p:nvPr/>
          </p:nvSpPr>
          <p:spPr bwMode="auto">
            <a:xfrm>
              <a:off x="4129" y="2078"/>
              <a:ext cx="220"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grpSp>
        <p:nvGrpSpPr>
          <p:cNvPr id="47" name="Group 17">
            <a:extLst>
              <a:ext uri="{FF2B5EF4-FFF2-40B4-BE49-F238E27FC236}">
                <a16:creationId xmlns:a16="http://schemas.microsoft.com/office/drawing/2014/main" id="{6A2D6BA1-1D49-420E-8BEF-0AD3B621A417}"/>
              </a:ext>
            </a:extLst>
          </p:cNvPr>
          <p:cNvGrpSpPr>
            <a:grpSpLocks/>
          </p:cNvGrpSpPr>
          <p:nvPr/>
        </p:nvGrpSpPr>
        <p:grpSpPr bwMode="auto">
          <a:xfrm>
            <a:off x="3770313" y="2466975"/>
            <a:ext cx="431800" cy="576263"/>
            <a:chOff x="4105" y="2069"/>
            <a:chExt cx="272" cy="272"/>
          </a:xfrm>
        </p:grpSpPr>
        <p:sp>
          <p:nvSpPr>
            <p:cNvPr id="48" name="Rectangle 18">
              <a:extLst>
                <a:ext uri="{FF2B5EF4-FFF2-40B4-BE49-F238E27FC236}">
                  <a16:creationId xmlns:a16="http://schemas.microsoft.com/office/drawing/2014/main" id="{D59457E6-0DC9-441F-8FB2-D63246BF6DBF}"/>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9" name="Text Box 19">
              <a:extLst>
                <a:ext uri="{FF2B5EF4-FFF2-40B4-BE49-F238E27FC236}">
                  <a16:creationId xmlns:a16="http://schemas.microsoft.com/office/drawing/2014/main" id="{810AE46C-841C-4300-AE1A-153D644A1911}"/>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21512" name="Group 20">
            <a:extLst>
              <a:ext uri="{FF2B5EF4-FFF2-40B4-BE49-F238E27FC236}">
                <a16:creationId xmlns:a16="http://schemas.microsoft.com/office/drawing/2014/main" id="{6B4FF541-6C30-4EC4-889D-6F72A8B98549}"/>
              </a:ext>
            </a:extLst>
          </p:cNvPr>
          <p:cNvGrpSpPr>
            <a:grpSpLocks/>
          </p:cNvGrpSpPr>
          <p:nvPr/>
        </p:nvGrpSpPr>
        <p:grpSpPr bwMode="auto">
          <a:xfrm>
            <a:off x="4633913" y="2466975"/>
            <a:ext cx="431800" cy="576263"/>
            <a:chOff x="4105" y="2069"/>
            <a:chExt cx="272" cy="272"/>
          </a:xfrm>
        </p:grpSpPr>
        <p:sp>
          <p:nvSpPr>
            <p:cNvPr id="51" name="Rectangle 21">
              <a:extLst>
                <a:ext uri="{FF2B5EF4-FFF2-40B4-BE49-F238E27FC236}">
                  <a16:creationId xmlns:a16="http://schemas.microsoft.com/office/drawing/2014/main" id="{275A4EA2-F37B-4CE6-9C24-779D9F362D17}"/>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2" name="Text Box 22">
              <a:extLst>
                <a:ext uri="{FF2B5EF4-FFF2-40B4-BE49-F238E27FC236}">
                  <a16:creationId xmlns:a16="http://schemas.microsoft.com/office/drawing/2014/main" id="{BC90B785-6881-4F77-8CDB-8449661550E4}"/>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grpSp>
        <p:nvGrpSpPr>
          <p:cNvPr id="21513" name="Group 23">
            <a:extLst>
              <a:ext uri="{FF2B5EF4-FFF2-40B4-BE49-F238E27FC236}">
                <a16:creationId xmlns:a16="http://schemas.microsoft.com/office/drawing/2014/main" id="{42D2C3FB-BEA0-4DA9-AF2D-57521FF707A1}"/>
              </a:ext>
            </a:extLst>
          </p:cNvPr>
          <p:cNvGrpSpPr>
            <a:grpSpLocks/>
          </p:cNvGrpSpPr>
          <p:nvPr/>
        </p:nvGrpSpPr>
        <p:grpSpPr bwMode="auto">
          <a:xfrm>
            <a:off x="2185988" y="2466975"/>
            <a:ext cx="431800" cy="576263"/>
            <a:chOff x="4105" y="2069"/>
            <a:chExt cx="272" cy="272"/>
          </a:xfrm>
        </p:grpSpPr>
        <p:sp>
          <p:nvSpPr>
            <p:cNvPr id="54" name="Rectangle 24">
              <a:extLst>
                <a:ext uri="{FF2B5EF4-FFF2-40B4-BE49-F238E27FC236}">
                  <a16:creationId xmlns:a16="http://schemas.microsoft.com/office/drawing/2014/main" id="{860D4F3D-E8D2-4187-983B-4B42BA0DE4FB}"/>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5" name="Text Box 25">
              <a:extLst>
                <a:ext uri="{FF2B5EF4-FFF2-40B4-BE49-F238E27FC236}">
                  <a16:creationId xmlns:a16="http://schemas.microsoft.com/office/drawing/2014/main" id="{180D73C3-8240-46EF-8F48-9118708A658E}"/>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21515" name="Group 27">
            <a:extLst>
              <a:ext uri="{FF2B5EF4-FFF2-40B4-BE49-F238E27FC236}">
                <a16:creationId xmlns:a16="http://schemas.microsoft.com/office/drawing/2014/main" id="{60709AEF-0757-48F3-AE91-92A0FF782632}"/>
              </a:ext>
            </a:extLst>
          </p:cNvPr>
          <p:cNvGrpSpPr>
            <a:grpSpLocks/>
          </p:cNvGrpSpPr>
          <p:nvPr/>
        </p:nvGrpSpPr>
        <p:grpSpPr bwMode="auto">
          <a:xfrm>
            <a:off x="2978150" y="2466975"/>
            <a:ext cx="431800" cy="576263"/>
            <a:chOff x="4105" y="2069"/>
            <a:chExt cx="272" cy="272"/>
          </a:xfrm>
        </p:grpSpPr>
        <p:sp>
          <p:nvSpPr>
            <p:cNvPr id="58" name="Rectangle 28">
              <a:extLst>
                <a:ext uri="{FF2B5EF4-FFF2-40B4-BE49-F238E27FC236}">
                  <a16:creationId xmlns:a16="http://schemas.microsoft.com/office/drawing/2014/main" id="{612FC41E-9A62-4DB7-8A2C-AC5A6D6F9186}"/>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9" name="Text Box 29">
              <a:extLst>
                <a:ext uri="{FF2B5EF4-FFF2-40B4-BE49-F238E27FC236}">
                  <a16:creationId xmlns:a16="http://schemas.microsoft.com/office/drawing/2014/main" id="{070F95FF-673C-4340-A049-20713E024047}"/>
                </a:ext>
              </a:extLst>
            </p:cNvPr>
            <p:cNvSpPr txBox="1">
              <a:spLocks noChangeArrowheads="1"/>
            </p:cNvSpPr>
            <p:nvPr/>
          </p:nvSpPr>
          <p:spPr bwMode="auto">
            <a:xfrm>
              <a:off x="4105" y="2092"/>
              <a:ext cx="256"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grpSp>
        <p:nvGrpSpPr>
          <p:cNvPr id="60" name="Group 30">
            <a:extLst>
              <a:ext uri="{FF2B5EF4-FFF2-40B4-BE49-F238E27FC236}">
                <a16:creationId xmlns:a16="http://schemas.microsoft.com/office/drawing/2014/main" id="{BE5F69CD-7354-4649-8795-57B0E3C64A56}"/>
              </a:ext>
            </a:extLst>
          </p:cNvPr>
          <p:cNvGrpSpPr>
            <a:grpSpLocks/>
          </p:cNvGrpSpPr>
          <p:nvPr/>
        </p:nvGrpSpPr>
        <p:grpSpPr bwMode="auto">
          <a:xfrm>
            <a:off x="9926638" y="2466975"/>
            <a:ext cx="431800" cy="576263"/>
            <a:chOff x="4105" y="2069"/>
            <a:chExt cx="272" cy="272"/>
          </a:xfrm>
        </p:grpSpPr>
        <p:sp>
          <p:nvSpPr>
            <p:cNvPr id="61" name="Rectangle 31">
              <a:extLst>
                <a:ext uri="{FF2B5EF4-FFF2-40B4-BE49-F238E27FC236}">
                  <a16:creationId xmlns:a16="http://schemas.microsoft.com/office/drawing/2014/main" id="{8031B276-9A8A-4EE4-B34E-0F4552C46AB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62" name="Text Box 32">
              <a:extLst>
                <a:ext uri="{FF2B5EF4-FFF2-40B4-BE49-F238E27FC236}">
                  <a16:creationId xmlns:a16="http://schemas.microsoft.com/office/drawing/2014/main" id="{60B143AC-2021-4F25-8A86-33FE24B15997}"/>
                </a:ext>
              </a:extLst>
            </p:cNvPr>
            <p:cNvSpPr txBox="1">
              <a:spLocks noChangeArrowheads="1"/>
            </p:cNvSpPr>
            <p:nvPr/>
          </p:nvSpPr>
          <p:spPr bwMode="auto">
            <a:xfrm>
              <a:off x="4105" y="2080"/>
              <a:ext cx="264"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sp>
        <p:nvSpPr>
          <p:cNvPr id="2" name="Line 26">
            <a:extLst>
              <a:ext uri="{FF2B5EF4-FFF2-40B4-BE49-F238E27FC236}">
                <a16:creationId xmlns:a16="http://schemas.microsoft.com/office/drawing/2014/main" id="{4A923C15-75FB-28A2-23C8-01D79DD3FA6C}"/>
              </a:ext>
            </a:extLst>
          </p:cNvPr>
          <p:cNvSpPr>
            <a:spLocks noChangeShapeType="1"/>
          </p:cNvSpPr>
          <p:nvPr/>
        </p:nvSpPr>
        <p:spPr bwMode="auto">
          <a:xfrm flipV="1">
            <a:off x="2424113" y="3032125"/>
            <a:ext cx="0" cy="671513"/>
          </a:xfrm>
          <a:prstGeom prst="line">
            <a:avLst/>
          </a:prstGeom>
          <a:noFill/>
          <a:ln w="635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任意多边形: 形状 9">
            <a:extLst>
              <a:ext uri="{FF2B5EF4-FFF2-40B4-BE49-F238E27FC236}">
                <a16:creationId xmlns:a16="http://schemas.microsoft.com/office/drawing/2014/main" id="{077D22FA-A036-8E18-1A34-AFA7E4D21DCB}"/>
              </a:ext>
            </a:extLst>
          </p:cNvPr>
          <p:cNvSpPr/>
          <p:nvPr/>
        </p:nvSpPr>
        <p:spPr>
          <a:xfrm>
            <a:off x="7451289" y="4098416"/>
            <a:ext cx="4053808" cy="211065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285750" indent="-285750">
              <a:buFont typeface="Arial" panose="020B0604020202020204" pitchFamily="34" charset="0"/>
              <a:buChar char="•"/>
            </a:pPr>
            <a:r>
              <a:rPr kumimoji="1" lang="zh-CN" altLang="en-US" sz="2400" b="1" dirty="0">
                <a:solidFill>
                  <a:schemeClr val="bg1"/>
                </a:solidFill>
                <a:latin typeface="Microsoft YaHei" panose="020B0503020204020204" pitchFamily="34" charset="-122"/>
                <a:ea typeface="Microsoft YaHei" panose="020B0503020204020204" pitchFamily="34" charset="-122"/>
              </a:rPr>
              <a:t>入栈</a:t>
            </a:r>
            <a:r>
              <a:rPr kumimoji="1" lang="zh-CN" altLang="en-US" sz="2400" dirty="0">
                <a:solidFill>
                  <a:schemeClr val="bg1"/>
                </a:solidFill>
                <a:latin typeface="Microsoft YaHei" panose="020B0503020204020204" pitchFamily="34" charset="-122"/>
                <a:ea typeface="Microsoft YaHei" panose="020B0503020204020204" pitchFamily="34" charset="-122"/>
              </a:rPr>
              <a:t>：栈为空或者栈顶元素与出栈元素不同</a:t>
            </a:r>
            <a:endParaRPr kumimoji="1" lang="en-US" altLang="zh-CN" sz="2400" dirty="0">
              <a:solidFill>
                <a:schemeClr val="bg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400" b="1" dirty="0">
                <a:solidFill>
                  <a:schemeClr val="bg1"/>
                </a:solidFill>
                <a:latin typeface="Microsoft YaHei" panose="020B0503020204020204" pitchFamily="34" charset="-122"/>
                <a:ea typeface="Microsoft YaHei" panose="020B0503020204020204" pitchFamily="34" charset="-122"/>
              </a:rPr>
              <a:t>出栈</a:t>
            </a:r>
            <a:r>
              <a:rPr kumimoji="1" lang="zh-CN" altLang="en-US" sz="2400" dirty="0">
                <a:solidFill>
                  <a:schemeClr val="bg1"/>
                </a:solidFill>
                <a:latin typeface="Microsoft YaHei" panose="020B0503020204020204" pitchFamily="34" charset="-122"/>
                <a:ea typeface="Microsoft YaHei" panose="020B0503020204020204" pitchFamily="34" charset="-122"/>
              </a:rPr>
              <a:t>：栈顶元素与出栈元素一致</a:t>
            </a:r>
            <a:endParaRPr lang="en-US" altLang="zh-CN" sz="2400" kern="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3737 -0.00208 C -0.07514 -0.03403 -0.1129 -0.0662 -0.12735 0.00787 C -0.1418 0.08171 -0.13282 0.26134 -0.12396 0.44144 " pathEditMode="relative" rAng="0" ptsTypes="AAA">
                                      <p:cBhvr>
                                        <p:cTn id="11" dur="2000" fill="hold"/>
                                        <p:tgtEl>
                                          <p:spTgt spid="38"/>
                                        </p:tgtEl>
                                        <p:attrNameLst>
                                          <p:attrName>ppt_x</p:attrName>
                                          <p:attrName>ppt_y</p:attrName>
                                        </p:attrNameLst>
                                      </p:cBhvr>
                                      <p:rCtr x="-4883" y="20417"/>
                                    </p:animMotion>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nodeType="clickEffect">
                                  <p:stCondLst>
                                    <p:cond delay="0"/>
                                  </p:stCondLst>
                                  <p:childTnLst>
                                    <p:animMotion origin="layout" path="M -0.12813 0.44144 L -0.4293 0.44144 " pathEditMode="relative" ptsTypes="AA">
                                      <p:cBhvr>
                                        <p:cTn id="15" dur="2000" fill="hold"/>
                                        <p:tgtEl>
                                          <p:spTgt spid="38"/>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grpId="0" nodeType="clickEffect">
                                  <p:stCondLst>
                                    <p:cond delay="0"/>
                                  </p:stCondLst>
                                  <p:childTnLst>
                                    <p:animMotion origin="layout" path="M 0 0 L 0.06237 0 " pathEditMode="relative" ptsTypes="AA">
                                      <p:cBhvr>
                                        <p:cTn id="19" dur="2000" fill="hold"/>
                                        <p:tgtEl>
                                          <p:spTgt spid="2"/>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nodeType="clickEffect">
                                  <p:stCondLst>
                                    <p:cond delay="0"/>
                                  </p:stCondLst>
                                  <p:childTnLst>
                                    <p:animMotion origin="layout" path="M -0.02669 0.0044 C -0.08646 -0.05417 -0.14622 -0.1125 -0.17331 -0.04074 C -0.20039 0.03102 -0.19492 0.2331 -0.18945 0.43519 " pathEditMode="relative" ptsTypes="AAA">
                                      <p:cBhvr>
                                        <p:cTn id="23" dur="2000" fill="hold"/>
                                        <p:tgtEl>
                                          <p:spTgt spid="41"/>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nodeType="clickEffect">
                                  <p:stCondLst>
                                    <p:cond delay="0"/>
                                  </p:stCondLst>
                                  <p:childTnLst>
                                    <p:animMotion origin="layout" path="M -0.02904 0.09468 C -0.11992 0.06412 -0.21068 0.0331 -0.24987 0.07546 C -0.28907 0.11782 -0.27657 0.2331 -0.26394 0.34907 " pathEditMode="relative" rAng="0" ptsTypes="AAA">
                                      <p:cBhvr>
                                        <p:cTn id="27" dur="2000" fill="hold"/>
                                        <p:tgtEl>
                                          <p:spTgt spid="44"/>
                                        </p:tgtEl>
                                        <p:attrNameLst>
                                          <p:attrName>ppt_x</p:attrName>
                                          <p:attrName>ppt_y</p:attrName>
                                        </p:attrNameLst>
                                      </p:cBhvr>
                                      <p:rCtr x="-12370" y="10718"/>
                                    </p:animMotion>
                                  </p:childTnLst>
                                </p:cTn>
                              </p:par>
                            </p:childTnLst>
                          </p:cTn>
                        </p:par>
                      </p:childTnLst>
                    </p:cTn>
                  </p:par>
                  <p:par>
                    <p:cTn id="28" fill="hold">
                      <p:stCondLst>
                        <p:cond delay="indefinite"/>
                      </p:stCondLst>
                      <p:childTnLst>
                        <p:par>
                          <p:cTn id="29" fill="hold">
                            <p:stCondLst>
                              <p:cond delay="0"/>
                            </p:stCondLst>
                            <p:childTnLst>
                              <p:par>
                                <p:cTn id="30" presetID="0" presetClass="path" presetSubtype="0" accel="50000" decel="50000" fill="hold" nodeType="clickEffect">
                                  <p:stCondLst>
                                    <p:cond delay="0"/>
                                  </p:stCondLst>
                                  <p:childTnLst>
                                    <p:animMotion origin="layout" path="M -0.26393 0.34907 C -0.28281 0.38542 -0.30169 0.42176 -0.34245 0.43727 C -0.3832 0.45255 -0.44596 0.44699 -0.50859 0.4412 " pathEditMode="relative" ptsTypes="AAA">
                                      <p:cBhvr>
                                        <p:cTn id="31" dur="2000" fill="hold"/>
                                        <p:tgtEl>
                                          <p:spTgt spid="44"/>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grpId="1" nodeType="clickEffect">
                                  <p:stCondLst>
                                    <p:cond delay="0"/>
                                  </p:stCondLst>
                                  <p:childTnLst>
                                    <p:animMotion origin="layout" path="M 0.06237 -2.22222E-6 L 0.12773 0.00903 " pathEditMode="relative" rAng="0" ptsTypes="AA">
                                      <p:cBhvr>
                                        <p:cTn id="35" dur="2000" fill="hold"/>
                                        <p:tgtEl>
                                          <p:spTgt spid="2"/>
                                        </p:tgtEl>
                                        <p:attrNameLst>
                                          <p:attrName>ppt_x</p:attrName>
                                          <p:attrName>ppt_y</p:attrName>
                                        </p:attrNameLst>
                                      </p:cBhvr>
                                      <p:rCtr x="3268" y="440"/>
                                    </p:animMotion>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0.19284 0.44144 L -0.19284 0.44144 C -0.19635 0.44213 -0.19987 0.44352 -0.20325 0.44352 C -0.21237 0.44352 -0.22187 0.44144 -0.23099 0.43935 C -0.23633 0.43796 -0.2418 0.43681 -0.24713 0.43519 C -0.24948 0.43449 -0.25169 0.43357 -0.25403 0.4331 C -0.2668 0.43032 -0.27448 0.43032 -0.28867 0.42917 C -0.30208 0.42963 -0.31562 0.42986 -0.32903 0.43102 C -0.33021 0.43125 -0.33138 0.43264 -0.33255 0.4331 C -0.33437 0.43403 -0.33633 0.43449 -0.33828 0.43519 C -0.3418 0.43657 -0.34518 0.43819 -0.3487 0.43935 C -0.3513 0.44028 -0.35403 0.44051 -0.35677 0.44144 C -0.35872 0.4419 -0.36055 0.44329 -0.3625 0.44352 C -0.36666 0.44398 -0.37096 0.44352 -0.37513 0.44352 L -0.37513 0.44352 " pathEditMode="relative" ptsTypes="AAAAAAAAAAAAAAA">
                                      <p:cBhvr>
                                        <p:cTn id="39" dur="2000" fill="hold"/>
                                        <p:tgtEl>
                                          <p:spTgt spid="41"/>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grpId="2" nodeType="clickEffect">
                                  <p:stCondLst>
                                    <p:cond delay="0"/>
                                  </p:stCondLst>
                                  <p:childTnLst>
                                    <p:animMotion origin="layout" path="M 0.12773 0.00902 L 0.19114 0.00902 " pathEditMode="relative" rAng="0" ptsTypes="AA">
                                      <p:cBhvr>
                                        <p:cTn id="43" dur="2000" fill="hold"/>
                                        <p:tgtEl>
                                          <p:spTgt spid="2"/>
                                        </p:tgtEl>
                                        <p:attrNameLst>
                                          <p:attrName>ppt_x</p:attrName>
                                          <p:attrName>ppt_y</p:attrName>
                                        </p:attrNameLst>
                                      </p:cBhvr>
                                      <p:rCtr x="3164" y="0"/>
                                    </p:animMotion>
                                  </p:childTnLst>
                                </p:cTn>
                              </p:par>
                            </p:childTnLst>
                          </p:cTn>
                        </p:par>
                      </p:childTnLst>
                    </p:cTn>
                  </p:par>
                  <p:par>
                    <p:cTn id="44" fill="hold">
                      <p:stCondLst>
                        <p:cond delay="indefinite"/>
                      </p:stCondLst>
                      <p:childTnLst>
                        <p:par>
                          <p:cTn id="45" fill="hold">
                            <p:stCondLst>
                              <p:cond delay="0"/>
                            </p:stCondLst>
                            <p:childTnLst>
                              <p:par>
                                <p:cTn id="46" presetID="0" presetClass="path" presetSubtype="0" accel="50000" decel="50000" fill="hold" nodeType="clickEffect">
                                  <p:stCondLst>
                                    <p:cond delay="0"/>
                                  </p:stCondLst>
                                  <p:childTnLst>
                                    <p:animMotion origin="layout" path="M -0.0388 0.03403 C -0.1414 -0.03217 -0.24388 -0.09838 -0.29271 -0.03055 C -0.34153 0.03727 -0.33672 0.23912 -0.3319 0.44144 " pathEditMode="relative" rAng="0" ptsTypes="AAA">
                                      <p:cBhvr>
                                        <p:cTn id="47" dur="2000" fill="hold"/>
                                        <p:tgtEl>
                                          <p:spTgt spid="60"/>
                                        </p:tgtEl>
                                        <p:attrNameLst>
                                          <p:attrName>ppt_x</p:attrName>
                                          <p:attrName>ppt_y</p:attrName>
                                        </p:attrNameLst>
                                      </p:cBhvr>
                                      <p:rCtr x="-14805" y="15718"/>
                                    </p:animMotion>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32982 0.44144 L -0.43815 0.44144 " pathEditMode="relative" ptsTypes="AA">
                                      <p:cBhvr>
                                        <p:cTn id="51" dur="2000" fill="hold"/>
                                        <p:tgtEl>
                                          <p:spTgt spid="60"/>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grpId="3" nodeType="clickEffect">
                                  <p:stCondLst>
                                    <p:cond delay="0"/>
                                  </p:stCondLst>
                                  <p:childTnLst>
                                    <p:animMotion origin="layout" path="M 0.19114 0.00902 L 0.23646 0.00902 " pathEditMode="relative" rAng="0" ptsTypes="AA">
                                      <p:cBhvr>
                                        <p:cTn id="55" dur="2000" fill="hold"/>
                                        <p:tgtEl>
                                          <p:spTgt spid="2"/>
                                        </p:tgtEl>
                                        <p:attrNameLst>
                                          <p:attrName>ppt_x</p:attrName>
                                          <p:attrName>ppt_y</p:attrName>
                                        </p:attrNameLst>
                                      </p:cBhvr>
                                      <p:rCtr x="226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57180A4-4C99-4672-AA91-F558A1EBE136}"/>
              </a:ext>
            </a:extLst>
          </p:cNvPr>
          <p:cNvSpPr>
            <a:spLocks noGrp="1"/>
          </p:cNvSpPr>
          <p:nvPr>
            <p:ph type="title"/>
          </p:nvPr>
        </p:nvSpPr>
        <p:spPr/>
        <p:txBody>
          <a:bodyPr>
            <a:normAutofit/>
          </a:bodyPr>
          <a:lstStyle/>
          <a:p>
            <a:pPr>
              <a:defRPr/>
            </a:pPr>
            <a:r>
              <a:t>思考</a:t>
            </a:r>
          </a:p>
        </p:txBody>
      </p:sp>
      <p:sp>
        <p:nvSpPr>
          <p:cNvPr id="11" name="副标题 10">
            <a:extLst>
              <a:ext uri="{FF2B5EF4-FFF2-40B4-BE49-F238E27FC236}">
                <a16:creationId xmlns:a16="http://schemas.microsoft.com/office/drawing/2014/main" id="{E650751E-E910-48F5-8F4A-63A3C0019428}"/>
              </a:ext>
            </a:extLst>
          </p:cNvPr>
          <p:cNvSpPr>
            <a:spLocks noGrp="1"/>
          </p:cNvSpPr>
          <p:nvPr>
            <p:ph type="subTitle" idx="1"/>
          </p:nvPr>
        </p:nvSpPr>
        <p:spPr/>
        <p:txBody>
          <a:bodyPr/>
          <a:lstStyle/>
          <a:p>
            <a:endParaRPr lang="zh-CN" altLang="en-US"/>
          </a:p>
        </p:txBody>
      </p:sp>
      <p:sp>
        <p:nvSpPr>
          <p:cNvPr id="12" name="文本占位符 11">
            <a:extLst>
              <a:ext uri="{FF2B5EF4-FFF2-40B4-BE49-F238E27FC236}">
                <a16:creationId xmlns:a16="http://schemas.microsoft.com/office/drawing/2014/main" id="{AF4486E6-E536-42CD-936F-5D00C296E031}"/>
              </a:ext>
            </a:extLst>
          </p:cNvPr>
          <p:cNvSpPr>
            <a:spLocks noGrp="1"/>
          </p:cNvSpPr>
          <p:nvPr>
            <p:ph type="body" idx="10"/>
          </p:nvPr>
        </p:nvSpPr>
        <p:spPr/>
        <p:txBody>
          <a:bodyPr/>
          <a:lstStyle/>
          <a:p>
            <a:endParaRPr lang="zh-CN" altLang="en-US"/>
          </a:p>
        </p:txBody>
      </p:sp>
      <p:sp>
        <p:nvSpPr>
          <p:cNvPr id="8" name="内容占位符 7">
            <a:extLst>
              <a:ext uri="{FF2B5EF4-FFF2-40B4-BE49-F238E27FC236}">
                <a16:creationId xmlns:a16="http://schemas.microsoft.com/office/drawing/2014/main" id="{D2B05337-97B3-4AB8-BC55-B0CA4479E05C}"/>
              </a:ext>
            </a:extLst>
          </p:cNvPr>
          <p:cNvSpPr>
            <a:spLocks noGrp="1"/>
          </p:cNvSpPr>
          <p:nvPr>
            <p:ph idx="11"/>
          </p:nvPr>
        </p:nvSpPr>
        <p:spPr/>
        <p:txBody>
          <a:bodyPr>
            <a:normAutofit fontScale="92500" lnSpcReduction="10000"/>
          </a:bodyPr>
          <a:lstStyle/>
          <a:p>
            <a:pPr>
              <a:lnSpc>
                <a:spcPct val="130000"/>
              </a:lnSpc>
            </a:pPr>
            <a:r>
              <a:rPr lang="zh-CN" altLang="en-US" sz="2800" dirty="0">
                <a:latin typeface="Lucida Fax" panose="02060602050505020204" pitchFamily="18" charset="0"/>
              </a:rPr>
              <a:t>若入栈顺序为</a:t>
            </a:r>
            <a:r>
              <a:rPr lang="en-US" altLang="zh-CN" sz="2800" dirty="0">
                <a:latin typeface="Lucida Fax" panose="02060602050505020204" pitchFamily="18" charset="0"/>
              </a:rPr>
              <a:t>1,2,3,4</a:t>
            </a:r>
            <a:r>
              <a:rPr lang="zh-CN" altLang="en-US" sz="2800" dirty="0">
                <a:latin typeface="Lucida Fax" panose="02060602050505020204" pitchFamily="18" charset="0"/>
              </a:rPr>
              <a:t>的话，则出栈的顺序可以有哪些</a:t>
            </a:r>
            <a:r>
              <a:rPr lang="en-US" altLang="zh-CN" sz="2800" dirty="0">
                <a:latin typeface="Lucida Fax" panose="02060602050505020204" pitchFamily="18" charset="0"/>
              </a:rPr>
              <a:t>?  </a:t>
            </a:r>
          </a:p>
          <a:p>
            <a:pPr lvl="1">
              <a:lnSpc>
                <a:spcPct val="130000"/>
              </a:lnSpc>
            </a:pPr>
            <a:r>
              <a:rPr lang="en-US" altLang="zh-CN" sz="2400" dirty="0">
                <a:latin typeface="Lucida Fax" panose="02060602050505020204" pitchFamily="18" charset="0"/>
                <a:ea typeface="微软雅黑" panose="020B0503020204020204" pitchFamily="34" charset="-122"/>
              </a:rPr>
              <a:t>1234</a:t>
            </a:r>
          </a:p>
          <a:p>
            <a:pPr lvl="1">
              <a:lnSpc>
                <a:spcPct val="130000"/>
              </a:lnSpc>
            </a:pPr>
            <a:r>
              <a:rPr lang="en-US" altLang="zh-CN" sz="2400" dirty="0">
                <a:latin typeface="Lucida Fax" panose="02060602050505020204" pitchFamily="18" charset="0"/>
                <a:ea typeface="微软雅黑" panose="020B0503020204020204" pitchFamily="34" charset="-122"/>
              </a:rPr>
              <a:t>1243</a:t>
            </a:r>
          </a:p>
          <a:p>
            <a:pPr lvl="1">
              <a:lnSpc>
                <a:spcPct val="130000"/>
              </a:lnSpc>
            </a:pPr>
            <a:r>
              <a:rPr lang="en-US" altLang="zh-CN" sz="2400" dirty="0">
                <a:latin typeface="Lucida Fax" panose="02060602050505020204" pitchFamily="18" charset="0"/>
                <a:ea typeface="微软雅黑" panose="020B0503020204020204" pitchFamily="34" charset="-122"/>
              </a:rPr>
              <a:t>1324</a:t>
            </a:r>
          </a:p>
          <a:p>
            <a:pPr lvl="1">
              <a:lnSpc>
                <a:spcPct val="130000"/>
              </a:lnSpc>
            </a:pPr>
            <a:r>
              <a:rPr lang="en-US" altLang="zh-CN" sz="2400" dirty="0">
                <a:latin typeface="Lucida Fax" panose="02060602050505020204" pitchFamily="18" charset="0"/>
                <a:ea typeface="微软雅黑" panose="020B0503020204020204" pitchFamily="34" charset="-122"/>
              </a:rPr>
              <a:t>1342</a:t>
            </a:r>
          </a:p>
          <a:p>
            <a:pPr lvl="1">
              <a:lnSpc>
                <a:spcPct val="130000"/>
              </a:lnSpc>
            </a:pPr>
            <a:r>
              <a:rPr lang="en-US" altLang="zh-CN" sz="2400" dirty="0">
                <a:latin typeface="Lucida Fax" panose="02060602050505020204" pitchFamily="18" charset="0"/>
                <a:ea typeface="微软雅黑" panose="020B0503020204020204" pitchFamily="34" charset="-122"/>
              </a:rPr>
              <a:t>1423</a:t>
            </a:r>
          </a:p>
          <a:p>
            <a:pPr lvl="1">
              <a:lnSpc>
                <a:spcPct val="130000"/>
              </a:lnSpc>
            </a:pPr>
            <a:r>
              <a:rPr lang="en-US" altLang="zh-CN" sz="2400" dirty="0">
                <a:latin typeface="Lucida Fax" panose="02060602050505020204" pitchFamily="18" charset="0"/>
                <a:ea typeface="微软雅黑" panose="020B0503020204020204" pitchFamily="34" charset="-122"/>
              </a:rPr>
              <a:t>1432</a:t>
            </a:r>
          </a:p>
          <a:p>
            <a:pPr lvl="1">
              <a:lnSpc>
                <a:spcPct val="130000"/>
              </a:lnSpc>
            </a:pPr>
            <a:r>
              <a:rPr lang="en-US" altLang="zh-CN" sz="2400" dirty="0">
                <a:latin typeface="Lucida Fax" panose="02060602050505020204" pitchFamily="18" charset="0"/>
                <a:ea typeface="微软雅黑" panose="020B0503020204020204" pitchFamily="34" charset="-122"/>
              </a:rPr>
              <a:t>2134</a:t>
            </a:r>
          </a:p>
          <a:p>
            <a:pPr lvl="1">
              <a:lnSpc>
                <a:spcPct val="130000"/>
              </a:lnSpc>
            </a:pPr>
            <a:r>
              <a:rPr lang="en-US" altLang="zh-CN" sz="2400" dirty="0">
                <a:latin typeface="Lucida Fax" panose="02060602050505020204" pitchFamily="18" charset="0"/>
                <a:ea typeface="微软雅黑" panose="020B0503020204020204" pitchFamily="34" charset="-122"/>
              </a:rPr>
              <a:t>2143</a:t>
            </a:r>
          </a:p>
          <a:p>
            <a:pPr lvl="1">
              <a:lnSpc>
                <a:spcPct val="130000"/>
              </a:lnSpc>
            </a:pPr>
            <a:r>
              <a:rPr lang="en-US" altLang="zh-CN" sz="2400" dirty="0">
                <a:latin typeface="Lucida Fax" panose="02060602050505020204" pitchFamily="18" charset="0"/>
                <a:ea typeface="微软雅黑" panose="020B0503020204020204" pitchFamily="34" charset="-122"/>
              </a:rPr>
              <a:t>……</a:t>
            </a:r>
            <a:r>
              <a:rPr lang="zh-CN" altLang="en-US" sz="2400" dirty="0">
                <a:latin typeface="Lucida Fax" panose="02060602050505020204" pitchFamily="18" charset="0"/>
                <a:ea typeface="微软雅黑" panose="020B0503020204020204" pitchFamily="34" charset="-122"/>
              </a:rPr>
              <a:t> </a:t>
            </a:r>
            <a:endParaRPr lang="zh-CN" altLang="en-US" dirty="0"/>
          </a:p>
        </p:txBody>
      </p:sp>
      <p:sp>
        <p:nvSpPr>
          <p:cNvPr id="4" name="任意多边形: 形状 9">
            <a:extLst>
              <a:ext uri="{FF2B5EF4-FFF2-40B4-BE49-F238E27FC236}">
                <a16:creationId xmlns:a16="http://schemas.microsoft.com/office/drawing/2014/main" id="{531E1D71-E088-A80B-F347-2D8B3A24E618}"/>
              </a:ext>
            </a:extLst>
          </p:cNvPr>
          <p:cNvSpPr/>
          <p:nvPr/>
        </p:nvSpPr>
        <p:spPr>
          <a:xfrm>
            <a:off x="4403288" y="4546600"/>
            <a:ext cx="5331555" cy="876300"/>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存在无效的出栈顺序，如：</a:t>
            </a:r>
            <a:r>
              <a:rPr kumimoji="1" lang="en-US" altLang="zh-CN" sz="2400" dirty="0">
                <a:latin typeface="Microsoft YaHei" panose="020B0503020204020204" pitchFamily="34" charset="-122"/>
                <a:ea typeface="Microsoft YaHei" panose="020B0503020204020204" pitchFamily="34" charset="-122"/>
              </a:rPr>
              <a:t>3412</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5228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a:extLst>
              <a:ext uri="{FF2B5EF4-FFF2-40B4-BE49-F238E27FC236}">
                <a16:creationId xmlns:a16="http://schemas.microsoft.com/office/drawing/2014/main" id="{6412E1DA-FE0E-4089-B816-7FC78137F91B}"/>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示例：火车进出栈问题</a:t>
            </a:r>
            <a:endParaRPr kumimoji="0" sz="2800" dirty="0"/>
          </a:p>
        </p:txBody>
      </p:sp>
      <p:sp>
        <p:nvSpPr>
          <p:cNvPr id="6" name="副标题 5">
            <a:extLst>
              <a:ext uri="{FF2B5EF4-FFF2-40B4-BE49-F238E27FC236}">
                <a16:creationId xmlns:a16="http://schemas.microsoft.com/office/drawing/2014/main" id="{41F599A3-9957-4A08-BBF5-3256BA000912}"/>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EF5A364-1727-4627-88C3-EF465AAA3739}"/>
              </a:ext>
            </a:extLst>
          </p:cNvPr>
          <p:cNvSpPr>
            <a:spLocks noGrp="1"/>
          </p:cNvSpPr>
          <p:nvPr>
            <p:ph type="body" idx="10"/>
          </p:nvPr>
        </p:nvSpPr>
        <p:spPr/>
        <p:txBody>
          <a:bodyPr/>
          <a:lstStyle/>
          <a:p>
            <a:endParaRPr lang="zh-CN" altLang="en-US"/>
          </a:p>
        </p:txBody>
      </p:sp>
      <p:sp>
        <p:nvSpPr>
          <p:cNvPr id="21506" name="内容占位符 2">
            <a:extLst>
              <a:ext uri="{FF2B5EF4-FFF2-40B4-BE49-F238E27FC236}">
                <a16:creationId xmlns:a16="http://schemas.microsoft.com/office/drawing/2014/main" id="{B3C02DC2-1DE6-4203-988B-0A59CCE52449}"/>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dirty="0"/>
              <a:t>利用 </a:t>
            </a:r>
            <a:r>
              <a:rPr lang="zh-CN" altLang="zh-CN" dirty="0">
                <a:solidFill>
                  <a:srgbClr val="0000FF"/>
                </a:solidFill>
              </a:rPr>
              <a:t>合法的重构</a:t>
            </a:r>
            <a:r>
              <a:rPr lang="zh-CN" altLang="zh-CN" dirty="0"/>
              <a:t> 发现 </a:t>
            </a:r>
            <a:r>
              <a:rPr lang="zh-CN" altLang="zh-CN" dirty="0">
                <a:solidFill>
                  <a:srgbClr val="C00000"/>
                </a:solidFill>
              </a:rPr>
              <a:t>冲突</a:t>
            </a:r>
            <a:endParaRPr lang="en-US" altLang="zh-CN" dirty="0">
              <a:solidFill>
                <a:srgbClr val="C00000"/>
              </a:solidFill>
            </a:endParaRPr>
          </a:p>
          <a:p>
            <a:pPr marL="0" indent="0">
              <a:buNone/>
            </a:pPr>
            <a:r>
              <a:rPr lang="zh-CN" altLang="en-US" dirty="0">
                <a:solidFill>
                  <a:srgbClr val="C00000"/>
                </a:solidFill>
              </a:rPr>
              <a:t>                       出栈顺序                                            入栈顺序</a:t>
            </a:r>
            <a:endParaRPr lang="zh-CN" altLang="zh-CN" dirty="0">
              <a:solidFill>
                <a:srgbClr val="C00000"/>
              </a:solidFill>
            </a:endParaRPr>
          </a:p>
        </p:txBody>
      </p:sp>
      <p:grpSp>
        <p:nvGrpSpPr>
          <p:cNvPr id="21507" name="Group 3">
            <a:extLst>
              <a:ext uri="{FF2B5EF4-FFF2-40B4-BE49-F238E27FC236}">
                <a16:creationId xmlns:a16="http://schemas.microsoft.com/office/drawing/2014/main" id="{376F14C1-3B33-4C58-BFF7-BC8C2ED522FB}"/>
              </a:ext>
            </a:extLst>
          </p:cNvPr>
          <p:cNvGrpSpPr>
            <a:grpSpLocks/>
          </p:cNvGrpSpPr>
          <p:nvPr/>
        </p:nvGrpSpPr>
        <p:grpSpPr bwMode="auto">
          <a:xfrm>
            <a:off x="5559425" y="3703638"/>
            <a:ext cx="1223963" cy="2495550"/>
            <a:chOff x="2744" y="2840"/>
            <a:chExt cx="771" cy="998"/>
          </a:xfrm>
        </p:grpSpPr>
        <p:sp>
          <p:nvSpPr>
            <p:cNvPr id="34" name="Line 4">
              <a:extLst>
                <a:ext uri="{FF2B5EF4-FFF2-40B4-BE49-F238E27FC236}">
                  <a16:creationId xmlns:a16="http://schemas.microsoft.com/office/drawing/2014/main" id="{66A4975E-4FC0-40F2-B776-2A42521ACAB3}"/>
                </a:ext>
              </a:extLst>
            </p:cNvPr>
            <p:cNvSpPr>
              <a:spLocks noChangeShapeType="1"/>
            </p:cNvSpPr>
            <p:nvPr/>
          </p:nvSpPr>
          <p:spPr bwMode="auto">
            <a:xfrm>
              <a:off x="3515" y="2840"/>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nvGrpSpPr>
            <p:cNvPr id="21534" name="Group 5">
              <a:extLst>
                <a:ext uri="{FF2B5EF4-FFF2-40B4-BE49-F238E27FC236}">
                  <a16:creationId xmlns:a16="http://schemas.microsoft.com/office/drawing/2014/main" id="{C1B15288-D73D-433C-B4F1-C7140F1E9711}"/>
                </a:ext>
              </a:extLst>
            </p:cNvPr>
            <p:cNvGrpSpPr>
              <a:grpSpLocks/>
            </p:cNvGrpSpPr>
            <p:nvPr/>
          </p:nvGrpSpPr>
          <p:grpSpPr bwMode="auto">
            <a:xfrm>
              <a:off x="2744" y="2840"/>
              <a:ext cx="771" cy="998"/>
              <a:chOff x="2245" y="2523"/>
              <a:chExt cx="771" cy="998"/>
            </a:xfrm>
          </p:grpSpPr>
          <p:sp>
            <p:nvSpPr>
              <p:cNvPr id="36" name="Line 6">
                <a:extLst>
                  <a:ext uri="{FF2B5EF4-FFF2-40B4-BE49-F238E27FC236}">
                    <a16:creationId xmlns:a16="http://schemas.microsoft.com/office/drawing/2014/main" id="{25E3DF0E-1DD3-4D3C-86F8-A0547BDD2BD3}"/>
                  </a:ext>
                </a:extLst>
              </p:cNvPr>
              <p:cNvSpPr>
                <a:spLocks noChangeShapeType="1"/>
              </p:cNvSpPr>
              <p:nvPr/>
            </p:nvSpPr>
            <p:spPr bwMode="auto">
              <a:xfrm>
                <a:off x="2245" y="2523"/>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sp>
            <p:nvSpPr>
              <p:cNvPr id="37" name="Line 7">
                <a:extLst>
                  <a:ext uri="{FF2B5EF4-FFF2-40B4-BE49-F238E27FC236}">
                    <a16:creationId xmlns:a16="http://schemas.microsoft.com/office/drawing/2014/main" id="{625200EF-C359-4E6A-97C3-E96AB9186317}"/>
                  </a:ext>
                </a:extLst>
              </p:cNvPr>
              <p:cNvSpPr>
                <a:spLocks noChangeShapeType="1"/>
              </p:cNvSpPr>
              <p:nvPr/>
            </p:nvSpPr>
            <p:spPr bwMode="auto">
              <a:xfrm>
                <a:off x="2245" y="3521"/>
                <a:ext cx="771" cy="0"/>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grpSp>
      <p:grpSp>
        <p:nvGrpSpPr>
          <p:cNvPr id="38" name="Group 8">
            <a:extLst>
              <a:ext uri="{FF2B5EF4-FFF2-40B4-BE49-F238E27FC236}">
                <a16:creationId xmlns:a16="http://schemas.microsoft.com/office/drawing/2014/main" id="{14454B93-50B4-4E7C-B95B-219E3A4FBBFC}"/>
              </a:ext>
            </a:extLst>
          </p:cNvPr>
          <p:cNvGrpSpPr>
            <a:grpSpLocks/>
          </p:cNvGrpSpPr>
          <p:nvPr/>
        </p:nvGrpSpPr>
        <p:grpSpPr bwMode="auto">
          <a:xfrm>
            <a:off x="7442200" y="2466975"/>
            <a:ext cx="431800" cy="576263"/>
            <a:chOff x="4105" y="2069"/>
            <a:chExt cx="272" cy="272"/>
          </a:xfrm>
        </p:grpSpPr>
        <p:sp>
          <p:nvSpPr>
            <p:cNvPr id="39" name="Rectangle 9">
              <a:extLst>
                <a:ext uri="{FF2B5EF4-FFF2-40B4-BE49-F238E27FC236}">
                  <a16:creationId xmlns:a16="http://schemas.microsoft.com/office/drawing/2014/main" id="{873A4255-63B4-4233-A33B-9A3993BBC422}"/>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0" name="Text Box 10">
              <a:extLst>
                <a:ext uri="{FF2B5EF4-FFF2-40B4-BE49-F238E27FC236}">
                  <a16:creationId xmlns:a16="http://schemas.microsoft.com/office/drawing/2014/main" id="{B80C17C2-D50D-4670-8AFB-E0453794DD9A}"/>
                </a:ext>
              </a:extLst>
            </p:cNvPr>
            <p:cNvSpPr txBox="1">
              <a:spLocks noChangeArrowheads="1"/>
            </p:cNvSpPr>
            <p:nvPr/>
          </p:nvSpPr>
          <p:spPr bwMode="auto">
            <a:xfrm>
              <a:off x="4120" y="2092"/>
              <a:ext cx="257"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41" name="Group 11">
            <a:extLst>
              <a:ext uri="{FF2B5EF4-FFF2-40B4-BE49-F238E27FC236}">
                <a16:creationId xmlns:a16="http://schemas.microsoft.com/office/drawing/2014/main" id="{01ED193E-265D-4029-8551-F31BAEA00094}"/>
              </a:ext>
            </a:extLst>
          </p:cNvPr>
          <p:cNvGrpSpPr>
            <a:grpSpLocks/>
          </p:cNvGrpSpPr>
          <p:nvPr/>
        </p:nvGrpSpPr>
        <p:grpSpPr bwMode="auto">
          <a:xfrm>
            <a:off x="8239125" y="2466975"/>
            <a:ext cx="463550" cy="576263"/>
            <a:chOff x="4085" y="2069"/>
            <a:chExt cx="292" cy="272"/>
          </a:xfrm>
        </p:grpSpPr>
        <p:sp>
          <p:nvSpPr>
            <p:cNvPr id="42" name="Rectangle 12">
              <a:extLst>
                <a:ext uri="{FF2B5EF4-FFF2-40B4-BE49-F238E27FC236}">
                  <a16:creationId xmlns:a16="http://schemas.microsoft.com/office/drawing/2014/main" id="{36C69A0C-2065-4418-9C3D-FA33A1B6BE65}"/>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lIns="167978"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3" name="Text Box 13">
              <a:extLst>
                <a:ext uri="{FF2B5EF4-FFF2-40B4-BE49-F238E27FC236}">
                  <a16:creationId xmlns:a16="http://schemas.microsoft.com/office/drawing/2014/main" id="{9ED4A45E-6870-4BF0-8FE1-91FA77538578}"/>
                </a:ext>
              </a:extLst>
            </p:cNvPr>
            <p:cNvSpPr txBox="1">
              <a:spLocks noChangeArrowheads="1"/>
            </p:cNvSpPr>
            <p:nvPr/>
          </p:nvSpPr>
          <p:spPr bwMode="auto">
            <a:xfrm>
              <a:off x="4085" y="2078"/>
              <a:ext cx="272" cy="237"/>
            </a:xfrm>
            <a:prstGeom prst="rect">
              <a:avLst/>
            </a:prstGeom>
            <a:noFill/>
            <a:ln w="9525">
              <a:noFill/>
              <a:miter lim="800000"/>
              <a:headEnd/>
              <a:tailEnd/>
            </a:ln>
          </p:spPr>
          <p:txBody>
            <a:bodyPr lIns="167978">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44" name="Group 14">
            <a:extLst>
              <a:ext uri="{FF2B5EF4-FFF2-40B4-BE49-F238E27FC236}">
                <a16:creationId xmlns:a16="http://schemas.microsoft.com/office/drawing/2014/main" id="{8CE8D3C7-4B9E-4245-AE86-3C178F881831}"/>
              </a:ext>
            </a:extLst>
          </p:cNvPr>
          <p:cNvGrpSpPr>
            <a:grpSpLocks/>
          </p:cNvGrpSpPr>
          <p:nvPr/>
        </p:nvGrpSpPr>
        <p:grpSpPr bwMode="auto">
          <a:xfrm>
            <a:off x="9097963" y="2466975"/>
            <a:ext cx="423862" cy="576263"/>
            <a:chOff x="4105" y="2069"/>
            <a:chExt cx="272" cy="272"/>
          </a:xfrm>
        </p:grpSpPr>
        <p:sp>
          <p:nvSpPr>
            <p:cNvPr id="45" name="Rectangle 15">
              <a:extLst>
                <a:ext uri="{FF2B5EF4-FFF2-40B4-BE49-F238E27FC236}">
                  <a16:creationId xmlns:a16="http://schemas.microsoft.com/office/drawing/2014/main" id="{09B84D61-2459-4A9D-9A40-86E950154C6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algn="ct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6" name="Text Box 16">
              <a:extLst>
                <a:ext uri="{FF2B5EF4-FFF2-40B4-BE49-F238E27FC236}">
                  <a16:creationId xmlns:a16="http://schemas.microsoft.com/office/drawing/2014/main" id="{7BC05803-7209-4DC0-A81F-9C38ECCC07B3}"/>
                </a:ext>
              </a:extLst>
            </p:cNvPr>
            <p:cNvSpPr txBox="1">
              <a:spLocks noChangeArrowheads="1"/>
            </p:cNvSpPr>
            <p:nvPr/>
          </p:nvSpPr>
          <p:spPr bwMode="auto">
            <a:xfrm>
              <a:off x="4129" y="2078"/>
              <a:ext cx="220"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grpSp>
        <p:nvGrpSpPr>
          <p:cNvPr id="47" name="Group 17">
            <a:extLst>
              <a:ext uri="{FF2B5EF4-FFF2-40B4-BE49-F238E27FC236}">
                <a16:creationId xmlns:a16="http://schemas.microsoft.com/office/drawing/2014/main" id="{6A2D6BA1-1D49-420E-8BEF-0AD3B621A417}"/>
              </a:ext>
            </a:extLst>
          </p:cNvPr>
          <p:cNvGrpSpPr>
            <a:grpSpLocks/>
          </p:cNvGrpSpPr>
          <p:nvPr/>
        </p:nvGrpSpPr>
        <p:grpSpPr bwMode="auto">
          <a:xfrm>
            <a:off x="3770313" y="2466975"/>
            <a:ext cx="431800" cy="576263"/>
            <a:chOff x="4105" y="2069"/>
            <a:chExt cx="272" cy="272"/>
          </a:xfrm>
        </p:grpSpPr>
        <p:sp>
          <p:nvSpPr>
            <p:cNvPr id="48" name="Rectangle 18">
              <a:extLst>
                <a:ext uri="{FF2B5EF4-FFF2-40B4-BE49-F238E27FC236}">
                  <a16:creationId xmlns:a16="http://schemas.microsoft.com/office/drawing/2014/main" id="{D59457E6-0DC9-441F-8FB2-D63246BF6DBF}"/>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9" name="Text Box 19">
              <a:extLst>
                <a:ext uri="{FF2B5EF4-FFF2-40B4-BE49-F238E27FC236}">
                  <a16:creationId xmlns:a16="http://schemas.microsoft.com/office/drawing/2014/main" id="{810AE46C-841C-4300-AE1A-153D644A1911}"/>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21512" name="Group 20">
            <a:extLst>
              <a:ext uri="{FF2B5EF4-FFF2-40B4-BE49-F238E27FC236}">
                <a16:creationId xmlns:a16="http://schemas.microsoft.com/office/drawing/2014/main" id="{6B4FF541-6C30-4EC4-889D-6F72A8B98549}"/>
              </a:ext>
            </a:extLst>
          </p:cNvPr>
          <p:cNvGrpSpPr>
            <a:grpSpLocks/>
          </p:cNvGrpSpPr>
          <p:nvPr/>
        </p:nvGrpSpPr>
        <p:grpSpPr bwMode="auto">
          <a:xfrm>
            <a:off x="4633913" y="2466975"/>
            <a:ext cx="431800" cy="576263"/>
            <a:chOff x="4105" y="2069"/>
            <a:chExt cx="272" cy="272"/>
          </a:xfrm>
        </p:grpSpPr>
        <p:sp>
          <p:nvSpPr>
            <p:cNvPr id="51" name="Rectangle 21">
              <a:extLst>
                <a:ext uri="{FF2B5EF4-FFF2-40B4-BE49-F238E27FC236}">
                  <a16:creationId xmlns:a16="http://schemas.microsoft.com/office/drawing/2014/main" id="{275A4EA2-F37B-4CE6-9C24-779D9F362D17}"/>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2" name="Text Box 22">
              <a:extLst>
                <a:ext uri="{FF2B5EF4-FFF2-40B4-BE49-F238E27FC236}">
                  <a16:creationId xmlns:a16="http://schemas.microsoft.com/office/drawing/2014/main" id="{BC90B785-6881-4F77-8CDB-8449661550E4}"/>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21513" name="Group 23">
            <a:extLst>
              <a:ext uri="{FF2B5EF4-FFF2-40B4-BE49-F238E27FC236}">
                <a16:creationId xmlns:a16="http://schemas.microsoft.com/office/drawing/2014/main" id="{42D2C3FB-BEA0-4DA9-AF2D-57521FF707A1}"/>
              </a:ext>
            </a:extLst>
          </p:cNvPr>
          <p:cNvGrpSpPr>
            <a:grpSpLocks/>
          </p:cNvGrpSpPr>
          <p:nvPr/>
        </p:nvGrpSpPr>
        <p:grpSpPr bwMode="auto">
          <a:xfrm>
            <a:off x="2185988" y="2466975"/>
            <a:ext cx="431800" cy="576263"/>
            <a:chOff x="4105" y="2069"/>
            <a:chExt cx="272" cy="272"/>
          </a:xfrm>
        </p:grpSpPr>
        <p:sp>
          <p:nvSpPr>
            <p:cNvPr id="54" name="Rectangle 24">
              <a:extLst>
                <a:ext uri="{FF2B5EF4-FFF2-40B4-BE49-F238E27FC236}">
                  <a16:creationId xmlns:a16="http://schemas.microsoft.com/office/drawing/2014/main" id="{860D4F3D-E8D2-4187-983B-4B42BA0DE4FB}"/>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5" name="Text Box 25">
              <a:extLst>
                <a:ext uri="{FF2B5EF4-FFF2-40B4-BE49-F238E27FC236}">
                  <a16:creationId xmlns:a16="http://schemas.microsoft.com/office/drawing/2014/main" id="{180D73C3-8240-46EF-8F48-9118708A658E}"/>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sp>
        <p:nvSpPr>
          <p:cNvPr id="56" name="Line 26">
            <a:extLst>
              <a:ext uri="{FF2B5EF4-FFF2-40B4-BE49-F238E27FC236}">
                <a16:creationId xmlns:a16="http://schemas.microsoft.com/office/drawing/2014/main" id="{AB39BE5B-1928-48CB-8276-6A52F25380B9}"/>
              </a:ext>
            </a:extLst>
          </p:cNvPr>
          <p:cNvSpPr>
            <a:spLocks noChangeShapeType="1"/>
          </p:cNvSpPr>
          <p:nvPr/>
        </p:nvSpPr>
        <p:spPr bwMode="auto">
          <a:xfrm flipV="1">
            <a:off x="2424113" y="3032125"/>
            <a:ext cx="0" cy="671513"/>
          </a:xfrm>
          <a:prstGeom prst="line">
            <a:avLst/>
          </a:prstGeom>
          <a:noFill/>
          <a:ln w="635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1515" name="Group 27">
            <a:extLst>
              <a:ext uri="{FF2B5EF4-FFF2-40B4-BE49-F238E27FC236}">
                <a16:creationId xmlns:a16="http://schemas.microsoft.com/office/drawing/2014/main" id="{60709AEF-0757-48F3-AE91-92A0FF782632}"/>
              </a:ext>
            </a:extLst>
          </p:cNvPr>
          <p:cNvGrpSpPr>
            <a:grpSpLocks/>
          </p:cNvGrpSpPr>
          <p:nvPr/>
        </p:nvGrpSpPr>
        <p:grpSpPr bwMode="auto">
          <a:xfrm>
            <a:off x="2978150" y="2466975"/>
            <a:ext cx="431800" cy="576263"/>
            <a:chOff x="4105" y="2069"/>
            <a:chExt cx="272" cy="272"/>
          </a:xfrm>
        </p:grpSpPr>
        <p:sp>
          <p:nvSpPr>
            <p:cNvPr id="58" name="Rectangle 28">
              <a:extLst>
                <a:ext uri="{FF2B5EF4-FFF2-40B4-BE49-F238E27FC236}">
                  <a16:creationId xmlns:a16="http://schemas.microsoft.com/office/drawing/2014/main" id="{612FC41E-9A62-4DB7-8A2C-AC5A6D6F9186}"/>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9" name="Text Box 29">
              <a:extLst>
                <a:ext uri="{FF2B5EF4-FFF2-40B4-BE49-F238E27FC236}">
                  <a16:creationId xmlns:a16="http://schemas.microsoft.com/office/drawing/2014/main" id="{070F95FF-673C-4340-A049-20713E024047}"/>
                </a:ext>
              </a:extLst>
            </p:cNvPr>
            <p:cNvSpPr txBox="1">
              <a:spLocks noChangeArrowheads="1"/>
            </p:cNvSpPr>
            <p:nvPr/>
          </p:nvSpPr>
          <p:spPr bwMode="auto">
            <a:xfrm>
              <a:off x="4105" y="2092"/>
              <a:ext cx="256"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grpSp>
        <p:nvGrpSpPr>
          <p:cNvPr id="60" name="Group 30">
            <a:extLst>
              <a:ext uri="{FF2B5EF4-FFF2-40B4-BE49-F238E27FC236}">
                <a16:creationId xmlns:a16="http://schemas.microsoft.com/office/drawing/2014/main" id="{BE5F69CD-7354-4649-8795-57B0E3C64A56}"/>
              </a:ext>
            </a:extLst>
          </p:cNvPr>
          <p:cNvGrpSpPr>
            <a:grpSpLocks/>
          </p:cNvGrpSpPr>
          <p:nvPr/>
        </p:nvGrpSpPr>
        <p:grpSpPr bwMode="auto">
          <a:xfrm>
            <a:off x="9926638" y="2466975"/>
            <a:ext cx="431800" cy="576263"/>
            <a:chOff x="4105" y="2069"/>
            <a:chExt cx="272" cy="272"/>
          </a:xfrm>
        </p:grpSpPr>
        <p:sp>
          <p:nvSpPr>
            <p:cNvPr id="61" name="Rectangle 31">
              <a:extLst>
                <a:ext uri="{FF2B5EF4-FFF2-40B4-BE49-F238E27FC236}">
                  <a16:creationId xmlns:a16="http://schemas.microsoft.com/office/drawing/2014/main" id="{8031B276-9A8A-4EE4-B34E-0F4552C46AB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62" name="Text Box 32">
              <a:extLst>
                <a:ext uri="{FF2B5EF4-FFF2-40B4-BE49-F238E27FC236}">
                  <a16:creationId xmlns:a16="http://schemas.microsoft.com/office/drawing/2014/main" id="{60B143AC-2021-4F25-8A86-33FE24B15997}"/>
                </a:ext>
              </a:extLst>
            </p:cNvPr>
            <p:cNvSpPr txBox="1">
              <a:spLocks noChangeArrowheads="1"/>
            </p:cNvSpPr>
            <p:nvPr/>
          </p:nvSpPr>
          <p:spPr bwMode="auto">
            <a:xfrm>
              <a:off x="4105" y="2080"/>
              <a:ext cx="264"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sp>
        <p:nvSpPr>
          <p:cNvPr id="2" name="任意多边形: 形状 9">
            <a:extLst>
              <a:ext uri="{FF2B5EF4-FFF2-40B4-BE49-F238E27FC236}">
                <a16:creationId xmlns:a16="http://schemas.microsoft.com/office/drawing/2014/main" id="{BBA97AD8-1233-654A-0D47-AED63D329175}"/>
              </a:ext>
            </a:extLst>
          </p:cNvPr>
          <p:cNvSpPr/>
          <p:nvPr/>
        </p:nvSpPr>
        <p:spPr>
          <a:xfrm>
            <a:off x="7768308" y="4393228"/>
            <a:ext cx="2577430" cy="1116369"/>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r>
              <a:rPr lang="zh-CN" altLang="en-US" sz="2400" kern="1200" dirty="0">
                <a:solidFill>
                  <a:schemeClr val="bg1"/>
                </a:solidFill>
                <a:latin typeface="微软雅黑" panose="020B0503020204020204" pitchFamily="34" charset="-122"/>
                <a:ea typeface="微软雅黑" panose="020B0503020204020204" pitchFamily="34" charset="-122"/>
              </a:rPr>
              <a:t>栈顶元素不同且无可入栈元素</a:t>
            </a:r>
            <a:endParaRPr lang="en-US" altLang="zh-CN" sz="2400" kern="1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1187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03776 0.05972 C -0.02266 0.05857 -0.08295 0.0581 -0.10938 0.12338 C -0.13568 0.18958 -0.12878 0.32222 -0.12136 0.45532 " pathEditMode="relative" rAng="0" ptsTypes="AAA">
                                      <p:cBhvr>
                                        <p:cTn id="6" dur="500" fill="hold"/>
                                        <p:tgtEl>
                                          <p:spTgt spid="38"/>
                                        </p:tgtEl>
                                        <p:attrNameLst>
                                          <p:attrName>ppt_x</p:attrName>
                                          <p:attrName>ppt_y</p:attrName>
                                        </p:attrNameLst>
                                      </p:cBhvr>
                                      <p:rCtr x="-8294" y="19745"/>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mph" presetSubtype="0" fill="hold" nodeType="clickEffect">
                                  <p:stCondLst>
                                    <p:cond delay="0"/>
                                  </p:stCondLst>
                                  <p:childTnLst>
                                    <p:animEffect transition="out" filter="fade">
                                      <p:cBhvr>
                                        <p:cTn id="10" dur="4000" tmFilter="0, 0; .2, .5; .8, .5; 1, 0"/>
                                        <p:tgtEl>
                                          <p:spTgt spid="56"/>
                                        </p:tgtEl>
                                      </p:cBhvr>
                                    </p:animEffect>
                                    <p:animScale>
                                      <p:cBhvr>
                                        <p:cTn id="11" dur="2000" autoRev="1" fill="hold"/>
                                        <p:tgtEl>
                                          <p:spTgt spid="56"/>
                                        </p:tgtEl>
                                      </p:cBhvr>
                                      <p:by x="105000" y="105000"/>
                                    </p:animScale>
                                  </p:childTnLst>
                                </p:cTn>
                              </p:par>
                            </p:childTnLst>
                          </p:cTn>
                        </p:par>
                      </p:childTnLst>
                    </p:cTn>
                  </p:par>
                  <p:par>
                    <p:cTn id="12" fill="hold" nodeType="clickPar">
                      <p:stCondLst>
                        <p:cond delay="indefinite"/>
                      </p:stCondLst>
                      <p:childTnLst>
                        <p:par>
                          <p:cTn id="13" fill="hold" nodeType="withGroup">
                            <p:stCondLst>
                              <p:cond delay="0"/>
                            </p:stCondLst>
                            <p:childTnLst>
                              <p:par>
                                <p:cTn id="14" presetID="0" presetClass="path" presetSubtype="0" accel="50000" decel="50000" fill="hold" nodeType="clickEffect">
                                  <p:stCondLst>
                                    <p:cond delay="0"/>
                                  </p:stCondLst>
                                  <p:childTnLst>
                                    <p:animMotion origin="layout" path="M 0.06966 -0.00255 C -0.02956 -0.01782 -0.12838 -0.03241 -0.17122 0.02824 C -0.2138 0.09051 -0.18528 0.31296 -0.18789 0.3713 " pathEditMode="relative" rAng="0" ptsTypes="AAA">
                                      <p:cBhvr>
                                        <p:cTn id="15" dur="500" fill="hold"/>
                                        <p:tgtEl>
                                          <p:spTgt spid="41"/>
                                        </p:tgtEl>
                                        <p:attrNameLst>
                                          <p:attrName>ppt_x</p:attrName>
                                          <p:attrName>ppt_y</p:attrName>
                                        </p:attrNameLst>
                                      </p:cBhvr>
                                      <p:rCtr x="-13229" y="18009"/>
                                    </p:animMotion>
                                  </p:childTnLst>
                                </p:cTn>
                              </p:par>
                            </p:childTnLst>
                          </p:cTn>
                        </p:par>
                      </p:childTnLst>
                    </p:cTn>
                  </p:par>
                  <p:par>
                    <p:cTn id="16" fill="hold" nodeType="clickPar">
                      <p:stCondLst>
                        <p:cond delay="indefinite"/>
                      </p:stCondLst>
                      <p:childTnLst>
                        <p:par>
                          <p:cTn id="17" fill="hold" nodeType="withGroup">
                            <p:stCondLst>
                              <p:cond delay="0"/>
                            </p:stCondLst>
                            <p:childTnLst>
                              <p:par>
                                <p:cTn id="18" presetID="26" presetClass="emph" presetSubtype="0" fill="hold" nodeType="clickEffect">
                                  <p:stCondLst>
                                    <p:cond delay="0"/>
                                  </p:stCondLst>
                                  <p:childTnLst>
                                    <p:animEffect transition="out" filter="fade">
                                      <p:cBhvr>
                                        <p:cTn id="19" dur="4000" tmFilter="0, 0; .2, .5; .8, .5; 1, 0"/>
                                        <p:tgtEl>
                                          <p:spTgt spid="56"/>
                                        </p:tgtEl>
                                      </p:cBhvr>
                                    </p:animEffect>
                                    <p:animScale>
                                      <p:cBhvr>
                                        <p:cTn id="20" dur="2000" autoRev="1" fill="hold"/>
                                        <p:tgtEl>
                                          <p:spTgt spid="56"/>
                                        </p:tgtEl>
                                      </p:cBhvr>
                                      <p:by x="105000" y="105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0" presetClass="path" presetSubtype="0" accel="50000" decel="50000" fill="hold" nodeType="clickEffect">
                                  <p:stCondLst>
                                    <p:cond delay="0"/>
                                  </p:stCondLst>
                                  <p:childTnLst>
                                    <p:animMotion origin="layout" path="M 0.10078 0.02314 C -0.0487 0.00463 -0.19791 -0.0132 -0.25729 0.03263 C -0.31653 0.07916 -0.28607 0.19027 -0.25534 0.30208 " pathEditMode="relative" rAng="0" ptsTypes="AAA">
                                      <p:cBhvr>
                                        <p:cTn id="24" dur="500" fill="hold"/>
                                        <p:tgtEl>
                                          <p:spTgt spid="44"/>
                                        </p:tgtEl>
                                        <p:attrNameLst>
                                          <p:attrName>ppt_x</p:attrName>
                                          <p:attrName>ppt_y</p:attrName>
                                        </p:attrNameLst>
                                      </p:cBhvr>
                                      <p:rCtr x="-19596" y="12963"/>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26" presetClass="emph" presetSubtype="0" fill="hold" nodeType="clickEffect">
                                  <p:stCondLst>
                                    <p:cond delay="0"/>
                                  </p:stCondLst>
                                  <p:childTnLst>
                                    <p:animEffect transition="out" filter="fade">
                                      <p:cBhvr>
                                        <p:cTn id="28" dur="1500" tmFilter="0, 0; .2, .5; .8, .5; 1, 0"/>
                                        <p:tgtEl>
                                          <p:spTgt spid="56"/>
                                        </p:tgtEl>
                                      </p:cBhvr>
                                    </p:animEffect>
                                    <p:animScale>
                                      <p:cBhvr>
                                        <p:cTn id="29" dur="750" autoRev="1" fill="hold"/>
                                        <p:tgtEl>
                                          <p:spTgt spid="56"/>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0" presetClass="path" presetSubtype="0" accel="50000" decel="50000" fill="hold" nodeType="clickEffect">
                                  <p:stCondLst>
                                    <p:cond delay="0"/>
                                  </p:stCondLst>
                                  <p:childTnLst>
                                    <p:animMotion origin="layout" path="M -0.25534 0.30208 L -0.56654 0.31898 " pathEditMode="relative" rAng="0" ptsTypes="AA">
                                      <p:cBhvr>
                                        <p:cTn id="33" dur="500" fill="hold"/>
                                        <p:tgtEl>
                                          <p:spTgt spid="44"/>
                                        </p:tgtEl>
                                        <p:attrNameLst>
                                          <p:attrName>ppt_x</p:attrName>
                                          <p:attrName>ppt_y</p:attrName>
                                        </p:attrNameLst>
                                      </p:cBhvr>
                                      <p:rCtr x="-15560" y="833"/>
                                    </p:animMotion>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nodeType="clickEffect">
                                  <p:stCondLst>
                                    <p:cond delay="0"/>
                                  </p:stCondLst>
                                  <p:childTnLst>
                                    <p:animMotion origin="layout" path="M -4.79167E-6 -1.48148E-6 L 0.05691 0.00301 " pathEditMode="relative" rAng="0" ptsTypes="AA">
                                      <p:cBhvr>
                                        <p:cTn id="37" dur="1000" fill="hold"/>
                                        <p:tgtEl>
                                          <p:spTgt spid="56"/>
                                        </p:tgtEl>
                                        <p:attrNameLst>
                                          <p:attrName>ppt_x</p:attrName>
                                          <p:attrName>ppt_y</p:attrName>
                                        </p:attrNameLst>
                                      </p:cBhvr>
                                      <p:rCtr x="2839" y="139"/>
                                    </p:animMotion>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nodeType="clickEffect">
                                  <p:stCondLst>
                                    <p:cond delay="0"/>
                                  </p:stCondLst>
                                  <p:childTnLst>
                                    <p:animMotion origin="layout" path="M 0.1112 0.06736 C -0.0862 0.04121 -0.28346 0.01482 -0.35586 0.05394 C -0.42825 0.09283 -0.37617 0.19722 -0.3237 0.30209 " pathEditMode="relative" rAng="0" ptsTypes="AAA">
                                      <p:cBhvr>
                                        <p:cTn id="41" dur="500" fill="hold"/>
                                        <p:tgtEl>
                                          <p:spTgt spid="60"/>
                                        </p:tgtEl>
                                        <p:attrNameLst>
                                          <p:attrName>ppt_x</p:attrName>
                                          <p:attrName>ppt_y</p:attrName>
                                        </p:attrNameLst>
                                      </p:cBhvr>
                                      <p:rCtr x="-25143" y="10069"/>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26" presetClass="emph" presetSubtype="0" fill="hold" nodeType="clickEffect">
                                  <p:stCondLst>
                                    <p:cond delay="0"/>
                                  </p:stCondLst>
                                  <p:childTnLst>
                                    <p:animEffect transition="out" filter="fade">
                                      <p:cBhvr>
                                        <p:cTn id="45" dur="4000" tmFilter="0, 0; .2, .5; .8, .5; 1, 0"/>
                                        <p:tgtEl>
                                          <p:spTgt spid="56"/>
                                        </p:tgtEl>
                                      </p:cBhvr>
                                    </p:animEffect>
                                    <p:animScale>
                                      <p:cBhvr>
                                        <p:cTn id="46" dur="2000" autoRev="1" fill="hold"/>
                                        <p:tgtEl>
                                          <p:spTgt spid="56"/>
                                        </p:tgtEl>
                                      </p:cBhvr>
                                      <p:by x="105000" y="105000"/>
                                    </p:animScale>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nodeType="clickEffect">
                                  <p:stCondLst>
                                    <p:cond delay="0"/>
                                  </p:stCondLst>
                                  <p:childTnLst>
                                    <p:animMotion origin="layout" path="M -0.3237 0.30209 L -0.57995 0.31921 " pathEditMode="relative" rAng="0" ptsTypes="AA">
                                      <p:cBhvr>
                                        <p:cTn id="50" dur="500" fill="hold"/>
                                        <p:tgtEl>
                                          <p:spTgt spid="60"/>
                                        </p:tgtEl>
                                        <p:attrNameLst>
                                          <p:attrName>ppt_x</p:attrName>
                                          <p:attrName>ppt_y</p:attrName>
                                        </p:attrNameLst>
                                      </p:cBhvr>
                                      <p:rCtr x="-12812" y="856"/>
                                    </p:animMotion>
                                  </p:childTnLst>
                                </p:cTn>
                              </p:par>
                            </p:childTnLst>
                          </p:cTn>
                        </p:par>
                      </p:childTnLst>
                    </p:cTn>
                  </p:par>
                  <p:par>
                    <p:cTn id="51" fill="hold" nodeType="clickPar">
                      <p:stCondLst>
                        <p:cond delay="indefinite"/>
                      </p:stCondLst>
                      <p:childTnLst>
                        <p:par>
                          <p:cTn id="52" fill="hold" nodeType="withGroup">
                            <p:stCondLst>
                              <p:cond delay="0"/>
                            </p:stCondLst>
                            <p:childTnLst>
                              <p:par>
                                <p:cTn id="53" presetID="63" presetClass="path" presetSubtype="0" accel="50000" decel="50000" fill="hold" nodeType="clickEffect">
                                  <p:stCondLst>
                                    <p:cond delay="0"/>
                                  </p:stCondLst>
                                  <p:childTnLst>
                                    <p:animMotion origin="layout" path="M 0.0901 0.00162 L 0.13177 -0.00324 " pathEditMode="relative" rAng="0" ptsTypes="AA">
                                      <p:cBhvr>
                                        <p:cTn id="54" dur="500" fill="hold"/>
                                        <p:tgtEl>
                                          <p:spTgt spid="56"/>
                                        </p:tgtEl>
                                        <p:attrNameLst>
                                          <p:attrName>ppt_x</p:attrName>
                                          <p:attrName>ppt_y</p:attrName>
                                        </p:attrNameLst>
                                      </p:cBhvr>
                                      <p:rCtr x="3047" y="-93"/>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6" presetClass="emph" presetSubtype="0" fill="hold" nodeType="clickEffect">
                                  <p:stCondLst>
                                    <p:cond delay="0"/>
                                  </p:stCondLst>
                                  <p:childTnLst>
                                    <p:animScale>
                                      <p:cBhvr>
                                        <p:cTn id="58" dur="500" fill="hold"/>
                                        <p:tgtEl>
                                          <p:spTgt spid="41"/>
                                        </p:tgtEl>
                                      </p:cBhvr>
                                      <p:by x="150000" y="150000"/>
                                    </p:animScale>
                                  </p:childTnLst>
                                </p:cTn>
                              </p:par>
                            </p:childTnLst>
                          </p:cTn>
                        </p:par>
                      </p:childTnLst>
                    </p:cTn>
                  </p:par>
                  <p:par>
                    <p:cTn id="59" fill="hold" nodeType="clickPar">
                      <p:stCondLst>
                        <p:cond delay="indefinite"/>
                      </p:stCondLst>
                      <p:childTnLst>
                        <p:par>
                          <p:cTn id="60" fill="hold" nodeType="withGroup">
                            <p:stCondLst>
                              <p:cond delay="0"/>
                            </p:stCondLst>
                            <p:childTnLst>
                              <p:par>
                                <p:cTn id="61" presetID="6" presetClass="emph" presetSubtype="0" fill="hold" nodeType="clickEffect">
                                  <p:stCondLst>
                                    <p:cond delay="0"/>
                                  </p:stCondLst>
                                  <p:childTnLst>
                                    <p:animScale>
                                      <p:cBhvr>
                                        <p:cTn id="62" dur="2000" fill="hold"/>
                                        <p:tgtEl>
                                          <p:spTgt spid="47"/>
                                        </p:tgtEl>
                                      </p:cBhvr>
                                      <p:by x="150000" y="150000"/>
                                    </p:animScale>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checkerboard(across)">
                                      <p:cBhvr>
                                        <p:cTn id="6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0FFCC5FA-4034-B7F4-7C9B-5FFB0E450589}"/>
              </a:ext>
            </a:extLst>
          </p:cNvPr>
          <p:cNvGrpSpPr/>
          <p:nvPr>
            <p:custDataLst>
              <p:tags r:id="rId2"/>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35BF223A-579D-5716-E6C1-1B2BDD6DDF45}"/>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DF2DF138-4916-0E3C-877F-CF13EE9A7D9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A4453A4C-89DF-8114-A13F-8F02A31C7C0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1" name="TipText">
              <a:extLst>
                <a:ext uri="{FF2B5EF4-FFF2-40B4-BE49-F238E27FC236}">
                  <a16:creationId xmlns:a16="http://schemas.microsoft.com/office/drawing/2014/main" id="{79BE7C07-5365-8EF6-D011-92F0C66C9468}"/>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sp>
        <p:nvSpPr>
          <p:cNvPr id="13" name="文本框 12">
            <a:extLst>
              <a:ext uri="{FF2B5EF4-FFF2-40B4-BE49-F238E27FC236}">
                <a16:creationId xmlns:a16="http://schemas.microsoft.com/office/drawing/2014/main" id="{BF8D5F04-6478-4DDB-60E1-66EC00A36122}"/>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出栈顺序：</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，则下面哪些序列是</a:t>
            </a:r>
            <a:r>
              <a:rPr kumimoji="1"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无效</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的出栈顺序：</a:t>
            </a:r>
          </a:p>
        </p:txBody>
      </p:sp>
      <p:sp>
        <p:nvSpPr>
          <p:cNvPr id="14" name="文本框 13">
            <a:extLst>
              <a:ext uri="{FF2B5EF4-FFF2-40B4-BE49-F238E27FC236}">
                <a16:creationId xmlns:a16="http://schemas.microsoft.com/office/drawing/2014/main" id="{0F133918-7BE2-CC68-484F-A5A83F02479D}"/>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4321</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文本框 14">
            <a:extLst>
              <a:ext uri="{FF2B5EF4-FFF2-40B4-BE49-F238E27FC236}">
                <a16:creationId xmlns:a16="http://schemas.microsoft.com/office/drawing/2014/main" id="{39C55540-D31F-91D2-B7CD-0866ED363D60}"/>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1423</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文本框 15">
            <a:extLst>
              <a:ext uri="{FF2B5EF4-FFF2-40B4-BE49-F238E27FC236}">
                <a16:creationId xmlns:a16="http://schemas.microsoft.com/office/drawing/2014/main" id="{7D94FC7B-642A-C1B5-538F-21E10B93D310}"/>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3124</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004C374C-473B-8035-A696-46EF76A05477}"/>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2143</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17">
            <a:extLst>
              <a:ext uri="{FF2B5EF4-FFF2-40B4-BE49-F238E27FC236}">
                <a16:creationId xmlns:a16="http://schemas.microsoft.com/office/drawing/2014/main" id="{837984FC-48B9-252D-2608-CE113E028430}"/>
              </a:ext>
            </a:extLst>
          </p:cNvPr>
          <p:cNvSpPr>
            <a:spLocks noChangeAspect="1"/>
          </p:cNvSpPr>
          <p:nvPr>
            <p:custDataLst>
              <p:tags r:id="rId8"/>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矩形 18">
            <a:extLst>
              <a:ext uri="{FF2B5EF4-FFF2-40B4-BE49-F238E27FC236}">
                <a16:creationId xmlns:a16="http://schemas.microsoft.com/office/drawing/2014/main" id="{58522A95-A86C-34B4-BA11-2CBF6CC51E54}"/>
              </a:ext>
            </a:extLst>
          </p:cNvPr>
          <p:cNvSpPr>
            <a:spLocks noChangeAspect="1"/>
          </p:cNvSpPr>
          <p:nvPr>
            <p:custDataLst>
              <p:tags r:id="rId9"/>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矩形 19">
            <a:extLst>
              <a:ext uri="{FF2B5EF4-FFF2-40B4-BE49-F238E27FC236}">
                <a16:creationId xmlns:a16="http://schemas.microsoft.com/office/drawing/2014/main" id="{49CA530B-96E1-3D20-3EAE-FDD7348459A3}"/>
              </a:ext>
            </a:extLst>
          </p:cNvPr>
          <p:cNvSpPr>
            <a:spLocks noChangeAspect="1"/>
          </p:cNvSpPr>
          <p:nvPr>
            <p:custDataLst>
              <p:tags r:id="rId10"/>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矩形 20">
            <a:extLst>
              <a:ext uri="{FF2B5EF4-FFF2-40B4-BE49-F238E27FC236}">
                <a16:creationId xmlns:a16="http://schemas.microsoft.com/office/drawing/2014/main" id="{91F7C4C3-CFC3-E9F6-CA2E-3BEC973AED12}"/>
              </a:ext>
            </a:extLst>
          </p:cNvPr>
          <p:cNvSpPr>
            <a:spLocks noChangeAspect="1"/>
          </p:cNvSpPr>
          <p:nvPr>
            <p:custDataLst>
              <p:tags r:id="rId11"/>
            </p:custDataLst>
          </p:nvPr>
        </p:nvSpPr>
        <p:spPr>
          <a:xfrm>
            <a:off x="1571625" y="542210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51DCF8C6-2ADE-38EC-75B5-DA9B5AC96152}"/>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7" name="图片 6">
            <a:extLst>
              <a:ext uri="{FF2B5EF4-FFF2-40B4-BE49-F238E27FC236}">
                <a16:creationId xmlns:a16="http://schemas.microsoft.com/office/drawing/2014/main" id="{4FC21AC1-F269-F49E-463B-743034AC44ED}"/>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53736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2658B6B-0884-4DC9-8536-534D885F74FC}"/>
              </a:ext>
            </a:extLst>
          </p:cNvPr>
          <p:cNvSpPr>
            <a:spLocks noGrp="1"/>
          </p:cNvSpPr>
          <p:nvPr>
            <p:ph type="title"/>
          </p:nvPr>
        </p:nvSpPr>
        <p:spPr/>
        <p:txBody>
          <a:bodyPr vert="horz" wrap="square" lIns="91440" tIns="45720" rIns="91440" bIns="45720" numCol="1" anchor="t" anchorCtr="0" compatLnSpc="1">
            <a:prstTxWarp prst="textNoShape">
              <a:avLst/>
            </a:prstTxWarp>
            <a:normAutofit/>
          </a:bodyPr>
          <a:lstStyle/>
          <a:p>
            <a:pPr>
              <a:defRPr/>
            </a:pPr>
            <a:r>
              <a:t>思考</a:t>
            </a:r>
          </a:p>
        </p:txBody>
      </p:sp>
      <p:sp>
        <p:nvSpPr>
          <p:cNvPr id="7" name="副标题 6">
            <a:extLst>
              <a:ext uri="{FF2B5EF4-FFF2-40B4-BE49-F238E27FC236}">
                <a16:creationId xmlns:a16="http://schemas.microsoft.com/office/drawing/2014/main" id="{0ADB03F4-36F4-4D45-81F6-BA03062C23DD}"/>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5AEAE707-3135-42EA-8C2F-6E393D8C64FF}"/>
              </a:ext>
            </a:extLst>
          </p:cNvPr>
          <p:cNvSpPr>
            <a:spLocks noGrp="1"/>
          </p:cNvSpPr>
          <p:nvPr>
            <p:ph type="body" idx="10"/>
          </p:nvPr>
        </p:nvSpPr>
        <p:spPr/>
        <p:txBody>
          <a:bodyPr/>
          <a:lstStyle/>
          <a:p>
            <a:endParaRPr lang="zh-CN" altLang="en-US"/>
          </a:p>
        </p:txBody>
      </p:sp>
      <p:sp>
        <p:nvSpPr>
          <p:cNvPr id="26626" name="内容占位符 3">
            <a:extLst>
              <a:ext uri="{FF2B5EF4-FFF2-40B4-BE49-F238E27FC236}">
                <a16:creationId xmlns:a16="http://schemas.microsoft.com/office/drawing/2014/main" id="{D01D85D7-92FE-4F69-BE72-8EA381ACAEDD}"/>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73088" indent="-436563" eaLnBrk="1" hangingPunct="1">
              <a:lnSpc>
                <a:spcPct val="130000"/>
              </a:lnSpc>
            </a:pPr>
            <a:r>
              <a:rPr lang="zh-CN" altLang="en-US" dirty="0"/>
              <a:t>给定一个入栈序列，序列长度为</a:t>
            </a:r>
            <a:r>
              <a:rPr lang="en-US" altLang="zh-CN" dirty="0"/>
              <a:t>N</a:t>
            </a:r>
            <a:r>
              <a:rPr lang="zh-CN" altLang="en-US" dirty="0"/>
              <a:t>，计算有多少种合法的出栈序列？</a:t>
            </a:r>
            <a:endParaRPr lang="en-US" altLang="zh-CN" dirty="0"/>
          </a:p>
          <a:p>
            <a:pPr marL="573088" indent="-436563">
              <a:lnSpc>
                <a:spcPct val="130000"/>
              </a:lnSpc>
            </a:pPr>
            <a:r>
              <a:rPr lang="zh-CN" altLang="en-US" b="1" dirty="0"/>
              <a:t>经典面试题</a:t>
            </a:r>
            <a:r>
              <a:rPr lang="zh-CN" altLang="en-US" dirty="0"/>
              <a:t>：给定一个入栈序列，和一个出栈序列，请你写出一个程序，判定出栈序列是否合法？</a:t>
            </a:r>
            <a:endParaRPr lang="en-US" altLang="zh-CN" dirty="0"/>
          </a:p>
          <a:p>
            <a:pPr marL="136525" indent="0" eaLnBrk="1" hangingPunct="1">
              <a:lnSpc>
                <a:spcPct val="130000"/>
              </a:lnSpc>
              <a:buNone/>
            </a:pPr>
            <a:endParaRPr lang="en-US" altLang="zh-CN" dirty="0"/>
          </a:p>
          <a:p>
            <a:pPr marL="573088" indent="-436563"/>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7F6DD-C1FC-4C01-AB04-CC8958BE78AA}"/>
              </a:ext>
            </a:extLst>
          </p:cNvPr>
          <p:cNvSpPr>
            <a:spLocks noGrp="1"/>
          </p:cNvSpPr>
          <p:nvPr>
            <p:ph type="title"/>
          </p:nvPr>
        </p:nvSpPr>
        <p:spPr/>
        <p:txBody>
          <a:bodyPr>
            <a:normAutofit/>
          </a:bodyPr>
          <a:lstStyle/>
          <a:p>
            <a:pPr>
              <a:defRPr/>
            </a:pPr>
            <a:r>
              <a:t>思考</a:t>
            </a:r>
          </a:p>
        </p:txBody>
      </p:sp>
      <p:sp>
        <p:nvSpPr>
          <p:cNvPr id="13" name="副标题 12">
            <a:extLst>
              <a:ext uri="{FF2B5EF4-FFF2-40B4-BE49-F238E27FC236}">
                <a16:creationId xmlns:a16="http://schemas.microsoft.com/office/drawing/2014/main" id="{B67528A6-B72B-4999-B8CA-7669383D4ECE}"/>
              </a:ext>
            </a:extLst>
          </p:cNvPr>
          <p:cNvSpPr>
            <a:spLocks noGrp="1"/>
          </p:cNvSpPr>
          <p:nvPr>
            <p:ph type="subTitle" idx="1"/>
          </p:nvPr>
        </p:nvSpPr>
        <p:spPr/>
        <p:txBody>
          <a:bodyPr/>
          <a:lstStyle/>
          <a:p>
            <a:endParaRPr lang="zh-CN" altLang="en-US"/>
          </a:p>
        </p:txBody>
      </p:sp>
      <p:sp>
        <p:nvSpPr>
          <p:cNvPr id="15" name="文本占位符 14">
            <a:extLst>
              <a:ext uri="{FF2B5EF4-FFF2-40B4-BE49-F238E27FC236}">
                <a16:creationId xmlns:a16="http://schemas.microsoft.com/office/drawing/2014/main" id="{367F1F97-001E-4594-81F9-62FE6EBDD5C4}"/>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E35F3B57-B6D0-4BE0-9C68-5DC5B22E52F5}"/>
              </a:ext>
            </a:extLst>
          </p:cNvPr>
          <p:cNvSpPr>
            <a:spLocks noGrp="1"/>
          </p:cNvSpPr>
          <p:nvPr>
            <p:ph idx="11"/>
          </p:nvPr>
        </p:nvSpPr>
        <p:spPr>
          <a:xfrm>
            <a:off x="584225" y="1083906"/>
            <a:ext cx="11055325" cy="5057775"/>
          </a:xfrm>
          <a:ln>
            <a:solidFill>
              <a:schemeClr val="bg1">
                <a:lumMod val="85000"/>
              </a:schemeClr>
            </a:solidFill>
          </a:ln>
        </p:spPr>
        <p:txBody>
          <a:bodyPr vert="horz" wrap="square" lIns="91440" tIns="45720" rIns="91440" bIns="45720" numCol="1" anchor="t" anchorCtr="0" compatLnSpc="1">
            <a:prstTxWarp prst="textNoShape">
              <a:avLst/>
            </a:prstTxWarp>
          </a:bodyPr>
          <a:lstStyle/>
          <a:p>
            <a:pPr marL="341313" indent="-341313"/>
            <a:r>
              <a:rPr lang="zh-CN" altLang="en-US" dirty="0"/>
              <a:t>给定一个入栈序列，序列长度为</a:t>
            </a:r>
            <a:r>
              <a:rPr lang="en-US" altLang="zh-CN" dirty="0"/>
              <a:t>N</a:t>
            </a:r>
            <a:r>
              <a:rPr lang="zh-CN" altLang="en-US" dirty="0"/>
              <a:t>，请问有多少种出栈序列？</a:t>
            </a:r>
          </a:p>
        </p:txBody>
      </p:sp>
      <mc:AlternateContent xmlns:mc="http://schemas.openxmlformats.org/markup-compatibility/2006" xmlns:a14="http://schemas.microsoft.com/office/drawing/2010/main">
        <mc:Choice Requires="a14">
          <p:sp>
            <p:nvSpPr>
              <p:cNvPr id="4" name="任意多边形: 形状 9">
                <a:extLst>
                  <a:ext uri="{FF2B5EF4-FFF2-40B4-BE49-F238E27FC236}">
                    <a16:creationId xmlns:a16="http://schemas.microsoft.com/office/drawing/2014/main" id="{4FCB11F8-CE71-8095-CB0A-5734827D0ED1}"/>
                  </a:ext>
                </a:extLst>
              </p:cNvPr>
              <p:cNvSpPr/>
              <p:nvPr/>
            </p:nvSpPr>
            <p:spPr>
              <a:xfrm>
                <a:off x="979269" y="1601343"/>
                <a:ext cx="5013569"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r>
                  <a:rPr kumimoji="1" lang="zh-CN" altLang="en-US" sz="2400" dirty="0">
                    <a:latin typeface="Microsoft YaHei" panose="020B0503020204020204" pitchFamily="34" charset="-122"/>
                    <a:ea typeface="Microsoft YaHei" panose="020B0503020204020204" pitchFamily="34" charset="-122"/>
                  </a:rPr>
                  <a:t>假设入栈序列为：</a:t>
                </a:r>
                <a14:m>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1,</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2,</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 …, </m:t>
                    </m:r>
                    <m:r>
                      <a:rPr kumimoji="1" lang="en-US" altLang="zh-CN" sz="2400" b="0" i="1" smtClean="0">
                        <a:latin typeface="Cambria Math" panose="02040503050406030204" pitchFamily="18" charset="0"/>
                        <a:ea typeface="Microsoft YaHei" panose="020B0503020204020204" pitchFamily="34" charset="-122"/>
                      </a:rPr>
                      <m:t>𝑁</m:t>
                    </m:r>
                  </m:oMath>
                </a14:m>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4" name="任意多边形: 形状 9">
                <a:extLst>
                  <a:ext uri="{FF2B5EF4-FFF2-40B4-BE49-F238E27FC236}">
                    <a16:creationId xmlns:a16="http://schemas.microsoft.com/office/drawing/2014/main" id="{4FCB11F8-CE71-8095-CB0A-5734827D0ED1}"/>
                  </a:ext>
                </a:extLst>
              </p:cNvPr>
              <p:cNvSpPr>
                <a:spLocks noRot="1" noChangeAspect="1" noMove="1" noResize="1" noEditPoints="1" noAdjustHandles="1" noChangeArrowheads="1" noChangeShapeType="1" noTextEdit="1"/>
              </p:cNvSpPr>
              <p:nvPr/>
            </p:nvSpPr>
            <p:spPr>
              <a:xfrm>
                <a:off x="979269" y="1601343"/>
                <a:ext cx="5013569"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2"/>
                <a:stretch>
                  <a:fillRect l="-504" b="-1724"/>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2536B13-F928-ADF7-B157-6D255B624E5F}"/>
              </a:ext>
            </a:extLst>
          </p:cNvPr>
          <p:cNvSpPr txBox="1"/>
          <p:nvPr/>
        </p:nvSpPr>
        <p:spPr>
          <a:xfrm>
            <a:off x="1691370" y="2433178"/>
            <a:ext cx="5598007" cy="461665"/>
          </a:xfrm>
          <a:prstGeom prst="rect">
            <a:avLst/>
          </a:prstGeom>
          <a:noFill/>
        </p:spPr>
        <p:txBody>
          <a:bodyPr wrap="none" rtlCol="0">
            <a:spAutoFit/>
          </a:bodyPr>
          <a:lstStyle/>
          <a:p>
            <a:r>
              <a:rPr kumimoji="1" lang="zh-CN" altLang="en-US"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）所有数值均可成为</a:t>
            </a:r>
            <a:r>
              <a:rPr kumimoji="1" lang="zh-CN" altLang="en-US" sz="2400" dirty="0">
                <a:solidFill>
                  <a:srgbClr val="009999"/>
                </a:solidFill>
                <a:latin typeface="Microsoft YaHei" panose="020B0503020204020204" pitchFamily="34" charset="-122"/>
                <a:ea typeface="Microsoft YaHei" panose="020B0503020204020204" pitchFamily="34" charset="-122"/>
              </a:rPr>
              <a:t>最后出栈</a:t>
            </a:r>
            <a:r>
              <a:rPr kumimoji="1" lang="zh-CN" altLang="en-US" sz="2400" dirty="0">
                <a:latin typeface="Microsoft YaHei" panose="020B0503020204020204" pitchFamily="34" charset="-122"/>
                <a:ea typeface="Microsoft YaHei" panose="020B0503020204020204" pitchFamily="34" charset="-122"/>
              </a:rPr>
              <a:t>的元素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B6F101D-52D2-71D9-A0FD-2A4AF21B8921}"/>
                  </a:ext>
                </a:extLst>
              </p:cNvPr>
              <p:cNvSpPr txBox="1"/>
              <p:nvPr/>
            </p:nvSpPr>
            <p:spPr>
              <a:xfrm>
                <a:off x="1691370" y="2967335"/>
                <a:ext cx="8423332" cy="461665"/>
              </a:xfrm>
              <a:prstGeom prst="rect">
                <a:avLst/>
              </a:prstGeom>
              <a:noFill/>
            </p:spPr>
            <p:txBody>
              <a:bodyPr wrap="none" rtlCol="0">
                <a:spAutoFit/>
              </a:bodyPr>
              <a:lstStyle/>
              <a:p>
                <a:r>
                  <a:rPr kumimoji="1" lang="zh-CN" altLang="en-US"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2</a:t>
                </a:r>
                <a:r>
                  <a:rPr kumimoji="1" lang="zh-CN" altLang="en-US" sz="2400" dirty="0">
                    <a:latin typeface="Microsoft YaHei" panose="020B0503020204020204" pitchFamily="34" charset="-122"/>
                    <a:ea typeface="Microsoft YaHei" panose="020B0503020204020204" pitchFamily="34" charset="-122"/>
                  </a:rPr>
                  <a:t>）</a:t>
                </a:r>
                <a:r>
                  <a:rPr kumimoji="1" lang="zh-CN" altLang="en-US" sz="2400" b="1" dirty="0">
                    <a:latin typeface="Microsoft YaHei" panose="020B0503020204020204" pitchFamily="34" charset="-122"/>
                    <a:ea typeface="Microsoft YaHei" panose="020B0503020204020204" pitchFamily="34" charset="-122"/>
                  </a:rPr>
                  <a:t>问</a:t>
                </a:r>
                <a:r>
                  <a:rPr kumimoji="1" lang="zh-CN" altLang="en-US" sz="2400" dirty="0">
                    <a:latin typeface="Microsoft YaHei" panose="020B0503020204020204" pitchFamily="34" charset="-122"/>
                    <a:ea typeface="Microsoft YaHei" panose="020B0503020204020204" pitchFamily="34" charset="-122"/>
                  </a:rPr>
                  <a:t>：若</a:t>
                </a:r>
                <a14:m>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𝑁</m:t>
                    </m:r>
                    <m:r>
                      <a:rPr kumimoji="1" lang="en-US" altLang="zh-CN" sz="2400" b="0" i="1" smtClean="0">
                        <a:latin typeface="Cambria Math" panose="02040503050406030204" pitchFamily="18" charset="0"/>
                        <a:ea typeface="Microsoft YaHei" panose="020B0503020204020204" pitchFamily="34" charset="-122"/>
                      </a:rPr>
                      <m:t>)</m:t>
                    </m:r>
                  </m:oMath>
                </a14:m>
                <a:r>
                  <a:rPr kumimoji="1" lang="zh-CN" altLang="en-US" sz="2400" dirty="0">
                    <a:latin typeface="Microsoft YaHei" panose="020B0503020204020204" pitchFamily="34" charset="-122"/>
                    <a:ea typeface="Microsoft YaHei" panose="020B0503020204020204" pitchFamily="34" charset="-122"/>
                  </a:rPr>
                  <a:t>最后出栈，有多少种出栈序列？</a:t>
                </a:r>
              </a:p>
            </p:txBody>
          </p:sp>
        </mc:Choice>
        <mc:Fallback xmlns="">
          <p:sp>
            <p:nvSpPr>
              <p:cNvPr id="11" name="文本框 10">
                <a:extLst>
                  <a:ext uri="{FF2B5EF4-FFF2-40B4-BE49-F238E27FC236}">
                    <a16:creationId xmlns:a16="http://schemas.microsoft.com/office/drawing/2014/main" id="{4B6F101D-52D2-71D9-A0FD-2A4AF21B8921}"/>
                  </a:ext>
                </a:extLst>
              </p:cNvPr>
              <p:cNvSpPr txBox="1">
                <a:spLocks noRot="1" noChangeAspect="1" noMove="1" noResize="1" noEditPoints="1" noAdjustHandles="1" noChangeArrowheads="1" noChangeShapeType="1" noTextEdit="1"/>
              </p:cNvSpPr>
              <p:nvPr/>
            </p:nvSpPr>
            <p:spPr>
              <a:xfrm>
                <a:off x="1691370" y="2967335"/>
                <a:ext cx="8423332" cy="461665"/>
              </a:xfrm>
              <a:prstGeom prst="rect">
                <a:avLst/>
              </a:prstGeom>
              <a:blipFill>
                <a:blip r:embed="rId3"/>
                <a:stretch>
                  <a:fillRect l="-1053" t="-10526" b="-26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任意多边形: 形状 9">
                <a:extLst>
                  <a:ext uri="{FF2B5EF4-FFF2-40B4-BE49-F238E27FC236}">
                    <a16:creationId xmlns:a16="http://schemas.microsoft.com/office/drawing/2014/main" id="{2CCFD7E5-F1D1-E9A6-458E-D8788E4EA332}"/>
                  </a:ext>
                </a:extLst>
              </p:cNvPr>
              <p:cNvSpPr/>
              <p:nvPr/>
            </p:nvSpPr>
            <p:spPr>
              <a:xfrm>
                <a:off x="979269" y="3514210"/>
                <a:ext cx="8728364"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latin typeface="Microsoft YaHei" panose="020B0503020204020204" pitchFamily="34" charset="-122"/>
                    <a:ea typeface="Microsoft YaHei" panose="020B0503020204020204" pitchFamily="34" charset="-122"/>
                  </a:rPr>
                  <a:t>最后出栈，表明</a:t>
                </a: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solidFill>
                      <a:srgbClr val="FFFF00"/>
                    </a:solidFill>
                    <a:latin typeface="Microsoft YaHei" panose="020B0503020204020204" pitchFamily="34" charset="-122"/>
                    <a:ea typeface="Microsoft YaHei" panose="020B0503020204020204" pitchFamily="34" charset="-122"/>
                  </a:rPr>
                  <a:t>入栈前</a:t>
                </a:r>
                <a:r>
                  <a:rPr kumimoji="1" lang="zh-CN" altLang="en-US" sz="2400" dirty="0">
                    <a:latin typeface="Microsoft YaHei" panose="020B0503020204020204" pitchFamily="34" charset="-122"/>
                    <a:ea typeface="Microsoft YaHei" panose="020B0503020204020204" pitchFamily="34" charset="-122"/>
                  </a:rPr>
                  <a:t>，</a:t>
                </a:r>
                <a14:m>
                  <m:oMath xmlns:m="http://schemas.openxmlformats.org/officeDocument/2006/math">
                    <m:r>
                      <a:rPr kumimoji="1" lang="en-US" altLang="zh-CN" sz="2400" b="0" i="0" smtClean="0">
                        <a:latin typeface="Cambria Math" panose="02040503050406030204" pitchFamily="18" charset="0"/>
                        <a:ea typeface="Microsoft YaHei" panose="020B0503020204020204" pitchFamily="34" charset="-122"/>
                      </a:rPr>
                      <m:t>1</m:t>
                    </m:r>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2,</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m:t>
                    </m:r>
                  </m:oMath>
                </a14:m>
                <a:r>
                  <a:rPr lang="zh-CN" altLang="en-US" sz="2400" kern="1200" dirty="0">
                    <a:solidFill>
                      <a:schemeClr val="bg1"/>
                    </a:solidFill>
                    <a:latin typeface="Microsoft YaHei" panose="020B0503020204020204" pitchFamily="34" charset="-122"/>
                    <a:ea typeface="Microsoft YaHei" panose="020B0503020204020204" pitchFamily="34" charset="-122"/>
                  </a:rPr>
                  <a:t>已入栈并全部出栈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5" name="任意多边形: 形状 9">
                <a:extLst>
                  <a:ext uri="{FF2B5EF4-FFF2-40B4-BE49-F238E27FC236}">
                    <a16:creationId xmlns:a16="http://schemas.microsoft.com/office/drawing/2014/main" id="{2CCFD7E5-F1D1-E9A6-458E-D8788E4EA332}"/>
                  </a:ext>
                </a:extLst>
              </p:cNvPr>
              <p:cNvSpPr>
                <a:spLocks noRot="1" noChangeAspect="1" noMove="1" noResize="1" noEditPoints="1" noAdjustHandles="1" noChangeArrowheads="1" noChangeShapeType="1" noTextEdit="1"/>
              </p:cNvSpPr>
              <p:nvPr/>
            </p:nvSpPr>
            <p:spPr>
              <a:xfrm>
                <a:off x="979269" y="3514210"/>
                <a:ext cx="8728364"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4"/>
                <a:stretch>
                  <a:fillRect l="-145" b="-17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任意多边形: 形状 9">
                <a:extLst>
                  <a:ext uri="{FF2B5EF4-FFF2-40B4-BE49-F238E27FC236}">
                    <a16:creationId xmlns:a16="http://schemas.microsoft.com/office/drawing/2014/main" id="{A3B77155-48AD-5ED0-2C22-513257948585}"/>
                  </a:ext>
                </a:extLst>
              </p:cNvPr>
              <p:cNvSpPr/>
              <p:nvPr/>
            </p:nvSpPr>
            <p:spPr>
              <a:xfrm>
                <a:off x="979268" y="4335578"/>
                <a:ext cx="8728363" cy="921079"/>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latin typeface="Microsoft YaHei" panose="020B0503020204020204" pitchFamily="34" charset="-122"/>
                    <a:ea typeface="Microsoft YaHei" panose="020B0503020204020204" pitchFamily="34" charset="-122"/>
                  </a:rPr>
                  <a:t>最后出栈，表明</a:t>
                </a: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solidFill>
                      <a:schemeClr val="accent2">
                        <a:lumMod val="20000"/>
                        <a:lumOff val="80000"/>
                      </a:schemeClr>
                    </a:solidFill>
                    <a:latin typeface="Microsoft YaHei" panose="020B0503020204020204" pitchFamily="34" charset="-122"/>
                    <a:ea typeface="Microsoft YaHei" panose="020B0503020204020204" pitchFamily="34" charset="-122"/>
                  </a:rPr>
                  <a:t>入栈后至出栈前</a:t>
                </a:r>
                <a:r>
                  <a:rPr kumimoji="1" lang="zh-CN" altLang="en-US" sz="2400" dirty="0">
                    <a:latin typeface="Microsoft YaHei" panose="020B0503020204020204" pitchFamily="34" charset="-122"/>
                    <a:ea typeface="Microsoft YaHei" panose="020B0503020204020204" pitchFamily="34" charset="-122"/>
                  </a:rPr>
                  <a:t>，</a:t>
                </a:r>
                <a14:m>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+1,  </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+2,  …, </m:t>
                    </m:r>
                    <m:r>
                      <a:rPr kumimoji="1" lang="en-US" altLang="zh-CN" sz="2400" b="0" i="1" smtClean="0">
                        <a:latin typeface="Cambria Math" panose="02040503050406030204" pitchFamily="18" charset="0"/>
                        <a:ea typeface="Microsoft YaHei" panose="020B0503020204020204" pitchFamily="34" charset="-122"/>
                      </a:rPr>
                      <m:t>𝑁</m:t>
                    </m:r>
                    <m:r>
                      <a:rPr kumimoji="1" lang="zh-CN" altLang="en-US" sz="2400" b="0" i="1" smtClean="0">
                        <a:latin typeface="Cambria Math" panose="02040503050406030204" pitchFamily="18" charset="0"/>
                        <a:ea typeface="Microsoft YaHei" panose="020B0503020204020204" pitchFamily="34" charset="-122"/>
                      </a:rPr>
                      <m:t> </m:t>
                    </m:r>
                  </m:oMath>
                </a14:m>
                <a:r>
                  <a:rPr lang="zh-CN" altLang="en-US" sz="2400" kern="1200" dirty="0">
                    <a:solidFill>
                      <a:schemeClr val="bg1"/>
                    </a:solidFill>
                    <a:latin typeface="Microsoft YaHei" panose="020B0503020204020204" pitchFamily="34" charset="-122"/>
                    <a:ea typeface="Microsoft YaHei" panose="020B0503020204020204" pitchFamily="34" charset="-122"/>
                  </a:rPr>
                  <a:t>已入栈并全部出栈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6" name="任意多边形: 形状 9">
                <a:extLst>
                  <a:ext uri="{FF2B5EF4-FFF2-40B4-BE49-F238E27FC236}">
                    <a16:creationId xmlns:a16="http://schemas.microsoft.com/office/drawing/2014/main" id="{A3B77155-48AD-5ED0-2C22-513257948585}"/>
                  </a:ext>
                </a:extLst>
              </p:cNvPr>
              <p:cNvSpPr>
                <a:spLocks noRot="1" noChangeAspect="1" noMove="1" noResize="1" noEditPoints="1" noAdjustHandles="1" noChangeArrowheads="1" noChangeShapeType="1" noTextEdit="1"/>
              </p:cNvSpPr>
              <p:nvPr/>
            </p:nvSpPr>
            <p:spPr>
              <a:xfrm>
                <a:off x="979268" y="4335578"/>
                <a:ext cx="8728363" cy="921079"/>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5"/>
                <a:stretch>
                  <a:fillRect l="-145" b="-9333"/>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46183F92-4ACC-EC25-DC10-8B9ABE5B24A4}"/>
              </a:ext>
            </a:extLst>
          </p:cNvPr>
          <p:cNvSpPr txBox="1"/>
          <p:nvPr/>
        </p:nvSpPr>
        <p:spPr>
          <a:xfrm>
            <a:off x="884452" y="5307308"/>
            <a:ext cx="10888804" cy="461665"/>
          </a:xfrm>
          <a:prstGeom prst="rect">
            <a:avLst/>
          </a:prstGeom>
          <a:noFill/>
        </p:spPr>
        <p:txBody>
          <a:bodyPr wrap="square" rtlCol="0">
            <a:spAutoFit/>
          </a:bodyPr>
          <a:lstStyle/>
          <a:p>
            <a:r>
              <a:rPr kumimoji="1" lang="zh-CN" altLang="en-US"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3</a:t>
            </a:r>
            <a:r>
              <a:rPr kumimoji="1" lang="zh-CN" altLang="en-US" sz="2400" dirty="0">
                <a:latin typeface="Microsoft YaHei" panose="020B0503020204020204" pitchFamily="34" charset="-122"/>
                <a:ea typeface="Microsoft YaHei" panose="020B0503020204020204" pitchFamily="34" charset="-122"/>
              </a:rPr>
              <a:t>）设</a:t>
            </a:r>
            <a:r>
              <a:rPr kumimoji="1" lang="en-US" altLang="zh-CN" sz="2400" dirty="0">
                <a:latin typeface="Microsoft YaHei" panose="020B0503020204020204" pitchFamily="34" charset="-122"/>
                <a:ea typeface="Microsoft YaHei" panose="020B0503020204020204" pitchFamily="34" charset="-122"/>
              </a:rPr>
              <a:t>f(n)</a:t>
            </a:r>
            <a:r>
              <a:rPr kumimoji="1" lang="zh-CN" altLang="en-US" sz="2400" dirty="0">
                <a:latin typeface="Microsoft YaHei" panose="020B0503020204020204" pitchFamily="34" charset="-122"/>
                <a:ea typeface="Microsoft YaHei" panose="020B0503020204020204" pitchFamily="34" charset="-122"/>
              </a:rPr>
              <a:t>表示长度</a:t>
            </a:r>
            <a:r>
              <a:rPr kumimoji="1" lang="en-US" altLang="zh-CN" sz="2400" dirty="0">
                <a:latin typeface="Microsoft YaHei" panose="020B0503020204020204" pitchFamily="34" charset="-122"/>
                <a:ea typeface="Microsoft YaHei" panose="020B0503020204020204" pitchFamily="34" charset="-122"/>
              </a:rPr>
              <a:t>n</a:t>
            </a:r>
            <a:r>
              <a:rPr kumimoji="1" lang="zh-CN" altLang="en-US" sz="2400" dirty="0">
                <a:latin typeface="Microsoft YaHei" panose="020B0503020204020204" pitchFamily="34" charset="-122"/>
                <a:ea typeface="Microsoft YaHei" panose="020B0503020204020204" pitchFamily="34" charset="-122"/>
              </a:rPr>
              <a:t>序列的出栈序列数目，则</a:t>
            </a:r>
            <a:r>
              <a:rPr kumimoji="1" lang="en-US" altLang="zh-CN" sz="2400" dirty="0">
                <a:solidFill>
                  <a:srgbClr val="009999"/>
                </a:solidFill>
                <a:latin typeface="Microsoft YaHei" panose="020B0503020204020204" pitchFamily="34" charset="-122"/>
                <a:ea typeface="Microsoft YaHei" panose="020B0503020204020204" pitchFamily="34" charset="-122"/>
              </a:rPr>
              <a:t>K</a:t>
            </a:r>
            <a:r>
              <a:rPr kumimoji="1" lang="zh-CN" altLang="en-US" sz="2400" dirty="0">
                <a:solidFill>
                  <a:srgbClr val="009999"/>
                </a:solidFill>
                <a:latin typeface="Microsoft YaHei" panose="020B0503020204020204" pitchFamily="34" charset="-122"/>
                <a:ea typeface="Microsoft YaHei" panose="020B0503020204020204" pitchFamily="34" charset="-122"/>
              </a:rPr>
              <a:t>最后出栈</a:t>
            </a:r>
            <a:r>
              <a:rPr kumimoji="1" lang="zh-CN" altLang="en-US" sz="2400" dirty="0">
                <a:latin typeface="Microsoft YaHei" panose="020B0503020204020204" pitchFamily="34" charset="-122"/>
                <a:ea typeface="Microsoft YaHei" panose="020B0503020204020204" pitchFamily="34" charset="-122"/>
              </a:rPr>
              <a:t>情况下的出栈序列数：</a:t>
            </a:r>
            <a:endParaRPr kumimoji="1" lang="en-US" altLang="zh-CN" sz="2400"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6" name="任意多边形: 形状 9">
                <a:extLst>
                  <a:ext uri="{FF2B5EF4-FFF2-40B4-BE49-F238E27FC236}">
                    <a16:creationId xmlns:a16="http://schemas.microsoft.com/office/drawing/2014/main" id="{5BCC832D-B431-E134-C21A-4A937A76EA7A}"/>
                  </a:ext>
                </a:extLst>
              </p:cNvPr>
              <p:cNvSpPr/>
              <p:nvPr/>
            </p:nvSpPr>
            <p:spPr>
              <a:xfrm>
                <a:off x="2123394" y="5837657"/>
                <a:ext cx="3393254"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𝑓</m:t>
                      </m:r>
                      <m:d>
                        <m:dPr>
                          <m:ctrlPr>
                            <a:rPr kumimoji="1" lang="en-US" altLang="zh-CN" sz="2400" b="0" i="1" smtClean="0">
                              <a:latin typeface="Cambria Math" panose="02040503050406030204" pitchFamily="18" charset="0"/>
                              <a:ea typeface="Microsoft YaHei" panose="020B0503020204020204" pitchFamily="34" charset="-122"/>
                            </a:rPr>
                          </m:ctrlPr>
                        </m:dPr>
                        <m:e>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m:t>
                          </m:r>
                        </m:e>
                      </m:d>
                      <m:r>
                        <a:rPr kumimoji="1" lang="zh-CN" altLang="en-US"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𝑓</m:t>
                      </m:r>
                      <m:r>
                        <a:rPr kumimoji="1" lang="en-US" altLang="zh-CN"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𝑁</m:t>
                      </m:r>
                      <m:r>
                        <a:rPr kumimoji="1" lang="en-US" altLang="zh-CN"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m:t>
                      </m:r>
                    </m:oMath>
                  </m:oMathPara>
                </a14:m>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16" name="任意多边形: 形状 9">
                <a:extLst>
                  <a:ext uri="{FF2B5EF4-FFF2-40B4-BE49-F238E27FC236}">
                    <a16:creationId xmlns:a16="http://schemas.microsoft.com/office/drawing/2014/main" id="{5BCC832D-B431-E134-C21A-4A937A76EA7A}"/>
                  </a:ext>
                </a:extLst>
              </p:cNvPr>
              <p:cNvSpPr>
                <a:spLocks noRot="1" noChangeAspect="1" noMove="1" noResize="1" noEditPoints="1" noAdjustHandles="1" noChangeArrowheads="1" noChangeShapeType="1" noTextEdit="1"/>
              </p:cNvSpPr>
              <p:nvPr/>
            </p:nvSpPr>
            <p:spPr>
              <a:xfrm>
                <a:off x="2123394" y="5837657"/>
                <a:ext cx="3393254"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6"/>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32FAE248-74ED-EFE3-DA32-1634D806BC9C}"/>
              </a:ext>
            </a:extLst>
          </p:cNvPr>
          <p:cNvSpPr txBox="1"/>
          <p:nvPr/>
        </p:nvSpPr>
        <p:spPr>
          <a:xfrm>
            <a:off x="10132399" y="3973501"/>
            <a:ext cx="1415772" cy="830997"/>
          </a:xfrm>
          <a:prstGeom prst="rect">
            <a:avLst/>
          </a:prstGeom>
          <a:noFill/>
        </p:spPr>
        <p:txBody>
          <a:bodyPr wrap="none" rtlCol="0">
            <a:spAutoFit/>
          </a:bodyPr>
          <a:lstStyle/>
          <a:p>
            <a:r>
              <a:rPr kumimoji="1" lang="zh-CN" altLang="en-US" sz="2400" dirty="0">
                <a:solidFill>
                  <a:srgbClr val="FF0000"/>
                </a:solidFill>
                <a:latin typeface="Microsoft YaHei" panose="020B0503020204020204" pitchFamily="34" charset="-122"/>
                <a:ea typeface="Microsoft YaHei" panose="020B0503020204020204" pitchFamily="34" charset="-122"/>
              </a:rPr>
              <a:t>独立过程</a:t>
            </a:r>
            <a:endParaRPr kumimoji="1" lang="en-US" altLang="zh-CN" sz="2400" dirty="0">
              <a:solidFill>
                <a:srgbClr val="FF0000"/>
              </a:solidFill>
              <a:latin typeface="Microsoft YaHei" panose="020B0503020204020204" pitchFamily="34" charset="-122"/>
              <a:ea typeface="Microsoft YaHei" panose="020B0503020204020204" pitchFamily="34" charset="-122"/>
            </a:endParaRPr>
          </a:p>
          <a:p>
            <a:r>
              <a:rPr kumimoji="1" lang="zh-CN" altLang="en-US" sz="2400" dirty="0">
                <a:solidFill>
                  <a:srgbClr val="FF0000"/>
                </a:solidFill>
                <a:latin typeface="Microsoft YaHei" panose="020B0503020204020204" pitchFamily="34" charset="-122"/>
                <a:ea typeface="Microsoft YaHei" panose="020B0503020204020204" pitchFamily="34" charset="-122"/>
              </a:rPr>
              <a:t>单独计数</a:t>
            </a:r>
          </a:p>
        </p:txBody>
      </p:sp>
      <p:sp>
        <p:nvSpPr>
          <p:cNvPr id="18" name="右大括号 17">
            <a:extLst>
              <a:ext uri="{FF2B5EF4-FFF2-40B4-BE49-F238E27FC236}">
                <a16:creationId xmlns:a16="http://schemas.microsoft.com/office/drawing/2014/main" id="{AE3E330A-77ED-D90A-18AB-629850CFDB03}"/>
              </a:ext>
            </a:extLst>
          </p:cNvPr>
          <p:cNvSpPr/>
          <p:nvPr/>
        </p:nvSpPr>
        <p:spPr>
          <a:xfrm>
            <a:off x="9819249" y="3872173"/>
            <a:ext cx="313150" cy="1065587"/>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319933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heckerboard(across)">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checkerboard(across)">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11" grpId="0"/>
      <p:bldP spid="5" grpId="0" animBg="1"/>
      <p:bldP spid="6" grpId="0" animBg="1"/>
      <p:bldP spid="7" grpId="0"/>
      <p:bldP spid="16" grpId="0" animBg="1"/>
      <p:bldP spid="17" grpId="0"/>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7F6DD-C1FC-4C01-AB04-CC8958BE78AA}"/>
              </a:ext>
            </a:extLst>
          </p:cNvPr>
          <p:cNvSpPr>
            <a:spLocks noGrp="1"/>
          </p:cNvSpPr>
          <p:nvPr>
            <p:ph type="title"/>
          </p:nvPr>
        </p:nvSpPr>
        <p:spPr/>
        <p:txBody>
          <a:bodyPr>
            <a:normAutofit/>
          </a:bodyPr>
          <a:lstStyle/>
          <a:p>
            <a:pPr>
              <a:defRPr/>
            </a:pPr>
            <a:r>
              <a:t>思考</a:t>
            </a:r>
          </a:p>
        </p:txBody>
      </p:sp>
      <p:sp>
        <p:nvSpPr>
          <p:cNvPr id="13" name="副标题 12">
            <a:extLst>
              <a:ext uri="{FF2B5EF4-FFF2-40B4-BE49-F238E27FC236}">
                <a16:creationId xmlns:a16="http://schemas.microsoft.com/office/drawing/2014/main" id="{B67528A6-B72B-4999-B8CA-7669383D4ECE}"/>
              </a:ext>
            </a:extLst>
          </p:cNvPr>
          <p:cNvSpPr>
            <a:spLocks noGrp="1"/>
          </p:cNvSpPr>
          <p:nvPr>
            <p:ph type="subTitle" idx="1"/>
          </p:nvPr>
        </p:nvSpPr>
        <p:spPr/>
        <p:txBody>
          <a:bodyPr/>
          <a:lstStyle/>
          <a:p>
            <a:endParaRPr lang="zh-CN" altLang="en-US"/>
          </a:p>
        </p:txBody>
      </p:sp>
      <p:sp>
        <p:nvSpPr>
          <p:cNvPr id="15" name="文本占位符 14">
            <a:extLst>
              <a:ext uri="{FF2B5EF4-FFF2-40B4-BE49-F238E27FC236}">
                <a16:creationId xmlns:a16="http://schemas.microsoft.com/office/drawing/2014/main" id="{367F1F97-001E-4594-81F9-62FE6EBDD5C4}"/>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E35F3B57-B6D0-4BE0-9C68-5DC5B22E52F5}"/>
              </a:ext>
            </a:extLst>
          </p:cNvPr>
          <p:cNvSpPr>
            <a:spLocks noGrp="1"/>
          </p:cNvSpPr>
          <p:nvPr>
            <p:ph idx="11"/>
          </p:nvPr>
        </p:nvSpPr>
        <p:spPr>
          <a:ln>
            <a:solidFill>
              <a:schemeClr val="bg1">
                <a:lumMod val="85000"/>
              </a:schemeClr>
            </a:solidFill>
          </a:ln>
        </p:spPr>
        <p:txBody>
          <a:bodyPr vert="horz" wrap="square" lIns="91440" tIns="45720" rIns="91440" bIns="45720" numCol="1" anchor="t" anchorCtr="0" compatLnSpc="1">
            <a:prstTxWarp prst="textNoShape">
              <a:avLst/>
            </a:prstTxWarp>
          </a:bodyPr>
          <a:lstStyle/>
          <a:p>
            <a:pPr marL="341313" indent="-341313"/>
            <a:r>
              <a:rPr lang="zh-CN" altLang="en-US" dirty="0"/>
              <a:t>给定一个入栈序列，序列长度为</a:t>
            </a:r>
            <a:r>
              <a:rPr lang="en-US" altLang="zh-CN" dirty="0"/>
              <a:t>N</a:t>
            </a:r>
            <a:r>
              <a:rPr lang="zh-CN" altLang="en-US" dirty="0"/>
              <a:t>，请问有多少种出栈序列？</a:t>
            </a:r>
          </a:p>
        </p:txBody>
      </p:sp>
      <mc:AlternateContent xmlns:mc="http://schemas.openxmlformats.org/markup-compatibility/2006" xmlns:a14="http://schemas.microsoft.com/office/drawing/2010/main">
        <mc:Choice Requires="a14">
          <p:sp>
            <p:nvSpPr>
              <p:cNvPr id="4" name="任意多边形: 形状 9">
                <a:extLst>
                  <a:ext uri="{FF2B5EF4-FFF2-40B4-BE49-F238E27FC236}">
                    <a16:creationId xmlns:a16="http://schemas.microsoft.com/office/drawing/2014/main" id="{4FCB11F8-CE71-8095-CB0A-5734827D0ED1}"/>
                  </a:ext>
                </a:extLst>
              </p:cNvPr>
              <p:cNvSpPr/>
              <p:nvPr/>
            </p:nvSpPr>
            <p:spPr>
              <a:xfrm>
                <a:off x="3314506" y="1836084"/>
                <a:ext cx="5013569"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r>
                  <a:rPr kumimoji="1" lang="zh-CN" altLang="en-US" sz="2400" dirty="0">
                    <a:latin typeface="Microsoft YaHei" panose="020B0503020204020204" pitchFamily="34" charset="-122"/>
                    <a:ea typeface="Microsoft YaHei" panose="020B0503020204020204" pitchFamily="34" charset="-122"/>
                  </a:rPr>
                  <a:t>假设入栈序列为：</a:t>
                </a:r>
                <a14:m>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1,</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2,</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 …, </m:t>
                    </m:r>
                    <m:r>
                      <a:rPr kumimoji="1" lang="en-US" altLang="zh-CN" sz="2400" b="0" i="1" smtClean="0">
                        <a:latin typeface="Cambria Math" panose="02040503050406030204" pitchFamily="18" charset="0"/>
                        <a:ea typeface="Microsoft YaHei" panose="020B0503020204020204" pitchFamily="34" charset="-122"/>
                      </a:rPr>
                      <m:t>𝑁</m:t>
                    </m:r>
                  </m:oMath>
                </a14:m>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4" name="任意多边形: 形状 9">
                <a:extLst>
                  <a:ext uri="{FF2B5EF4-FFF2-40B4-BE49-F238E27FC236}">
                    <a16:creationId xmlns:a16="http://schemas.microsoft.com/office/drawing/2014/main" id="{4FCB11F8-CE71-8095-CB0A-5734827D0ED1}"/>
                  </a:ext>
                </a:extLst>
              </p:cNvPr>
              <p:cNvSpPr>
                <a:spLocks noRot="1" noChangeAspect="1" noMove="1" noResize="1" noEditPoints="1" noAdjustHandles="1" noChangeArrowheads="1" noChangeShapeType="1" noTextEdit="1"/>
              </p:cNvSpPr>
              <p:nvPr/>
            </p:nvSpPr>
            <p:spPr>
              <a:xfrm>
                <a:off x="3314506" y="1836084"/>
                <a:ext cx="5013569"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2"/>
                <a:stretch>
                  <a:fillRect l="-504" b="-17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任意多边形: 形状 9">
                <a:extLst>
                  <a:ext uri="{FF2B5EF4-FFF2-40B4-BE49-F238E27FC236}">
                    <a16:creationId xmlns:a16="http://schemas.microsoft.com/office/drawing/2014/main" id="{C87AE539-1350-5B8F-3F0D-E1F43FDCC97C}"/>
                  </a:ext>
                </a:extLst>
              </p:cNvPr>
              <p:cNvSpPr/>
              <p:nvPr/>
            </p:nvSpPr>
            <p:spPr>
              <a:xfrm>
                <a:off x="2001288" y="2744456"/>
                <a:ext cx="8024324" cy="241388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kumimoji="1" lang="zh-CN" altLang="en-US" sz="2400" dirty="0">
                    <a:solidFill>
                      <a:srgbClr val="FFFF00"/>
                    </a:solidFill>
                    <a:ea typeface="Microsoft YaHei" panose="020B0503020204020204" pitchFamily="34" charset="-122"/>
                  </a:rPr>
                  <a:t>出栈序列总数</a:t>
                </a:r>
                <a:r>
                  <a:rPr kumimoji="1" lang="zh-CN" altLang="en-US" sz="2400" dirty="0">
                    <a:ea typeface="Microsoft YaHei" panose="020B0503020204020204" pitchFamily="34" charset="-122"/>
                  </a:rPr>
                  <a:t>：</a:t>
                </a:r>
                <a:endParaRPr kumimoji="1" lang="en-US" altLang="zh-CN" sz="2400" dirty="0">
                  <a:ea typeface="Microsoft YaHei" panose="020B0503020204020204" pitchFamily="34" charset="-122"/>
                </a:endParaRPr>
              </a:p>
              <a:p>
                <a:endParaRPr kumimoji="1" lang="en-US" altLang="zh-CN" sz="2400" dirty="0">
                  <a:ea typeface="Microsoft YaHei" panose="020B0503020204020204" pitchFamily="34" charset="-122"/>
                </a:endParaRPr>
              </a:p>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Microsoft YaHei" panose="020B0503020204020204" pitchFamily="34" charset="-122"/>
                        </a:rPr>
                        <m:t>𝑓</m:t>
                      </m:r>
                      <m:d>
                        <m:dPr>
                          <m:ctrlPr>
                            <a:rPr kumimoji="1" lang="en-US" altLang="zh-CN" sz="2400" b="0" i="1" smtClean="0">
                              <a:latin typeface="Cambria Math" panose="02040503050406030204" pitchFamily="18" charset="0"/>
                              <a:ea typeface="Microsoft YaHei" panose="020B0503020204020204" pitchFamily="34" charset="-122"/>
                            </a:rPr>
                          </m:ctrlPr>
                        </m:dPr>
                        <m:e>
                          <m:r>
                            <a:rPr kumimoji="1" lang="en-US" altLang="zh-CN" sz="2400" b="0" i="1" smtClean="0">
                              <a:latin typeface="Cambria Math" panose="02040503050406030204" pitchFamily="18" charset="0"/>
                              <a:ea typeface="Microsoft YaHei" panose="020B0503020204020204" pitchFamily="34" charset="-122"/>
                            </a:rPr>
                            <m:t>𝑁</m:t>
                          </m:r>
                        </m:e>
                      </m:d>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nary>
                        <m:naryPr>
                          <m:chr m:val="∑"/>
                          <m:ctrlPr>
                            <a:rPr kumimoji="1" lang="zh-CN" altLang="en-US" sz="2400" b="0" i="1" smtClean="0">
                              <a:latin typeface="Cambria Math" panose="02040503050406030204" pitchFamily="18" charset="0"/>
                              <a:ea typeface="Microsoft YaHei" panose="020B0503020204020204" pitchFamily="34" charset="-122"/>
                            </a:rPr>
                          </m:ctrlPr>
                        </m:naryPr>
                        <m:sub>
                          <m:r>
                            <m:rPr>
                              <m:brk m:alnAt="23"/>
                            </m:rP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m:t>
                          </m:r>
                        </m:sub>
                        <m:sup>
                          <m:r>
                            <a:rPr kumimoji="1" lang="en-US" altLang="zh-CN" sz="2400" b="0" i="1" smtClean="0">
                              <a:latin typeface="Cambria Math" panose="02040503050406030204" pitchFamily="18" charset="0"/>
                              <a:ea typeface="Microsoft YaHei" panose="020B0503020204020204" pitchFamily="34" charset="-122"/>
                            </a:rPr>
                            <m:t>𝑁</m:t>
                          </m:r>
                        </m:sup>
                        <m:e>
                          <m:r>
                            <a:rPr kumimoji="1" lang="en-US" altLang="zh-CN" sz="2400" b="0" i="1" smtClean="0">
                              <a:latin typeface="Cambria Math" panose="02040503050406030204" pitchFamily="18" charset="0"/>
                              <a:ea typeface="Microsoft YaHei" panose="020B0503020204020204" pitchFamily="34" charset="-122"/>
                            </a:rPr>
                            <m:t>𝑓</m:t>
                          </m:r>
                          <m:d>
                            <m:dPr>
                              <m:ctrlPr>
                                <a:rPr kumimoji="1" lang="en-US" altLang="zh-CN" sz="2400" b="0" i="1" smtClean="0">
                                  <a:latin typeface="Cambria Math" panose="02040503050406030204" pitchFamily="18" charset="0"/>
                                  <a:ea typeface="Microsoft YaHei" panose="020B0503020204020204" pitchFamily="34" charset="-122"/>
                                </a:rPr>
                              </m:ctrlPr>
                            </m:dPr>
                            <m:e>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−1</m:t>
                              </m:r>
                            </m:e>
                          </m:d>
                          <m:r>
                            <a:rPr kumimoji="1" lang="zh-CN" altLang="en-US"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𝑓</m:t>
                          </m:r>
                          <m:r>
                            <a:rPr kumimoji="1" lang="en-US" altLang="zh-CN"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𝑁</m:t>
                          </m:r>
                          <m:r>
                            <a:rPr kumimoji="1" lang="en-US" altLang="zh-CN" sz="2400" b="0" i="1" smtClean="0">
                              <a:latin typeface="Cambria Math" panose="02040503050406030204" pitchFamily="18" charset="0"/>
                              <a:ea typeface="Microsoft YaHei" panose="020B0503020204020204" pitchFamily="34" charset="-122"/>
                            </a:rPr>
                            <m:t>−</m:t>
                          </m:r>
                          <m:r>
                            <a:rPr kumimoji="1" lang="en-US" altLang="zh-CN" sz="2400" b="0" i="1" smtClean="0">
                              <a:latin typeface="Cambria Math" panose="02040503050406030204" pitchFamily="18" charset="0"/>
                              <a:ea typeface="Microsoft YaHei" panose="020B0503020204020204" pitchFamily="34" charset="-122"/>
                            </a:rPr>
                            <m:t>𝐾</m:t>
                          </m:r>
                          <m:r>
                            <a:rPr kumimoji="1" lang="en-US" altLang="zh-CN" sz="2400" b="0" i="1" smtClean="0">
                              <a:latin typeface="Cambria Math" panose="02040503050406030204" pitchFamily="18" charset="0"/>
                              <a:ea typeface="Microsoft YaHei" panose="020B0503020204020204" pitchFamily="34" charset="-122"/>
                            </a:rPr>
                            <m:t>)</m:t>
                          </m:r>
                        </m:e>
                      </m:nary>
                      <m:r>
                        <a:rPr kumimoji="1" lang="zh-CN" altLang="en-US" sz="2400" b="0" i="1" smtClean="0">
                          <a:latin typeface="Cambria Math" panose="02040503050406030204" pitchFamily="18" charset="0"/>
                          <a:ea typeface="Microsoft YaHei" panose="020B0503020204020204" pitchFamily="34" charset="-122"/>
                        </a:rPr>
                        <m:t> </m:t>
                      </m:r>
                      <m:r>
                        <a:rPr kumimoji="1" lang="en-US" altLang="zh-CN" sz="2400" b="0" i="1" smtClean="0">
                          <a:latin typeface="Cambria Math" panose="02040503050406030204" pitchFamily="18" charset="0"/>
                          <a:ea typeface="Microsoft YaHei" panose="020B0503020204020204" pitchFamily="34" charset="-122"/>
                        </a:rPr>
                        <m:t>,</m:t>
                      </m:r>
                      <m:r>
                        <a:rPr kumimoji="1" lang="zh-CN" altLang="en-US" sz="2400" b="0" i="1" smtClean="0">
                          <a:latin typeface="Cambria Math" panose="02040503050406030204" pitchFamily="18" charset="0"/>
                          <a:ea typeface="Microsoft YaHei" panose="020B0503020204020204" pitchFamily="34" charset="-122"/>
                        </a:rPr>
                        <m:t>  </m:t>
                      </m:r>
                      <m:r>
                        <a:rPr lang="en-US" altLang="zh-CN" sz="2400" i="1">
                          <a:solidFill>
                            <a:schemeClr val="bg1"/>
                          </a:solidFill>
                          <a:latin typeface="Cambria Math" panose="02040503050406030204" pitchFamily="18" charset="0"/>
                          <a:ea typeface="Microsoft YaHei" panose="020B0503020204020204" pitchFamily="34" charset="-122"/>
                        </a:rPr>
                        <m:t>𝑓</m:t>
                      </m:r>
                      <m:d>
                        <m:dPr>
                          <m:ctrlPr>
                            <a:rPr lang="en-US" altLang="zh-CN" sz="2400" i="1">
                              <a:solidFill>
                                <a:schemeClr val="bg1"/>
                              </a:solidFill>
                              <a:latin typeface="Cambria Math" panose="02040503050406030204" pitchFamily="18" charset="0"/>
                              <a:ea typeface="Microsoft YaHei" panose="020B0503020204020204" pitchFamily="34" charset="-122"/>
                            </a:rPr>
                          </m:ctrlPr>
                        </m:dPr>
                        <m:e>
                          <m:r>
                            <a:rPr lang="en-US" altLang="zh-CN" sz="2400" i="1">
                              <a:solidFill>
                                <a:schemeClr val="bg1"/>
                              </a:solidFill>
                              <a:latin typeface="Cambria Math" panose="02040503050406030204" pitchFamily="18" charset="0"/>
                              <a:ea typeface="Microsoft YaHei" panose="020B0503020204020204" pitchFamily="34" charset="-122"/>
                            </a:rPr>
                            <m:t>0</m:t>
                          </m:r>
                        </m:e>
                      </m:d>
                      <m:r>
                        <a:rPr lang="en-US" altLang="zh-CN" sz="2400" i="1">
                          <a:solidFill>
                            <a:schemeClr val="bg1"/>
                          </a:solidFill>
                          <a:latin typeface="Cambria Math" panose="02040503050406030204" pitchFamily="18" charset="0"/>
                          <a:ea typeface="Microsoft YaHei" panose="020B0503020204020204" pitchFamily="34" charset="-122"/>
                        </a:rPr>
                        <m:t>=1</m:t>
                      </m:r>
                    </m:oMath>
                  </m:oMathPara>
                </a14:m>
                <a:endParaRPr lang="en-US" altLang="zh-CN" sz="2400" kern="1200" dirty="0">
                  <a:solidFill>
                    <a:schemeClr val="bg1"/>
                  </a:solidFill>
                  <a:latin typeface="Microsoft YaHei" panose="020B0503020204020204" pitchFamily="34" charset="-122"/>
                  <a:ea typeface="Microsoft YaHei" panose="020B0503020204020204" pitchFamily="34" charset="-122"/>
                </a:endParaRPr>
              </a:p>
              <a:p>
                <a:r>
                  <a:rPr lang="zh-CN" altLang="en-US" sz="2400" dirty="0">
                    <a:solidFill>
                      <a:schemeClr val="bg1"/>
                    </a:solidFill>
                    <a:latin typeface="Microsoft YaHei" panose="020B0503020204020204" pitchFamily="34" charset="-122"/>
                    <a:ea typeface="Microsoft YaHei" panose="020B0503020204020204" pitchFamily="34" charset="-122"/>
                  </a:rPr>
                  <a:t>                 </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12" name="任意多边形: 形状 9">
                <a:extLst>
                  <a:ext uri="{FF2B5EF4-FFF2-40B4-BE49-F238E27FC236}">
                    <a16:creationId xmlns:a16="http://schemas.microsoft.com/office/drawing/2014/main" id="{C87AE539-1350-5B8F-3F0D-E1F43FDCC97C}"/>
                  </a:ext>
                </a:extLst>
              </p:cNvPr>
              <p:cNvSpPr>
                <a:spLocks noRot="1" noChangeAspect="1" noMove="1" noResize="1" noEditPoints="1" noAdjustHandles="1" noChangeArrowheads="1" noChangeShapeType="1" noTextEdit="1"/>
              </p:cNvSpPr>
              <p:nvPr/>
            </p:nvSpPr>
            <p:spPr>
              <a:xfrm>
                <a:off x="2001288" y="2744456"/>
                <a:ext cx="8024324" cy="241388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3"/>
                <a:stretch>
                  <a:fillRect t="-13021" b="-55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DFEF66A-6991-51DF-D5AC-E61B4EAD37B2}"/>
                  </a:ext>
                </a:extLst>
              </p:cNvPr>
              <p:cNvSpPr txBox="1"/>
              <p:nvPr/>
            </p:nvSpPr>
            <p:spPr>
              <a:xfrm>
                <a:off x="6013450" y="5471915"/>
                <a:ext cx="2928302" cy="8166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𝑓</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𝑁</m:t>
                          </m:r>
                        </m:e>
                      </m:d>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f>
                        <m:fPr>
                          <m:ctrlPr>
                            <a:rPr kumimoji="1" lang="en-US" altLang="zh-CN" sz="2800" b="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𝑁</m:t>
                          </m:r>
                          <m:r>
                            <a:rPr kumimoji="1" lang="en-US" altLang="zh-CN" sz="2800" b="0" i="1" smtClean="0">
                              <a:latin typeface="Cambria Math" panose="02040503050406030204" pitchFamily="18" charset="0"/>
                            </a:rPr>
                            <m:t>+1</m:t>
                          </m:r>
                        </m:den>
                      </m:f>
                      <m:sSubSup>
                        <m:sSubSupPr>
                          <m:ctrlPr>
                            <a:rPr kumimoji="1" lang="en-US" altLang="zh-CN" sz="2800" b="0" i="1" smtClean="0">
                              <a:latin typeface="Cambria Math" panose="02040503050406030204" pitchFamily="18" charset="0"/>
                            </a:rPr>
                          </m:ctrlPr>
                        </m:sSubSupPr>
                        <m:e>
                          <m:r>
                            <a:rPr kumimoji="1" lang="en-US" altLang="zh-CN" sz="2800" b="0" i="1" smtClean="0">
                              <a:latin typeface="Cambria Math" panose="02040503050406030204" pitchFamily="18" charset="0"/>
                            </a:rPr>
                            <m:t>𝐶</m:t>
                          </m:r>
                        </m:e>
                        <m:sub>
                          <m:r>
                            <a:rPr kumimoji="1" lang="en-US" altLang="zh-CN" sz="2800" b="0" i="1" smtClean="0">
                              <a:latin typeface="Cambria Math" panose="02040503050406030204" pitchFamily="18" charset="0"/>
                            </a:rPr>
                            <m:t>2</m:t>
                          </m:r>
                          <m:r>
                            <a:rPr kumimoji="1" lang="en-US" altLang="zh-CN" sz="2800" b="0" i="1" smtClean="0">
                              <a:latin typeface="Cambria Math" panose="02040503050406030204" pitchFamily="18" charset="0"/>
                            </a:rPr>
                            <m:t>𝑁</m:t>
                          </m:r>
                        </m:sub>
                        <m:sup>
                          <m:r>
                            <a:rPr kumimoji="1" lang="en-US" altLang="zh-CN" sz="2800" b="0" i="1" smtClean="0">
                              <a:latin typeface="Cambria Math" panose="02040503050406030204" pitchFamily="18" charset="0"/>
                            </a:rPr>
                            <m:t>𝑁</m:t>
                          </m:r>
                        </m:sup>
                      </m:sSubSup>
                    </m:oMath>
                  </m:oMathPara>
                </a14:m>
                <a:endParaRPr kumimoji="1" lang="zh-CN" altLang="en-US" sz="2800" dirty="0"/>
              </a:p>
            </p:txBody>
          </p:sp>
        </mc:Choice>
        <mc:Fallback xmlns="">
          <p:sp>
            <p:nvSpPr>
              <p:cNvPr id="16" name="文本框 15">
                <a:extLst>
                  <a:ext uri="{FF2B5EF4-FFF2-40B4-BE49-F238E27FC236}">
                    <a16:creationId xmlns:a16="http://schemas.microsoft.com/office/drawing/2014/main" id="{1DFEF66A-6991-51DF-D5AC-E61B4EAD37B2}"/>
                  </a:ext>
                </a:extLst>
              </p:cNvPr>
              <p:cNvSpPr txBox="1">
                <a:spLocks noRot="1" noChangeAspect="1" noMove="1" noResize="1" noEditPoints="1" noAdjustHandles="1" noChangeArrowheads="1" noChangeShapeType="1" noTextEdit="1"/>
              </p:cNvSpPr>
              <p:nvPr/>
            </p:nvSpPr>
            <p:spPr>
              <a:xfrm>
                <a:off x="6013450" y="5471915"/>
                <a:ext cx="2928302" cy="816634"/>
              </a:xfrm>
              <a:prstGeom prst="rect">
                <a:avLst/>
              </a:prstGeom>
              <a:blipFill>
                <a:blip r:embed="rId4"/>
                <a:stretch>
                  <a:fillRect l="-3879" t="-3077" b="-13846"/>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6F9FE02-2F8B-4BEE-8461-5C8E60E9944E}"/>
              </a:ext>
            </a:extLst>
          </p:cNvPr>
          <p:cNvSpPr>
            <a:spLocks noGrp="1" noChangeArrowheads="1"/>
          </p:cNvSpPr>
          <p:nvPr>
            <p:ph type="title"/>
          </p:nvPr>
        </p:nvSpPr>
        <p:spPr/>
        <p:txBody>
          <a:bodyPr>
            <a:normAutofit/>
          </a:bodyPr>
          <a:lstStyle/>
          <a:p>
            <a:pPr eaLnBrk="1" hangingPunct="1">
              <a:spcBef>
                <a:spcPct val="50000"/>
              </a:spcBef>
              <a:defRPr/>
            </a:pPr>
            <a:r>
              <a:rPr kumimoji="0" dirty="0" err="1"/>
              <a:t>栈的实现方式</a:t>
            </a:r>
            <a:endParaRPr kumimoji="0" dirty="0"/>
          </a:p>
        </p:txBody>
      </p:sp>
      <p:sp>
        <p:nvSpPr>
          <p:cNvPr id="4" name="副标题 3">
            <a:extLst>
              <a:ext uri="{FF2B5EF4-FFF2-40B4-BE49-F238E27FC236}">
                <a16:creationId xmlns:a16="http://schemas.microsoft.com/office/drawing/2014/main" id="{7A3D3C9B-E25B-454E-92DD-A1D9BECCF0CA}"/>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8CE40369-1C82-4442-A6AD-FA45CDD804D3}"/>
              </a:ext>
            </a:extLst>
          </p:cNvPr>
          <p:cNvSpPr>
            <a:spLocks noGrp="1"/>
          </p:cNvSpPr>
          <p:nvPr>
            <p:ph type="body" idx="10"/>
          </p:nvPr>
        </p:nvSpPr>
        <p:spPr/>
        <p:txBody>
          <a:bodyPr/>
          <a:lstStyle/>
          <a:p>
            <a:endParaRPr lang="zh-CN" altLang="en-US"/>
          </a:p>
        </p:txBody>
      </p:sp>
      <p:sp>
        <p:nvSpPr>
          <p:cNvPr id="18435" name="Rectangle 3">
            <a:extLst>
              <a:ext uri="{FF2B5EF4-FFF2-40B4-BE49-F238E27FC236}">
                <a16:creationId xmlns:a16="http://schemas.microsoft.com/office/drawing/2014/main" id="{B110D1A7-068B-4B88-97ED-37C7E5BC35E5}"/>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2800" dirty="0"/>
              <a:t>顺序栈 </a:t>
            </a:r>
            <a:r>
              <a:rPr lang="en-US" altLang="zh-CN" sz="2800" dirty="0"/>
              <a:t>(Array-based Stack)</a:t>
            </a:r>
            <a:endParaRPr lang="zh-CN" altLang="zh-CN" sz="2800" dirty="0"/>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采用</a:t>
            </a:r>
            <a:r>
              <a:rPr lang="zh-CN" altLang="zh-CN" dirty="0">
                <a:solidFill>
                  <a:srgbClr val="0000FF"/>
                </a:solidFill>
                <a:latin typeface="微软雅黑" panose="020B0503020204020204" pitchFamily="34" charset="-122"/>
                <a:ea typeface="微软雅黑" panose="020B0503020204020204" pitchFamily="34" charset="-122"/>
              </a:rPr>
              <a:t>向量</a:t>
            </a:r>
            <a:r>
              <a:rPr lang="zh-CN" altLang="zh-CN" dirty="0">
                <a:latin typeface="微软雅黑" panose="020B0503020204020204" pitchFamily="34" charset="-122"/>
                <a:ea typeface="微软雅黑" panose="020B0503020204020204" pitchFamily="34" charset="-122"/>
              </a:rPr>
              <a:t>实现，本质上</a:t>
            </a:r>
            <a:r>
              <a:rPr lang="zh-CN" altLang="zh-CN" dirty="0">
                <a:solidFill>
                  <a:srgbClr val="0000FF"/>
                </a:solidFill>
                <a:latin typeface="微软雅黑" panose="020B0503020204020204" pitchFamily="34" charset="-122"/>
                <a:ea typeface="微软雅黑" panose="020B0503020204020204" pitchFamily="34" charset="-122"/>
              </a:rPr>
              <a:t>顺序表</a:t>
            </a:r>
            <a:r>
              <a:rPr lang="zh-CN" altLang="zh-CN" dirty="0">
                <a:latin typeface="微软雅黑" panose="020B0503020204020204" pitchFamily="34" charset="-122"/>
                <a:ea typeface="微软雅黑" panose="020B0503020204020204" pitchFamily="34" charset="-122"/>
              </a:rPr>
              <a:t>的简化版</a:t>
            </a:r>
          </a:p>
          <a:p>
            <a:pPr marL="1076325" lvl="2" indent="-363538">
              <a:lnSpc>
                <a:spcPct val="120000"/>
              </a:lnSpc>
              <a:spcBef>
                <a:spcPts val="600"/>
              </a:spcBef>
              <a:buSzPct val="80000"/>
              <a:buFont typeface="Wingdings" panose="05000000000000000000" pitchFamily="2" charset="2"/>
              <a:buChar char="u"/>
              <a:tabLst/>
            </a:pPr>
            <a:r>
              <a:rPr lang="zh-CN" altLang="zh-CN" sz="2400" dirty="0">
                <a:latin typeface="微软雅黑" panose="020B0503020204020204" pitchFamily="34" charset="-122"/>
                <a:ea typeface="微软雅黑" panose="020B0503020204020204" pitchFamily="34" charset="-122"/>
              </a:rPr>
              <a:t>栈的大小</a:t>
            </a:r>
          </a:p>
          <a:p>
            <a:pPr marL="801687" lvl="1" indent="-457200">
              <a:lnSpc>
                <a:spcPct val="120000"/>
              </a:lnSpc>
              <a:spcBef>
                <a:spcPts val="600"/>
              </a:spcBef>
              <a:buClr>
                <a:srgbClr val="CC3300"/>
              </a:buClr>
              <a:buFont typeface="Wingdings" panose="05000000000000000000" pitchFamily="2" charset="2"/>
              <a:buChar char="ü"/>
            </a:pPr>
            <a:r>
              <a:rPr lang="zh-CN" altLang="zh-CN" dirty="0">
                <a:solidFill>
                  <a:srgbClr val="C00000"/>
                </a:solidFill>
                <a:latin typeface="微软雅黑" panose="020B0503020204020204" pitchFamily="34" charset="-122"/>
                <a:ea typeface="微软雅黑" panose="020B0503020204020204" pitchFamily="34" charset="-122"/>
              </a:rPr>
              <a:t>关键</a:t>
            </a:r>
            <a:r>
              <a:rPr lang="zh-CN" altLang="zh-CN" dirty="0">
                <a:latin typeface="微软雅黑" panose="020B0503020204020204" pitchFamily="34" charset="-122"/>
                <a:ea typeface="微软雅黑" panose="020B0503020204020204" pitchFamily="34" charset="-122"/>
              </a:rPr>
              <a:t>：确定</a:t>
            </a:r>
            <a:r>
              <a:rPr lang="zh-CN" altLang="zh-CN" dirty="0">
                <a:solidFill>
                  <a:srgbClr val="C00000"/>
                </a:solidFill>
                <a:latin typeface="微软雅黑" panose="020B0503020204020204" pitchFamily="34" charset="-122"/>
                <a:ea typeface="微软雅黑" panose="020B0503020204020204" pitchFamily="34" charset="-122"/>
              </a:rPr>
              <a:t>哪一端</a:t>
            </a:r>
            <a:r>
              <a:rPr lang="zh-CN" altLang="zh-CN" dirty="0">
                <a:latin typeface="微软雅黑" panose="020B0503020204020204" pitchFamily="34" charset="-122"/>
                <a:ea typeface="微软雅黑" panose="020B0503020204020204" pitchFamily="34" charset="-122"/>
              </a:rPr>
              <a:t>作为</a:t>
            </a:r>
            <a:r>
              <a:rPr lang="zh-CN" altLang="zh-CN" dirty="0">
                <a:solidFill>
                  <a:srgbClr val="0000FF"/>
                </a:solidFill>
                <a:latin typeface="微软雅黑" panose="020B0503020204020204" pitchFamily="34" charset="-122"/>
                <a:ea typeface="微软雅黑" panose="020B0503020204020204" pitchFamily="34" charset="-122"/>
              </a:rPr>
              <a:t>栈顶</a:t>
            </a:r>
            <a:endParaRPr lang="en-US" altLang="zh-CN" dirty="0">
              <a:solidFill>
                <a:srgbClr val="0000FF"/>
              </a:solidFill>
              <a:latin typeface="微软雅黑" panose="020B0503020204020204" pitchFamily="34" charset="-122"/>
              <a:ea typeface="微软雅黑" panose="020B0503020204020204" pitchFamily="34" charset="-122"/>
            </a:endParaRPr>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上溢</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下溢问题</a:t>
            </a:r>
            <a:endParaRPr lang="en-US" altLang="zh-CN" dirty="0">
              <a:latin typeface="微软雅黑" panose="020B0503020204020204" pitchFamily="34" charset="-122"/>
              <a:ea typeface="微软雅黑" panose="020B0503020204020204" pitchFamily="34" charset="-122"/>
            </a:endParaRPr>
          </a:p>
          <a:p>
            <a:pPr marL="341313" indent="-341313">
              <a:lnSpc>
                <a:spcPct val="120000"/>
              </a:lnSpc>
              <a:spcBef>
                <a:spcPts val="600"/>
              </a:spcBef>
            </a:pPr>
            <a:endParaRPr lang="en-US" altLang="zh-CN" sz="1600" dirty="0"/>
          </a:p>
          <a:p>
            <a:pPr marL="341313" indent="-341313">
              <a:lnSpc>
                <a:spcPct val="120000"/>
              </a:lnSpc>
              <a:spcBef>
                <a:spcPts val="600"/>
              </a:spcBef>
            </a:pPr>
            <a:r>
              <a:rPr lang="zh-CN" altLang="zh-CN" sz="2800" dirty="0"/>
              <a:t>链式栈（</a:t>
            </a:r>
            <a:r>
              <a:rPr lang="en-US" altLang="zh-CN" sz="2800" dirty="0"/>
              <a:t>Linked Stack</a:t>
            </a:r>
            <a:r>
              <a:rPr lang="zh-CN" altLang="zh-CN" sz="2800" dirty="0"/>
              <a:t>）</a:t>
            </a:r>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采用</a:t>
            </a:r>
            <a:r>
              <a:rPr lang="zh-CN" altLang="zh-CN" dirty="0">
                <a:solidFill>
                  <a:srgbClr val="0000FF"/>
                </a:solidFill>
                <a:latin typeface="微软雅黑" panose="020B0503020204020204" pitchFamily="34" charset="-122"/>
                <a:ea typeface="微软雅黑" panose="020B0503020204020204" pitchFamily="34" charset="-122"/>
              </a:rPr>
              <a:t>单链表</a:t>
            </a:r>
            <a:r>
              <a:rPr lang="zh-CN" altLang="zh-CN" dirty="0">
                <a:latin typeface="微软雅黑" panose="020B0503020204020204" pitchFamily="34" charset="-122"/>
                <a:ea typeface="微软雅黑" panose="020B0503020204020204" pitchFamily="34" charset="-122"/>
              </a:rPr>
              <a:t>方式存储，指针的方向是从栈顶向下链接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6F9FE02-2F8B-4BEE-8461-5C8E60E9944E}"/>
              </a:ext>
            </a:extLst>
          </p:cNvPr>
          <p:cNvSpPr>
            <a:spLocks noGrp="1" noChangeArrowheads="1"/>
          </p:cNvSpPr>
          <p:nvPr>
            <p:ph type="title"/>
          </p:nvPr>
        </p:nvSpPr>
        <p:spPr/>
        <p:txBody>
          <a:bodyPr>
            <a:normAutofit/>
          </a:bodyPr>
          <a:lstStyle/>
          <a:p>
            <a:pPr eaLnBrk="1" hangingPunct="1">
              <a:spcBef>
                <a:spcPct val="50000"/>
              </a:spcBef>
              <a:defRPr/>
            </a:pPr>
            <a:r>
              <a:rPr kumimoji="0" dirty="0" err="1"/>
              <a:t>栈的实现方式</a:t>
            </a:r>
            <a:endParaRPr kumimoji="0" dirty="0"/>
          </a:p>
        </p:txBody>
      </p:sp>
      <p:sp>
        <p:nvSpPr>
          <p:cNvPr id="4" name="副标题 3">
            <a:extLst>
              <a:ext uri="{FF2B5EF4-FFF2-40B4-BE49-F238E27FC236}">
                <a16:creationId xmlns:a16="http://schemas.microsoft.com/office/drawing/2014/main" id="{7A3D3C9B-E25B-454E-92DD-A1D9BECCF0CA}"/>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8CE40369-1C82-4442-A6AD-FA45CDD804D3}"/>
              </a:ext>
            </a:extLst>
          </p:cNvPr>
          <p:cNvSpPr>
            <a:spLocks noGrp="1"/>
          </p:cNvSpPr>
          <p:nvPr>
            <p:ph type="body" idx="10"/>
          </p:nvPr>
        </p:nvSpPr>
        <p:spPr/>
        <p:txBody>
          <a:bodyPr/>
          <a:lstStyle/>
          <a:p>
            <a:endParaRPr lang="zh-CN" altLang="en-US"/>
          </a:p>
        </p:txBody>
      </p:sp>
      <p:sp>
        <p:nvSpPr>
          <p:cNvPr id="18435" name="Rectangle 3">
            <a:extLst>
              <a:ext uri="{FF2B5EF4-FFF2-40B4-BE49-F238E27FC236}">
                <a16:creationId xmlns:a16="http://schemas.microsoft.com/office/drawing/2014/main" id="{B110D1A7-068B-4B88-97ED-37C7E5BC35E5}"/>
              </a:ext>
            </a:extLst>
          </p:cNvPr>
          <p:cNvSpPr>
            <a:spLocks noGrp="1" noChangeArrowheads="1"/>
          </p:cNvSpPr>
          <p:nvPr>
            <p:ph idx="11"/>
          </p:nvPr>
        </p:nvSpPr>
        <p:spPr bwMode="auto">
          <a:xfrm>
            <a:off x="584225" y="1276351"/>
            <a:ext cx="11055325" cy="9182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2800" dirty="0"/>
              <a:t>顺序栈</a:t>
            </a:r>
            <a:r>
              <a:rPr lang="zh-CN" altLang="en-US" sz="2800" dirty="0"/>
              <a:t>的栈顶设置方式</a:t>
            </a:r>
            <a:r>
              <a:rPr lang="en-US" altLang="zh-CN" sz="2800" dirty="0"/>
              <a:t>1</a:t>
            </a:r>
            <a:r>
              <a:rPr lang="en-US" altLang="zh-CN" sz="2800" dirty="0">
                <a:sym typeface="Wingdings" pitchFamily="2" charset="2"/>
              </a:rPr>
              <a:t>:</a:t>
            </a:r>
            <a:r>
              <a:rPr lang="zh-CN" altLang="en-US" sz="2800" dirty="0">
                <a:sym typeface="Wingdings" pitchFamily="2" charset="2"/>
              </a:rPr>
              <a:t>   </a:t>
            </a:r>
            <a:r>
              <a:rPr lang="zh-CN" altLang="en-US" sz="2800" dirty="0">
                <a:solidFill>
                  <a:srgbClr val="0070C0"/>
                </a:solidFill>
                <a:sym typeface="Wingdings" pitchFamily="2" charset="2"/>
              </a:rPr>
              <a:t>固定在顺序表前端</a:t>
            </a:r>
            <a:endParaRPr lang="zh-CN" altLang="zh-CN" sz="2800" dirty="0">
              <a:solidFill>
                <a:srgbClr val="0070C0"/>
              </a:solidFill>
            </a:endParaRPr>
          </a:p>
        </p:txBody>
      </p:sp>
      <p:grpSp>
        <p:nvGrpSpPr>
          <p:cNvPr id="52" name="组合 51">
            <a:extLst>
              <a:ext uri="{FF2B5EF4-FFF2-40B4-BE49-F238E27FC236}">
                <a16:creationId xmlns:a16="http://schemas.microsoft.com/office/drawing/2014/main" id="{6A70905F-B20D-D366-78CC-B703FF09ED4E}"/>
              </a:ext>
            </a:extLst>
          </p:cNvPr>
          <p:cNvGrpSpPr/>
          <p:nvPr/>
        </p:nvGrpSpPr>
        <p:grpSpPr>
          <a:xfrm>
            <a:off x="463436" y="2262033"/>
            <a:ext cx="4328945" cy="3350394"/>
            <a:chOff x="463436" y="2262033"/>
            <a:chExt cx="4328945" cy="3350394"/>
          </a:xfrm>
        </p:grpSpPr>
        <p:sp>
          <p:nvSpPr>
            <p:cNvPr id="2" name="Text Box 5">
              <a:extLst>
                <a:ext uri="{FF2B5EF4-FFF2-40B4-BE49-F238E27FC236}">
                  <a16:creationId xmlns:a16="http://schemas.microsoft.com/office/drawing/2014/main" id="{4E9EF735-4C43-B07C-CE04-D4CE3F6BD3ED}"/>
                </a:ext>
              </a:extLst>
            </p:cNvPr>
            <p:cNvSpPr txBox="1">
              <a:spLocks noChangeArrowheads="1"/>
            </p:cNvSpPr>
            <p:nvPr/>
          </p:nvSpPr>
          <p:spPr bwMode="auto">
            <a:xfrm>
              <a:off x="2326452" y="50641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3" name="Text Box 6">
              <a:extLst>
                <a:ext uri="{FF2B5EF4-FFF2-40B4-BE49-F238E27FC236}">
                  <a16:creationId xmlns:a16="http://schemas.microsoft.com/office/drawing/2014/main" id="{08BDD0B1-9B96-8217-19AF-1ABA9E571855}"/>
                </a:ext>
              </a:extLst>
            </p:cNvPr>
            <p:cNvSpPr txBox="1">
              <a:spLocks noChangeArrowheads="1"/>
            </p:cNvSpPr>
            <p:nvPr/>
          </p:nvSpPr>
          <p:spPr bwMode="auto">
            <a:xfrm>
              <a:off x="2326452" y="46069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sp>
          <p:nvSpPr>
            <p:cNvPr id="6" name="Text Box 7">
              <a:extLst>
                <a:ext uri="{FF2B5EF4-FFF2-40B4-BE49-F238E27FC236}">
                  <a16:creationId xmlns:a16="http://schemas.microsoft.com/office/drawing/2014/main" id="{706F2D49-CE4D-30E0-E211-73A3C0D08F79}"/>
                </a:ext>
              </a:extLst>
            </p:cNvPr>
            <p:cNvSpPr txBox="1">
              <a:spLocks noChangeArrowheads="1"/>
            </p:cNvSpPr>
            <p:nvPr/>
          </p:nvSpPr>
          <p:spPr bwMode="auto">
            <a:xfrm>
              <a:off x="2326452" y="41497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2</a:t>
              </a:r>
              <a:endParaRPr lang="en-US" altLang="zh-CN" sz="3200" b="1" dirty="0">
                <a:latin typeface="Calibri" panose="020F0502020204030204" pitchFamily="34" charset="0"/>
                <a:ea typeface="微软雅黑" pitchFamily="34" charset="-122"/>
              </a:endParaRPr>
            </a:p>
          </p:txBody>
        </p:sp>
        <p:sp>
          <p:nvSpPr>
            <p:cNvPr id="7" name="Text Box 12">
              <a:extLst>
                <a:ext uri="{FF2B5EF4-FFF2-40B4-BE49-F238E27FC236}">
                  <a16:creationId xmlns:a16="http://schemas.microsoft.com/office/drawing/2014/main" id="{67048C33-FC70-4387-02CB-57466750B793}"/>
                </a:ext>
              </a:extLst>
            </p:cNvPr>
            <p:cNvSpPr txBox="1">
              <a:spLocks noChangeArrowheads="1"/>
            </p:cNvSpPr>
            <p:nvPr/>
          </p:nvSpPr>
          <p:spPr bwMode="auto">
            <a:xfrm>
              <a:off x="2326452" y="36925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1</a:t>
              </a:r>
              <a:endParaRPr lang="en-US" altLang="zh-CN" sz="3200" b="1" dirty="0">
                <a:latin typeface="Calibri" panose="020F0502020204030204" pitchFamily="34" charset="0"/>
                <a:ea typeface="微软雅黑" pitchFamily="34" charset="-122"/>
              </a:endParaRPr>
            </a:p>
          </p:txBody>
        </p:sp>
        <p:sp>
          <p:nvSpPr>
            <p:cNvPr id="8" name="Text Box 13">
              <a:extLst>
                <a:ext uri="{FF2B5EF4-FFF2-40B4-BE49-F238E27FC236}">
                  <a16:creationId xmlns:a16="http://schemas.microsoft.com/office/drawing/2014/main" id="{3479E152-865A-B9DB-554E-97F1614DCCD7}"/>
                </a:ext>
              </a:extLst>
            </p:cNvPr>
            <p:cNvSpPr txBox="1">
              <a:spLocks noChangeArrowheads="1"/>
            </p:cNvSpPr>
            <p:nvPr/>
          </p:nvSpPr>
          <p:spPr bwMode="auto">
            <a:xfrm>
              <a:off x="2326452" y="3216311"/>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9" name="Text Box 14">
              <a:extLst>
                <a:ext uri="{FF2B5EF4-FFF2-40B4-BE49-F238E27FC236}">
                  <a16:creationId xmlns:a16="http://schemas.microsoft.com/office/drawing/2014/main" id="{A8EB0D37-65DE-87B4-CAD6-F4DB86108076}"/>
                </a:ext>
              </a:extLst>
            </p:cNvPr>
            <p:cNvSpPr txBox="1">
              <a:spLocks noChangeArrowheads="1"/>
            </p:cNvSpPr>
            <p:nvPr/>
          </p:nvSpPr>
          <p:spPr bwMode="auto">
            <a:xfrm>
              <a:off x="2326452" y="2784511"/>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grpSp>
          <p:nvGrpSpPr>
            <p:cNvPr id="10" name="组合 5">
              <a:extLst>
                <a:ext uri="{FF2B5EF4-FFF2-40B4-BE49-F238E27FC236}">
                  <a16:creationId xmlns:a16="http://schemas.microsoft.com/office/drawing/2014/main" id="{BF14BD54-C8EC-37E1-E035-B092948EF4A5}"/>
                </a:ext>
              </a:extLst>
            </p:cNvPr>
            <p:cNvGrpSpPr>
              <a:grpSpLocks/>
            </p:cNvGrpSpPr>
            <p:nvPr/>
          </p:nvGrpSpPr>
          <p:grpSpPr bwMode="auto">
            <a:xfrm>
              <a:off x="463436" y="5052913"/>
              <a:ext cx="1793875" cy="461962"/>
              <a:chOff x="2427297" y="5329298"/>
              <a:chExt cx="1794699" cy="461902"/>
            </a:xfrm>
          </p:grpSpPr>
          <p:sp>
            <p:nvSpPr>
              <p:cNvPr id="11" name="Rectangle 8">
                <a:extLst>
                  <a:ext uri="{FF2B5EF4-FFF2-40B4-BE49-F238E27FC236}">
                    <a16:creationId xmlns:a16="http://schemas.microsoft.com/office/drawing/2014/main" id="{7423FAC8-E179-68B9-2F6D-FC508EDC9375}"/>
                  </a:ext>
                </a:extLst>
              </p:cNvPr>
              <p:cNvSpPr>
                <a:spLocks noChangeArrowheads="1"/>
              </p:cNvSpPr>
              <p:nvPr/>
            </p:nvSpPr>
            <p:spPr bwMode="auto">
              <a:xfrm>
                <a:off x="2427297" y="5329298"/>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solidFill>
                      <a:srgbClr val="1302EE"/>
                    </a:solidFill>
                    <a:latin typeface="Lucida Fax" charset="0"/>
                    <a:ea typeface="微软雅黑" charset="0"/>
                    <a:cs typeface="微软雅黑" charset="0"/>
                  </a:rPr>
                  <a:t>栈顶</a:t>
                </a:r>
                <a:endParaRPr kumimoji="1" lang="en-US" altLang="zh-CN" sz="2400" b="1" dirty="0">
                  <a:solidFill>
                    <a:srgbClr val="1302EE"/>
                  </a:solidFill>
                  <a:latin typeface="Lucida Fax" charset="0"/>
                  <a:ea typeface="微软雅黑" charset="0"/>
                  <a:cs typeface="微软雅黑" charset="0"/>
                </a:endParaRPr>
              </a:p>
            </p:txBody>
          </p:sp>
          <p:sp>
            <p:nvSpPr>
              <p:cNvPr id="12" name="Line 9">
                <a:extLst>
                  <a:ext uri="{FF2B5EF4-FFF2-40B4-BE49-F238E27FC236}">
                    <a16:creationId xmlns:a16="http://schemas.microsoft.com/office/drawing/2014/main" id="{614F092A-17CD-37D7-2EFE-6EDD0D721E86}"/>
                  </a:ext>
                </a:extLst>
              </p:cNvPr>
              <p:cNvSpPr>
                <a:spLocks noChangeShapeType="1"/>
              </p:cNvSpPr>
              <p:nvPr/>
            </p:nvSpPr>
            <p:spPr bwMode="auto">
              <a:xfrm>
                <a:off x="3483470" y="5608662"/>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13" name="Line 9">
              <a:extLst>
                <a:ext uri="{FF2B5EF4-FFF2-40B4-BE49-F238E27FC236}">
                  <a16:creationId xmlns:a16="http://schemas.microsoft.com/office/drawing/2014/main" id="{355E58A0-F6C3-3778-33EA-4C5193F20B28}"/>
                </a:ext>
              </a:extLst>
            </p:cNvPr>
            <p:cNvSpPr>
              <a:spLocks noChangeShapeType="1"/>
            </p:cNvSpPr>
            <p:nvPr/>
          </p:nvSpPr>
          <p:spPr bwMode="auto">
            <a:xfrm>
              <a:off x="1519123" y="3954498"/>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
          <p:nvSpPr>
            <p:cNvPr id="14" name="Rectangle 8">
              <a:extLst>
                <a:ext uri="{FF2B5EF4-FFF2-40B4-BE49-F238E27FC236}">
                  <a16:creationId xmlns:a16="http://schemas.microsoft.com/office/drawing/2014/main" id="{F710667E-3CEB-0FED-F58E-366A124C6349}"/>
                </a:ext>
              </a:extLst>
            </p:cNvPr>
            <p:cNvSpPr>
              <a:spLocks noChangeArrowheads="1"/>
            </p:cNvSpPr>
            <p:nvPr/>
          </p:nvSpPr>
          <p:spPr bwMode="auto">
            <a:xfrm>
              <a:off x="463436" y="3729074"/>
              <a:ext cx="1247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latin typeface="Lucida Fax" charset="0"/>
                  <a:ea typeface="微软雅黑" charset="0"/>
                  <a:cs typeface="微软雅黑" charset="0"/>
                </a:rPr>
                <a:t>栈底</a:t>
              </a:r>
              <a:endParaRPr kumimoji="1" lang="en-US" altLang="zh-CN" sz="2400" b="1" dirty="0">
                <a:latin typeface="Lucida Fax" charset="0"/>
                <a:ea typeface="微软雅黑" charset="0"/>
                <a:cs typeface="微软雅黑" charset="0"/>
              </a:endParaRPr>
            </a:p>
          </p:txBody>
        </p:sp>
        <p:sp>
          <p:nvSpPr>
            <p:cNvPr id="26" name="文本框 25">
              <a:extLst>
                <a:ext uri="{FF2B5EF4-FFF2-40B4-BE49-F238E27FC236}">
                  <a16:creationId xmlns:a16="http://schemas.microsoft.com/office/drawing/2014/main" id="{D41FE31B-98D1-5ACC-07C4-D4AC71FFB6F3}"/>
                </a:ext>
              </a:extLst>
            </p:cNvPr>
            <p:cNvSpPr txBox="1"/>
            <p:nvPr/>
          </p:nvSpPr>
          <p:spPr>
            <a:xfrm>
              <a:off x="4302343" y="5212317"/>
              <a:ext cx="314510" cy="400110"/>
            </a:xfrm>
            <a:prstGeom prst="rect">
              <a:avLst/>
            </a:prstGeom>
            <a:noFill/>
          </p:spPr>
          <p:txBody>
            <a:bodyPr wrap="none" rtlCol="0">
              <a:spAutoFit/>
            </a:bodyPr>
            <a:lstStyle/>
            <a:p>
              <a:r>
                <a:rPr kumimoji="1" lang="en-US" altLang="zh-CN" sz="2000" dirty="0"/>
                <a:t>0</a:t>
              </a:r>
              <a:endParaRPr kumimoji="1" lang="zh-CN" altLang="en-US" sz="2000" dirty="0"/>
            </a:p>
          </p:txBody>
        </p:sp>
        <p:sp>
          <p:nvSpPr>
            <p:cNvPr id="27" name="文本框 26">
              <a:extLst>
                <a:ext uri="{FF2B5EF4-FFF2-40B4-BE49-F238E27FC236}">
                  <a16:creationId xmlns:a16="http://schemas.microsoft.com/office/drawing/2014/main" id="{6F8C2C1D-9544-E35B-70A6-687E5DCE29D6}"/>
                </a:ext>
              </a:extLst>
            </p:cNvPr>
            <p:cNvSpPr txBox="1"/>
            <p:nvPr/>
          </p:nvSpPr>
          <p:spPr>
            <a:xfrm>
              <a:off x="4302343" y="4717604"/>
              <a:ext cx="314510" cy="400110"/>
            </a:xfrm>
            <a:prstGeom prst="rect">
              <a:avLst/>
            </a:prstGeom>
            <a:noFill/>
          </p:spPr>
          <p:txBody>
            <a:bodyPr wrap="none" rtlCol="0">
              <a:spAutoFit/>
            </a:bodyPr>
            <a:lstStyle/>
            <a:p>
              <a:r>
                <a:rPr kumimoji="1" lang="en-US" altLang="zh-CN" sz="2000" dirty="0"/>
                <a:t>1</a:t>
              </a:r>
              <a:endParaRPr kumimoji="1" lang="zh-CN" altLang="en-US" sz="2000" dirty="0"/>
            </a:p>
          </p:txBody>
        </p:sp>
        <p:sp>
          <p:nvSpPr>
            <p:cNvPr id="28" name="文本框 27">
              <a:extLst>
                <a:ext uri="{FF2B5EF4-FFF2-40B4-BE49-F238E27FC236}">
                  <a16:creationId xmlns:a16="http://schemas.microsoft.com/office/drawing/2014/main" id="{BA9B6E4A-31D4-C503-ED27-F440BA638B5F}"/>
                </a:ext>
              </a:extLst>
            </p:cNvPr>
            <p:cNvSpPr txBox="1"/>
            <p:nvPr/>
          </p:nvSpPr>
          <p:spPr>
            <a:xfrm>
              <a:off x="4302343" y="4265093"/>
              <a:ext cx="314510" cy="400110"/>
            </a:xfrm>
            <a:prstGeom prst="rect">
              <a:avLst/>
            </a:prstGeom>
            <a:noFill/>
          </p:spPr>
          <p:txBody>
            <a:bodyPr wrap="none" rtlCol="0">
              <a:spAutoFit/>
            </a:bodyPr>
            <a:lstStyle/>
            <a:p>
              <a:r>
                <a:rPr kumimoji="1" lang="en-US" altLang="zh-CN" sz="2000" dirty="0"/>
                <a:t>2</a:t>
              </a:r>
              <a:endParaRPr kumimoji="1" lang="zh-CN" altLang="en-US" sz="2000" dirty="0"/>
            </a:p>
          </p:txBody>
        </p:sp>
        <p:sp>
          <p:nvSpPr>
            <p:cNvPr id="29" name="文本框 28">
              <a:extLst>
                <a:ext uri="{FF2B5EF4-FFF2-40B4-BE49-F238E27FC236}">
                  <a16:creationId xmlns:a16="http://schemas.microsoft.com/office/drawing/2014/main" id="{5CDEC6CF-974B-28D9-BA94-3BB86CBF77C4}"/>
                </a:ext>
              </a:extLst>
            </p:cNvPr>
            <p:cNvSpPr txBox="1"/>
            <p:nvPr/>
          </p:nvSpPr>
          <p:spPr>
            <a:xfrm>
              <a:off x="4302343" y="3784450"/>
              <a:ext cx="314510" cy="400110"/>
            </a:xfrm>
            <a:prstGeom prst="rect">
              <a:avLst/>
            </a:prstGeom>
            <a:noFill/>
          </p:spPr>
          <p:txBody>
            <a:bodyPr wrap="none" rtlCol="0">
              <a:spAutoFit/>
            </a:bodyPr>
            <a:lstStyle/>
            <a:p>
              <a:r>
                <a:rPr kumimoji="1" lang="en-US" altLang="zh-CN" sz="2000" dirty="0"/>
                <a:t>3</a:t>
              </a:r>
              <a:endParaRPr kumimoji="1" lang="zh-CN" altLang="en-US" sz="2000" dirty="0"/>
            </a:p>
          </p:txBody>
        </p:sp>
        <p:sp>
          <p:nvSpPr>
            <p:cNvPr id="30" name="文本框 29">
              <a:extLst>
                <a:ext uri="{FF2B5EF4-FFF2-40B4-BE49-F238E27FC236}">
                  <a16:creationId xmlns:a16="http://schemas.microsoft.com/office/drawing/2014/main" id="{8F7C7079-83E5-3215-F78A-C8E503EC988C}"/>
                </a:ext>
              </a:extLst>
            </p:cNvPr>
            <p:cNvSpPr txBox="1"/>
            <p:nvPr/>
          </p:nvSpPr>
          <p:spPr>
            <a:xfrm>
              <a:off x="4302343" y="3331937"/>
              <a:ext cx="314510" cy="400110"/>
            </a:xfrm>
            <a:prstGeom prst="rect">
              <a:avLst/>
            </a:prstGeom>
            <a:noFill/>
          </p:spPr>
          <p:txBody>
            <a:bodyPr wrap="none" rtlCol="0">
              <a:spAutoFit/>
            </a:bodyPr>
            <a:lstStyle/>
            <a:p>
              <a:r>
                <a:rPr kumimoji="1" lang="en-US" altLang="zh-CN" sz="2000" dirty="0"/>
                <a:t>4</a:t>
              </a:r>
              <a:endParaRPr kumimoji="1" lang="zh-CN" altLang="en-US" sz="2000" dirty="0"/>
            </a:p>
          </p:txBody>
        </p:sp>
        <p:sp>
          <p:nvSpPr>
            <p:cNvPr id="31" name="文本框 30">
              <a:extLst>
                <a:ext uri="{FF2B5EF4-FFF2-40B4-BE49-F238E27FC236}">
                  <a16:creationId xmlns:a16="http://schemas.microsoft.com/office/drawing/2014/main" id="{831890A1-9055-1E6D-C8BA-2C9E50B5AB04}"/>
                </a:ext>
              </a:extLst>
            </p:cNvPr>
            <p:cNvSpPr txBox="1"/>
            <p:nvPr/>
          </p:nvSpPr>
          <p:spPr>
            <a:xfrm>
              <a:off x="4302343" y="2837224"/>
              <a:ext cx="314510" cy="400110"/>
            </a:xfrm>
            <a:prstGeom prst="rect">
              <a:avLst/>
            </a:prstGeom>
            <a:noFill/>
          </p:spPr>
          <p:txBody>
            <a:bodyPr wrap="none" rtlCol="0">
              <a:spAutoFit/>
            </a:bodyPr>
            <a:lstStyle/>
            <a:p>
              <a:r>
                <a:rPr kumimoji="1" lang="en-US" altLang="zh-CN" sz="2000" dirty="0"/>
                <a:t>5</a:t>
              </a:r>
              <a:endParaRPr kumimoji="1" lang="zh-CN" altLang="en-US" sz="2000" dirty="0"/>
            </a:p>
          </p:txBody>
        </p:sp>
        <p:sp>
          <p:nvSpPr>
            <p:cNvPr id="32" name="文本框 31">
              <a:extLst>
                <a:ext uri="{FF2B5EF4-FFF2-40B4-BE49-F238E27FC236}">
                  <a16:creationId xmlns:a16="http://schemas.microsoft.com/office/drawing/2014/main" id="{FC6C6E7F-2E48-8922-7D4B-2D7A0C082CFD}"/>
                </a:ext>
              </a:extLst>
            </p:cNvPr>
            <p:cNvSpPr txBox="1"/>
            <p:nvPr/>
          </p:nvSpPr>
          <p:spPr>
            <a:xfrm>
              <a:off x="4136432" y="2262033"/>
              <a:ext cx="655949" cy="369332"/>
            </a:xfrm>
            <a:prstGeom prst="rect">
              <a:avLst/>
            </a:prstGeom>
            <a:noFill/>
          </p:spPr>
          <p:txBody>
            <a:bodyPr wrap="none" rtlCol="0">
              <a:spAutoFit/>
            </a:bodyPr>
            <a:lstStyle/>
            <a:p>
              <a:r>
                <a:rPr kumimoji="1" lang="zh-CN" altLang="en-US" b="1" dirty="0"/>
                <a:t>下标</a:t>
              </a:r>
            </a:p>
          </p:txBody>
        </p:sp>
      </p:grpSp>
      <p:grpSp>
        <p:nvGrpSpPr>
          <p:cNvPr id="53" name="组合 52">
            <a:extLst>
              <a:ext uri="{FF2B5EF4-FFF2-40B4-BE49-F238E27FC236}">
                <a16:creationId xmlns:a16="http://schemas.microsoft.com/office/drawing/2014/main" id="{A52A8D11-AC74-364C-D4FE-7E19971F84BF}"/>
              </a:ext>
            </a:extLst>
          </p:cNvPr>
          <p:cNvGrpSpPr/>
          <p:nvPr/>
        </p:nvGrpSpPr>
        <p:grpSpPr>
          <a:xfrm>
            <a:off x="6532099" y="2258302"/>
            <a:ext cx="4328945" cy="3350394"/>
            <a:chOff x="6532099" y="2258302"/>
            <a:chExt cx="4328945" cy="3350394"/>
          </a:xfrm>
        </p:grpSpPr>
        <p:sp>
          <p:nvSpPr>
            <p:cNvPr id="33" name="Text Box 5">
              <a:extLst>
                <a:ext uri="{FF2B5EF4-FFF2-40B4-BE49-F238E27FC236}">
                  <a16:creationId xmlns:a16="http://schemas.microsoft.com/office/drawing/2014/main" id="{D4E09E40-D0D7-1E5B-22DC-50DDBA8EC4EF}"/>
                </a:ext>
              </a:extLst>
            </p:cNvPr>
            <p:cNvSpPr txBox="1">
              <a:spLocks noChangeArrowheads="1"/>
            </p:cNvSpPr>
            <p:nvPr/>
          </p:nvSpPr>
          <p:spPr bwMode="auto">
            <a:xfrm>
              <a:off x="8395115" y="5060430"/>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solidFill>
                    <a:srgbClr val="FF0000"/>
                  </a:solidFill>
                  <a:latin typeface="Calibri" panose="020F0502020204030204" pitchFamily="34" charset="0"/>
                  <a:ea typeface="微软雅黑" pitchFamily="34" charset="-122"/>
                </a:rPr>
                <a:t>5</a:t>
              </a:r>
              <a:endParaRPr lang="en-US" altLang="zh-CN" sz="3200" b="1" dirty="0">
                <a:solidFill>
                  <a:srgbClr val="FF0000"/>
                </a:solidFill>
                <a:latin typeface="Calibri" panose="020F0502020204030204" pitchFamily="34" charset="0"/>
                <a:ea typeface="微软雅黑" pitchFamily="34" charset="-122"/>
              </a:endParaRPr>
            </a:p>
          </p:txBody>
        </p:sp>
        <p:sp>
          <p:nvSpPr>
            <p:cNvPr id="34" name="Text Box 6">
              <a:extLst>
                <a:ext uri="{FF2B5EF4-FFF2-40B4-BE49-F238E27FC236}">
                  <a16:creationId xmlns:a16="http://schemas.microsoft.com/office/drawing/2014/main" id="{03C50714-0352-88ED-F4C1-B1FE6DBF7A76}"/>
                </a:ext>
              </a:extLst>
            </p:cNvPr>
            <p:cNvSpPr txBox="1">
              <a:spLocks noChangeArrowheads="1"/>
            </p:cNvSpPr>
            <p:nvPr/>
          </p:nvSpPr>
          <p:spPr bwMode="auto">
            <a:xfrm>
              <a:off x="8395115" y="4603230"/>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35" name="Text Box 7">
              <a:extLst>
                <a:ext uri="{FF2B5EF4-FFF2-40B4-BE49-F238E27FC236}">
                  <a16:creationId xmlns:a16="http://schemas.microsoft.com/office/drawing/2014/main" id="{D7D9F9B0-6615-8DC4-BFAF-909DB4E55BD1}"/>
                </a:ext>
              </a:extLst>
            </p:cNvPr>
            <p:cNvSpPr txBox="1">
              <a:spLocks noChangeArrowheads="1"/>
            </p:cNvSpPr>
            <p:nvPr/>
          </p:nvSpPr>
          <p:spPr bwMode="auto">
            <a:xfrm>
              <a:off x="8395115" y="4146030"/>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sp>
          <p:nvSpPr>
            <p:cNvPr id="36" name="Text Box 12">
              <a:extLst>
                <a:ext uri="{FF2B5EF4-FFF2-40B4-BE49-F238E27FC236}">
                  <a16:creationId xmlns:a16="http://schemas.microsoft.com/office/drawing/2014/main" id="{3F3FD164-3690-8BFB-16B6-466A6DDF1ED8}"/>
                </a:ext>
              </a:extLst>
            </p:cNvPr>
            <p:cNvSpPr txBox="1">
              <a:spLocks noChangeArrowheads="1"/>
            </p:cNvSpPr>
            <p:nvPr/>
          </p:nvSpPr>
          <p:spPr bwMode="auto">
            <a:xfrm>
              <a:off x="8395115" y="3688830"/>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2</a:t>
              </a:r>
              <a:endParaRPr lang="en-US" altLang="zh-CN" sz="3200" b="1" dirty="0">
                <a:latin typeface="Calibri" panose="020F0502020204030204" pitchFamily="34" charset="0"/>
                <a:ea typeface="微软雅黑" pitchFamily="34" charset="-122"/>
              </a:endParaRPr>
            </a:p>
          </p:txBody>
        </p:sp>
        <p:sp>
          <p:nvSpPr>
            <p:cNvPr id="37" name="Text Box 13">
              <a:extLst>
                <a:ext uri="{FF2B5EF4-FFF2-40B4-BE49-F238E27FC236}">
                  <a16:creationId xmlns:a16="http://schemas.microsoft.com/office/drawing/2014/main" id="{F72DE654-39B5-59E2-A104-86FB408785C4}"/>
                </a:ext>
              </a:extLst>
            </p:cNvPr>
            <p:cNvSpPr txBox="1">
              <a:spLocks noChangeArrowheads="1"/>
            </p:cNvSpPr>
            <p:nvPr/>
          </p:nvSpPr>
          <p:spPr bwMode="auto">
            <a:xfrm>
              <a:off x="8395115" y="3240716"/>
              <a:ext cx="1893856" cy="46166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r>
                <a:rPr kumimoji="1" lang="en-US" altLang="zh-CN" sz="2400" b="1" dirty="0">
                  <a:latin typeface="Lucida Fax" charset="0"/>
                  <a:ea typeface="微软雅黑" charset="0"/>
                  <a:cs typeface="微软雅黑" charset="0"/>
                </a:rPr>
                <a:t>1</a:t>
              </a:r>
              <a:endParaRPr kumimoji="1" lang="zh-CN" altLang="en-US" sz="2400" b="1" dirty="0">
                <a:latin typeface="Lucida Fax" charset="0"/>
                <a:ea typeface="微软雅黑" charset="0"/>
                <a:cs typeface="微软雅黑" charset="0"/>
              </a:endParaRPr>
            </a:p>
          </p:txBody>
        </p:sp>
        <p:sp>
          <p:nvSpPr>
            <p:cNvPr id="38" name="Text Box 14">
              <a:extLst>
                <a:ext uri="{FF2B5EF4-FFF2-40B4-BE49-F238E27FC236}">
                  <a16:creationId xmlns:a16="http://schemas.microsoft.com/office/drawing/2014/main" id="{B5FBB50B-11D5-6059-5ABE-CC31E23FC346}"/>
                </a:ext>
              </a:extLst>
            </p:cNvPr>
            <p:cNvSpPr txBox="1">
              <a:spLocks noChangeArrowheads="1"/>
            </p:cNvSpPr>
            <p:nvPr/>
          </p:nvSpPr>
          <p:spPr bwMode="auto">
            <a:xfrm>
              <a:off x="8395115" y="2780780"/>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grpSp>
          <p:nvGrpSpPr>
            <p:cNvPr id="39" name="组合 5">
              <a:extLst>
                <a:ext uri="{FF2B5EF4-FFF2-40B4-BE49-F238E27FC236}">
                  <a16:creationId xmlns:a16="http://schemas.microsoft.com/office/drawing/2014/main" id="{9F773C20-29C9-DC70-C417-F167CEC5C12D}"/>
                </a:ext>
              </a:extLst>
            </p:cNvPr>
            <p:cNvGrpSpPr>
              <a:grpSpLocks/>
            </p:cNvGrpSpPr>
            <p:nvPr/>
          </p:nvGrpSpPr>
          <p:grpSpPr bwMode="auto">
            <a:xfrm>
              <a:off x="6532099" y="5049182"/>
              <a:ext cx="1793875" cy="461962"/>
              <a:chOff x="2427297" y="5329298"/>
              <a:chExt cx="1794699" cy="461902"/>
            </a:xfrm>
          </p:grpSpPr>
          <p:sp>
            <p:nvSpPr>
              <p:cNvPr id="40" name="Rectangle 8">
                <a:extLst>
                  <a:ext uri="{FF2B5EF4-FFF2-40B4-BE49-F238E27FC236}">
                    <a16:creationId xmlns:a16="http://schemas.microsoft.com/office/drawing/2014/main" id="{96906FF4-DE19-0623-381B-DCEBEE06FF1E}"/>
                  </a:ext>
                </a:extLst>
              </p:cNvPr>
              <p:cNvSpPr>
                <a:spLocks noChangeArrowheads="1"/>
              </p:cNvSpPr>
              <p:nvPr/>
            </p:nvSpPr>
            <p:spPr bwMode="auto">
              <a:xfrm>
                <a:off x="2427297" y="5329298"/>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solidFill>
                      <a:srgbClr val="1302EE"/>
                    </a:solidFill>
                    <a:latin typeface="Lucida Fax" charset="0"/>
                    <a:ea typeface="微软雅黑" charset="0"/>
                    <a:cs typeface="微软雅黑" charset="0"/>
                  </a:rPr>
                  <a:t>栈顶</a:t>
                </a:r>
                <a:endParaRPr kumimoji="1" lang="en-US" altLang="zh-CN" sz="2400" b="1" dirty="0">
                  <a:solidFill>
                    <a:srgbClr val="1302EE"/>
                  </a:solidFill>
                  <a:latin typeface="Lucida Fax" charset="0"/>
                  <a:ea typeface="微软雅黑" charset="0"/>
                  <a:cs typeface="微软雅黑" charset="0"/>
                </a:endParaRPr>
              </a:p>
            </p:txBody>
          </p:sp>
          <p:sp>
            <p:nvSpPr>
              <p:cNvPr id="41" name="Line 9">
                <a:extLst>
                  <a:ext uri="{FF2B5EF4-FFF2-40B4-BE49-F238E27FC236}">
                    <a16:creationId xmlns:a16="http://schemas.microsoft.com/office/drawing/2014/main" id="{E7E415E5-5A0F-7A62-CA29-007904055C83}"/>
                  </a:ext>
                </a:extLst>
              </p:cNvPr>
              <p:cNvSpPr>
                <a:spLocks noChangeShapeType="1"/>
              </p:cNvSpPr>
              <p:nvPr/>
            </p:nvSpPr>
            <p:spPr bwMode="auto">
              <a:xfrm>
                <a:off x="3483470" y="5608662"/>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42" name="Line 9">
              <a:extLst>
                <a:ext uri="{FF2B5EF4-FFF2-40B4-BE49-F238E27FC236}">
                  <a16:creationId xmlns:a16="http://schemas.microsoft.com/office/drawing/2014/main" id="{4DCB7F3F-BB45-ECC1-9B04-0F4F6FF08CB9}"/>
                </a:ext>
              </a:extLst>
            </p:cNvPr>
            <p:cNvSpPr>
              <a:spLocks noChangeShapeType="1"/>
            </p:cNvSpPr>
            <p:nvPr/>
          </p:nvSpPr>
          <p:spPr bwMode="auto">
            <a:xfrm>
              <a:off x="7587787" y="3542804"/>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
          <p:nvSpPr>
            <p:cNvPr id="43" name="Rectangle 8">
              <a:extLst>
                <a:ext uri="{FF2B5EF4-FFF2-40B4-BE49-F238E27FC236}">
                  <a16:creationId xmlns:a16="http://schemas.microsoft.com/office/drawing/2014/main" id="{C2E01A1A-9799-809A-CB15-EAE81A50497E}"/>
                </a:ext>
              </a:extLst>
            </p:cNvPr>
            <p:cNvSpPr>
              <a:spLocks noChangeArrowheads="1"/>
            </p:cNvSpPr>
            <p:nvPr/>
          </p:nvSpPr>
          <p:spPr bwMode="auto">
            <a:xfrm>
              <a:off x="6750795" y="3302263"/>
              <a:ext cx="1247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latin typeface="Lucida Fax" charset="0"/>
                  <a:ea typeface="微软雅黑" charset="0"/>
                  <a:cs typeface="微软雅黑" charset="0"/>
                </a:rPr>
                <a:t>栈底</a:t>
              </a:r>
              <a:endParaRPr kumimoji="1" lang="en-US" altLang="zh-CN" sz="2400" b="1" dirty="0">
                <a:latin typeface="Lucida Fax" charset="0"/>
                <a:ea typeface="微软雅黑" charset="0"/>
                <a:cs typeface="微软雅黑" charset="0"/>
              </a:endParaRPr>
            </a:p>
          </p:txBody>
        </p:sp>
        <p:sp>
          <p:nvSpPr>
            <p:cNvPr id="44" name="文本框 43">
              <a:extLst>
                <a:ext uri="{FF2B5EF4-FFF2-40B4-BE49-F238E27FC236}">
                  <a16:creationId xmlns:a16="http://schemas.microsoft.com/office/drawing/2014/main" id="{BFFB8632-EFE2-EA6D-9D53-9570D9CE405A}"/>
                </a:ext>
              </a:extLst>
            </p:cNvPr>
            <p:cNvSpPr txBox="1"/>
            <p:nvPr/>
          </p:nvSpPr>
          <p:spPr>
            <a:xfrm>
              <a:off x="10371006" y="5208586"/>
              <a:ext cx="314510" cy="400110"/>
            </a:xfrm>
            <a:prstGeom prst="rect">
              <a:avLst/>
            </a:prstGeom>
            <a:noFill/>
          </p:spPr>
          <p:txBody>
            <a:bodyPr wrap="none" rtlCol="0">
              <a:spAutoFit/>
            </a:bodyPr>
            <a:lstStyle/>
            <a:p>
              <a:r>
                <a:rPr kumimoji="1" lang="en-US" altLang="zh-CN" sz="2000" dirty="0"/>
                <a:t>0</a:t>
              </a:r>
              <a:endParaRPr kumimoji="1" lang="zh-CN" altLang="en-US" sz="2000" dirty="0"/>
            </a:p>
          </p:txBody>
        </p:sp>
        <p:sp>
          <p:nvSpPr>
            <p:cNvPr id="45" name="文本框 44">
              <a:extLst>
                <a:ext uri="{FF2B5EF4-FFF2-40B4-BE49-F238E27FC236}">
                  <a16:creationId xmlns:a16="http://schemas.microsoft.com/office/drawing/2014/main" id="{02A26F94-DE61-BCC6-6077-0DEF20C03899}"/>
                </a:ext>
              </a:extLst>
            </p:cNvPr>
            <p:cNvSpPr txBox="1"/>
            <p:nvPr/>
          </p:nvSpPr>
          <p:spPr>
            <a:xfrm>
              <a:off x="10371006" y="4713873"/>
              <a:ext cx="314510" cy="400110"/>
            </a:xfrm>
            <a:prstGeom prst="rect">
              <a:avLst/>
            </a:prstGeom>
            <a:noFill/>
          </p:spPr>
          <p:txBody>
            <a:bodyPr wrap="none" rtlCol="0">
              <a:spAutoFit/>
            </a:bodyPr>
            <a:lstStyle/>
            <a:p>
              <a:r>
                <a:rPr kumimoji="1" lang="en-US" altLang="zh-CN" sz="2000" dirty="0"/>
                <a:t>1</a:t>
              </a:r>
              <a:endParaRPr kumimoji="1" lang="zh-CN" altLang="en-US" sz="2000" dirty="0"/>
            </a:p>
          </p:txBody>
        </p:sp>
        <p:sp>
          <p:nvSpPr>
            <p:cNvPr id="46" name="文本框 45">
              <a:extLst>
                <a:ext uri="{FF2B5EF4-FFF2-40B4-BE49-F238E27FC236}">
                  <a16:creationId xmlns:a16="http://schemas.microsoft.com/office/drawing/2014/main" id="{33B87175-3C59-1B84-AB22-A0499E92082B}"/>
                </a:ext>
              </a:extLst>
            </p:cNvPr>
            <p:cNvSpPr txBox="1"/>
            <p:nvPr/>
          </p:nvSpPr>
          <p:spPr>
            <a:xfrm>
              <a:off x="10371006" y="4261362"/>
              <a:ext cx="314510" cy="400110"/>
            </a:xfrm>
            <a:prstGeom prst="rect">
              <a:avLst/>
            </a:prstGeom>
            <a:noFill/>
          </p:spPr>
          <p:txBody>
            <a:bodyPr wrap="none" rtlCol="0">
              <a:spAutoFit/>
            </a:bodyPr>
            <a:lstStyle/>
            <a:p>
              <a:r>
                <a:rPr kumimoji="1" lang="en-US" altLang="zh-CN" sz="2000" dirty="0"/>
                <a:t>2</a:t>
              </a:r>
              <a:endParaRPr kumimoji="1" lang="zh-CN" altLang="en-US" sz="2000" dirty="0"/>
            </a:p>
          </p:txBody>
        </p:sp>
        <p:sp>
          <p:nvSpPr>
            <p:cNvPr id="47" name="文本框 46">
              <a:extLst>
                <a:ext uri="{FF2B5EF4-FFF2-40B4-BE49-F238E27FC236}">
                  <a16:creationId xmlns:a16="http://schemas.microsoft.com/office/drawing/2014/main" id="{50B2ADFB-25D5-062C-AD00-B04BE7FC5C64}"/>
                </a:ext>
              </a:extLst>
            </p:cNvPr>
            <p:cNvSpPr txBox="1"/>
            <p:nvPr/>
          </p:nvSpPr>
          <p:spPr>
            <a:xfrm>
              <a:off x="10371006" y="3780719"/>
              <a:ext cx="314510" cy="400110"/>
            </a:xfrm>
            <a:prstGeom prst="rect">
              <a:avLst/>
            </a:prstGeom>
            <a:noFill/>
          </p:spPr>
          <p:txBody>
            <a:bodyPr wrap="none" rtlCol="0">
              <a:spAutoFit/>
            </a:bodyPr>
            <a:lstStyle/>
            <a:p>
              <a:r>
                <a:rPr kumimoji="1" lang="en-US" altLang="zh-CN" sz="2000" dirty="0"/>
                <a:t>3</a:t>
              </a:r>
              <a:endParaRPr kumimoji="1" lang="zh-CN" altLang="en-US" sz="2000" dirty="0"/>
            </a:p>
          </p:txBody>
        </p:sp>
        <p:sp>
          <p:nvSpPr>
            <p:cNvPr id="48" name="文本框 47">
              <a:extLst>
                <a:ext uri="{FF2B5EF4-FFF2-40B4-BE49-F238E27FC236}">
                  <a16:creationId xmlns:a16="http://schemas.microsoft.com/office/drawing/2014/main" id="{406637CF-589C-747F-6D97-48109759DF08}"/>
                </a:ext>
              </a:extLst>
            </p:cNvPr>
            <p:cNvSpPr txBox="1"/>
            <p:nvPr/>
          </p:nvSpPr>
          <p:spPr>
            <a:xfrm>
              <a:off x="10371006" y="3328206"/>
              <a:ext cx="314510" cy="400110"/>
            </a:xfrm>
            <a:prstGeom prst="rect">
              <a:avLst/>
            </a:prstGeom>
            <a:noFill/>
          </p:spPr>
          <p:txBody>
            <a:bodyPr wrap="none" rtlCol="0">
              <a:spAutoFit/>
            </a:bodyPr>
            <a:lstStyle/>
            <a:p>
              <a:r>
                <a:rPr kumimoji="1" lang="en-US" altLang="zh-CN" sz="2000" dirty="0"/>
                <a:t>4</a:t>
              </a:r>
              <a:endParaRPr kumimoji="1" lang="zh-CN" altLang="en-US" sz="2000" dirty="0"/>
            </a:p>
          </p:txBody>
        </p:sp>
        <p:sp>
          <p:nvSpPr>
            <p:cNvPr id="49" name="文本框 48">
              <a:extLst>
                <a:ext uri="{FF2B5EF4-FFF2-40B4-BE49-F238E27FC236}">
                  <a16:creationId xmlns:a16="http://schemas.microsoft.com/office/drawing/2014/main" id="{D42D17D2-7538-DC2E-6152-8FB78D6654B1}"/>
                </a:ext>
              </a:extLst>
            </p:cNvPr>
            <p:cNvSpPr txBox="1"/>
            <p:nvPr/>
          </p:nvSpPr>
          <p:spPr>
            <a:xfrm>
              <a:off x="10371006" y="2833493"/>
              <a:ext cx="314510" cy="400110"/>
            </a:xfrm>
            <a:prstGeom prst="rect">
              <a:avLst/>
            </a:prstGeom>
            <a:noFill/>
          </p:spPr>
          <p:txBody>
            <a:bodyPr wrap="none" rtlCol="0">
              <a:spAutoFit/>
            </a:bodyPr>
            <a:lstStyle/>
            <a:p>
              <a:r>
                <a:rPr kumimoji="1" lang="en-US" altLang="zh-CN" sz="2000" dirty="0"/>
                <a:t>5</a:t>
              </a:r>
              <a:endParaRPr kumimoji="1" lang="zh-CN" altLang="en-US" sz="2000" dirty="0"/>
            </a:p>
          </p:txBody>
        </p:sp>
        <p:sp>
          <p:nvSpPr>
            <p:cNvPr id="50" name="文本框 49">
              <a:extLst>
                <a:ext uri="{FF2B5EF4-FFF2-40B4-BE49-F238E27FC236}">
                  <a16:creationId xmlns:a16="http://schemas.microsoft.com/office/drawing/2014/main" id="{06D5BC9A-17A2-9DE7-6A0B-2924B71E4F5C}"/>
                </a:ext>
              </a:extLst>
            </p:cNvPr>
            <p:cNvSpPr txBox="1"/>
            <p:nvPr/>
          </p:nvSpPr>
          <p:spPr>
            <a:xfrm>
              <a:off x="10205095" y="2258302"/>
              <a:ext cx="655949" cy="369332"/>
            </a:xfrm>
            <a:prstGeom prst="rect">
              <a:avLst/>
            </a:prstGeom>
            <a:noFill/>
          </p:spPr>
          <p:txBody>
            <a:bodyPr wrap="none" rtlCol="0">
              <a:spAutoFit/>
            </a:bodyPr>
            <a:lstStyle/>
            <a:p>
              <a:r>
                <a:rPr kumimoji="1" lang="zh-CN" altLang="en-US" b="1" dirty="0"/>
                <a:t>下标</a:t>
              </a:r>
            </a:p>
          </p:txBody>
        </p:sp>
      </p:grpSp>
      <p:sp>
        <p:nvSpPr>
          <p:cNvPr id="51" name="右箭头 50">
            <a:extLst>
              <a:ext uri="{FF2B5EF4-FFF2-40B4-BE49-F238E27FC236}">
                <a16:creationId xmlns:a16="http://schemas.microsoft.com/office/drawing/2014/main" id="{0477688B-F6BD-9584-581F-B52211044C67}"/>
              </a:ext>
            </a:extLst>
          </p:cNvPr>
          <p:cNvSpPr/>
          <p:nvPr/>
        </p:nvSpPr>
        <p:spPr>
          <a:xfrm>
            <a:off x="5199051" y="3674379"/>
            <a:ext cx="1144172" cy="1333264"/>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Microsoft YaHei" panose="020B0503020204020204" pitchFamily="34" charset="-122"/>
                <a:ea typeface="Microsoft YaHei" panose="020B0503020204020204" pitchFamily="34" charset="-122"/>
              </a:rPr>
              <a:t>入栈</a:t>
            </a:r>
          </a:p>
        </p:txBody>
      </p:sp>
    </p:spTree>
    <p:extLst>
      <p:ext uri="{BB962C8B-B14F-4D97-AF65-F5344CB8AC3E}">
        <p14:creationId xmlns:p14="http://schemas.microsoft.com/office/powerpoint/2010/main" val="100776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checkerboard(across)">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6F9FE02-2F8B-4BEE-8461-5C8E60E9944E}"/>
              </a:ext>
            </a:extLst>
          </p:cNvPr>
          <p:cNvSpPr>
            <a:spLocks noGrp="1" noChangeArrowheads="1"/>
          </p:cNvSpPr>
          <p:nvPr>
            <p:ph type="title"/>
          </p:nvPr>
        </p:nvSpPr>
        <p:spPr/>
        <p:txBody>
          <a:bodyPr>
            <a:normAutofit/>
          </a:bodyPr>
          <a:lstStyle/>
          <a:p>
            <a:pPr eaLnBrk="1" hangingPunct="1">
              <a:spcBef>
                <a:spcPct val="50000"/>
              </a:spcBef>
              <a:defRPr/>
            </a:pPr>
            <a:r>
              <a:rPr kumimoji="0" dirty="0" err="1"/>
              <a:t>栈的实现方式</a:t>
            </a:r>
            <a:endParaRPr kumimoji="0" dirty="0"/>
          </a:p>
        </p:txBody>
      </p:sp>
      <p:sp>
        <p:nvSpPr>
          <p:cNvPr id="4" name="副标题 3">
            <a:extLst>
              <a:ext uri="{FF2B5EF4-FFF2-40B4-BE49-F238E27FC236}">
                <a16:creationId xmlns:a16="http://schemas.microsoft.com/office/drawing/2014/main" id="{7A3D3C9B-E25B-454E-92DD-A1D9BECCF0CA}"/>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8CE40369-1C82-4442-A6AD-FA45CDD804D3}"/>
              </a:ext>
            </a:extLst>
          </p:cNvPr>
          <p:cNvSpPr>
            <a:spLocks noGrp="1"/>
          </p:cNvSpPr>
          <p:nvPr>
            <p:ph type="body" idx="10"/>
          </p:nvPr>
        </p:nvSpPr>
        <p:spPr/>
        <p:txBody>
          <a:bodyPr/>
          <a:lstStyle/>
          <a:p>
            <a:endParaRPr lang="zh-CN" altLang="en-US"/>
          </a:p>
        </p:txBody>
      </p:sp>
      <p:sp>
        <p:nvSpPr>
          <p:cNvPr id="18435" name="Rectangle 3">
            <a:extLst>
              <a:ext uri="{FF2B5EF4-FFF2-40B4-BE49-F238E27FC236}">
                <a16:creationId xmlns:a16="http://schemas.microsoft.com/office/drawing/2014/main" id="{B110D1A7-068B-4B88-97ED-37C7E5BC35E5}"/>
              </a:ext>
            </a:extLst>
          </p:cNvPr>
          <p:cNvSpPr>
            <a:spLocks noGrp="1" noChangeArrowheads="1"/>
          </p:cNvSpPr>
          <p:nvPr>
            <p:ph idx="11"/>
          </p:nvPr>
        </p:nvSpPr>
        <p:spPr bwMode="auto">
          <a:xfrm>
            <a:off x="584225" y="1276351"/>
            <a:ext cx="11055325" cy="9182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2800" dirty="0"/>
              <a:t>顺序栈</a:t>
            </a:r>
            <a:r>
              <a:rPr lang="zh-CN" altLang="en-US" sz="2800" dirty="0"/>
              <a:t>的栈顶设置方式</a:t>
            </a:r>
            <a:r>
              <a:rPr lang="en-US" altLang="zh-CN" sz="2800" dirty="0"/>
              <a:t>2</a:t>
            </a:r>
            <a:r>
              <a:rPr lang="en-US" altLang="zh-CN" sz="2800" dirty="0">
                <a:sym typeface="Wingdings" pitchFamily="2" charset="2"/>
              </a:rPr>
              <a:t>:</a:t>
            </a:r>
            <a:r>
              <a:rPr lang="zh-CN" altLang="en-US" sz="2800" dirty="0">
                <a:sym typeface="Wingdings" pitchFamily="2" charset="2"/>
              </a:rPr>
              <a:t>   </a:t>
            </a:r>
            <a:r>
              <a:rPr lang="zh-CN" altLang="en-US" sz="2800" dirty="0">
                <a:solidFill>
                  <a:srgbClr val="0070C0"/>
                </a:solidFill>
                <a:sym typeface="Wingdings" pitchFamily="2" charset="2"/>
              </a:rPr>
              <a:t>指向顺序表最后一个元素</a:t>
            </a:r>
            <a:endParaRPr lang="zh-CN" altLang="zh-CN" sz="2800" dirty="0">
              <a:solidFill>
                <a:srgbClr val="0070C0"/>
              </a:solidFill>
            </a:endParaRPr>
          </a:p>
        </p:txBody>
      </p:sp>
      <p:grpSp>
        <p:nvGrpSpPr>
          <p:cNvPr id="52" name="组合 51">
            <a:extLst>
              <a:ext uri="{FF2B5EF4-FFF2-40B4-BE49-F238E27FC236}">
                <a16:creationId xmlns:a16="http://schemas.microsoft.com/office/drawing/2014/main" id="{6A70905F-B20D-D366-78CC-B703FF09ED4E}"/>
              </a:ext>
            </a:extLst>
          </p:cNvPr>
          <p:cNvGrpSpPr/>
          <p:nvPr/>
        </p:nvGrpSpPr>
        <p:grpSpPr>
          <a:xfrm>
            <a:off x="655252" y="2262033"/>
            <a:ext cx="4137129" cy="3350394"/>
            <a:chOff x="655252" y="2262033"/>
            <a:chExt cx="4137129" cy="3350394"/>
          </a:xfrm>
        </p:grpSpPr>
        <p:sp>
          <p:nvSpPr>
            <p:cNvPr id="2" name="Text Box 5">
              <a:extLst>
                <a:ext uri="{FF2B5EF4-FFF2-40B4-BE49-F238E27FC236}">
                  <a16:creationId xmlns:a16="http://schemas.microsoft.com/office/drawing/2014/main" id="{4E9EF735-4C43-B07C-CE04-D4CE3F6BD3ED}"/>
                </a:ext>
              </a:extLst>
            </p:cNvPr>
            <p:cNvSpPr txBox="1">
              <a:spLocks noChangeArrowheads="1"/>
            </p:cNvSpPr>
            <p:nvPr/>
          </p:nvSpPr>
          <p:spPr bwMode="auto">
            <a:xfrm>
              <a:off x="2326452" y="50641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1</a:t>
              </a:r>
              <a:endParaRPr lang="en-US" altLang="zh-CN" sz="3200" b="1" dirty="0">
                <a:latin typeface="Calibri" panose="020F0502020204030204" pitchFamily="34" charset="0"/>
                <a:ea typeface="微软雅黑" pitchFamily="34" charset="-122"/>
              </a:endParaRPr>
            </a:p>
          </p:txBody>
        </p:sp>
        <p:sp>
          <p:nvSpPr>
            <p:cNvPr id="3" name="Text Box 6">
              <a:extLst>
                <a:ext uri="{FF2B5EF4-FFF2-40B4-BE49-F238E27FC236}">
                  <a16:creationId xmlns:a16="http://schemas.microsoft.com/office/drawing/2014/main" id="{08BDD0B1-9B96-8217-19AF-1ABA9E571855}"/>
                </a:ext>
              </a:extLst>
            </p:cNvPr>
            <p:cNvSpPr txBox="1">
              <a:spLocks noChangeArrowheads="1"/>
            </p:cNvSpPr>
            <p:nvPr/>
          </p:nvSpPr>
          <p:spPr bwMode="auto">
            <a:xfrm>
              <a:off x="2326452" y="46069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2</a:t>
              </a:r>
              <a:endParaRPr lang="en-US" altLang="zh-CN" sz="3200" b="1" dirty="0">
                <a:latin typeface="Calibri" panose="020F0502020204030204" pitchFamily="34" charset="0"/>
                <a:ea typeface="微软雅黑" pitchFamily="34" charset="-122"/>
              </a:endParaRPr>
            </a:p>
          </p:txBody>
        </p:sp>
        <p:sp>
          <p:nvSpPr>
            <p:cNvPr id="6" name="Text Box 7">
              <a:extLst>
                <a:ext uri="{FF2B5EF4-FFF2-40B4-BE49-F238E27FC236}">
                  <a16:creationId xmlns:a16="http://schemas.microsoft.com/office/drawing/2014/main" id="{706F2D49-CE4D-30E0-E211-73A3C0D08F79}"/>
                </a:ext>
              </a:extLst>
            </p:cNvPr>
            <p:cNvSpPr txBox="1">
              <a:spLocks noChangeArrowheads="1"/>
            </p:cNvSpPr>
            <p:nvPr/>
          </p:nvSpPr>
          <p:spPr bwMode="auto">
            <a:xfrm>
              <a:off x="2326452" y="41497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sp>
          <p:nvSpPr>
            <p:cNvPr id="7" name="Text Box 12">
              <a:extLst>
                <a:ext uri="{FF2B5EF4-FFF2-40B4-BE49-F238E27FC236}">
                  <a16:creationId xmlns:a16="http://schemas.microsoft.com/office/drawing/2014/main" id="{67048C33-FC70-4387-02CB-57466750B793}"/>
                </a:ext>
              </a:extLst>
            </p:cNvPr>
            <p:cNvSpPr txBox="1">
              <a:spLocks noChangeArrowheads="1"/>
            </p:cNvSpPr>
            <p:nvPr/>
          </p:nvSpPr>
          <p:spPr bwMode="auto">
            <a:xfrm>
              <a:off x="2326452" y="36925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8" name="Text Box 13">
              <a:extLst>
                <a:ext uri="{FF2B5EF4-FFF2-40B4-BE49-F238E27FC236}">
                  <a16:creationId xmlns:a16="http://schemas.microsoft.com/office/drawing/2014/main" id="{3479E152-865A-B9DB-554E-97F1614DCCD7}"/>
                </a:ext>
              </a:extLst>
            </p:cNvPr>
            <p:cNvSpPr txBox="1">
              <a:spLocks noChangeArrowheads="1"/>
            </p:cNvSpPr>
            <p:nvPr/>
          </p:nvSpPr>
          <p:spPr bwMode="auto">
            <a:xfrm>
              <a:off x="2326452" y="3216311"/>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9" name="Text Box 14">
              <a:extLst>
                <a:ext uri="{FF2B5EF4-FFF2-40B4-BE49-F238E27FC236}">
                  <a16:creationId xmlns:a16="http://schemas.microsoft.com/office/drawing/2014/main" id="{A8EB0D37-65DE-87B4-CAD6-F4DB86108076}"/>
                </a:ext>
              </a:extLst>
            </p:cNvPr>
            <p:cNvSpPr txBox="1">
              <a:spLocks noChangeArrowheads="1"/>
            </p:cNvSpPr>
            <p:nvPr/>
          </p:nvSpPr>
          <p:spPr bwMode="auto">
            <a:xfrm>
              <a:off x="2326452" y="2784511"/>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grpSp>
          <p:nvGrpSpPr>
            <p:cNvPr id="10" name="组合 5">
              <a:extLst>
                <a:ext uri="{FF2B5EF4-FFF2-40B4-BE49-F238E27FC236}">
                  <a16:creationId xmlns:a16="http://schemas.microsoft.com/office/drawing/2014/main" id="{BF14BD54-C8EC-37E1-E035-B092948EF4A5}"/>
                </a:ext>
              </a:extLst>
            </p:cNvPr>
            <p:cNvGrpSpPr>
              <a:grpSpLocks/>
            </p:cNvGrpSpPr>
            <p:nvPr/>
          </p:nvGrpSpPr>
          <p:grpSpPr bwMode="auto">
            <a:xfrm>
              <a:off x="655254" y="3731815"/>
              <a:ext cx="1628988" cy="461962"/>
              <a:chOff x="2619207" y="4008372"/>
              <a:chExt cx="1629738" cy="461902"/>
            </a:xfrm>
          </p:grpSpPr>
          <p:sp>
            <p:nvSpPr>
              <p:cNvPr id="11" name="Rectangle 8">
                <a:extLst>
                  <a:ext uri="{FF2B5EF4-FFF2-40B4-BE49-F238E27FC236}">
                    <a16:creationId xmlns:a16="http://schemas.microsoft.com/office/drawing/2014/main" id="{7423FAC8-E179-68B9-2F6D-FC508EDC9375}"/>
                  </a:ext>
                </a:extLst>
              </p:cNvPr>
              <p:cNvSpPr>
                <a:spLocks noChangeArrowheads="1"/>
              </p:cNvSpPr>
              <p:nvPr/>
            </p:nvSpPr>
            <p:spPr bwMode="auto">
              <a:xfrm>
                <a:off x="2619207" y="4008372"/>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solidFill>
                      <a:srgbClr val="1302EE"/>
                    </a:solidFill>
                    <a:latin typeface="Lucida Fax" charset="0"/>
                    <a:ea typeface="微软雅黑" charset="0"/>
                    <a:cs typeface="微软雅黑" charset="0"/>
                  </a:rPr>
                  <a:t>栈顶</a:t>
                </a:r>
                <a:endParaRPr kumimoji="1" lang="en-US" altLang="zh-CN" sz="2400" b="1" dirty="0">
                  <a:solidFill>
                    <a:srgbClr val="1302EE"/>
                  </a:solidFill>
                  <a:latin typeface="Lucida Fax" charset="0"/>
                  <a:ea typeface="微软雅黑" charset="0"/>
                  <a:cs typeface="微软雅黑" charset="0"/>
                </a:endParaRPr>
              </a:p>
            </p:txBody>
          </p:sp>
          <p:sp>
            <p:nvSpPr>
              <p:cNvPr id="12" name="Line 9">
                <a:extLst>
                  <a:ext uri="{FF2B5EF4-FFF2-40B4-BE49-F238E27FC236}">
                    <a16:creationId xmlns:a16="http://schemas.microsoft.com/office/drawing/2014/main" id="{614F092A-17CD-37D7-2EFE-6EDD0D721E86}"/>
                  </a:ext>
                </a:extLst>
              </p:cNvPr>
              <p:cNvSpPr>
                <a:spLocks noChangeShapeType="1"/>
              </p:cNvSpPr>
              <p:nvPr/>
            </p:nvSpPr>
            <p:spPr bwMode="auto">
              <a:xfrm>
                <a:off x="3510419" y="4257298"/>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13" name="Line 9">
              <a:extLst>
                <a:ext uri="{FF2B5EF4-FFF2-40B4-BE49-F238E27FC236}">
                  <a16:creationId xmlns:a16="http://schemas.microsoft.com/office/drawing/2014/main" id="{355E58A0-F6C3-3778-33EA-4C5193F20B28}"/>
                </a:ext>
              </a:extLst>
            </p:cNvPr>
            <p:cNvSpPr>
              <a:spLocks noChangeShapeType="1"/>
            </p:cNvSpPr>
            <p:nvPr/>
          </p:nvSpPr>
          <p:spPr bwMode="auto">
            <a:xfrm>
              <a:off x="1533934" y="5408641"/>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
          <p:nvSpPr>
            <p:cNvPr id="14" name="Rectangle 8">
              <a:extLst>
                <a:ext uri="{FF2B5EF4-FFF2-40B4-BE49-F238E27FC236}">
                  <a16:creationId xmlns:a16="http://schemas.microsoft.com/office/drawing/2014/main" id="{F710667E-3CEB-0FED-F58E-366A124C6349}"/>
                </a:ext>
              </a:extLst>
            </p:cNvPr>
            <p:cNvSpPr>
              <a:spLocks noChangeArrowheads="1"/>
            </p:cNvSpPr>
            <p:nvPr/>
          </p:nvSpPr>
          <p:spPr bwMode="auto">
            <a:xfrm>
              <a:off x="655252" y="5146734"/>
              <a:ext cx="1247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latin typeface="Lucida Fax" charset="0"/>
                  <a:ea typeface="微软雅黑" charset="0"/>
                  <a:cs typeface="微软雅黑" charset="0"/>
                </a:rPr>
                <a:t>栈底</a:t>
              </a:r>
              <a:endParaRPr kumimoji="1" lang="en-US" altLang="zh-CN" sz="2400" b="1" dirty="0">
                <a:latin typeface="Lucida Fax" charset="0"/>
                <a:ea typeface="微软雅黑" charset="0"/>
                <a:cs typeface="微软雅黑" charset="0"/>
              </a:endParaRPr>
            </a:p>
          </p:txBody>
        </p:sp>
        <p:sp>
          <p:nvSpPr>
            <p:cNvPr id="26" name="文本框 25">
              <a:extLst>
                <a:ext uri="{FF2B5EF4-FFF2-40B4-BE49-F238E27FC236}">
                  <a16:creationId xmlns:a16="http://schemas.microsoft.com/office/drawing/2014/main" id="{D41FE31B-98D1-5ACC-07C4-D4AC71FFB6F3}"/>
                </a:ext>
              </a:extLst>
            </p:cNvPr>
            <p:cNvSpPr txBox="1"/>
            <p:nvPr/>
          </p:nvSpPr>
          <p:spPr>
            <a:xfrm>
              <a:off x="4302343" y="5212317"/>
              <a:ext cx="314510" cy="400110"/>
            </a:xfrm>
            <a:prstGeom prst="rect">
              <a:avLst/>
            </a:prstGeom>
            <a:noFill/>
          </p:spPr>
          <p:txBody>
            <a:bodyPr wrap="none" rtlCol="0">
              <a:spAutoFit/>
            </a:bodyPr>
            <a:lstStyle/>
            <a:p>
              <a:r>
                <a:rPr kumimoji="1" lang="en-US" altLang="zh-CN" sz="2000" dirty="0"/>
                <a:t>0</a:t>
              </a:r>
              <a:endParaRPr kumimoji="1" lang="zh-CN" altLang="en-US" sz="2000" dirty="0"/>
            </a:p>
          </p:txBody>
        </p:sp>
        <p:sp>
          <p:nvSpPr>
            <p:cNvPr id="27" name="文本框 26">
              <a:extLst>
                <a:ext uri="{FF2B5EF4-FFF2-40B4-BE49-F238E27FC236}">
                  <a16:creationId xmlns:a16="http://schemas.microsoft.com/office/drawing/2014/main" id="{6F8C2C1D-9544-E35B-70A6-687E5DCE29D6}"/>
                </a:ext>
              </a:extLst>
            </p:cNvPr>
            <p:cNvSpPr txBox="1"/>
            <p:nvPr/>
          </p:nvSpPr>
          <p:spPr>
            <a:xfrm>
              <a:off x="4302343" y="4717604"/>
              <a:ext cx="314510" cy="400110"/>
            </a:xfrm>
            <a:prstGeom prst="rect">
              <a:avLst/>
            </a:prstGeom>
            <a:noFill/>
          </p:spPr>
          <p:txBody>
            <a:bodyPr wrap="none" rtlCol="0">
              <a:spAutoFit/>
            </a:bodyPr>
            <a:lstStyle/>
            <a:p>
              <a:r>
                <a:rPr kumimoji="1" lang="en-US" altLang="zh-CN" sz="2000" dirty="0"/>
                <a:t>1</a:t>
              </a:r>
              <a:endParaRPr kumimoji="1" lang="zh-CN" altLang="en-US" sz="2000" dirty="0"/>
            </a:p>
          </p:txBody>
        </p:sp>
        <p:sp>
          <p:nvSpPr>
            <p:cNvPr id="28" name="文本框 27">
              <a:extLst>
                <a:ext uri="{FF2B5EF4-FFF2-40B4-BE49-F238E27FC236}">
                  <a16:creationId xmlns:a16="http://schemas.microsoft.com/office/drawing/2014/main" id="{BA9B6E4A-31D4-C503-ED27-F440BA638B5F}"/>
                </a:ext>
              </a:extLst>
            </p:cNvPr>
            <p:cNvSpPr txBox="1"/>
            <p:nvPr/>
          </p:nvSpPr>
          <p:spPr>
            <a:xfrm>
              <a:off x="4302343" y="4265093"/>
              <a:ext cx="314510" cy="400110"/>
            </a:xfrm>
            <a:prstGeom prst="rect">
              <a:avLst/>
            </a:prstGeom>
            <a:noFill/>
          </p:spPr>
          <p:txBody>
            <a:bodyPr wrap="none" rtlCol="0">
              <a:spAutoFit/>
            </a:bodyPr>
            <a:lstStyle/>
            <a:p>
              <a:r>
                <a:rPr kumimoji="1" lang="en-US" altLang="zh-CN" sz="2000" dirty="0"/>
                <a:t>2</a:t>
              </a:r>
              <a:endParaRPr kumimoji="1" lang="zh-CN" altLang="en-US" sz="2000" dirty="0"/>
            </a:p>
          </p:txBody>
        </p:sp>
        <p:sp>
          <p:nvSpPr>
            <p:cNvPr id="29" name="文本框 28">
              <a:extLst>
                <a:ext uri="{FF2B5EF4-FFF2-40B4-BE49-F238E27FC236}">
                  <a16:creationId xmlns:a16="http://schemas.microsoft.com/office/drawing/2014/main" id="{5CDEC6CF-974B-28D9-BA94-3BB86CBF77C4}"/>
                </a:ext>
              </a:extLst>
            </p:cNvPr>
            <p:cNvSpPr txBox="1"/>
            <p:nvPr/>
          </p:nvSpPr>
          <p:spPr>
            <a:xfrm>
              <a:off x="4302343" y="3784450"/>
              <a:ext cx="314510" cy="400110"/>
            </a:xfrm>
            <a:prstGeom prst="rect">
              <a:avLst/>
            </a:prstGeom>
            <a:noFill/>
          </p:spPr>
          <p:txBody>
            <a:bodyPr wrap="none" rtlCol="0">
              <a:spAutoFit/>
            </a:bodyPr>
            <a:lstStyle/>
            <a:p>
              <a:r>
                <a:rPr kumimoji="1" lang="en-US" altLang="zh-CN" sz="2000" dirty="0"/>
                <a:t>3</a:t>
              </a:r>
              <a:endParaRPr kumimoji="1" lang="zh-CN" altLang="en-US" sz="2000" dirty="0"/>
            </a:p>
          </p:txBody>
        </p:sp>
        <p:sp>
          <p:nvSpPr>
            <p:cNvPr id="30" name="文本框 29">
              <a:extLst>
                <a:ext uri="{FF2B5EF4-FFF2-40B4-BE49-F238E27FC236}">
                  <a16:creationId xmlns:a16="http://schemas.microsoft.com/office/drawing/2014/main" id="{8F7C7079-83E5-3215-F78A-C8E503EC988C}"/>
                </a:ext>
              </a:extLst>
            </p:cNvPr>
            <p:cNvSpPr txBox="1"/>
            <p:nvPr/>
          </p:nvSpPr>
          <p:spPr>
            <a:xfrm>
              <a:off x="4302343" y="3331937"/>
              <a:ext cx="314510" cy="400110"/>
            </a:xfrm>
            <a:prstGeom prst="rect">
              <a:avLst/>
            </a:prstGeom>
            <a:noFill/>
          </p:spPr>
          <p:txBody>
            <a:bodyPr wrap="none" rtlCol="0">
              <a:spAutoFit/>
            </a:bodyPr>
            <a:lstStyle/>
            <a:p>
              <a:r>
                <a:rPr kumimoji="1" lang="en-US" altLang="zh-CN" sz="2000" dirty="0"/>
                <a:t>4</a:t>
              </a:r>
              <a:endParaRPr kumimoji="1" lang="zh-CN" altLang="en-US" sz="2000" dirty="0"/>
            </a:p>
          </p:txBody>
        </p:sp>
        <p:sp>
          <p:nvSpPr>
            <p:cNvPr id="31" name="文本框 30">
              <a:extLst>
                <a:ext uri="{FF2B5EF4-FFF2-40B4-BE49-F238E27FC236}">
                  <a16:creationId xmlns:a16="http://schemas.microsoft.com/office/drawing/2014/main" id="{831890A1-9055-1E6D-C8BA-2C9E50B5AB04}"/>
                </a:ext>
              </a:extLst>
            </p:cNvPr>
            <p:cNvSpPr txBox="1"/>
            <p:nvPr/>
          </p:nvSpPr>
          <p:spPr>
            <a:xfrm>
              <a:off x="4302343" y="2837224"/>
              <a:ext cx="314510" cy="400110"/>
            </a:xfrm>
            <a:prstGeom prst="rect">
              <a:avLst/>
            </a:prstGeom>
            <a:noFill/>
          </p:spPr>
          <p:txBody>
            <a:bodyPr wrap="none" rtlCol="0">
              <a:spAutoFit/>
            </a:bodyPr>
            <a:lstStyle/>
            <a:p>
              <a:r>
                <a:rPr kumimoji="1" lang="en-US" altLang="zh-CN" sz="2000" dirty="0"/>
                <a:t>5</a:t>
              </a:r>
              <a:endParaRPr kumimoji="1" lang="zh-CN" altLang="en-US" sz="2000" dirty="0"/>
            </a:p>
          </p:txBody>
        </p:sp>
        <p:sp>
          <p:nvSpPr>
            <p:cNvPr id="32" name="文本框 31">
              <a:extLst>
                <a:ext uri="{FF2B5EF4-FFF2-40B4-BE49-F238E27FC236}">
                  <a16:creationId xmlns:a16="http://schemas.microsoft.com/office/drawing/2014/main" id="{FC6C6E7F-2E48-8922-7D4B-2D7A0C082CFD}"/>
                </a:ext>
              </a:extLst>
            </p:cNvPr>
            <p:cNvSpPr txBox="1"/>
            <p:nvPr/>
          </p:nvSpPr>
          <p:spPr>
            <a:xfrm>
              <a:off x="4136432" y="2262033"/>
              <a:ext cx="655949" cy="369332"/>
            </a:xfrm>
            <a:prstGeom prst="rect">
              <a:avLst/>
            </a:prstGeom>
            <a:noFill/>
          </p:spPr>
          <p:txBody>
            <a:bodyPr wrap="none" rtlCol="0">
              <a:spAutoFit/>
            </a:bodyPr>
            <a:lstStyle/>
            <a:p>
              <a:r>
                <a:rPr kumimoji="1" lang="zh-CN" altLang="en-US" b="1" dirty="0"/>
                <a:t>下标</a:t>
              </a:r>
            </a:p>
          </p:txBody>
        </p:sp>
      </p:grpSp>
      <p:sp>
        <p:nvSpPr>
          <p:cNvPr id="51" name="右箭头 50">
            <a:extLst>
              <a:ext uri="{FF2B5EF4-FFF2-40B4-BE49-F238E27FC236}">
                <a16:creationId xmlns:a16="http://schemas.microsoft.com/office/drawing/2014/main" id="{0477688B-F6BD-9584-581F-B52211044C67}"/>
              </a:ext>
            </a:extLst>
          </p:cNvPr>
          <p:cNvSpPr/>
          <p:nvPr/>
        </p:nvSpPr>
        <p:spPr>
          <a:xfrm>
            <a:off x="5199051" y="3674379"/>
            <a:ext cx="1144172" cy="1333264"/>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Microsoft YaHei" panose="020B0503020204020204" pitchFamily="34" charset="-122"/>
                <a:ea typeface="Microsoft YaHei" panose="020B0503020204020204" pitchFamily="34" charset="-122"/>
              </a:rPr>
              <a:t>入栈</a:t>
            </a:r>
          </a:p>
        </p:txBody>
      </p:sp>
      <p:grpSp>
        <p:nvGrpSpPr>
          <p:cNvPr id="15" name="组合 14">
            <a:extLst>
              <a:ext uri="{FF2B5EF4-FFF2-40B4-BE49-F238E27FC236}">
                <a16:creationId xmlns:a16="http://schemas.microsoft.com/office/drawing/2014/main" id="{21F2376D-3651-36A9-3EC6-91BB6324F11E}"/>
              </a:ext>
            </a:extLst>
          </p:cNvPr>
          <p:cNvGrpSpPr/>
          <p:nvPr/>
        </p:nvGrpSpPr>
        <p:grpSpPr>
          <a:xfrm>
            <a:off x="6857732" y="2305576"/>
            <a:ext cx="4137129" cy="3350394"/>
            <a:chOff x="655252" y="2262033"/>
            <a:chExt cx="4137129" cy="3350394"/>
          </a:xfrm>
        </p:grpSpPr>
        <p:sp>
          <p:nvSpPr>
            <p:cNvPr id="16" name="Text Box 5">
              <a:extLst>
                <a:ext uri="{FF2B5EF4-FFF2-40B4-BE49-F238E27FC236}">
                  <a16:creationId xmlns:a16="http://schemas.microsoft.com/office/drawing/2014/main" id="{ADC04DE7-45D2-6280-1187-0BDB9D7257BB}"/>
                </a:ext>
              </a:extLst>
            </p:cNvPr>
            <p:cNvSpPr txBox="1">
              <a:spLocks noChangeArrowheads="1"/>
            </p:cNvSpPr>
            <p:nvPr/>
          </p:nvSpPr>
          <p:spPr bwMode="auto">
            <a:xfrm>
              <a:off x="2326452" y="50641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1</a:t>
              </a:r>
              <a:endParaRPr lang="en-US" altLang="zh-CN" sz="3200" b="1" dirty="0">
                <a:latin typeface="Calibri" panose="020F0502020204030204" pitchFamily="34" charset="0"/>
                <a:ea typeface="微软雅黑" pitchFamily="34" charset="-122"/>
              </a:endParaRPr>
            </a:p>
          </p:txBody>
        </p:sp>
        <p:sp>
          <p:nvSpPr>
            <p:cNvPr id="17" name="Text Box 6">
              <a:extLst>
                <a:ext uri="{FF2B5EF4-FFF2-40B4-BE49-F238E27FC236}">
                  <a16:creationId xmlns:a16="http://schemas.microsoft.com/office/drawing/2014/main" id="{DCAB3FC6-A388-A133-AD3E-18111A5311FE}"/>
                </a:ext>
              </a:extLst>
            </p:cNvPr>
            <p:cNvSpPr txBox="1">
              <a:spLocks noChangeArrowheads="1"/>
            </p:cNvSpPr>
            <p:nvPr/>
          </p:nvSpPr>
          <p:spPr bwMode="auto">
            <a:xfrm>
              <a:off x="2326452" y="46069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2</a:t>
              </a:r>
              <a:endParaRPr lang="en-US" altLang="zh-CN" sz="3200" b="1" dirty="0">
                <a:latin typeface="Calibri" panose="020F0502020204030204" pitchFamily="34" charset="0"/>
                <a:ea typeface="微软雅黑" pitchFamily="34" charset="-122"/>
              </a:endParaRPr>
            </a:p>
          </p:txBody>
        </p:sp>
        <p:sp>
          <p:nvSpPr>
            <p:cNvPr id="18" name="Text Box 7">
              <a:extLst>
                <a:ext uri="{FF2B5EF4-FFF2-40B4-BE49-F238E27FC236}">
                  <a16:creationId xmlns:a16="http://schemas.microsoft.com/office/drawing/2014/main" id="{F2F82974-1BE9-6BB3-F413-5CCBF2DD8D25}"/>
                </a:ext>
              </a:extLst>
            </p:cNvPr>
            <p:cNvSpPr txBox="1">
              <a:spLocks noChangeArrowheads="1"/>
            </p:cNvSpPr>
            <p:nvPr/>
          </p:nvSpPr>
          <p:spPr bwMode="auto">
            <a:xfrm>
              <a:off x="2326452" y="41497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sp>
          <p:nvSpPr>
            <p:cNvPr id="19" name="Text Box 12">
              <a:extLst>
                <a:ext uri="{FF2B5EF4-FFF2-40B4-BE49-F238E27FC236}">
                  <a16:creationId xmlns:a16="http://schemas.microsoft.com/office/drawing/2014/main" id="{DAFA8359-3866-56EB-E0BC-B23C3425CB4C}"/>
                </a:ext>
              </a:extLst>
            </p:cNvPr>
            <p:cNvSpPr txBox="1">
              <a:spLocks noChangeArrowheads="1"/>
            </p:cNvSpPr>
            <p:nvPr/>
          </p:nvSpPr>
          <p:spPr bwMode="auto">
            <a:xfrm>
              <a:off x="2326452" y="3692561"/>
              <a:ext cx="1893856" cy="52322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20" name="Text Box 13">
              <a:extLst>
                <a:ext uri="{FF2B5EF4-FFF2-40B4-BE49-F238E27FC236}">
                  <a16:creationId xmlns:a16="http://schemas.microsoft.com/office/drawing/2014/main" id="{09443822-E78C-1820-04EB-96CDD254D8B8}"/>
                </a:ext>
              </a:extLst>
            </p:cNvPr>
            <p:cNvSpPr txBox="1">
              <a:spLocks noChangeArrowheads="1"/>
            </p:cNvSpPr>
            <p:nvPr/>
          </p:nvSpPr>
          <p:spPr bwMode="auto">
            <a:xfrm>
              <a:off x="2326452" y="3216311"/>
              <a:ext cx="1893856" cy="46166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r>
                <a:rPr kumimoji="1" lang="en-US" altLang="zh-CN" sz="2400" b="1" dirty="0">
                  <a:solidFill>
                    <a:srgbClr val="FF0000"/>
                  </a:solidFill>
                  <a:latin typeface="Lucida Fax" charset="0"/>
                  <a:ea typeface="微软雅黑" charset="0"/>
                  <a:cs typeface="微软雅黑" charset="0"/>
                </a:rPr>
                <a:t>5</a:t>
              </a:r>
              <a:endParaRPr kumimoji="1" lang="zh-CN" altLang="en-US" sz="2400" b="1" dirty="0">
                <a:solidFill>
                  <a:srgbClr val="FF0000"/>
                </a:solidFill>
                <a:latin typeface="Lucida Fax" charset="0"/>
                <a:ea typeface="微软雅黑" charset="0"/>
                <a:cs typeface="微软雅黑" charset="0"/>
              </a:endParaRPr>
            </a:p>
          </p:txBody>
        </p:sp>
        <p:sp>
          <p:nvSpPr>
            <p:cNvPr id="21" name="Text Box 14">
              <a:extLst>
                <a:ext uri="{FF2B5EF4-FFF2-40B4-BE49-F238E27FC236}">
                  <a16:creationId xmlns:a16="http://schemas.microsoft.com/office/drawing/2014/main" id="{DE370150-24CA-36BC-1AA3-618EC09AE67D}"/>
                </a:ext>
              </a:extLst>
            </p:cNvPr>
            <p:cNvSpPr txBox="1">
              <a:spLocks noChangeArrowheads="1"/>
            </p:cNvSpPr>
            <p:nvPr/>
          </p:nvSpPr>
          <p:spPr bwMode="auto">
            <a:xfrm>
              <a:off x="2326452" y="2784511"/>
              <a:ext cx="1893856"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grpSp>
          <p:nvGrpSpPr>
            <p:cNvPr id="22" name="组合 5">
              <a:extLst>
                <a:ext uri="{FF2B5EF4-FFF2-40B4-BE49-F238E27FC236}">
                  <a16:creationId xmlns:a16="http://schemas.microsoft.com/office/drawing/2014/main" id="{901AE5B4-78F6-AD35-16A9-DE97470425F5}"/>
                </a:ext>
              </a:extLst>
            </p:cNvPr>
            <p:cNvGrpSpPr>
              <a:grpSpLocks/>
            </p:cNvGrpSpPr>
            <p:nvPr/>
          </p:nvGrpSpPr>
          <p:grpSpPr bwMode="auto">
            <a:xfrm>
              <a:off x="655254" y="3239448"/>
              <a:ext cx="1628988" cy="461962"/>
              <a:chOff x="2619207" y="3516067"/>
              <a:chExt cx="1629738" cy="461902"/>
            </a:xfrm>
          </p:grpSpPr>
          <p:sp>
            <p:nvSpPr>
              <p:cNvPr id="60" name="Rectangle 8">
                <a:extLst>
                  <a:ext uri="{FF2B5EF4-FFF2-40B4-BE49-F238E27FC236}">
                    <a16:creationId xmlns:a16="http://schemas.microsoft.com/office/drawing/2014/main" id="{16B3BFC1-5A13-DE62-D07B-0033143C51ED}"/>
                  </a:ext>
                </a:extLst>
              </p:cNvPr>
              <p:cNvSpPr>
                <a:spLocks noChangeArrowheads="1"/>
              </p:cNvSpPr>
              <p:nvPr/>
            </p:nvSpPr>
            <p:spPr bwMode="auto">
              <a:xfrm>
                <a:off x="2619207" y="3516067"/>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solidFill>
                      <a:srgbClr val="1302EE"/>
                    </a:solidFill>
                    <a:latin typeface="Lucida Fax" charset="0"/>
                    <a:ea typeface="微软雅黑" charset="0"/>
                    <a:cs typeface="微软雅黑" charset="0"/>
                  </a:rPr>
                  <a:t>栈顶</a:t>
                </a:r>
                <a:endParaRPr kumimoji="1" lang="en-US" altLang="zh-CN" sz="2400" b="1" dirty="0">
                  <a:solidFill>
                    <a:srgbClr val="1302EE"/>
                  </a:solidFill>
                  <a:latin typeface="Lucida Fax" charset="0"/>
                  <a:ea typeface="微软雅黑" charset="0"/>
                  <a:cs typeface="微软雅黑" charset="0"/>
                </a:endParaRPr>
              </a:p>
            </p:txBody>
          </p:sp>
          <p:sp>
            <p:nvSpPr>
              <p:cNvPr id="61" name="Line 9">
                <a:extLst>
                  <a:ext uri="{FF2B5EF4-FFF2-40B4-BE49-F238E27FC236}">
                    <a16:creationId xmlns:a16="http://schemas.microsoft.com/office/drawing/2014/main" id="{69D4F994-5A72-4FDF-EF3A-8F9DF78C5170}"/>
                  </a:ext>
                </a:extLst>
              </p:cNvPr>
              <p:cNvSpPr>
                <a:spLocks noChangeShapeType="1"/>
              </p:cNvSpPr>
              <p:nvPr/>
            </p:nvSpPr>
            <p:spPr bwMode="auto">
              <a:xfrm>
                <a:off x="3510419" y="3765005"/>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23" name="Line 9">
              <a:extLst>
                <a:ext uri="{FF2B5EF4-FFF2-40B4-BE49-F238E27FC236}">
                  <a16:creationId xmlns:a16="http://schemas.microsoft.com/office/drawing/2014/main" id="{388B655E-BFD2-D9B5-7841-69FD467A9679}"/>
                </a:ext>
              </a:extLst>
            </p:cNvPr>
            <p:cNvSpPr>
              <a:spLocks noChangeShapeType="1"/>
            </p:cNvSpPr>
            <p:nvPr/>
          </p:nvSpPr>
          <p:spPr bwMode="auto">
            <a:xfrm>
              <a:off x="1533934" y="5408641"/>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
          <p:nvSpPr>
            <p:cNvPr id="24" name="Rectangle 8">
              <a:extLst>
                <a:ext uri="{FF2B5EF4-FFF2-40B4-BE49-F238E27FC236}">
                  <a16:creationId xmlns:a16="http://schemas.microsoft.com/office/drawing/2014/main" id="{AAC88ADE-5CCE-6503-78AF-AA5034968E7D}"/>
                </a:ext>
              </a:extLst>
            </p:cNvPr>
            <p:cNvSpPr>
              <a:spLocks noChangeArrowheads="1"/>
            </p:cNvSpPr>
            <p:nvPr/>
          </p:nvSpPr>
          <p:spPr bwMode="auto">
            <a:xfrm>
              <a:off x="655252" y="5146734"/>
              <a:ext cx="12477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latin typeface="Lucida Fax" charset="0"/>
                  <a:ea typeface="微软雅黑" charset="0"/>
                  <a:cs typeface="微软雅黑" charset="0"/>
                </a:rPr>
                <a:t>栈底</a:t>
              </a:r>
              <a:endParaRPr kumimoji="1" lang="en-US" altLang="zh-CN" sz="2400" b="1" dirty="0">
                <a:latin typeface="Lucida Fax" charset="0"/>
                <a:ea typeface="微软雅黑" charset="0"/>
                <a:cs typeface="微软雅黑" charset="0"/>
              </a:endParaRPr>
            </a:p>
          </p:txBody>
        </p:sp>
        <p:sp>
          <p:nvSpPr>
            <p:cNvPr id="25" name="文本框 24">
              <a:extLst>
                <a:ext uri="{FF2B5EF4-FFF2-40B4-BE49-F238E27FC236}">
                  <a16:creationId xmlns:a16="http://schemas.microsoft.com/office/drawing/2014/main" id="{A0CA40C1-71EE-987D-8064-5E649DE88CAA}"/>
                </a:ext>
              </a:extLst>
            </p:cNvPr>
            <p:cNvSpPr txBox="1"/>
            <p:nvPr/>
          </p:nvSpPr>
          <p:spPr>
            <a:xfrm>
              <a:off x="4302343" y="5212317"/>
              <a:ext cx="314510" cy="400110"/>
            </a:xfrm>
            <a:prstGeom prst="rect">
              <a:avLst/>
            </a:prstGeom>
            <a:noFill/>
          </p:spPr>
          <p:txBody>
            <a:bodyPr wrap="none" rtlCol="0">
              <a:spAutoFit/>
            </a:bodyPr>
            <a:lstStyle/>
            <a:p>
              <a:r>
                <a:rPr kumimoji="1" lang="en-US" altLang="zh-CN" sz="2000" dirty="0"/>
                <a:t>0</a:t>
              </a:r>
              <a:endParaRPr kumimoji="1" lang="zh-CN" altLang="en-US" sz="2000" dirty="0"/>
            </a:p>
          </p:txBody>
        </p:sp>
        <p:sp>
          <p:nvSpPr>
            <p:cNvPr id="54" name="文本框 53">
              <a:extLst>
                <a:ext uri="{FF2B5EF4-FFF2-40B4-BE49-F238E27FC236}">
                  <a16:creationId xmlns:a16="http://schemas.microsoft.com/office/drawing/2014/main" id="{9F22D607-C0EF-7D41-1BB8-60F0C16A20B3}"/>
                </a:ext>
              </a:extLst>
            </p:cNvPr>
            <p:cNvSpPr txBox="1"/>
            <p:nvPr/>
          </p:nvSpPr>
          <p:spPr>
            <a:xfrm>
              <a:off x="4302343" y="4717604"/>
              <a:ext cx="314510" cy="400110"/>
            </a:xfrm>
            <a:prstGeom prst="rect">
              <a:avLst/>
            </a:prstGeom>
            <a:noFill/>
          </p:spPr>
          <p:txBody>
            <a:bodyPr wrap="none" rtlCol="0">
              <a:spAutoFit/>
            </a:bodyPr>
            <a:lstStyle/>
            <a:p>
              <a:r>
                <a:rPr kumimoji="1" lang="en-US" altLang="zh-CN" sz="2000" dirty="0"/>
                <a:t>1</a:t>
              </a:r>
              <a:endParaRPr kumimoji="1" lang="zh-CN" altLang="en-US" sz="2000" dirty="0"/>
            </a:p>
          </p:txBody>
        </p:sp>
        <p:sp>
          <p:nvSpPr>
            <p:cNvPr id="55" name="文本框 54">
              <a:extLst>
                <a:ext uri="{FF2B5EF4-FFF2-40B4-BE49-F238E27FC236}">
                  <a16:creationId xmlns:a16="http://schemas.microsoft.com/office/drawing/2014/main" id="{2E7AE2FB-C30A-6C95-4F9F-C81CC41865FD}"/>
                </a:ext>
              </a:extLst>
            </p:cNvPr>
            <p:cNvSpPr txBox="1"/>
            <p:nvPr/>
          </p:nvSpPr>
          <p:spPr>
            <a:xfrm>
              <a:off x="4302343" y="4265093"/>
              <a:ext cx="314510" cy="400110"/>
            </a:xfrm>
            <a:prstGeom prst="rect">
              <a:avLst/>
            </a:prstGeom>
            <a:noFill/>
          </p:spPr>
          <p:txBody>
            <a:bodyPr wrap="none" rtlCol="0">
              <a:spAutoFit/>
            </a:bodyPr>
            <a:lstStyle/>
            <a:p>
              <a:r>
                <a:rPr kumimoji="1" lang="en-US" altLang="zh-CN" sz="2000" dirty="0"/>
                <a:t>2</a:t>
              </a:r>
              <a:endParaRPr kumimoji="1" lang="zh-CN" altLang="en-US" sz="2000" dirty="0"/>
            </a:p>
          </p:txBody>
        </p:sp>
        <p:sp>
          <p:nvSpPr>
            <p:cNvPr id="56" name="文本框 55">
              <a:extLst>
                <a:ext uri="{FF2B5EF4-FFF2-40B4-BE49-F238E27FC236}">
                  <a16:creationId xmlns:a16="http://schemas.microsoft.com/office/drawing/2014/main" id="{8E6FAC5D-FCB6-07A6-6C67-A5E2A34CED91}"/>
                </a:ext>
              </a:extLst>
            </p:cNvPr>
            <p:cNvSpPr txBox="1"/>
            <p:nvPr/>
          </p:nvSpPr>
          <p:spPr>
            <a:xfrm>
              <a:off x="4302343" y="3784450"/>
              <a:ext cx="314510" cy="400110"/>
            </a:xfrm>
            <a:prstGeom prst="rect">
              <a:avLst/>
            </a:prstGeom>
            <a:noFill/>
          </p:spPr>
          <p:txBody>
            <a:bodyPr wrap="none" rtlCol="0">
              <a:spAutoFit/>
            </a:bodyPr>
            <a:lstStyle/>
            <a:p>
              <a:r>
                <a:rPr kumimoji="1" lang="en-US" altLang="zh-CN" sz="2000" dirty="0"/>
                <a:t>3</a:t>
              </a:r>
              <a:endParaRPr kumimoji="1" lang="zh-CN" altLang="en-US" sz="2000" dirty="0"/>
            </a:p>
          </p:txBody>
        </p:sp>
        <p:sp>
          <p:nvSpPr>
            <p:cNvPr id="57" name="文本框 56">
              <a:extLst>
                <a:ext uri="{FF2B5EF4-FFF2-40B4-BE49-F238E27FC236}">
                  <a16:creationId xmlns:a16="http://schemas.microsoft.com/office/drawing/2014/main" id="{CF012CB4-CC84-3E41-E5A8-2F8D2A91B117}"/>
                </a:ext>
              </a:extLst>
            </p:cNvPr>
            <p:cNvSpPr txBox="1"/>
            <p:nvPr/>
          </p:nvSpPr>
          <p:spPr>
            <a:xfrm>
              <a:off x="4302343" y="3331937"/>
              <a:ext cx="314510" cy="400110"/>
            </a:xfrm>
            <a:prstGeom prst="rect">
              <a:avLst/>
            </a:prstGeom>
            <a:noFill/>
          </p:spPr>
          <p:txBody>
            <a:bodyPr wrap="none" rtlCol="0">
              <a:spAutoFit/>
            </a:bodyPr>
            <a:lstStyle/>
            <a:p>
              <a:r>
                <a:rPr kumimoji="1" lang="en-US" altLang="zh-CN" sz="2000" dirty="0"/>
                <a:t>4</a:t>
              </a:r>
              <a:endParaRPr kumimoji="1" lang="zh-CN" altLang="en-US" sz="2000" dirty="0"/>
            </a:p>
          </p:txBody>
        </p:sp>
        <p:sp>
          <p:nvSpPr>
            <p:cNvPr id="58" name="文本框 57">
              <a:extLst>
                <a:ext uri="{FF2B5EF4-FFF2-40B4-BE49-F238E27FC236}">
                  <a16:creationId xmlns:a16="http://schemas.microsoft.com/office/drawing/2014/main" id="{1B6C36C1-7750-50A7-FA6A-D7C9AE84542F}"/>
                </a:ext>
              </a:extLst>
            </p:cNvPr>
            <p:cNvSpPr txBox="1"/>
            <p:nvPr/>
          </p:nvSpPr>
          <p:spPr>
            <a:xfrm>
              <a:off x="4302343" y="2837224"/>
              <a:ext cx="314510" cy="400110"/>
            </a:xfrm>
            <a:prstGeom prst="rect">
              <a:avLst/>
            </a:prstGeom>
            <a:noFill/>
          </p:spPr>
          <p:txBody>
            <a:bodyPr wrap="none" rtlCol="0">
              <a:spAutoFit/>
            </a:bodyPr>
            <a:lstStyle/>
            <a:p>
              <a:r>
                <a:rPr kumimoji="1" lang="en-US" altLang="zh-CN" sz="2000" dirty="0"/>
                <a:t>5</a:t>
              </a:r>
              <a:endParaRPr kumimoji="1" lang="zh-CN" altLang="en-US" sz="2000" dirty="0"/>
            </a:p>
          </p:txBody>
        </p:sp>
        <p:sp>
          <p:nvSpPr>
            <p:cNvPr id="59" name="文本框 58">
              <a:extLst>
                <a:ext uri="{FF2B5EF4-FFF2-40B4-BE49-F238E27FC236}">
                  <a16:creationId xmlns:a16="http://schemas.microsoft.com/office/drawing/2014/main" id="{8FC9CF36-B4AE-A174-DA57-96F34BFB41A7}"/>
                </a:ext>
              </a:extLst>
            </p:cNvPr>
            <p:cNvSpPr txBox="1"/>
            <p:nvPr/>
          </p:nvSpPr>
          <p:spPr>
            <a:xfrm>
              <a:off x="4136432" y="2262033"/>
              <a:ext cx="655949" cy="369332"/>
            </a:xfrm>
            <a:prstGeom prst="rect">
              <a:avLst/>
            </a:prstGeom>
            <a:noFill/>
          </p:spPr>
          <p:txBody>
            <a:bodyPr wrap="none" rtlCol="0">
              <a:spAutoFit/>
            </a:bodyPr>
            <a:lstStyle/>
            <a:p>
              <a:r>
                <a:rPr kumimoji="1" lang="zh-CN" altLang="en-US" b="1" dirty="0"/>
                <a:t>下标</a:t>
              </a:r>
            </a:p>
          </p:txBody>
        </p:sp>
      </p:grpSp>
    </p:spTree>
    <p:extLst>
      <p:ext uri="{BB962C8B-B14F-4D97-AF65-F5344CB8AC3E}">
        <p14:creationId xmlns:p14="http://schemas.microsoft.com/office/powerpoint/2010/main" val="77667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checkerboard(across)">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13EDD3E1-6A2B-217A-1380-9B5CEF315630}"/>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两种方式的入栈（出栈）时间分别是</a:t>
            </a:r>
            <a:r>
              <a:rPr kumimoji="1" lang="zh-CN" altLang="en-US" sz="2600" dirty="0">
                <a:solidFill>
                  <a:srgbClr val="000000"/>
                </a:solidFill>
                <a:latin typeface="Microsoft Yahei" panose="020B0503020204020204" pitchFamily="34" charset="-122"/>
                <a:ea typeface="Microsoft Yahei" panose="020B0503020204020204" pitchFamily="34" charset="-122"/>
                <a:sym typeface="Wingdings" pitchFamily="2" charset="2"/>
              </a:rPr>
              <a:t>：</a:t>
            </a:r>
            <a:r>
              <a:rPr kumimoji="1" lang="en-US" altLang="zh-CN" sz="2600" dirty="0">
                <a:solidFill>
                  <a:srgbClr val="000000"/>
                </a:solidFill>
                <a:latin typeface="Microsoft Yahei" panose="020B0503020204020204" pitchFamily="34" charset="-122"/>
                <a:ea typeface="Microsoft Yahei" panose="020B0503020204020204" pitchFamily="34" charset="-122"/>
                <a:sym typeface="Wingdings" pitchFamily="2" charset="2"/>
              </a:rPr>
              <a:t>(n</a:t>
            </a:r>
            <a:r>
              <a:rPr kumimoji="1" lang="zh-CN" altLang="en-US" sz="2600" dirty="0">
                <a:solidFill>
                  <a:srgbClr val="000000"/>
                </a:solidFill>
                <a:latin typeface="Microsoft Yahei" panose="020B0503020204020204" pitchFamily="34" charset="-122"/>
                <a:ea typeface="Microsoft Yahei" panose="020B0503020204020204" pitchFamily="34" charset="-122"/>
                <a:sym typeface="Wingdings" pitchFamily="2" charset="2"/>
              </a:rPr>
              <a:t>表示栈中元素数量）</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p:txBody>
      </p:sp>
      <p:sp>
        <p:nvSpPr>
          <p:cNvPr id="14" name="文本框 13">
            <a:extLst>
              <a:ext uri="{FF2B5EF4-FFF2-40B4-BE49-F238E27FC236}">
                <a16:creationId xmlns:a16="http://schemas.microsoft.com/office/drawing/2014/main" id="{8EF686A9-84DB-43DF-D910-630B51B6015B}"/>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O(1)</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和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O(1)</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文本框 14">
            <a:extLst>
              <a:ext uri="{FF2B5EF4-FFF2-40B4-BE49-F238E27FC236}">
                <a16:creationId xmlns:a16="http://schemas.microsoft.com/office/drawing/2014/main" id="{6C1564DA-2715-0AA6-AA74-7DA4E2B1EBE3}"/>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和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文本框 15">
            <a:extLst>
              <a:ext uri="{FF2B5EF4-FFF2-40B4-BE49-F238E27FC236}">
                <a16:creationId xmlns:a16="http://schemas.microsoft.com/office/drawing/2014/main" id="{B3333261-BDD4-386A-6757-2CD212DBF788}"/>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和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O(1)</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10CBA1E8-D7C2-FE36-9109-E5EBED0D863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O(1)</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和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BC2D6CF8-7CB0-0947-37D8-B627ABD74EF3}"/>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5D53368D-6CF8-1661-52D1-0B829DA70317}"/>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8A773123-D0EA-4139-BA70-2FA28B4947EF}"/>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E84CEA0D-ED3E-2552-C7CA-5243F899FBEA}"/>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2A65D9F9-418C-E91A-BDC2-FB5A1C4B58ED}"/>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62" name="图片 61">
            <a:extLst>
              <a:ext uri="{FF2B5EF4-FFF2-40B4-BE49-F238E27FC236}">
                <a16:creationId xmlns:a16="http://schemas.microsoft.com/office/drawing/2014/main" id="{EDF433A7-9059-055E-50B5-5F129B68FE31}"/>
              </a:ext>
            </a:extLst>
          </p:cNvPr>
          <p:cNvPicPr>
            <a:picLocks noChangeAspect="1"/>
          </p:cNvPicPr>
          <p:nvPr/>
        </p:nvPicPr>
        <p:blipFill>
          <a:blip r:embed="rId19"/>
          <a:stretch>
            <a:fillRect/>
          </a:stretch>
        </p:blipFill>
        <p:spPr>
          <a:xfrm>
            <a:off x="5604555" y="2528620"/>
            <a:ext cx="2505588" cy="1985963"/>
          </a:xfrm>
          <a:prstGeom prst="rect">
            <a:avLst/>
          </a:prstGeom>
        </p:spPr>
      </p:pic>
      <p:pic>
        <p:nvPicPr>
          <p:cNvPr id="63" name="图片 62">
            <a:extLst>
              <a:ext uri="{FF2B5EF4-FFF2-40B4-BE49-F238E27FC236}">
                <a16:creationId xmlns:a16="http://schemas.microsoft.com/office/drawing/2014/main" id="{4F2776B9-6E8E-7A69-20A4-9D5E98D25670}"/>
              </a:ext>
            </a:extLst>
          </p:cNvPr>
          <p:cNvPicPr>
            <a:picLocks noChangeAspect="1"/>
          </p:cNvPicPr>
          <p:nvPr/>
        </p:nvPicPr>
        <p:blipFill>
          <a:blip r:embed="rId20"/>
          <a:stretch>
            <a:fillRect/>
          </a:stretch>
        </p:blipFill>
        <p:spPr>
          <a:xfrm>
            <a:off x="8592743" y="2514601"/>
            <a:ext cx="2398814" cy="1985962"/>
          </a:xfrm>
          <a:prstGeom prst="rect">
            <a:avLst/>
          </a:prstGeom>
        </p:spPr>
      </p:pic>
      <p:sp>
        <p:nvSpPr>
          <p:cNvPr id="64" name="文本框 63">
            <a:extLst>
              <a:ext uri="{FF2B5EF4-FFF2-40B4-BE49-F238E27FC236}">
                <a16:creationId xmlns:a16="http://schemas.microsoft.com/office/drawing/2014/main" id="{AA48E1F6-CBF0-5AD9-716C-3BD3A05C2B65}"/>
              </a:ext>
            </a:extLst>
          </p:cNvPr>
          <p:cNvSpPr txBox="1"/>
          <p:nvPr/>
        </p:nvSpPr>
        <p:spPr>
          <a:xfrm>
            <a:off x="6705600" y="4637365"/>
            <a:ext cx="763351" cy="369332"/>
          </a:xfrm>
          <a:prstGeom prst="rect">
            <a:avLst/>
          </a:prstGeom>
          <a:noFill/>
        </p:spPr>
        <p:txBody>
          <a:bodyPr wrap="none" rtlCol="0">
            <a:spAutoFit/>
          </a:bodyPr>
          <a:lstStyle/>
          <a:p>
            <a:r>
              <a:rPr kumimoji="1" lang="zh-CN" altLang="en-US" dirty="0"/>
              <a:t>方式</a:t>
            </a:r>
            <a:r>
              <a:rPr kumimoji="1" lang="en-US" altLang="zh-CN" dirty="0"/>
              <a:t>1</a:t>
            </a:r>
            <a:endParaRPr kumimoji="1" lang="zh-CN" altLang="en-US" dirty="0"/>
          </a:p>
        </p:txBody>
      </p:sp>
      <p:sp>
        <p:nvSpPr>
          <p:cNvPr id="65" name="文本框 64">
            <a:extLst>
              <a:ext uri="{FF2B5EF4-FFF2-40B4-BE49-F238E27FC236}">
                <a16:creationId xmlns:a16="http://schemas.microsoft.com/office/drawing/2014/main" id="{6895E86D-F503-3A1A-2C44-53A96772DB2A}"/>
              </a:ext>
            </a:extLst>
          </p:cNvPr>
          <p:cNvSpPr txBox="1"/>
          <p:nvPr/>
        </p:nvSpPr>
        <p:spPr>
          <a:xfrm>
            <a:off x="9671864" y="4564856"/>
            <a:ext cx="763351" cy="369332"/>
          </a:xfrm>
          <a:prstGeom prst="rect">
            <a:avLst/>
          </a:prstGeom>
          <a:noFill/>
        </p:spPr>
        <p:txBody>
          <a:bodyPr wrap="none" rtlCol="0">
            <a:spAutoFit/>
          </a:bodyPr>
          <a:lstStyle/>
          <a:p>
            <a:r>
              <a:rPr kumimoji="1" lang="zh-CN" altLang="en-US" dirty="0"/>
              <a:t>方式</a:t>
            </a:r>
            <a:r>
              <a:rPr kumimoji="1" lang="en-US" altLang="zh-CN" dirty="0"/>
              <a:t>2</a:t>
            </a:r>
            <a:endParaRPr kumimoji="1" lang="zh-CN" altLang="en-US" dirty="0"/>
          </a:p>
        </p:txBody>
      </p:sp>
      <p:grpSp>
        <p:nvGrpSpPr>
          <p:cNvPr id="12" name="组合 11">
            <a:extLst>
              <a:ext uri="{FF2B5EF4-FFF2-40B4-BE49-F238E27FC236}">
                <a16:creationId xmlns:a16="http://schemas.microsoft.com/office/drawing/2014/main" id="{CB711155-DADE-C1CD-483F-9C14890440AB}"/>
              </a:ext>
            </a:extLst>
          </p:cNvPr>
          <p:cNvGrpSpPr/>
          <p:nvPr>
            <p:custDataLst>
              <p:tags r:id="rId12"/>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06BEA7D1-47DB-E358-5924-3BEBE07A9579}"/>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9FB8B319-A3D7-325E-CA89-F4105262C5AC}"/>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9FE841BE-A301-6C39-3249-C44A711CBC7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9AA82E08-9BF3-00DE-8A1F-EA61E18A3E4C}"/>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9595395B-7C54-1667-0F94-CF39CF873D7A}"/>
              </a:ext>
            </a:extLst>
          </p:cNvPr>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765377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6154E4EE-91D7-4B17-B6C9-93C3CADDD494}"/>
              </a:ext>
            </a:extLst>
          </p:cNvPr>
          <p:cNvSpPr>
            <a:spLocks noGrp="1" noChangeArrowheads="1"/>
          </p:cNvSpPr>
          <p:nvPr>
            <p:ph type="title"/>
          </p:nvPr>
        </p:nvSpPr>
        <p:spPr>
          <a:xfrm>
            <a:off x="829564" y="652521"/>
            <a:ext cx="10524236" cy="420029"/>
          </a:xfrm>
        </p:spPr>
        <p:txBody>
          <a:bodyPr>
            <a:normAutofit fontScale="90000"/>
          </a:bodyPr>
          <a:lstStyle/>
          <a:p>
            <a:pPr eaLnBrk="1" hangingPunct="1">
              <a:defRPr/>
            </a:pPr>
            <a:r>
              <a:rPr kumimoji="0" dirty="0" err="1"/>
              <a:t>顺序栈</a:t>
            </a:r>
            <a:endParaRPr kumimoji="0" dirty="0"/>
          </a:p>
        </p:txBody>
      </p:sp>
      <p:sp>
        <p:nvSpPr>
          <p:cNvPr id="4" name="副标题 3">
            <a:extLst>
              <a:ext uri="{FF2B5EF4-FFF2-40B4-BE49-F238E27FC236}">
                <a16:creationId xmlns:a16="http://schemas.microsoft.com/office/drawing/2014/main" id="{838D45B9-60E0-4FDC-B2A8-D50DE23CBF5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FB122C72-D7FD-4640-B194-595A63028F9C}"/>
              </a:ext>
            </a:extLst>
          </p:cNvPr>
          <p:cNvSpPr>
            <a:spLocks noGrp="1"/>
          </p:cNvSpPr>
          <p:nvPr>
            <p:ph type="body" idx="10"/>
          </p:nvPr>
        </p:nvSpPr>
        <p:spPr/>
        <p:txBody>
          <a:bodyPr/>
          <a:lstStyle/>
          <a:p>
            <a:endParaRPr lang="zh-CN" altLang="en-US" dirty="0"/>
          </a:p>
        </p:txBody>
      </p:sp>
      <p:cxnSp>
        <p:nvCxnSpPr>
          <p:cNvPr id="8" name="直接连接符 7">
            <a:extLst>
              <a:ext uri="{FF2B5EF4-FFF2-40B4-BE49-F238E27FC236}">
                <a16:creationId xmlns:a16="http://schemas.microsoft.com/office/drawing/2014/main" id="{DE1CD3F1-D8A7-4A8B-9F7A-35B21D13ABD6}"/>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FD0F990-6B4E-449D-B24D-BE0EDE811AEB}"/>
              </a:ext>
            </a:extLst>
          </p:cNvPr>
          <p:cNvCxnSpPr>
            <a:cxnSpLocks/>
          </p:cNvCxnSpPr>
          <p:nvPr/>
        </p:nvCxnSpPr>
        <p:spPr>
          <a:xfrm>
            <a:off x="577461" y="1777558"/>
            <a:ext cx="82429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C4FB94B-CFCB-4C00-83F8-AB65BE762E01}"/>
              </a:ext>
            </a:extLst>
          </p:cNvPr>
          <p:cNvCxnSpPr>
            <a:cxnSpLocks/>
          </p:cNvCxnSpPr>
          <p:nvPr/>
        </p:nvCxnSpPr>
        <p:spPr>
          <a:xfrm>
            <a:off x="622285" y="2642649"/>
            <a:ext cx="82429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内容占位符 11">
            <a:extLst>
              <a:ext uri="{FF2B5EF4-FFF2-40B4-BE49-F238E27FC236}">
                <a16:creationId xmlns:a16="http://schemas.microsoft.com/office/drawing/2014/main" id="{ABD01D9A-F9CF-4DE0-A3C8-3A2D4E61091E}"/>
              </a:ext>
            </a:extLst>
          </p:cNvPr>
          <p:cNvSpPr>
            <a:spLocks noGrp="1"/>
          </p:cNvSpPr>
          <p:nvPr>
            <p:ph idx="11"/>
          </p:nvPr>
        </p:nvSpPr>
        <p:spPr>
          <a:xfrm>
            <a:off x="543370" y="1413343"/>
            <a:ext cx="11064405" cy="4953267"/>
          </a:xfrm>
        </p:spPr>
        <p:txBody>
          <a:bodyPr>
            <a:normAutofit/>
          </a:bodyPr>
          <a:lstStyle/>
          <a:p>
            <a:pPr marL="0" lvl="0" indent="0" eaLnBrk="0" fontAlgn="base" hangingPunct="0">
              <a:spcBef>
                <a:spcPct val="0"/>
              </a:spcBef>
              <a:spcAft>
                <a:spcPct val="0"/>
              </a:spcAft>
              <a:buNone/>
            </a:pPr>
            <a:r>
              <a:rPr lang="zh-CN" altLang="zh-CN" sz="2000" b="1" dirty="0">
                <a:solidFill>
                  <a:srgbClr val="000000"/>
                </a:solidFill>
                <a:cs typeface="Times New Roman" panose="02020603050405020304" pitchFamily="18" charset="0"/>
              </a:rPr>
              <a:t>代码：</a:t>
            </a:r>
            <a:r>
              <a:rPr lang="zh-CN" altLang="zh-CN" sz="2000" dirty="0">
                <a:solidFill>
                  <a:srgbClr val="000000"/>
                </a:solidFill>
                <a:cs typeface="Times New Roman" panose="02020603050405020304" pitchFamily="18" charset="0"/>
              </a:rPr>
              <a:t>顺序实现的栈的初始化 InitStack (</a:t>
            </a:r>
            <a:r>
              <a:rPr lang="zh-CN" altLang="zh-CN" sz="2000" i="1" dirty="0">
                <a:solidFill>
                  <a:srgbClr val="000000"/>
                </a:solidFill>
                <a:cs typeface="Times New Roman" panose="02020603050405020304" pitchFamily="18" charset="0"/>
              </a:rPr>
              <a:t>stack, </a:t>
            </a:r>
            <a:r>
              <a:rPr lang="zh-CN" altLang="zh-CN" sz="2000" dirty="0">
                <a:solidFill>
                  <a:srgbClr val="000000"/>
                </a:solidFill>
                <a:cs typeface="Times New Roman" panose="02020603050405020304" pitchFamily="18" charset="0"/>
              </a:rPr>
              <a:t>kSize)</a:t>
            </a:r>
            <a:endParaRPr lang="en-US" altLang="zh-CN" sz="2000" dirty="0">
              <a:solidFill>
                <a:srgbClr val="000000"/>
              </a:solidFill>
              <a:cs typeface="Times New Roman" panose="02020603050405020304" pitchFamily="18" charset="0"/>
            </a:endParaRPr>
          </a:p>
          <a:p>
            <a:pPr marL="0" lvl="0" indent="0" eaLnBrk="0" fontAlgn="base" hangingPunct="0">
              <a:spcBef>
                <a:spcPct val="0"/>
              </a:spcBef>
              <a:spcAft>
                <a:spcPct val="0"/>
              </a:spcAft>
              <a:buNone/>
            </a:pPr>
            <a:endParaRPr lang="en-US" altLang="zh-CN" sz="2000" dirty="0">
              <a:solidFill>
                <a:srgbClr val="000000"/>
              </a:solidFill>
              <a:cs typeface="Times New Roman" panose="02020603050405020304" pitchFamily="18" charset="0"/>
            </a:endParaRPr>
          </a:p>
          <a:p>
            <a:pPr marL="0" lvl="0" indent="0" eaLnBrk="0" fontAlgn="base" hangingPunct="0">
              <a:spcBef>
                <a:spcPct val="0"/>
              </a:spcBef>
              <a:spcAft>
                <a:spcPct val="0"/>
              </a:spcAft>
              <a:buNone/>
            </a:pPr>
            <a:r>
              <a:rPr lang="zh-CN" altLang="zh-CN" sz="2000" b="1" dirty="0">
                <a:cs typeface="Times New Roman" panose="02020603050405020304" pitchFamily="18" charset="0"/>
              </a:rPr>
              <a:t>输入：</a:t>
            </a:r>
            <a:r>
              <a:rPr lang="zh-CN" altLang="zh-CN" sz="2000" dirty="0">
                <a:cs typeface="Times New Roman" panose="02020603050405020304" pitchFamily="18" charset="0"/>
              </a:rPr>
              <a:t>栈</a:t>
            </a:r>
            <a:r>
              <a:rPr lang="zh-CN" altLang="zh-CN" sz="2000" i="1" dirty="0">
                <a:cs typeface="Times New Roman" panose="02020603050405020304" pitchFamily="18" charset="0"/>
              </a:rPr>
              <a:t>stack </a:t>
            </a:r>
            <a:r>
              <a:rPr lang="zh-CN" altLang="zh-CN" sz="2000" dirty="0">
                <a:cs typeface="Times New Roman" panose="02020603050405020304" pitchFamily="18" charset="0"/>
              </a:rPr>
              <a:t>和正整数</a:t>
            </a:r>
            <a:r>
              <a:rPr lang="zh-CN" altLang="zh-CN" sz="2000" dirty="0">
                <a:solidFill>
                  <a:srgbClr val="000000"/>
                </a:solidFill>
                <a:cs typeface="Times New Roman" panose="02020603050405020304" pitchFamily="18" charset="0"/>
              </a:rPr>
              <a:t>kSize</a:t>
            </a:r>
            <a:endParaRPr lang="zh-CN" altLang="zh-CN" sz="2000" dirty="0"/>
          </a:p>
          <a:p>
            <a:pPr marL="0" lvl="0" indent="0" eaLnBrk="0" fontAlgn="base" hangingPunct="0">
              <a:spcBef>
                <a:spcPct val="0"/>
              </a:spcBef>
              <a:spcAft>
                <a:spcPct val="0"/>
              </a:spcAft>
              <a:buNone/>
            </a:pPr>
            <a:r>
              <a:rPr lang="zh-CN" altLang="zh-CN" sz="2000" b="1" dirty="0">
                <a:cs typeface="Times New Roman" panose="02020603050405020304" pitchFamily="18" charset="0"/>
              </a:rPr>
              <a:t>输出：</a:t>
            </a:r>
            <a:r>
              <a:rPr lang="zh-CN" altLang="zh-CN" sz="2000" dirty="0">
                <a:cs typeface="Times New Roman" panose="02020603050405020304" pitchFamily="18" charset="0"/>
              </a:rPr>
              <a:t>一个大小为</a:t>
            </a:r>
            <a:r>
              <a:rPr lang="zh-CN" altLang="zh-CN" sz="2000" dirty="0">
                <a:solidFill>
                  <a:srgbClr val="000000"/>
                </a:solidFill>
                <a:cs typeface="Times New Roman" panose="02020603050405020304" pitchFamily="18" charset="0"/>
              </a:rPr>
              <a:t>kSize</a:t>
            </a:r>
            <a:r>
              <a:rPr lang="zh-CN" altLang="zh-CN" sz="2000" dirty="0">
                <a:cs typeface="Times New Roman" panose="02020603050405020304" pitchFamily="18" charset="0"/>
              </a:rPr>
              <a:t>的顺序</a:t>
            </a:r>
            <a:r>
              <a:rPr lang="zh-CN" altLang="en-US" sz="2000" dirty="0">
                <a:cs typeface="Times New Roman" panose="02020603050405020304" pitchFamily="18" charset="0"/>
              </a:rPr>
              <a:t>栈</a:t>
            </a:r>
            <a:endParaRPr lang="en-US" altLang="zh-CN" sz="2000" dirty="0">
              <a:cs typeface="Times New Roman" panose="02020603050405020304" pitchFamily="18" charset="0"/>
            </a:endParaRPr>
          </a:p>
          <a:p>
            <a:pPr marL="0" lvl="0" indent="0" eaLnBrk="0" fontAlgn="base" hangingPunct="0">
              <a:spcBef>
                <a:spcPct val="0"/>
              </a:spcBef>
              <a:spcAft>
                <a:spcPct val="0"/>
              </a:spcAft>
              <a:buNone/>
            </a:pPr>
            <a:endParaRPr lang="en-US" altLang="zh-CN" sz="2000" dirty="0">
              <a:solidFill>
                <a:srgbClr val="000000"/>
              </a:solidFill>
              <a:cs typeface="Times New Roman" panose="02020603050405020304" pitchFamily="18" charset="0"/>
            </a:endParaRPr>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stack.capacity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a:t>
            </a:r>
            <a:r>
              <a:rPr lang="zh-CN" altLang="zh-CN" sz="2000" dirty="0">
                <a:solidFill>
                  <a:srgbClr val="000000"/>
                </a:solidFill>
                <a:cs typeface="Times New Roman" panose="02020603050405020304" pitchFamily="18" charset="0"/>
              </a:rPr>
              <a:t>kSize</a:t>
            </a:r>
            <a:endParaRPr lang="zh-CN" altLang="zh-CN" sz="2000" dirty="0"/>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-1</a:t>
            </a:r>
            <a:endParaRPr lang="zh-CN" altLang="zh-CN" sz="2000" dirty="0"/>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a:t>
            </a:r>
            <a:r>
              <a:rPr lang="zh-CN" altLang="zh-CN" sz="2000" i="1" dirty="0">
                <a:solidFill>
                  <a:srgbClr val="FF0000"/>
                </a:solidFill>
                <a:cs typeface="Times New Roman" panose="02020603050405020304" pitchFamily="18" charset="0"/>
              </a:rPr>
              <a:t>data</a:t>
            </a:r>
            <a:r>
              <a:rPr lang="zh-CN" altLang="zh-CN" sz="2000" i="1" dirty="0">
                <a:cs typeface="Times New Roman" panose="02020603050405020304" pitchFamily="18" charset="0"/>
              </a:rPr>
              <a: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a:t>
            </a:r>
            <a:r>
              <a:rPr lang="zh-CN" altLang="zh-CN" sz="2000" b="1" dirty="0">
                <a:cs typeface="Times New Roman" panose="02020603050405020304" pitchFamily="18" charset="0"/>
              </a:rPr>
              <a:t>new </a:t>
            </a:r>
            <a:r>
              <a:rPr lang="zh-CN" altLang="zh-CN" sz="2000" dirty="0">
                <a:cs typeface="Times New Roman" panose="02020603050405020304" pitchFamily="18" charset="0"/>
              </a:rPr>
              <a:t>ElemSet[</a:t>
            </a:r>
            <a:r>
              <a:rPr lang="zh-CN" altLang="zh-CN" sz="2000" dirty="0">
                <a:solidFill>
                  <a:srgbClr val="000000"/>
                </a:solidFill>
                <a:cs typeface="Times New Roman" panose="02020603050405020304" pitchFamily="18" charset="0"/>
              </a:rPr>
              <a:t>kSize</a:t>
            </a:r>
            <a:r>
              <a:rPr lang="zh-CN" altLang="zh-CN" sz="2000" dirty="0">
                <a:cs typeface="Times New Roman" panose="02020603050405020304" pitchFamily="18" charset="0"/>
              </a:rPr>
              <a:t>]</a:t>
            </a:r>
            <a:endParaRPr lang="zh-CN" altLang="zh-CN" sz="2000" dirty="0"/>
          </a:p>
          <a:p>
            <a:endParaRPr lang="zh-CN"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ECED0BC0-94DC-48EA-A1C2-EFDF18A79945}"/>
              </a:ext>
            </a:extLst>
          </p:cNvPr>
          <p:cNvSpPr>
            <a:spLocks noGrp="1" noChangeArrowheads="1"/>
          </p:cNvSpPr>
          <p:nvPr>
            <p:ph type="title"/>
          </p:nvPr>
        </p:nvSpPr>
        <p:spPr/>
        <p:txBody>
          <a:bodyPr>
            <a:normAutofit/>
          </a:bodyPr>
          <a:lstStyle/>
          <a:p>
            <a:pPr eaLnBrk="1" hangingPunct="1">
              <a:defRPr/>
            </a:pPr>
            <a:r>
              <a:rPr kumimoji="0" dirty="0" err="1"/>
              <a:t>顺序栈示例</a:t>
            </a:r>
            <a:r>
              <a:rPr kumimoji="0" dirty="0"/>
              <a:t> </a:t>
            </a:r>
          </a:p>
        </p:txBody>
      </p:sp>
      <p:sp>
        <p:nvSpPr>
          <p:cNvPr id="4" name="副标题 3">
            <a:extLst>
              <a:ext uri="{FF2B5EF4-FFF2-40B4-BE49-F238E27FC236}">
                <a16:creationId xmlns:a16="http://schemas.microsoft.com/office/drawing/2014/main" id="{06BF054D-8F9B-4A8F-B24F-F2B1619E0584}"/>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B7ECB252-6743-424C-B611-1EB2FCA8F6CA}"/>
              </a:ext>
            </a:extLst>
          </p:cNvPr>
          <p:cNvSpPr>
            <a:spLocks noGrp="1"/>
          </p:cNvSpPr>
          <p:nvPr>
            <p:ph type="body" idx="10"/>
          </p:nvPr>
        </p:nvSpPr>
        <p:spPr/>
        <p:txBody>
          <a:bodyPr/>
          <a:lstStyle/>
          <a:p>
            <a:endParaRPr lang="zh-CN" altLang="en-US"/>
          </a:p>
        </p:txBody>
      </p:sp>
      <p:sp>
        <p:nvSpPr>
          <p:cNvPr id="26627" name="Rectangle 3">
            <a:extLst>
              <a:ext uri="{FF2B5EF4-FFF2-40B4-BE49-F238E27FC236}">
                <a16:creationId xmlns:a16="http://schemas.microsoft.com/office/drawing/2014/main" id="{BFD862FB-309B-4345-8536-5BDE0253BC9B}"/>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dirty="0">
                <a:latin typeface="Calibri Light" panose="020F0302020204030204" pitchFamily="34" charset="0"/>
              </a:rPr>
              <a:t>按</a:t>
            </a:r>
            <a:r>
              <a:rPr lang="en-US" altLang="zh-CN" dirty="0">
                <a:latin typeface="Calibri Light" panose="020F0302020204030204" pitchFamily="34" charset="0"/>
              </a:rPr>
              <a:t>1, 2, 3, 4</a:t>
            </a:r>
            <a:r>
              <a:rPr lang="zh-CN" altLang="en-US" dirty="0">
                <a:latin typeface="Calibri Light" panose="020F0302020204030204" pitchFamily="34" charset="0"/>
              </a:rPr>
              <a:t>的</a:t>
            </a:r>
            <a:r>
              <a:rPr lang="zh-CN" altLang="zh-CN" dirty="0">
                <a:latin typeface="Calibri Light" panose="020F0302020204030204" pitchFamily="34" charset="0"/>
              </a:rPr>
              <a:t>次序</a:t>
            </a:r>
            <a:r>
              <a:rPr lang="zh-CN" altLang="en-US" dirty="0">
                <a:latin typeface="Calibri Light" panose="020F0302020204030204" pitchFamily="34" charset="0"/>
              </a:rPr>
              <a:t>入栈</a:t>
            </a:r>
            <a:r>
              <a:rPr lang="zh-CN" altLang="zh-CN" dirty="0">
                <a:latin typeface="Calibri Light" panose="020F0302020204030204" pitchFamily="34" charset="0"/>
              </a:rPr>
              <a:t>，最后压入的元素编号为</a:t>
            </a:r>
            <a:r>
              <a:rPr lang="en-US" altLang="zh-CN" dirty="0">
                <a:latin typeface="Calibri Light" panose="020F0302020204030204" pitchFamily="34" charset="0"/>
              </a:rPr>
              <a:t>4</a:t>
            </a:r>
          </a:p>
        </p:txBody>
      </p:sp>
      <p:sp>
        <p:nvSpPr>
          <p:cNvPr id="18" name="Text Box 5">
            <a:extLst>
              <a:ext uri="{FF2B5EF4-FFF2-40B4-BE49-F238E27FC236}">
                <a16:creationId xmlns:a16="http://schemas.microsoft.com/office/drawing/2014/main" id="{635A20CB-C7FF-B845-B4AD-FA6EAEBAC689}"/>
              </a:ext>
            </a:extLst>
          </p:cNvPr>
          <p:cNvSpPr txBox="1">
            <a:spLocks noChangeArrowheads="1"/>
          </p:cNvSpPr>
          <p:nvPr/>
        </p:nvSpPr>
        <p:spPr bwMode="auto">
          <a:xfrm>
            <a:off x="5196261" y="50577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a:latin typeface="Calibri" panose="020F0502020204030204" pitchFamily="34" charset="0"/>
                <a:ea typeface="微软雅黑" pitchFamily="34" charset="-122"/>
              </a:rPr>
              <a:t>1</a:t>
            </a:r>
            <a:endParaRPr lang="en-US" altLang="zh-CN" sz="3200" b="1">
              <a:latin typeface="Calibri" panose="020F0502020204030204" pitchFamily="34" charset="0"/>
              <a:ea typeface="微软雅黑" pitchFamily="34" charset="-122"/>
            </a:endParaRPr>
          </a:p>
        </p:txBody>
      </p:sp>
      <p:sp>
        <p:nvSpPr>
          <p:cNvPr id="19" name="Text Box 6">
            <a:extLst>
              <a:ext uri="{FF2B5EF4-FFF2-40B4-BE49-F238E27FC236}">
                <a16:creationId xmlns:a16="http://schemas.microsoft.com/office/drawing/2014/main" id="{8C8C7AC6-1B47-E044-8BB4-21AA195E6496}"/>
              </a:ext>
            </a:extLst>
          </p:cNvPr>
          <p:cNvSpPr txBox="1">
            <a:spLocks noChangeArrowheads="1"/>
          </p:cNvSpPr>
          <p:nvPr/>
        </p:nvSpPr>
        <p:spPr bwMode="auto">
          <a:xfrm>
            <a:off x="5196261" y="46005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a:latin typeface="Calibri" panose="020F0502020204030204" pitchFamily="34" charset="0"/>
                <a:ea typeface="微软雅黑" pitchFamily="34" charset="-122"/>
              </a:rPr>
              <a:t>2</a:t>
            </a:r>
            <a:endParaRPr lang="en-US" altLang="zh-CN" sz="3200" b="1">
              <a:latin typeface="Calibri" panose="020F0502020204030204" pitchFamily="34" charset="0"/>
              <a:ea typeface="微软雅黑" pitchFamily="34" charset="-122"/>
            </a:endParaRPr>
          </a:p>
        </p:txBody>
      </p:sp>
      <p:sp>
        <p:nvSpPr>
          <p:cNvPr id="20" name="Text Box 7">
            <a:extLst>
              <a:ext uri="{FF2B5EF4-FFF2-40B4-BE49-F238E27FC236}">
                <a16:creationId xmlns:a16="http://schemas.microsoft.com/office/drawing/2014/main" id="{455DE42B-E0CF-6643-A9AF-C2ACA6646CD1}"/>
              </a:ext>
            </a:extLst>
          </p:cNvPr>
          <p:cNvSpPr txBox="1">
            <a:spLocks noChangeArrowheads="1"/>
          </p:cNvSpPr>
          <p:nvPr/>
        </p:nvSpPr>
        <p:spPr bwMode="auto">
          <a:xfrm>
            <a:off x="5196261" y="41433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grpSp>
        <p:nvGrpSpPr>
          <p:cNvPr id="21" name="组合 5">
            <a:extLst>
              <a:ext uri="{FF2B5EF4-FFF2-40B4-BE49-F238E27FC236}">
                <a16:creationId xmlns:a16="http://schemas.microsoft.com/office/drawing/2014/main" id="{D4EA350C-6F7E-4E88-8351-CC65E4DF4D95}"/>
              </a:ext>
            </a:extLst>
          </p:cNvPr>
          <p:cNvGrpSpPr>
            <a:grpSpLocks/>
          </p:cNvGrpSpPr>
          <p:nvPr/>
        </p:nvGrpSpPr>
        <p:grpSpPr bwMode="auto">
          <a:xfrm>
            <a:off x="3276973" y="4983163"/>
            <a:ext cx="1793875" cy="461962"/>
            <a:chOff x="2427297" y="5329298"/>
            <a:chExt cx="1794699" cy="461902"/>
          </a:xfrm>
        </p:grpSpPr>
        <p:sp>
          <p:nvSpPr>
            <p:cNvPr id="21519" name="Rectangle 8">
              <a:extLst>
                <a:ext uri="{FF2B5EF4-FFF2-40B4-BE49-F238E27FC236}">
                  <a16:creationId xmlns:a16="http://schemas.microsoft.com/office/drawing/2014/main" id="{4F438F82-6F2D-2849-B298-B6379CBA32F5}"/>
                </a:ext>
              </a:extLst>
            </p:cNvPr>
            <p:cNvSpPr>
              <a:spLocks noChangeArrowheads="1"/>
            </p:cNvSpPr>
            <p:nvPr/>
          </p:nvSpPr>
          <p:spPr bwMode="auto">
            <a:xfrm>
              <a:off x="2427297" y="5329298"/>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dirty="0">
                  <a:solidFill>
                    <a:srgbClr val="1302EE"/>
                  </a:solidFill>
                  <a:latin typeface="Lucida Fax" charset="0"/>
                  <a:ea typeface="微软雅黑" charset="0"/>
                  <a:cs typeface="微软雅黑" charset="0"/>
                </a:rPr>
                <a:t>栈顶</a:t>
              </a:r>
              <a:endParaRPr kumimoji="1" lang="en-US" altLang="zh-CN" sz="2400" b="1" dirty="0">
                <a:solidFill>
                  <a:srgbClr val="1302EE"/>
                </a:solidFill>
                <a:latin typeface="Lucida Fax" charset="0"/>
                <a:ea typeface="微软雅黑" charset="0"/>
                <a:cs typeface="微软雅黑" charset="0"/>
              </a:endParaRPr>
            </a:p>
          </p:txBody>
        </p:sp>
        <p:sp>
          <p:nvSpPr>
            <p:cNvPr id="21520" name="Line 9">
              <a:extLst>
                <a:ext uri="{FF2B5EF4-FFF2-40B4-BE49-F238E27FC236}">
                  <a16:creationId xmlns:a16="http://schemas.microsoft.com/office/drawing/2014/main" id="{C5F0311D-C8E2-C240-8FCF-85B25700F3FF}"/>
                </a:ext>
              </a:extLst>
            </p:cNvPr>
            <p:cNvSpPr>
              <a:spLocks noChangeShapeType="1"/>
            </p:cNvSpPr>
            <p:nvPr/>
          </p:nvSpPr>
          <p:spPr bwMode="auto">
            <a:xfrm>
              <a:off x="3483470" y="5608662"/>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24" name="Text Box 12">
            <a:extLst>
              <a:ext uri="{FF2B5EF4-FFF2-40B4-BE49-F238E27FC236}">
                <a16:creationId xmlns:a16="http://schemas.microsoft.com/office/drawing/2014/main" id="{2D115FAC-D2EF-1F4E-973C-B838386EAA40}"/>
              </a:ext>
            </a:extLst>
          </p:cNvPr>
          <p:cNvSpPr txBox="1">
            <a:spLocks noChangeArrowheads="1"/>
          </p:cNvSpPr>
          <p:nvPr/>
        </p:nvSpPr>
        <p:spPr bwMode="auto">
          <a:xfrm>
            <a:off x="5196261" y="36861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25" name="Text Box 13">
            <a:extLst>
              <a:ext uri="{FF2B5EF4-FFF2-40B4-BE49-F238E27FC236}">
                <a16:creationId xmlns:a16="http://schemas.microsoft.com/office/drawing/2014/main" id="{0DAAD249-2EEE-B048-AF65-4D7DCB2A06E4}"/>
              </a:ext>
            </a:extLst>
          </p:cNvPr>
          <p:cNvSpPr txBox="1">
            <a:spLocks noChangeArrowheads="1"/>
          </p:cNvSpPr>
          <p:nvPr/>
        </p:nvSpPr>
        <p:spPr bwMode="auto">
          <a:xfrm>
            <a:off x="5196261" y="320992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26" name="Text Box 14">
            <a:extLst>
              <a:ext uri="{FF2B5EF4-FFF2-40B4-BE49-F238E27FC236}">
                <a16:creationId xmlns:a16="http://schemas.microsoft.com/office/drawing/2014/main" id="{BF26486F-2396-FA47-BE11-F3E1BE9CD480}"/>
              </a:ext>
            </a:extLst>
          </p:cNvPr>
          <p:cNvSpPr txBox="1">
            <a:spLocks noChangeArrowheads="1"/>
          </p:cNvSpPr>
          <p:nvPr/>
        </p:nvSpPr>
        <p:spPr bwMode="auto">
          <a:xfrm>
            <a:off x="5196261" y="277812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27" name="Line 9">
            <a:extLst>
              <a:ext uri="{FF2B5EF4-FFF2-40B4-BE49-F238E27FC236}">
                <a16:creationId xmlns:a16="http://schemas.microsoft.com/office/drawing/2014/main" id="{253ADE38-F2F9-5740-8C6D-091716B9DBF4}"/>
              </a:ext>
            </a:extLst>
          </p:cNvPr>
          <p:cNvSpPr>
            <a:spLocks noChangeShapeType="1"/>
          </p:cNvSpPr>
          <p:nvPr/>
        </p:nvSpPr>
        <p:spPr bwMode="auto">
          <a:xfrm>
            <a:off x="4332661" y="5476875"/>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path" presetSubtype="0" accel="50000" decel="50000" fill="hold" nodeType="clickEffect">
                                  <p:stCondLst>
                                    <p:cond delay="0"/>
                                  </p:stCondLst>
                                  <p:childTnLst>
                                    <p:animMotion origin="layout" path="M 3.28689E-6 -4.07407E-6 L -1.75674E-6 -0.05509 " pathEditMode="relative" rAng="0" ptsTypes="AA">
                                      <p:cBhvr>
                                        <p:cTn id="24" dur="2000" fill="hold"/>
                                        <p:tgtEl>
                                          <p:spTgt spid="21"/>
                                        </p:tgtEl>
                                        <p:attrNameLst>
                                          <p:attrName>ppt_x</p:attrName>
                                          <p:attrName>ppt_y</p:attrName>
                                        </p:attrNameLst>
                                      </p:cBhvr>
                                      <p:rCtr x="-143" y="-3125"/>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path" presetSubtype="0" accel="50000" decel="50000" fill="hold" nodeType="clickEffect">
                                  <p:stCondLst>
                                    <p:cond delay="0"/>
                                  </p:stCondLst>
                                  <p:childTnLst>
                                    <p:animMotion origin="layout" path="M 4.41334E-6 -0.0551 L -1.75674E-6 -0.12176 " pathEditMode="relative" rAng="0" ptsTypes="AA">
                                      <p:cBhvr>
                                        <p:cTn id="33" dur="2000" fill="hold"/>
                                        <p:tgtEl>
                                          <p:spTgt spid="21"/>
                                        </p:tgtEl>
                                        <p:attrNameLst>
                                          <p:attrName>ppt_x</p:attrName>
                                          <p:attrName>ppt_y</p:attrName>
                                        </p:attrNameLst>
                                      </p:cBhvr>
                                      <p:rCtr x="-117" y="-4097"/>
                                    </p:animMotion>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20">
                                            <p:txEl>
                                              <p:pRg st="0" end="0"/>
                                            </p:txEl>
                                          </p:spTgt>
                                        </p:tgtEl>
                                        <p:attrNameLst>
                                          <p:attrName>style.visibility</p:attrName>
                                        </p:attrNameLst>
                                      </p:cBhvr>
                                      <p:to>
                                        <p:strVal val="visible"/>
                                      </p:to>
                                    </p:set>
                                    <p:animEffect transition="in" filter="fade">
                                      <p:cBhvr>
                                        <p:cTn id="38" dur="500"/>
                                        <p:tgtEl>
                                          <p:spTgt spid="20">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path" presetSubtype="0" accel="50000" decel="50000" fill="hold" nodeType="clickEffect">
                                  <p:stCondLst>
                                    <p:cond delay="0"/>
                                  </p:stCondLst>
                                  <p:childTnLst>
                                    <p:animMotion origin="layout" path="M 4.41334E-6 -0.12176 L -1.75674E-6 -0.18843 " pathEditMode="relative" rAng="0" ptsTypes="AA">
                                      <p:cBhvr>
                                        <p:cTn id="42" dur="2000" fill="hold"/>
                                        <p:tgtEl>
                                          <p:spTgt spid="21"/>
                                        </p:tgtEl>
                                        <p:attrNameLst>
                                          <p:attrName>ppt_x</p:attrName>
                                          <p:attrName>ppt_y</p:attrName>
                                        </p:attrNameLst>
                                      </p:cBhvr>
                                      <p:rCtr x="-117" y="-2106"/>
                                    </p:animMotion>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xEl>
                                              <p:pRg st="0" end="0"/>
                                            </p:txEl>
                                          </p:spTgt>
                                        </p:tgtEl>
                                        <p:attrNameLst>
                                          <p:attrName>style.visibility</p:attrName>
                                        </p:attrNameLst>
                                      </p:cBhvr>
                                      <p:to>
                                        <p:strVal val="visible"/>
                                      </p:to>
                                    </p:set>
                                    <p:animEffect transition="in" filter="fade">
                                      <p:cBhvr>
                                        <p:cTn id="47"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4" grpId="0" animBg="1"/>
      <p:bldP spid="25" grpId="0" animBg="1"/>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157F6F79-E7AC-4B41-BB56-2432872595F8}"/>
              </a:ext>
            </a:extLst>
          </p:cNvPr>
          <p:cNvSpPr>
            <a:spLocks noGrp="1" noChangeArrowheads="1"/>
          </p:cNvSpPr>
          <p:nvPr>
            <p:ph type="title"/>
          </p:nvPr>
        </p:nvSpPr>
        <p:spPr>
          <a:xfrm>
            <a:off x="854087" y="598625"/>
            <a:ext cx="10515600" cy="518958"/>
          </a:xfrm>
        </p:spPr>
        <p:txBody>
          <a:bodyPr>
            <a:normAutofit/>
          </a:bodyPr>
          <a:lstStyle/>
          <a:p>
            <a:pPr eaLnBrk="1" hangingPunct="1">
              <a:spcBef>
                <a:spcPct val="50000"/>
              </a:spcBef>
              <a:defRPr/>
            </a:pPr>
            <a:r>
              <a:rPr kumimoji="0"/>
              <a:t>顺序栈的溢出</a:t>
            </a:r>
          </a:p>
        </p:txBody>
      </p:sp>
      <p:sp>
        <p:nvSpPr>
          <p:cNvPr id="4" name="副标题 3">
            <a:extLst>
              <a:ext uri="{FF2B5EF4-FFF2-40B4-BE49-F238E27FC236}">
                <a16:creationId xmlns:a16="http://schemas.microsoft.com/office/drawing/2014/main" id="{EC4ACFDF-CBF0-47F6-AD6E-E45FBDB5F78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D29F391D-C90E-47D1-B78E-7BF8E2DB3061}"/>
              </a:ext>
            </a:extLst>
          </p:cNvPr>
          <p:cNvSpPr>
            <a:spLocks noGrp="1"/>
          </p:cNvSpPr>
          <p:nvPr>
            <p:ph type="body" idx="10"/>
          </p:nvPr>
        </p:nvSpPr>
        <p:spPr/>
        <p:txBody>
          <a:bodyPr/>
          <a:lstStyle/>
          <a:p>
            <a:endParaRPr lang="zh-CN" altLang="en-US"/>
          </a:p>
        </p:txBody>
      </p:sp>
      <p:sp>
        <p:nvSpPr>
          <p:cNvPr id="27651" name="Rectangle 3">
            <a:extLst>
              <a:ext uri="{FF2B5EF4-FFF2-40B4-BE49-F238E27FC236}">
                <a16:creationId xmlns:a16="http://schemas.microsoft.com/office/drawing/2014/main" id="{E6ACCF6C-26B4-46AE-A47A-B3766F0079F8}"/>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3200" dirty="0">
                <a:solidFill>
                  <a:srgbClr val="0000FF"/>
                </a:solidFill>
              </a:rPr>
              <a:t>上溢</a:t>
            </a:r>
            <a:r>
              <a:rPr lang="zh-CN" altLang="zh-CN" sz="3200" dirty="0"/>
              <a:t>（</a:t>
            </a:r>
            <a:r>
              <a:rPr lang="en-US" altLang="zh-CN" sz="3200" dirty="0"/>
              <a:t>Overflow</a:t>
            </a:r>
            <a:r>
              <a:rPr lang="zh-CN" altLang="zh-CN" sz="3200" dirty="0"/>
              <a:t>）</a:t>
            </a:r>
          </a:p>
          <a:p>
            <a:pPr marL="714375" lvl="1" indent="-369888">
              <a:lnSpc>
                <a:spcPct val="120000"/>
              </a:lnSpc>
              <a:spcBef>
                <a:spcPts val="600"/>
              </a:spcBef>
              <a:buClr>
                <a:srgbClr val="CC3300"/>
              </a:buClr>
            </a:pPr>
            <a:r>
              <a:rPr lang="zh-CN" altLang="zh-CN" sz="2800" dirty="0">
                <a:latin typeface="微软雅黑" panose="020B0503020204020204" pitchFamily="34" charset="-122"/>
                <a:ea typeface="微软雅黑" panose="020B0503020204020204" pitchFamily="34" charset="-122"/>
              </a:rPr>
              <a:t>栈中已有</a:t>
            </a:r>
            <a:r>
              <a:rPr lang="en-US" altLang="zh-CN" sz="2800" dirty="0" err="1">
                <a:latin typeface="微软雅黑" panose="020B0503020204020204" pitchFamily="34" charset="-122"/>
                <a:ea typeface="微软雅黑" panose="020B0503020204020204" pitchFamily="34" charset="-122"/>
              </a:rPr>
              <a:t>maxsize</a:t>
            </a:r>
            <a:r>
              <a:rPr lang="zh-CN" altLang="zh-CN" sz="2800" dirty="0">
                <a:latin typeface="微软雅黑" panose="020B0503020204020204" pitchFamily="34" charset="-122"/>
                <a:ea typeface="微软雅黑" panose="020B0503020204020204" pitchFamily="34" charset="-122"/>
              </a:rPr>
              <a:t>个元素时，再做</a:t>
            </a:r>
            <a:r>
              <a:rPr lang="zh-CN" altLang="zh-CN" sz="2800" dirty="0">
                <a:solidFill>
                  <a:srgbClr val="0000FF"/>
                </a:solidFill>
                <a:latin typeface="微软雅黑" panose="020B0503020204020204" pitchFamily="34" charset="-122"/>
                <a:ea typeface="微软雅黑" panose="020B0503020204020204" pitchFamily="34" charset="-122"/>
              </a:rPr>
              <a:t>进栈</a:t>
            </a:r>
            <a:r>
              <a:rPr lang="zh-CN" altLang="zh-CN" sz="2800" dirty="0">
                <a:latin typeface="微软雅黑" panose="020B0503020204020204" pitchFamily="34" charset="-122"/>
                <a:ea typeface="微软雅黑" panose="020B0503020204020204" pitchFamily="34" charset="-122"/>
              </a:rPr>
              <a:t>运算时产生的现象</a:t>
            </a:r>
            <a:endParaRPr lang="en-US" altLang="zh-CN" sz="2800" dirty="0">
              <a:latin typeface="微软雅黑" panose="020B0503020204020204" pitchFamily="34" charset="-122"/>
              <a:ea typeface="微软雅黑" panose="020B0503020204020204" pitchFamily="34" charset="-122"/>
            </a:endParaRPr>
          </a:p>
          <a:p>
            <a:pPr marL="714375" lvl="1" indent="-369888">
              <a:lnSpc>
                <a:spcPct val="120000"/>
              </a:lnSpc>
              <a:spcBef>
                <a:spcPts val="600"/>
              </a:spcBef>
              <a:buClr>
                <a:srgbClr val="CC3300"/>
              </a:buClr>
            </a:pPr>
            <a:endParaRPr lang="zh-CN" altLang="zh-CN" sz="1600" dirty="0">
              <a:latin typeface="微软雅黑" panose="020B0503020204020204" pitchFamily="34" charset="-122"/>
              <a:ea typeface="微软雅黑" panose="020B0503020204020204" pitchFamily="34" charset="-122"/>
            </a:endParaRPr>
          </a:p>
          <a:p>
            <a:pPr marL="341313" indent="-341313">
              <a:lnSpc>
                <a:spcPct val="120000"/>
              </a:lnSpc>
              <a:spcBef>
                <a:spcPts val="600"/>
              </a:spcBef>
            </a:pPr>
            <a:r>
              <a:rPr lang="zh-CN" altLang="zh-CN" sz="3200" dirty="0">
                <a:solidFill>
                  <a:srgbClr val="C00000"/>
                </a:solidFill>
              </a:rPr>
              <a:t>下溢</a:t>
            </a:r>
            <a:r>
              <a:rPr lang="zh-CN" altLang="zh-CN" sz="3200" dirty="0"/>
              <a:t>（</a:t>
            </a:r>
            <a:r>
              <a:rPr lang="en-US" altLang="zh-CN" sz="3200" dirty="0"/>
              <a:t>Underflow</a:t>
            </a:r>
            <a:r>
              <a:rPr lang="zh-CN" altLang="zh-CN" sz="3200" dirty="0"/>
              <a:t>）</a:t>
            </a:r>
          </a:p>
          <a:p>
            <a:pPr marL="714375" lvl="1" indent="-369888">
              <a:lnSpc>
                <a:spcPct val="120000"/>
              </a:lnSpc>
              <a:spcBef>
                <a:spcPts val="600"/>
              </a:spcBef>
              <a:buClr>
                <a:srgbClr val="CC3300"/>
              </a:buClr>
            </a:pPr>
            <a:r>
              <a:rPr lang="zh-CN" altLang="zh-CN" sz="2800" dirty="0">
                <a:latin typeface="微软雅黑" panose="020B0503020204020204" pitchFamily="34" charset="-122"/>
                <a:ea typeface="微软雅黑" panose="020B0503020204020204" pitchFamily="34" charset="-122"/>
              </a:rPr>
              <a:t>对</a:t>
            </a:r>
            <a:r>
              <a:rPr lang="zh-CN" altLang="zh-CN" sz="2800" dirty="0">
                <a:solidFill>
                  <a:srgbClr val="7030A0"/>
                </a:solidFill>
                <a:latin typeface="微软雅黑" panose="020B0503020204020204" pitchFamily="34" charset="-122"/>
                <a:ea typeface="微软雅黑" panose="020B0503020204020204" pitchFamily="34" charset="-122"/>
              </a:rPr>
              <a:t>空栈</a:t>
            </a:r>
            <a:r>
              <a:rPr lang="zh-CN" altLang="zh-CN" sz="2800" dirty="0">
                <a:latin typeface="微软雅黑" panose="020B0503020204020204" pitchFamily="34" charset="-122"/>
                <a:ea typeface="微软雅黑" panose="020B0503020204020204" pitchFamily="34" charset="-122"/>
              </a:rPr>
              <a:t>进行</a:t>
            </a:r>
            <a:r>
              <a:rPr lang="zh-CN" altLang="zh-CN" sz="2800" dirty="0">
                <a:solidFill>
                  <a:srgbClr val="C00000"/>
                </a:solidFill>
                <a:latin typeface="微软雅黑" panose="020B0503020204020204" pitchFamily="34" charset="-122"/>
                <a:ea typeface="微软雅黑" panose="020B0503020204020204" pitchFamily="34" charset="-122"/>
              </a:rPr>
              <a:t>出栈</a:t>
            </a:r>
            <a:r>
              <a:rPr lang="zh-CN" altLang="zh-CN" sz="2800" dirty="0">
                <a:latin typeface="微软雅黑" panose="020B0503020204020204" pitchFamily="34" charset="-122"/>
                <a:ea typeface="微软雅黑" panose="020B0503020204020204" pitchFamily="34" charset="-122"/>
              </a:rPr>
              <a:t>运算时所产生的现象</a:t>
            </a:r>
          </a:p>
          <a:p>
            <a:pPr marL="341313" indent="-341313">
              <a:lnSpc>
                <a:spcPct val="105000"/>
              </a:lnSpc>
            </a:pPr>
            <a:endParaRPr lang="zh-CN" altLang="zh-CN" sz="3200" dirty="0"/>
          </a:p>
          <a:p>
            <a:pPr marL="341313" indent="-341313">
              <a:lnSpc>
                <a:spcPct val="105000"/>
              </a:lnSpc>
            </a:pPr>
            <a:endParaRPr lang="en-US" altLang="zh-CN"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E8E51BE2-DFB7-4C56-B138-54EEB7245D93}"/>
              </a:ext>
            </a:extLst>
          </p:cNvPr>
          <p:cNvSpPr>
            <a:spLocks noGrp="1" noChangeArrowheads="1"/>
          </p:cNvSpPr>
          <p:nvPr>
            <p:ph type="title"/>
          </p:nvPr>
        </p:nvSpPr>
        <p:spPr/>
        <p:txBody>
          <a:bodyPr>
            <a:normAutofit/>
          </a:bodyPr>
          <a:lstStyle/>
          <a:p>
            <a:pPr eaLnBrk="1" hangingPunct="1">
              <a:spcBef>
                <a:spcPct val="50000"/>
              </a:spcBef>
              <a:defRPr/>
            </a:pPr>
            <a:r>
              <a:rPr kumimoji="0" dirty="0" err="1"/>
              <a:t>压栈操作</a:t>
            </a:r>
            <a:endParaRPr kumimoji="0" dirty="0"/>
          </a:p>
        </p:txBody>
      </p:sp>
      <p:sp>
        <p:nvSpPr>
          <p:cNvPr id="4" name="副标题 3">
            <a:extLst>
              <a:ext uri="{FF2B5EF4-FFF2-40B4-BE49-F238E27FC236}">
                <a16:creationId xmlns:a16="http://schemas.microsoft.com/office/drawing/2014/main" id="{FEE5D102-AF34-453F-825A-C7E5B57D2FC2}"/>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E417CC64-3EA0-40C3-9001-4344EFBCDE36}"/>
              </a:ext>
            </a:extLst>
          </p:cNvPr>
          <p:cNvSpPr>
            <a:spLocks noGrp="1"/>
          </p:cNvSpPr>
          <p:nvPr>
            <p:ph type="body" idx="10"/>
          </p:nvPr>
        </p:nvSpPr>
        <p:spPr/>
        <p:txBody>
          <a:bodyPr/>
          <a:lstStyle/>
          <a:p>
            <a:endParaRPr lang="zh-CN" altLang="en-US"/>
          </a:p>
        </p:txBody>
      </p:sp>
      <p:sp>
        <p:nvSpPr>
          <p:cNvPr id="7" name="内容占位符 6">
            <a:extLst>
              <a:ext uri="{FF2B5EF4-FFF2-40B4-BE49-F238E27FC236}">
                <a16:creationId xmlns:a16="http://schemas.microsoft.com/office/drawing/2014/main" id="{442DF144-EBC9-4255-BFC3-AB53CD9BE597}"/>
              </a:ext>
            </a:extLst>
          </p:cNvPr>
          <p:cNvSpPr>
            <a:spLocks noGrp="1"/>
          </p:cNvSpPr>
          <p:nvPr>
            <p:ph idx="11"/>
          </p:nvPr>
        </p:nvSpPr>
        <p:spPr>
          <a:xfrm>
            <a:off x="584225" y="1377650"/>
            <a:ext cx="11055325" cy="5057775"/>
          </a:xfrm>
        </p:spPr>
        <p:txBody>
          <a:bodyPr>
            <a:normAutofit/>
          </a:bodyPr>
          <a:lstStyle/>
          <a:p>
            <a:pPr marL="0" indent="0">
              <a:lnSpc>
                <a:spcPct val="100000"/>
              </a:lnSpc>
              <a:buFontTx/>
              <a:buNone/>
            </a:pPr>
            <a:r>
              <a:rPr lang="zh-CN" altLang="en-US" sz="2000" b="1" dirty="0">
                <a:solidFill>
                  <a:srgbClr val="000000"/>
                </a:solidFill>
                <a:cs typeface="Times New Roman" panose="02020603050405020304" pitchFamily="18" charset="0"/>
              </a:rPr>
              <a:t>算法：</a:t>
            </a:r>
            <a:r>
              <a:rPr lang="zh-CN" altLang="en-US" sz="2000" dirty="0">
                <a:solidFill>
                  <a:srgbClr val="000000"/>
                </a:solidFill>
                <a:cs typeface="Times New Roman" panose="02020603050405020304" pitchFamily="18" charset="0"/>
              </a:rPr>
              <a:t>顺序栈的入栈操作 </a:t>
            </a:r>
            <a:r>
              <a:rPr lang="en-US" altLang="zh-CN" sz="2000" dirty="0">
                <a:solidFill>
                  <a:srgbClr val="000000"/>
                </a:solidFill>
                <a:cs typeface="Times New Roman" panose="02020603050405020304" pitchFamily="18" charset="0"/>
              </a:rPr>
              <a:t>Push (</a:t>
            </a:r>
            <a:r>
              <a:rPr lang="en-US" altLang="zh-CN" sz="2000" i="1" dirty="0">
                <a:solidFill>
                  <a:srgbClr val="000000"/>
                </a:solidFill>
                <a:cs typeface="Times New Roman" panose="02020603050405020304" pitchFamily="18" charset="0"/>
              </a:rPr>
              <a:t>stack, x</a:t>
            </a:r>
            <a:r>
              <a:rPr lang="en-US" altLang="zh-CN" sz="2000" dirty="0">
                <a:solidFill>
                  <a:srgbClr val="000000"/>
                </a:solidFill>
                <a:cs typeface="Times New Roman" panose="02020603050405020304" pitchFamily="18" charset="0"/>
              </a:rPr>
              <a:t>)</a:t>
            </a:r>
            <a:endParaRPr lang="en-US" altLang="zh-CN" sz="2000" dirty="0">
              <a:solidFill>
                <a:srgbClr val="000000"/>
              </a:solidFill>
            </a:endParaRPr>
          </a:p>
          <a:p>
            <a:pPr marL="0" indent="0">
              <a:lnSpc>
                <a:spcPct val="100000"/>
              </a:lnSpc>
              <a:buFontTx/>
              <a:buNone/>
            </a:pPr>
            <a:r>
              <a:rPr lang="zh-CN" altLang="en-US" sz="2000" b="1" dirty="0">
                <a:solidFill>
                  <a:srgbClr val="000000"/>
                </a:solidFill>
                <a:cs typeface="Times New Roman" panose="02020603050405020304" pitchFamily="18" charset="0"/>
              </a:rPr>
              <a:t>输入：</a:t>
            </a:r>
            <a:r>
              <a:rPr lang="en-US" altLang="zh-CN" sz="2000" b="1" dirty="0">
                <a:solidFill>
                  <a:srgbClr val="000000"/>
                </a:solidFill>
                <a:cs typeface="Times New Roman" panose="02020603050405020304" pitchFamily="18" charset="0"/>
              </a:rPr>
              <a:t>	</a:t>
            </a:r>
            <a:r>
              <a:rPr lang="zh-CN" altLang="en-US" sz="2000" dirty="0">
                <a:solidFill>
                  <a:srgbClr val="000000"/>
                </a:solidFill>
                <a:cs typeface="Times New Roman" panose="02020603050405020304" pitchFamily="18" charset="0"/>
              </a:rPr>
              <a:t>栈</a:t>
            </a:r>
            <a:r>
              <a:rPr lang="en-US" altLang="zh-CN" sz="2000" i="1" dirty="0">
                <a:solidFill>
                  <a:srgbClr val="000000"/>
                </a:solidFill>
                <a:cs typeface="Times New Roman" panose="02020603050405020304" pitchFamily="18" charset="0"/>
              </a:rPr>
              <a:t>stack </a:t>
            </a:r>
            <a:r>
              <a:rPr lang="zh-CN" altLang="en-US" sz="2000" dirty="0">
                <a:solidFill>
                  <a:srgbClr val="000000"/>
                </a:solidFill>
                <a:cs typeface="Times New Roman" panose="02020603050405020304" pitchFamily="18" charset="0"/>
              </a:rPr>
              <a:t>和待压入的元素</a:t>
            </a:r>
            <a:r>
              <a:rPr lang="en-US" altLang="zh-CN" sz="2000" i="1" dirty="0">
                <a:solidFill>
                  <a:srgbClr val="000000"/>
                </a:solidFill>
                <a:cs typeface="Times New Roman" panose="02020603050405020304" pitchFamily="18" charset="0"/>
              </a:rPr>
              <a:t>x</a:t>
            </a:r>
            <a:endParaRPr lang="en-US" altLang="zh-CN" sz="2000" dirty="0">
              <a:solidFill>
                <a:srgbClr val="000000"/>
              </a:solidFill>
            </a:endParaRPr>
          </a:p>
          <a:p>
            <a:pPr marL="0" indent="0">
              <a:lnSpc>
                <a:spcPct val="100000"/>
              </a:lnSpc>
              <a:buFontTx/>
              <a:buNone/>
            </a:pPr>
            <a:r>
              <a:rPr lang="zh-CN" altLang="en-US" sz="2000" b="1" dirty="0">
                <a:solidFill>
                  <a:srgbClr val="000000"/>
                </a:solidFill>
                <a:cs typeface="Times New Roman" panose="02020603050405020304" pitchFamily="18" charset="0"/>
              </a:rPr>
              <a:t>输出：</a:t>
            </a:r>
            <a:r>
              <a:rPr lang="en-US" altLang="zh-CN" sz="2000" b="1" dirty="0">
                <a:solidFill>
                  <a:srgbClr val="000000"/>
                </a:solidFill>
                <a:cs typeface="Times New Roman" panose="02020603050405020304" pitchFamily="18" charset="0"/>
              </a:rPr>
              <a:t>	</a:t>
            </a:r>
            <a:r>
              <a:rPr lang="zh-CN" altLang="en-US" sz="2000" dirty="0">
                <a:solidFill>
                  <a:srgbClr val="000000"/>
                </a:solidFill>
                <a:cs typeface="Times New Roman" panose="02020603050405020304" pitchFamily="18" charset="0"/>
              </a:rPr>
              <a:t>压入</a:t>
            </a:r>
            <a:r>
              <a:rPr lang="en-US" altLang="zh-CN" sz="2000" i="1" dirty="0">
                <a:solidFill>
                  <a:srgbClr val="000000"/>
                </a:solidFill>
                <a:cs typeface="Times New Roman" panose="02020603050405020304" pitchFamily="18" charset="0"/>
              </a:rPr>
              <a:t>x</a:t>
            </a:r>
            <a:r>
              <a:rPr lang="zh-CN" altLang="en-US" sz="2000" dirty="0">
                <a:solidFill>
                  <a:srgbClr val="000000"/>
                </a:solidFill>
                <a:cs typeface="Times New Roman" panose="02020603050405020304" pitchFamily="18" charset="0"/>
              </a:rPr>
              <a:t>后的顺序栈；若栈满，则退出</a:t>
            </a:r>
            <a:endParaRPr lang="zh-CN" altLang="en-US" sz="2000" dirty="0">
              <a:solidFill>
                <a:srgbClr val="000000"/>
              </a:solidFill>
            </a:endParaRPr>
          </a:p>
          <a:p>
            <a:pPr marL="0" indent="0">
              <a:lnSpc>
                <a:spcPct val="100000"/>
              </a:lnSpc>
              <a:buFontTx/>
              <a:buNone/>
            </a:pPr>
            <a:r>
              <a:rPr lang="en-US" altLang="zh-CN" sz="2000" b="1" dirty="0">
                <a:cs typeface="Times New Roman" panose="02020603050405020304" pitchFamily="18" charset="0"/>
              </a:rPr>
              <a:t>1. if </a:t>
            </a:r>
            <a:r>
              <a:rPr lang="en-US" altLang="zh-CN" sz="2000" dirty="0" err="1">
                <a:cs typeface="Times New Roman" panose="02020603050405020304" pitchFamily="18" charset="0"/>
              </a:rPr>
              <a:t>IsFull</a:t>
            </a:r>
            <a:r>
              <a:rPr lang="en-US" altLang="zh-CN" sz="2000" dirty="0">
                <a:cs typeface="Times New Roman" panose="02020603050405020304" pitchFamily="18" charset="0"/>
              </a:rPr>
              <a:t>(</a:t>
            </a:r>
            <a:r>
              <a:rPr lang="en-US" altLang="zh-CN" sz="2000" i="1" dirty="0">
                <a:cs typeface="Times New Roman" panose="02020603050405020304" pitchFamily="18" charset="0"/>
              </a:rPr>
              <a:t>stack</a:t>
            </a:r>
            <a:r>
              <a:rPr lang="en-US" altLang="zh-CN" sz="2000" dirty="0">
                <a:cs typeface="Times New Roman" panose="02020603050405020304" pitchFamily="18" charset="0"/>
              </a:rPr>
              <a:t>)=</a:t>
            </a:r>
            <a:r>
              <a:rPr lang="en-US" altLang="zh-CN" sz="2000" b="1" dirty="0">
                <a:cs typeface="Times New Roman" panose="02020603050405020304" pitchFamily="18" charset="0"/>
              </a:rPr>
              <a:t>true</a:t>
            </a:r>
            <a:r>
              <a:rPr lang="en-US" altLang="zh-CN" sz="2000" dirty="0">
                <a:cs typeface="Times New Roman" panose="02020603050405020304" pitchFamily="18" charset="0"/>
              </a:rPr>
              <a:t> </a:t>
            </a:r>
            <a:r>
              <a:rPr lang="en-US" altLang="zh-CN" sz="2000" b="1" dirty="0">
                <a:cs typeface="Times New Roman" panose="02020603050405020304" pitchFamily="18" charset="0"/>
              </a:rPr>
              <a:t>then</a:t>
            </a:r>
            <a:endParaRPr lang="en-US" altLang="zh-CN" sz="2000" dirty="0"/>
          </a:p>
          <a:p>
            <a:pPr marL="0" indent="0">
              <a:lnSpc>
                <a:spcPct val="100000"/>
              </a:lnSpc>
              <a:buFontTx/>
              <a:buNone/>
            </a:pPr>
            <a:r>
              <a:rPr lang="en-US" altLang="zh-CN" sz="2000" dirty="0">
                <a:cs typeface="Times New Roman" panose="02020603050405020304" pitchFamily="18" charset="0"/>
              </a:rPr>
              <a:t>2. |  </a:t>
            </a:r>
            <a:r>
              <a:rPr lang="zh-CN" altLang="en-US" sz="2000" dirty="0">
                <a:cs typeface="Times New Roman" panose="02020603050405020304" pitchFamily="18" charset="0"/>
              </a:rPr>
              <a:t>栈满，退出</a:t>
            </a:r>
            <a:endParaRPr lang="zh-CN" altLang="en-US" sz="2000" dirty="0"/>
          </a:p>
          <a:p>
            <a:pPr marL="0" indent="0">
              <a:lnSpc>
                <a:spcPct val="100000"/>
              </a:lnSpc>
              <a:buFontTx/>
              <a:buNone/>
            </a:pPr>
            <a:r>
              <a:rPr lang="en-US" altLang="zh-CN" sz="2000" b="1" dirty="0">
                <a:cs typeface="Times New Roman" panose="02020603050405020304" pitchFamily="18" charset="0"/>
              </a:rPr>
              <a:t>3. else</a:t>
            </a:r>
            <a:endParaRPr lang="en-US" altLang="zh-CN" sz="2000" dirty="0"/>
          </a:p>
          <a:p>
            <a:pPr marL="0" indent="0">
              <a:lnSpc>
                <a:spcPct val="100000"/>
              </a:lnSpc>
              <a:buFontTx/>
              <a:buNone/>
            </a:pPr>
            <a:r>
              <a:rPr lang="en-US" altLang="zh-CN" sz="2000" b="1" dirty="0">
                <a:cs typeface="Times New Roman" panose="02020603050405020304" pitchFamily="18" charset="0"/>
              </a:rPr>
              <a:t>4. |  </a:t>
            </a:r>
            <a:r>
              <a:rPr lang="en-US" altLang="zh-CN" sz="2000" i="1" dirty="0" err="1">
                <a:cs typeface="Times New Roman" panose="02020603050405020304" pitchFamily="18" charset="0"/>
              </a:rPr>
              <a:t>stack.top</a:t>
            </a:r>
            <a:r>
              <a:rPr lang="en-US" altLang="zh-CN" sz="2000" i="1" dirty="0">
                <a:cs typeface="Times New Roman" panose="02020603050405020304" pitchFamily="18" charset="0"/>
              </a:rPr>
              <a:t>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i="1" dirty="0" err="1">
                <a:cs typeface="Times New Roman" panose="02020603050405020304" pitchFamily="18" charset="0"/>
              </a:rPr>
              <a:t>stack.top</a:t>
            </a:r>
            <a:r>
              <a:rPr lang="en-US" altLang="zh-CN" sz="2000" i="1" dirty="0">
                <a:cs typeface="Times New Roman" panose="02020603050405020304" pitchFamily="18" charset="0"/>
              </a:rPr>
              <a:t> </a:t>
            </a:r>
            <a:r>
              <a:rPr lang="en-US" altLang="zh-CN" sz="2000" dirty="0">
                <a:cs typeface="Times New Roman" panose="02020603050405020304" pitchFamily="18" charset="0"/>
              </a:rPr>
              <a:t>+ 1</a:t>
            </a:r>
            <a:endParaRPr lang="en-US" altLang="zh-CN" sz="2000" dirty="0"/>
          </a:p>
          <a:p>
            <a:pPr marL="0" indent="0">
              <a:lnSpc>
                <a:spcPct val="100000"/>
              </a:lnSpc>
              <a:buFontTx/>
              <a:buNone/>
            </a:pPr>
            <a:r>
              <a:rPr lang="en-US" altLang="zh-CN" sz="2000" dirty="0">
                <a:cs typeface="Times New Roman" panose="02020603050405020304" pitchFamily="18" charset="0"/>
              </a:rPr>
              <a:t>5. |  </a:t>
            </a:r>
            <a:r>
              <a:rPr lang="en-US" altLang="zh-CN" sz="2000" i="1" dirty="0" err="1">
                <a:cs typeface="Times New Roman" panose="02020603050405020304" pitchFamily="18" charset="0"/>
              </a:rPr>
              <a:t>stack.data</a:t>
            </a:r>
            <a:r>
              <a:rPr lang="en-US" altLang="zh-CN" sz="2000" i="1" dirty="0">
                <a:cs typeface="Times New Roman" panose="02020603050405020304" pitchFamily="18" charset="0"/>
              </a:rPr>
              <a:t> </a:t>
            </a:r>
            <a:r>
              <a:rPr lang="en-US" altLang="zh-CN" sz="2000" dirty="0">
                <a:cs typeface="Times New Roman" panose="02020603050405020304" pitchFamily="18" charset="0"/>
              </a:rPr>
              <a:t>[</a:t>
            </a:r>
            <a:r>
              <a:rPr lang="en-US" altLang="zh-CN" sz="2000" i="1" dirty="0" err="1">
                <a:cs typeface="Times New Roman" panose="02020603050405020304" pitchFamily="18" charset="0"/>
              </a:rPr>
              <a:t>stack.top</a:t>
            </a:r>
            <a:r>
              <a:rPr lang="en-US" altLang="zh-CN" sz="2000" dirty="0">
                <a:cs typeface="Times New Roman" panose="02020603050405020304" pitchFamily="18" charset="0"/>
              </a:rPr>
              <a:t>]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dirty="0">
                <a:cs typeface="Times New Roman" panose="02020603050405020304" pitchFamily="18" charset="0"/>
              </a:rPr>
              <a:t> </a:t>
            </a:r>
            <a:r>
              <a:rPr lang="en-US" altLang="zh-CN" sz="2000" i="1" dirty="0">
                <a:cs typeface="Times New Roman" panose="02020603050405020304" pitchFamily="18" charset="0"/>
              </a:rPr>
              <a:t>x</a:t>
            </a:r>
            <a:endParaRPr lang="en-US" altLang="zh-CN" sz="2000" dirty="0"/>
          </a:p>
          <a:p>
            <a:pPr marL="0" indent="0">
              <a:lnSpc>
                <a:spcPct val="100000"/>
              </a:lnSpc>
              <a:buFontTx/>
              <a:buNone/>
            </a:pPr>
            <a:r>
              <a:rPr lang="en-US" altLang="zh-CN" sz="2000" b="1" dirty="0">
                <a:cs typeface="Times New Roman" panose="02020603050405020304" pitchFamily="18" charset="0"/>
              </a:rPr>
              <a:t>6. end</a:t>
            </a:r>
            <a:endParaRPr lang="en-US" altLang="zh-CN" sz="2000" dirty="0"/>
          </a:p>
          <a:p>
            <a:pPr marL="0" indent="0">
              <a:buNone/>
            </a:pPr>
            <a:endParaRPr lang="zh-CN" altLang="en-US" sz="2000" dirty="0"/>
          </a:p>
        </p:txBody>
      </p:sp>
      <p:cxnSp>
        <p:nvCxnSpPr>
          <p:cNvPr id="11" name="直接连接符 10">
            <a:extLst>
              <a:ext uri="{FF2B5EF4-FFF2-40B4-BE49-F238E27FC236}">
                <a16:creationId xmlns:a16="http://schemas.microsoft.com/office/drawing/2014/main" id="{AC19CACA-FE08-4BBA-A4F2-0909379890D5}"/>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4FA6E45-EA25-4B83-9E7C-6103F728D247}"/>
              </a:ext>
            </a:extLst>
          </p:cNvPr>
          <p:cNvCxnSpPr>
            <a:cxnSpLocks/>
          </p:cNvCxnSpPr>
          <p:nvPr/>
        </p:nvCxnSpPr>
        <p:spPr>
          <a:xfrm>
            <a:off x="584225" y="177755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BC1141B-1B30-4769-ABEF-618EEA3D385D}"/>
              </a:ext>
            </a:extLst>
          </p:cNvPr>
          <p:cNvCxnSpPr>
            <a:cxnSpLocks/>
          </p:cNvCxnSpPr>
          <p:nvPr/>
        </p:nvCxnSpPr>
        <p:spPr>
          <a:xfrm>
            <a:off x="629049" y="2642649"/>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05A0220B-49F7-4FE6-9C32-F333178D30AF}"/>
              </a:ext>
            </a:extLst>
          </p:cNvPr>
          <p:cNvSpPr>
            <a:spLocks noGrp="1" noChangeArrowheads="1"/>
          </p:cNvSpPr>
          <p:nvPr>
            <p:ph type="title"/>
          </p:nvPr>
        </p:nvSpPr>
        <p:spPr/>
        <p:txBody>
          <a:bodyPr>
            <a:normAutofit/>
          </a:bodyPr>
          <a:lstStyle/>
          <a:p>
            <a:pPr eaLnBrk="1" hangingPunct="1">
              <a:spcBef>
                <a:spcPct val="50000"/>
              </a:spcBef>
              <a:defRPr/>
            </a:pPr>
            <a:r>
              <a:rPr kumimoji="0"/>
              <a:t>出栈操作</a:t>
            </a:r>
          </a:p>
        </p:txBody>
      </p:sp>
      <p:sp>
        <p:nvSpPr>
          <p:cNvPr id="4" name="副标题 3">
            <a:extLst>
              <a:ext uri="{FF2B5EF4-FFF2-40B4-BE49-F238E27FC236}">
                <a16:creationId xmlns:a16="http://schemas.microsoft.com/office/drawing/2014/main" id="{39AB1892-E5EF-4702-9735-34E4C724105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4C04973A-F933-43E6-B7E4-B2BC9CB40E7F}"/>
              </a:ext>
            </a:extLst>
          </p:cNvPr>
          <p:cNvSpPr>
            <a:spLocks noGrp="1"/>
          </p:cNvSpPr>
          <p:nvPr>
            <p:ph type="body" idx="10"/>
          </p:nvPr>
        </p:nvSpPr>
        <p:spPr/>
        <p:txBody>
          <a:bodyPr/>
          <a:lstStyle/>
          <a:p>
            <a:endParaRPr lang="zh-CN" altLang="en-US"/>
          </a:p>
        </p:txBody>
      </p:sp>
      <p:sp>
        <p:nvSpPr>
          <p:cNvPr id="29699" name="Rectangle 3">
            <a:extLst>
              <a:ext uri="{FF2B5EF4-FFF2-40B4-BE49-F238E27FC236}">
                <a16:creationId xmlns:a16="http://schemas.microsoft.com/office/drawing/2014/main" id="{A430EF8F-AD33-4FEA-8AA3-626DBF83ED40}"/>
              </a:ext>
            </a:extLst>
          </p:cNvPr>
          <p:cNvSpPr>
            <a:spLocks noGrp="1" noChangeArrowheads="1"/>
          </p:cNvSpPr>
          <p:nvPr>
            <p:ph idx="11"/>
          </p:nvPr>
        </p:nvSpPr>
        <p:spPr bwMode="auto">
          <a:xfrm>
            <a:off x="584225" y="1249456"/>
            <a:ext cx="11055325" cy="5057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算法：</a:t>
            </a:r>
            <a:r>
              <a:rPr lang="zh-CN" altLang="zh-CN" sz="2000" dirty="0">
                <a:solidFill>
                  <a:srgbClr val="000000"/>
                </a:solidFill>
                <a:cs typeface="Times New Roman" panose="02020603050405020304" pitchFamily="18" charset="0"/>
              </a:rPr>
              <a:t>顺序栈的取顶操作 Top (</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0" lvl="0" indent="0" eaLnBrk="0" fontAlgn="base" hangingPunct="0">
              <a:lnSpc>
                <a:spcPct val="110000"/>
              </a:lnSpc>
              <a:spcBef>
                <a:spcPct val="0"/>
              </a:spcBef>
              <a:spcAft>
                <a:spcPct val="0"/>
              </a:spcAft>
              <a:buNone/>
            </a:pPr>
            <a:endParaRPr lang="en-US" altLang="zh-CN" sz="1000" b="1" dirty="0">
              <a:solidFill>
                <a:srgbClr val="000000"/>
              </a:solidFill>
              <a:cs typeface="Times New Roman" panose="02020603050405020304" pitchFamily="18" charset="0"/>
            </a:endParaRPr>
          </a:p>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输入：</a:t>
            </a:r>
            <a:r>
              <a:rPr lang="zh-CN" altLang="zh-CN" sz="2000" dirty="0">
                <a:solidFill>
                  <a:srgbClr val="000000"/>
                </a:solidFill>
                <a:cs typeface="Times New Roman" panose="02020603050405020304" pitchFamily="18" charset="0"/>
              </a:rPr>
              <a:t>栈</a:t>
            </a:r>
            <a:r>
              <a:rPr lang="zh-CN" altLang="zh-CN" sz="2000" i="1" dirty="0">
                <a:solidFill>
                  <a:srgbClr val="000000"/>
                </a:solidFill>
                <a:cs typeface="Times New Roman" panose="02020603050405020304" pitchFamily="18" charset="0"/>
              </a:rPr>
              <a:t>stack</a:t>
            </a:r>
            <a:endParaRPr lang="zh-CN" altLang="zh-CN" sz="2000" dirty="0">
              <a:solidFill>
                <a:srgbClr val="000000"/>
              </a:solidFill>
            </a:endParaRPr>
          </a:p>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输出：</a:t>
            </a:r>
            <a:r>
              <a:rPr lang="zh-CN" altLang="zh-CN" sz="2000" dirty="0">
                <a:solidFill>
                  <a:srgbClr val="000000"/>
                </a:solidFill>
                <a:cs typeface="Times New Roman" panose="02020603050405020304" pitchFamily="18" charset="0"/>
              </a:rPr>
              <a:t>栈顶元素；若栈空，则输出NIL</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if </a:t>
            </a:r>
            <a:r>
              <a:rPr lang="zh-CN" altLang="zh-CN" sz="2000" dirty="0">
                <a:solidFill>
                  <a:srgbClr val="000000"/>
                </a:solidFill>
                <a:cs typeface="Times New Roman" panose="02020603050405020304" pitchFamily="18" charset="0"/>
              </a:rPr>
              <a:t>IsEmpty(</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r>
              <a:rPr lang="zh-CN" altLang="zh-CN" sz="2000" b="1" dirty="0">
                <a:solidFill>
                  <a:srgbClr val="000000"/>
                </a:solidFill>
                <a:cs typeface="Times New Roman" panose="02020603050405020304" pitchFamily="18" charset="0"/>
              </a:rPr>
              <a:t>true</a:t>
            </a: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then</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return </a:t>
            </a:r>
            <a:r>
              <a:rPr lang="zh-CN" altLang="zh-CN" sz="2000" dirty="0">
                <a:solidFill>
                  <a:srgbClr val="000000"/>
                </a:solidFill>
                <a:cs typeface="Times New Roman" panose="02020603050405020304" pitchFamily="18" charset="0"/>
              </a:rPr>
              <a:t>NIL</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else</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return </a:t>
            </a:r>
            <a:r>
              <a:rPr lang="zh-CN" altLang="zh-CN" sz="2000" i="1" dirty="0">
                <a:solidFill>
                  <a:srgbClr val="000000"/>
                </a:solidFill>
                <a:cs typeface="Times New Roman" panose="02020603050405020304" pitchFamily="18" charset="0"/>
              </a:rPr>
              <a:t>stack.</a:t>
            </a:r>
            <a:r>
              <a:rPr lang="zh-CN" altLang="zh-CN" sz="2000" i="1" dirty="0">
                <a:cs typeface="Times New Roman" panose="02020603050405020304" pitchFamily="18" charset="0"/>
              </a:rPr>
              <a:t>data</a:t>
            </a:r>
            <a:r>
              <a:rPr lang="zh-CN" altLang="zh-CN" sz="2000" dirty="0">
                <a:cs typeface="Times New Roman" panose="02020603050405020304" pitchFamily="18" charset="0"/>
              </a:rPr>
              <a:t>[</a:t>
            </a:r>
            <a:r>
              <a:rPr lang="zh-CN" altLang="zh-CN" sz="2000" i="1" dirty="0">
                <a:solidFill>
                  <a:srgbClr val="000000"/>
                </a:solidFill>
                <a:cs typeface="Times New Roman" panose="02020603050405020304" pitchFamily="18" charset="0"/>
              </a:rPr>
              <a:t>stack.top</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end</a:t>
            </a:r>
            <a:endParaRPr lang="zh-CN" altLang="zh-CN" sz="2000" dirty="0">
              <a:solidFill>
                <a:srgbClr val="000000"/>
              </a:solidFill>
            </a:endParaRPr>
          </a:p>
          <a:p>
            <a:pPr marL="0" indent="0">
              <a:spcBef>
                <a:spcPts val="300"/>
              </a:spcBef>
              <a:buClrTx/>
              <a:buSzTx/>
              <a:buFont typeface="Wingdings" panose="05000000000000000000" pitchFamily="2" charset="2"/>
              <a:buNone/>
            </a:pPr>
            <a:br>
              <a:rPr lang="zh-CN" altLang="zh-CN" sz="2000" dirty="0">
                <a:latin typeface="Consolas" panose="020B0609020204030204" pitchFamily="49" charset="0"/>
              </a:rPr>
            </a:br>
            <a:endParaRPr lang="zh-CN" altLang="zh-CN" sz="2000" dirty="0">
              <a:latin typeface="Consolas" panose="020B0609020204030204" pitchFamily="49" charset="0"/>
            </a:endParaRPr>
          </a:p>
        </p:txBody>
      </p:sp>
      <p:cxnSp>
        <p:nvCxnSpPr>
          <p:cNvPr id="8" name="直接连接符 7">
            <a:extLst>
              <a:ext uri="{FF2B5EF4-FFF2-40B4-BE49-F238E27FC236}">
                <a16:creationId xmlns:a16="http://schemas.microsoft.com/office/drawing/2014/main" id="{9F1EF3EC-AD36-4C0A-BEAE-47638E100178}"/>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FED80E8-6151-45D5-BD5E-AB4773D679B8}"/>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D50C563-EC55-4BE0-B9A4-ADE05F062F01}"/>
              </a:ext>
            </a:extLst>
          </p:cNvPr>
          <p:cNvCxnSpPr>
            <a:cxnSpLocks/>
          </p:cNvCxnSpPr>
          <p:nvPr/>
        </p:nvCxnSpPr>
        <p:spPr>
          <a:xfrm>
            <a:off x="615602" y="24947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E8060390-2A9E-4E5A-8591-925AC1DF9B9A}"/>
              </a:ext>
            </a:extLst>
          </p:cNvPr>
          <p:cNvSpPr>
            <a:spLocks noGrp="1" noChangeArrowheads="1"/>
          </p:cNvSpPr>
          <p:nvPr>
            <p:ph type="title"/>
          </p:nvPr>
        </p:nvSpPr>
        <p:spPr/>
        <p:txBody>
          <a:bodyPr>
            <a:normAutofit/>
          </a:bodyPr>
          <a:lstStyle/>
          <a:p>
            <a:pPr eaLnBrk="1" hangingPunct="1">
              <a:spcBef>
                <a:spcPct val="50000"/>
              </a:spcBef>
              <a:defRPr/>
            </a:pPr>
            <a:r>
              <a:rPr kumimoji="0"/>
              <a:t>读栈操作</a:t>
            </a:r>
          </a:p>
        </p:txBody>
      </p:sp>
      <p:sp>
        <p:nvSpPr>
          <p:cNvPr id="4" name="副标题 3">
            <a:extLst>
              <a:ext uri="{FF2B5EF4-FFF2-40B4-BE49-F238E27FC236}">
                <a16:creationId xmlns:a16="http://schemas.microsoft.com/office/drawing/2014/main" id="{918D14FC-74AB-4766-B6C1-9EA14AF74F9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79E6DC8E-E447-441C-BE9D-1EA6B7DFB5B7}"/>
              </a:ext>
            </a:extLst>
          </p:cNvPr>
          <p:cNvSpPr>
            <a:spLocks noGrp="1"/>
          </p:cNvSpPr>
          <p:nvPr>
            <p:ph type="body" idx="10"/>
          </p:nvPr>
        </p:nvSpPr>
        <p:spPr/>
        <p:txBody>
          <a:bodyPr/>
          <a:lstStyle/>
          <a:p>
            <a:endParaRPr lang="zh-CN" altLang="en-US"/>
          </a:p>
        </p:txBody>
      </p:sp>
      <p:sp>
        <p:nvSpPr>
          <p:cNvPr id="30723" name="Rectangle 3">
            <a:extLst>
              <a:ext uri="{FF2B5EF4-FFF2-40B4-BE49-F238E27FC236}">
                <a16:creationId xmlns:a16="http://schemas.microsoft.com/office/drawing/2014/main" id="{F4A70929-EE07-4E25-8822-EF46AF89570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0" indent="0" eaLnBrk="0" fontAlgn="base" hangingPunct="0">
              <a:lnSpc>
                <a:spcPct val="100000"/>
              </a:lnSpc>
              <a:spcBef>
                <a:spcPct val="0"/>
              </a:spcBef>
              <a:spcAft>
                <a:spcPct val="0"/>
              </a:spcAft>
              <a:buNone/>
            </a:pPr>
            <a:r>
              <a:rPr lang="zh-CN" altLang="zh-CN" sz="2000" b="1" dirty="0">
                <a:solidFill>
                  <a:srgbClr val="000000"/>
                </a:solidFill>
                <a:cs typeface="Times New Roman" panose="02020603050405020304" pitchFamily="18" charset="0"/>
              </a:rPr>
              <a:t>算法：</a:t>
            </a:r>
            <a:r>
              <a:rPr lang="zh-CN" altLang="zh-CN" sz="2000" dirty="0">
                <a:solidFill>
                  <a:srgbClr val="000000"/>
                </a:solidFill>
                <a:cs typeface="Times New Roman" panose="02020603050405020304" pitchFamily="18" charset="0"/>
              </a:rPr>
              <a:t>顺序栈的出栈操作 Pop (</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0" lvl="0" indent="0" eaLnBrk="0" fontAlgn="base" hangingPunct="0">
              <a:lnSpc>
                <a:spcPct val="110000"/>
              </a:lnSpc>
              <a:spcBef>
                <a:spcPts val="600"/>
              </a:spcBef>
              <a:spcAft>
                <a:spcPct val="0"/>
              </a:spcAft>
              <a:buNone/>
            </a:pPr>
            <a:r>
              <a:rPr lang="zh-CN" altLang="zh-CN" sz="2000" b="1" dirty="0">
                <a:solidFill>
                  <a:srgbClr val="000000"/>
                </a:solidFill>
                <a:cs typeface="Times New Roman" panose="02020603050405020304" pitchFamily="18" charset="0"/>
              </a:rPr>
              <a:t>输入：</a:t>
            </a:r>
            <a:r>
              <a:rPr lang="zh-CN" altLang="zh-CN" sz="2000" dirty="0">
                <a:solidFill>
                  <a:srgbClr val="000000"/>
                </a:solidFill>
                <a:cs typeface="Times New Roman" panose="02020603050405020304" pitchFamily="18" charset="0"/>
              </a:rPr>
              <a:t>栈</a:t>
            </a:r>
            <a:r>
              <a:rPr lang="zh-CN" altLang="zh-CN" sz="2000" i="1" dirty="0">
                <a:solidFill>
                  <a:srgbClr val="000000"/>
                </a:solidFill>
                <a:cs typeface="Times New Roman" panose="02020603050405020304" pitchFamily="18" charset="0"/>
              </a:rPr>
              <a:t>stack</a:t>
            </a:r>
            <a:endParaRPr lang="zh-CN" altLang="zh-CN" sz="2000" dirty="0">
              <a:solidFill>
                <a:srgbClr val="000000"/>
              </a:solidFill>
            </a:endParaRPr>
          </a:p>
          <a:p>
            <a:pPr marL="0" lvl="0" indent="0" eaLnBrk="0" fontAlgn="base" hangingPunct="0">
              <a:lnSpc>
                <a:spcPct val="110000"/>
              </a:lnSpc>
              <a:spcBef>
                <a:spcPts val="600"/>
              </a:spcBef>
              <a:spcAft>
                <a:spcPct val="0"/>
              </a:spcAft>
              <a:buNone/>
            </a:pPr>
            <a:r>
              <a:rPr lang="zh-CN" altLang="zh-CN" sz="2000" b="1" dirty="0">
                <a:solidFill>
                  <a:srgbClr val="000000"/>
                </a:solidFill>
                <a:cs typeface="Times New Roman" panose="02020603050405020304" pitchFamily="18" charset="0"/>
              </a:rPr>
              <a:t>输出：</a:t>
            </a:r>
            <a:r>
              <a:rPr lang="zh-CN" altLang="zh-CN" sz="2000" dirty="0">
                <a:solidFill>
                  <a:srgbClr val="000000"/>
                </a:solidFill>
                <a:cs typeface="Times New Roman" panose="02020603050405020304" pitchFamily="18" charset="0"/>
              </a:rPr>
              <a:t>删除栈顶元素后的顺序栈；若栈空，则退出</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if </a:t>
            </a:r>
            <a:r>
              <a:rPr lang="zh-CN" altLang="zh-CN" sz="2000" dirty="0">
                <a:solidFill>
                  <a:srgbClr val="000000"/>
                </a:solidFill>
                <a:cs typeface="Times New Roman" panose="02020603050405020304" pitchFamily="18" charset="0"/>
              </a:rPr>
              <a:t>IsEmpty(</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r>
              <a:rPr lang="zh-CN" altLang="zh-CN" sz="2000" b="1" dirty="0">
                <a:solidFill>
                  <a:srgbClr val="000000"/>
                </a:solidFill>
                <a:cs typeface="Times New Roman" panose="02020603050405020304" pitchFamily="18" charset="0"/>
              </a:rPr>
              <a:t>true</a:t>
            </a: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then</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  栈空，退出</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else</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  </a:t>
            </a:r>
            <a:r>
              <a:rPr lang="zh-CN" altLang="zh-CN" sz="2000" i="1" dirty="0">
                <a:solidFill>
                  <a:srgbClr val="000000"/>
                </a:solidFill>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zh-CN" altLang="zh-CN" sz="2000" dirty="0">
                <a:solidFill>
                  <a:srgbClr val="000000"/>
                </a:solidFill>
                <a:cs typeface="Times New Roman" panose="02020603050405020304" pitchFamily="18" charset="0"/>
              </a:rPr>
              <a:t> </a:t>
            </a:r>
            <a:r>
              <a:rPr lang="zh-CN" altLang="zh-CN" sz="2000" i="1" dirty="0">
                <a:solidFill>
                  <a:srgbClr val="000000"/>
                </a:solidFill>
                <a:cs typeface="Times New Roman" panose="02020603050405020304" pitchFamily="18" charset="0"/>
              </a:rPr>
              <a:t>stack.top -</a:t>
            </a:r>
            <a:r>
              <a:rPr lang="zh-CN" altLang="zh-CN" sz="2000" dirty="0">
                <a:solidFill>
                  <a:srgbClr val="000000"/>
                </a:solidFill>
                <a:cs typeface="Times New Roman" panose="02020603050405020304" pitchFamily="18" charset="0"/>
              </a:rPr>
              <a:t>1</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end</a:t>
            </a:r>
            <a:endParaRPr lang="en-US" altLang="zh-CN" sz="2000" dirty="0"/>
          </a:p>
        </p:txBody>
      </p:sp>
      <p:cxnSp>
        <p:nvCxnSpPr>
          <p:cNvPr id="8" name="直接连接符 7">
            <a:extLst>
              <a:ext uri="{FF2B5EF4-FFF2-40B4-BE49-F238E27FC236}">
                <a16:creationId xmlns:a16="http://schemas.microsoft.com/office/drawing/2014/main" id="{7583BA71-4164-48DB-8807-1B4E8DC4C43B}"/>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11EE2C9-D10C-4CA9-9520-D66490B9D2AD}"/>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77B3A25-F773-47AD-9D45-6B580055B935}"/>
              </a:ext>
            </a:extLst>
          </p:cNvPr>
          <p:cNvCxnSpPr>
            <a:cxnSpLocks/>
          </p:cNvCxnSpPr>
          <p:nvPr/>
        </p:nvCxnSpPr>
        <p:spPr>
          <a:xfrm>
            <a:off x="584225" y="24947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05082EA7-6659-4E15-9559-CF28C2D4E971}"/>
              </a:ext>
            </a:extLst>
          </p:cNvPr>
          <p:cNvSpPr>
            <a:spLocks noGrp="1"/>
          </p:cNvSpPr>
          <p:nvPr>
            <p:ph type="title"/>
          </p:nvPr>
        </p:nvSpPr>
        <p:spPr>
          <a:xfrm>
            <a:off x="838200" y="675856"/>
            <a:ext cx="10515600" cy="518958"/>
          </a:xfrm>
        </p:spPr>
        <p:txBody>
          <a:bodyPr/>
          <a:lstStyle/>
          <a:p>
            <a:r>
              <a:rPr lang="zh-CN" altLang="en-US" dirty="0"/>
              <a:t>栈的变种</a:t>
            </a:r>
          </a:p>
        </p:txBody>
      </p:sp>
      <p:sp>
        <p:nvSpPr>
          <p:cNvPr id="11" name="副标题 10">
            <a:extLst>
              <a:ext uri="{FF2B5EF4-FFF2-40B4-BE49-F238E27FC236}">
                <a16:creationId xmlns:a16="http://schemas.microsoft.com/office/drawing/2014/main" id="{A6F9B82C-6643-48C7-8521-16F07DBA5F7C}"/>
              </a:ext>
            </a:extLst>
          </p:cNvPr>
          <p:cNvSpPr>
            <a:spLocks noGrp="1"/>
          </p:cNvSpPr>
          <p:nvPr>
            <p:ph type="subTitle" idx="1"/>
          </p:nvPr>
        </p:nvSpPr>
        <p:spPr/>
        <p:txBody>
          <a:bodyPr/>
          <a:lstStyle/>
          <a:p>
            <a:endParaRPr lang="zh-CN" altLang="en-US"/>
          </a:p>
        </p:txBody>
      </p:sp>
      <p:sp>
        <p:nvSpPr>
          <p:cNvPr id="12" name="文本占位符 11">
            <a:extLst>
              <a:ext uri="{FF2B5EF4-FFF2-40B4-BE49-F238E27FC236}">
                <a16:creationId xmlns:a16="http://schemas.microsoft.com/office/drawing/2014/main" id="{CCF72F0B-ED6C-45DA-9FD7-7B9FBE66F73D}"/>
              </a:ext>
            </a:extLst>
          </p:cNvPr>
          <p:cNvSpPr>
            <a:spLocks noGrp="1"/>
          </p:cNvSpPr>
          <p:nvPr>
            <p:ph type="body" idx="10"/>
          </p:nvPr>
        </p:nvSpPr>
        <p:spPr/>
        <p:txBody>
          <a:bodyPr/>
          <a:lstStyle/>
          <a:p>
            <a:endParaRPr lang="zh-CN" altLang="en-US"/>
          </a:p>
        </p:txBody>
      </p:sp>
      <p:sp>
        <p:nvSpPr>
          <p:cNvPr id="5" name="矩形 4">
            <a:extLst>
              <a:ext uri="{FF2B5EF4-FFF2-40B4-BE49-F238E27FC236}">
                <a16:creationId xmlns:a16="http://schemas.microsoft.com/office/drawing/2014/main" id="{6A67F6D4-9866-428B-9D2B-05E668A74209}"/>
              </a:ext>
            </a:extLst>
          </p:cNvPr>
          <p:cNvSpPr/>
          <p:nvPr/>
        </p:nvSpPr>
        <p:spPr>
          <a:xfrm>
            <a:off x="7914559" y="2065807"/>
            <a:ext cx="477838"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7">
            <a:extLst>
              <a:ext uri="{FF2B5EF4-FFF2-40B4-BE49-F238E27FC236}">
                <a16:creationId xmlns:a16="http://schemas.microsoft.com/office/drawing/2014/main" id="{CDB2F86B-A1E5-495E-A669-354C715DB2AB}"/>
              </a:ext>
            </a:extLst>
          </p:cNvPr>
          <p:cNvSpPr/>
          <p:nvPr/>
        </p:nvSpPr>
        <p:spPr>
          <a:xfrm>
            <a:off x="8393984" y="2065807"/>
            <a:ext cx="477838"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9" name="组合 1">
            <a:extLst>
              <a:ext uri="{FF2B5EF4-FFF2-40B4-BE49-F238E27FC236}">
                <a16:creationId xmlns:a16="http://schemas.microsoft.com/office/drawing/2014/main" id="{327B4AF9-FD8B-4E59-B744-8796292F571E}"/>
              </a:ext>
            </a:extLst>
          </p:cNvPr>
          <p:cNvGrpSpPr>
            <a:grpSpLocks/>
          </p:cNvGrpSpPr>
          <p:nvPr/>
        </p:nvGrpSpPr>
        <p:grpSpPr bwMode="auto">
          <a:xfrm>
            <a:off x="5203359" y="4332942"/>
            <a:ext cx="6337300" cy="1700637"/>
            <a:chOff x="2339975" y="4581525"/>
            <a:chExt cx="5473700" cy="1423029"/>
          </a:xfrm>
        </p:grpSpPr>
        <p:sp>
          <p:nvSpPr>
            <p:cNvPr id="35853" name="Text Box 4">
              <a:extLst>
                <a:ext uri="{FF2B5EF4-FFF2-40B4-BE49-F238E27FC236}">
                  <a16:creationId xmlns:a16="http://schemas.microsoft.com/office/drawing/2014/main" id="{F68EECBE-6BE1-4061-BA73-5C698A305079}"/>
                </a:ext>
              </a:extLst>
            </p:cNvPr>
            <p:cNvSpPr txBox="1">
              <a:spLocks noChangeArrowheads="1"/>
            </p:cNvSpPr>
            <p:nvPr/>
          </p:nvSpPr>
          <p:spPr bwMode="auto">
            <a:xfrm>
              <a:off x="3910201" y="5669757"/>
              <a:ext cx="2232025" cy="33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dirty="0">
                  <a:latin typeface="微软雅黑" panose="020B0503020204020204" pitchFamily="34" charset="-122"/>
                  <a:ea typeface="微软雅黑" panose="020B0503020204020204" pitchFamily="34" charset="-122"/>
                  <a:cs typeface="华文细黑" panose="02010600040101010101" pitchFamily="2" charset="-122"/>
                </a:rPr>
                <a:t>迎面增长的栈</a:t>
              </a:r>
            </a:p>
          </p:txBody>
        </p:sp>
        <p:grpSp>
          <p:nvGrpSpPr>
            <p:cNvPr id="35854" name="Group 5">
              <a:extLst>
                <a:ext uri="{FF2B5EF4-FFF2-40B4-BE49-F238E27FC236}">
                  <a16:creationId xmlns:a16="http://schemas.microsoft.com/office/drawing/2014/main" id="{9531F215-2242-420B-9F15-73FFF6CB3232}"/>
                </a:ext>
              </a:extLst>
            </p:cNvPr>
            <p:cNvGrpSpPr>
              <a:grpSpLocks/>
            </p:cNvGrpSpPr>
            <p:nvPr/>
          </p:nvGrpSpPr>
          <p:grpSpPr bwMode="auto">
            <a:xfrm>
              <a:off x="2339975" y="4581525"/>
              <a:ext cx="5473700" cy="647700"/>
              <a:chOff x="1519" y="3067"/>
              <a:chExt cx="3265" cy="227"/>
            </a:xfrm>
          </p:grpSpPr>
          <p:sp>
            <p:nvSpPr>
              <p:cNvPr id="35859" name="Rectangle 6">
                <a:extLst>
                  <a:ext uri="{FF2B5EF4-FFF2-40B4-BE49-F238E27FC236}">
                    <a16:creationId xmlns:a16="http://schemas.microsoft.com/office/drawing/2014/main" id="{0D9CB5DD-CE39-4043-B5F1-C3902D54E796}"/>
                  </a:ext>
                </a:extLst>
              </p:cNvPr>
              <p:cNvSpPr>
                <a:spLocks noChangeArrowheads="1"/>
              </p:cNvSpPr>
              <p:nvPr/>
            </p:nvSpPr>
            <p:spPr bwMode="auto">
              <a:xfrm>
                <a:off x="1973" y="3067"/>
                <a:ext cx="1905"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0" name="Rectangle 7">
                <a:extLst>
                  <a:ext uri="{FF2B5EF4-FFF2-40B4-BE49-F238E27FC236}">
                    <a16:creationId xmlns:a16="http://schemas.microsoft.com/office/drawing/2014/main" id="{F83A2969-2DEC-4165-ADCC-DE680A64B664}"/>
                  </a:ext>
                </a:extLst>
              </p:cNvPr>
              <p:cNvSpPr>
                <a:spLocks noChangeArrowheads="1"/>
              </p:cNvSpPr>
              <p:nvPr/>
            </p:nvSpPr>
            <p:spPr bwMode="auto">
              <a:xfrm>
                <a:off x="1519"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1" name="Rectangle 8">
                <a:extLst>
                  <a:ext uri="{FF2B5EF4-FFF2-40B4-BE49-F238E27FC236}">
                    <a16:creationId xmlns:a16="http://schemas.microsoft.com/office/drawing/2014/main" id="{6FB3AD16-DB23-4FA3-9D01-74EEB2020BD2}"/>
                  </a:ext>
                </a:extLst>
              </p:cNvPr>
              <p:cNvSpPr>
                <a:spLocks noChangeArrowheads="1"/>
              </p:cNvSpPr>
              <p:nvPr/>
            </p:nvSpPr>
            <p:spPr bwMode="auto">
              <a:xfrm>
                <a:off x="3878"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2" name="Rectangle 9">
                <a:extLst>
                  <a:ext uri="{FF2B5EF4-FFF2-40B4-BE49-F238E27FC236}">
                    <a16:creationId xmlns:a16="http://schemas.microsoft.com/office/drawing/2014/main" id="{A6629DCC-1C2B-47FA-B20F-A8D01E161F13}"/>
                  </a:ext>
                </a:extLst>
              </p:cNvPr>
              <p:cNvSpPr>
                <a:spLocks noChangeArrowheads="1"/>
              </p:cNvSpPr>
              <p:nvPr/>
            </p:nvSpPr>
            <p:spPr bwMode="auto">
              <a:xfrm>
                <a:off x="1746"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3" name="Rectangle 10">
                <a:extLst>
                  <a:ext uri="{FF2B5EF4-FFF2-40B4-BE49-F238E27FC236}">
                    <a16:creationId xmlns:a16="http://schemas.microsoft.com/office/drawing/2014/main" id="{1B2A8FBC-8DF4-49DF-B2F7-C18CD0284C62}"/>
                  </a:ext>
                </a:extLst>
              </p:cNvPr>
              <p:cNvSpPr>
                <a:spLocks noChangeArrowheads="1"/>
              </p:cNvSpPr>
              <p:nvPr/>
            </p:nvSpPr>
            <p:spPr bwMode="auto">
              <a:xfrm>
                <a:off x="4105"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4" name="Rectangle 11">
                <a:extLst>
                  <a:ext uri="{FF2B5EF4-FFF2-40B4-BE49-F238E27FC236}">
                    <a16:creationId xmlns:a16="http://schemas.microsoft.com/office/drawing/2014/main" id="{693B1922-4912-4083-985F-546DBBAA40F3}"/>
                  </a:ext>
                </a:extLst>
              </p:cNvPr>
              <p:cNvSpPr>
                <a:spLocks noChangeArrowheads="1"/>
              </p:cNvSpPr>
              <p:nvPr/>
            </p:nvSpPr>
            <p:spPr bwMode="auto">
              <a:xfrm>
                <a:off x="4558"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5" name="Rectangle 12">
                <a:extLst>
                  <a:ext uri="{FF2B5EF4-FFF2-40B4-BE49-F238E27FC236}">
                    <a16:creationId xmlns:a16="http://schemas.microsoft.com/office/drawing/2014/main" id="{8A729C38-0248-443A-BA66-255A187C83DC}"/>
                  </a:ext>
                </a:extLst>
              </p:cNvPr>
              <p:cNvSpPr>
                <a:spLocks noChangeArrowheads="1"/>
              </p:cNvSpPr>
              <p:nvPr/>
            </p:nvSpPr>
            <p:spPr bwMode="auto">
              <a:xfrm>
                <a:off x="4332"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6" name="Line 13">
                <a:extLst>
                  <a:ext uri="{FF2B5EF4-FFF2-40B4-BE49-F238E27FC236}">
                    <a16:creationId xmlns:a16="http://schemas.microsoft.com/office/drawing/2014/main" id="{5CDFB671-65C8-4F51-871C-5EF1149A6309}"/>
                  </a:ext>
                </a:extLst>
              </p:cNvPr>
              <p:cNvSpPr>
                <a:spLocks noChangeShapeType="1"/>
              </p:cNvSpPr>
              <p:nvPr/>
            </p:nvSpPr>
            <p:spPr bwMode="auto">
              <a:xfrm>
                <a:off x="2109" y="3181"/>
                <a:ext cx="45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7" name="Line 14">
                <a:extLst>
                  <a:ext uri="{FF2B5EF4-FFF2-40B4-BE49-F238E27FC236}">
                    <a16:creationId xmlns:a16="http://schemas.microsoft.com/office/drawing/2014/main" id="{673D64D5-8892-4A6C-A1DC-98586265EC1B}"/>
                  </a:ext>
                </a:extLst>
              </p:cNvPr>
              <p:cNvSpPr>
                <a:spLocks noChangeShapeType="1"/>
              </p:cNvSpPr>
              <p:nvPr/>
            </p:nvSpPr>
            <p:spPr bwMode="auto">
              <a:xfrm flipH="1">
                <a:off x="3334" y="3181"/>
                <a:ext cx="45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55" name="Text Box 15">
              <a:extLst>
                <a:ext uri="{FF2B5EF4-FFF2-40B4-BE49-F238E27FC236}">
                  <a16:creationId xmlns:a16="http://schemas.microsoft.com/office/drawing/2014/main" id="{1E557BB6-6C2A-4B66-A031-DFAEFC1A8A80}"/>
                </a:ext>
              </a:extLst>
            </p:cNvPr>
            <p:cNvSpPr txBox="1">
              <a:spLocks noChangeArrowheads="1"/>
            </p:cNvSpPr>
            <p:nvPr/>
          </p:nvSpPr>
          <p:spPr bwMode="auto">
            <a:xfrm>
              <a:off x="2398106" y="5464970"/>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top1</a:t>
              </a:r>
            </a:p>
          </p:txBody>
        </p:sp>
        <p:sp>
          <p:nvSpPr>
            <p:cNvPr id="35856" name="Text Box 16">
              <a:extLst>
                <a:ext uri="{FF2B5EF4-FFF2-40B4-BE49-F238E27FC236}">
                  <a16:creationId xmlns:a16="http://schemas.microsoft.com/office/drawing/2014/main" id="{4241FA70-89B4-4AC8-BC37-E646381FDA4C}"/>
                </a:ext>
              </a:extLst>
            </p:cNvPr>
            <p:cNvSpPr txBox="1">
              <a:spLocks noChangeArrowheads="1"/>
            </p:cNvSpPr>
            <p:nvPr/>
          </p:nvSpPr>
          <p:spPr bwMode="auto">
            <a:xfrm>
              <a:off x="6500485" y="5563140"/>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top2</a:t>
              </a:r>
            </a:p>
          </p:txBody>
        </p:sp>
        <p:sp>
          <p:nvSpPr>
            <p:cNvPr id="35857" name="Line 17">
              <a:extLst>
                <a:ext uri="{FF2B5EF4-FFF2-40B4-BE49-F238E27FC236}">
                  <a16:creationId xmlns:a16="http://schemas.microsoft.com/office/drawing/2014/main" id="{BA1DA6CD-EBF9-429F-B9AF-CB8B44DB90E7}"/>
                </a:ext>
              </a:extLst>
            </p:cNvPr>
            <p:cNvSpPr>
              <a:spLocks noChangeShapeType="1"/>
            </p:cNvSpPr>
            <p:nvPr/>
          </p:nvSpPr>
          <p:spPr bwMode="auto">
            <a:xfrm flipV="1">
              <a:off x="2970212" y="5285582"/>
              <a:ext cx="31860" cy="3841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18">
              <a:extLst>
                <a:ext uri="{FF2B5EF4-FFF2-40B4-BE49-F238E27FC236}">
                  <a16:creationId xmlns:a16="http://schemas.microsoft.com/office/drawing/2014/main" id="{B49E4439-6CB2-4A32-86D1-8DA5A5D37B15}"/>
                </a:ext>
              </a:extLst>
            </p:cNvPr>
            <p:cNvSpPr>
              <a:spLocks noChangeShapeType="1"/>
            </p:cNvSpPr>
            <p:nvPr/>
          </p:nvSpPr>
          <p:spPr bwMode="auto">
            <a:xfrm flipH="1" flipV="1">
              <a:off x="6443663" y="5302251"/>
              <a:ext cx="144462" cy="3421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 name="矩形 24">
            <a:extLst>
              <a:ext uri="{FF2B5EF4-FFF2-40B4-BE49-F238E27FC236}">
                <a16:creationId xmlns:a16="http://schemas.microsoft.com/office/drawing/2014/main" id="{FCE7A861-92D1-4C73-BB99-626E2DA92542}"/>
              </a:ext>
            </a:extLst>
          </p:cNvPr>
          <p:cNvSpPr/>
          <p:nvPr/>
        </p:nvSpPr>
        <p:spPr>
          <a:xfrm>
            <a:off x="8871822" y="2065807"/>
            <a:ext cx="2668837"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矩形 25">
            <a:extLst>
              <a:ext uri="{FF2B5EF4-FFF2-40B4-BE49-F238E27FC236}">
                <a16:creationId xmlns:a16="http://schemas.microsoft.com/office/drawing/2014/main" id="{6F72AE40-B485-437E-9D1A-8B4BF22C9EDF}"/>
              </a:ext>
            </a:extLst>
          </p:cNvPr>
          <p:cNvSpPr/>
          <p:nvPr/>
        </p:nvSpPr>
        <p:spPr>
          <a:xfrm>
            <a:off x="5203359" y="2065807"/>
            <a:ext cx="2714375"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8" name="直接连接符 27">
            <a:extLst>
              <a:ext uri="{FF2B5EF4-FFF2-40B4-BE49-F238E27FC236}">
                <a16:creationId xmlns:a16="http://schemas.microsoft.com/office/drawing/2014/main" id="{9A0B6D9A-FA1D-44D8-88B3-570A4964E147}"/>
              </a:ext>
            </a:extLst>
          </p:cNvPr>
          <p:cNvCxnSpPr>
            <a:cxnSpLocks/>
          </p:cNvCxnSpPr>
          <p:nvPr/>
        </p:nvCxnSpPr>
        <p:spPr>
          <a:xfrm>
            <a:off x="8390809" y="2065807"/>
            <a:ext cx="0" cy="7715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849" name="Line 13">
            <a:extLst>
              <a:ext uri="{FF2B5EF4-FFF2-40B4-BE49-F238E27FC236}">
                <a16:creationId xmlns:a16="http://schemas.microsoft.com/office/drawing/2014/main" id="{9051599B-18E1-42C8-A9A8-C9CEACEC00C9}"/>
              </a:ext>
            </a:extLst>
          </p:cNvPr>
          <p:cNvSpPr>
            <a:spLocks noChangeShapeType="1"/>
          </p:cNvSpPr>
          <p:nvPr/>
        </p:nvSpPr>
        <p:spPr bwMode="auto">
          <a:xfrm>
            <a:off x="9675097" y="2476970"/>
            <a:ext cx="8778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0" name="Line 14">
            <a:extLst>
              <a:ext uri="{FF2B5EF4-FFF2-40B4-BE49-F238E27FC236}">
                <a16:creationId xmlns:a16="http://schemas.microsoft.com/office/drawing/2014/main" id="{C18FEBEE-CCE5-4710-BBFD-AD7ADDAB6508}"/>
              </a:ext>
            </a:extLst>
          </p:cNvPr>
          <p:cNvSpPr>
            <a:spLocks noChangeShapeType="1"/>
          </p:cNvSpPr>
          <p:nvPr/>
        </p:nvSpPr>
        <p:spPr bwMode="auto">
          <a:xfrm flipH="1">
            <a:off x="6088934" y="2476970"/>
            <a:ext cx="8794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1" name="Text Box 15">
            <a:extLst>
              <a:ext uri="{FF2B5EF4-FFF2-40B4-BE49-F238E27FC236}">
                <a16:creationId xmlns:a16="http://schemas.microsoft.com/office/drawing/2014/main" id="{9577D8FC-D8C8-43B2-9CF3-AF0FE7956684}"/>
              </a:ext>
            </a:extLst>
          </p:cNvPr>
          <p:cNvSpPr txBox="1">
            <a:spLocks noChangeArrowheads="1"/>
          </p:cNvSpPr>
          <p:nvPr/>
        </p:nvSpPr>
        <p:spPr bwMode="auto">
          <a:xfrm>
            <a:off x="7168434" y="2091207"/>
            <a:ext cx="917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top1</a:t>
            </a:r>
          </a:p>
        </p:txBody>
      </p:sp>
      <p:sp>
        <p:nvSpPr>
          <p:cNvPr id="35852" name="Text Box 16">
            <a:extLst>
              <a:ext uri="{FF2B5EF4-FFF2-40B4-BE49-F238E27FC236}">
                <a16:creationId xmlns:a16="http://schemas.microsoft.com/office/drawing/2014/main" id="{5BB35C9D-87F5-4B0F-B1CC-FE7D937B84B1}"/>
              </a:ext>
            </a:extLst>
          </p:cNvPr>
          <p:cNvSpPr txBox="1">
            <a:spLocks noChangeArrowheads="1"/>
          </p:cNvSpPr>
          <p:nvPr/>
        </p:nvSpPr>
        <p:spPr bwMode="auto">
          <a:xfrm>
            <a:off x="9038509" y="2099145"/>
            <a:ext cx="9159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top2</a:t>
            </a:r>
          </a:p>
        </p:txBody>
      </p:sp>
      <p:sp>
        <p:nvSpPr>
          <p:cNvPr id="38" name="Text Box 4">
            <a:extLst>
              <a:ext uri="{FF2B5EF4-FFF2-40B4-BE49-F238E27FC236}">
                <a16:creationId xmlns:a16="http://schemas.microsoft.com/office/drawing/2014/main" id="{5512F3B7-EFD9-4B24-A088-DD3B955041CE}"/>
              </a:ext>
            </a:extLst>
          </p:cNvPr>
          <p:cNvSpPr txBox="1">
            <a:spLocks noChangeArrowheads="1"/>
          </p:cNvSpPr>
          <p:nvPr/>
        </p:nvSpPr>
        <p:spPr bwMode="auto">
          <a:xfrm>
            <a:off x="7023849" y="2992847"/>
            <a:ext cx="25841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dirty="0">
                <a:latin typeface="微软雅黑" panose="020B0503020204020204" pitchFamily="34" charset="-122"/>
                <a:ea typeface="微软雅黑" panose="020B0503020204020204" pitchFamily="34" charset="-122"/>
                <a:cs typeface="华文细黑" panose="02010600040101010101" pitchFamily="2" charset="-122"/>
              </a:rPr>
              <a:t>底部相连的栈</a:t>
            </a:r>
          </a:p>
        </p:txBody>
      </p:sp>
      <p:sp>
        <p:nvSpPr>
          <p:cNvPr id="39" name="Rectangle 3">
            <a:extLst>
              <a:ext uri="{FF2B5EF4-FFF2-40B4-BE49-F238E27FC236}">
                <a16:creationId xmlns:a16="http://schemas.microsoft.com/office/drawing/2014/main" id="{2E045451-2AFC-43E4-A925-E628B9C840B1}"/>
              </a:ext>
            </a:extLst>
          </p:cNvPr>
          <p:cNvSpPr>
            <a:spLocks noGrp="1" noChangeArrowheads="1"/>
          </p:cNvSpPr>
          <p:nvPr>
            <p:ph idx="11"/>
          </p:nvPr>
        </p:nvSpPr>
        <p:spPr bwMode="auto">
          <a:xfrm>
            <a:off x="584225" y="1364203"/>
            <a:ext cx="11055325" cy="495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solidFill>
                  <a:srgbClr val="0000FF"/>
                </a:solidFill>
              </a:rPr>
              <a:t>两个独立的栈</a:t>
            </a:r>
          </a:p>
          <a:p>
            <a:pPr marL="712788" lvl="1" indent="-369888">
              <a:lnSpc>
                <a:spcPct val="11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底部相连：双栈</a:t>
            </a:r>
          </a:p>
          <a:p>
            <a:pPr marL="712788" lvl="1" indent="-369888">
              <a:lnSpc>
                <a:spcPct val="11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迎面增长</a:t>
            </a:r>
          </a:p>
          <a:p>
            <a:pPr marL="712788" lvl="1" indent="-369888">
              <a:lnSpc>
                <a:spcPct val="110000"/>
              </a:lnSpc>
              <a:spcBef>
                <a:spcPts val="600"/>
              </a:spcBef>
              <a:buClr>
                <a:srgbClr val="CC3300"/>
              </a:buClr>
              <a:buFont typeface="Wingdings" panose="05000000000000000000" pitchFamily="2" charset="2"/>
              <a:buChar char="ü"/>
            </a:pPr>
            <a:endParaRPr lang="zh-CN" altLang="zh-CN" sz="1400" dirty="0">
              <a:latin typeface="微软雅黑" panose="020B0503020204020204" pitchFamily="34" charset="-122"/>
              <a:ea typeface="微软雅黑" panose="020B0503020204020204" pitchFamily="34" charset="-122"/>
            </a:endParaRPr>
          </a:p>
          <a:p>
            <a:pPr marL="712788" lvl="1" indent="-369888">
              <a:lnSpc>
                <a:spcPct val="110000"/>
              </a:lnSpc>
              <a:spcBef>
                <a:spcPts val="600"/>
              </a:spcBef>
              <a:buClr>
                <a:srgbClr val="CC330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各自适用的场景</a:t>
            </a:r>
            <a:r>
              <a:rPr lang="zh-CN" altLang="zh-CN" dirty="0">
                <a:latin typeface="微软雅黑" panose="020B0503020204020204" pitchFamily="34" charset="-122"/>
                <a:ea typeface="微软雅黑" panose="020B0503020204020204" pitchFamily="34" charset="-122"/>
              </a:rPr>
              <a:t>？</a:t>
            </a:r>
          </a:p>
          <a:p>
            <a:pPr marL="714375" lvl="1" indent="-369888">
              <a:buClr>
                <a:srgbClr val="CC3300"/>
              </a:buClr>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373C93B8-8A5A-4BEC-8EC7-2275328D5489}"/>
              </a:ext>
            </a:extLst>
          </p:cNvPr>
          <p:cNvSpPr>
            <a:spLocks noGrp="1" noChangeArrowheads="1"/>
          </p:cNvSpPr>
          <p:nvPr>
            <p:ph type="title"/>
          </p:nvPr>
        </p:nvSpPr>
        <p:spPr/>
        <p:txBody>
          <a:bodyPr>
            <a:normAutofit/>
          </a:bodyPr>
          <a:lstStyle/>
          <a:p>
            <a:pPr eaLnBrk="1" hangingPunct="1">
              <a:spcBef>
                <a:spcPct val="50000"/>
              </a:spcBef>
              <a:defRPr/>
            </a:pPr>
            <a:r>
              <a:rPr kumimoji="0"/>
              <a:t>链式栈</a:t>
            </a:r>
          </a:p>
        </p:txBody>
      </p:sp>
      <p:sp>
        <p:nvSpPr>
          <p:cNvPr id="4" name="副标题 3">
            <a:extLst>
              <a:ext uri="{FF2B5EF4-FFF2-40B4-BE49-F238E27FC236}">
                <a16:creationId xmlns:a16="http://schemas.microsoft.com/office/drawing/2014/main" id="{879E2D18-F625-4A0F-AFB1-E1EADB407064}"/>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D3D4A259-9A55-4C3C-9868-432809D70658}"/>
              </a:ext>
            </a:extLst>
          </p:cNvPr>
          <p:cNvSpPr>
            <a:spLocks noGrp="1"/>
          </p:cNvSpPr>
          <p:nvPr>
            <p:ph type="body" idx="10"/>
          </p:nvPr>
        </p:nvSpPr>
        <p:spPr/>
        <p:txBody>
          <a:bodyPr/>
          <a:lstStyle/>
          <a:p>
            <a:endParaRPr lang="zh-CN" altLang="en-US"/>
          </a:p>
        </p:txBody>
      </p:sp>
      <p:sp>
        <p:nvSpPr>
          <p:cNvPr id="31766" name="Rectangle 22">
            <a:extLst>
              <a:ext uri="{FF2B5EF4-FFF2-40B4-BE49-F238E27FC236}">
                <a16:creationId xmlns:a16="http://schemas.microsoft.com/office/drawing/2014/main" id="{580D50A1-DD30-4973-9D56-D6E9D6500903}"/>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t>采用</a:t>
            </a:r>
            <a:r>
              <a:rPr lang="zh-CN" altLang="zh-CN" dirty="0">
                <a:solidFill>
                  <a:srgbClr val="0000FF"/>
                </a:solidFill>
              </a:rPr>
              <a:t>单链表</a:t>
            </a:r>
            <a:endParaRPr lang="zh-CN" altLang="zh-CN" dirty="0"/>
          </a:p>
          <a:p>
            <a:pPr marL="341313" indent="-341313">
              <a:lnSpc>
                <a:spcPct val="110000"/>
              </a:lnSpc>
              <a:spcBef>
                <a:spcPts val="600"/>
              </a:spcBef>
            </a:pPr>
            <a:r>
              <a:rPr lang="zh-CN" altLang="en-US" dirty="0"/>
              <a:t>关键：栈顶</a:t>
            </a:r>
            <a:endParaRPr lang="en-US" altLang="zh-CN" dirty="0"/>
          </a:p>
          <a:p>
            <a:pPr marL="676275" lvl="1" indent="-342900">
              <a:lnSpc>
                <a:spcPct val="110000"/>
              </a:lnSpc>
              <a:spcBef>
                <a:spcPts val="600"/>
              </a:spcBef>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指针的方向</a:t>
            </a:r>
            <a:r>
              <a:rPr lang="zh-CN" altLang="zh-CN" dirty="0">
                <a:solidFill>
                  <a:srgbClr val="0000FF"/>
                </a:solidFill>
                <a:latin typeface="微软雅黑" panose="020B0503020204020204" pitchFamily="34" charset="-122"/>
                <a:ea typeface="微软雅黑" panose="020B0503020204020204" pitchFamily="34" charset="-122"/>
              </a:rPr>
              <a:t>从栈顶向下</a:t>
            </a:r>
            <a:r>
              <a:rPr lang="zh-CN" altLang="zh-CN" dirty="0">
                <a:latin typeface="微软雅黑" panose="020B0503020204020204" pitchFamily="34" charset="-122"/>
                <a:ea typeface="微软雅黑" panose="020B0503020204020204" pitchFamily="34" charset="-122"/>
              </a:rPr>
              <a:t>链接 </a:t>
            </a:r>
          </a:p>
        </p:txBody>
      </p:sp>
      <p:sp>
        <p:nvSpPr>
          <p:cNvPr id="29" name="文本框 6">
            <a:extLst>
              <a:ext uri="{FF2B5EF4-FFF2-40B4-BE49-F238E27FC236}">
                <a16:creationId xmlns:a16="http://schemas.microsoft.com/office/drawing/2014/main" id="{241BF784-8219-0E43-B0A7-C6C90F057F50}"/>
              </a:ext>
            </a:extLst>
          </p:cNvPr>
          <p:cNvSpPr txBox="1">
            <a:spLocks noChangeArrowheads="1"/>
          </p:cNvSpPr>
          <p:nvPr/>
        </p:nvSpPr>
        <p:spPr bwMode="auto">
          <a:xfrm>
            <a:off x="7099300" y="25971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kumimoji="1" sz="28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lr>
                <a:schemeClr val="accent2"/>
              </a:buClr>
              <a:buSzPct val="60000"/>
              <a:buFont typeface="Wingdings" panose="05000000000000000000" pitchFamily="2" charset="2"/>
              <a:buChar char="q"/>
              <a:defRPr kumimoji="1" sz="24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lr>
                <a:schemeClr val="accent1"/>
              </a:buClr>
              <a:buSzPct val="65000"/>
              <a:buFont typeface="Wingdings" panose="05000000000000000000" pitchFamily="2" charset="2"/>
              <a:buChar char="n"/>
              <a:defRPr kumimoji="1" sz="2000">
                <a:solidFill>
                  <a:srgbClr val="002060"/>
                </a:solidFill>
                <a:latin typeface="微软雅黑" panose="020B0503020204020204" pitchFamily="34" charset="-122"/>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q"/>
              <a:defRPr kumimoji="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SzTx/>
              <a:buFontTx/>
              <a:buNone/>
              <a:defRPr/>
            </a:pPr>
            <a:r>
              <a:rPr kumimoji="0" lang="zh-CN" altLang="en-US" sz="2400" dirty="0">
                <a:solidFill>
                  <a:schemeClr val="accent6">
                    <a:lumMod val="50000"/>
                  </a:schemeClr>
                </a:solidFill>
              </a:rPr>
              <a:t>栈顶</a:t>
            </a:r>
          </a:p>
        </p:txBody>
      </p:sp>
      <p:grpSp>
        <p:nvGrpSpPr>
          <p:cNvPr id="32" name="Group 4">
            <a:extLst>
              <a:ext uri="{FF2B5EF4-FFF2-40B4-BE49-F238E27FC236}">
                <a16:creationId xmlns:a16="http://schemas.microsoft.com/office/drawing/2014/main" id="{B6BBB4AD-1BBB-4B10-B3D2-47DB3A508606}"/>
              </a:ext>
            </a:extLst>
          </p:cNvPr>
          <p:cNvGrpSpPr>
            <a:grpSpLocks noChangeAspect="1"/>
          </p:cNvGrpSpPr>
          <p:nvPr/>
        </p:nvGrpSpPr>
        <p:grpSpPr bwMode="auto">
          <a:xfrm>
            <a:off x="7869238" y="2478088"/>
            <a:ext cx="1916112" cy="3182937"/>
            <a:chOff x="2578" y="1866"/>
            <a:chExt cx="1207" cy="2096"/>
          </a:xfrm>
        </p:grpSpPr>
        <p:pic>
          <p:nvPicPr>
            <p:cNvPr id="37898" name="Picture 9">
              <a:extLst>
                <a:ext uri="{FF2B5EF4-FFF2-40B4-BE49-F238E27FC236}">
                  <a16:creationId xmlns:a16="http://schemas.microsoft.com/office/drawing/2014/main" id="{1385F541-153C-464A-87A4-68999E5F2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10">
              <a:extLst>
                <a:ext uri="{FF2B5EF4-FFF2-40B4-BE49-F238E27FC236}">
                  <a16:creationId xmlns:a16="http://schemas.microsoft.com/office/drawing/2014/main" id="{3C2357A6-84F2-485A-AB2F-2A3D58BF6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0" name="Rectangle 11">
              <a:extLst>
                <a:ext uri="{FF2B5EF4-FFF2-40B4-BE49-F238E27FC236}">
                  <a16:creationId xmlns:a16="http://schemas.microsoft.com/office/drawing/2014/main" id="{4042CA69-A6C7-42E4-9E83-E3564926B133}"/>
                </a:ext>
              </a:extLst>
            </p:cNvPr>
            <p:cNvSpPr>
              <a:spLocks noChangeArrowheads="1"/>
            </p:cNvSpPr>
            <p:nvPr/>
          </p:nvSpPr>
          <p:spPr bwMode="auto">
            <a:xfrm>
              <a:off x="3066" y="1885"/>
              <a:ext cx="343"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1" name="Rectangle 12">
              <a:extLst>
                <a:ext uri="{FF2B5EF4-FFF2-40B4-BE49-F238E27FC236}">
                  <a16:creationId xmlns:a16="http://schemas.microsoft.com/office/drawing/2014/main" id="{85866439-DDB3-49CC-BBC0-2F0E77C0AB28}"/>
                </a:ext>
              </a:extLst>
            </p:cNvPr>
            <p:cNvSpPr>
              <a:spLocks noChangeArrowheads="1"/>
            </p:cNvSpPr>
            <p:nvPr/>
          </p:nvSpPr>
          <p:spPr bwMode="auto">
            <a:xfrm>
              <a:off x="3066" y="1885"/>
              <a:ext cx="343"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2" name="Rectangle 13">
              <a:extLst>
                <a:ext uri="{FF2B5EF4-FFF2-40B4-BE49-F238E27FC236}">
                  <a16:creationId xmlns:a16="http://schemas.microsoft.com/office/drawing/2014/main" id="{4C7042E8-374F-43DE-91A8-205F42EBDC2A}"/>
                </a:ext>
              </a:extLst>
            </p:cNvPr>
            <p:cNvSpPr>
              <a:spLocks noChangeArrowheads="1"/>
            </p:cNvSpPr>
            <p:nvPr/>
          </p:nvSpPr>
          <p:spPr bwMode="auto">
            <a:xfrm>
              <a:off x="3112" y="1951"/>
              <a:ext cx="28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n-1</a:t>
              </a:r>
              <a:endParaRPr lang="zh-CN" altLang="zh-CN" sz="2400">
                <a:ea typeface="华文细黑" panose="02010600040101010101" pitchFamily="2" charset="-122"/>
              </a:endParaRPr>
            </a:p>
          </p:txBody>
        </p:sp>
        <p:pic>
          <p:nvPicPr>
            <p:cNvPr id="37903" name="Picture 17">
              <a:extLst>
                <a:ext uri="{FF2B5EF4-FFF2-40B4-BE49-F238E27FC236}">
                  <a16:creationId xmlns:a16="http://schemas.microsoft.com/office/drawing/2014/main" id="{DB123ED5-7329-400B-A31B-A2AD6FADD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2"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4" name="Picture 18">
              <a:extLst>
                <a:ext uri="{FF2B5EF4-FFF2-40B4-BE49-F238E27FC236}">
                  <a16:creationId xmlns:a16="http://schemas.microsoft.com/office/drawing/2014/main" id="{CF7C0861-F8FF-4BC5-894F-28CC0F28ED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2"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5" name="Rectangle 19">
              <a:extLst>
                <a:ext uri="{FF2B5EF4-FFF2-40B4-BE49-F238E27FC236}">
                  <a16:creationId xmlns:a16="http://schemas.microsoft.com/office/drawing/2014/main" id="{A7D717A0-F858-43A3-BEEA-15C2C048F953}"/>
                </a:ext>
              </a:extLst>
            </p:cNvPr>
            <p:cNvSpPr>
              <a:spLocks noChangeArrowheads="1"/>
            </p:cNvSpPr>
            <p:nvPr/>
          </p:nvSpPr>
          <p:spPr bwMode="auto">
            <a:xfrm>
              <a:off x="3409" y="1885"/>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6" name="Rectangle 20">
              <a:extLst>
                <a:ext uri="{FF2B5EF4-FFF2-40B4-BE49-F238E27FC236}">
                  <a16:creationId xmlns:a16="http://schemas.microsoft.com/office/drawing/2014/main" id="{AEC98342-8C92-4F3A-B77A-0897649D4DED}"/>
                </a:ext>
              </a:extLst>
            </p:cNvPr>
            <p:cNvSpPr>
              <a:spLocks noChangeArrowheads="1"/>
            </p:cNvSpPr>
            <p:nvPr/>
          </p:nvSpPr>
          <p:spPr bwMode="auto">
            <a:xfrm>
              <a:off x="3409" y="1885"/>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07" name="Picture 21">
              <a:extLst>
                <a:ext uri="{FF2B5EF4-FFF2-40B4-BE49-F238E27FC236}">
                  <a16:creationId xmlns:a16="http://schemas.microsoft.com/office/drawing/2014/main" id="{CD407EF8-D9AF-4503-A26E-6A417846F0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1"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8" name="Picture 22">
              <a:extLst>
                <a:ext uri="{FF2B5EF4-FFF2-40B4-BE49-F238E27FC236}">
                  <a16:creationId xmlns:a16="http://schemas.microsoft.com/office/drawing/2014/main" id="{6CA7A93A-89F3-426B-B36B-EFD996A7CB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1"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9" name="Rectangle 23">
              <a:extLst>
                <a:ext uri="{FF2B5EF4-FFF2-40B4-BE49-F238E27FC236}">
                  <a16:creationId xmlns:a16="http://schemas.microsoft.com/office/drawing/2014/main" id="{163A76B7-A262-40D1-A1EA-6358F8EEE48D}"/>
                </a:ext>
              </a:extLst>
            </p:cNvPr>
            <p:cNvSpPr>
              <a:spLocks noChangeArrowheads="1"/>
            </p:cNvSpPr>
            <p:nvPr/>
          </p:nvSpPr>
          <p:spPr bwMode="auto">
            <a:xfrm>
              <a:off x="3066" y="2448"/>
              <a:ext cx="343" cy="3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0" name="Rectangle 24">
              <a:extLst>
                <a:ext uri="{FF2B5EF4-FFF2-40B4-BE49-F238E27FC236}">
                  <a16:creationId xmlns:a16="http://schemas.microsoft.com/office/drawing/2014/main" id="{471E79E7-5C9D-4643-BE37-B5420648854E}"/>
                </a:ext>
              </a:extLst>
            </p:cNvPr>
            <p:cNvSpPr>
              <a:spLocks noChangeArrowheads="1"/>
            </p:cNvSpPr>
            <p:nvPr/>
          </p:nvSpPr>
          <p:spPr bwMode="auto">
            <a:xfrm>
              <a:off x="3066" y="2448"/>
              <a:ext cx="343" cy="341"/>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1" name="Rectangle 28">
              <a:extLst>
                <a:ext uri="{FF2B5EF4-FFF2-40B4-BE49-F238E27FC236}">
                  <a16:creationId xmlns:a16="http://schemas.microsoft.com/office/drawing/2014/main" id="{9E6B0C74-EF65-4B45-B3A8-18845727FFA6}"/>
                </a:ext>
              </a:extLst>
            </p:cNvPr>
            <p:cNvSpPr>
              <a:spLocks noChangeArrowheads="1"/>
            </p:cNvSpPr>
            <p:nvPr/>
          </p:nvSpPr>
          <p:spPr bwMode="auto">
            <a:xfrm>
              <a:off x="3294" y="2651"/>
              <a:ext cx="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华文细黑" panose="02010600040101010101" pitchFamily="2" charset="-122"/>
              </a:endParaRPr>
            </a:p>
          </p:txBody>
        </p:sp>
        <p:pic>
          <p:nvPicPr>
            <p:cNvPr id="37912" name="Picture 29">
              <a:extLst>
                <a:ext uri="{FF2B5EF4-FFF2-40B4-BE49-F238E27FC236}">
                  <a16:creationId xmlns:a16="http://schemas.microsoft.com/office/drawing/2014/main" id="{88378F07-30BC-4E40-B151-D5B5395251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2"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13" name="Picture 30">
              <a:extLst>
                <a:ext uri="{FF2B5EF4-FFF2-40B4-BE49-F238E27FC236}">
                  <a16:creationId xmlns:a16="http://schemas.microsoft.com/office/drawing/2014/main" id="{34895760-9D4C-425E-81E0-0CF34F0B58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82"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4" name="Rectangle 31">
              <a:extLst>
                <a:ext uri="{FF2B5EF4-FFF2-40B4-BE49-F238E27FC236}">
                  <a16:creationId xmlns:a16="http://schemas.microsoft.com/office/drawing/2014/main" id="{76DFE053-72A0-4BC7-9A8D-24EA4ACEF869}"/>
                </a:ext>
              </a:extLst>
            </p:cNvPr>
            <p:cNvSpPr>
              <a:spLocks noChangeArrowheads="1"/>
            </p:cNvSpPr>
            <p:nvPr/>
          </p:nvSpPr>
          <p:spPr bwMode="auto">
            <a:xfrm>
              <a:off x="3409" y="2448"/>
              <a:ext cx="342" cy="341"/>
            </a:xfrm>
            <a:prstGeom prst="rect">
              <a:avLst/>
            </a:prstGeom>
            <a:solidFill>
              <a:srgbClr val="FFFFFF"/>
            </a:solidFill>
            <a:ln w="381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5" name="Rectangle 32">
              <a:extLst>
                <a:ext uri="{FF2B5EF4-FFF2-40B4-BE49-F238E27FC236}">
                  <a16:creationId xmlns:a16="http://schemas.microsoft.com/office/drawing/2014/main" id="{9B8F3DA7-FDD1-4988-B389-08CA9B047FD0}"/>
                </a:ext>
              </a:extLst>
            </p:cNvPr>
            <p:cNvSpPr>
              <a:spLocks noChangeArrowheads="1"/>
            </p:cNvSpPr>
            <p:nvPr/>
          </p:nvSpPr>
          <p:spPr bwMode="auto">
            <a:xfrm>
              <a:off x="3409" y="2448"/>
              <a:ext cx="342" cy="341"/>
            </a:xfrm>
            <a:prstGeom prst="rect">
              <a:avLst/>
            </a:prstGeom>
            <a:noFill/>
            <a:ln w="7938"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16" name="Picture 33">
              <a:extLst>
                <a:ext uri="{FF2B5EF4-FFF2-40B4-BE49-F238E27FC236}">
                  <a16:creationId xmlns:a16="http://schemas.microsoft.com/office/drawing/2014/main" id="{EECA22E2-B831-4D3A-AC7D-544E3C3946D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1" y="2997"/>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7" name="Rectangle 35">
              <a:extLst>
                <a:ext uri="{FF2B5EF4-FFF2-40B4-BE49-F238E27FC236}">
                  <a16:creationId xmlns:a16="http://schemas.microsoft.com/office/drawing/2014/main" id="{719F70DE-B616-4362-B1AE-636AA11D6A45}"/>
                </a:ext>
              </a:extLst>
            </p:cNvPr>
            <p:cNvSpPr>
              <a:spLocks noChangeArrowheads="1"/>
            </p:cNvSpPr>
            <p:nvPr/>
          </p:nvSpPr>
          <p:spPr bwMode="auto">
            <a:xfrm>
              <a:off x="3066" y="3012"/>
              <a:ext cx="343" cy="340"/>
            </a:xfrm>
            <a:prstGeom prst="rect">
              <a:avLst/>
            </a:prstGeom>
            <a:solidFill>
              <a:srgbClr val="FFFFFF"/>
            </a:solidFill>
            <a:ln w="381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8" name="Rectangle 36">
              <a:extLst>
                <a:ext uri="{FF2B5EF4-FFF2-40B4-BE49-F238E27FC236}">
                  <a16:creationId xmlns:a16="http://schemas.microsoft.com/office/drawing/2014/main" id="{22E14A9B-DD50-4132-84CE-B7AFDF2BBAD1}"/>
                </a:ext>
              </a:extLst>
            </p:cNvPr>
            <p:cNvSpPr>
              <a:spLocks noChangeArrowheads="1"/>
            </p:cNvSpPr>
            <p:nvPr/>
          </p:nvSpPr>
          <p:spPr bwMode="auto">
            <a:xfrm>
              <a:off x="3066" y="3012"/>
              <a:ext cx="343" cy="340"/>
            </a:xfrm>
            <a:prstGeom prst="rect">
              <a:avLst/>
            </a:prstGeom>
            <a:noFill/>
            <a:ln w="7938"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19" name="Picture 39">
              <a:extLst>
                <a:ext uri="{FF2B5EF4-FFF2-40B4-BE49-F238E27FC236}">
                  <a16:creationId xmlns:a16="http://schemas.microsoft.com/office/drawing/2014/main" id="{2425866F-53BE-426F-A3FC-1CDA2422F4F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82" y="2997"/>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0" name="Rectangle 41">
              <a:extLst>
                <a:ext uri="{FF2B5EF4-FFF2-40B4-BE49-F238E27FC236}">
                  <a16:creationId xmlns:a16="http://schemas.microsoft.com/office/drawing/2014/main" id="{97200D7F-EA89-41B9-A5DE-E2D0F21D283E}"/>
                </a:ext>
              </a:extLst>
            </p:cNvPr>
            <p:cNvSpPr>
              <a:spLocks noChangeArrowheads="1"/>
            </p:cNvSpPr>
            <p:nvPr/>
          </p:nvSpPr>
          <p:spPr bwMode="auto">
            <a:xfrm>
              <a:off x="3409" y="3012"/>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1" name="Rectangle 42">
              <a:extLst>
                <a:ext uri="{FF2B5EF4-FFF2-40B4-BE49-F238E27FC236}">
                  <a16:creationId xmlns:a16="http://schemas.microsoft.com/office/drawing/2014/main" id="{21B064EB-76CE-4FA3-90C3-3D333A57E0BB}"/>
                </a:ext>
              </a:extLst>
            </p:cNvPr>
            <p:cNvSpPr>
              <a:spLocks noChangeArrowheads="1"/>
            </p:cNvSpPr>
            <p:nvPr/>
          </p:nvSpPr>
          <p:spPr bwMode="auto">
            <a:xfrm>
              <a:off x="3409" y="3012"/>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22" name="Picture 43">
              <a:extLst>
                <a:ext uri="{FF2B5EF4-FFF2-40B4-BE49-F238E27FC236}">
                  <a16:creationId xmlns:a16="http://schemas.microsoft.com/office/drawing/2014/main" id="{E08A8B0D-4C89-473E-A4FE-321B309C642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1"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23" name="Picture 44">
              <a:extLst>
                <a:ext uri="{FF2B5EF4-FFF2-40B4-BE49-F238E27FC236}">
                  <a16:creationId xmlns:a16="http://schemas.microsoft.com/office/drawing/2014/main" id="{357E34C5-0710-40C9-8156-854128A4C0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1"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4" name="Rectangle 45">
              <a:extLst>
                <a:ext uri="{FF2B5EF4-FFF2-40B4-BE49-F238E27FC236}">
                  <a16:creationId xmlns:a16="http://schemas.microsoft.com/office/drawing/2014/main" id="{8620865B-31AE-4D4B-9851-75CA6B9AF2F0}"/>
                </a:ext>
              </a:extLst>
            </p:cNvPr>
            <p:cNvSpPr>
              <a:spLocks noChangeArrowheads="1"/>
            </p:cNvSpPr>
            <p:nvPr/>
          </p:nvSpPr>
          <p:spPr bwMode="auto">
            <a:xfrm>
              <a:off x="3066" y="3576"/>
              <a:ext cx="343"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5" name="Rectangle 46">
              <a:extLst>
                <a:ext uri="{FF2B5EF4-FFF2-40B4-BE49-F238E27FC236}">
                  <a16:creationId xmlns:a16="http://schemas.microsoft.com/office/drawing/2014/main" id="{24B69533-05A4-4988-A15A-261EF1E537DC}"/>
                </a:ext>
              </a:extLst>
            </p:cNvPr>
            <p:cNvSpPr>
              <a:spLocks noChangeArrowheads="1"/>
            </p:cNvSpPr>
            <p:nvPr/>
          </p:nvSpPr>
          <p:spPr bwMode="auto">
            <a:xfrm>
              <a:off x="3066" y="3576"/>
              <a:ext cx="343"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26" name="Picture 49">
              <a:extLst>
                <a:ext uri="{FF2B5EF4-FFF2-40B4-BE49-F238E27FC236}">
                  <a16:creationId xmlns:a16="http://schemas.microsoft.com/office/drawing/2014/main" id="{67A47ABB-6DFD-494B-9989-0A727A21B23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82"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27" name="Picture 50">
              <a:extLst>
                <a:ext uri="{FF2B5EF4-FFF2-40B4-BE49-F238E27FC236}">
                  <a16:creationId xmlns:a16="http://schemas.microsoft.com/office/drawing/2014/main" id="{B33D45F0-7D99-40EE-AC43-BAA550C74B3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82"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8" name="Rectangle 51">
              <a:extLst>
                <a:ext uri="{FF2B5EF4-FFF2-40B4-BE49-F238E27FC236}">
                  <a16:creationId xmlns:a16="http://schemas.microsoft.com/office/drawing/2014/main" id="{66E36BD3-811E-44F6-852A-28F9BCAA8EFD}"/>
                </a:ext>
              </a:extLst>
            </p:cNvPr>
            <p:cNvSpPr>
              <a:spLocks noChangeArrowheads="1"/>
            </p:cNvSpPr>
            <p:nvPr/>
          </p:nvSpPr>
          <p:spPr bwMode="auto">
            <a:xfrm>
              <a:off x="3409" y="3576"/>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9" name="Rectangle 52">
              <a:extLst>
                <a:ext uri="{FF2B5EF4-FFF2-40B4-BE49-F238E27FC236}">
                  <a16:creationId xmlns:a16="http://schemas.microsoft.com/office/drawing/2014/main" id="{231AD063-5A38-4912-9432-A6B7DCD5005A}"/>
                </a:ext>
              </a:extLst>
            </p:cNvPr>
            <p:cNvSpPr>
              <a:spLocks noChangeArrowheads="1"/>
            </p:cNvSpPr>
            <p:nvPr/>
          </p:nvSpPr>
          <p:spPr bwMode="auto">
            <a:xfrm>
              <a:off x="3409" y="3576"/>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30" name="Line 53">
              <a:extLst>
                <a:ext uri="{FF2B5EF4-FFF2-40B4-BE49-F238E27FC236}">
                  <a16:creationId xmlns:a16="http://schemas.microsoft.com/office/drawing/2014/main" id="{D04ED915-3325-4E61-ABCA-38DF3FA3B907}"/>
                </a:ext>
              </a:extLst>
            </p:cNvPr>
            <p:cNvSpPr>
              <a:spLocks noChangeShapeType="1"/>
            </p:cNvSpPr>
            <p:nvPr/>
          </p:nvSpPr>
          <p:spPr bwMode="auto">
            <a:xfrm>
              <a:off x="2578" y="2055"/>
              <a:ext cx="449" cy="0"/>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1" name="Line 55">
              <a:extLst>
                <a:ext uri="{FF2B5EF4-FFF2-40B4-BE49-F238E27FC236}">
                  <a16:creationId xmlns:a16="http://schemas.microsoft.com/office/drawing/2014/main" id="{6A023FBD-373B-4DA4-9F22-0FDF24EDC872}"/>
                </a:ext>
              </a:extLst>
            </p:cNvPr>
            <p:cNvSpPr>
              <a:spLocks noChangeShapeType="1"/>
            </p:cNvSpPr>
            <p:nvPr/>
          </p:nvSpPr>
          <p:spPr bwMode="auto">
            <a:xfrm flipH="1">
              <a:off x="3270" y="2160"/>
              <a:ext cx="283" cy="267"/>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2" name="Line 57">
              <a:extLst>
                <a:ext uri="{FF2B5EF4-FFF2-40B4-BE49-F238E27FC236}">
                  <a16:creationId xmlns:a16="http://schemas.microsoft.com/office/drawing/2014/main" id="{0843DD1C-E7B3-471A-BF45-558CA6ADF72C}"/>
                </a:ext>
              </a:extLst>
            </p:cNvPr>
            <p:cNvSpPr>
              <a:spLocks noChangeShapeType="1"/>
            </p:cNvSpPr>
            <p:nvPr/>
          </p:nvSpPr>
          <p:spPr bwMode="auto">
            <a:xfrm flipH="1">
              <a:off x="3276" y="3258"/>
              <a:ext cx="304" cy="309"/>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3" name="Line 61">
              <a:extLst>
                <a:ext uri="{FF2B5EF4-FFF2-40B4-BE49-F238E27FC236}">
                  <a16:creationId xmlns:a16="http://schemas.microsoft.com/office/drawing/2014/main" id="{5AF46025-30AD-4BAC-8119-1926A333F5C5}"/>
                </a:ext>
              </a:extLst>
            </p:cNvPr>
            <p:cNvSpPr>
              <a:spLocks noChangeShapeType="1"/>
            </p:cNvSpPr>
            <p:nvPr/>
          </p:nvSpPr>
          <p:spPr bwMode="auto">
            <a:xfrm>
              <a:off x="3409" y="3576"/>
              <a:ext cx="343" cy="340"/>
            </a:xfrm>
            <a:prstGeom prst="line">
              <a:avLst/>
            </a:prstGeom>
            <a:noFill/>
            <a:ln w="381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 name="Rectangle 13">
            <a:extLst>
              <a:ext uri="{FF2B5EF4-FFF2-40B4-BE49-F238E27FC236}">
                <a16:creationId xmlns:a16="http://schemas.microsoft.com/office/drawing/2014/main" id="{E4A8CA0F-DF16-44F0-95CC-9AED2C4B7C75}"/>
              </a:ext>
            </a:extLst>
          </p:cNvPr>
          <p:cNvSpPr>
            <a:spLocks noChangeArrowheads="1"/>
          </p:cNvSpPr>
          <p:nvPr/>
        </p:nvSpPr>
        <p:spPr bwMode="auto">
          <a:xfrm>
            <a:off x="8713788" y="3448050"/>
            <a:ext cx="45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n-2</a:t>
            </a:r>
            <a:endParaRPr lang="zh-CN" altLang="zh-CN" sz="2400">
              <a:ea typeface="华文细黑" panose="02010600040101010101" pitchFamily="2" charset="-122"/>
            </a:endParaRPr>
          </a:p>
        </p:txBody>
      </p:sp>
      <p:sp>
        <p:nvSpPr>
          <p:cNvPr id="78" name="Rectangle 13">
            <a:extLst>
              <a:ext uri="{FF2B5EF4-FFF2-40B4-BE49-F238E27FC236}">
                <a16:creationId xmlns:a16="http://schemas.microsoft.com/office/drawing/2014/main" id="{7EC0F65A-AE9C-4A79-8001-D211C5EEA6FC}"/>
              </a:ext>
            </a:extLst>
          </p:cNvPr>
          <p:cNvSpPr>
            <a:spLocks noChangeArrowheads="1"/>
          </p:cNvSpPr>
          <p:nvPr/>
        </p:nvSpPr>
        <p:spPr bwMode="auto">
          <a:xfrm>
            <a:off x="8758238" y="4341813"/>
            <a:ext cx="285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1</a:t>
            </a:r>
            <a:endParaRPr lang="zh-CN" altLang="zh-CN" sz="2400">
              <a:ea typeface="华文细黑" panose="02010600040101010101" pitchFamily="2" charset="-122"/>
            </a:endParaRPr>
          </a:p>
        </p:txBody>
      </p:sp>
      <p:sp>
        <p:nvSpPr>
          <p:cNvPr id="79" name="Rectangle 13">
            <a:extLst>
              <a:ext uri="{FF2B5EF4-FFF2-40B4-BE49-F238E27FC236}">
                <a16:creationId xmlns:a16="http://schemas.microsoft.com/office/drawing/2014/main" id="{9F5EB16D-B3A5-4A8A-A958-CC8F32F3802A}"/>
              </a:ext>
            </a:extLst>
          </p:cNvPr>
          <p:cNvSpPr>
            <a:spLocks noChangeArrowheads="1"/>
          </p:cNvSpPr>
          <p:nvPr/>
        </p:nvSpPr>
        <p:spPr bwMode="auto">
          <a:xfrm>
            <a:off x="8756650" y="5168900"/>
            <a:ext cx="284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0</a:t>
            </a:r>
            <a:endParaRPr lang="zh-CN" altLang="zh-CN" sz="2400">
              <a:ea typeface="华文细黑" panose="02010600040101010101" pitchFamily="2" charset="-122"/>
            </a:endParaRPr>
          </a:p>
        </p:txBody>
      </p:sp>
      <p:sp>
        <p:nvSpPr>
          <p:cNvPr id="49" name="Line 55">
            <a:extLst>
              <a:ext uri="{FF2B5EF4-FFF2-40B4-BE49-F238E27FC236}">
                <a16:creationId xmlns:a16="http://schemas.microsoft.com/office/drawing/2014/main" id="{B8741F9E-7090-4C8D-BA7D-AF51CF4780A4}"/>
              </a:ext>
            </a:extLst>
          </p:cNvPr>
          <p:cNvSpPr>
            <a:spLocks noChangeShapeType="1"/>
          </p:cNvSpPr>
          <p:nvPr/>
        </p:nvSpPr>
        <p:spPr bwMode="auto">
          <a:xfrm flipH="1">
            <a:off x="8985250" y="3810000"/>
            <a:ext cx="449263" cy="406400"/>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6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6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6" grpId="0" build="p"/>
      <p:bldP spid="29" grpId="0"/>
      <p:bldP spid="77" grpId="0"/>
      <p:bldP spid="78" grpId="0"/>
      <p:bldP spid="7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5D6D0F9-7027-4DAE-9408-84C57B6A000C}"/>
              </a:ext>
            </a:extLst>
          </p:cNvPr>
          <p:cNvSpPr>
            <a:spLocks noGrp="1" noChangeArrowheads="1"/>
          </p:cNvSpPr>
          <p:nvPr>
            <p:ph type="title"/>
          </p:nvPr>
        </p:nvSpPr>
        <p:spPr/>
        <p:txBody>
          <a:bodyPr>
            <a:normAutofit/>
          </a:bodyPr>
          <a:lstStyle/>
          <a:p>
            <a:pPr eaLnBrk="1" hangingPunct="1">
              <a:spcBef>
                <a:spcPct val="50000"/>
              </a:spcBef>
              <a:defRPr/>
            </a:pPr>
            <a:r>
              <a:rPr kumimoji="0"/>
              <a:t>链式栈的创建 </a:t>
            </a:r>
          </a:p>
        </p:txBody>
      </p:sp>
      <p:sp>
        <p:nvSpPr>
          <p:cNvPr id="4" name="副标题 3">
            <a:extLst>
              <a:ext uri="{FF2B5EF4-FFF2-40B4-BE49-F238E27FC236}">
                <a16:creationId xmlns:a16="http://schemas.microsoft.com/office/drawing/2014/main" id="{050D8652-C6EB-4AE4-B6AC-84030781057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353AAA46-E564-4BAE-98C9-04EEF38C1F02}"/>
              </a:ext>
            </a:extLst>
          </p:cNvPr>
          <p:cNvSpPr>
            <a:spLocks noGrp="1"/>
          </p:cNvSpPr>
          <p:nvPr>
            <p:ph type="body" idx="10"/>
          </p:nvPr>
        </p:nvSpPr>
        <p:spPr/>
        <p:txBody>
          <a:bodyPr/>
          <a:lstStyle/>
          <a:p>
            <a:endParaRPr lang="zh-CN" altLang="en-US"/>
          </a:p>
        </p:txBody>
      </p:sp>
      <p:sp>
        <p:nvSpPr>
          <p:cNvPr id="2" name="Rectangle 1">
            <a:extLst>
              <a:ext uri="{FF2B5EF4-FFF2-40B4-BE49-F238E27FC236}">
                <a16:creationId xmlns:a16="http://schemas.microsoft.com/office/drawing/2014/main" id="{870D762E-1FE7-4BB0-8463-D040BCF641C2}"/>
              </a:ext>
            </a:extLst>
          </p:cNvPr>
          <p:cNvSpPr>
            <a:spLocks noGrp="1" noChangeArrowheads="1"/>
          </p:cNvSpPr>
          <p:nvPr>
            <p:ph idx="11"/>
          </p:nvPr>
        </p:nvSpPr>
        <p:spPr bwMode="auto">
          <a:xfrm>
            <a:off x="838200" y="1727112"/>
            <a:ext cx="989084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链式栈的初始化 InitStack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无</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一个空的链式栈</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stack.size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9EFA0965-AAD3-4DA3-87E3-0F94EFB842A5}"/>
              </a:ext>
            </a:extLst>
          </p:cNvPr>
          <p:cNvCxnSpPr>
            <a:cxnSpLocks/>
          </p:cNvCxnSpPr>
          <p:nvPr/>
        </p:nvCxnSpPr>
        <p:spPr>
          <a:xfrm>
            <a:off x="838200" y="1684006"/>
            <a:ext cx="9663953" cy="43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EE2E574-1CD5-42EE-98FB-9C9B2F1C0F01}"/>
              </a:ext>
            </a:extLst>
          </p:cNvPr>
          <p:cNvSpPr>
            <a:spLocks noGrp="1" noChangeArrowheads="1"/>
          </p:cNvSpPr>
          <p:nvPr>
            <p:ph type="title"/>
          </p:nvPr>
        </p:nvSpPr>
        <p:spPr/>
        <p:txBody>
          <a:bodyPr>
            <a:normAutofit/>
          </a:bodyPr>
          <a:lstStyle/>
          <a:p>
            <a:pPr eaLnBrk="1" hangingPunct="1">
              <a:spcBef>
                <a:spcPct val="50000"/>
              </a:spcBef>
              <a:defRPr/>
            </a:pPr>
            <a:r>
              <a:rPr kumimoji="0"/>
              <a:t>压栈操作</a:t>
            </a:r>
          </a:p>
        </p:txBody>
      </p:sp>
      <p:sp>
        <p:nvSpPr>
          <p:cNvPr id="2" name="副标题 1">
            <a:extLst>
              <a:ext uri="{FF2B5EF4-FFF2-40B4-BE49-F238E27FC236}">
                <a16:creationId xmlns:a16="http://schemas.microsoft.com/office/drawing/2014/main" id="{ADE5F6F3-A4BD-4FFA-BF93-BDB1DBE6CE3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A4CE32A-5A66-48C4-A067-3A791B279BF7}"/>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5E4EC64D-81D2-4DB8-A95C-62986B0C0549}"/>
              </a:ext>
            </a:extLst>
          </p:cNvPr>
          <p:cNvSpPr>
            <a:spLocks noGrp="1" noChangeArrowheads="1"/>
          </p:cNvSpPr>
          <p:nvPr>
            <p:ph idx="11"/>
          </p:nvPr>
        </p:nvSpPr>
        <p:spPr bwMode="auto">
          <a:xfrm>
            <a:off x="584225" y="1424492"/>
            <a:ext cx="11023550"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链式栈的取顶操作</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Top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栈</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栈顶元素；若栈空，则输出</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if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else</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stack.top.data</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end</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7" name="直接连接符 6">
            <a:extLst>
              <a:ext uri="{FF2B5EF4-FFF2-40B4-BE49-F238E27FC236}">
                <a16:creationId xmlns:a16="http://schemas.microsoft.com/office/drawing/2014/main" id="{08761A3A-0EFF-4FB8-86E9-F700AC42F19C}"/>
              </a:ext>
            </a:extLst>
          </p:cNvPr>
          <p:cNvCxnSpPr>
            <a:cxnSpLocks/>
          </p:cNvCxnSpPr>
          <p:nvPr/>
        </p:nvCxnSpPr>
        <p:spPr>
          <a:xfrm>
            <a:off x="584225" y="142262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FAD4937-4C1F-4884-AB71-7A8DD342D453}"/>
              </a:ext>
            </a:extLst>
          </p:cNvPr>
          <p:cNvCxnSpPr>
            <a:cxnSpLocks/>
          </p:cNvCxnSpPr>
          <p:nvPr/>
        </p:nvCxnSpPr>
        <p:spPr>
          <a:xfrm>
            <a:off x="584225" y="1898581"/>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C5830A0-D569-4BAB-9221-F7578B74861C}"/>
              </a:ext>
            </a:extLst>
          </p:cNvPr>
          <p:cNvCxnSpPr>
            <a:cxnSpLocks/>
          </p:cNvCxnSpPr>
          <p:nvPr/>
        </p:nvCxnSpPr>
        <p:spPr>
          <a:xfrm>
            <a:off x="584225" y="2696437"/>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B2AE7A71-B80B-4A35-A87D-A0F88DE8D1AB}"/>
              </a:ext>
            </a:extLst>
          </p:cNvPr>
          <p:cNvSpPr>
            <a:spLocks noGrp="1" noChangeArrowheads="1"/>
          </p:cNvSpPr>
          <p:nvPr>
            <p:ph type="title"/>
          </p:nvPr>
        </p:nvSpPr>
        <p:spPr/>
        <p:txBody>
          <a:bodyPr>
            <a:normAutofit/>
          </a:bodyPr>
          <a:lstStyle/>
          <a:p>
            <a:pPr eaLnBrk="1" hangingPunct="1">
              <a:spcBef>
                <a:spcPct val="50000"/>
              </a:spcBef>
              <a:defRPr/>
            </a:pPr>
            <a:r>
              <a:rPr kumimoji="0"/>
              <a:t>出栈操作</a:t>
            </a:r>
          </a:p>
        </p:txBody>
      </p:sp>
      <p:sp>
        <p:nvSpPr>
          <p:cNvPr id="2" name="副标题 1">
            <a:extLst>
              <a:ext uri="{FF2B5EF4-FFF2-40B4-BE49-F238E27FC236}">
                <a16:creationId xmlns:a16="http://schemas.microsoft.com/office/drawing/2014/main" id="{D68443FD-9FE8-4BD0-A3B8-CB1A82D5DC6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DA1569-0855-4267-99B0-4CDCB05E1FAA}"/>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D08FAB74-31DF-4B41-91C9-31956D6D72B6}"/>
              </a:ext>
            </a:extLst>
          </p:cNvPr>
          <p:cNvSpPr>
            <a:spLocks noGrp="1" noChangeArrowheads="1"/>
          </p:cNvSpPr>
          <p:nvPr>
            <p:ph idx="11"/>
          </p:nvPr>
        </p:nvSpPr>
        <p:spPr bwMode="auto">
          <a:xfrm>
            <a:off x="584225" y="1377650"/>
            <a:ext cx="9971716"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链式栈</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的出栈操作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Pop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en-US"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栈</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删除栈顶元素后的链式栈；若栈空，则退出</a:t>
            </a:r>
            <a:endParaRPr kumimoji="0" lang="en-US"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 </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IsEmpty(</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then</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栈空，退出</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else</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stack.top.next</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delete</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stack.size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stack.size</a:t>
            </a:r>
            <a:r>
              <a:rPr kumimoji="0" lang="zh-CN" altLang="zh-CN" sz="2000" b="0"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 - 1</a:t>
            </a:r>
            <a:endParaRPr kumimoji="0" lang="zh-CN" altLang="zh-CN" sz="2000" b="0" i="0" u="none" strike="noStrike" cap="none" normalizeH="0" baseline="0" dirty="0">
              <a:ln>
                <a:noFill/>
              </a:ln>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8" name="直接连接符 7">
            <a:extLst>
              <a:ext uri="{FF2B5EF4-FFF2-40B4-BE49-F238E27FC236}">
                <a16:creationId xmlns:a16="http://schemas.microsoft.com/office/drawing/2014/main" id="{98567460-4509-4625-A3A8-441D95AEDC1D}"/>
              </a:ext>
            </a:extLst>
          </p:cNvPr>
          <p:cNvCxnSpPr>
            <a:cxnSpLocks/>
          </p:cNvCxnSpPr>
          <p:nvPr/>
        </p:nvCxnSpPr>
        <p:spPr>
          <a:xfrm>
            <a:off x="584225" y="135538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E8986A9-A9EC-430C-A72A-732E2000F60A}"/>
              </a:ext>
            </a:extLst>
          </p:cNvPr>
          <p:cNvCxnSpPr>
            <a:cxnSpLocks/>
          </p:cNvCxnSpPr>
          <p:nvPr/>
        </p:nvCxnSpPr>
        <p:spPr>
          <a:xfrm>
            <a:off x="584225" y="183134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26C0C80-D932-4827-A094-8DB481F2950B}"/>
              </a:ext>
            </a:extLst>
          </p:cNvPr>
          <p:cNvCxnSpPr>
            <a:cxnSpLocks/>
          </p:cNvCxnSpPr>
          <p:nvPr/>
        </p:nvCxnSpPr>
        <p:spPr>
          <a:xfrm>
            <a:off x="584225" y="262920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9D09F518-FE3C-44C7-8680-8629979C6C9A}"/>
              </a:ext>
            </a:extLst>
          </p:cNvPr>
          <p:cNvSpPr>
            <a:spLocks noGrp="1" noChangeArrowheads="1"/>
          </p:cNvSpPr>
          <p:nvPr>
            <p:ph type="title"/>
          </p:nvPr>
        </p:nvSpPr>
        <p:spPr>
          <a:xfrm>
            <a:off x="1123950" y="619026"/>
            <a:ext cx="10515600" cy="518958"/>
          </a:xfrm>
        </p:spPr>
        <p:txBody>
          <a:bodyPr>
            <a:normAutofit/>
          </a:bodyPr>
          <a:lstStyle/>
          <a:p>
            <a:pPr eaLnBrk="1" hangingPunct="1">
              <a:spcBef>
                <a:spcPct val="50000"/>
              </a:spcBef>
              <a:defRPr/>
            </a:pPr>
            <a:r>
              <a:rPr kumimoji="0" dirty="0" err="1"/>
              <a:t>顺序栈</a:t>
            </a:r>
            <a:r>
              <a:rPr kumimoji="0" dirty="0"/>
              <a:t> </a:t>
            </a:r>
            <a:r>
              <a:rPr kumimoji="0" lang="en-US" altLang="zh-CN" dirty="0"/>
              <a:t>vs</a:t>
            </a:r>
            <a:r>
              <a:rPr kumimoji="0" dirty="0"/>
              <a:t> </a:t>
            </a:r>
            <a:r>
              <a:rPr kumimoji="0" dirty="0" err="1"/>
              <a:t>链式栈</a:t>
            </a:r>
            <a:r>
              <a:rPr kumimoji="0" dirty="0"/>
              <a:t> </a:t>
            </a:r>
          </a:p>
        </p:txBody>
      </p:sp>
      <p:sp>
        <p:nvSpPr>
          <p:cNvPr id="2" name="副标题 1">
            <a:extLst>
              <a:ext uri="{FF2B5EF4-FFF2-40B4-BE49-F238E27FC236}">
                <a16:creationId xmlns:a16="http://schemas.microsoft.com/office/drawing/2014/main" id="{D1DB6AEC-D3A9-4CD4-A5C8-28DEA294F16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B9041-EA2C-410D-B543-057F179ECEC4}"/>
              </a:ext>
            </a:extLst>
          </p:cNvPr>
          <p:cNvSpPr>
            <a:spLocks noGrp="1"/>
          </p:cNvSpPr>
          <p:nvPr>
            <p:ph type="body" idx="10"/>
          </p:nvPr>
        </p:nvSpPr>
        <p:spPr/>
        <p:txBody>
          <a:bodyPr/>
          <a:lstStyle/>
          <a:p>
            <a:endParaRPr lang="zh-CN" altLang="en-US"/>
          </a:p>
        </p:txBody>
      </p:sp>
      <p:sp>
        <p:nvSpPr>
          <p:cNvPr id="41987" name="Rectangle 3">
            <a:extLst>
              <a:ext uri="{FF2B5EF4-FFF2-40B4-BE49-F238E27FC236}">
                <a16:creationId xmlns:a16="http://schemas.microsoft.com/office/drawing/2014/main" id="{23F9B184-C78E-4E3C-A388-A4E282A1E1C1}"/>
              </a:ext>
            </a:extLst>
          </p:cNvPr>
          <p:cNvSpPr>
            <a:spLocks noGrp="1" noChangeArrowheads="1"/>
          </p:cNvSpPr>
          <p:nvPr>
            <p:ph idx="11"/>
          </p:nvPr>
        </p:nvSpPr>
        <p:spPr bwMode="auto">
          <a:xfrm>
            <a:off x="584225" y="1264024"/>
            <a:ext cx="11055325" cy="50701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sz="2800" dirty="0"/>
              <a:t>时间效率</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入栈</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出栈操作均只需 </a:t>
            </a:r>
            <a:r>
              <a:rPr lang="zh-CN" altLang="zh-CN" dirty="0">
                <a:solidFill>
                  <a:srgbClr val="0000FF"/>
                </a:solidFill>
                <a:latin typeface="微软雅黑" panose="020B0503020204020204" pitchFamily="34" charset="-122"/>
                <a:ea typeface="微软雅黑" panose="020B0503020204020204" pitchFamily="34" charset="-122"/>
              </a:rPr>
              <a:t>常数时间</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时间效率上难分伯仲</a:t>
            </a:r>
          </a:p>
          <a:p>
            <a:pPr marL="341313" indent="-341313"/>
            <a:endParaRPr lang="en-US" altLang="zh-CN" sz="1600" dirty="0"/>
          </a:p>
          <a:p>
            <a:pPr marL="341313" indent="-341313"/>
            <a:r>
              <a:rPr lang="zh-CN" altLang="zh-CN" sz="2800" dirty="0"/>
              <a:t>空间效率</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顺序栈</a:t>
            </a:r>
            <a:r>
              <a:rPr lang="zh-CN" altLang="en-US" dirty="0">
                <a:solidFill>
                  <a:srgbClr val="0066FF"/>
                </a:solidFill>
                <a:latin typeface="微软雅黑" panose="020B0503020204020204" pitchFamily="34" charset="-122"/>
                <a:ea typeface="微软雅黑" panose="020B0503020204020204" pitchFamily="34" charset="-122"/>
              </a:rPr>
              <a:t>结构紧凑</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但</a:t>
            </a:r>
            <a:r>
              <a:rPr lang="zh-CN" altLang="zh-CN" dirty="0">
                <a:latin typeface="微软雅黑" panose="020B0503020204020204" pitchFamily="34" charset="-122"/>
                <a:ea typeface="微软雅黑" panose="020B0503020204020204" pitchFamily="34" charset="-122"/>
              </a:rPr>
              <a:t>须</a:t>
            </a:r>
            <a:r>
              <a:rPr lang="zh-CN" altLang="zh-CN" dirty="0">
                <a:solidFill>
                  <a:srgbClr val="C00000"/>
                </a:solidFill>
                <a:latin typeface="微软雅黑" panose="020B0503020204020204" pitchFamily="34" charset="-122"/>
                <a:ea typeface="微软雅黑" panose="020B0503020204020204" pitchFamily="34" charset="-122"/>
              </a:rPr>
              <a:t>事先确定长度</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链式栈</a:t>
            </a:r>
            <a:r>
              <a:rPr lang="zh-CN" altLang="zh-CN" dirty="0">
                <a:solidFill>
                  <a:srgbClr val="0066FF"/>
                </a:solidFill>
                <a:latin typeface="微软雅黑" panose="020B0503020204020204" pitchFamily="34" charset="-122"/>
                <a:ea typeface="微软雅黑" panose="020B0503020204020204" pitchFamily="34" charset="-122"/>
              </a:rPr>
              <a:t>长度可变</a:t>
            </a:r>
            <a:r>
              <a:rPr lang="zh-CN" altLang="zh-CN" dirty="0">
                <a:latin typeface="微软雅黑" panose="020B0503020204020204" pitchFamily="34" charset="-122"/>
                <a:ea typeface="微软雅黑" panose="020B0503020204020204" pitchFamily="34" charset="-122"/>
              </a:rPr>
              <a:t>，</a:t>
            </a:r>
            <a:r>
              <a:rPr lang="zh-CN" altLang="zh-CN" dirty="0">
                <a:solidFill>
                  <a:srgbClr val="C00000"/>
                </a:solidFill>
                <a:latin typeface="微软雅黑" panose="020B0503020204020204" pitchFamily="34" charset="-122"/>
                <a:ea typeface="微软雅黑" panose="020B0503020204020204" pitchFamily="34" charset="-122"/>
              </a:rPr>
              <a:t>增加结构性开销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FF18AEA-A199-4CAF-ADAE-298791BB8AEB}"/>
              </a:ext>
            </a:extLst>
          </p:cNvPr>
          <p:cNvSpPr>
            <a:spLocks noGrp="1" noChangeArrowheads="1"/>
          </p:cNvSpPr>
          <p:nvPr>
            <p:ph type="title"/>
          </p:nvPr>
        </p:nvSpPr>
        <p:spPr/>
        <p:txBody>
          <a:bodyPr>
            <a:normAutofit/>
          </a:bodyPr>
          <a:lstStyle/>
          <a:p>
            <a:pPr eaLnBrk="1" hangingPunct="1">
              <a:spcBef>
                <a:spcPct val="50000"/>
              </a:spcBef>
              <a:defRPr/>
            </a:pPr>
            <a:r>
              <a:rPr kumimoji="0" dirty="0" err="1"/>
              <a:t>顺序栈</a:t>
            </a:r>
            <a:r>
              <a:rPr kumimoji="0" dirty="0"/>
              <a:t>  </a:t>
            </a:r>
            <a:r>
              <a:rPr kumimoji="0" lang="en-US" dirty="0"/>
              <a:t>vs</a:t>
            </a:r>
            <a:r>
              <a:rPr kumimoji="0" dirty="0"/>
              <a:t> </a:t>
            </a:r>
            <a:r>
              <a:rPr kumimoji="0" dirty="0" err="1"/>
              <a:t>链式栈</a:t>
            </a:r>
            <a:r>
              <a:rPr kumimoji="0" dirty="0"/>
              <a:t> </a:t>
            </a:r>
          </a:p>
        </p:txBody>
      </p:sp>
      <p:sp>
        <p:nvSpPr>
          <p:cNvPr id="2" name="副标题 1">
            <a:extLst>
              <a:ext uri="{FF2B5EF4-FFF2-40B4-BE49-F238E27FC236}">
                <a16:creationId xmlns:a16="http://schemas.microsoft.com/office/drawing/2014/main" id="{3788C9D0-D255-4EA7-9F42-16E5D494DBA4}"/>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60C68D0-56B6-48C5-ABF4-1BABC054ADC1}"/>
              </a:ext>
            </a:extLst>
          </p:cNvPr>
          <p:cNvSpPr>
            <a:spLocks noGrp="1"/>
          </p:cNvSpPr>
          <p:nvPr>
            <p:ph type="body" idx="10"/>
          </p:nvPr>
        </p:nvSpPr>
        <p:spPr/>
        <p:txBody>
          <a:bodyPr/>
          <a:lstStyle/>
          <a:p>
            <a:endParaRPr lang="zh-CN" altLang="en-US"/>
          </a:p>
        </p:txBody>
      </p:sp>
      <p:sp>
        <p:nvSpPr>
          <p:cNvPr id="43011" name="Rectangle 3">
            <a:extLst>
              <a:ext uri="{FF2B5EF4-FFF2-40B4-BE49-F238E27FC236}">
                <a16:creationId xmlns:a16="http://schemas.microsoft.com/office/drawing/2014/main" id="{15622915-6044-41E7-8B51-08D05DC3DC70}"/>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t>实际中</a:t>
            </a:r>
            <a:r>
              <a:rPr lang="zh-CN" altLang="zh-CN" sz="2800" dirty="0">
                <a:solidFill>
                  <a:srgbClr val="0000FF"/>
                </a:solidFill>
              </a:rPr>
              <a:t>顺序栈</a:t>
            </a:r>
            <a:r>
              <a:rPr lang="en-US" altLang="zh-CN" sz="2800" dirty="0">
                <a:solidFill>
                  <a:srgbClr val="0000FF"/>
                </a:solidFill>
              </a:rPr>
              <a:t> </a:t>
            </a:r>
            <a:r>
              <a:rPr lang="zh-CN" altLang="zh-CN" sz="2800" dirty="0"/>
              <a:t>应用更广泛些 </a:t>
            </a:r>
          </a:p>
          <a:p>
            <a:pPr marL="801687" lvl="1" indent="-457200">
              <a:lnSpc>
                <a:spcPct val="110000"/>
              </a:lnSpc>
              <a:spcBef>
                <a:spcPts val="600"/>
              </a:spcBef>
              <a:buClr>
                <a:srgbClr val="CC3300"/>
              </a:buClr>
              <a:buFont typeface="Wingdings" panose="05000000000000000000" pitchFamily="2" charset="2"/>
              <a:buChar char="ü"/>
            </a:pPr>
            <a:r>
              <a:rPr lang="zh-CN" altLang="zh-CN" sz="2800" dirty="0">
                <a:latin typeface="微软雅黑" panose="020B0503020204020204" pitchFamily="34" charset="-122"/>
                <a:ea typeface="微软雅黑" panose="020B0503020204020204" pitchFamily="34" charset="-122"/>
              </a:rPr>
              <a:t>存储开销低</a:t>
            </a:r>
            <a:endParaRPr lang="en-US" altLang="zh-CN" sz="2800" dirty="0">
              <a:latin typeface="微软雅黑" panose="020B0503020204020204" pitchFamily="34" charset="-122"/>
              <a:ea typeface="微软雅黑" panose="020B0503020204020204" pitchFamily="34" charset="-122"/>
            </a:endParaRPr>
          </a:p>
          <a:p>
            <a:pPr marL="801687" lvl="1" indent="-457200">
              <a:lnSpc>
                <a:spcPct val="110000"/>
              </a:lnSpc>
              <a:spcBef>
                <a:spcPts val="600"/>
              </a:spcBef>
              <a:buClr>
                <a:srgbClr val="CC3300"/>
              </a:buClr>
              <a:buFont typeface="Wingdings" panose="05000000000000000000" pitchFamily="2" charset="2"/>
              <a:buChar char="ü"/>
            </a:pPr>
            <a:r>
              <a:rPr lang="zh-CN" altLang="zh-CN" sz="2800" dirty="0">
                <a:latin typeface="微软雅黑" panose="020B0503020204020204" pitchFamily="34" charset="-122"/>
                <a:ea typeface="微软雅黑" panose="020B0503020204020204" pitchFamily="34" charset="-122"/>
              </a:rPr>
              <a:t>根据栈顶位置</a:t>
            </a:r>
            <a:r>
              <a:rPr lang="zh-CN" altLang="en-US" sz="2800" dirty="0">
                <a:latin typeface="微软雅黑" panose="020B0503020204020204" pitchFamily="34" charset="-122"/>
                <a:ea typeface="微软雅黑" panose="020B0503020204020204" pitchFamily="34" charset="-122"/>
              </a:rPr>
              <a:t>的</a:t>
            </a:r>
            <a:r>
              <a:rPr lang="zh-CN" altLang="zh-CN" sz="2800" dirty="0">
                <a:solidFill>
                  <a:srgbClr val="0000FF"/>
                </a:solidFill>
                <a:latin typeface="微软雅黑" panose="020B0503020204020204" pitchFamily="34" charset="-122"/>
                <a:ea typeface="微软雅黑" panose="020B0503020204020204" pitchFamily="34" charset="-122"/>
              </a:rPr>
              <a:t>相对位移</a:t>
            </a:r>
            <a:r>
              <a:rPr lang="zh-CN" altLang="zh-CN" sz="2800" dirty="0">
                <a:latin typeface="微软雅黑" panose="020B0503020204020204" pitchFamily="34" charset="-122"/>
                <a:ea typeface="微软雅黑" panose="020B0503020204020204" pitchFamily="34" charset="-122"/>
              </a:rPr>
              <a:t>，</a:t>
            </a:r>
            <a:r>
              <a:rPr lang="zh-CN" altLang="zh-CN" sz="2800" dirty="0">
                <a:solidFill>
                  <a:srgbClr val="0000FF"/>
                </a:solidFill>
                <a:latin typeface="微软雅黑" panose="020B0503020204020204" pitchFamily="34" charset="-122"/>
                <a:ea typeface="微软雅黑" panose="020B0503020204020204" pitchFamily="34" charset="-122"/>
              </a:rPr>
              <a:t>快速定位</a:t>
            </a:r>
            <a:r>
              <a:rPr lang="zh-CN" altLang="zh-CN" sz="2800" dirty="0">
                <a:latin typeface="微软雅黑" panose="020B0503020204020204" pitchFamily="34" charset="-122"/>
                <a:ea typeface="微软雅黑" panose="020B0503020204020204" pitchFamily="34" charset="-122"/>
              </a:rPr>
              <a:t>读取栈的内部元素 </a:t>
            </a:r>
          </a:p>
          <a:p>
            <a:pPr marL="1081088"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顺序栈 </a:t>
            </a:r>
            <a:r>
              <a:rPr lang="zh-CN" altLang="zh-CN" sz="2400" dirty="0">
                <a:solidFill>
                  <a:srgbClr val="C00000"/>
                </a:solidFill>
                <a:latin typeface="微软雅黑" panose="020B0503020204020204" pitchFamily="34" charset="-122"/>
                <a:ea typeface="微软雅黑" panose="020B0503020204020204" pitchFamily="34" charset="-122"/>
              </a:rPr>
              <a:t>读取内部元素 </a:t>
            </a:r>
            <a:r>
              <a:rPr lang="zh-CN" altLang="zh-CN" sz="2400" dirty="0">
                <a:latin typeface="微软雅黑" panose="020B0503020204020204" pitchFamily="34" charset="-122"/>
                <a:ea typeface="微软雅黑" panose="020B0503020204020204" pitchFamily="34" charset="-122"/>
              </a:rPr>
              <a:t>的时间为</a:t>
            </a:r>
            <a:r>
              <a:rPr lang="en-US" altLang="zh-CN" sz="2400" dirty="0">
                <a:latin typeface="微软雅黑" panose="020B0503020204020204" pitchFamily="34" charset="-122"/>
                <a:ea typeface="微软雅黑" panose="020B0503020204020204" pitchFamily="34" charset="-122"/>
              </a:rPr>
              <a:t>O(1)</a:t>
            </a:r>
            <a:r>
              <a:rPr lang="zh-CN" altLang="zh-CN" sz="2400" dirty="0">
                <a:latin typeface="微软雅黑" panose="020B0503020204020204" pitchFamily="34" charset="-122"/>
                <a:ea typeface="微软雅黑" panose="020B0503020204020204" pitchFamily="34" charset="-122"/>
              </a:rPr>
              <a:t>，而链式栈则需要沿指针链游走，读取第 </a:t>
            </a:r>
            <a:r>
              <a:rPr lang="en-US" altLang="zh-CN" sz="2400" dirty="0">
                <a:latin typeface="微软雅黑" panose="020B0503020204020204" pitchFamily="34" charset="-122"/>
                <a:ea typeface="微软雅黑" panose="020B0503020204020204" pitchFamily="34" charset="-122"/>
              </a:rPr>
              <a:t>k </a:t>
            </a:r>
            <a:r>
              <a:rPr lang="zh-CN" altLang="zh-CN" sz="2400" dirty="0">
                <a:latin typeface="微软雅黑" panose="020B0503020204020204" pitchFamily="34" charset="-122"/>
                <a:ea typeface="微软雅黑" panose="020B0503020204020204" pitchFamily="34" charset="-122"/>
              </a:rPr>
              <a:t>个元素需要时间为</a:t>
            </a:r>
            <a:r>
              <a:rPr lang="en-US" altLang="zh-CN" sz="2400" dirty="0">
                <a:latin typeface="微软雅黑" panose="020B0503020204020204" pitchFamily="34" charset="-122"/>
                <a:ea typeface="微软雅黑" panose="020B0503020204020204" pitchFamily="34" charset="-122"/>
              </a:rPr>
              <a:t>O(k) </a:t>
            </a:r>
          </a:p>
          <a:p>
            <a:pPr marL="1081088" lvl="2" indent="-366713">
              <a:lnSpc>
                <a:spcPct val="110000"/>
              </a:lnSpc>
              <a:spcBef>
                <a:spcPts val="600"/>
              </a:spcBef>
              <a:tabLst/>
            </a:pPr>
            <a:r>
              <a:rPr lang="zh-CN" altLang="en-US" sz="2400" dirty="0">
                <a:latin typeface="微软雅黑" panose="020B0503020204020204" pitchFamily="34" charset="-122"/>
                <a:ea typeface="微软雅黑" panose="020B0503020204020204" pitchFamily="34" charset="-122"/>
              </a:rPr>
              <a:t>尽管</a:t>
            </a:r>
            <a:r>
              <a:rPr lang="zh-CN" altLang="zh-CN" sz="2400" dirty="0">
                <a:latin typeface="微软雅黑" panose="020B0503020204020204" pitchFamily="34" charset="-122"/>
                <a:ea typeface="微软雅黑" panose="020B0503020204020204" pitchFamily="34" charset="-122"/>
              </a:rPr>
              <a:t>一般来说，栈不允许“读取内部元素”，只能在栈顶操作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E75D23F8-5E10-493F-9419-1D55A977FAA9}"/>
              </a:ext>
            </a:extLst>
          </p:cNvPr>
          <p:cNvSpPr>
            <a:spLocks noGrp="1" noChangeArrowheads="1"/>
          </p:cNvSpPr>
          <p:nvPr>
            <p:ph type="title"/>
          </p:nvPr>
        </p:nvSpPr>
        <p:spPr/>
        <p:txBody>
          <a:bodyPr>
            <a:normAutofit/>
          </a:bodyPr>
          <a:lstStyle/>
          <a:p>
            <a:pPr eaLnBrk="1" hangingPunct="1">
              <a:spcBef>
                <a:spcPct val="50000"/>
              </a:spcBef>
              <a:defRPr/>
            </a:pPr>
            <a:r>
              <a:rPr kumimoji="0"/>
              <a:t>队列</a:t>
            </a:r>
          </a:p>
        </p:txBody>
      </p:sp>
      <p:sp>
        <p:nvSpPr>
          <p:cNvPr id="2" name="副标题 1">
            <a:extLst>
              <a:ext uri="{FF2B5EF4-FFF2-40B4-BE49-F238E27FC236}">
                <a16:creationId xmlns:a16="http://schemas.microsoft.com/office/drawing/2014/main" id="{D9338802-3F50-402F-803C-FA39629C563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6D7D03B6-0AA7-4481-9CC9-4D79366276C4}"/>
              </a:ext>
            </a:extLst>
          </p:cNvPr>
          <p:cNvSpPr>
            <a:spLocks noGrp="1"/>
          </p:cNvSpPr>
          <p:nvPr>
            <p:ph type="body" idx="10"/>
          </p:nvPr>
        </p:nvSpPr>
        <p:spPr/>
        <p:txBody>
          <a:bodyPr/>
          <a:lstStyle/>
          <a:p>
            <a:endParaRPr lang="zh-CN" altLang="en-US"/>
          </a:p>
        </p:txBody>
      </p:sp>
      <p:sp>
        <p:nvSpPr>
          <p:cNvPr id="13315" name="Rectangle 3">
            <a:extLst>
              <a:ext uri="{FF2B5EF4-FFF2-40B4-BE49-F238E27FC236}">
                <a16:creationId xmlns:a16="http://schemas.microsoft.com/office/drawing/2014/main" id="{483E95C1-95BB-4F9B-92C1-467D2386D3FD}"/>
              </a:ext>
            </a:extLst>
          </p:cNvPr>
          <p:cNvSpPr>
            <a:spLocks noGrp="1" noChangeArrowheads="1"/>
          </p:cNvSpPr>
          <p:nvPr>
            <p:ph idx="11"/>
          </p:nvPr>
        </p:nvSpPr>
        <p:spPr bwMode="auto">
          <a:xfrm>
            <a:off x="584226" y="1276350"/>
            <a:ext cx="5883810" cy="5178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b="1" dirty="0"/>
              <a:t>先进先出（</a:t>
            </a:r>
            <a:r>
              <a:rPr lang="en-US" altLang="zh-CN" b="1" dirty="0" err="1">
                <a:solidFill>
                  <a:srgbClr val="0000FF"/>
                </a:solidFill>
              </a:rPr>
              <a:t>F</a:t>
            </a:r>
            <a:r>
              <a:rPr lang="en-US" altLang="zh-CN" b="1" dirty="0" err="1"/>
              <a:t>irst</a:t>
            </a:r>
            <a:r>
              <a:rPr lang="en-US" altLang="zh-CN" b="1" dirty="0" err="1">
                <a:solidFill>
                  <a:srgbClr val="0000FF"/>
                </a:solidFill>
              </a:rPr>
              <a:t>I</a:t>
            </a:r>
            <a:r>
              <a:rPr lang="en-US" altLang="zh-CN" b="1" dirty="0" err="1"/>
              <a:t>n</a:t>
            </a:r>
            <a:r>
              <a:rPr lang="en-US" altLang="zh-CN" b="1" dirty="0" err="1">
                <a:solidFill>
                  <a:srgbClr val="0000FF"/>
                </a:solidFill>
              </a:rPr>
              <a:t>F</a:t>
            </a:r>
            <a:r>
              <a:rPr lang="en-US" altLang="zh-CN" b="1" dirty="0" err="1"/>
              <a:t>irst</a:t>
            </a:r>
            <a:r>
              <a:rPr lang="en-US" altLang="zh-CN" b="1" dirty="0" err="1">
                <a:solidFill>
                  <a:srgbClr val="0000FF"/>
                </a:solidFill>
              </a:rPr>
              <a:t>O</a:t>
            </a:r>
            <a:r>
              <a:rPr lang="en-US" altLang="zh-CN" b="1" dirty="0" err="1"/>
              <a:t>ut</a:t>
            </a:r>
            <a:r>
              <a:rPr lang="zh-CN" altLang="zh-CN" b="1" dirty="0"/>
              <a:t>）</a:t>
            </a:r>
          </a:p>
          <a:p>
            <a:pPr marL="714375" lvl="1" indent="-369888">
              <a:lnSpc>
                <a:spcPct val="110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按照到达的顺序来释放元素</a:t>
            </a:r>
          </a:p>
          <a:p>
            <a:pPr marL="714375" lvl="1" indent="-369888">
              <a:lnSpc>
                <a:spcPct val="110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限制访问点的线性表 </a:t>
            </a:r>
          </a:p>
          <a:p>
            <a:pPr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所有的插入在表的</a:t>
            </a:r>
            <a:r>
              <a:rPr lang="zh-CN" altLang="zh-CN" sz="2400" dirty="0">
                <a:solidFill>
                  <a:srgbClr val="0000FF"/>
                </a:solidFill>
                <a:latin typeface="微软雅黑" panose="020B0503020204020204" pitchFamily="34" charset="-122"/>
                <a:ea typeface="微软雅黑" panose="020B0503020204020204" pitchFamily="34" charset="-122"/>
              </a:rPr>
              <a:t>一端</a:t>
            </a:r>
            <a:r>
              <a:rPr lang="zh-CN" altLang="zh-CN" sz="2400" dirty="0">
                <a:latin typeface="微软雅黑" panose="020B0503020204020204" pitchFamily="34" charset="-122"/>
                <a:ea typeface="微软雅黑" panose="020B0503020204020204" pitchFamily="34" charset="-122"/>
              </a:rPr>
              <a:t>进行，所有的删除都在表的</a:t>
            </a:r>
            <a:r>
              <a:rPr lang="zh-CN" altLang="zh-CN" sz="2400" dirty="0">
                <a:solidFill>
                  <a:srgbClr val="0000FF"/>
                </a:solidFill>
                <a:latin typeface="微软雅黑" panose="020B0503020204020204" pitchFamily="34" charset="-122"/>
                <a:ea typeface="微软雅黑" panose="020B0503020204020204" pitchFamily="34" charset="-122"/>
              </a:rPr>
              <a:t>另一端</a:t>
            </a:r>
            <a:r>
              <a:rPr lang="zh-CN" altLang="zh-CN" sz="2400" dirty="0">
                <a:latin typeface="微软雅黑" panose="020B0503020204020204" pitchFamily="34" charset="-122"/>
                <a:ea typeface="微软雅黑" panose="020B0503020204020204" pitchFamily="34" charset="-122"/>
              </a:rPr>
              <a:t>进行</a:t>
            </a:r>
            <a:endParaRPr lang="en-US" altLang="zh-CN" sz="2400" dirty="0">
              <a:latin typeface="微软雅黑" panose="020B0503020204020204" pitchFamily="34" charset="-122"/>
              <a:ea typeface="微软雅黑" panose="020B0503020204020204" pitchFamily="34" charset="-122"/>
            </a:endParaRPr>
          </a:p>
          <a:p>
            <a:pPr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特例： 空队列</a:t>
            </a:r>
          </a:p>
          <a:p>
            <a:pPr marL="341313" indent="-341313">
              <a:lnSpc>
                <a:spcPct val="110000"/>
              </a:lnSpc>
              <a:spcBef>
                <a:spcPts val="600"/>
              </a:spcBef>
            </a:pPr>
            <a:r>
              <a:rPr lang="zh-CN" altLang="zh-CN" b="1" dirty="0"/>
              <a:t>主要元素</a:t>
            </a:r>
          </a:p>
          <a:p>
            <a:pPr marL="714375" lvl="1" indent="-369888">
              <a:lnSpc>
                <a:spcPct val="110000"/>
              </a:lnSpc>
              <a:spcBef>
                <a:spcPts val="600"/>
              </a:spcBef>
              <a:buClr>
                <a:srgbClr val="CC3300"/>
              </a:buClr>
            </a:pPr>
            <a:r>
              <a:rPr lang="zh-CN" altLang="zh-CN" dirty="0">
                <a:solidFill>
                  <a:srgbClr val="0000FF"/>
                </a:solidFill>
                <a:latin typeface="微软雅黑" panose="020B0503020204020204" pitchFamily="34" charset="-122"/>
                <a:ea typeface="微软雅黑" panose="020B0503020204020204" pitchFamily="34" charset="-122"/>
              </a:rPr>
              <a:t>队头</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front</a:t>
            </a:r>
            <a:r>
              <a:rPr lang="zh-CN" altLang="zh-CN" dirty="0">
                <a:latin typeface="微软雅黑" panose="020B0503020204020204" pitchFamily="34" charset="-122"/>
                <a:ea typeface="微软雅黑" panose="020B0503020204020204" pitchFamily="34" charset="-122"/>
              </a:rPr>
              <a:t>）：允许</a:t>
            </a:r>
            <a:r>
              <a:rPr lang="zh-CN" altLang="zh-CN" dirty="0">
                <a:solidFill>
                  <a:srgbClr val="C00000"/>
                </a:solidFill>
                <a:latin typeface="微软雅黑" panose="020B0503020204020204" pitchFamily="34" charset="-122"/>
                <a:ea typeface="微软雅黑" panose="020B0503020204020204" pitchFamily="34" charset="-122"/>
              </a:rPr>
              <a:t>删除</a:t>
            </a:r>
            <a:r>
              <a:rPr lang="zh-CN" altLang="zh-CN" dirty="0">
                <a:latin typeface="微软雅黑" panose="020B0503020204020204" pitchFamily="34" charset="-122"/>
                <a:ea typeface="微软雅黑" panose="020B0503020204020204" pitchFamily="34" charset="-122"/>
              </a:rPr>
              <a:t>的一端</a:t>
            </a:r>
          </a:p>
          <a:p>
            <a:pPr marL="714375" lvl="1" indent="-369888">
              <a:lnSpc>
                <a:spcPct val="110000"/>
              </a:lnSpc>
              <a:spcBef>
                <a:spcPts val="600"/>
              </a:spcBef>
              <a:buClr>
                <a:srgbClr val="CC3300"/>
              </a:buClr>
            </a:pPr>
            <a:r>
              <a:rPr lang="zh-CN" altLang="zh-CN" dirty="0">
                <a:solidFill>
                  <a:srgbClr val="0000FF"/>
                </a:solidFill>
                <a:latin typeface="微软雅黑" panose="020B0503020204020204" pitchFamily="34" charset="-122"/>
                <a:ea typeface="微软雅黑" panose="020B0503020204020204" pitchFamily="34" charset="-122"/>
              </a:rPr>
              <a:t>队尾</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rear</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允许</a:t>
            </a:r>
            <a:r>
              <a:rPr lang="zh-CN" altLang="zh-CN" dirty="0">
                <a:solidFill>
                  <a:srgbClr val="C00000"/>
                </a:solidFill>
                <a:latin typeface="微软雅黑" panose="020B0503020204020204" pitchFamily="34" charset="-122"/>
                <a:ea typeface="微软雅黑" panose="020B0503020204020204" pitchFamily="34" charset="-122"/>
              </a:rPr>
              <a:t>插入</a:t>
            </a:r>
            <a:r>
              <a:rPr lang="zh-CN" altLang="zh-CN" dirty="0">
                <a:latin typeface="微软雅黑" panose="020B0503020204020204" pitchFamily="34" charset="-122"/>
                <a:ea typeface="微软雅黑" panose="020B0503020204020204" pitchFamily="34" charset="-122"/>
              </a:rPr>
              <a:t>的一端</a:t>
            </a:r>
          </a:p>
        </p:txBody>
      </p:sp>
      <p:sp>
        <p:nvSpPr>
          <p:cNvPr id="7" name="Line 3">
            <a:extLst>
              <a:ext uri="{FF2B5EF4-FFF2-40B4-BE49-F238E27FC236}">
                <a16:creationId xmlns:a16="http://schemas.microsoft.com/office/drawing/2014/main" id="{EDCDC3FC-DEF5-479F-BC3A-AADD5DBF2C9D}"/>
              </a:ext>
            </a:extLst>
          </p:cNvPr>
          <p:cNvSpPr>
            <a:spLocks noChangeShapeType="1"/>
          </p:cNvSpPr>
          <p:nvPr/>
        </p:nvSpPr>
        <p:spPr bwMode="auto">
          <a:xfrm>
            <a:off x="7653898" y="293211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4">
            <a:extLst>
              <a:ext uri="{FF2B5EF4-FFF2-40B4-BE49-F238E27FC236}">
                <a16:creationId xmlns:a16="http://schemas.microsoft.com/office/drawing/2014/main" id="{478F0855-D607-4A12-ABCB-BB1F9AF9FDAB}"/>
              </a:ext>
            </a:extLst>
          </p:cNvPr>
          <p:cNvSpPr>
            <a:spLocks noChangeShapeType="1"/>
          </p:cNvSpPr>
          <p:nvPr/>
        </p:nvSpPr>
        <p:spPr bwMode="auto">
          <a:xfrm>
            <a:off x="7658661" y="361791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5">
            <a:extLst>
              <a:ext uri="{FF2B5EF4-FFF2-40B4-BE49-F238E27FC236}">
                <a16:creationId xmlns:a16="http://schemas.microsoft.com/office/drawing/2014/main" id="{8D84D02C-A028-46C6-941E-7EBB613C8501}"/>
              </a:ext>
            </a:extLst>
          </p:cNvPr>
          <p:cNvSpPr txBox="1">
            <a:spLocks noChangeArrowheads="1"/>
          </p:cNvSpPr>
          <p:nvPr/>
        </p:nvSpPr>
        <p:spPr bwMode="auto">
          <a:xfrm>
            <a:off x="7509436" y="3921125"/>
            <a:ext cx="10461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front</a:t>
            </a:r>
            <a:endPar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10" name="Line 6">
            <a:extLst>
              <a:ext uri="{FF2B5EF4-FFF2-40B4-BE49-F238E27FC236}">
                <a16:creationId xmlns:a16="http://schemas.microsoft.com/office/drawing/2014/main" id="{8DAA13A8-A3FA-4DCC-9A2C-60679BD9ED9D}"/>
              </a:ext>
            </a:extLst>
          </p:cNvPr>
          <p:cNvSpPr>
            <a:spLocks noChangeShapeType="1"/>
          </p:cNvSpPr>
          <p:nvPr/>
        </p:nvSpPr>
        <p:spPr bwMode="auto">
          <a:xfrm flipV="1">
            <a:off x="7869798" y="3630613"/>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6121846A-9C7A-4CED-8F52-581E3A1D4FE4}"/>
              </a:ext>
            </a:extLst>
          </p:cNvPr>
          <p:cNvSpPr txBox="1">
            <a:spLocks noChangeArrowheads="1"/>
          </p:cNvSpPr>
          <p:nvPr/>
        </p:nvSpPr>
        <p:spPr bwMode="auto">
          <a:xfrm>
            <a:off x="9727173" y="3921125"/>
            <a:ext cx="9255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rear</a:t>
            </a:r>
            <a:endPar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12" name="Line 8">
            <a:extLst>
              <a:ext uri="{FF2B5EF4-FFF2-40B4-BE49-F238E27FC236}">
                <a16:creationId xmlns:a16="http://schemas.microsoft.com/office/drawing/2014/main" id="{D40CEB78-3F92-4AB5-8927-50EB3AF12E99}"/>
              </a:ext>
            </a:extLst>
          </p:cNvPr>
          <p:cNvSpPr>
            <a:spLocks noChangeShapeType="1"/>
          </p:cNvSpPr>
          <p:nvPr/>
        </p:nvSpPr>
        <p:spPr bwMode="auto">
          <a:xfrm flipV="1">
            <a:off x="10022448" y="3630613"/>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9">
            <a:extLst>
              <a:ext uri="{FF2B5EF4-FFF2-40B4-BE49-F238E27FC236}">
                <a16:creationId xmlns:a16="http://schemas.microsoft.com/office/drawing/2014/main" id="{AFEA1A3F-86A7-4EEC-8EF3-81F113309EC9}"/>
              </a:ext>
            </a:extLst>
          </p:cNvPr>
          <p:cNvSpPr txBox="1">
            <a:spLocks noChangeArrowheads="1"/>
          </p:cNvSpPr>
          <p:nvPr/>
        </p:nvSpPr>
        <p:spPr bwMode="auto">
          <a:xfrm>
            <a:off x="10739998" y="3019425"/>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rPr>
              <a:t>入队</a:t>
            </a:r>
          </a:p>
        </p:txBody>
      </p:sp>
      <p:sp>
        <p:nvSpPr>
          <p:cNvPr id="14" name="Line 10">
            <a:extLst>
              <a:ext uri="{FF2B5EF4-FFF2-40B4-BE49-F238E27FC236}">
                <a16:creationId xmlns:a16="http://schemas.microsoft.com/office/drawing/2014/main" id="{4E068B01-557F-45BE-80FE-67B928D10E77}"/>
              </a:ext>
            </a:extLst>
          </p:cNvPr>
          <p:cNvSpPr>
            <a:spLocks noChangeShapeType="1"/>
          </p:cNvSpPr>
          <p:nvPr/>
        </p:nvSpPr>
        <p:spPr bwMode="auto">
          <a:xfrm flipH="1">
            <a:off x="10724123" y="3498850"/>
            <a:ext cx="9302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1">
            <a:extLst>
              <a:ext uri="{FF2B5EF4-FFF2-40B4-BE49-F238E27FC236}">
                <a16:creationId xmlns:a16="http://schemas.microsoft.com/office/drawing/2014/main" id="{97530698-2959-4651-9243-CCAC5E81870F}"/>
              </a:ext>
            </a:extLst>
          </p:cNvPr>
          <p:cNvSpPr txBox="1">
            <a:spLocks noChangeArrowheads="1"/>
          </p:cNvSpPr>
          <p:nvPr/>
        </p:nvSpPr>
        <p:spPr bwMode="auto">
          <a:xfrm>
            <a:off x="6468036" y="3035300"/>
            <a:ext cx="858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rPr>
              <a:t>出队</a:t>
            </a:r>
          </a:p>
        </p:txBody>
      </p:sp>
      <p:sp>
        <p:nvSpPr>
          <p:cNvPr id="16" name="Line 12">
            <a:extLst>
              <a:ext uri="{FF2B5EF4-FFF2-40B4-BE49-F238E27FC236}">
                <a16:creationId xmlns:a16="http://schemas.microsoft.com/office/drawing/2014/main" id="{75CC8A45-2EE0-4602-8733-CE2CA8BACA90}"/>
              </a:ext>
            </a:extLst>
          </p:cNvPr>
          <p:cNvSpPr>
            <a:spLocks noChangeShapeType="1"/>
          </p:cNvSpPr>
          <p:nvPr/>
        </p:nvSpPr>
        <p:spPr bwMode="auto">
          <a:xfrm flipH="1">
            <a:off x="6336273" y="3498850"/>
            <a:ext cx="990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Text Box 13">
            <a:extLst>
              <a:ext uri="{FF2B5EF4-FFF2-40B4-BE49-F238E27FC236}">
                <a16:creationId xmlns:a16="http://schemas.microsoft.com/office/drawing/2014/main" id="{C743A414-4105-4D3A-8064-AF876C063366}"/>
              </a:ext>
            </a:extLst>
          </p:cNvPr>
          <p:cNvSpPr txBox="1">
            <a:spLocks noChangeArrowheads="1"/>
          </p:cNvSpPr>
          <p:nvPr/>
        </p:nvSpPr>
        <p:spPr bwMode="auto">
          <a:xfrm>
            <a:off x="7717398" y="3028950"/>
            <a:ext cx="3006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0</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1</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2</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n-1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6D92C94-8526-4BAB-A2C3-B60D75A5B508}"/>
              </a:ext>
            </a:extLst>
          </p:cNvPr>
          <p:cNvSpPr>
            <a:spLocks noGrp="1" noChangeArrowheads="1"/>
          </p:cNvSpPr>
          <p:nvPr>
            <p:ph type="title"/>
          </p:nvPr>
        </p:nvSpPr>
        <p:spPr/>
        <p:txBody>
          <a:bodyPr>
            <a:normAutofit/>
          </a:bodyPr>
          <a:lstStyle/>
          <a:p>
            <a:pPr eaLnBrk="1" hangingPunct="1">
              <a:spcBef>
                <a:spcPct val="50000"/>
              </a:spcBef>
              <a:defRPr/>
            </a:pPr>
            <a:r>
              <a:rPr kumimoji="0"/>
              <a:t>队列的主要操作</a:t>
            </a:r>
          </a:p>
        </p:txBody>
      </p:sp>
      <p:sp>
        <p:nvSpPr>
          <p:cNvPr id="2" name="副标题 1">
            <a:extLst>
              <a:ext uri="{FF2B5EF4-FFF2-40B4-BE49-F238E27FC236}">
                <a16:creationId xmlns:a16="http://schemas.microsoft.com/office/drawing/2014/main" id="{759442D9-842B-4EC9-A01D-E04D19D7839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61841FC-AD06-4115-8CE5-7D20458C646D}"/>
              </a:ext>
            </a:extLst>
          </p:cNvPr>
          <p:cNvSpPr>
            <a:spLocks noGrp="1"/>
          </p:cNvSpPr>
          <p:nvPr>
            <p:ph type="body" idx="10"/>
          </p:nvPr>
        </p:nvSpPr>
        <p:spPr/>
        <p:txBody>
          <a:bodyPr/>
          <a:lstStyle/>
          <a:p>
            <a:endParaRPr lang="zh-CN" altLang="en-US"/>
          </a:p>
        </p:txBody>
      </p:sp>
      <p:sp>
        <p:nvSpPr>
          <p:cNvPr id="47107" name="Rectangle 3">
            <a:extLst>
              <a:ext uri="{FF2B5EF4-FFF2-40B4-BE49-F238E27FC236}">
                <a16:creationId xmlns:a16="http://schemas.microsoft.com/office/drawing/2014/main" id="{9A0CCB47-333C-4147-AAC9-14C441BF711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t>入队（</a:t>
            </a:r>
            <a:r>
              <a:rPr lang="en-US" altLang="zh-CN" dirty="0" err="1"/>
              <a:t>enQueue</a:t>
            </a:r>
            <a:r>
              <a:rPr lang="zh-CN" altLang="zh-CN" dirty="0"/>
              <a:t>）（</a:t>
            </a:r>
            <a:r>
              <a:rPr lang="zh-CN" altLang="zh-CN" dirty="0">
                <a:solidFill>
                  <a:srgbClr val="0000FF"/>
                </a:solidFill>
              </a:rPr>
              <a:t>插入</a:t>
            </a:r>
            <a:r>
              <a:rPr lang="zh-CN" altLang="zh-CN" dirty="0"/>
              <a:t>）</a:t>
            </a:r>
          </a:p>
          <a:p>
            <a:pPr marL="341313" indent="-341313">
              <a:lnSpc>
                <a:spcPct val="110000"/>
              </a:lnSpc>
              <a:spcBef>
                <a:spcPts val="600"/>
              </a:spcBef>
            </a:pPr>
            <a:r>
              <a:rPr lang="zh-CN" altLang="zh-CN" dirty="0"/>
              <a:t>出队（</a:t>
            </a:r>
            <a:r>
              <a:rPr lang="en-US" altLang="zh-CN" dirty="0" err="1"/>
              <a:t>deQueue</a:t>
            </a:r>
            <a:r>
              <a:rPr lang="zh-CN" altLang="zh-CN" dirty="0"/>
              <a:t>）（</a:t>
            </a:r>
            <a:r>
              <a:rPr lang="zh-CN" altLang="zh-CN" dirty="0">
                <a:solidFill>
                  <a:srgbClr val="0000FF"/>
                </a:solidFill>
              </a:rPr>
              <a:t>删除</a:t>
            </a:r>
            <a:r>
              <a:rPr lang="zh-CN" altLang="zh-CN" dirty="0"/>
              <a:t>）</a:t>
            </a:r>
          </a:p>
          <a:p>
            <a:pPr marL="341313" indent="-341313">
              <a:lnSpc>
                <a:spcPct val="110000"/>
              </a:lnSpc>
              <a:spcBef>
                <a:spcPts val="600"/>
              </a:spcBef>
            </a:pPr>
            <a:r>
              <a:rPr lang="zh-CN" altLang="zh-CN" dirty="0"/>
              <a:t>取队首（</a:t>
            </a:r>
            <a:r>
              <a:rPr lang="en-US" altLang="zh-CN" dirty="0" err="1"/>
              <a:t>getFront</a:t>
            </a:r>
            <a:r>
              <a:rPr lang="zh-CN" altLang="zh-CN" dirty="0"/>
              <a:t>）</a:t>
            </a:r>
          </a:p>
          <a:p>
            <a:pPr marL="341313" indent="-341313">
              <a:lnSpc>
                <a:spcPct val="110000"/>
              </a:lnSpc>
              <a:spcBef>
                <a:spcPts val="600"/>
              </a:spcBef>
            </a:pPr>
            <a:r>
              <a:rPr lang="zh-CN" altLang="zh-CN" dirty="0"/>
              <a:t>判断队列是否为空（</a:t>
            </a:r>
            <a:r>
              <a:rPr lang="en-US" altLang="zh-CN" dirty="0" err="1"/>
              <a:t>isEmpty</a:t>
            </a:r>
            <a:r>
              <a:rPr lang="zh-CN" altLang="zh-CN" dirty="0"/>
              <a:t>）</a:t>
            </a:r>
          </a:p>
          <a:p>
            <a:pPr marL="341313" indent="-341313">
              <a:lnSpc>
                <a:spcPct val="105000"/>
              </a:lnSpc>
            </a:pPr>
            <a:endParaRPr lang="en-US" altLang="zh-CN"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7779891-AF75-4032-8CFE-3D9AB8FF1D1B}"/>
              </a:ext>
            </a:extLst>
          </p:cNvPr>
          <p:cNvSpPr>
            <a:spLocks noGrp="1" noChangeArrowheads="1"/>
          </p:cNvSpPr>
          <p:nvPr>
            <p:ph type="title"/>
          </p:nvPr>
        </p:nvSpPr>
        <p:spPr/>
        <p:txBody>
          <a:bodyPr>
            <a:normAutofit/>
          </a:bodyPr>
          <a:lstStyle/>
          <a:p>
            <a:pPr eaLnBrk="1" hangingPunct="1">
              <a:spcBef>
                <a:spcPct val="50000"/>
              </a:spcBef>
              <a:defRPr/>
            </a:pPr>
            <a:r>
              <a:rPr kumimoji="0"/>
              <a:t>队列的抽象数据类型</a:t>
            </a:r>
          </a:p>
        </p:txBody>
      </p:sp>
      <p:sp>
        <p:nvSpPr>
          <p:cNvPr id="2" name="副标题 1">
            <a:extLst>
              <a:ext uri="{FF2B5EF4-FFF2-40B4-BE49-F238E27FC236}">
                <a16:creationId xmlns:a16="http://schemas.microsoft.com/office/drawing/2014/main" id="{7BF8307F-4DB5-4915-A68F-0E63F9CCBFF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D4E64060-8DB6-4059-B0D8-F151049D4B80}"/>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BE8DDBAF-2435-4008-A3E7-F73CB30C5537}"/>
              </a:ext>
            </a:extLst>
          </p:cNvPr>
          <p:cNvSpPr>
            <a:spLocks noGrp="1" noChangeArrowheads="1"/>
          </p:cNvSpPr>
          <p:nvPr>
            <p:ph idx="11"/>
          </p:nvPr>
        </p:nvSpPr>
        <p:spPr bwMode="auto">
          <a:xfrm>
            <a:off x="584225" y="1219914"/>
            <a:ext cx="1118195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：队列的抽象数据类型定义</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ADT Queue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数据对象：</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&gt; 0 }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或</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Φ</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，即空表；</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为元素集合。</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数据关系：</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+1&gt;|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=0,1,…</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基本操作：</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nitQueue</a:t>
            </a: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初始化一个空的队列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estroyQueue(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释放队列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占用的所有空间。</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Clear</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清空队列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sEmpty(</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为空返回真，否则返回假。</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Is</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Full(</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满返回真，否则返回假。</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GetFront(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返回队列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的队首结点，队首结点不变。</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将结点</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插入队列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，使其成为新的队尾。</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将队首结点从队列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删除。</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11" name="直接连接符 10">
            <a:extLst>
              <a:ext uri="{FF2B5EF4-FFF2-40B4-BE49-F238E27FC236}">
                <a16:creationId xmlns:a16="http://schemas.microsoft.com/office/drawing/2014/main" id="{6FFF678C-6C94-458C-A5DE-881914644019}"/>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A553C9E3-9448-42FC-9FEA-93051DBC742B}"/>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CB5F28D-AAC7-4C40-A26F-B6B6C6B02487}"/>
              </a:ext>
            </a:extLst>
          </p:cNvPr>
          <p:cNvSpPr>
            <a:spLocks noGrp="1" noChangeArrowheads="1"/>
          </p:cNvSpPr>
          <p:nvPr>
            <p:ph type="title"/>
          </p:nvPr>
        </p:nvSpPr>
        <p:spPr/>
        <p:txBody>
          <a:bodyPr>
            <a:normAutofit/>
          </a:bodyPr>
          <a:lstStyle/>
          <a:p>
            <a:pPr eaLnBrk="1" hangingPunct="1">
              <a:spcBef>
                <a:spcPct val="50000"/>
              </a:spcBef>
              <a:defRPr/>
            </a:pPr>
            <a:r>
              <a:rPr kumimoji="0" sz="2800" dirty="0" err="1"/>
              <a:t>队列的实现方式</a:t>
            </a:r>
            <a:endParaRPr kumimoji="0" sz="2800" dirty="0"/>
          </a:p>
        </p:txBody>
      </p:sp>
      <p:sp>
        <p:nvSpPr>
          <p:cNvPr id="2" name="副标题 1">
            <a:extLst>
              <a:ext uri="{FF2B5EF4-FFF2-40B4-BE49-F238E27FC236}">
                <a16:creationId xmlns:a16="http://schemas.microsoft.com/office/drawing/2014/main" id="{81FF720A-1B59-4751-B174-F1FEA6E4325B}"/>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83553E8-B090-40D3-9716-364FC3A67D18}"/>
              </a:ext>
            </a:extLst>
          </p:cNvPr>
          <p:cNvSpPr>
            <a:spLocks noGrp="1"/>
          </p:cNvSpPr>
          <p:nvPr>
            <p:ph type="body" idx="10"/>
          </p:nvPr>
        </p:nvSpPr>
        <p:spPr/>
        <p:txBody>
          <a:bodyPr/>
          <a:lstStyle/>
          <a:p>
            <a:endParaRPr lang="zh-CN" altLang="en-US"/>
          </a:p>
        </p:txBody>
      </p:sp>
      <p:sp>
        <p:nvSpPr>
          <p:cNvPr id="38915" name="Rectangle 3">
            <a:extLst>
              <a:ext uri="{FF2B5EF4-FFF2-40B4-BE49-F238E27FC236}">
                <a16:creationId xmlns:a16="http://schemas.microsoft.com/office/drawing/2014/main" id="{FDF7B569-91F9-42B7-B166-4290CCEC41F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顺序队列</a:t>
            </a:r>
          </a:p>
          <a:p>
            <a:pPr marL="714375" lvl="1" indent="-369888">
              <a:lnSpc>
                <a:spcPct val="105000"/>
              </a:lnSpc>
              <a:buClr>
                <a:srgbClr val="CC3300"/>
              </a:buClr>
            </a:pPr>
            <a:r>
              <a:rPr lang="zh-CN" altLang="zh-CN" dirty="0">
                <a:solidFill>
                  <a:srgbClr val="0000FF"/>
                </a:solidFill>
                <a:latin typeface="Microsoft YaHei Light" panose="020B0502040204020203" pitchFamily="34" charset="-122"/>
                <a:ea typeface="Microsoft YaHei Light" panose="020B0502040204020203" pitchFamily="34" charset="-122"/>
              </a:rPr>
              <a:t>关键</a:t>
            </a:r>
            <a:r>
              <a:rPr lang="zh-CN" altLang="zh-CN" dirty="0">
                <a:latin typeface="Microsoft YaHei Light" panose="020B0502040204020203" pitchFamily="34" charset="-122"/>
                <a:ea typeface="Microsoft YaHei Light" panose="020B0502040204020203" pitchFamily="34" charset="-122"/>
              </a:rPr>
              <a:t>： 如何防止 </a:t>
            </a:r>
            <a:r>
              <a:rPr lang="zh-CN" altLang="zh-CN" b="1" dirty="0">
                <a:solidFill>
                  <a:srgbClr val="C00000"/>
                </a:solidFill>
                <a:latin typeface="Microsoft YaHei Light" panose="020B0502040204020203" pitchFamily="34" charset="-122"/>
                <a:ea typeface="Microsoft YaHei Light" panose="020B0502040204020203" pitchFamily="34" charset="-122"/>
              </a:rPr>
              <a:t>假溢出</a:t>
            </a:r>
          </a:p>
          <a:p>
            <a:pPr marL="341313" indent="-341313">
              <a:lnSpc>
                <a:spcPct val="105000"/>
              </a:lnSpc>
            </a:pPr>
            <a:endParaRPr lang="en-US" altLang="zh-CN" sz="1600" b="1" dirty="0">
              <a:latin typeface="Microsoft YaHei Light" panose="020B0502040204020203" pitchFamily="34" charset="-122"/>
              <a:ea typeface="Microsoft YaHei Light" panose="020B0502040204020203" pitchFamily="34" charset="-122"/>
            </a:endParaRPr>
          </a:p>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链式队列</a:t>
            </a:r>
          </a:p>
          <a:p>
            <a:pPr marL="714375" lvl="1" indent="-369888">
              <a:lnSpc>
                <a:spcPct val="105000"/>
              </a:lnSpc>
              <a:buClr>
                <a:srgbClr val="CC3300"/>
              </a:buClr>
            </a:pPr>
            <a:r>
              <a:rPr lang="zh-CN" altLang="en-US" dirty="0">
                <a:latin typeface="Microsoft YaHei Light" panose="020B0502040204020203" pitchFamily="34" charset="-122"/>
                <a:ea typeface="Microsoft YaHei Light" panose="020B0502040204020203" pitchFamily="34" charset="-122"/>
              </a:rPr>
              <a:t>采用</a:t>
            </a:r>
            <a:r>
              <a:rPr lang="zh-CN" altLang="zh-CN" dirty="0">
                <a:solidFill>
                  <a:srgbClr val="0000FF"/>
                </a:solidFill>
                <a:latin typeface="Microsoft YaHei Light" panose="020B0502040204020203" pitchFamily="34" charset="-122"/>
                <a:ea typeface="Microsoft YaHei Light" panose="020B0502040204020203" pitchFamily="34" charset="-122"/>
              </a:rPr>
              <a:t>单链表</a:t>
            </a:r>
            <a:r>
              <a:rPr lang="zh-CN" altLang="zh-CN" dirty="0">
                <a:latin typeface="Microsoft YaHei Light" panose="020B0502040204020203" pitchFamily="34" charset="-122"/>
                <a:ea typeface="Microsoft YaHei Light" panose="020B0502040204020203" pitchFamily="34" charset="-122"/>
              </a:rPr>
              <a:t>方式存储，每个元素</a:t>
            </a:r>
            <a:r>
              <a:rPr lang="zh-CN" altLang="en-US" dirty="0">
                <a:latin typeface="Microsoft YaHei Light" panose="020B0502040204020203" pitchFamily="34" charset="-122"/>
                <a:ea typeface="Microsoft YaHei Light" panose="020B0502040204020203" pitchFamily="34" charset="-122"/>
              </a:rPr>
              <a:t>对应</a:t>
            </a:r>
            <a:r>
              <a:rPr lang="zh-CN" altLang="zh-CN" dirty="0">
                <a:latin typeface="Microsoft YaHei Light" panose="020B0502040204020203" pitchFamily="34" charset="-122"/>
                <a:ea typeface="Microsoft YaHei Light" panose="020B0502040204020203" pitchFamily="34" charset="-122"/>
              </a:rPr>
              <a:t>链表中一个结点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454832D0-A67E-47C6-8E84-998874723BB5}"/>
              </a:ext>
            </a:extLst>
          </p:cNvPr>
          <p:cNvSpPr>
            <a:spLocks noGrp="1" noChangeArrowheads="1"/>
          </p:cNvSpPr>
          <p:nvPr>
            <p:ph type="title"/>
          </p:nvPr>
        </p:nvSpPr>
        <p:spPr/>
        <p:txBody>
          <a:bodyPr>
            <a:normAutofit/>
          </a:bodyPr>
          <a:lstStyle/>
          <a:p>
            <a:pPr eaLnBrk="1" hangingPunct="1">
              <a:spcBef>
                <a:spcPct val="50000"/>
              </a:spcBef>
              <a:defRPr/>
            </a:pPr>
            <a:r>
              <a:rPr kumimoji="0"/>
              <a:t>队列的溢出</a:t>
            </a:r>
          </a:p>
        </p:txBody>
      </p:sp>
      <p:sp>
        <p:nvSpPr>
          <p:cNvPr id="2" name="副标题 1">
            <a:extLst>
              <a:ext uri="{FF2B5EF4-FFF2-40B4-BE49-F238E27FC236}">
                <a16:creationId xmlns:a16="http://schemas.microsoft.com/office/drawing/2014/main" id="{C9CD9BD7-607D-40CE-BD17-DE799D55871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304E578-12BE-423C-8AEE-E7ED04C306E0}"/>
              </a:ext>
            </a:extLst>
          </p:cNvPr>
          <p:cNvSpPr>
            <a:spLocks noGrp="1"/>
          </p:cNvSpPr>
          <p:nvPr>
            <p:ph type="body" idx="10"/>
          </p:nvPr>
        </p:nvSpPr>
        <p:spPr/>
        <p:txBody>
          <a:bodyPr/>
          <a:lstStyle/>
          <a:p>
            <a:endParaRPr lang="zh-CN" altLang="en-US"/>
          </a:p>
        </p:txBody>
      </p:sp>
      <p:sp>
        <p:nvSpPr>
          <p:cNvPr id="39939" name="Rectangle 3">
            <a:extLst>
              <a:ext uri="{FF2B5EF4-FFF2-40B4-BE49-F238E27FC236}">
                <a16:creationId xmlns:a16="http://schemas.microsoft.com/office/drawing/2014/main" id="{60F50EFD-1CA8-4A46-92AF-C0A0AB9D18B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上溢</a:t>
            </a:r>
          </a:p>
          <a:p>
            <a:pPr marL="714375" lvl="1" indent="-369888">
              <a:lnSpc>
                <a:spcPct val="105000"/>
              </a:lnSpc>
              <a:buClr>
                <a:srgbClr val="CC3300"/>
              </a:buClr>
            </a:pPr>
            <a:r>
              <a:rPr lang="zh-CN" altLang="zh-CN" dirty="0">
                <a:latin typeface="Microsoft YaHei Light" panose="020B0502040204020203" pitchFamily="34" charset="-122"/>
                <a:ea typeface="Microsoft YaHei Light" panose="020B0502040204020203" pitchFamily="34" charset="-122"/>
              </a:rPr>
              <a:t>当队列</a:t>
            </a:r>
            <a:r>
              <a:rPr lang="zh-CN" altLang="zh-CN" dirty="0">
                <a:solidFill>
                  <a:srgbClr val="C00000"/>
                </a:solidFill>
                <a:latin typeface="Microsoft YaHei Light" panose="020B0502040204020203" pitchFamily="34" charset="-122"/>
                <a:ea typeface="Microsoft YaHei Light" panose="020B0502040204020203" pitchFamily="34" charset="-122"/>
              </a:rPr>
              <a:t>满</a:t>
            </a:r>
            <a:r>
              <a:rPr lang="zh-CN" altLang="zh-CN" dirty="0">
                <a:latin typeface="Microsoft YaHei Light" panose="020B0502040204020203" pitchFamily="34" charset="-122"/>
                <a:ea typeface="Microsoft YaHei Light" panose="020B0502040204020203" pitchFamily="34" charset="-122"/>
              </a:rPr>
              <a:t>时，</a:t>
            </a:r>
            <a:r>
              <a:rPr lang="zh-CN" altLang="zh-CN" dirty="0">
                <a:solidFill>
                  <a:srgbClr val="0000FF"/>
                </a:solidFill>
                <a:latin typeface="Microsoft YaHei Light" panose="020B0502040204020203" pitchFamily="34" charset="-122"/>
                <a:ea typeface="Microsoft YaHei Light" panose="020B0502040204020203" pitchFamily="34" charset="-122"/>
              </a:rPr>
              <a:t>入队</a:t>
            </a:r>
            <a:r>
              <a:rPr lang="zh-CN" altLang="zh-CN" dirty="0">
                <a:latin typeface="Microsoft YaHei Light" panose="020B0502040204020203" pitchFamily="34" charset="-122"/>
                <a:ea typeface="Microsoft YaHei Light" panose="020B0502040204020203" pitchFamily="34" charset="-122"/>
              </a:rPr>
              <a:t>操作所出现的现象</a:t>
            </a:r>
            <a:endParaRPr lang="zh-CN" altLang="zh-CN" sz="2800" dirty="0">
              <a:latin typeface="Microsoft YaHei Light" panose="020B0502040204020203" pitchFamily="34" charset="-122"/>
              <a:ea typeface="Microsoft YaHei Light" panose="020B0502040204020203" pitchFamily="34" charset="-122"/>
            </a:endParaRPr>
          </a:p>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下溢</a:t>
            </a:r>
          </a:p>
          <a:p>
            <a:pPr marL="714375" lvl="1" indent="-369888">
              <a:lnSpc>
                <a:spcPct val="105000"/>
              </a:lnSpc>
              <a:buClr>
                <a:srgbClr val="CC3300"/>
              </a:buClr>
            </a:pPr>
            <a:r>
              <a:rPr lang="zh-CN" altLang="zh-CN" dirty="0">
                <a:latin typeface="Microsoft YaHei Light" panose="020B0502040204020203" pitchFamily="34" charset="-122"/>
                <a:ea typeface="Microsoft YaHei Light" panose="020B0502040204020203" pitchFamily="34" charset="-122"/>
              </a:rPr>
              <a:t>当队列</a:t>
            </a:r>
            <a:r>
              <a:rPr lang="zh-CN" altLang="zh-CN" dirty="0">
                <a:solidFill>
                  <a:srgbClr val="C00000"/>
                </a:solidFill>
                <a:latin typeface="Microsoft YaHei Light" panose="020B0502040204020203" pitchFamily="34" charset="-122"/>
                <a:ea typeface="Microsoft YaHei Light" panose="020B0502040204020203" pitchFamily="34" charset="-122"/>
              </a:rPr>
              <a:t>空</a:t>
            </a:r>
            <a:r>
              <a:rPr lang="zh-CN" altLang="zh-CN" dirty="0">
                <a:latin typeface="Microsoft YaHei Light" panose="020B0502040204020203" pitchFamily="34" charset="-122"/>
                <a:ea typeface="Microsoft YaHei Light" panose="020B0502040204020203" pitchFamily="34" charset="-122"/>
              </a:rPr>
              <a:t>时，</a:t>
            </a:r>
            <a:r>
              <a:rPr lang="zh-CN" altLang="zh-CN" dirty="0">
                <a:solidFill>
                  <a:srgbClr val="0000FF"/>
                </a:solidFill>
                <a:latin typeface="Microsoft YaHei Light" panose="020B0502040204020203" pitchFamily="34" charset="-122"/>
                <a:ea typeface="Microsoft YaHei Light" panose="020B0502040204020203" pitchFamily="34" charset="-122"/>
              </a:rPr>
              <a:t>出队</a:t>
            </a:r>
            <a:r>
              <a:rPr lang="zh-CN" altLang="zh-CN" dirty="0">
                <a:latin typeface="Microsoft YaHei Light" panose="020B0502040204020203" pitchFamily="34" charset="-122"/>
                <a:ea typeface="Microsoft YaHei Light" panose="020B0502040204020203" pitchFamily="34" charset="-122"/>
              </a:rPr>
              <a:t>操作所出现的现象</a:t>
            </a:r>
          </a:p>
          <a:p>
            <a:pPr marL="341313" indent="-341313">
              <a:lnSpc>
                <a:spcPct val="105000"/>
              </a:lnSpc>
            </a:pPr>
            <a:r>
              <a:rPr lang="zh-CN" altLang="zh-CN" b="1" dirty="0">
                <a:solidFill>
                  <a:srgbClr val="C00000"/>
                </a:solidFill>
                <a:latin typeface="Microsoft YaHei Light" panose="020B0502040204020203" pitchFamily="34" charset="-122"/>
                <a:ea typeface="Microsoft YaHei Light" panose="020B0502040204020203" pitchFamily="34" charset="-122"/>
              </a:rPr>
              <a:t>假溢出</a:t>
            </a:r>
          </a:p>
          <a:p>
            <a:pPr marL="714375" lvl="1" indent="-369888">
              <a:lnSpc>
                <a:spcPct val="105000"/>
              </a:lnSpc>
              <a:buClr>
                <a:srgbClr val="CC3300"/>
              </a:buClr>
            </a:pPr>
            <a:r>
              <a:rPr lang="zh-CN" altLang="zh-CN" dirty="0">
                <a:solidFill>
                  <a:srgbClr val="7030A0"/>
                </a:solidFill>
                <a:latin typeface="Microsoft YaHei Light" panose="020B0502040204020203" pitchFamily="34" charset="-122"/>
                <a:ea typeface="Microsoft YaHei Light" panose="020B0502040204020203" pitchFamily="34" charset="-122"/>
              </a:rPr>
              <a:t>顺序队列</a:t>
            </a:r>
            <a:r>
              <a:rPr lang="zh-CN" altLang="zh-CN" dirty="0">
                <a:latin typeface="Microsoft YaHei Light" panose="020B0502040204020203" pitchFamily="34" charset="-122"/>
                <a:ea typeface="Microsoft YaHei Light" panose="020B0502040204020203" pitchFamily="34" charset="-122"/>
              </a:rPr>
              <a:t>可能出现的一种现象：当队尾指针达到最大值（</a:t>
            </a:r>
            <a:r>
              <a:rPr lang="en-US" altLang="zh-CN" dirty="0">
                <a:latin typeface="Microsoft YaHei Light" panose="020B0502040204020203" pitchFamily="34" charset="-122"/>
                <a:ea typeface="Microsoft YaHei Light" panose="020B0502040204020203" pitchFamily="34" charset="-122"/>
              </a:rPr>
              <a:t>rear = </a:t>
            </a:r>
            <a:r>
              <a:rPr lang="en-US" altLang="zh-CN" dirty="0" err="1">
                <a:latin typeface="Microsoft YaHei Light" panose="020B0502040204020203" pitchFamily="34" charset="-122"/>
                <a:ea typeface="Microsoft YaHei Light" panose="020B0502040204020203" pitchFamily="34" charset="-122"/>
              </a:rPr>
              <a:t>mSize</a:t>
            </a:r>
            <a:r>
              <a:rPr lang="zh-CN" altLang="zh-CN" dirty="0">
                <a:latin typeface="Microsoft YaHei Light" panose="020B0502040204020203" pitchFamily="34" charset="-122"/>
                <a:ea typeface="Microsoft YaHei Light" panose="020B0502040204020203" pitchFamily="34" charset="-122"/>
              </a:rPr>
              <a:t>）时，再</a:t>
            </a:r>
            <a:r>
              <a:rPr lang="zh-CN" altLang="en-US" dirty="0">
                <a:latin typeface="Microsoft YaHei Light" panose="020B0502040204020203" pitchFamily="34" charset="-122"/>
                <a:ea typeface="Microsoft YaHei Light" panose="020B0502040204020203" pitchFamily="34" charset="-122"/>
              </a:rPr>
              <a:t>做</a:t>
            </a:r>
            <a:r>
              <a:rPr lang="zh-CN" altLang="zh-CN" dirty="0">
                <a:solidFill>
                  <a:srgbClr val="0000FF"/>
                </a:solidFill>
                <a:latin typeface="Microsoft YaHei Light" panose="020B0502040204020203" pitchFamily="34" charset="-122"/>
                <a:ea typeface="Microsoft YaHei Light" panose="020B0502040204020203" pitchFamily="34" charset="-122"/>
              </a:rPr>
              <a:t>入队</a:t>
            </a:r>
            <a:r>
              <a:rPr lang="zh-CN" altLang="zh-CN" dirty="0">
                <a:latin typeface="Microsoft YaHei Light" panose="020B0502040204020203" pitchFamily="34" charset="-122"/>
                <a:ea typeface="Microsoft YaHei Light" panose="020B0502040204020203" pitchFamily="34" charset="-122"/>
              </a:rPr>
              <a:t>运算产生溢出，但此时队列前端</a:t>
            </a:r>
            <a:r>
              <a:rPr lang="zh-CN" altLang="en-US" dirty="0">
                <a:latin typeface="Microsoft YaHei Light" panose="020B0502040204020203" pitchFamily="34" charset="-122"/>
                <a:ea typeface="Microsoft YaHei Light" panose="020B0502040204020203" pitchFamily="34" charset="-122"/>
              </a:rPr>
              <a:t>可能</a:t>
            </a:r>
            <a:r>
              <a:rPr lang="zh-CN" altLang="zh-CN" dirty="0">
                <a:latin typeface="Microsoft YaHei Light" panose="020B0502040204020203" pitchFamily="34" charset="-122"/>
                <a:ea typeface="Microsoft YaHei Light" panose="020B0502040204020203" pitchFamily="34" charset="-122"/>
              </a:rPr>
              <a:t>尚有</a:t>
            </a:r>
            <a:r>
              <a:rPr lang="zh-CN" altLang="en-US" dirty="0">
                <a:latin typeface="Microsoft YaHei Light" panose="020B0502040204020203" pitchFamily="34" charset="-122"/>
                <a:ea typeface="Microsoft YaHei Light" panose="020B0502040204020203" pitchFamily="34" charset="-122"/>
              </a:rPr>
              <a:t>空闲</a:t>
            </a:r>
            <a:r>
              <a:rPr lang="zh-CN" altLang="zh-CN" dirty="0">
                <a:latin typeface="Microsoft YaHei Light" panose="020B0502040204020203" pitchFamily="34" charset="-122"/>
                <a:ea typeface="Microsoft YaHei Light" panose="020B0502040204020203" pitchFamily="34" charset="-122"/>
              </a:rPr>
              <a:t>位置</a:t>
            </a:r>
            <a:endParaRPr lang="en-US" altLang="zh-CN"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4B5D8D30-70D8-49FC-9280-BD796F6D7574}"/>
              </a:ext>
            </a:extLst>
          </p:cNvPr>
          <p:cNvSpPr>
            <a:spLocks noGrp="1" noChangeArrowheads="1"/>
          </p:cNvSpPr>
          <p:nvPr>
            <p:ph type="title"/>
          </p:nvPr>
        </p:nvSpPr>
        <p:spPr/>
        <p:txBody>
          <a:bodyPr>
            <a:normAutofit/>
          </a:bodyPr>
          <a:lstStyle/>
          <a:p>
            <a:pPr eaLnBrk="1" hangingPunct="1">
              <a:spcBef>
                <a:spcPct val="50000"/>
              </a:spcBef>
              <a:defRPr/>
            </a:pPr>
            <a:r>
              <a:rPr kumimoji="0"/>
              <a:t>顺序队列 </a:t>
            </a:r>
          </a:p>
        </p:txBody>
      </p:sp>
      <p:sp>
        <p:nvSpPr>
          <p:cNvPr id="2" name="副标题 1">
            <a:extLst>
              <a:ext uri="{FF2B5EF4-FFF2-40B4-BE49-F238E27FC236}">
                <a16:creationId xmlns:a16="http://schemas.microsoft.com/office/drawing/2014/main" id="{140E0EF8-E763-4BF0-AE11-987BCCE32858}"/>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6C61D1E-D339-4634-BD4F-37C4F44EE7B7}"/>
              </a:ext>
            </a:extLst>
          </p:cNvPr>
          <p:cNvSpPr>
            <a:spLocks noGrp="1"/>
          </p:cNvSpPr>
          <p:nvPr>
            <p:ph type="body" idx="10"/>
          </p:nvPr>
        </p:nvSpPr>
        <p:spPr/>
        <p:txBody>
          <a:bodyPr/>
          <a:lstStyle/>
          <a:p>
            <a:endParaRPr lang="zh-CN" altLang="en-US"/>
          </a:p>
        </p:txBody>
      </p:sp>
      <p:sp>
        <p:nvSpPr>
          <p:cNvPr id="51203" name="Rectangle 3">
            <a:extLst>
              <a:ext uri="{FF2B5EF4-FFF2-40B4-BE49-F238E27FC236}">
                <a16:creationId xmlns:a16="http://schemas.microsoft.com/office/drawing/2014/main" id="{A303204F-64E8-475D-802E-8DD31A2197F0}"/>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dirty="0">
                <a:latin typeface="微软雅黑" panose="020B0503020204020204" pitchFamily="34" charset="-122"/>
              </a:rPr>
              <a:t>使用</a:t>
            </a:r>
            <a:r>
              <a:rPr lang="zh-CN" altLang="zh-CN" dirty="0">
                <a:solidFill>
                  <a:srgbClr val="0000FF"/>
                </a:solidFill>
                <a:latin typeface="微软雅黑" panose="020B0503020204020204" pitchFamily="34" charset="-122"/>
              </a:rPr>
              <a:t>顺序表</a:t>
            </a:r>
            <a:r>
              <a:rPr lang="zh-CN" altLang="zh-CN" dirty="0">
                <a:latin typeface="微软雅黑" panose="020B0503020204020204" pitchFamily="34" charset="-122"/>
              </a:rPr>
              <a:t>来实现队列</a:t>
            </a:r>
          </a:p>
          <a:p>
            <a:pPr marL="674688" lvl="1" indent="-341313">
              <a:lnSpc>
                <a:spcPct val="105000"/>
              </a:lnSpc>
            </a:pPr>
            <a:r>
              <a:rPr lang="zh-CN" altLang="zh-CN" dirty="0">
                <a:latin typeface="Microsoft YaHei Light" panose="020B0502040204020203" pitchFamily="34" charset="-122"/>
                <a:ea typeface="Microsoft YaHei Light" panose="020B0502040204020203" pitchFamily="34" charset="-122"/>
              </a:rPr>
              <a:t>用数组存储队列元素，用两个变量分别指向队列的</a:t>
            </a:r>
            <a:r>
              <a:rPr lang="zh-CN" altLang="zh-CN" dirty="0">
                <a:solidFill>
                  <a:srgbClr val="0000FF"/>
                </a:solidFill>
                <a:latin typeface="Microsoft YaHei Light" panose="020B0502040204020203" pitchFamily="34" charset="-122"/>
                <a:ea typeface="Microsoft YaHei Light" panose="020B0502040204020203" pitchFamily="34" charset="-122"/>
              </a:rPr>
              <a:t>队头</a:t>
            </a:r>
            <a:r>
              <a:rPr lang="zh-CN" altLang="zh-CN" dirty="0">
                <a:latin typeface="Microsoft YaHei Light" panose="020B0502040204020203" pitchFamily="34" charset="-122"/>
                <a:ea typeface="Microsoft YaHei Light" panose="020B0502040204020203" pitchFamily="34" charset="-122"/>
              </a:rPr>
              <a:t>（前端）和</a:t>
            </a:r>
            <a:r>
              <a:rPr lang="zh-CN" altLang="zh-CN" dirty="0">
                <a:solidFill>
                  <a:srgbClr val="0000FF"/>
                </a:solidFill>
                <a:latin typeface="Microsoft YaHei Light" panose="020B0502040204020203" pitchFamily="34" charset="-122"/>
                <a:ea typeface="Microsoft YaHei Light" panose="020B0502040204020203" pitchFamily="34" charset="-122"/>
              </a:rPr>
              <a:t>队尾</a:t>
            </a:r>
            <a:r>
              <a:rPr lang="zh-CN" altLang="zh-CN" dirty="0">
                <a:latin typeface="Microsoft YaHei Light" panose="020B0502040204020203" pitchFamily="34" charset="-122"/>
                <a:ea typeface="Microsoft YaHei Light" panose="020B0502040204020203" pitchFamily="34" charset="-122"/>
              </a:rPr>
              <a:t>（尾端） </a:t>
            </a:r>
            <a:endParaRPr lang="en-US" altLang="zh-CN" dirty="0">
              <a:latin typeface="Microsoft YaHei Light" panose="020B0502040204020203" pitchFamily="34" charset="-122"/>
              <a:ea typeface="Microsoft YaHei Light" panose="020B0502040204020203" pitchFamily="34" charset="-122"/>
            </a:endParaRPr>
          </a:p>
          <a:p>
            <a:pPr lvl="2">
              <a:lnSpc>
                <a:spcPct val="105000"/>
              </a:lnSpc>
              <a:buSzPct val="100000"/>
              <a:buFont typeface="Arial" panose="020B0604020202020204" pitchFamily="34" charset="0"/>
              <a:buChar char="•"/>
              <a:tabLst/>
            </a:pPr>
            <a:r>
              <a:rPr lang="en-US" altLang="zh-CN" sz="2400" dirty="0" err="1">
                <a:latin typeface="Microsoft YaHei Light" panose="020B0502040204020203" pitchFamily="34" charset="-122"/>
                <a:ea typeface="Microsoft YaHei Light" panose="020B0502040204020203" pitchFamily="34" charset="-122"/>
              </a:rPr>
              <a:t>Q.front</a:t>
            </a:r>
            <a:endParaRPr lang="en-US" altLang="zh-CN" sz="2400" dirty="0">
              <a:latin typeface="Microsoft YaHei Light" panose="020B0502040204020203" pitchFamily="34" charset="-122"/>
              <a:ea typeface="Microsoft YaHei Light" panose="020B0502040204020203" pitchFamily="34" charset="-122"/>
            </a:endParaRPr>
          </a:p>
          <a:p>
            <a:pPr lvl="2">
              <a:lnSpc>
                <a:spcPct val="105000"/>
              </a:lnSpc>
              <a:buSzPct val="100000"/>
              <a:buFont typeface="Arial" panose="020B0604020202020204" pitchFamily="34" charset="0"/>
              <a:buChar char="•"/>
              <a:tabLst/>
            </a:pPr>
            <a:r>
              <a:rPr lang="en-US" altLang="zh-CN" sz="2400" dirty="0" err="1">
                <a:latin typeface="Microsoft YaHei Light" panose="020B0502040204020203" pitchFamily="34" charset="-122"/>
                <a:ea typeface="Microsoft YaHei Light" panose="020B0502040204020203" pitchFamily="34" charset="-122"/>
              </a:rPr>
              <a:t>Q.rear</a:t>
            </a:r>
            <a:endParaRPr lang="zh-CN" altLang="zh-CN" sz="2800" dirty="0">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a:extLst>
              <a:ext uri="{FF2B5EF4-FFF2-40B4-BE49-F238E27FC236}">
                <a16:creationId xmlns:a16="http://schemas.microsoft.com/office/drawing/2014/main" id="{ACA871D0-01A4-4838-8FC8-6C3DE85307BE}"/>
              </a:ext>
            </a:extLst>
          </p:cNvPr>
          <p:cNvSpPr>
            <a:spLocks noGrp="1" noChangeArrowheads="1"/>
          </p:cNvSpPr>
          <p:nvPr>
            <p:ph type="title"/>
          </p:nvPr>
        </p:nvSpPr>
        <p:spPr/>
        <p:txBody>
          <a:bodyPr>
            <a:normAutofit/>
          </a:bodyPr>
          <a:lstStyle/>
          <a:p>
            <a:pPr eaLnBrk="1" hangingPunct="1">
              <a:spcBef>
                <a:spcPct val="50000"/>
              </a:spcBef>
              <a:defRPr/>
            </a:pPr>
            <a:r>
              <a:rPr kumimoji="0" sz="2800" dirty="0" err="1"/>
              <a:t>顺序队列的维护</a:t>
            </a:r>
            <a:endParaRPr kumimoji="0" sz="2800" dirty="0"/>
          </a:p>
        </p:txBody>
      </p:sp>
      <p:sp>
        <p:nvSpPr>
          <p:cNvPr id="2" name="副标题 1">
            <a:extLst>
              <a:ext uri="{FF2B5EF4-FFF2-40B4-BE49-F238E27FC236}">
                <a16:creationId xmlns:a16="http://schemas.microsoft.com/office/drawing/2014/main" id="{719C83C4-2218-4381-9BD1-7CE6AF4B9D11}"/>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B5F76DF-E28A-4ECD-B6C0-F8EA6941CF97}"/>
              </a:ext>
            </a:extLst>
          </p:cNvPr>
          <p:cNvSpPr>
            <a:spLocks noGrp="1"/>
          </p:cNvSpPr>
          <p:nvPr>
            <p:ph type="body" idx="10"/>
          </p:nvPr>
        </p:nvSpPr>
        <p:spPr/>
        <p:txBody>
          <a:bodyPr/>
          <a:lstStyle/>
          <a:p>
            <a:endParaRPr lang="zh-CN" altLang="en-US"/>
          </a:p>
        </p:txBody>
      </p:sp>
      <p:sp>
        <p:nvSpPr>
          <p:cNvPr id="52227" name="内容占位符 2">
            <a:extLst>
              <a:ext uri="{FF2B5EF4-FFF2-40B4-BE49-F238E27FC236}">
                <a16:creationId xmlns:a16="http://schemas.microsoft.com/office/drawing/2014/main" id="{74AFA684-5939-43B8-930E-0D43F2636927}"/>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en-US" dirty="0">
                <a:latin typeface="微软雅黑" panose="020B0503020204020204" pitchFamily="34" charset="-122"/>
              </a:rPr>
              <a:t>尾指针</a:t>
            </a:r>
            <a:r>
              <a:rPr lang="en-US" altLang="zh-CN" dirty="0" err="1">
                <a:latin typeface="微软雅黑" panose="020B0503020204020204" pitchFamily="34" charset="-122"/>
              </a:rPr>
              <a:t>Q.rear</a:t>
            </a:r>
            <a:r>
              <a:rPr lang="en-US" altLang="zh-CN" dirty="0">
                <a:latin typeface="微软雅黑" panose="020B0503020204020204" pitchFamily="34" charset="-122"/>
              </a:rPr>
              <a:t> </a:t>
            </a:r>
            <a:r>
              <a:rPr lang="zh-CN" altLang="en-US" dirty="0">
                <a:latin typeface="微软雅黑" panose="020B0503020204020204" pitchFamily="34" charset="-122"/>
              </a:rPr>
              <a:t>的处理</a:t>
            </a:r>
            <a:endParaRPr lang="en-US" altLang="zh-CN" dirty="0">
              <a:latin typeface="微软雅黑" panose="020B0503020204020204" pitchFamily="34" charset="-122"/>
            </a:endParaRPr>
          </a:p>
          <a:p>
            <a:pPr marL="676275" lvl="1" indent="-342900">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rPr>
              <a:t>实指</a:t>
            </a: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虚指</a:t>
            </a:r>
            <a:endParaRPr lang="zh-CN" altLang="zh-CN" dirty="0">
              <a:latin typeface="Microsoft YaHei Light" panose="020B0502040204020203" pitchFamily="34" charset="-122"/>
              <a:ea typeface="Microsoft YaHei Light" panose="020B0502040204020203" pitchFamily="34" charset="-122"/>
            </a:endParaRPr>
          </a:p>
        </p:txBody>
      </p:sp>
      <p:sp>
        <p:nvSpPr>
          <p:cNvPr id="52228" name="Text Box 7">
            <a:extLst>
              <a:ext uri="{FF2B5EF4-FFF2-40B4-BE49-F238E27FC236}">
                <a16:creationId xmlns:a16="http://schemas.microsoft.com/office/drawing/2014/main" id="{F797B118-7899-4E1F-8351-968ED1B6DB7C}"/>
              </a:ext>
            </a:extLst>
          </p:cNvPr>
          <p:cNvSpPr txBox="1">
            <a:spLocks noChangeArrowheads="1"/>
          </p:cNvSpPr>
          <p:nvPr/>
        </p:nvSpPr>
        <p:spPr bwMode="auto">
          <a:xfrm>
            <a:off x="3394075" y="3101108"/>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grpSp>
        <p:nvGrpSpPr>
          <p:cNvPr id="22" name="Group 18">
            <a:extLst>
              <a:ext uri="{FF2B5EF4-FFF2-40B4-BE49-F238E27FC236}">
                <a16:creationId xmlns:a16="http://schemas.microsoft.com/office/drawing/2014/main" id="{4A89B7DB-BD73-C04C-810F-322F97ABCE40}"/>
              </a:ext>
            </a:extLst>
          </p:cNvPr>
          <p:cNvGrpSpPr>
            <a:grpSpLocks/>
          </p:cNvGrpSpPr>
          <p:nvPr/>
        </p:nvGrpSpPr>
        <p:grpSpPr bwMode="auto">
          <a:xfrm>
            <a:off x="4704484" y="2097822"/>
            <a:ext cx="891000" cy="958724"/>
            <a:chOff x="1552" y="1933"/>
            <a:chExt cx="421" cy="453"/>
          </a:xfrm>
          <a:noFill/>
        </p:grpSpPr>
        <p:sp>
          <p:nvSpPr>
            <p:cNvPr id="23" name="Line 19">
              <a:extLst>
                <a:ext uri="{FF2B5EF4-FFF2-40B4-BE49-F238E27FC236}">
                  <a16:creationId xmlns:a16="http://schemas.microsoft.com/office/drawing/2014/main" id="{83E6B013-9741-3344-880B-63ECEDDE0A96}"/>
                </a:ext>
              </a:extLst>
            </p:cNvPr>
            <p:cNvSpPr>
              <a:spLocks noChangeShapeType="1"/>
            </p:cNvSpPr>
            <p:nvPr/>
          </p:nvSpPr>
          <p:spPr bwMode="auto">
            <a:xfrm>
              <a:off x="1973" y="1933"/>
              <a:ext cx="0" cy="453"/>
            </a:xfrm>
            <a:prstGeom prst="line">
              <a:avLst/>
            </a:prstGeom>
            <a:grpFill/>
            <a:ln w="25400">
              <a:noFill/>
              <a:round/>
              <a:headEnd/>
              <a:tailEnd type="triangle"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24" name="Text Box 20">
              <a:extLst>
                <a:ext uri="{FF2B5EF4-FFF2-40B4-BE49-F238E27FC236}">
                  <a16:creationId xmlns:a16="http://schemas.microsoft.com/office/drawing/2014/main" id="{CE173779-59BE-FC44-BADC-AB0081DD5523}"/>
                </a:ext>
              </a:extLst>
            </p:cNvPr>
            <p:cNvSpPr txBox="1">
              <a:spLocks noChangeArrowheads="1"/>
            </p:cNvSpPr>
            <p:nvPr/>
          </p:nvSpPr>
          <p:spPr bwMode="auto">
            <a:xfrm>
              <a:off x="1552" y="1969"/>
              <a:ext cx="391"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Q.rear</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37" name="Line 33">
            <a:extLst>
              <a:ext uri="{FF2B5EF4-FFF2-40B4-BE49-F238E27FC236}">
                <a16:creationId xmlns:a16="http://schemas.microsoft.com/office/drawing/2014/main" id="{2CCA259F-DF22-43E7-B28A-EDE863A8EABF}"/>
              </a:ext>
            </a:extLst>
          </p:cNvPr>
          <p:cNvSpPr>
            <a:spLocks noChangeShapeType="1"/>
          </p:cNvSpPr>
          <p:nvPr/>
        </p:nvSpPr>
        <p:spPr bwMode="auto">
          <a:xfrm>
            <a:off x="5586412" y="2054946"/>
            <a:ext cx="0" cy="958850"/>
          </a:xfrm>
          <a:prstGeom prst="line">
            <a:avLst/>
          </a:prstGeom>
          <a:noFill/>
          <a:ln w="50800">
            <a:solidFill>
              <a:srgbClr val="1302EE"/>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nvGrpSpPr>
          <p:cNvPr id="39" name="Group 35">
            <a:extLst>
              <a:ext uri="{FF2B5EF4-FFF2-40B4-BE49-F238E27FC236}">
                <a16:creationId xmlns:a16="http://schemas.microsoft.com/office/drawing/2014/main" id="{74014633-4BE3-154A-9A50-5CC654871DE6}"/>
              </a:ext>
            </a:extLst>
          </p:cNvPr>
          <p:cNvGrpSpPr>
            <a:grpSpLocks/>
          </p:cNvGrpSpPr>
          <p:nvPr/>
        </p:nvGrpSpPr>
        <p:grpSpPr bwMode="auto">
          <a:xfrm>
            <a:off x="2868960" y="2064411"/>
            <a:ext cx="910045" cy="958724"/>
            <a:chOff x="726" y="1933"/>
            <a:chExt cx="430" cy="453"/>
          </a:xfrm>
          <a:noFill/>
        </p:grpSpPr>
        <p:sp>
          <p:nvSpPr>
            <p:cNvPr id="40" name="Line 36">
              <a:extLst>
                <a:ext uri="{FF2B5EF4-FFF2-40B4-BE49-F238E27FC236}">
                  <a16:creationId xmlns:a16="http://schemas.microsoft.com/office/drawing/2014/main" id="{44013EE8-3CC1-834D-8B8E-BDE3A30F4F1D}"/>
                </a:ext>
              </a:extLst>
            </p:cNvPr>
            <p:cNvSpPr>
              <a:spLocks noChangeShapeType="1"/>
            </p:cNvSpPr>
            <p:nvPr/>
          </p:nvSpPr>
          <p:spPr bwMode="auto">
            <a:xfrm>
              <a:off x="1156" y="1933"/>
              <a:ext cx="0" cy="453"/>
            </a:xfrm>
            <a:prstGeom prst="line">
              <a:avLst/>
            </a:prstGeom>
            <a:grpFill/>
            <a:ln w="50800">
              <a:solidFill>
                <a:srgbClr val="1302EE"/>
              </a:solidFill>
              <a:round/>
              <a:headEnd/>
              <a:tailEnd type="stealth"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41" name="Text Box 37">
              <a:extLst>
                <a:ext uri="{FF2B5EF4-FFF2-40B4-BE49-F238E27FC236}">
                  <a16:creationId xmlns:a16="http://schemas.microsoft.com/office/drawing/2014/main" id="{7FCBB6B3-C606-2B46-93A1-B98411666BE1}"/>
                </a:ext>
              </a:extLst>
            </p:cNvPr>
            <p:cNvSpPr txBox="1">
              <a:spLocks noChangeArrowheads="1"/>
            </p:cNvSpPr>
            <p:nvPr/>
          </p:nvSpPr>
          <p:spPr bwMode="auto">
            <a:xfrm>
              <a:off x="726" y="1982"/>
              <a:ext cx="430"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Q.front</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2232" name="Text Box 4">
            <a:extLst>
              <a:ext uri="{FF2B5EF4-FFF2-40B4-BE49-F238E27FC236}">
                <a16:creationId xmlns:a16="http://schemas.microsoft.com/office/drawing/2014/main" id="{1AFED2A3-F92C-426E-BDD6-1DAD89AD8D58}"/>
              </a:ext>
            </a:extLst>
          </p:cNvPr>
          <p:cNvSpPr txBox="1">
            <a:spLocks noChangeArrowheads="1"/>
          </p:cNvSpPr>
          <p:nvPr/>
        </p:nvSpPr>
        <p:spPr bwMode="auto">
          <a:xfrm>
            <a:off x="8904287" y="3099521"/>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33" name="Text Box 4">
            <a:extLst>
              <a:ext uri="{FF2B5EF4-FFF2-40B4-BE49-F238E27FC236}">
                <a16:creationId xmlns:a16="http://schemas.microsoft.com/office/drawing/2014/main" id="{EE0E91CD-02FA-4789-9905-A9DCB5070068}"/>
              </a:ext>
            </a:extLst>
          </p:cNvPr>
          <p:cNvSpPr txBox="1">
            <a:spLocks noChangeArrowheads="1"/>
          </p:cNvSpPr>
          <p:nvPr/>
        </p:nvSpPr>
        <p:spPr bwMode="auto">
          <a:xfrm>
            <a:off x="9767887" y="3099521"/>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34" name="Text Box 4">
            <a:extLst>
              <a:ext uri="{FF2B5EF4-FFF2-40B4-BE49-F238E27FC236}">
                <a16:creationId xmlns:a16="http://schemas.microsoft.com/office/drawing/2014/main" id="{4C7FCB98-E107-4212-B3CF-3BFE3EF356F9}"/>
              </a:ext>
            </a:extLst>
          </p:cNvPr>
          <p:cNvSpPr txBox="1">
            <a:spLocks noChangeArrowheads="1"/>
          </p:cNvSpPr>
          <p:nvPr/>
        </p:nvSpPr>
        <p:spPr bwMode="auto">
          <a:xfrm>
            <a:off x="6842125" y="3099521"/>
            <a:ext cx="2062162" cy="522287"/>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48" name="Text Box 7">
            <a:extLst>
              <a:ext uri="{FF2B5EF4-FFF2-40B4-BE49-F238E27FC236}">
                <a16:creationId xmlns:a16="http://schemas.microsoft.com/office/drawing/2014/main" id="{1ABA6467-D4EF-4497-A4EE-24381C531FCE}"/>
              </a:ext>
            </a:extLst>
          </p:cNvPr>
          <p:cNvSpPr txBox="1">
            <a:spLocks noChangeArrowheads="1"/>
          </p:cNvSpPr>
          <p:nvPr/>
        </p:nvSpPr>
        <p:spPr bwMode="auto">
          <a:xfrm>
            <a:off x="3394075" y="3101108"/>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A</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6" name="Text Box 7">
            <a:extLst>
              <a:ext uri="{FF2B5EF4-FFF2-40B4-BE49-F238E27FC236}">
                <a16:creationId xmlns:a16="http://schemas.microsoft.com/office/drawing/2014/main" id="{C333097F-9D66-432B-A16D-9E9441D4F68F}"/>
              </a:ext>
            </a:extLst>
          </p:cNvPr>
          <p:cNvSpPr txBox="1">
            <a:spLocks noChangeArrowheads="1"/>
          </p:cNvSpPr>
          <p:nvPr/>
        </p:nvSpPr>
        <p:spPr bwMode="auto">
          <a:xfrm>
            <a:off x="4276725" y="3101108"/>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7" name="Text Box 7">
            <a:extLst>
              <a:ext uri="{FF2B5EF4-FFF2-40B4-BE49-F238E27FC236}">
                <a16:creationId xmlns:a16="http://schemas.microsoft.com/office/drawing/2014/main" id="{B61A0FBB-087A-43E3-B705-42C1D30B8A79}"/>
              </a:ext>
            </a:extLst>
          </p:cNvPr>
          <p:cNvSpPr txBox="1">
            <a:spLocks noChangeArrowheads="1"/>
          </p:cNvSpPr>
          <p:nvPr/>
        </p:nvSpPr>
        <p:spPr bwMode="auto">
          <a:xfrm>
            <a:off x="4276725" y="3101108"/>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B</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8" name="Text Box 7">
            <a:extLst>
              <a:ext uri="{FF2B5EF4-FFF2-40B4-BE49-F238E27FC236}">
                <a16:creationId xmlns:a16="http://schemas.microsoft.com/office/drawing/2014/main" id="{D602FD1F-A0CF-4C44-BD62-42510D8B4BF1}"/>
              </a:ext>
            </a:extLst>
          </p:cNvPr>
          <p:cNvSpPr txBox="1">
            <a:spLocks noChangeArrowheads="1"/>
          </p:cNvSpPr>
          <p:nvPr/>
        </p:nvSpPr>
        <p:spPr bwMode="auto">
          <a:xfrm>
            <a:off x="5126037" y="3102696"/>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9" name="Text Box 7">
            <a:extLst>
              <a:ext uri="{FF2B5EF4-FFF2-40B4-BE49-F238E27FC236}">
                <a16:creationId xmlns:a16="http://schemas.microsoft.com/office/drawing/2014/main" id="{9CCAA83A-D7AF-4FDC-AC24-35EF5E948A79}"/>
              </a:ext>
            </a:extLst>
          </p:cNvPr>
          <p:cNvSpPr txBox="1">
            <a:spLocks noChangeArrowheads="1"/>
          </p:cNvSpPr>
          <p:nvPr/>
        </p:nvSpPr>
        <p:spPr bwMode="auto">
          <a:xfrm>
            <a:off x="5983287" y="3102696"/>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40" name="Text Box 7">
            <a:extLst>
              <a:ext uri="{FF2B5EF4-FFF2-40B4-BE49-F238E27FC236}">
                <a16:creationId xmlns:a16="http://schemas.microsoft.com/office/drawing/2014/main" id="{5EF42FF6-DBAD-493D-B3E9-ED3C0D264828}"/>
              </a:ext>
            </a:extLst>
          </p:cNvPr>
          <p:cNvSpPr txBox="1">
            <a:spLocks noChangeArrowheads="1"/>
          </p:cNvSpPr>
          <p:nvPr/>
        </p:nvSpPr>
        <p:spPr bwMode="auto">
          <a:xfrm>
            <a:off x="5126037" y="3102696"/>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C</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4" name="Text Box 7">
            <a:extLst>
              <a:ext uri="{FF2B5EF4-FFF2-40B4-BE49-F238E27FC236}">
                <a16:creationId xmlns:a16="http://schemas.microsoft.com/office/drawing/2014/main" id="{1602338E-9046-48B1-BC36-E307CA037C22}"/>
              </a:ext>
            </a:extLst>
          </p:cNvPr>
          <p:cNvSpPr txBox="1">
            <a:spLocks noChangeArrowheads="1"/>
          </p:cNvSpPr>
          <p:nvPr/>
        </p:nvSpPr>
        <p:spPr bwMode="auto">
          <a:xfrm>
            <a:off x="5994400" y="3102696"/>
            <a:ext cx="844550"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D </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42" name="Text Box 7">
            <a:extLst>
              <a:ext uri="{FF2B5EF4-FFF2-40B4-BE49-F238E27FC236}">
                <a16:creationId xmlns:a16="http://schemas.microsoft.com/office/drawing/2014/main" id="{331A77FB-9E07-4FBE-9D82-6211E38E75A8}"/>
              </a:ext>
            </a:extLst>
          </p:cNvPr>
          <p:cNvSpPr txBox="1">
            <a:spLocks noChangeArrowheads="1"/>
          </p:cNvSpPr>
          <p:nvPr/>
        </p:nvSpPr>
        <p:spPr bwMode="auto">
          <a:xfrm>
            <a:off x="33797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grpSp>
        <p:nvGrpSpPr>
          <p:cNvPr id="56" name="Group 18">
            <a:extLst>
              <a:ext uri="{FF2B5EF4-FFF2-40B4-BE49-F238E27FC236}">
                <a16:creationId xmlns:a16="http://schemas.microsoft.com/office/drawing/2014/main" id="{4A89B7DB-BD73-C04C-810F-322F97ABCE40}"/>
              </a:ext>
            </a:extLst>
          </p:cNvPr>
          <p:cNvGrpSpPr>
            <a:grpSpLocks/>
          </p:cNvGrpSpPr>
          <p:nvPr/>
        </p:nvGrpSpPr>
        <p:grpSpPr bwMode="auto">
          <a:xfrm>
            <a:off x="5519936" y="4634560"/>
            <a:ext cx="891000" cy="958724"/>
            <a:chOff x="1552" y="1933"/>
            <a:chExt cx="421" cy="453"/>
          </a:xfrm>
          <a:noFill/>
        </p:grpSpPr>
        <p:sp>
          <p:nvSpPr>
            <p:cNvPr id="57" name="Line 19">
              <a:extLst>
                <a:ext uri="{FF2B5EF4-FFF2-40B4-BE49-F238E27FC236}">
                  <a16:creationId xmlns:a16="http://schemas.microsoft.com/office/drawing/2014/main" id="{83E6B013-9741-3344-880B-63ECEDDE0A96}"/>
                </a:ext>
              </a:extLst>
            </p:cNvPr>
            <p:cNvSpPr>
              <a:spLocks noChangeShapeType="1"/>
            </p:cNvSpPr>
            <p:nvPr/>
          </p:nvSpPr>
          <p:spPr bwMode="auto">
            <a:xfrm>
              <a:off x="1973" y="1933"/>
              <a:ext cx="0" cy="453"/>
            </a:xfrm>
            <a:prstGeom prst="line">
              <a:avLst/>
            </a:prstGeom>
            <a:grpFill/>
            <a:ln w="25400">
              <a:noFill/>
              <a:round/>
              <a:headEnd/>
              <a:tailEnd type="triangle"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58" name="Text Box 20">
              <a:extLst>
                <a:ext uri="{FF2B5EF4-FFF2-40B4-BE49-F238E27FC236}">
                  <a16:creationId xmlns:a16="http://schemas.microsoft.com/office/drawing/2014/main" id="{CE173779-59BE-FC44-BADC-AB0081DD5523}"/>
                </a:ext>
              </a:extLst>
            </p:cNvPr>
            <p:cNvSpPr txBox="1">
              <a:spLocks noChangeArrowheads="1"/>
            </p:cNvSpPr>
            <p:nvPr/>
          </p:nvSpPr>
          <p:spPr bwMode="auto">
            <a:xfrm>
              <a:off x="1552" y="1969"/>
              <a:ext cx="391"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Q.rear</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9" name="Line 33">
            <a:extLst>
              <a:ext uri="{FF2B5EF4-FFF2-40B4-BE49-F238E27FC236}">
                <a16:creationId xmlns:a16="http://schemas.microsoft.com/office/drawing/2014/main" id="{E04DADBB-3C17-4792-B8AB-D2F3F86FCB1B}"/>
              </a:ext>
            </a:extLst>
          </p:cNvPr>
          <p:cNvSpPr>
            <a:spLocks noChangeShapeType="1"/>
          </p:cNvSpPr>
          <p:nvPr/>
        </p:nvSpPr>
        <p:spPr bwMode="auto">
          <a:xfrm>
            <a:off x="6400800" y="4591050"/>
            <a:ext cx="0" cy="958850"/>
          </a:xfrm>
          <a:prstGeom prst="line">
            <a:avLst/>
          </a:prstGeom>
          <a:noFill/>
          <a:ln w="50800">
            <a:solidFill>
              <a:srgbClr val="1302EE"/>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nvGrpSpPr>
          <p:cNvPr id="60" name="Group 35">
            <a:extLst>
              <a:ext uri="{FF2B5EF4-FFF2-40B4-BE49-F238E27FC236}">
                <a16:creationId xmlns:a16="http://schemas.microsoft.com/office/drawing/2014/main" id="{74014633-4BE3-154A-9A50-5CC654871DE6}"/>
              </a:ext>
            </a:extLst>
          </p:cNvPr>
          <p:cNvGrpSpPr>
            <a:grpSpLocks/>
          </p:cNvGrpSpPr>
          <p:nvPr/>
        </p:nvGrpSpPr>
        <p:grpSpPr bwMode="auto">
          <a:xfrm>
            <a:off x="2855640" y="4601149"/>
            <a:ext cx="910045" cy="958724"/>
            <a:chOff x="726" y="1933"/>
            <a:chExt cx="430" cy="453"/>
          </a:xfrm>
          <a:noFill/>
        </p:grpSpPr>
        <p:sp>
          <p:nvSpPr>
            <p:cNvPr id="61" name="Line 36">
              <a:extLst>
                <a:ext uri="{FF2B5EF4-FFF2-40B4-BE49-F238E27FC236}">
                  <a16:creationId xmlns:a16="http://schemas.microsoft.com/office/drawing/2014/main" id="{44013EE8-3CC1-834D-8B8E-BDE3A30F4F1D}"/>
                </a:ext>
              </a:extLst>
            </p:cNvPr>
            <p:cNvSpPr>
              <a:spLocks noChangeShapeType="1"/>
            </p:cNvSpPr>
            <p:nvPr/>
          </p:nvSpPr>
          <p:spPr bwMode="auto">
            <a:xfrm>
              <a:off x="1156" y="1933"/>
              <a:ext cx="0" cy="453"/>
            </a:xfrm>
            <a:prstGeom prst="line">
              <a:avLst/>
            </a:prstGeom>
            <a:grpFill/>
            <a:ln w="50800">
              <a:solidFill>
                <a:srgbClr val="1302EE"/>
              </a:solidFill>
              <a:round/>
              <a:headEnd/>
              <a:tailEnd type="stealth"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62" name="Text Box 37">
              <a:extLst>
                <a:ext uri="{FF2B5EF4-FFF2-40B4-BE49-F238E27FC236}">
                  <a16:creationId xmlns:a16="http://schemas.microsoft.com/office/drawing/2014/main" id="{7FCBB6B3-C606-2B46-93A1-B98411666BE1}"/>
                </a:ext>
              </a:extLst>
            </p:cNvPr>
            <p:cNvSpPr txBox="1">
              <a:spLocks noChangeArrowheads="1"/>
            </p:cNvSpPr>
            <p:nvPr/>
          </p:nvSpPr>
          <p:spPr bwMode="auto">
            <a:xfrm>
              <a:off x="726" y="1982"/>
              <a:ext cx="430"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Q.front</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2246" name="Text Box 4">
            <a:extLst>
              <a:ext uri="{FF2B5EF4-FFF2-40B4-BE49-F238E27FC236}">
                <a16:creationId xmlns:a16="http://schemas.microsoft.com/office/drawing/2014/main" id="{E44B3ADB-F617-411E-B2D7-464A31FC629E}"/>
              </a:ext>
            </a:extLst>
          </p:cNvPr>
          <p:cNvSpPr txBox="1">
            <a:spLocks noChangeArrowheads="1"/>
          </p:cNvSpPr>
          <p:nvPr/>
        </p:nvSpPr>
        <p:spPr bwMode="auto">
          <a:xfrm>
            <a:off x="889000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7" name="Text Box 4">
            <a:extLst>
              <a:ext uri="{FF2B5EF4-FFF2-40B4-BE49-F238E27FC236}">
                <a16:creationId xmlns:a16="http://schemas.microsoft.com/office/drawing/2014/main" id="{0240F6A3-1093-470F-B0FC-5273A40521DA}"/>
              </a:ext>
            </a:extLst>
          </p:cNvPr>
          <p:cNvSpPr txBox="1">
            <a:spLocks noChangeArrowheads="1"/>
          </p:cNvSpPr>
          <p:nvPr/>
        </p:nvSpPr>
        <p:spPr bwMode="auto">
          <a:xfrm>
            <a:off x="97551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8" name="Text Box 4">
            <a:extLst>
              <a:ext uri="{FF2B5EF4-FFF2-40B4-BE49-F238E27FC236}">
                <a16:creationId xmlns:a16="http://schemas.microsoft.com/office/drawing/2014/main" id="{B637C375-7AD8-46FC-89EE-7B197E72B22D}"/>
              </a:ext>
            </a:extLst>
          </p:cNvPr>
          <p:cNvSpPr txBox="1">
            <a:spLocks noChangeArrowheads="1"/>
          </p:cNvSpPr>
          <p:nvPr/>
        </p:nvSpPr>
        <p:spPr bwMode="auto">
          <a:xfrm>
            <a:off x="6827838" y="5630863"/>
            <a:ext cx="2062162" cy="522287"/>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9" name="Text Box 7">
            <a:extLst>
              <a:ext uri="{FF2B5EF4-FFF2-40B4-BE49-F238E27FC236}">
                <a16:creationId xmlns:a16="http://schemas.microsoft.com/office/drawing/2014/main" id="{81F69AFB-D654-419D-A978-BA682661F455}"/>
              </a:ext>
            </a:extLst>
          </p:cNvPr>
          <p:cNvSpPr txBox="1">
            <a:spLocks noChangeArrowheads="1"/>
          </p:cNvSpPr>
          <p:nvPr/>
        </p:nvSpPr>
        <p:spPr bwMode="auto">
          <a:xfrm>
            <a:off x="33797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A</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0" name="Text Box 7">
            <a:extLst>
              <a:ext uri="{FF2B5EF4-FFF2-40B4-BE49-F238E27FC236}">
                <a16:creationId xmlns:a16="http://schemas.microsoft.com/office/drawing/2014/main" id="{E74CE15A-4D1D-4DFA-8A51-FAFA5440B90D}"/>
              </a:ext>
            </a:extLst>
          </p:cNvPr>
          <p:cNvSpPr txBox="1">
            <a:spLocks noChangeArrowheads="1"/>
          </p:cNvSpPr>
          <p:nvPr/>
        </p:nvSpPr>
        <p:spPr bwMode="auto">
          <a:xfrm>
            <a:off x="426243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1" name="Text Box 7">
            <a:extLst>
              <a:ext uri="{FF2B5EF4-FFF2-40B4-BE49-F238E27FC236}">
                <a16:creationId xmlns:a16="http://schemas.microsoft.com/office/drawing/2014/main" id="{F35DC266-43F0-48C0-87E2-88B32EAFB659}"/>
              </a:ext>
            </a:extLst>
          </p:cNvPr>
          <p:cNvSpPr txBox="1">
            <a:spLocks noChangeArrowheads="1"/>
          </p:cNvSpPr>
          <p:nvPr/>
        </p:nvSpPr>
        <p:spPr bwMode="auto">
          <a:xfrm>
            <a:off x="426243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B</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2" name="Text Box 7">
            <a:extLst>
              <a:ext uri="{FF2B5EF4-FFF2-40B4-BE49-F238E27FC236}">
                <a16:creationId xmlns:a16="http://schemas.microsoft.com/office/drawing/2014/main" id="{91A82ABF-BA7A-4CEC-A294-909B8E72ABEB}"/>
              </a:ext>
            </a:extLst>
          </p:cNvPr>
          <p:cNvSpPr txBox="1">
            <a:spLocks noChangeArrowheads="1"/>
          </p:cNvSpPr>
          <p:nvPr/>
        </p:nvSpPr>
        <p:spPr bwMode="auto">
          <a:xfrm>
            <a:off x="511175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3" name="Text Box 7">
            <a:extLst>
              <a:ext uri="{FF2B5EF4-FFF2-40B4-BE49-F238E27FC236}">
                <a16:creationId xmlns:a16="http://schemas.microsoft.com/office/drawing/2014/main" id="{60D7A41D-479A-4467-8899-291420007CCC}"/>
              </a:ext>
            </a:extLst>
          </p:cNvPr>
          <p:cNvSpPr txBox="1">
            <a:spLocks noChangeArrowheads="1"/>
          </p:cNvSpPr>
          <p:nvPr/>
        </p:nvSpPr>
        <p:spPr bwMode="auto">
          <a:xfrm>
            <a:off x="5972175"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4" name="Text Box 7">
            <a:extLst>
              <a:ext uri="{FF2B5EF4-FFF2-40B4-BE49-F238E27FC236}">
                <a16:creationId xmlns:a16="http://schemas.microsoft.com/office/drawing/2014/main" id="{4F0DC372-B5A7-4FE7-8421-9A3119FA1D8F}"/>
              </a:ext>
            </a:extLst>
          </p:cNvPr>
          <p:cNvSpPr txBox="1">
            <a:spLocks noChangeArrowheads="1"/>
          </p:cNvSpPr>
          <p:nvPr/>
        </p:nvSpPr>
        <p:spPr bwMode="auto">
          <a:xfrm>
            <a:off x="511175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C</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72" name="Text Box 7">
            <a:extLst>
              <a:ext uri="{FF2B5EF4-FFF2-40B4-BE49-F238E27FC236}">
                <a16:creationId xmlns:a16="http://schemas.microsoft.com/office/drawing/2014/main" id="{C4CDAF70-0106-4378-917C-C28AB725275F}"/>
              </a:ext>
            </a:extLst>
          </p:cNvPr>
          <p:cNvSpPr txBox="1">
            <a:spLocks noChangeArrowheads="1"/>
          </p:cNvSpPr>
          <p:nvPr/>
        </p:nvSpPr>
        <p:spPr bwMode="auto">
          <a:xfrm>
            <a:off x="5983288" y="5630863"/>
            <a:ext cx="844550"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D </a:t>
            </a:r>
            <a:endParaRPr lang="zh-CN" altLang="zh-CN" sz="2800">
              <a:solidFill>
                <a:srgbClr val="000000"/>
              </a:solidFill>
              <a:latin typeface="Calibri Light" panose="020F0302020204030204" pitchFamily="34"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3.125E-6 -4.44444E-6 L 0.07162 -0.00416 " pathEditMode="relative" rAng="0" ptsTypes="AA">
                                      <p:cBhvr>
                                        <p:cTn id="6" dur="2000" fill="hold"/>
                                        <p:tgtEl>
                                          <p:spTgt spid="37"/>
                                        </p:tgtEl>
                                        <p:attrNameLst>
                                          <p:attrName>ppt_x</p:attrName>
                                          <p:attrName>ppt_y</p:attrName>
                                        </p:attrNameLst>
                                      </p:cBhvr>
                                      <p:rCtr x="3581" y="-208"/>
                                    </p:animMotion>
                                  </p:childTnLst>
                                </p:cTn>
                              </p:par>
                              <p:par>
                                <p:cTn id="7" presetID="63" presetClass="path" presetSubtype="0" accel="50000" decel="50000" fill="hold" nodeType="withEffect">
                                  <p:stCondLst>
                                    <p:cond delay="0"/>
                                  </p:stCondLst>
                                  <p:childTnLst>
                                    <p:animMotion origin="layout" path="M 4.16667E-6 -4.44444E-6 L 0.08242 -0.00046 " pathEditMode="relative" rAng="0" ptsTypes="AA">
                                      <p:cBhvr>
                                        <p:cTn id="8" dur="2000" fill="hold"/>
                                        <p:tgtEl>
                                          <p:spTgt spid="22"/>
                                        </p:tgtEl>
                                        <p:attrNameLst>
                                          <p:attrName>ppt_x</p:attrName>
                                          <p:attrName>ppt_y</p:attrName>
                                        </p:attrNameLst>
                                      </p:cBhvr>
                                      <p:rCtr x="4115" y="-23"/>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4" fill="hold" grpId="0" nodeType="clickEffect">
                                  <p:stCondLst>
                                    <p:cond delay="0"/>
                                  </p:stCondLst>
                                  <p:childTnLst>
                                    <p:animEffect transition="out" filter="wipe(down)">
                                      <p:cBhvr>
                                        <p:cTn id="16" dur="500"/>
                                        <p:tgtEl>
                                          <p:spTgt spid="48"/>
                                        </p:tgtEl>
                                      </p:cBhvr>
                                    </p:animEffect>
                                    <p:set>
                                      <p:cBhvr>
                                        <p:cTn id="17" dur="1" fill="hold">
                                          <p:stCondLst>
                                            <p:cond delay="499"/>
                                          </p:stCondLst>
                                        </p:cTn>
                                        <p:tgtEl>
                                          <p:spTgt spid="48"/>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63" presetClass="path" presetSubtype="0" accel="50000" decel="50000" fill="hold" nodeType="clickEffect">
                                  <p:stCondLst>
                                    <p:cond delay="0"/>
                                  </p:stCondLst>
                                  <p:childTnLst>
                                    <p:animMotion origin="layout" path="M 3.95833E-6 -3.33333E-6 L 0.07031 0.0044 " pathEditMode="relative" rAng="0" ptsTypes="AA">
                                      <p:cBhvr>
                                        <p:cTn id="21" dur="2000" fill="hold"/>
                                        <p:tgtEl>
                                          <p:spTgt spid="39"/>
                                        </p:tgtEl>
                                        <p:attrNameLst>
                                          <p:attrName>ppt_x</p:attrName>
                                          <p:attrName>ppt_y</p:attrName>
                                        </p:attrNameLst>
                                      </p:cBhvr>
                                      <p:rCtr x="3516" y="208"/>
                                    </p:animMotion>
                                  </p:childTnLst>
                                </p:cTn>
                              </p:par>
                            </p:childTnLst>
                          </p:cTn>
                        </p:par>
                      </p:childTnLst>
                    </p:cTn>
                  </p:par>
                  <p:par>
                    <p:cTn id="22" fill="hold" nodeType="clickPar">
                      <p:stCondLst>
                        <p:cond delay="indefinite"/>
                      </p:stCondLst>
                      <p:childTnLst>
                        <p:par>
                          <p:cTn id="23" fill="hold" nodeType="withGroup">
                            <p:stCondLst>
                              <p:cond delay="0"/>
                            </p:stCondLst>
                            <p:childTnLst>
                              <p:par>
                                <p:cTn id="24" presetID="63" presetClass="path" presetSubtype="0" accel="50000" decel="50000" fill="hold" nodeType="clickEffect">
                                  <p:stCondLst>
                                    <p:cond delay="0"/>
                                  </p:stCondLst>
                                  <p:childTnLst>
                                    <p:animMotion origin="layout" path="M 4.79167E-6 -4.44444E-6 L 0.07461 -0.00486 " pathEditMode="relative" rAng="0" ptsTypes="AA">
                                      <p:cBhvr>
                                        <p:cTn id="25" dur="2000" fill="hold"/>
                                        <p:tgtEl>
                                          <p:spTgt spid="59"/>
                                        </p:tgtEl>
                                        <p:attrNameLst>
                                          <p:attrName>ppt_x</p:attrName>
                                          <p:attrName>ppt_y</p:attrName>
                                        </p:attrNameLst>
                                      </p:cBhvr>
                                      <p:rCtr x="5443" y="-509"/>
                                    </p:animMotion>
                                  </p:childTnLst>
                                </p:cTn>
                              </p:par>
                              <p:par>
                                <p:cTn id="26" presetID="63" presetClass="path" presetSubtype="0" accel="50000" decel="50000" fill="hold" nodeType="withEffect">
                                  <p:stCondLst>
                                    <p:cond delay="0"/>
                                  </p:stCondLst>
                                  <p:childTnLst>
                                    <p:animMotion origin="layout" path="M -2.91667E-6 -4.44444E-6 L 0.07357 0.00486 " pathEditMode="relative" rAng="0" ptsTypes="AA">
                                      <p:cBhvr>
                                        <p:cTn id="27" dur="2000" fill="hold"/>
                                        <p:tgtEl>
                                          <p:spTgt spid="56"/>
                                        </p:tgtEl>
                                        <p:attrNameLst>
                                          <p:attrName>ppt_x</p:attrName>
                                          <p:attrName>ppt_y</p:attrName>
                                        </p:attrNameLst>
                                      </p:cBhvr>
                                      <p:rCtr x="2109" y="-324"/>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4" grpId="0" animBg="1"/>
      <p:bldP spid="7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22DBFAD2-C21E-4073-823A-81D0FFCE6A0F}"/>
              </a:ext>
            </a:extLst>
          </p:cNvPr>
          <p:cNvSpPr txBox="1">
            <a:spLocks noChangeArrowheads="1"/>
          </p:cNvSpPr>
          <p:nvPr/>
        </p:nvSpPr>
        <p:spPr bwMode="auto">
          <a:xfrm>
            <a:off x="2574925" y="401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latin typeface="Times New Roman" panose="02020603050405020304" pitchFamily="18" charset="0"/>
              <a:ea typeface="华文细黑" panose="02010600040101010101" pitchFamily="2" charset="-122"/>
            </a:endParaRPr>
          </a:p>
        </p:txBody>
      </p:sp>
      <p:grpSp>
        <p:nvGrpSpPr>
          <p:cNvPr id="53251" name="Group 3">
            <a:extLst>
              <a:ext uri="{FF2B5EF4-FFF2-40B4-BE49-F238E27FC236}">
                <a16:creationId xmlns:a16="http://schemas.microsoft.com/office/drawing/2014/main" id="{88BA76D2-FAD7-493D-9E44-F1EA98703CC5}"/>
              </a:ext>
            </a:extLst>
          </p:cNvPr>
          <p:cNvGrpSpPr>
            <a:grpSpLocks/>
          </p:cNvGrpSpPr>
          <p:nvPr/>
        </p:nvGrpSpPr>
        <p:grpSpPr bwMode="auto">
          <a:xfrm>
            <a:off x="2601913" y="2319338"/>
            <a:ext cx="838200" cy="3048000"/>
            <a:chOff x="2112" y="1056"/>
            <a:chExt cx="528" cy="1920"/>
          </a:xfrm>
        </p:grpSpPr>
        <p:sp>
          <p:nvSpPr>
            <p:cNvPr id="53302" name="Rectangle 4">
              <a:extLst>
                <a:ext uri="{FF2B5EF4-FFF2-40B4-BE49-F238E27FC236}">
                  <a16:creationId xmlns:a16="http://schemas.microsoft.com/office/drawing/2014/main" id="{BC177F72-C019-4487-9A50-1E5170F92071}"/>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303" name="Line 5">
              <a:extLst>
                <a:ext uri="{FF2B5EF4-FFF2-40B4-BE49-F238E27FC236}">
                  <a16:creationId xmlns:a16="http://schemas.microsoft.com/office/drawing/2014/main" id="{01E3D28F-34A7-476B-9473-FC5DA97D5B1D}"/>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4" name="Line 6">
              <a:extLst>
                <a:ext uri="{FF2B5EF4-FFF2-40B4-BE49-F238E27FC236}">
                  <a16:creationId xmlns:a16="http://schemas.microsoft.com/office/drawing/2014/main" id="{5ED39106-5977-4C75-97E5-DDEAE778B56D}"/>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5" name="Line 7">
              <a:extLst>
                <a:ext uri="{FF2B5EF4-FFF2-40B4-BE49-F238E27FC236}">
                  <a16:creationId xmlns:a16="http://schemas.microsoft.com/office/drawing/2014/main" id="{44A157B0-BA93-477B-9322-7313CDDAC06D}"/>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6" name="Line 8">
              <a:extLst>
                <a:ext uri="{FF2B5EF4-FFF2-40B4-BE49-F238E27FC236}">
                  <a16:creationId xmlns:a16="http://schemas.microsoft.com/office/drawing/2014/main" id="{2BB22F6C-4526-44FB-BA12-577105052B9B}"/>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7" name="Line 9">
              <a:extLst>
                <a:ext uri="{FF2B5EF4-FFF2-40B4-BE49-F238E27FC236}">
                  <a16:creationId xmlns:a16="http://schemas.microsoft.com/office/drawing/2014/main" id="{91500968-F6C9-473C-BBEF-4AE7AD8259B7}"/>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8" name="Line 10">
              <a:extLst>
                <a:ext uri="{FF2B5EF4-FFF2-40B4-BE49-F238E27FC236}">
                  <a16:creationId xmlns:a16="http://schemas.microsoft.com/office/drawing/2014/main" id="{FA1AC3E5-5E41-438D-82F3-A8CE663C4A5D}"/>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9" name="Line 11">
              <a:extLst>
                <a:ext uri="{FF2B5EF4-FFF2-40B4-BE49-F238E27FC236}">
                  <a16:creationId xmlns:a16="http://schemas.microsoft.com/office/drawing/2014/main" id="{51167DA6-7CAE-45A8-9B6C-0FAB19A3C9A8}"/>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12">
            <a:extLst>
              <a:ext uri="{FF2B5EF4-FFF2-40B4-BE49-F238E27FC236}">
                <a16:creationId xmlns:a16="http://schemas.microsoft.com/office/drawing/2014/main" id="{545E135F-2232-427E-B769-4813BA95DA9A}"/>
              </a:ext>
            </a:extLst>
          </p:cNvPr>
          <p:cNvGrpSpPr>
            <a:grpSpLocks/>
          </p:cNvGrpSpPr>
          <p:nvPr/>
        </p:nvGrpSpPr>
        <p:grpSpPr bwMode="auto">
          <a:xfrm>
            <a:off x="5689600" y="2325688"/>
            <a:ext cx="838200" cy="3048000"/>
            <a:chOff x="2112" y="1056"/>
            <a:chExt cx="528" cy="1920"/>
          </a:xfrm>
        </p:grpSpPr>
        <p:sp>
          <p:nvSpPr>
            <p:cNvPr id="53294" name="Rectangle 13">
              <a:extLst>
                <a:ext uri="{FF2B5EF4-FFF2-40B4-BE49-F238E27FC236}">
                  <a16:creationId xmlns:a16="http://schemas.microsoft.com/office/drawing/2014/main" id="{314B259E-2FCF-4819-BB1D-85568A6C172E}"/>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295" name="Line 14">
              <a:extLst>
                <a:ext uri="{FF2B5EF4-FFF2-40B4-BE49-F238E27FC236}">
                  <a16:creationId xmlns:a16="http://schemas.microsoft.com/office/drawing/2014/main" id="{396C76C0-DDEC-4E37-88AC-BC391A4F5E8D}"/>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6" name="Line 15">
              <a:extLst>
                <a:ext uri="{FF2B5EF4-FFF2-40B4-BE49-F238E27FC236}">
                  <a16:creationId xmlns:a16="http://schemas.microsoft.com/office/drawing/2014/main" id="{5633C486-2CBB-4EBA-A837-A6F2AC2B2AB0}"/>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7" name="Line 16">
              <a:extLst>
                <a:ext uri="{FF2B5EF4-FFF2-40B4-BE49-F238E27FC236}">
                  <a16:creationId xmlns:a16="http://schemas.microsoft.com/office/drawing/2014/main" id="{B3BB23B7-33D0-4F41-BCA9-461E7C702587}"/>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8" name="Line 17">
              <a:extLst>
                <a:ext uri="{FF2B5EF4-FFF2-40B4-BE49-F238E27FC236}">
                  <a16:creationId xmlns:a16="http://schemas.microsoft.com/office/drawing/2014/main" id="{D78B3F08-7291-403C-BBB1-73A87F3E392B}"/>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9" name="Line 18">
              <a:extLst>
                <a:ext uri="{FF2B5EF4-FFF2-40B4-BE49-F238E27FC236}">
                  <a16:creationId xmlns:a16="http://schemas.microsoft.com/office/drawing/2014/main" id="{51414FD1-102A-455E-B503-C17F60C132C3}"/>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0" name="Line 19">
              <a:extLst>
                <a:ext uri="{FF2B5EF4-FFF2-40B4-BE49-F238E27FC236}">
                  <a16:creationId xmlns:a16="http://schemas.microsoft.com/office/drawing/2014/main" id="{466CA75C-A0D5-46C2-B9BF-D116568CA7A9}"/>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1" name="Line 20">
              <a:extLst>
                <a:ext uri="{FF2B5EF4-FFF2-40B4-BE49-F238E27FC236}">
                  <a16:creationId xmlns:a16="http://schemas.microsoft.com/office/drawing/2014/main" id="{888E6E2E-B37C-4C7B-A259-B620C866F245}"/>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21">
            <a:extLst>
              <a:ext uri="{FF2B5EF4-FFF2-40B4-BE49-F238E27FC236}">
                <a16:creationId xmlns:a16="http://schemas.microsoft.com/office/drawing/2014/main" id="{55C754C2-4970-4219-B779-0CFC5A315EA8}"/>
              </a:ext>
            </a:extLst>
          </p:cNvPr>
          <p:cNvGrpSpPr>
            <a:grpSpLocks/>
          </p:cNvGrpSpPr>
          <p:nvPr/>
        </p:nvGrpSpPr>
        <p:grpSpPr bwMode="auto">
          <a:xfrm>
            <a:off x="9434513" y="2319338"/>
            <a:ext cx="838200" cy="3048000"/>
            <a:chOff x="2112" y="1056"/>
            <a:chExt cx="528" cy="1920"/>
          </a:xfrm>
        </p:grpSpPr>
        <p:sp>
          <p:nvSpPr>
            <p:cNvPr id="53286" name="Rectangle 22">
              <a:extLst>
                <a:ext uri="{FF2B5EF4-FFF2-40B4-BE49-F238E27FC236}">
                  <a16:creationId xmlns:a16="http://schemas.microsoft.com/office/drawing/2014/main" id="{B1383437-EC01-4129-B2B5-2BDCFCF8AF0F}"/>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287" name="Line 23">
              <a:extLst>
                <a:ext uri="{FF2B5EF4-FFF2-40B4-BE49-F238E27FC236}">
                  <a16:creationId xmlns:a16="http://schemas.microsoft.com/office/drawing/2014/main" id="{732FB5FE-D563-4A2B-9120-B942CAEE80AB}"/>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8" name="Line 24">
              <a:extLst>
                <a:ext uri="{FF2B5EF4-FFF2-40B4-BE49-F238E27FC236}">
                  <a16:creationId xmlns:a16="http://schemas.microsoft.com/office/drawing/2014/main" id="{F83EA109-0170-4BCB-9226-3B618BF63F1D}"/>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9" name="Line 25">
              <a:extLst>
                <a:ext uri="{FF2B5EF4-FFF2-40B4-BE49-F238E27FC236}">
                  <a16:creationId xmlns:a16="http://schemas.microsoft.com/office/drawing/2014/main" id="{F35FA53E-E290-44DA-A391-53F2D8214E31}"/>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0" name="Line 26">
              <a:extLst>
                <a:ext uri="{FF2B5EF4-FFF2-40B4-BE49-F238E27FC236}">
                  <a16:creationId xmlns:a16="http://schemas.microsoft.com/office/drawing/2014/main" id="{C715F80F-C4E9-4B54-ABF8-E6616A0C3339}"/>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1" name="Line 27">
              <a:extLst>
                <a:ext uri="{FF2B5EF4-FFF2-40B4-BE49-F238E27FC236}">
                  <a16:creationId xmlns:a16="http://schemas.microsoft.com/office/drawing/2014/main" id="{A1F7861A-FF30-40E6-9E86-3C743B1E45F9}"/>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2" name="Line 28">
              <a:extLst>
                <a:ext uri="{FF2B5EF4-FFF2-40B4-BE49-F238E27FC236}">
                  <a16:creationId xmlns:a16="http://schemas.microsoft.com/office/drawing/2014/main" id="{A23C93BC-06C2-4476-95B9-1CCF90D9EDF3}"/>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3" name="Line 29">
              <a:extLst>
                <a:ext uri="{FF2B5EF4-FFF2-40B4-BE49-F238E27FC236}">
                  <a16:creationId xmlns:a16="http://schemas.microsoft.com/office/drawing/2014/main" id="{A42680FF-208B-4C12-AA49-A436D0C81070}"/>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3254" name="Text Box 30">
            <a:extLst>
              <a:ext uri="{FF2B5EF4-FFF2-40B4-BE49-F238E27FC236}">
                <a16:creationId xmlns:a16="http://schemas.microsoft.com/office/drawing/2014/main" id="{A7ACC9F0-42B9-4D8A-A0E0-A61EEF656AAC}"/>
              </a:ext>
            </a:extLst>
          </p:cNvPr>
          <p:cNvSpPr txBox="1">
            <a:spLocks noChangeArrowheads="1"/>
          </p:cNvSpPr>
          <p:nvPr/>
        </p:nvSpPr>
        <p:spPr bwMode="auto">
          <a:xfrm>
            <a:off x="2144713" y="4930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7</a:t>
            </a:r>
          </a:p>
        </p:txBody>
      </p:sp>
      <p:sp>
        <p:nvSpPr>
          <p:cNvPr id="53255" name="Text Box 31">
            <a:extLst>
              <a:ext uri="{FF2B5EF4-FFF2-40B4-BE49-F238E27FC236}">
                <a16:creationId xmlns:a16="http://schemas.microsoft.com/office/drawing/2014/main" id="{7206C2E4-E8F6-4464-B263-991EE7C32B58}"/>
              </a:ext>
            </a:extLst>
          </p:cNvPr>
          <p:cNvSpPr txBox="1">
            <a:spLocks noChangeArrowheads="1"/>
          </p:cNvSpPr>
          <p:nvPr/>
        </p:nvSpPr>
        <p:spPr bwMode="auto">
          <a:xfrm>
            <a:off x="2144713" y="4605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6</a:t>
            </a:r>
          </a:p>
        </p:txBody>
      </p:sp>
      <p:sp>
        <p:nvSpPr>
          <p:cNvPr id="53256" name="Text Box 32">
            <a:extLst>
              <a:ext uri="{FF2B5EF4-FFF2-40B4-BE49-F238E27FC236}">
                <a16:creationId xmlns:a16="http://schemas.microsoft.com/office/drawing/2014/main" id="{8A45786E-FBC7-480A-9889-FF644E9A8259}"/>
              </a:ext>
            </a:extLst>
          </p:cNvPr>
          <p:cNvSpPr txBox="1">
            <a:spLocks noChangeArrowheads="1"/>
          </p:cNvSpPr>
          <p:nvPr/>
        </p:nvSpPr>
        <p:spPr bwMode="auto">
          <a:xfrm>
            <a:off x="2144713" y="4224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5</a:t>
            </a:r>
          </a:p>
        </p:txBody>
      </p:sp>
      <p:sp>
        <p:nvSpPr>
          <p:cNvPr id="53257" name="Text Box 33">
            <a:extLst>
              <a:ext uri="{FF2B5EF4-FFF2-40B4-BE49-F238E27FC236}">
                <a16:creationId xmlns:a16="http://schemas.microsoft.com/office/drawing/2014/main" id="{0FA2397A-D3FA-46D6-AD9A-A40B3B0BF2CB}"/>
              </a:ext>
            </a:extLst>
          </p:cNvPr>
          <p:cNvSpPr txBox="1">
            <a:spLocks noChangeArrowheads="1"/>
          </p:cNvSpPr>
          <p:nvPr/>
        </p:nvSpPr>
        <p:spPr bwMode="auto">
          <a:xfrm>
            <a:off x="2144713" y="3843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4</a:t>
            </a:r>
          </a:p>
        </p:txBody>
      </p:sp>
      <p:sp>
        <p:nvSpPr>
          <p:cNvPr id="53258" name="Text Box 34">
            <a:extLst>
              <a:ext uri="{FF2B5EF4-FFF2-40B4-BE49-F238E27FC236}">
                <a16:creationId xmlns:a16="http://schemas.microsoft.com/office/drawing/2014/main" id="{C628815E-6CBE-4C00-98F0-D7994C7EFACA}"/>
              </a:ext>
            </a:extLst>
          </p:cNvPr>
          <p:cNvSpPr txBox="1">
            <a:spLocks noChangeArrowheads="1"/>
          </p:cNvSpPr>
          <p:nvPr/>
        </p:nvSpPr>
        <p:spPr bwMode="auto">
          <a:xfrm>
            <a:off x="2144713" y="3406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3</a:t>
            </a:r>
          </a:p>
        </p:txBody>
      </p:sp>
      <p:sp>
        <p:nvSpPr>
          <p:cNvPr id="53259" name="Text Box 35">
            <a:extLst>
              <a:ext uri="{FF2B5EF4-FFF2-40B4-BE49-F238E27FC236}">
                <a16:creationId xmlns:a16="http://schemas.microsoft.com/office/drawing/2014/main" id="{050FBB20-9F81-4C3F-BDAE-D4FEDDEE89D6}"/>
              </a:ext>
            </a:extLst>
          </p:cNvPr>
          <p:cNvSpPr txBox="1">
            <a:spLocks noChangeArrowheads="1"/>
          </p:cNvSpPr>
          <p:nvPr/>
        </p:nvSpPr>
        <p:spPr bwMode="auto">
          <a:xfrm>
            <a:off x="2144713" y="3081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2</a:t>
            </a:r>
          </a:p>
        </p:txBody>
      </p:sp>
      <p:sp>
        <p:nvSpPr>
          <p:cNvPr id="53260" name="Text Box 36">
            <a:extLst>
              <a:ext uri="{FF2B5EF4-FFF2-40B4-BE49-F238E27FC236}">
                <a16:creationId xmlns:a16="http://schemas.microsoft.com/office/drawing/2014/main" id="{57B208F2-F9FA-41C0-B9EA-86E9DBE04F17}"/>
              </a:ext>
            </a:extLst>
          </p:cNvPr>
          <p:cNvSpPr txBox="1">
            <a:spLocks noChangeArrowheads="1"/>
          </p:cNvSpPr>
          <p:nvPr/>
        </p:nvSpPr>
        <p:spPr bwMode="auto">
          <a:xfrm>
            <a:off x="2144713" y="2644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1</a:t>
            </a:r>
          </a:p>
        </p:txBody>
      </p:sp>
      <p:sp>
        <p:nvSpPr>
          <p:cNvPr id="53261" name="Text Box 37">
            <a:extLst>
              <a:ext uri="{FF2B5EF4-FFF2-40B4-BE49-F238E27FC236}">
                <a16:creationId xmlns:a16="http://schemas.microsoft.com/office/drawing/2014/main" id="{AC2F2B94-527A-479D-9733-D13207DF174A}"/>
              </a:ext>
            </a:extLst>
          </p:cNvPr>
          <p:cNvSpPr txBox="1">
            <a:spLocks noChangeArrowheads="1"/>
          </p:cNvSpPr>
          <p:nvPr/>
        </p:nvSpPr>
        <p:spPr bwMode="auto">
          <a:xfrm>
            <a:off x="2144713" y="2263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0</a:t>
            </a:r>
          </a:p>
        </p:txBody>
      </p:sp>
      <p:sp>
        <p:nvSpPr>
          <p:cNvPr id="94225" name="Text Box 41">
            <a:extLst>
              <a:ext uri="{FF2B5EF4-FFF2-40B4-BE49-F238E27FC236}">
                <a16:creationId xmlns:a16="http://schemas.microsoft.com/office/drawing/2014/main" id="{AB29BECB-7551-4CB0-8F45-E039F94C5A6E}"/>
              </a:ext>
            </a:extLst>
          </p:cNvPr>
          <p:cNvSpPr txBox="1">
            <a:spLocks noChangeArrowheads="1"/>
          </p:cNvSpPr>
          <p:nvPr/>
        </p:nvSpPr>
        <p:spPr bwMode="auto">
          <a:xfrm>
            <a:off x="5902325" y="2306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0</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94226" name="Text Box 42">
            <a:extLst>
              <a:ext uri="{FF2B5EF4-FFF2-40B4-BE49-F238E27FC236}">
                <a16:creationId xmlns:a16="http://schemas.microsoft.com/office/drawing/2014/main" id="{7A8ADE43-35CA-4349-AF3C-857454E8DA68}"/>
              </a:ext>
            </a:extLst>
          </p:cNvPr>
          <p:cNvSpPr txBox="1">
            <a:spLocks noChangeArrowheads="1"/>
          </p:cNvSpPr>
          <p:nvPr/>
        </p:nvSpPr>
        <p:spPr bwMode="auto">
          <a:xfrm>
            <a:off x="5918200" y="2687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1</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94227" name="Text Box 43">
            <a:extLst>
              <a:ext uri="{FF2B5EF4-FFF2-40B4-BE49-F238E27FC236}">
                <a16:creationId xmlns:a16="http://schemas.microsoft.com/office/drawing/2014/main" id="{A869A8B9-FF24-4CE3-8064-8100D12996C8}"/>
              </a:ext>
            </a:extLst>
          </p:cNvPr>
          <p:cNvSpPr txBox="1">
            <a:spLocks noChangeArrowheads="1"/>
          </p:cNvSpPr>
          <p:nvPr/>
        </p:nvSpPr>
        <p:spPr bwMode="auto">
          <a:xfrm>
            <a:off x="5918200" y="3068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2</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5" name="Group 44">
            <a:extLst>
              <a:ext uri="{FF2B5EF4-FFF2-40B4-BE49-F238E27FC236}">
                <a16:creationId xmlns:a16="http://schemas.microsoft.com/office/drawing/2014/main" id="{C8A2E218-ECA6-4A6A-BB43-041B98D9535B}"/>
              </a:ext>
            </a:extLst>
          </p:cNvPr>
          <p:cNvGrpSpPr>
            <a:grpSpLocks/>
          </p:cNvGrpSpPr>
          <p:nvPr/>
        </p:nvGrpSpPr>
        <p:grpSpPr bwMode="auto">
          <a:xfrm>
            <a:off x="4495800" y="2163763"/>
            <a:ext cx="1149350" cy="452437"/>
            <a:chOff x="2588" y="2595"/>
            <a:chExt cx="724" cy="285"/>
          </a:xfrm>
        </p:grpSpPr>
        <p:sp>
          <p:nvSpPr>
            <p:cNvPr id="53284" name="Text Box 45">
              <a:extLst>
                <a:ext uri="{FF2B5EF4-FFF2-40B4-BE49-F238E27FC236}">
                  <a16:creationId xmlns:a16="http://schemas.microsoft.com/office/drawing/2014/main" id="{24AE6B87-92CB-461A-92D6-53F36DBA9D61}"/>
                </a:ext>
              </a:extLst>
            </p:cNvPr>
            <p:cNvSpPr txBox="1">
              <a:spLocks noChangeArrowheads="1"/>
            </p:cNvSpPr>
            <p:nvPr/>
          </p:nvSpPr>
          <p:spPr bwMode="auto">
            <a:xfrm>
              <a:off x="2588" y="2595"/>
              <a:ext cx="6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85" name="Line 46">
              <a:extLst>
                <a:ext uri="{FF2B5EF4-FFF2-40B4-BE49-F238E27FC236}">
                  <a16:creationId xmlns:a16="http://schemas.microsoft.com/office/drawing/2014/main" id="{A86E2FBA-BC59-46C4-BEF0-DD0B808BCB46}"/>
                </a:ext>
              </a:extLst>
            </p:cNvPr>
            <p:cNvSpPr>
              <a:spLocks noChangeShapeType="1"/>
            </p:cNvSpPr>
            <p:nvPr/>
          </p:nvSpPr>
          <p:spPr bwMode="auto">
            <a:xfrm>
              <a:off x="2832" y="288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7">
            <a:extLst>
              <a:ext uri="{FF2B5EF4-FFF2-40B4-BE49-F238E27FC236}">
                <a16:creationId xmlns:a16="http://schemas.microsoft.com/office/drawing/2014/main" id="{59C48BF1-DAD3-477D-BCA5-106EB64C3554}"/>
              </a:ext>
            </a:extLst>
          </p:cNvPr>
          <p:cNvGrpSpPr>
            <a:grpSpLocks/>
          </p:cNvGrpSpPr>
          <p:nvPr/>
        </p:nvGrpSpPr>
        <p:grpSpPr bwMode="auto">
          <a:xfrm>
            <a:off x="4587875" y="3381375"/>
            <a:ext cx="1101725" cy="452438"/>
            <a:chOff x="2618" y="1875"/>
            <a:chExt cx="694" cy="285"/>
          </a:xfrm>
        </p:grpSpPr>
        <p:sp>
          <p:nvSpPr>
            <p:cNvPr id="53282" name="Text Box 48">
              <a:extLst>
                <a:ext uri="{FF2B5EF4-FFF2-40B4-BE49-F238E27FC236}">
                  <a16:creationId xmlns:a16="http://schemas.microsoft.com/office/drawing/2014/main" id="{3FA33F7B-DDD2-41C5-84E6-BECACEA0E424}"/>
                </a:ext>
              </a:extLst>
            </p:cNvPr>
            <p:cNvSpPr txBox="1">
              <a:spLocks noChangeArrowheads="1"/>
            </p:cNvSpPr>
            <p:nvPr/>
          </p:nvSpPr>
          <p:spPr bwMode="auto">
            <a:xfrm>
              <a:off x="2618" y="1875"/>
              <a:ext cx="5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
          <p:nvSpPr>
            <p:cNvPr id="53283" name="Line 49">
              <a:extLst>
                <a:ext uri="{FF2B5EF4-FFF2-40B4-BE49-F238E27FC236}">
                  <a16:creationId xmlns:a16="http://schemas.microsoft.com/office/drawing/2014/main" id="{01396CC1-B8B6-4762-BAC5-FBDDF50022D0}"/>
                </a:ext>
              </a:extLst>
            </p:cNvPr>
            <p:cNvSpPr>
              <a:spLocks noChangeShapeType="1"/>
            </p:cNvSpPr>
            <p:nvPr/>
          </p:nvSpPr>
          <p:spPr bwMode="auto">
            <a:xfrm>
              <a:off x="2832" y="216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50">
            <a:extLst>
              <a:ext uri="{FF2B5EF4-FFF2-40B4-BE49-F238E27FC236}">
                <a16:creationId xmlns:a16="http://schemas.microsoft.com/office/drawing/2014/main" id="{5C8C4F48-46EF-46C0-94DE-C4D3ACA57E1E}"/>
              </a:ext>
            </a:extLst>
          </p:cNvPr>
          <p:cNvGrpSpPr>
            <a:grpSpLocks/>
          </p:cNvGrpSpPr>
          <p:nvPr/>
        </p:nvGrpSpPr>
        <p:grpSpPr bwMode="auto">
          <a:xfrm>
            <a:off x="8382000" y="4849813"/>
            <a:ext cx="1052513" cy="441325"/>
            <a:chOff x="2649" y="1882"/>
            <a:chExt cx="663" cy="278"/>
          </a:xfrm>
        </p:grpSpPr>
        <p:sp>
          <p:nvSpPr>
            <p:cNvPr id="53280" name="Text Box 51">
              <a:extLst>
                <a:ext uri="{FF2B5EF4-FFF2-40B4-BE49-F238E27FC236}">
                  <a16:creationId xmlns:a16="http://schemas.microsoft.com/office/drawing/2014/main" id="{7DDA7730-48DC-404B-B7A8-7269ABFC88B8}"/>
                </a:ext>
              </a:extLst>
            </p:cNvPr>
            <p:cNvSpPr txBox="1">
              <a:spLocks noChangeArrowheads="1"/>
            </p:cNvSpPr>
            <p:nvPr/>
          </p:nvSpPr>
          <p:spPr bwMode="auto">
            <a:xfrm>
              <a:off x="2649" y="1882"/>
              <a:ext cx="5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
          <p:nvSpPr>
            <p:cNvPr id="53281" name="Line 52">
              <a:extLst>
                <a:ext uri="{FF2B5EF4-FFF2-40B4-BE49-F238E27FC236}">
                  <a16:creationId xmlns:a16="http://schemas.microsoft.com/office/drawing/2014/main" id="{4713F49A-0CFF-4A02-A6AC-AE48AC7342E0}"/>
                </a:ext>
              </a:extLst>
            </p:cNvPr>
            <p:cNvSpPr>
              <a:spLocks noChangeShapeType="1"/>
            </p:cNvSpPr>
            <p:nvPr/>
          </p:nvSpPr>
          <p:spPr bwMode="auto">
            <a:xfrm>
              <a:off x="2832" y="216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3">
            <a:extLst>
              <a:ext uri="{FF2B5EF4-FFF2-40B4-BE49-F238E27FC236}">
                <a16:creationId xmlns:a16="http://schemas.microsoft.com/office/drawing/2014/main" id="{95061537-9021-40BE-87B6-9B3019AA9399}"/>
              </a:ext>
            </a:extLst>
          </p:cNvPr>
          <p:cNvGrpSpPr>
            <a:grpSpLocks/>
          </p:cNvGrpSpPr>
          <p:nvPr/>
        </p:nvGrpSpPr>
        <p:grpSpPr bwMode="auto">
          <a:xfrm>
            <a:off x="8321675" y="4056063"/>
            <a:ext cx="1112838" cy="400050"/>
            <a:chOff x="2611" y="2630"/>
            <a:chExt cx="701" cy="252"/>
          </a:xfrm>
        </p:grpSpPr>
        <p:sp>
          <p:nvSpPr>
            <p:cNvPr id="53278" name="Text Box 54">
              <a:extLst>
                <a:ext uri="{FF2B5EF4-FFF2-40B4-BE49-F238E27FC236}">
                  <a16:creationId xmlns:a16="http://schemas.microsoft.com/office/drawing/2014/main" id="{39447E1C-47B4-44B1-976A-88D5161FC406}"/>
                </a:ext>
              </a:extLst>
            </p:cNvPr>
            <p:cNvSpPr txBox="1">
              <a:spLocks noChangeArrowheads="1"/>
            </p:cNvSpPr>
            <p:nvPr/>
          </p:nvSpPr>
          <p:spPr bwMode="auto">
            <a:xfrm>
              <a:off x="2611" y="2630"/>
              <a:ext cx="6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79" name="Line 55">
              <a:extLst>
                <a:ext uri="{FF2B5EF4-FFF2-40B4-BE49-F238E27FC236}">
                  <a16:creationId xmlns:a16="http://schemas.microsoft.com/office/drawing/2014/main" id="{2C888063-FB5C-45C8-A590-8DB84C5752F1}"/>
                </a:ext>
              </a:extLst>
            </p:cNvPr>
            <p:cNvSpPr>
              <a:spLocks noChangeShapeType="1"/>
            </p:cNvSpPr>
            <p:nvPr/>
          </p:nvSpPr>
          <p:spPr bwMode="auto">
            <a:xfrm>
              <a:off x="2832" y="288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4232" name="Text Box 56">
            <a:extLst>
              <a:ext uri="{FF2B5EF4-FFF2-40B4-BE49-F238E27FC236}">
                <a16:creationId xmlns:a16="http://schemas.microsoft.com/office/drawing/2014/main" id="{68F1B32C-BA71-4646-801B-6734D9C03D7E}"/>
              </a:ext>
            </a:extLst>
          </p:cNvPr>
          <p:cNvSpPr txBox="1">
            <a:spLocks noChangeArrowheads="1"/>
          </p:cNvSpPr>
          <p:nvPr/>
        </p:nvSpPr>
        <p:spPr bwMode="auto">
          <a:xfrm>
            <a:off x="9613900" y="4597400"/>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6</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3270" name="Text Box 57">
            <a:extLst>
              <a:ext uri="{FF2B5EF4-FFF2-40B4-BE49-F238E27FC236}">
                <a16:creationId xmlns:a16="http://schemas.microsoft.com/office/drawing/2014/main" id="{18543156-22AB-4B0E-9D41-FF50E9E20752}"/>
              </a:ext>
            </a:extLst>
          </p:cNvPr>
          <p:cNvSpPr txBox="1">
            <a:spLocks noChangeArrowheads="1"/>
          </p:cNvSpPr>
          <p:nvPr/>
        </p:nvSpPr>
        <p:spPr bwMode="auto">
          <a:xfrm>
            <a:off x="2438400" y="583723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微软雅黑" panose="020B0503020204020204" pitchFamily="34" charset="-122"/>
                <a:ea typeface="微软雅黑" panose="020B0503020204020204" pitchFamily="34" charset="-122"/>
              </a:rPr>
              <a:t>队列空</a:t>
            </a:r>
          </a:p>
        </p:txBody>
      </p:sp>
      <p:sp>
        <p:nvSpPr>
          <p:cNvPr id="927802" name="Text Box 58">
            <a:extLst>
              <a:ext uri="{FF2B5EF4-FFF2-40B4-BE49-F238E27FC236}">
                <a16:creationId xmlns:a16="http://schemas.microsoft.com/office/drawing/2014/main" id="{D67FD284-FD31-4424-ADC5-E4FA9759DD27}"/>
              </a:ext>
            </a:extLst>
          </p:cNvPr>
          <p:cNvSpPr txBox="1">
            <a:spLocks noChangeArrowheads="1"/>
          </p:cNvSpPr>
          <p:nvPr/>
        </p:nvSpPr>
        <p:spPr bwMode="auto">
          <a:xfrm>
            <a:off x="6573838" y="5837238"/>
            <a:ext cx="3890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C00000"/>
                </a:solidFill>
                <a:latin typeface="微软雅黑" panose="020B0503020204020204" pitchFamily="34" charset="-122"/>
                <a:ea typeface="微软雅黑" panose="020B0503020204020204" pitchFamily="34" charset="-122"/>
              </a:rPr>
              <a:t>再进队一个元素如何？</a:t>
            </a:r>
          </a:p>
        </p:txBody>
      </p:sp>
      <p:sp>
        <p:nvSpPr>
          <p:cNvPr id="94236" name="Text Box 60">
            <a:extLst>
              <a:ext uri="{FF2B5EF4-FFF2-40B4-BE49-F238E27FC236}">
                <a16:creationId xmlns:a16="http://schemas.microsoft.com/office/drawing/2014/main" id="{2F89396A-CA0C-4DB8-828E-05ABA947A62E}"/>
              </a:ext>
            </a:extLst>
          </p:cNvPr>
          <p:cNvSpPr txBox="1">
            <a:spLocks noChangeArrowheads="1"/>
          </p:cNvSpPr>
          <p:nvPr/>
        </p:nvSpPr>
        <p:spPr bwMode="auto">
          <a:xfrm>
            <a:off x="9594850" y="4216400"/>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5</a:t>
            </a:r>
          </a:p>
        </p:txBody>
      </p:sp>
      <p:sp>
        <p:nvSpPr>
          <p:cNvPr id="2" name="标题 1">
            <a:extLst>
              <a:ext uri="{FF2B5EF4-FFF2-40B4-BE49-F238E27FC236}">
                <a16:creationId xmlns:a16="http://schemas.microsoft.com/office/drawing/2014/main" id="{15C7132B-9886-484E-B60A-5ED7C25EA7E7}"/>
              </a:ext>
            </a:extLst>
          </p:cNvPr>
          <p:cNvSpPr>
            <a:spLocks noGrp="1"/>
          </p:cNvSpPr>
          <p:nvPr>
            <p:ph type="title"/>
          </p:nvPr>
        </p:nvSpPr>
        <p:spPr/>
        <p:txBody>
          <a:bodyPr>
            <a:normAutofit/>
          </a:bodyPr>
          <a:lstStyle/>
          <a:p>
            <a:pPr eaLnBrk="1" hangingPunct="1">
              <a:spcBef>
                <a:spcPct val="50000"/>
              </a:spcBef>
              <a:defRPr/>
            </a:pPr>
            <a:r>
              <a:rPr kumimoji="0"/>
              <a:t>队列示意：普通</a:t>
            </a:r>
          </a:p>
        </p:txBody>
      </p:sp>
      <p:sp>
        <p:nvSpPr>
          <p:cNvPr id="9" name="副标题 8">
            <a:extLst>
              <a:ext uri="{FF2B5EF4-FFF2-40B4-BE49-F238E27FC236}">
                <a16:creationId xmlns:a16="http://schemas.microsoft.com/office/drawing/2014/main" id="{E0837320-7D46-434A-8292-71517A8919A1}"/>
              </a:ext>
            </a:extLst>
          </p:cNvPr>
          <p:cNvSpPr>
            <a:spLocks noGrp="1"/>
          </p:cNvSpPr>
          <p:nvPr>
            <p:ph type="subTitle" idx="1"/>
          </p:nvPr>
        </p:nvSpPr>
        <p:spPr/>
        <p:txBody>
          <a:bodyPr/>
          <a:lstStyle/>
          <a:p>
            <a:endParaRPr lang="zh-CN" altLang="en-US"/>
          </a:p>
        </p:txBody>
      </p:sp>
      <p:sp>
        <p:nvSpPr>
          <p:cNvPr id="10" name="文本占位符 9">
            <a:extLst>
              <a:ext uri="{FF2B5EF4-FFF2-40B4-BE49-F238E27FC236}">
                <a16:creationId xmlns:a16="http://schemas.microsoft.com/office/drawing/2014/main" id="{B8A0F1B3-8D25-4379-ABB5-55D43735E7AD}"/>
              </a:ext>
            </a:extLst>
          </p:cNvPr>
          <p:cNvSpPr>
            <a:spLocks noGrp="1"/>
          </p:cNvSpPr>
          <p:nvPr>
            <p:ph type="body" idx="10"/>
          </p:nvPr>
        </p:nvSpPr>
        <p:spPr/>
        <p:txBody>
          <a:bodyPr/>
          <a:lstStyle/>
          <a:p>
            <a:endParaRPr lang="zh-CN" altLang="en-US"/>
          </a:p>
        </p:txBody>
      </p:sp>
      <p:sp>
        <p:nvSpPr>
          <p:cNvPr id="11" name="内容占位符 10">
            <a:extLst>
              <a:ext uri="{FF2B5EF4-FFF2-40B4-BE49-F238E27FC236}">
                <a16:creationId xmlns:a16="http://schemas.microsoft.com/office/drawing/2014/main" id="{6FE6B74B-61D4-433A-B491-21DD09B65D05}"/>
              </a:ext>
            </a:extLst>
          </p:cNvPr>
          <p:cNvSpPr>
            <a:spLocks noGrp="1"/>
          </p:cNvSpPr>
          <p:nvPr>
            <p:ph idx="11"/>
          </p:nvPr>
        </p:nvSpPr>
        <p:spPr/>
        <p:txBody>
          <a:bodyPr/>
          <a:lstStyle/>
          <a:p>
            <a:endParaRPr lang="zh-CN" altLang="en-US" dirty="0"/>
          </a:p>
        </p:txBody>
      </p:sp>
      <p:sp>
        <p:nvSpPr>
          <p:cNvPr id="53274" name="Text Box 45">
            <a:extLst>
              <a:ext uri="{FF2B5EF4-FFF2-40B4-BE49-F238E27FC236}">
                <a16:creationId xmlns:a16="http://schemas.microsoft.com/office/drawing/2014/main" id="{B2082B4E-C501-4ACD-BF9E-017D911D5625}"/>
              </a:ext>
            </a:extLst>
          </p:cNvPr>
          <p:cNvSpPr txBox="1">
            <a:spLocks noChangeArrowheads="1"/>
          </p:cNvSpPr>
          <p:nvPr/>
        </p:nvSpPr>
        <p:spPr bwMode="auto">
          <a:xfrm>
            <a:off x="1084263" y="2063750"/>
            <a:ext cx="1038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75" name="Line 46">
            <a:extLst>
              <a:ext uri="{FF2B5EF4-FFF2-40B4-BE49-F238E27FC236}">
                <a16:creationId xmlns:a16="http://schemas.microsoft.com/office/drawing/2014/main" id="{64ECA98A-E9E4-4619-B8A4-ACF5419EC23D}"/>
              </a:ext>
            </a:extLst>
          </p:cNvPr>
          <p:cNvSpPr>
            <a:spLocks noChangeShapeType="1"/>
          </p:cNvSpPr>
          <p:nvPr/>
        </p:nvSpPr>
        <p:spPr bwMode="auto">
          <a:xfrm>
            <a:off x="1382713" y="2506663"/>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6" name="Line 46">
            <a:extLst>
              <a:ext uri="{FF2B5EF4-FFF2-40B4-BE49-F238E27FC236}">
                <a16:creationId xmlns:a16="http://schemas.microsoft.com/office/drawing/2014/main" id="{B10F0B92-6038-4D74-AD31-F82D0E562621}"/>
              </a:ext>
            </a:extLst>
          </p:cNvPr>
          <p:cNvSpPr>
            <a:spLocks noChangeShapeType="1"/>
          </p:cNvSpPr>
          <p:nvPr/>
        </p:nvSpPr>
        <p:spPr bwMode="auto">
          <a:xfrm>
            <a:off x="1382713" y="268763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7" name="Text Box 48">
            <a:extLst>
              <a:ext uri="{FF2B5EF4-FFF2-40B4-BE49-F238E27FC236}">
                <a16:creationId xmlns:a16="http://schemas.microsoft.com/office/drawing/2014/main" id="{B81791A9-6FC7-418B-9813-5D407F597A6B}"/>
              </a:ext>
            </a:extLst>
          </p:cNvPr>
          <p:cNvSpPr txBox="1">
            <a:spLocks noChangeArrowheads="1"/>
          </p:cNvSpPr>
          <p:nvPr/>
        </p:nvSpPr>
        <p:spPr bwMode="auto">
          <a:xfrm>
            <a:off x="1084263" y="2678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4225"/>
                                        </p:tgtEl>
                                        <p:attrNameLst>
                                          <p:attrName>style.visibility</p:attrName>
                                        </p:attrNameLst>
                                      </p:cBhvr>
                                      <p:to>
                                        <p:strVal val="visible"/>
                                      </p:to>
                                    </p:set>
                                    <p:animEffect transition="in" filter="checkerboard(across)">
                                      <p:cBhvr>
                                        <p:cTn id="10" dur="500"/>
                                        <p:tgtEl>
                                          <p:spTgt spid="9422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4226"/>
                                        </p:tgtEl>
                                        <p:attrNameLst>
                                          <p:attrName>style.visibility</p:attrName>
                                        </p:attrNameLst>
                                      </p:cBhvr>
                                      <p:to>
                                        <p:strVal val="visible"/>
                                      </p:to>
                                    </p:set>
                                    <p:animEffect transition="in" filter="checkerboard(across)">
                                      <p:cBhvr>
                                        <p:cTn id="13" dur="500"/>
                                        <p:tgtEl>
                                          <p:spTgt spid="9422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4227"/>
                                        </p:tgtEl>
                                        <p:attrNameLst>
                                          <p:attrName>style.visibility</p:attrName>
                                        </p:attrNameLst>
                                      </p:cBhvr>
                                      <p:to>
                                        <p:strVal val="visible"/>
                                      </p:to>
                                    </p:set>
                                    <p:animEffect transition="in" filter="checkerboard(across)">
                                      <p:cBhvr>
                                        <p:cTn id="16" dur="500"/>
                                        <p:tgtEl>
                                          <p:spTgt spid="94227"/>
                                        </p:tgtEl>
                                      </p:cBhvr>
                                    </p:animEffect>
                                  </p:childTnLst>
                                </p:cTn>
                              </p:par>
                              <p:par>
                                <p:cTn id="17" presetID="5" presetClass="entr" presetSubtype="1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heckerboard(across)">
                                      <p:cBhvr>
                                        <p:cTn id="19" dur="500"/>
                                        <p:tgtEl>
                                          <p:spTgt spid="5"/>
                                        </p:tgtEl>
                                      </p:cBhvr>
                                    </p:animEffect>
                                  </p:childTnLst>
                                </p:cTn>
                              </p:par>
                              <p:par>
                                <p:cTn id="20" presetID="5" presetClass="entr" presetSubtype="1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heckerboard(across)">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par>
                                <p:cTn id="28" presetID="5" presetClass="entr" presetSubtype="1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heckerboard(across)">
                                      <p:cBhvr>
                                        <p:cTn id="30" dur="500"/>
                                        <p:tgtEl>
                                          <p:spTgt spid="7"/>
                                        </p:tgtEl>
                                      </p:cBhvr>
                                    </p:animEffect>
                                  </p:childTnLst>
                                </p:cTn>
                              </p:par>
                              <p:par>
                                <p:cTn id="31" presetID="5" presetClass="entr" presetSubtype="1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heckerboard(across)">
                                      <p:cBhvr>
                                        <p:cTn id="33" dur="500"/>
                                        <p:tgtEl>
                                          <p:spTgt spid="8"/>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94232"/>
                                        </p:tgtEl>
                                        <p:attrNameLst>
                                          <p:attrName>style.visibility</p:attrName>
                                        </p:attrNameLst>
                                      </p:cBhvr>
                                      <p:to>
                                        <p:strVal val="visible"/>
                                      </p:to>
                                    </p:set>
                                    <p:animEffect transition="in" filter="checkerboard(across)">
                                      <p:cBhvr>
                                        <p:cTn id="36" dur="500"/>
                                        <p:tgtEl>
                                          <p:spTgt spid="94232"/>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94236"/>
                                        </p:tgtEl>
                                        <p:attrNameLst>
                                          <p:attrName>style.visibility</p:attrName>
                                        </p:attrNameLst>
                                      </p:cBhvr>
                                      <p:to>
                                        <p:strVal val="visible"/>
                                      </p:to>
                                    </p:set>
                                    <p:animEffect transition="in" filter="checkerboard(across)">
                                      <p:cBhvr>
                                        <p:cTn id="39" dur="500"/>
                                        <p:tgtEl>
                                          <p:spTgt spid="942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927802"/>
                                        </p:tgtEl>
                                        <p:attrNameLst>
                                          <p:attrName>style.visibility</p:attrName>
                                        </p:attrNameLst>
                                      </p:cBhvr>
                                      <p:to>
                                        <p:strVal val="visible"/>
                                      </p:to>
                                    </p:set>
                                    <p:animEffect transition="in" filter="checkerboard(across)">
                                      <p:cBhvr>
                                        <p:cTn id="44" dur="500"/>
                                        <p:tgtEl>
                                          <p:spTgt spid="927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25" grpId="0"/>
      <p:bldP spid="94226" grpId="0"/>
      <p:bldP spid="94227" grpId="0"/>
      <p:bldP spid="94232" grpId="0"/>
      <p:bldP spid="927802" grpId="0"/>
      <p:bldP spid="942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23EB66E-9A13-4546-A349-0D6C0620C6EB}"/>
              </a:ext>
            </a:extLst>
          </p:cNvPr>
          <p:cNvSpPr>
            <a:spLocks noGrp="1" noChangeArrowheads="1"/>
          </p:cNvSpPr>
          <p:nvPr>
            <p:ph type="title"/>
          </p:nvPr>
        </p:nvSpPr>
        <p:spPr/>
        <p:txBody>
          <a:bodyPr>
            <a:normAutofit/>
          </a:bodyPr>
          <a:lstStyle/>
          <a:p>
            <a:pPr>
              <a:spcBef>
                <a:spcPct val="50000"/>
              </a:spcBef>
              <a:defRPr/>
            </a:pPr>
            <a:r>
              <a:rPr kumimoji="0" dirty="0" err="1"/>
              <a:t>队列示意：环形</a:t>
            </a:r>
            <a:endParaRPr kumimoji="0" dirty="0"/>
          </a:p>
        </p:txBody>
      </p:sp>
      <p:sp>
        <p:nvSpPr>
          <p:cNvPr id="2" name="副标题 1">
            <a:extLst>
              <a:ext uri="{FF2B5EF4-FFF2-40B4-BE49-F238E27FC236}">
                <a16:creationId xmlns:a16="http://schemas.microsoft.com/office/drawing/2014/main" id="{BC75A77F-9681-444A-9D51-26047D1CA54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62687C-662D-425C-A429-209AD3C58C00}"/>
              </a:ext>
            </a:extLst>
          </p:cNvPr>
          <p:cNvSpPr>
            <a:spLocks noGrp="1"/>
          </p:cNvSpPr>
          <p:nvPr>
            <p:ph type="body" idx="10"/>
          </p:nvPr>
        </p:nvSpPr>
        <p:spPr/>
        <p:txBody>
          <a:bodyPr/>
          <a:lstStyle/>
          <a:p>
            <a:endParaRPr lang="zh-CN" altLang="en-US"/>
          </a:p>
        </p:txBody>
      </p:sp>
      <p:grpSp>
        <p:nvGrpSpPr>
          <p:cNvPr id="54278" name="Group 25">
            <a:extLst>
              <a:ext uri="{FF2B5EF4-FFF2-40B4-BE49-F238E27FC236}">
                <a16:creationId xmlns:a16="http://schemas.microsoft.com/office/drawing/2014/main" id="{FB8B6D60-B3EC-43FB-A134-2EE218DB439F}"/>
              </a:ext>
            </a:extLst>
          </p:cNvPr>
          <p:cNvGrpSpPr>
            <a:grpSpLocks/>
          </p:cNvGrpSpPr>
          <p:nvPr/>
        </p:nvGrpSpPr>
        <p:grpSpPr bwMode="auto">
          <a:xfrm>
            <a:off x="6125098" y="2638627"/>
            <a:ext cx="1971675" cy="1968500"/>
            <a:chOff x="2064" y="1152"/>
            <a:chExt cx="1968" cy="1968"/>
          </a:xfrm>
        </p:grpSpPr>
        <p:grpSp>
          <p:nvGrpSpPr>
            <p:cNvPr id="54304" name="Group 26">
              <a:extLst>
                <a:ext uri="{FF2B5EF4-FFF2-40B4-BE49-F238E27FC236}">
                  <a16:creationId xmlns:a16="http://schemas.microsoft.com/office/drawing/2014/main" id="{040AC892-C4C3-453C-888F-B2781DCB1FD0}"/>
                </a:ext>
              </a:extLst>
            </p:cNvPr>
            <p:cNvGrpSpPr>
              <a:grpSpLocks/>
            </p:cNvGrpSpPr>
            <p:nvPr/>
          </p:nvGrpSpPr>
          <p:grpSpPr bwMode="auto">
            <a:xfrm>
              <a:off x="2064" y="1152"/>
              <a:ext cx="1968" cy="1968"/>
              <a:chOff x="2064" y="1152"/>
              <a:chExt cx="1968" cy="1968"/>
            </a:xfrm>
          </p:grpSpPr>
          <p:sp>
            <p:nvSpPr>
              <p:cNvPr id="31" name="Oval 27">
                <a:extLst>
                  <a:ext uri="{FF2B5EF4-FFF2-40B4-BE49-F238E27FC236}">
                    <a16:creationId xmlns:a16="http://schemas.microsoft.com/office/drawing/2014/main" id="{252CDE79-5EC0-FE4A-B826-8E11D7CCFA41}"/>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2" name="Oval 28">
                <a:extLst>
                  <a:ext uri="{FF2B5EF4-FFF2-40B4-BE49-F238E27FC236}">
                    <a16:creationId xmlns:a16="http://schemas.microsoft.com/office/drawing/2014/main" id="{2310E47E-505E-8843-8EB3-48FD92733B5F}"/>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3" name="Line 29">
              <a:extLst>
                <a:ext uri="{FF2B5EF4-FFF2-40B4-BE49-F238E27FC236}">
                  <a16:creationId xmlns:a16="http://schemas.microsoft.com/office/drawing/2014/main" id="{9B723FA8-EF14-8740-B832-A6357A622572}"/>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4" name="Line 30">
              <a:extLst>
                <a:ext uri="{FF2B5EF4-FFF2-40B4-BE49-F238E27FC236}">
                  <a16:creationId xmlns:a16="http://schemas.microsoft.com/office/drawing/2014/main" id="{09E8C8D1-D343-E445-A24B-E8656A79E54D}"/>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5" name="Line 31">
              <a:extLst>
                <a:ext uri="{FF2B5EF4-FFF2-40B4-BE49-F238E27FC236}">
                  <a16:creationId xmlns:a16="http://schemas.microsoft.com/office/drawing/2014/main" id="{3E1F5CC0-0039-FD45-A529-E9055A41B6D3}"/>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6" name="Line 32">
              <a:extLst>
                <a:ext uri="{FF2B5EF4-FFF2-40B4-BE49-F238E27FC236}">
                  <a16:creationId xmlns:a16="http://schemas.microsoft.com/office/drawing/2014/main" id="{429B03BB-BCE6-C94E-BF51-6AEBCF89F4B6}"/>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7" name="Line 33">
              <a:extLst>
                <a:ext uri="{FF2B5EF4-FFF2-40B4-BE49-F238E27FC236}">
                  <a16:creationId xmlns:a16="http://schemas.microsoft.com/office/drawing/2014/main" id="{7A1EA7AC-2625-844B-9F60-9FCE3CFFE4BB}"/>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8" name="Line 34">
              <a:extLst>
                <a:ext uri="{FF2B5EF4-FFF2-40B4-BE49-F238E27FC236}">
                  <a16:creationId xmlns:a16="http://schemas.microsoft.com/office/drawing/2014/main" id="{B8861531-4654-A843-87A2-1916DE31BF9E}"/>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9" name="Line 35">
              <a:extLst>
                <a:ext uri="{FF2B5EF4-FFF2-40B4-BE49-F238E27FC236}">
                  <a16:creationId xmlns:a16="http://schemas.microsoft.com/office/drawing/2014/main" id="{42AE3A88-D733-054F-8021-756564542D86}"/>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0" name="Line 36">
              <a:extLst>
                <a:ext uri="{FF2B5EF4-FFF2-40B4-BE49-F238E27FC236}">
                  <a16:creationId xmlns:a16="http://schemas.microsoft.com/office/drawing/2014/main" id="{956310C8-C0DA-1947-B831-25D09DF654BE}"/>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33" name="Text Box 37">
            <a:extLst>
              <a:ext uri="{FF2B5EF4-FFF2-40B4-BE49-F238E27FC236}">
                <a16:creationId xmlns:a16="http://schemas.microsoft.com/office/drawing/2014/main" id="{51F4410E-EDA0-404B-9470-7BCCE683F4CD}"/>
              </a:ext>
            </a:extLst>
          </p:cNvPr>
          <p:cNvSpPr txBox="1">
            <a:spLocks noChangeArrowheads="1"/>
          </p:cNvSpPr>
          <p:nvPr/>
        </p:nvSpPr>
        <p:spPr bwMode="auto">
          <a:xfrm>
            <a:off x="7153798" y="2806902"/>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0</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4" name="Text Box 38">
            <a:extLst>
              <a:ext uri="{FF2B5EF4-FFF2-40B4-BE49-F238E27FC236}">
                <a16:creationId xmlns:a16="http://schemas.microsoft.com/office/drawing/2014/main" id="{B984DE00-A1F0-E34E-9E38-F85DF1714734}"/>
              </a:ext>
            </a:extLst>
          </p:cNvPr>
          <p:cNvSpPr txBox="1">
            <a:spLocks noChangeArrowheads="1"/>
          </p:cNvSpPr>
          <p:nvPr/>
        </p:nvSpPr>
        <p:spPr bwMode="auto">
          <a:xfrm>
            <a:off x="6656911" y="2862465"/>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1</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5" name="Text Box 39">
            <a:extLst>
              <a:ext uri="{FF2B5EF4-FFF2-40B4-BE49-F238E27FC236}">
                <a16:creationId xmlns:a16="http://schemas.microsoft.com/office/drawing/2014/main" id="{9C78DE6A-2A5B-B241-92EA-489EFFCF4A4F}"/>
              </a:ext>
            </a:extLst>
          </p:cNvPr>
          <p:cNvSpPr txBox="1">
            <a:spLocks noChangeArrowheads="1"/>
          </p:cNvSpPr>
          <p:nvPr/>
        </p:nvSpPr>
        <p:spPr bwMode="auto">
          <a:xfrm>
            <a:off x="7574486" y="3653040"/>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6</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6" name="Text Box 40">
            <a:extLst>
              <a:ext uri="{FF2B5EF4-FFF2-40B4-BE49-F238E27FC236}">
                <a16:creationId xmlns:a16="http://schemas.microsoft.com/office/drawing/2014/main" id="{88888D9A-367C-0B45-B853-7E15BB4375D2}"/>
              </a:ext>
            </a:extLst>
          </p:cNvPr>
          <p:cNvSpPr txBox="1">
            <a:spLocks noChangeArrowheads="1"/>
          </p:cNvSpPr>
          <p:nvPr/>
        </p:nvSpPr>
        <p:spPr bwMode="auto">
          <a:xfrm>
            <a:off x="7169673" y="4045152"/>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7" name="Text Box 41">
            <a:extLst>
              <a:ext uri="{FF2B5EF4-FFF2-40B4-BE49-F238E27FC236}">
                <a16:creationId xmlns:a16="http://schemas.microsoft.com/office/drawing/2014/main" id="{101F3E60-0316-8640-A5CC-4F16F52028FD}"/>
              </a:ext>
            </a:extLst>
          </p:cNvPr>
          <p:cNvSpPr txBox="1">
            <a:spLocks noChangeArrowheads="1"/>
          </p:cNvSpPr>
          <p:nvPr/>
        </p:nvSpPr>
        <p:spPr bwMode="auto">
          <a:xfrm>
            <a:off x="6663261" y="4045152"/>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4</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8" name="Text Box 42">
            <a:extLst>
              <a:ext uri="{FF2B5EF4-FFF2-40B4-BE49-F238E27FC236}">
                <a16:creationId xmlns:a16="http://schemas.microsoft.com/office/drawing/2014/main" id="{DA5F73F7-E447-DD47-8E60-5EAB3A589918}"/>
              </a:ext>
            </a:extLst>
          </p:cNvPr>
          <p:cNvSpPr txBox="1">
            <a:spLocks noChangeArrowheads="1"/>
          </p:cNvSpPr>
          <p:nvPr/>
        </p:nvSpPr>
        <p:spPr bwMode="auto">
          <a:xfrm>
            <a:off x="6275911" y="3672090"/>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3</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9" name="Text Box 43">
            <a:extLst>
              <a:ext uri="{FF2B5EF4-FFF2-40B4-BE49-F238E27FC236}">
                <a16:creationId xmlns:a16="http://schemas.microsoft.com/office/drawing/2014/main" id="{325AAD4E-E72A-164D-B814-11D4053C5222}"/>
              </a:ext>
            </a:extLst>
          </p:cNvPr>
          <p:cNvSpPr txBox="1">
            <a:spLocks noChangeArrowheads="1"/>
          </p:cNvSpPr>
          <p:nvPr/>
        </p:nvSpPr>
        <p:spPr bwMode="auto">
          <a:xfrm>
            <a:off x="6299723" y="3197427"/>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2</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nvGrpSpPr>
          <p:cNvPr id="42" name="组合 41">
            <a:extLst>
              <a:ext uri="{FF2B5EF4-FFF2-40B4-BE49-F238E27FC236}">
                <a16:creationId xmlns:a16="http://schemas.microsoft.com/office/drawing/2014/main" id="{3A5A2DA7-37FA-4367-9309-3622473DCE53}"/>
              </a:ext>
            </a:extLst>
          </p:cNvPr>
          <p:cNvGrpSpPr/>
          <p:nvPr/>
        </p:nvGrpSpPr>
        <p:grpSpPr>
          <a:xfrm>
            <a:off x="5277373" y="2378277"/>
            <a:ext cx="931863" cy="882650"/>
            <a:chOff x="6210300" y="2466975"/>
            <a:chExt cx="931863" cy="882650"/>
          </a:xfrm>
        </p:grpSpPr>
        <p:cxnSp>
          <p:nvCxnSpPr>
            <p:cNvPr id="45" name="直接箭头连接符 44">
              <a:extLst>
                <a:ext uri="{FF2B5EF4-FFF2-40B4-BE49-F238E27FC236}">
                  <a16:creationId xmlns:a16="http://schemas.microsoft.com/office/drawing/2014/main" id="{93A50F33-F800-4545-83B2-791683C494DB}"/>
                </a:ext>
              </a:extLst>
            </p:cNvPr>
            <p:cNvCxnSpPr>
              <a:cxnSpLocks noChangeShapeType="1"/>
            </p:cNvCxnSpPr>
            <p:nvPr/>
          </p:nvCxnSpPr>
          <p:spPr bwMode="auto">
            <a:xfrm>
              <a:off x="6494463" y="2909888"/>
              <a:ext cx="501650" cy="43973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6" name="Text Box 16">
              <a:extLst>
                <a:ext uri="{FF2B5EF4-FFF2-40B4-BE49-F238E27FC236}">
                  <a16:creationId xmlns:a16="http://schemas.microsoft.com/office/drawing/2014/main" id="{F4C6E4BE-96AB-654D-803B-47AED4F80EB8}"/>
                </a:ext>
              </a:extLst>
            </p:cNvPr>
            <p:cNvSpPr txBox="1">
              <a:spLocks noChangeArrowheads="1"/>
            </p:cNvSpPr>
            <p:nvPr/>
          </p:nvSpPr>
          <p:spPr bwMode="auto">
            <a:xfrm>
              <a:off x="6210300" y="2466975"/>
              <a:ext cx="931863"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361D4A32-1091-49E4-A6D1-B9401AEA0541}"/>
              </a:ext>
            </a:extLst>
          </p:cNvPr>
          <p:cNvGrpSpPr/>
          <p:nvPr/>
        </p:nvGrpSpPr>
        <p:grpSpPr>
          <a:xfrm>
            <a:off x="4823348" y="4076902"/>
            <a:ext cx="1366838" cy="611188"/>
            <a:chOff x="5756275" y="4165600"/>
            <a:chExt cx="1366838" cy="611188"/>
          </a:xfrm>
        </p:grpSpPr>
        <p:cxnSp>
          <p:nvCxnSpPr>
            <p:cNvPr id="47" name="直接箭头连接符 46">
              <a:extLst>
                <a:ext uri="{FF2B5EF4-FFF2-40B4-BE49-F238E27FC236}">
                  <a16:creationId xmlns:a16="http://schemas.microsoft.com/office/drawing/2014/main" id="{907FB49D-D0EA-44FF-ABD2-035B13483F2F}"/>
                </a:ext>
              </a:extLst>
            </p:cNvPr>
            <p:cNvCxnSpPr>
              <a:cxnSpLocks noChangeShapeType="1"/>
            </p:cNvCxnSpPr>
            <p:nvPr/>
          </p:nvCxnSpPr>
          <p:spPr bwMode="auto">
            <a:xfrm flipV="1">
              <a:off x="6556375" y="4165600"/>
              <a:ext cx="566738" cy="1889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8" name="Text Box 16">
              <a:extLst>
                <a:ext uri="{FF2B5EF4-FFF2-40B4-BE49-F238E27FC236}">
                  <a16:creationId xmlns:a16="http://schemas.microsoft.com/office/drawing/2014/main" id="{6419AF2A-6584-6C49-9249-993F456B078F}"/>
                </a:ext>
              </a:extLst>
            </p:cNvPr>
            <p:cNvSpPr txBox="1">
              <a:spLocks noChangeArrowheads="1"/>
            </p:cNvSpPr>
            <p:nvPr/>
          </p:nvSpPr>
          <p:spPr bwMode="auto">
            <a:xfrm>
              <a:off x="5756275" y="4397375"/>
              <a:ext cx="96202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08" name="组合 43007">
            <a:extLst>
              <a:ext uri="{FF2B5EF4-FFF2-40B4-BE49-F238E27FC236}">
                <a16:creationId xmlns:a16="http://schemas.microsoft.com/office/drawing/2014/main" id="{082BE404-3AFB-44DB-A5C9-72E97A71D7D0}"/>
              </a:ext>
            </a:extLst>
          </p:cNvPr>
          <p:cNvGrpSpPr/>
          <p:nvPr/>
        </p:nvGrpSpPr>
        <p:grpSpPr>
          <a:xfrm>
            <a:off x="5661548" y="4642052"/>
            <a:ext cx="1057275" cy="782638"/>
            <a:chOff x="6594475" y="4730750"/>
            <a:chExt cx="1057275" cy="782638"/>
          </a:xfrm>
        </p:grpSpPr>
        <p:cxnSp>
          <p:nvCxnSpPr>
            <p:cNvPr id="49" name="直接箭头连接符 48">
              <a:extLst>
                <a:ext uri="{FF2B5EF4-FFF2-40B4-BE49-F238E27FC236}">
                  <a16:creationId xmlns:a16="http://schemas.microsoft.com/office/drawing/2014/main" id="{4942B6CC-77D9-46A3-8934-0F1BB0B433BF}"/>
                </a:ext>
              </a:extLst>
            </p:cNvPr>
            <p:cNvCxnSpPr>
              <a:cxnSpLocks noChangeShapeType="1"/>
            </p:cNvCxnSpPr>
            <p:nvPr/>
          </p:nvCxnSpPr>
          <p:spPr bwMode="auto">
            <a:xfrm rot="5400000" flipH="1" flipV="1">
              <a:off x="7310438" y="4794250"/>
              <a:ext cx="377825"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0" name="Text Box 16">
              <a:extLst>
                <a:ext uri="{FF2B5EF4-FFF2-40B4-BE49-F238E27FC236}">
                  <a16:creationId xmlns:a16="http://schemas.microsoft.com/office/drawing/2014/main" id="{C7D054E9-BC76-A141-B84B-70171EB289DC}"/>
                </a:ext>
              </a:extLst>
            </p:cNvPr>
            <p:cNvSpPr txBox="1">
              <a:spLocks noChangeArrowheads="1"/>
            </p:cNvSpPr>
            <p:nvPr/>
          </p:nvSpPr>
          <p:spPr bwMode="auto">
            <a:xfrm>
              <a:off x="6594475" y="5133975"/>
              <a:ext cx="10572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10" name="组合 43009">
            <a:extLst>
              <a:ext uri="{FF2B5EF4-FFF2-40B4-BE49-F238E27FC236}">
                <a16:creationId xmlns:a16="http://schemas.microsoft.com/office/drawing/2014/main" id="{71BCFE9B-CD9D-4C17-A4DD-8B37CBD71879}"/>
              </a:ext>
            </a:extLst>
          </p:cNvPr>
          <p:cNvGrpSpPr/>
          <p:nvPr/>
        </p:nvGrpSpPr>
        <p:grpSpPr>
          <a:xfrm>
            <a:off x="7396686" y="4580140"/>
            <a:ext cx="965200" cy="819150"/>
            <a:chOff x="8329613" y="4668838"/>
            <a:chExt cx="965200" cy="819150"/>
          </a:xfrm>
        </p:grpSpPr>
        <p:cxnSp>
          <p:nvCxnSpPr>
            <p:cNvPr id="51" name="直接箭头连接符 50">
              <a:extLst>
                <a:ext uri="{FF2B5EF4-FFF2-40B4-BE49-F238E27FC236}">
                  <a16:creationId xmlns:a16="http://schemas.microsoft.com/office/drawing/2014/main" id="{38A3AC8A-39DB-4A9C-A587-F25833C1BE80}"/>
                </a:ext>
              </a:extLst>
            </p:cNvPr>
            <p:cNvCxnSpPr>
              <a:cxnSpLocks noChangeShapeType="1"/>
            </p:cNvCxnSpPr>
            <p:nvPr/>
          </p:nvCxnSpPr>
          <p:spPr bwMode="auto">
            <a:xfrm rot="16200000" flipV="1">
              <a:off x="8410575" y="4762501"/>
              <a:ext cx="376237" cy="188912"/>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2" name="Text Box 16">
              <a:extLst>
                <a:ext uri="{FF2B5EF4-FFF2-40B4-BE49-F238E27FC236}">
                  <a16:creationId xmlns:a16="http://schemas.microsoft.com/office/drawing/2014/main" id="{0858E42A-1DAE-684C-B8A0-14EAF234CB99}"/>
                </a:ext>
              </a:extLst>
            </p:cNvPr>
            <p:cNvSpPr txBox="1">
              <a:spLocks noChangeArrowheads="1"/>
            </p:cNvSpPr>
            <p:nvPr/>
          </p:nvSpPr>
          <p:spPr bwMode="auto">
            <a:xfrm>
              <a:off x="8329613" y="5108575"/>
              <a:ext cx="965200"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11" name="组合 43010">
            <a:extLst>
              <a:ext uri="{FF2B5EF4-FFF2-40B4-BE49-F238E27FC236}">
                <a16:creationId xmlns:a16="http://schemas.microsoft.com/office/drawing/2014/main" id="{F52D6376-837A-435E-9B86-38309F42D871}"/>
              </a:ext>
            </a:extLst>
          </p:cNvPr>
          <p:cNvGrpSpPr/>
          <p:nvPr/>
        </p:nvGrpSpPr>
        <p:grpSpPr>
          <a:xfrm>
            <a:off x="8136461" y="4014990"/>
            <a:ext cx="1203325" cy="673100"/>
            <a:chOff x="9069388" y="4103688"/>
            <a:chExt cx="1203325" cy="673100"/>
          </a:xfrm>
        </p:grpSpPr>
        <p:cxnSp>
          <p:nvCxnSpPr>
            <p:cNvPr id="53" name="直接箭头连接符 52">
              <a:extLst>
                <a:ext uri="{FF2B5EF4-FFF2-40B4-BE49-F238E27FC236}">
                  <a16:creationId xmlns:a16="http://schemas.microsoft.com/office/drawing/2014/main" id="{E5DE6DEC-2CE2-4B2B-B941-5BD44C687F63}"/>
                </a:ext>
              </a:extLst>
            </p:cNvPr>
            <p:cNvCxnSpPr>
              <a:cxnSpLocks noChangeShapeType="1"/>
            </p:cNvCxnSpPr>
            <p:nvPr/>
          </p:nvCxnSpPr>
          <p:spPr bwMode="auto">
            <a:xfrm rot="10800000">
              <a:off x="9069388" y="4103688"/>
              <a:ext cx="512762"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4" name="Text Box 16">
              <a:extLst>
                <a:ext uri="{FF2B5EF4-FFF2-40B4-BE49-F238E27FC236}">
                  <a16:creationId xmlns:a16="http://schemas.microsoft.com/office/drawing/2014/main" id="{06CDE795-0F4B-314C-B559-41D83446B186}"/>
                </a:ext>
              </a:extLst>
            </p:cNvPr>
            <p:cNvSpPr txBox="1">
              <a:spLocks noChangeArrowheads="1"/>
            </p:cNvSpPr>
            <p:nvPr/>
          </p:nvSpPr>
          <p:spPr bwMode="auto">
            <a:xfrm>
              <a:off x="9317038" y="4397375"/>
              <a:ext cx="9556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76A531D8-68DD-4E3A-A664-FEB1739664C2}"/>
              </a:ext>
            </a:extLst>
          </p:cNvPr>
          <p:cNvGrpSpPr/>
          <p:nvPr/>
        </p:nvGrpSpPr>
        <p:grpSpPr>
          <a:xfrm>
            <a:off x="7677355" y="1702278"/>
            <a:ext cx="995268" cy="946552"/>
            <a:chOff x="8610282" y="1790976"/>
            <a:chExt cx="995268" cy="946552"/>
          </a:xfrm>
        </p:grpSpPr>
        <p:sp>
          <p:nvSpPr>
            <p:cNvPr id="55" name="Text Box 19">
              <a:extLst>
                <a:ext uri="{FF2B5EF4-FFF2-40B4-BE49-F238E27FC236}">
                  <a16:creationId xmlns:a16="http://schemas.microsoft.com/office/drawing/2014/main" id="{F060AEE6-0627-D94D-9D8D-A345B7936517}"/>
                </a:ext>
              </a:extLst>
            </p:cNvPr>
            <p:cNvSpPr txBox="1">
              <a:spLocks noChangeArrowheads="1"/>
            </p:cNvSpPr>
            <p:nvPr/>
          </p:nvSpPr>
          <p:spPr bwMode="auto">
            <a:xfrm>
              <a:off x="8622887" y="1790976"/>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EAF77A7-B021-4245-B9E9-7958DE81D4B2}"/>
                </a:ext>
              </a:extLst>
            </p:cNvPr>
            <p:cNvCxnSpPr>
              <a:cxnSpLocks/>
            </p:cNvCxnSpPr>
            <p:nvPr/>
          </p:nvCxnSpPr>
          <p:spPr>
            <a:xfrm flipH="1">
              <a:off x="8610282" y="2247287"/>
              <a:ext cx="396875" cy="490241"/>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57" name="Text Box 52">
            <a:extLst>
              <a:ext uri="{FF2B5EF4-FFF2-40B4-BE49-F238E27FC236}">
                <a16:creationId xmlns:a16="http://schemas.microsoft.com/office/drawing/2014/main" id="{2054E3B7-C6A5-42C1-B86B-8DF33F5828FB}"/>
              </a:ext>
            </a:extLst>
          </p:cNvPr>
          <p:cNvSpPr txBox="1">
            <a:spLocks noChangeArrowheads="1"/>
          </p:cNvSpPr>
          <p:nvPr/>
        </p:nvSpPr>
        <p:spPr bwMode="auto">
          <a:xfrm>
            <a:off x="871399" y="5327235"/>
            <a:ext cx="26717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队列空</a:t>
            </a:r>
            <a:r>
              <a:rPr kumimoji="1" lang="zh-CN" altLang="en-US"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a:t>
            </a:r>
            <a:endParaRPr kumimoji="1" lang="en-US" altLang="zh-CN"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Q.rear</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endParaRPr kumimoji="1" lang="zh-CN" altLang="en-US" sz="20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8" name="Text Box 53">
            <a:extLst>
              <a:ext uri="{FF2B5EF4-FFF2-40B4-BE49-F238E27FC236}">
                <a16:creationId xmlns:a16="http://schemas.microsoft.com/office/drawing/2014/main" id="{34AED06B-A30C-49DE-95F0-C249F0E7E92F}"/>
              </a:ext>
            </a:extLst>
          </p:cNvPr>
          <p:cNvSpPr txBox="1">
            <a:spLocks noChangeArrowheads="1"/>
          </p:cNvSpPr>
          <p:nvPr/>
        </p:nvSpPr>
        <p:spPr bwMode="auto">
          <a:xfrm>
            <a:off x="5091636" y="5523115"/>
            <a:ext cx="639322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C00000"/>
                </a:solidFill>
                <a:latin typeface="微软雅黑" panose="020B0503020204020204" pitchFamily="34" charset="-122"/>
                <a:ea typeface="微软雅黑" panose="020B0503020204020204" pitchFamily="34" charset="-122"/>
                <a:cs typeface="华文细黑" panose="02010600040101010101" pitchFamily="2" charset="-122"/>
              </a:rPr>
              <a:t>队列满：</a:t>
            </a:r>
            <a:endParaRPr kumimoji="1" lang="zh-CN" altLang="en-US" sz="2400" b="1" dirty="0">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(Q.rear+1) mod M ==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表示顺序表长度）</a:t>
            </a:r>
            <a:endPar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43012" name="组合 43011">
            <a:extLst>
              <a:ext uri="{FF2B5EF4-FFF2-40B4-BE49-F238E27FC236}">
                <a16:creationId xmlns:a16="http://schemas.microsoft.com/office/drawing/2014/main" id="{6CC139F5-5156-4A2D-B6DC-B59EBE8F40A5}"/>
              </a:ext>
            </a:extLst>
          </p:cNvPr>
          <p:cNvGrpSpPr/>
          <p:nvPr/>
        </p:nvGrpSpPr>
        <p:grpSpPr>
          <a:xfrm>
            <a:off x="8109848" y="3177439"/>
            <a:ext cx="1310859" cy="422274"/>
            <a:chOff x="9044403" y="3306764"/>
            <a:chExt cx="1310859" cy="422274"/>
          </a:xfrm>
        </p:grpSpPr>
        <p:cxnSp>
          <p:nvCxnSpPr>
            <p:cNvPr id="59" name="直接箭头连接符 58">
              <a:extLst>
                <a:ext uri="{FF2B5EF4-FFF2-40B4-BE49-F238E27FC236}">
                  <a16:creationId xmlns:a16="http://schemas.microsoft.com/office/drawing/2014/main" id="{1480890D-58F2-4A22-B026-63E1B74B1993}"/>
                </a:ext>
              </a:extLst>
            </p:cNvPr>
            <p:cNvCxnSpPr>
              <a:cxnSpLocks noChangeShapeType="1"/>
            </p:cNvCxnSpPr>
            <p:nvPr/>
          </p:nvCxnSpPr>
          <p:spPr bwMode="auto">
            <a:xfrm flipH="1">
              <a:off x="9044403" y="3306764"/>
              <a:ext cx="620296" cy="42861"/>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0" name="Text Box 16">
              <a:extLst>
                <a:ext uri="{FF2B5EF4-FFF2-40B4-BE49-F238E27FC236}">
                  <a16:creationId xmlns:a16="http://schemas.microsoft.com/office/drawing/2014/main" id="{F270D4AE-87D8-4D83-8496-0CECC2335C8E}"/>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0" name="组合 39">
            <a:extLst>
              <a:ext uri="{FF2B5EF4-FFF2-40B4-BE49-F238E27FC236}">
                <a16:creationId xmlns:a16="http://schemas.microsoft.com/office/drawing/2014/main" id="{DBFBD286-9698-47B2-B492-DF5D96F41E8D}"/>
              </a:ext>
            </a:extLst>
          </p:cNvPr>
          <p:cNvGrpSpPr/>
          <p:nvPr/>
        </p:nvGrpSpPr>
        <p:grpSpPr>
          <a:xfrm>
            <a:off x="6798353" y="1563122"/>
            <a:ext cx="1119188" cy="1012800"/>
            <a:chOff x="7731280" y="1651820"/>
            <a:chExt cx="1119188" cy="1012800"/>
          </a:xfrm>
        </p:grpSpPr>
        <p:sp>
          <p:nvSpPr>
            <p:cNvPr id="44" name="Text Box 16">
              <a:extLst>
                <a:ext uri="{FF2B5EF4-FFF2-40B4-BE49-F238E27FC236}">
                  <a16:creationId xmlns:a16="http://schemas.microsoft.com/office/drawing/2014/main" id="{93D0D1AA-CF46-824A-A692-30E9E3B56796}"/>
                </a:ext>
              </a:extLst>
            </p:cNvPr>
            <p:cNvSpPr txBox="1">
              <a:spLocks noChangeArrowheads="1"/>
            </p:cNvSpPr>
            <p:nvPr/>
          </p:nvSpPr>
          <p:spPr bwMode="auto">
            <a:xfrm>
              <a:off x="7731280" y="1651820"/>
              <a:ext cx="1119188" cy="37941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61" name="直接箭头连接符 60">
              <a:extLst>
                <a:ext uri="{FF2B5EF4-FFF2-40B4-BE49-F238E27FC236}">
                  <a16:creationId xmlns:a16="http://schemas.microsoft.com/office/drawing/2014/main" id="{9B43559D-6FFA-4349-BE15-C490F6A0D044}"/>
                </a:ext>
              </a:extLst>
            </p:cNvPr>
            <p:cNvCxnSpPr>
              <a:cxnSpLocks noChangeShapeType="1"/>
            </p:cNvCxnSpPr>
            <p:nvPr/>
          </p:nvCxnSpPr>
          <p:spPr bwMode="auto">
            <a:xfrm rot="16200000" flipH="1">
              <a:off x="7999572" y="2319338"/>
              <a:ext cx="565150" cy="1254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grpSp>
      <p:grpSp>
        <p:nvGrpSpPr>
          <p:cNvPr id="41" name="组合 40">
            <a:extLst>
              <a:ext uri="{FF2B5EF4-FFF2-40B4-BE49-F238E27FC236}">
                <a16:creationId xmlns:a16="http://schemas.microsoft.com/office/drawing/2014/main" id="{33F926A1-8A2C-4DA3-B068-BAC9055D1958}"/>
              </a:ext>
            </a:extLst>
          </p:cNvPr>
          <p:cNvGrpSpPr/>
          <p:nvPr/>
        </p:nvGrpSpPr>
        <p:grpSpPr>
          <a:xfrm>
            <a:off x="5906817" y="1716774"/>
            <a:ext cx="1119188" cy="915503"/>
            <a:chOff x="6839744" y="1805472"/>
            <a:chExt cx="1119188" cy="915503"/>
          </a:xfrm>
        </p:grpSpPr>
        <p:cxnSp>
          <p:nvCxnSpPr>
            <p:cNvPr id="43" name="直接箭头连接符 42">
              <a:extLst>
                <a:ext uri="{FF2B5EF4-FFF2-40B4-BE49-F238E27FC236}">
                  <a16:creationId xmlns:a16="http://schemas.microsoft.com/office/drawing/2014/main" id="{0252B8EB-692E-463F-B1F2-4F7828E7D04F}"/>
                </a:ext>
              </a:extLst>
            </p:cNvPr>
            <p:cNvCxnSpPr>
              <a:cxnSpLocks noChangeShapeType="1"/>
            </p:cNvCxnSpPr>
            <p:nvPr/>
          </p:nvCxnSpPr>
          <p:spPr bwMode="auto">
            <a:xfrm rot="16200000" flipH="1">
              <a:off x="7342982" y="2375693"/>
              <a:ext cx="565150" cy="1254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2" name="Text Box 16">
              <a:extLst>
                <a:ext uri="{FF2B5EF4-FFF2-40B4-BE49-F238E27FC236}">
                  <a16:creationId xmlns:a16="http://schemas.microsoft.com/office/drawing/2014/main" id="{8ED37648-786C-4180-856E-A1405D7D5230}"/>
                </a:ext>
              </a:extLst>
            </p:cNvPr>
            <p:cNvSpPr txBox="1">
              <a:spLocks noChangeArrowheads="1"/>
            </p:cNvSpPr>
            <p:nvPr/>
          </p:nvSpPr>
          <p:spPr bwMode="auto">
            <a:xfrm>
              <a:off x="6839744" y="1805472"/>
              <a:ext cx="1119188" cy="37941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E1592325-569F-4D67-946E-4072D932F06E}"/>
              </a:ext>
            </a:extLst>
          </p:cNvPr>
          <p:cNvGrpSpPr/>
          <p:nvPr/>
        </p:nvGrpSpPr>
        <p:grpSpPr>
          <a:xfrm>
            <a:off x="1041567" y="2006445"/>
            <a:ext cx="2316162" cy="2978150"/>
            <a:chOff x="2135188" y="1882775"/>
            <a:chExt cx="2316162" cy="2978150"/>
          </a:xfrm>
        </p:grpSpPr>
        <p:grpSp>
          <p:nvGrpSpPr>
            <p:cNvPr id="54275" name="Group 3">
              <a:extLst>
                <a:ext uri="{FF2B5EF4-FFF2-40B4-BE49-F238E27FC236}">
                  <a16:creationId xmlns:a16="http://schemas.microsoft.com/office/drawing/2014/main" id="{55E8628F-3FDD-49E5-B61B-94A1B35BBE8E}"/>
                </a:ext>
              </a:extLst>
            </p:cNvPr>
            <p:cNvGrpSpPr>
              <a:grpSpLocks/>
            </p:cNvGrpSpPr>
            <p:nvPr/>
          </p:nvGrpSpPr>
          <p:grpSpPr bwMode="auto">
            <a:xfrm>
              <a:off x="2135188" y="2806700"/>
              <a:ext cx="2092325" cy="2054225"/>
              <a:chOff x="2064" y="1152"/>
              <a:chExt cx="1968" cy="1968"/>
            </a:xfrm>
          </p:grpSpPr>
          <p:grpSp>
            <p:nvGrpSpPr>
              <p:cNvPr id="54315" name="Group 4">
                <a:extLst>
                  <a:ext uri="{FF2B5EF4-FFF2-40B4-BE49-F238E27FC236}">
                    <a16:creationId xmlns:a16="http://schemas.microsoft.com/office/drawing/2014/main" id="{5B2FCB5D-78A0-4CA1-AB7C-B87C6EC70390}"/>
                  </a:ext>
                </a:extLst>
              </p:cNvPr>
              <p:cNvGrpSpPr>
                <a:grpSpLocks/>
              </p:cNvGrpSpPr>
              <p:nvPr/>
            </p:nvGrpSpPr>
            <p:grpSpPr bwMode="auto">
              <a:xfrm>
                <a:off x="2064" y="1152"/>
                <a:ext cx="1968" cy="1968"/>
                <a:chOff x="2064" y="1152"/>
                <a:chExt cx="1968" cy="1968"/>
              </a:xfrm>
            </p:grpSpPr>
            <p:sp>
              <p:nvSpPr>
                <p:cNvPr id="17" name="Oval 5">
                  <a:extLst>
                    <a:ext uri="{FF2B5EF4-FFF2-40B4-BE49-F238E27FC236}">
                      <a16:creationId xmlns:a16="http://schemas.microsoft.com/office/drawing/2014/main" id="{ED18836D-5435-FE45-A8E1-19825A846026}"/>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8" name="Oval 6">
                  <a:extLst>
                    <a:ext uri="{FF2B5EF4-FFF2-40B4-BE49-F238E27FC236}">
                      <a16:creationId xmlns:a16="http://schemas.microsoft.com/office/drawing/2014/main" id="{7892D986-EBF7-CF43-AB63-58FC34A26DDA}"/>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9" name="Line 7">
                <a:extLst>
                  <a:ext uri="{FF2B5EF4-FFF2-40B4-BE49-F238E27FC236}">
                    <a16:creationId xmlns:a16="http://schemas.microsoft.com/office/drawing/2014/main" id="{D9BBCC9B-8911-1B4E-9103-FF78D68233B9}"/>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B101302B-81AF-784B-B3A1-A313D3390509}"/>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753EC7C-822C-674D-A121-E013D9DD037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018C16E1-7D42-AC46-AAE9-1C2437B8C6F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2B8CC419-24BE-224D-9AE0-F291C7E6AC6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BDA61EA4-58DC-9249-95C6-83AE175E40D7}"/>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5" name="Line 13">
                <a:extLst>
                  <a:ext uri="{FF2B5EF4-FFF2-40B4-BE49-F238E27FC236}">
                    <a16:creationId xmlns:a16="http://schemas.microsoft.com/office/drawing/2014/main" id="{4118088E-2E4D-1A44-8185-D3452C9C7F9B}"/>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6" name="Line 14">
                <a:extLst>
                  <a:ext uri="{FF2B5EF4-FFF2-40B4-BE49-F238E27FC236}">
                    <a16:creationId xmlns:a16="http://schemas.microsoft.com/office/drawing/2014/main" id="{9E5F23C9-87BD-BA40-A14A-50D5E3A923CA}"/>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9" name="Text Box 16">
              <a:extLst>
                <a:ext uri="{FF2B5EF4-FFF2-40B4-BE49-F238E27FC236}">
                  <a16:creationId xmlns:a16="http://schemas.microsoft.com/office/drawing/2014/main" id="{B553C2A3-2FB3-2744-8CB4-6E0B4446D2FF}"/>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0" name="Text Box 19">
              <a:extLst>
                <a:ext uri="{FF2B5EF4-FFF2-40B4-BE49-F238E27FC236}">
                  <a16:creationId xmlns:a16="http://schemas.microsoft.com/office/drawing/2014/main" id="{AA7DDFC8-7D65-A345-8572-6A3371EB12C4}"/>
                </a:ext>
              </a:extLst>
            </p:cNvPr>
            <p:cNvSpPr txBox="1">
              <a:spLocks noChangeArrowheads="1"/>
            </p:cNvSpPr>
            <p:nvPr/>
          </p:nvSpPr>
          <p:spPr bwMode="auto">
            <a:xfrm>
              <a:off x="2674938" y="1882775"/>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4286" name="直接箭头连接符 40">
              <a:extLst>
                <a:ext uri="{FF2B5EF4-FFF2-40B4-BE49-F238E27FC236}">
                  <a16:creationId xmlns:a16="http://schemas.microsoft.com/office/drawing/2014/main" id="{CD17F272-C9AE-4A40-8551-D9EDBF4D5D97}"/>
                </a:ext>
              </a:extLst>
            </p:cNvPr>
            <p:cNvCxnSpPr>
              <a:cxnSpLocks noChangeShapeType="1"/>
              <a:stCxn id="19"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287" name="直接箭头连接符 41">
              <a:extLst>
                <a:ext uri="{FF2B5EF4-FFF2-40B4-BE49-F238E27FC236}">
                  <a16:creationId xmlns:a16="http://schemas.microsoft.com/office/drawing/2014/main" id="{2E47B3DA-A909-4B0C-9D76-44A4102B0537}"/>
                </a:ext>
              </a:extLst>
            </p:cNvPr>
            <p:cNvCxnSpPr>
              <a:cxnSpLocks noChangeShapeType="1"/>
              <a:stCxn id="20" idx="2"/>
            </p:cNvCxnSpPr>
            <p:nvPr/>
          </p:nvCxnSpPr>
          <p:spPr bwMode="auto">
            <a:xfrm>
              <a:off x="3167063" y="2262188"/>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 name="文本框 6">
              <a:extLst>
                <a:ext uri="{FF2B5EF4-FFF2-40B4-BE49-F238E27FC236}">
                  <a16:creationId xmlns:a16="http://schemas.microsoft.com/office/drawing/2014/main" id="{703A7908-30F8-4605-A362-972577F45DD0}"/>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64" name="文本框 63">
              <a:extLst>
                <a:ext uri="{FF2B5EF4-FFF2-40B4-BE49-F238E27FC236}">
                  <a16:creationId xmlns:a16="http://schemas.microsoft.com/office/drawing/2014/main" id="{028A37C8-EECE-42F4-AEF7-6032783A03A2}"/>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65" name="文本框 64">
              <a:extLst>
                <a:ext uri="{FF2B5EF4-FFF2-40B4-BE49-F238E27FC236}">
                  <a16:creationId xmlns:a16="http://schemas.microsoft.com/office/drawing/2014/main" id="{83BA3935-954E-42F2-ABA0-44C7BCB97F88}"/>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67" name="文本框 66">
              <a:extLst>
                <a:ext uri="{FF2B5EF4-FFF2-40B4-BE49-F238E27FC236}">
                  <a16:creationId xmlns:a16="http://schemas.microsoft.com/office/drawing/2014/main" id="{063F2102-4180-4A6A-8AC4-A79C1B8E1014}"/>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68" name="文本框 67">
              <a:extLst>
                <a:ext uri="{FF2B5EF4-FFF2-40B4-BE49-F238E27FC236}">
                  <a16:creationId xmlns:a16="http://schemas.microsoft.com/office/drawing/2014/main" id="{2589A556-B433-411C-92F6-209FD6B7B445}"/>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69" name="文本框 68">
              <a:extLst>
                <a:ext uri="{FF2B5EF4-FFF2-40B4-BE49-F238E27FC236}">
                  <a16:creationId xmlns:a16="http://schemas.microsoft.com/office/drawing/2014/main" id="{726349CE-73D3-4518-83B8-5BA64E3E7ED4}"/>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0" name="文本框 69">
              <a:extLst>
                <a:ext uri="{FF2B5EF4-FFF2-40B4-BE49-F238E27FC236}">
                  <a16:creationId xmlns:a16="http://schemas.microsoft.com/office/drawing/2014/main" id="{48685157-C805-4A34-AFEA-185FD3849699}"/>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1" name="文本框 70">
              <a:extLst>
                <a:ext uri="{FF2B5EF4-FFF2-40B4-BE49-F238E27FC236}">
                  <a16:creationId xmlns:a16="http://schemas.microsoft.com/office/drawing/2014/main" id="{04E560B3-E651-4C9A-9FB7-4EE703C80407}"/>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sp>
        <p:nvSpPr>
          <p:cNvPr id="72" name="文本框 71">
            <a:extLst>
              <a:ext uri="{FF2B5EF4-FFF2-40B4-BE49-F238E27FC236}">
                <a16:creationId xmlns:a16="http://schemas.microsoft.com/office/drawing/2014/main" id="{214A4FF6-58B6-4249-86E9-486768F0E8E8}"/>
              </a:ext>
            </a:extLst>
          </p:cNvPr>
          <p:cNvSpPr txBox="1"/>
          <p:nvPr/>
        </p:nvSpPr>
        <p:spPr>
          <a:xfrm>
            <a:off x="7059398" y="3264512"/>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73" name="文本框 72">
            <a:extLst>
              <a:ext uri="{FF2B5EF4-FFF2-40B4-BE49-F238E27FC236}">
                <a16:creationId xmlns:a16="http://schemas.microsoft.com/office/drawing/2014/main" id="{9166613B-54C2-4CB3-A6AF-6F78B34DC78A}"/>
              </a:ext>
            </a:extLst>
          </p:cNvPr>
          <p:cNvSpPr txBox="1"/>
          <p:nvPr/>
        </p:nvSpPr>
        <p:spPr>
          <a:xfrm>
            <a:off x="6864597" y="3261783"/>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74" name="文本框 73">
            <a:extLst>
              <a:ext uri="{FF2B5EF4-FFF2-40B4-BE49-F238E27FC236}">
                <a16:creationId xmlns:a16="http://schemas.microsoft.com/office/drawing/2014/main" id="{66C39E84-63C0-434C-8F25-24032E95248B}"/>
              </a:ext>
            </a:extLst>
          </p:cNvPr>
          <p:cNvSpPr txBox="1"/>
          <p:nvPr/>
        </p:nvSpPr>
        <p:spPr>
          <a:xfrm>
            <a:off x="6733950" y="3388061"/>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75" name="文本框 74">
            <a:extLst>
              <a:ext uri="{FF2B5EF4-FFF2-40B4-BE49-F238E27FC236}">
                <a16:creationId xmlns:a16="http://schemas.microsoft.com/office/drawing/2014/main" id="{C8A03BF3-197F-434A-8413-FD5BD023FEDF}"/>
              </a:ext>
            </a:extLst>
          </p:cNvPr>
          <p:cNvSpPr txBox="1"/>
          <p:nvPr/>
        </p:nvSpPr>
        <p:spPr>
          <a:xfrm>
            <a:off x="6758227" y="3550170"/>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76" name="文本框 75">
            <a:extLst>
              <a:ext uri="{FF2B5EF4-FFF2-40B4-BE49-F238E27FC236}">
                <a16:creationId xmlns:a16="http://schemas.microsoft.com/office/drawing/2014/main" id="{FF5AB62D-3331-4173-BD13-E7523E3E0F14}"/>
              </a:ext>
            </a:extLst>
          </p:cNvPr>
          <p:cNvSpPr txBox="1"/>
          <p:nvPr/>
        </p:nvSpPr>
        <p:spPr>
          <a:xfrm>
            <a:off x="6855763" y="3656850"/>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77" name="文本框 76">
            <a:extLst>
              <a:ext uri="{FF2B5EF4-FFF2-40B4-BE49-F238E27FC236}">
                <a16:creationId xmlns:a16="http://schemas.microsoft.com/office/drawing/2014/main" id="{76686503-0201-44FD-B661-6C971DF31F1F}"/>
              </a:ext>
            </a:extLst>
          </p:cNvPr>
          <p:cNvSpPr txBox="1"/>
          <p:nvPr/>
        </p:nvSpPr>
        <p:spPr>
          <a:xfrm>
            <a:off x="7044739" y="3662946"/>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8" name="文本框 77">
            <a:extLst>
              <a:ext uri="{FF2B5EF4-FFF2-40B4-BE49-F238E27FC236}">
                <a16:creationId xmlns:a16="http://schemas.microsoft.com/office/drawing/2014/main" id="{A6F637F3-A48C-4F07-9C5A-3F4D7A991CC8}"/>
              </a:ext>
            </a:extLst>
          </p:cNvPr>
          <p:cNvSpPr txBox="1"/>
          <p:nvPr/>
        </p:nvSpPr>
        <p:spPr>
          <a:xfrm>
            <a:off x="7197139" y="3559314"/>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9" name="文本框 78">
            <a:extLst>
              <a:ext uri="{FF2B5EF4-FFF2-40B4-BE49-F238E27FC236}">
                <a16:creationId xmlns:a16="http://schemas.microsoft.com/office/drawing/2014/main" id="{47B1824A-CA1C-46F4-9F35-C1960C8E0A25}"/>
              </a:ext>
            </a:extLst>
          </p:cNvPr>
          <p:cNvSpPr txBox="1"/>
          <p:nvPr/>
        </p:nvSpPr>
        <p:spPr>
          <a:xfrm>
            <a:off x="7184947" y="3373386"/>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82" name="任意多边形: 形状 9">
            <a:extLst>
              <a:ext uri="{FF2B5EF4-FFF2-40B4-BE49-F238E27FC236}">
                <a16:creationId xmlns:a16="http://schemas.microsoft.com/office/drawing/2014/main" id="{436DB8A6-2A8D-4A83-A579-35AF820C341E}"/>
              </a:ext>
            </a:extLst>
          </p:cNvPr>
          <p:cNvSpPr/>
          <p:nvPr/>
        </p:nvSpPr>
        <p:spPr>
          <a:xfrm>
            <a:off x="574697" y="1121444"/>
            <a:ext cx="1807042"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lang="zh-CN" altLang="en-US" sz="2400" kern="1200" dirty="0">
                <a:solidFill>
                  <a:schemeClr val="bg1"/>
                </a:solidFill>
                <a:latin typeface="Microsoft YaHei" panose="020B0503020204020204" pitchFamily="34" charset="-122"/>
                <a:ea typeface="Microsoft YaHei" panose="020B0503020204020204" pitchFamily="34" charset="-122"/>
              </a:rPr>
              <a:t>虚指针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sp>
        <p:nvSpPr>
          <p:cNvPr id="43013" name="文本框 43012">
            <a:extLst>
              <a:ext uri="{FF2B5EF4-FFF2-40B4-BE49-F238E27FC236}">
                <a16:creationId xmlns:a16="http://schemas.microsoft.com/office/drawing/2014/main" id="{F55A0BEB-2C2C-4C51-B6ED-46F6004F4501}"/>
              </a:ext>
            </a:extLst>
          </p:cNvPr>
          <p:cNvSpPr txBox="1"/>
          <p:nvPr/>
        </p:nvSpPr>
        <p:spPr>
          <a:xfrm>
            <a:off x="9630890" y="162002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0</a:t>
            </a:r>
            <a:r>
              <a:rPr lang="en-US" altLang="zh-CN" sz="2400" dirty="0">
                <a:solidFill>
                  <a:srgbClr val="00B0F0"/>
                </a:solidFill>
              </a:rPr>
              <a:t>)</a:t>
            </a:r>
            <a:endParaRPr lang="zh-CN" altLang="en-US" sz="2400" dirty="0">
              <a:solidFill>
                <a:srgbClr val="00B0F0"/>
              </a:solidFill>
            </a:endParaRPr>
          </a:p>
        </p:txBody>
      </p:sp>
      <p:sp>
        <p:nvSpPr>
          <p:cNvPr id="93" name="文本框 92">
            <a:extLst>
              <a:ext uri="{FF2B5EF4-FFF2-40B4-BE49-F238E27FC236}">
                <a16:creationId xmlns:a16="http://schemas.microsoft.com/office/drawing/2014/main" id="{C8E9B55C-879D-470D-A62D-0CDACF1DEE45}"/>
              </a:ext>
            </a:extLst>
          </p:cNvPr>
          <p:cNvSpPr txBox="1"/>
          <p:nvPr/>
        </p:nvSpPr>
        <p:spPr>
          <a:xfrm>
            <a:off x="9628021" y="2133988"/>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1</a:t>
            </a:r>
            <a:r>
              <a:rPr lang="en-US" altLang="zh-CN" sz="2400" dirty="0">
                <a:solidFill>
                  <a:srgbClr val="00B0F0"/>
                </a:solidFill>
              </a:rPr>
              <a:t>)</a:t>
            </a:r>
            <a:endParaRPr lang="zh-CN" altLang="en-US" sz="2400" dirty="0">
              <a:solidFill>
                <a:srgbClr val="00B0F0"/>
              </a:solidFill>
            </a:endParaRPr>
          </a:p>
        </p:txBody>
      </p:sp>
      <p:sp>
        <p:nvSpPr>
          <p:cNvPr id="94" name="文本框 93">
            <a:extLst>
              <a:ext uri="{FF2B5EF4-FFF2-40B4-BE49-F238E27FC236}">
                <a16:creationId xmlns:a16="http://schemas.microsoft.com/office/drawing/2014/main" id="{8361D323-E60B-4D17-BE3C-79372FA00CA4}"/>
              </a:ext>
            </a:extLst>
          </p:cNvPr>
          <p:cNvSpPr txBox="1"/>
          <p:nvPr/>
        </p:nvSpPr>
        <p:spPr>
          <a:xfrm>
            <a:off x="9632059" y="267894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2</a:t>
            </a:r>
            <a:r>
              <a:rPr lang="en-US" altLang="zh-CN" sz="2400" dirty="0">
                <a:solidFill>
                  <a:srgbClr val="00B0F0"/>
                </a:solidFill>
              </a:rPr>
              <a:t>)</a:t>
            </a:r>
            <a:endParaRPr lang="zh-CN" altLang="en-US" sz="2400" dirty="0">
              <a:solidFill>
                <a:srgbClr val="00B0F0"/>
              </a:solidFill>
            </a:endParaRPr>
          </a:p>
        </p:txBody>
      </p:sp>
      <p:sp>
        <p:nvSpPr>
          <p:cNvPr id="95" name="文本框 94">
            <a:extLst>
              <a:ext uri="{FF2B5EF4-FFF2-40B4-BE49-F238E27FC236}">
                <a16:creationId xmlns:a16="http://schemas.microsoft.com/office/drawing/2014/main" id="{A9F1D82C-C639-4218-A511-578BE488F26C}"/>
              </a:ext>
            </a:extLst>
          </p:cNvPr>
          <p:cNvSpPr txBox="1"/>
          <p:nvPr/>
        </p:nvSpPr>
        <p:spPr>
          <a:xfrm>
            <a:off x="9628021" y="317867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3</a:t>
            </a:r>
            <a:r>
              <a:rPr lang="en-US" altLang="zh-CN" sz="2400" dirty="0">
                <a:solidFill>
                  <a:srgbClr val="00B0F0"/>
                </a:solidFill>
              </a:rPr>
              <a:t>)</a:t>
            </a:r>
            <a:endParaRPr lang="zh-CN" altLang="en-US" sz="2400" dirty="0">
              <a:solidFill>
                <a:srgbClr val="00B0F0"/>
              </a:solidFill>
            </a:endParaRPr>
          </a:p>
        </p:txBody>
      </p:sp>
      <p:sp>
        <p:nvSpPr>
          <p:cNvPr id="96" name="文本框 95">
            <a:extLst>
              <a:ext uri="{FF2B5EF4-FFF2-40B4-BE49-F238E27FC236}">
                <a16:creationId xmlns:a16="http://schemas.microsoft.com/office/drawing/2014/main" id="{C26A539D-0912-4416-94C3-6FEC2A78A3C0}"/>
              </a:ext>
            </a:extLst>
          </p:cNvPr>
          <p:cNvSpPr txBox="1"/>
          <p:nvPr/>
        </p:nvSpPr>
        <p:spPr>
          <a:xfrm>
            <a:off x="9631478" y="3733794"/>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4</a:t>
            </a:r>
            <a:r>
              <a:rPr lang="en-US" altLang="zh-CN" sz="2400" dirty="0">
                <a:solidFill>
                  <a:srgbClr val="00B0F0"/>
                </a:solidFill>
              </a:rPr>
              <a:t>)</a:t>
            </a:r>
            <a:endParaRPr lang="zh-CN" altLang="en-US" sz="2400" dirty="0">
              <a:solidFill>
                <a:srgbClr val="00B0F0"/>
              </a:solidFill>
            </a:endParaRPr>
          </a:p>
        </p:txBody>
      </p:sp>
      <p:sp>
        <p:nvSpPr>
          <p:cNvPr id="97" name="文本框 96">
            <a:extLst>
              <a:ext uri="{FF2B5EF4-FFF2-40B4-BE49-F238E27FC236}">
                <a16:creationId xmlns:a16="http://schemas.microsoft.com/office/drawing/2014/main" id="{2A2F1AF8-5932-4E04-9278-EEC1386A5530}"/>
              </a:ext>
            </a:extLst>
          </p:cNvPr>
          <p:cNvSpPr txBox="1"/>
          <p:nvPr/>
        </p:nvSpPr>
        <p:spPr>
          <a:xfrm>
            <a:off x="9625841" y="4324448"/>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5</a:t>
            </a:r>
            <a:r>
              <a:rPr lang="en-US" altLang="zh-CN" sz="2400" dirty="0">
                <a:solidFill>
                  <a:srgbClr val="00B0F0"/>
                </a:solidFill>
              </a:rPr>
              <a:t>)</a:t>
            </a:r>
            <a:endParaRPr lang="zh-CN" altLang="en-US" sz="2400" dirty="0">
              <a:solidFill>
                <a:srgbClr val="00B0F0"/>
              </a:solidFill>
            </a:endParaRPr>
          </a:p>
        </p:txBody>
      </p:sp>
      <p:sp>
        <p:nvSpPr>
          <p:cNvPr id="98" name="文本框 97">
            <a:extLst>
              <a:ext uri="{FF2B5EF4-FFF2-40B4-BE49-F238E27FC236}">
                <a16:creationId xmlns:a16="http://schemas.microsoft.com/office/drawing/2014/main" id="{C28B2B81-8E86-4818-8C02-7A56C26B2500}"/>
              </a:ext>
            </a:extLst>
          </p:cNvPr>
          <p:cNvSpPr txBox="1"/>
          <p:nvPr/>
        </p:nvSpPr>
        <p:spPr>
          <a:xfrm>
            <a:off x="9625841" y="4879567"/>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6</a:t>
            </a:r>
            <a:r>
              <a:rPr lang="en-US" altLang="zh-CN" sz="2400" dirty="0">
                <a:solidFill>
                  <a:srgbClr val="00B0F0"/>
                </a:solidFill>
              </a:rPr>
              <a:t>)</a:t>
            </a:r>
            <a:endParaRPr lang="zh-CN" altLang="en-US" sz="2400" dirty="0">
              <a:solidFill>
                <a:srgbClr val="00B0F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4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6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00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43008"/>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301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43010"/>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301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4301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301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p:bldP spid="39" grpId="0"/>
      <p:bldP spid="58" grpId="0"/>
      <p:bldP spid="43013" grpId="0"/>
      <p:bldP spid="93" grpId="0"/>
      <p:bldP spid="94" grpId="0"/>
      <p:bldP spid="95" grpId="0"/>
      <p:bldP spid="96" grpId="0"/>
      <p:bldP spid="97" grpId="0"/>
      <p:bldP spid="9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ABB5C10-EA58-4302-BFF0-E6CDD7D7BF5D}"/>
              </a:ext>
            </a:extLst>
          </p:cNvPr>
          <p:cNvSpPr txBox="1"/>
          <p:nvPr>
            <p:custDataLst>
              <p:tags r:id="rId2"/>
            </p:custDataLst>
          </p:nvPr>
        </p:nvSpPr>
        <p:spPr>
          <a:xfrm>
            <a:off x="1132431" y="611281"/>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如果用</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实指针</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，空栈如何表示？</a:t>
            </a:r>
          </a:p>
        </p:txBody>
      </p:sp>
      <p:sp>
        <p:nvSpPr>
          <p:cNvPr id="13" name="椭圆 12">
            <a:extLst>
              <a:ext uri="{FF2B5EF4-FFF2-40B4-BE49-F238E27FC236}">
                <a16:creationId xmlns:a16="http://schemas.microsoft.com/office/drawing/2014/main" id="{C8F2FE14-89D3-4CAA-99A7-538E0402C6A0}"/>
              </a:ext>
            </a:extLst>
          </p:cNvPr>
          <p:cNvSpPr>
            <a:spLocks noChangeAspect="1"/>
          </p:cNvSpPr>
          <p:nvPr>
            <p:custDataLst>
              <p:tags r:id="rId3"/>
            </p:custDataLst>
          </p:nvPr>
        </p:nvSpPr>
        <p:spPr>
          <a:xfrm>
            <a:off x="2071454" y="5342121"/>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521E9D52-7366-45D2-9E98-533D61918134}"/>
              </a:ext>
            </a:extLst>
          </p:cNvPr>
          <p:cNvSpPr>
            <a:spLocks noChangeAspect="1"/>
          </p:cNvSpPr>
          <p:nvPr>
            <p:custDataLst>
              <p:tags r:id="rId4"/>
            </p:custDataLst>
          </p:nvPr>
        </p:nvSpPr>
        <p:spPr>
          <a:xfrm>
            <a:off x="5142447" y="5342121"/>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5F5872D9-62D2-48D3-BDC1-FDAF6BE7A47A}"/>
              </a:ext>
            </a:extLst>
          </p:cNvPr>
          <p:cNvSpPr>
            <a:spLocks noChangeAspect="1"/>
          </p:cNvSpPr>
          <p:nvPr>
            <p:custDataLst>
              <p:tags r:id="rId5"/>
            </p:custDataLst>
          </p:nvPr>
        </p:nvSpPr>
        <p:spPr>
          <a:xfrm>
            <a:off x="8332903" y="534066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968730DA-0DE0-48D3-AA23-62C1820FA22B}"/>
              </a:ext>
            </a:extLst>
          </p:cNvPr>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4" name="组合 23">
            <a:extLst>
              <a:ext uri="{FF2B5EF4-FFF2-40B4-BE49-F238E27FC236}">
                <a16:creationId xmlns:a16="http://schemas.microsoft.com/office/drawing/2014/main" id="{AF607CCE-893F-45F5-A759-DB3B5EF8B9A8}"/>
              </a:ext>
            </a:extLst>
          </p:cNvPr>
          <p:cNvGrpSpPr/>
          <p:nvPr/>
        </p:nvGrpSpPr>
        <p:grpSpPr>
          <a:xfrm>
            <a:off x="4336811" y="2245994"/>
            <a:ext cx="2394717" cy="2977677"/>
            <a:chOff x="2056633" y="1883248"/>
            <a:chExt cx="2394717" cy="2977677"/>
          </a:xfrm>
        </p:grpSpPr>
        <p:grpSp>
          <p:nvGrpSpPr>
            <p:cNvPr id="25" name="Group 3">
              <a:extLst>
                <a:ext uri="{FF2B5EF4-FFF2-40B4-BE49-F238E27FC236}">
                  <a16:creationId xmlns:a16="http://schemas.microsoft.com/office/drawing/2014/main" id="{0F47FD66-2A8E-4C99-B0C7-620AE0A2A531}"/>
                </a:ext>
              </a:extLst>
            </p:cNvPr>
            <p:cNvGrpSpPr>
              <a:grpSpLocks/>
            </p:cNvGrpSpPr>
            <p:nvPr/>
          </p:nvGrpSpPr>
          <p:grpSpPr bwMode="auto">
            <a:xfrm>
              <a:off x="2135188" y="2806700"/>
              <a:ext cx="2092325" cy="2054225"/>
              <a:chOff x="2064" y="1152"/>
              <a:chExt cx="1968" cy="1968"/>
            </a:xfrm>
          </p:grpSpPr>
          <p:grpSp>
            <p:nvGrpSpPr>
              <p:cNvPr id="38" name="Group 4">
                <a:extLst>
                  <a:ext uri="{FF2B5EF4-FFF2-40B4-BE49-F238E27FC236}">
                    <a16:creationId xmlns:a16="http://schemas.microsoft.com/office/drawing/2014/main" id="{F489D9F8-E80E-44FB-8271-313A63BDF09A}"/>
                  </a:ext>
                </a:extLst>
              </p:cNvPr>
              <p:cNvGrpSpPr>
                <a:grpSpLocks/>
              </p:cNvGrpSpPr>
              <p:nvPr/>
            </p:nvGrpSpPr>
            <p:grpSpPr bwMode="auto">
              <a:xfrm>
                <a:off x="2064" y="1152"/>
                <a:ext cx="1968" cy="1968"/>
                <a:chOff x="2064" y="1152"/>
                <a:chExt cx="1968" cy="1968"/>
              </a:xfrm>
            </p:grpSpPr>
            <p:sp>
              <p:nvSpPr>
                <p:cNvPr id="47" name="Oval 5">
                  <a:extLst>
                    <a:ext uri="{FF2B5EF4-FFF2-40B4-BE49-F238E27FC236}">
                      <a16:creationId xmlns:a16="http://schemas.microsoft.com/office/drawing/2014/main" id="{2CC27B82-6A65-458A-A6C9-0E13FDA25703}"/>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8" name="Oval 6">
                  <a:extLst>
                    <a:ext uri="{FF2B5EF4-FFF2-40B4-BE49-F238E27FC236}">
                      <a16:creationId xmlns:a16="http://schemas.microsoft.com/office/drawing/2014/main" id="{315F8020-B780-4379-B88D-13DACF34F609}"/>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39" name="Line 7">
                <a:extLst>
                  <a:ext uri="{FF2B5EF4-FFF2-40B4-BE49-F238E27FC236}">
                    <a16:creationId xmlns:a16="http://schemas.microsoft.com/office/drawing/2014/main" id="{8E59E482-E158-49E5-9186-C333897A521C}"/>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0" name="Line 8">
                <a:extLst>
                  <a:ext uri="{FF2B5EF4-FFF2-40B4-BE49-F238E27FC236}">
                    <a16:creationId xmlns:a16="http://schemas.microsoft.com/office/drawing/2014/main" id="{9DDDE320-C525-42F9-AEE3-F48C32BC4FAF}"/>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1" name="Line 9">
                <a:extLst>
                  <a:ext uri="{FF2B5EF4-FFF2-40B4-BE49-F238E27FC236}">
                    <a16:creationId xmlns:a16="http://schemas.microsoft.com/office/drawing/2014/main" id="{A9B985A6-A9EB-4FBB-BDA2-6E88E11C1EBF}"/>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2" name="Line 10">
                <a:extLst>
                  <a:ext uri="{FF2B5EF4-FFF2-40B4-BE49-F238E27FC236}">
                    <a16:creationId xmlns:a16="http://schemas.microsoft.com/office/drawing/2014/main" id="{BFD21C86-6DC7-41D3-8126-55DB7429712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3" name="Line 11">
                <a:extLst>
                  <a:ext uri="{FF2B5EF4-FFF2-40B4-BE49-F238E27FC236}">
                    <a16:creationId xmlns:a16="http://schemas.microsoft.com/office/drawing/2014/main" id="{92EE79D0-3148-4ADF-9936-3F65D8193A0D}"/>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4" name="Line 12">
                <a:extLst>
                  <a:ext uri="{FF2B5EF4-FFF2-40B4-BE49-F238E27FC236}">
                    <a16:creationId xmlns:a16="http://schemas.microsoft.com/office/drawing/2014/main" id="{01175D19-2CF9-4896-B3C7-926821B650DC}"/>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5" name="Line 13">
                <a:extLst>
                  <a:ext uri="{FF2B5EF4-FFF2-40B4-BE49-F238E27FC236}">
                    <a16:creationId xmlns:a16="http://schemas.microsoft.com/office/drawing/2014/main" id="{CC31BC9B-F484-405F-81C6-2A368E8DDB3D}"/>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46" name="Line 14">
                <a:extLst>
                  <a:ext uri="{FF2B5EF4-FFF2-40B4-BE49-F238E27FC236}">
                    <a16:creationId xmlns:a16="http://schemas.microsoft.com/office/drawing/2014/main" id="{7492B3BB-B40C-43E3-9C1D-4C88B32ECBEE}"/>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6" name="Text Box 16">
              <a:extLst>
                <a:ext uri="{FF2B5EF4-FFF2-40B4-BE49-F238E27FC236}">
                  <a16:creationId xmlns:a16="http://schemas.microsoft.com/office/drawing/2014/main" id="{4756D50C-9A0A-4E4B-B8B3-468A72B1A013}"/>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7" name="Text Box 19">
              <a:extLst>
                <a:ext uri="{FF2B5EF4-FFF2-40B4-BE49-F238E27FC236}">
                  <a16:creationId xmlns:a16="http://schemas.microsoft.com/office/drawing/2014/main" id="{C80A997B-E961-451E-84CC-C24824690033}"/>
                </a:ext>
              </a:extLst>
            </p:cNvPr>
            <p:cNvSpPr txBox="1">
              <a:spLocks noChangeArrowheads="1"/>
            </p:cNvSpPr>
            <p:nvPr/>
          </p:nvSpPr>
          <p:spPr bwMode="auto">
            <a:xfrm>
              <a:off x="2056633" y="1883248"/>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28" name="直接箭头连接符 40">
              <a:extLst>
                <a:ext uri="{FF2B5EF4-FFF2-40B4-BE49-F238E27FC236}">
                  <a16:creationId xmlns:a16="http://schemas.microsoft.com/office/drawing/2014/main" id="{F7229849-898C-453C-81F3-F974BD515027}"/>
                </a:ext>
              </a:extLst>
            </p:cNvPr>
            <p:cNvCxnSpPr>
              <a:cxnSpLocks noChangeShapeType="1"/>
              <a:stCxn id="26"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29" name="直接箭头连接符 41">
              <a:extLst>
                <a:ext uri="{FF2B5EF4-FFF2-40B4-BE49-F238E27FC236}">
                  <a16:creationId xmlns:a16="http://schemas.microsoft.com/office/drawing/2014/main" id="{F0853767-E7EC-48DB-8183-74E3D9CD44F3}"/>
                </a:ext>
              </a:extLst>
            </p:cNvPr>
            <p:cNvCxnSpPr>
              <a:cxnSpLocks noChangeShapeType="1"/>
            </p:cNvCxnSpPr>
            <p:nvPr/>
          </p:nvCxnSpPr>
          <p:spPr bwMode="auto">
            <a:xfrm>
              <a:off x="2638966" y="2289489"/>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30" name="文本框 29">
              <a:extLst>
                <a:ext uri="{FF2B5EF4-FFF2-40B4-BE49-F238E27FC236}">
                  <a16:creationId xmlns:a16="http://schemas.microsoft.com/office/drawing/2014/main" id="{5F7C94E2-800A-4B4D-A1FF-B81A87658C4A}"/>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31" name="文本框 30">
              <a:extLst>
                <a:ext uri="{FF2B5EF4-FFF2-40B4-BE49-F238E27FC236}">
                  <a16:creationId xmlns:a16="http://schemas.microsoft.com/office/drawing/2014/main" id="{22A2CA6A-A8B5-4FC4-A82E-7F41065F6186}"/>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32" name="文本框 31">
              <a:extLst>
                <a:ext uri="{FF2B5EF4-FFF2-40B4-BE49-F238E27FC236}">
                  <a16:creationId xmlns:a16="http://schemas.microsoft.com/office/drawing/2014/main" id="{504A346D-4CBC-40C2-93BC-226A4C532C9B}"/>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33" name="文本框 32">
              <a:extLst>
                <a:ext uri="{FF2B5EF4-FFF2-40B4-BE49-F238E27FC236}">
                  <a16:creationId xmlns:a16="http://schemas.microsoft.com/office/drawing/2014/main" id="{A17E0BDB-3F95-4D99-BF47-B8D773A66C6B}"/>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34" name="文本框 33">
              <a:extLst>
                <a:ext uri="{FF2B5EF4-FFF2-40B4-BE49-F238E27FC236}">
                  <a16:creationId xmlns:a16="http://schemas.microsoft.com/office/drawing/2014/main" id="{34577FBF-5312-4418-A748-DA2BC6D1187A}"/>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35" name="文本框 34">
              <a:extLst>
                <a:ext uri="{FF2B5EF4-FFF2-40B4-BE49-F238E27FC236}">
                  <a16:creationId xmlns:a16="http://schemas.microsoft.com/office/drawing/2014/main" id="{4A80BD18-658E-43A1-810E-5CA24A555593}"/>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36" name="文本框 35">
              <a:extLst>
                <a:ext uri="{FF2B5EF4-FFF2-40B4-BE49-F238E27FC236}">
                  <a16:creationId xmlns:a16="http://schemas.microsoft.com/office/drawing/2014/main" id="{FFD37881-5DF3-4984-8572-2DA71BEA379C}"/>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37" name="文本框 36">
              <a:extLst>
                <a:ext uri="{FF2B5EF4-FFF2-40B4-BE49-F238E27FC236}">
                  <a16:creationId xmlns:a16="http://schemas.microsoft.com/office/drawing/2014/main" id="{BFCD10FB-06DB-4426-A1B7-DED11FD6E889}"/>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grpSp>
        <p:nvGrpSpPr>
          <p:cNvPr id="49" name="组合 48">
            <a:extLst>
              <a:ext uri="{FF2B5EF4-FFF2-40B4-BE49-F238E27FC236}">
                <a16:creationId xmlns:a16="http://schemas.microsoft.com/office/drawing/2014/main" id="{0E87D690-D487-4107-BB96-FB4A6BB68241}"/>
              </a:ext>
            </a:extLst>
          </p:cNvPr>
          <p:cNvGrpSpPr/>
          <p:nvPr/>
        </p:nvGrpSpPr>
        <p:grpSpPr>
          <a:xfrm>
            <a:off x="1305969" y="2223453"/>
            <a:ext cx="2316162" cy="2978150"/>
            <a:chOff x="2135188" y="1882775"/>
            <a:chExt cx="2316162" cy="2978150"/>
          </a:xfrm>
        </p:grpSpPr>
        <p:grpSp>
          <p:nvGrpSpPr>
            <p:cNvPr id="50" name="Group 3">
              <a:extLst>
                <a:ext uri="{FF2B5EF4-FFF2-40B4-BE49-F238E27FC236}">
                  <a16:creationId xmlns:a16="http://schemas.microsoft.com/office/drawing/2014/main" id="{B2722C52-AB3A-4CA2-A072-56297012C3F5}"/>
                </a:ext>
              </a:extLst>
            </p:cNvPr>
            <p:cNvGrpSpPr>
              <a:grpSpLocks/>
            </p:cNvGrpSpPr>
            <p:nvPr/>
          </p:nvGrpSpPr>
          <p:grpSpPr bwMode="auto">
            <a:xfrm>
              <a:off x="2135188" y="2806700"/>
              <a:ext cx="2092325" cy="2054225"/>
              <a:chOff x="2064" y="1152"/>
              <a:chExt cx="1968" cy="1968"/>
            </a:xfrm>
          </p:grpSpPr>
          <p:grpSp>
            <p:nvGrpSpPr>
              <p:cNvPr id="63" name="Group 4">
                <a:extLst>
                  <a:ext uri="{FF2B5EF4-FFF2-40B4-BE49-F238E27FC236}">
                    <a16:creationId xmlns:a16="http://schemas.microsoft.com/office/drawing/2014/main" id="{98A1C53B-92C9-4096-A583-780FAF688E43}"/>
                  </a:ext>
                </a:extLst>
              </p:cNvPr>
              <p:cNvGrpSpPr>
                <a:grpSpLocks/>
              </p:cNvGrpSpPr>
              <p:nvPr/>
            </p:nvGrpSpPr>
            <p:grpSpPr bwMode="auto">
              <a:xfrm>
                <a:off x="2064" y="1152"/>
                <a:ext cx="1968" cy="1968"/>
                <a:chOff x="2064" y="1152"/>
                <a:chExt cx="1968" cy="1968"/>
              </a:xfrm>
            </p:grpSpPr>
            <p:sp>
              <p:nvSpPr>
                <p:cNvPr id="72" name="Oval 5">
                  <a:extLst>
                    <a:ext uri="{FF2B5EF4-FFF2-40B4-BE49-F238E27FC236}">
                      <a16:creationId xmlns:a16="http://schemas.microsoft.com/office/drawing/2014/main" id="{145B75D3-B7FB-4856-9E0C-C65773C8B6FF}"/>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73" name="Oval 6">
                  <a:extLst>
                    <a:ext uri="{FF2B5EF4-FFF2-40B4-BE49-F238E27FC236}">
                      <a16:creationId xmlns:a16="http://schemas.microsoft.com/office/drawing/2014/main" id="{51CE3A96-7165-48F1-BAC6-1E613EE20459}"/>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64" name="Line 7">
                <a:extLst>
                  <a:ext uri="{FF2B5EF4-FFF2-40B4-BE49-F238E27FC236}">
                    <a16:creationId xmlns:a16="http://schemas.microsoft.com/office/drawing/2014/main" id="{B8B3C940-5055-45DD-A5EE-21F470767A5A}"/>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65" name="Line 8">
                <a:extLst>
                  <a:ext uri="{FF2B5EF4-FFF2-40B4-BE49-F238E27FC236}">
                    <a16:creationId xmlns:a16="http://schemas.microsoft.com/office/drawing/2014/main" id="{5F4D4B6B-805A-4563-B993-CE5870D80BC8}"/>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66" name="Line 9">
                <a:extLst>
                  <a:ext uri="{FF2B5EF4-FFF2-40B4-BE49-F238E27FC236}">
                    <a16:creationId xmlns:a16="http://schemas.microsoft.com/office/drawing/2014/main" id="{338FE2A3-365C-4BD3-80D0-9E17575B619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67" name="Line 10">
                <a:extLst>
                  <a:ext uri="{FF2B5EF4-FFF2-40B4-BE49-F238E27FC236}">
                    <a16:creationId xmlns:a16="http://schemas.microsoft.com/office/drawing/2014/main" id="{6C8E539B-7DD9-4724-8897-74F2B338BA1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68" name="Line 11">
                <a:extLst>
                  <a:ext uri="{FF2B5EF4-FFF2-40B4-BE49-F238E27FC236}">
                    <a16:creationId xmlns:a16="http://schemas.microsoft.com/office/drawing/2014/main" id="{8B644DA6-6A24-40D8-A53B-53D4BDDDF64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69" name="Line 12">
                <a:extLst>
                  <a:ext uri="{FF2B5EF4-FFF2-40B4-BE49-F238E27FC236}">
                    <a16:creationId xmlns:a16="http://schemas.microsoft.com/office/drawing/2014/main" id="{6AC0C2FD-1071-4289-9F86-16FEDDDE8D30}"/>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70" name="Line 13">
                <a:extLst>
                  <a:ext uri="{FF2B5EF4-FFF2-40B4-BE49-F238E27FC236}">
                    <a16:creationId xmlns:a16="http://schemas.microsoft.com/office/drawing/2014/main" id="{221E160B-0A3F-46B6-9BEB-EE83FB57B302}"/>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71" name="Line 14">
                <a:extLst>
                  <a:ext uri="{FF2B5EF4-FFF2-40B4-BE49-F238E27FC236}">
                    <a16:creationId xmlns:a16="http://schemas.microsoft.com/office/drawing/2014/main" id="{C01725F3-DA6A-4E79-8A87-FC9045340E80}"/>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51" name="Text Box 16">
              <a:extLst>
                <a:ext uri="{FF2B5EF4-FFF2-40B4-BE49-F238E27FC236}">
                  <a16:creationId xmlns:a16="http://schemas.microsoft.com/office/drawing/2014/main" id="{5781D595-706C-4CDC-BAFF-A2638C9AB104}"/>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52" name="Text Box 19">
              <a:extLst>
                <a:ext uri="{FF2B5EF4-FFF2-40B4-BE49-F238E27FC236}">
                  <a16:creationId xmlns:a16="http://schemas.microsoft.com/office/drawing/2014/main" id="{F39FF516-B6B0-46E8-A401-00F9E7C20427}"/>
                </a:ext>
              </a:extLst>
            </p:cNvPr>
            <p:cNvSpPr txBox="1">
              <a:spLocks noChangeArrowheads="1"/>
            </p:cNvSpPr>
            <p:nvPr/>
          </p:nvSpPr>
          <p:spPr bwMode="auto">
            <a:xfrm>
              <a:off x="2674938" y="1882775"/>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3" name="直接箭头连接符 40">
              <a:extLst>
                <a:ext uri="{FF2B5EF4-FFF2-40B4-BE49-F238E27FC236}">
                  <a16:creationId xmlns:a16="http://schemas.microsoft.com/office/drawing/2014/main" id="{DF50A60F-8DA2-4B1F-A72F-AB9BE7A417BB}"/>
                </a:ext>
              </a:extLst>
            </p:cNvPr>
            <p:cNvCxnSpPr>
              <a:cxnSpLocks noChangeShapeType="1"/>
              <a:stCxn id="51"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 name="直接箭头连接符 41">
              <a:extLst>
                <a:ext uri="{FF2B5EF4-FFF2-40B4-BE49-F238E27FC236}">
                  <a16:creationId xmlns:a16="http://schemas.microsoft.com/office/drawing/2014/main" id="{074EFD61-90EF-41B8-803C-DE320E742304}"/>
                </a:ext>
              </a:extLst>
            </p:cNvPr>
            <p:cNvCxnSpPr>
              <a:cxnSpLocks noChangeShapeType="1"/>
              <a:stCxn id="52" idx="2"/>
            </p:cNvCxnSpPr>
            <p:nvPr/>
          </p:nvCxnSpPr>
          <p:spPr bwMode="auto">
            <a:xfrm>
              <a:off x="3166269" y="2262188"/>
              <a:ext cx="308769" cy="555546"/>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55" name="文本框 54">
              <a:extLst>
                <a:ext uri="{FF2B5EF4-FFF2-40B4-BE49-F238E27FC236}">
                  <a16:creationId xmlns:a16="http://schemas.microsoft.com/office/drawing/2014/main" id="{851B2FD5-505E-4430-9514-C3C8E2F3710B}"/>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56" name="文本框 55">
              <a:extLst>
                <a:ext uri="{FF2B5EF4-FFF2-40B4-BE49-F238E27FC236}">
                  <a16:creationId xmlns:a16="http://schemas.microsoft.com/office/drawing/2014/main" id="{F51763A1-D257-4F85-95A8-9BCC7207462B}"/>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57" name="文本框 56">
              <a:extLst>
                <a:ext uri="{FF2B5EF4-FFF2-40B4-BE49-F238E27FC236}">
                  <a16:creationId xmlns:a16="http://schemas.microsoft.com/office/drawing/2014/main" id="{FF633E9B-FF89-447B-8DF5-511E738F85B4}"/>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58" name="文本框 57">
              <a:extLst>
                <a:ext uri="{FF2B5EF4-FFF2-40B4-BE49-F238E27FC236}">
                  <a16:creationId xmlns:a16="http://schemas.microsoft.com/office/drawing/2014/main" id="{DFDDD500-3919-4A94-9B4D-B7FD3B0522EC}"/>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59" name="文本框 58">
              <a:extLst>
                <a:ext uri="{FF2B5EF4-FFF2-40B4-BE49-F238E27FC236}">
                  <a16:creationId xmlns:a16="http://schemas.microsoft.com/office/drawing/2014/main" id="{2373AA98-7B61-4C87-8726-67E7A2B88A9F}"/>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60" name="文本框 59">
              <a:extLst>
                <a:ext uri="{FF2B5EF4-FFF2-40B4-BE49-F238E27FC236}">
                  <a16:creationId xmlns:a16="http://schemas.microsoft.com/office/drawing/2014/main" id="{6604DB6E-FD7F-4DC2-87E3-5674C39DC3EE}"/>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61" name="文本框 60">
              <a:extLst>
                <a:ext uri="{FF2B5EF4-FFF2-40B4-BE49-F238E27FC236}">
                  <a16:creationId xmlns:a16="http://schemas.microsoft.com/office/drawing/2014/main" id="{3CF79B45-58A8-43EF-8B40-D84F5A47273F}"/>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62" name="文本框 61">
              <a:extLst>
                <a:ext uri="{FF2B5EF4-FFF2-40B4-BE49-F238E27FC236}">
                  <a16:creationId xmlns:a16="http://schemas.microsoft.com/office/drawing/2014/main" id="{9652B95E-40ED-4467-8BDD-1FBF7E93FC35}"/>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grpSp>
        <p:nvGrpSpPr>
          <p:cNvPr id="74" name="组合 73">
            <a:extLst>
              <a:ext uri="{FF2B5EF4-FFF2-40B4-BE49-F238E27FC236}">
                <a16:creationId xmlns:a16="http://schemas.microsoft.com/office/drawing/2014/main" id="{9F90113C-692A-4C53-BAB1-40939D97C7D1}"/>
              </a:ext>
            </a:extLst>
          </p:cNvPr>
          <p:cNvGrpSpPr/>
          <p:nvPr/>
        </p:nvGrpSpPr>
        <p:grpSpPr>
          <a:xfrm>
            <a:off x="7618451" y="2280755"/>
            <a:ext cx="2092325" cy="2931882"/>
            <a:chOff x="2135188" y="1929043"/>
            <a:chExt cx="2092325" cy="2931882"/>
          </a:xfrm>
        </p:grpSpPr>
        <p:grpSp>
          <p:nvGrpSpPr>
            <p:cNvPr id="75" name="Group 3">
              <a:extLst>
                <a:ext uri="{FF2B5EF4-FFF2-40B4-BE49-F238E27FC236}">
                  <a16:creationId xmlns:a16="http://schemas.microsoft.com/office/drawing/2014/main" id="{9B469FDF-7BAE-4D9F-A76E-B1C5FF6F8506}"/>
                </a:ext>
              </a:extLst>
            </p:cNvPr>
            <p:cNvGrpSpPr>
              <a:grpSpLocks/>
            </p:cNvGrpSpPr>
            <p:nvPr/>
          </p:nvGrpSpPr>
          <p:grpSpPr bwMode="auto">
            <a:xfrm>
              <a:off x="2135188" y="2806700"/>
              <a:ext cx="2092325" cy="2054225"/>
              <a:chOff x="2064" y="1152"/>
              <a:chExt cx="1968" cy="1968"/>
            </a:xfrm>
          </p:grpSpPr>
          <p:grpSp>
            <p:nvGrpSpPr>
              <p:cNvPr id="88" name="Group 4">
                <a:extLst>
                  <a:ext uri="{FF2B5EF4-FFF2-40B4-BE49-F238E27FC236}">
                    <a16:creationId xmlns:a16="http://schemas.microsoft.com/office/drawing/2014/main" id="{DF4D0901-BF31-4DD8-923C-FDDFB7C99AA5}"/>
                  </a:ext>
                </a:extLst>
              </p:cNvPr>
              <p:cNvGrpSpPr>
                <a:grpSpLocks/>
              </p:cNvGrpSpPr>
              <p:nvPr/>
            </p:nvGrpSpPr>
            <p:grpSpPr bwMode="auto">
              <a:xfrm>
                <a:off x="2064" y="1152"/>
                <a:ext cx="1968" cy="1968"/>
                <a:chOff x="2064" y="1152"/>
                <a:chExt cx="1968" cy="1968"/>
              </a:xfrm>
            </p:grpSpPr>
            <p:sp>
              <p:nvSpPr>
                <p:cNvPr id="97" name="Oval 5">
                  <a:extLst>
                    <a:ext uri="{FF2B5EF4-FFF2-40B4-BE49-F238E27FC236}">
                      <a16:creationId xmlns:a16="http://schemas.microsoft.com/office/drawing/2014/main" id="{68085528-C396-47AB-9D5B-37AC73457A20}"/>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8" name="Oval 6">
                  <a:extLst>
                    <a:ext uri="{FF2B5EF4-FFF2-40B4-BE49-F238E27FC236}">
                      <a16:creationId xmlns:a16="http://schemas.microsoft.com/office/drawing/2014/main" id="{BD7830C0-2832-4633-BB7A-4B7BCABAADB2}"/>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89" name="Line 7">
                <a:extLst>
                  <a:ext uri="{FF2B5EF4-FFF2-40B4-BE49-F238E27FC236}">
                    <a16:creationId xmlns:a16="http://schemas.microsoft.com/office/drawing/2014/main" id="{A13597F2-CE7E-4775-B841-8F8317821D6F}"/>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0" name="Line 8">
                <a:extLst>
                  <a:ext uri="{FF2B5EF4-FFF2-40B4-BE49-F238E27FC236}">
                    <a16:creationId xmlns:a16="http://schemas.microsoft.com/office/drawing/2014/main" id="{9357674D-B06E-481E-8F50-1FA10594D467}"/>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1" name="Line 9">
                <a:extLst>
                  <a:ext uri="{FF2B5EF4-FFF2-40B4-BE49-F238E27FC236}">
                    <a16:creationId xmlns:a16="http://schemas.microsoft.com/office/drawing/2014/main" id="{0A4D31FC-BED1-47D8-B062-5A87BEAD0DB0}"/>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2" name="Line 10">
                <a:extLst>
                  <a:ext uri="{FF2B5EF4-FFF2-40B4-BE49-F238E27FC236}">
                    <a16:creationId xmlns:a16="http://schemas.microsoft.com/office/drawing/2014/main" id="{B63C5B9A-A025-42AE-925C-59EAD558E5BE}"/>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3" name="Line 11">
                <a:extLst>
                  <a:ext uri="{FF2B5EF4-FFF2-40B4-BE49-F238E27FC236}">
                    <a16:creationId xmlns:a16="http://schemas.microsoft.com/office/drawing/2014/main" id="{BCC6C7CC-8796-4C98-80ED-C5E4C26E54FF}"/>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4" name="Line 12">
                <a:extLst>
                  <a:ext uri="{FF2B5EF4-FFF2-40B4-BE49-F238E27FC236}">
                    <a16:creationId xmlns:a16="http://schemas.microsoft.com/office/drawing/2014/main" id="{DBDA71AC-51B5-4928-8A6A-C273CB2A3694}"/>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5" name="Line 13">
                <a:extLst>
                  <a:ext uri="{FF2B5EF4-FFF2-40B4-BE49-F238E27FC236}">
                    <a16:creationId xmlns:a16="http://schemas.microsoft.com/office/drawing/2014/main" id="{EB315D06-2F2B-4A9D-B7CA-2DB2AC81FDD9}"/>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96" name="Line 14">
                <a:extLst>
                  <a:ext uri="{FF2B5EF4-FFF2-40B4-BE49-F238E27FC236}">
                    <a16:creationId xmlns:a16="http://schemas.microsoft.com/office/drawing/2014/main" id="{415822BB-CF5A-4776-AD6B-09FD675752BF}"/>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76" name="Text Box 16">
              <a:extLst>
                <a:ext uri="{FF2B5EF4-FFF2-40B4-BE49-F238E27FC236}">
                  <a16:creationId xmlns:a16="http://schemas.microsoft.com/office/drawing/2014/main" id="{779ABD73-9C92-44EE-B448-9CFFF58B7A89}"/>
                </a:ext>
              </a:extLst>
            </p:cNvPr>
            <p:cNvSpPr txBox="1">
              <a:spLocks noChangeArrowheads="1"/>
            </p:cNvSpPr>
            <p:nvPr/>
          </p:nvSpPr>
          <p:spPr bwMode="auto">
            <a:xfrm>
              <a:off x="2137316" y="2040408"/>
              <a:ext cx="869950"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77" name="Text Box 19">
              <a:extLst>
                <a:ext uri="{FF2B5EF4-FFF2-40B4-BE49-F238E27FC236}">
                  <a16:creationId xmlns:a16="http://schemas.microsoft.com/office/drawing/2014/main" id="{E7711F7F-D7BA-42E6-A11B-ABCB019D5C15}"/>
                </a:ext>
              </a:extLst>
            </p:cNvPr>
            <p:cNvSpPr txBox="1">
              <a:spLocks noChangeArrowheads="1"/>
            </p:cNvSpPr>
            <p:nvPr/>
          </p:nvSpPr>
          <p:spPr bwMode="auto">
            <a:xfrm>
              <a:off x="3219777" y="1929043"/>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78" name="直接箭头连接符 40">
              <a:extLst>
                <a:ext uri="{FF2B5EF4-FFF2-40B4-BE49-F238E27FC236}">
                  <a16:creationId xmlns:a16="http://schemas.microsoft.com/office/drawing/2014/main" id="{771A5D8B-1544-460A-A136-822522DD8471}"/>
                </a:ext>
              </a:extLst>
            </p:cNvPr>
            <p:cNvCxnSpPr>
              <a:cxnSpLocks noChangeShapeType="1"/>
              <a:stCxn id="76" idx="2"/>
            </p:cNvCxnSpPr>
            <p:nvPr/>
          </p:nvCxnSpPr>
          <p:spPr bwMode="auto">
            <a:xfrm>
              <a:off x="2572291" y="2419821"/>
              <a:ext cx="221705" cy="42656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79" name="直接箭头连接符 41">
              <a:extLst>
                <a:ext uri="{FF2B5EF4-FFF2-40B4-BE49-F238E27FC236}">
                  <a16:creationId xmlns:a16="http://schemas.microsoft.com/office/drawing/2014/main" id="{993AEB2B-249E-49B8-AA8A-1E3339FB4763}"/>
                </a:ext>
              </a:extLst>
            </p:cNvPr>
            <p:cNvCxnSpPr>
              <a:cxnSpLocks noChangeShapeType="1"/>
              <a:stCxn id="77" idx="2"/>
            </p:cNvCxnSpPr>
            <p:nvPr/>
          </p:nvCxnSpPr>
          <p:spPr bwMode="auto">
            <a:xfrm flipH="1">
              <a:off x="3487712" y="2308456"/>
              <a:ext cx="223396" cy="5187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80" name="文本框 79">
              <a:extLst>
                <a:ext uri="{FF2B5EF4-FFF2-40B4-BE49-F238E27FC236}">
                  <a16:creationId xmlns:a16="http://schemas.microsoft.com/office/drawing/2014/main" id="{4C016C85-E30A-483E-AA2B-9D5A9A55914B}"/>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81" name="文本框 80">
              <a:extLst>
                <a:ext uri="{FF2B5EF4-FFF2-40B4-BE49-F238E27FC236}">
                  <a16:creationId xmlns:a16="http://schemas.microsoft.com/office/drawing/2014/main" id="{2BD08BA9-6A74-4076-A06E-57C5254A73D2}"/>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82" name="文本框 81">
              <a:extLst>
                <a:ext uri="{FF2B5EF4-FFF2-40B4-BE49-F238E27FC236}">
                  <a16:creationId xmlns:a16="http://schemas.microsoft.com/office/drawing/2014/main" id="{35C8E3D7-C8F6-45ED-8A77-0C8D507EF647}"/>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83" name="文本框 82">
              <a:extLst>
                <a:ext uri="{FF2B5EF4-FFF2-40B4-BE49-F238E27FC236}">
                  <a16:creationId xmlns:a16="http://schemas.microsoft.com/office/drawing/2014/main" id="{D70CFF13-3E5B-46D9-91E9-6908A8E11674}"/>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84" name="文本框 83">
              <a:extLst>
                <a:ext uri="{FF2B5EF4-FFF2-40B4-BE49-F238E27FC236}">
                  <a16:creationId xmlns:a16="http://schemas.microsoft.com/office/drawing/2014/main" id="{0E840798-8791-4279-98F4-720902EFABF2}"/>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85" name="文本框 84">
              <a:extLst>
                <a:ext uri="{FF2B5EF4-FFF2-40B4-BE49-F238E27FC236}">
                  <a16:creationId xmlns:a16="http://schemas.microsoft.com/office/drawing/2014/main" id="{3B2FBD37-1FA2-45C1-8AE4-C310F5B5D48A}"/>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86" name="文本框 85">
              <a:extLst>
                <a:ext uri="{FF2B5EF4-FFF2-40B4-BE49-F238E27FC236}">
                  <a16:creationId xmlns:a16="http://schemas.microsoft.com/office/drawing/2014/main" id="{F96CA1DE-A55C-4C16-85C6-EDABE1703644}"/>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87" name="文本框 86">
              <a:extLst>
                <a:ext uri="{FF2B5EF4-FFF2-40B4-BE49-F238E27FC236}">
                  <a16:creationId xmlns:a16="http://schemas.microsoft.com/office/drawing/2014/main" id="{B808FFDE-7E55-40EF-88BB-CF2655F8179D}"/>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grpSp>
        <p:nvGrpSpPr>
          <p:cNvPr id="22" name="组合 21">
            <a:extLst>
              <a:ext uri="{FF2B5EF4-FFF2-40B4-BE49-F238E27FC236}">
                <a16:creationId xmlns:a16="http://schemas.microsoft.com/office/drawing/2014/main" id="{A626683C-A67D-4398-A2DF-20F5E8F97C29}"/>
              </a:ext>
            </a:extLst>
          </p:cNvPr>
          <p:cNvGrpSpPr/>
          <p:nvPr>
            <p:custDataLst>
              <p:tags r:id="rId7"/>
            </p:custDataLst>
          </p:nvPr>
        </p:nvGrpSpPr>
        <p:grpSpPr>
          <a:xfrm>
            <a:off x="0" y="0"/>
            <a:ext cx="12192000" cy="635000"/>
            <a:chOff x="0" y="0"/>
            <a:chExt cx="12192000" cy="635000"/>
          </a:xfrm>
        </p:grpSpPr>
        <p:sp>
          <p:nvSpPr>
            <p:cNvPr id="18" name="TitleBackground">
              <a:extLst>
                <a:ext uri="{FF2B5EF4-FFF2-40B4-BE49-F238E27FC236}">
                  <a16:creationId xmlns:a16="http://schemas.microsoft.com/office/drawing/2014/main" id="{6EF3C824-5333-43AA-A57C-A4F268CF0DDC}"/>
                </a:ext>
              </a:extLst>
            </p:cNvPr>
            <p:cNvSpPr/>
            <p:nvPr>
              <p:custDataLst>
                <p:tags r:id="rId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DFEFC90F-E96B-418E-9410-E4B65D03D094}"/>
                </a:ext>
              </a:extLst>
            </p:cNvPr>
            <p:cNvSpPr/>
            <p:nvPr>
              <p:custDataLst>
                <p:tags r:id="rId1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E78AF28C-682D-40A4-829A-9B49E5409A03}"/>
                </a:ext>
              </a:extLst>
            </p:cNvPr>
            <p:cNvSpPr txBox="1"/>
            <p:nvPr>
              <p:custDataLst>
                <p:tags r:id="rId1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1CDFC84E-166B-4414-B233-4D6BE5170BF5}"/>
                </a:ext>
              </a:extLst>
            </p:cNvPr>
            <p:cNvSpPr txBox="1"/>
            <p:nvPr>
              <p:custDataLst>
                <p:tags r:id="rId1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EC48E252-BBC6-4CF8-B37F-E15AC9C81963}"/>
              </a:ext>
            </a:extLst>
          </p:cNvPr>
          <p:cNvPicPr>
            <a:picLocks/>
          </p:cNvPicPr>
          <p:nvPr>
            <p:custDataLst>
              <p:tags r:id="rId8"/>
            </p:custDataLst>
          </p:nvPr>
        </p:nvPicPr>
        <p:blipFill>
          <a:blip r:embed="rId14">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89094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23EB66E-9A13-4546-A349-0D6C0620C6EB}"/>
              </a:ext>
            </a:extLst>
          </p:cNvPr>
          <p:cNvSpPr>
            <a:spLocks noGrp="1" noChangeArrowheads="1"/>
          </p:cNvSpPr>
          <p:nvPr>
            <p:ph type="title"/>
          </p:nvPr>
        </p:nvSpPr>
        <p:spPr/>
        <p:txBody>
          <a:bodyPr>
            <a:normAutofit/>
          </a:bodyPr>
          <a:lstStyle/>
          <a:p>
            <a:pPr>
              <a:spcBef>
                <a:spcPct val="50000"/>
              </a:spcBef>
              <a:defRPr/>
            </a:pPr>
            <a:r>
              <a:rPr kumimoji="0"/>
              <a:t>队列示意：环形</a:t>
            </a:r>
          </a:p>
        </p:txBody>
      </p:sp>
      <p:sp>
        <p:nvSpPr>
          <p:cNvPr id="2" name="副标题 1">
            <a:extLst>
              <a:ext uri="{FF2B5EF4-FFF2-40B4-BE49-F238E27FC236}">
                <a16:creationId xmlns:a16="http://schemas.microsoft.com/office/drawing/2014/main" id="{BC75A77F-9681-444A-9D51-26047D1CA54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62687C-662D-425C-A429-209AD3C58C00}"/>
              </a:ext>
            </a:extLst>
          </p:cNvPr>
          <p:cNvSpPr>
            <a:spLocks noGrp="1"/>
          </p:cNvSpPr>
          <p:nvPr>
            <p:ph type="body" idx="10"/>
          </p:nvPr>
        </p:nvSpPr>
        <p:spPr/>
        <p:txBody>
          <a:bodyPr/>
          <a:lstStyle/>
          <a:p>
            <a:endParaRPr lang="zh-CN" altLang="en-US"/>
          </a:p>
        </p:txBody>
      </p:sp>
      <p:grpSp>
        <p:nvGrpSpPr>
          <p:cNvPr id="54278" name="Group 25">
            <a:extLst>
              <a:ext uri="{FF2B5EF4-FFF2-40B4-BE49-F238E27FC236}">
                <a16:creationId xmlns:a16="http://schemas.microsoft.com/office/drawing/2014/main" id="{FB8B6D60-B3EC-43FB-A134-2EE218DB439F}"/>
              </a:ext>
            </a:extLst>
          </p:cNvPr>
          <p:cNvGrpSpPr>
            <a:grpSpLocks/>
          </p:cNvGrpSpPr>
          <p:nvPr/>
        </p:nvGrpSpPr>
        <p:grpSpPr bwMode="auto">
          <a:xfrm>
            <a:off x="6125098" y="2638627"/>
            <a:ext cx="1971675" cy="1968500"/>
            <a:chOff x="2064" y="1152"/>
            <a:chExt cx="1968" cy="1968"/>
          </a:xfrm>
        </p:grpSpPr>
        <p:grpSp>
          <p:nvGrpSpPr>
            <p:cNvPr id="54304" name="Group 26">
              <a:extLst>
                <a:ext uri="{FF2B5EF4-FFF2-40B4-BE49-F238E27FC236}">
                  <a16:creationId xmlns:a16="http://schemas.microsoft.com/office/drawing/2014/main" id="{040AC892-C4C3-453C-888F-B2781DCB1FD0}"/>
                </a:ext>
              </a:extLst>
            </p:cNvPr>
            <p:cNvGrpSpPr>
              <a:grpSpLocks/>
            </p:cNvGrpSpPr>
            <p:nvPr/>
          </p:nvGrpSpPr>
          <p:grpSpPr bwMode="auto">
            <a:xfrm>
              <a:off x="2064" y="1152"/>
              <a:ext cx="1968" cy="1968"/>
              <a:chOff x="2064" y="1152"/>
              <a:chExt cx="1968" cy="1968"/>
            </a:xfrm>
          </p:grpSpPr>
          <p:sp>
            <p:nvSpPr>
              <p:cNvPr id="31" name="Oval 27">
                <a:extLst>
                  <a:ext uri="{FF2B5EF4-FFF2-40B4-BE49-F238E27FC236}">
                    <a16:creationId xmlns:a16="http://schemas.microsoft.com/office/drawing/2014/main" id="{252CDE79-5EC0-FE4A-B826-8E11D7CCFA41}"/>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2" name="Oval 28">
                <a:extLst>
                  <a:ext uri="{FF2B5EF4-FFF2-40B4-BE49-F238E27FC236}">
                    <a16:creationId xmlns:a16="http://schemas.microsoft.com/office/drawing/2014/main" id="{2310E47E-505E-8843-8EB3-48FD92733B5F}"/>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3" name="Line 29">
              <a:extLst>
                <a:ext uri="{FF2B5EF4-FFF2-40B4-BE49-F238E27FC236}">
                  <a16:creationId xmlns:a16="http://schemas.microsoft.com/office/drawing/2014/main" id="{9B723FA8-EF14-8740-B832-A6357A622572}"/>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4" name="Line 30">
              <a:extLst>
                <a:ext uri="{FF2B5EF4-FFF2-40B4-BE49-F238E27FC236}">
                  <a16:creationId xmlns:a16="http://schemas.microsoft.com/office/drawing/2014/main" id="{09E8C8D1-D343-E445-A24B-E8656A79E54D}"/>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5" name="Line 31">
              <a:extLst>
                <a:ext uri="{FF2B5EF4-FFF2-40B4-BE49-F238E27FC236}">
                  <a16:creationId xmlns:a16="http://schemas.microsoft.com/office/drawing/2014/main" id="{3E1F5CC0-0039-FD45-A529-E9055A41B6D3}"/>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6" name="Line 32">
              <a:extLst>
                <a:ext uri="{FF2B5EF4-FFF2-40B4-BE49-F238E27FC236}">
                  <a16:creationId xmlns:a16="http://schemas.microsoft.com/office/drawing/2014/main" id="{429B03BB-BCE6-C94E-BF51-6AEBCF89F4B6}"/>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7" name="Line 33">
              <a:extLst>
                <a:ext uri="{FF2B5EF4-FFF2-40B4-BE49-F238E27FC236}">
                  <a16:creationId xmlns:a16="http://schemas.microsoft.com/office/drawing/2014/main" id="{7A1EA7AC-2625-844B-9F60-9FCE3CFFE4BB}"/>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8" name="Line 34">
              <a:extLst>
                <a:ext uri="{FF2B5EF4-FFF2-40B4-BE49-F238E27FC236}">
                  <a16:creationId xmlns:a16="http://schemas.microsoft.com/office/drawing/2014/main" id="{B8861531-4654-A843-87A2-1916DE31BF9E}"/>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9" name="Line 35">
              <a:extLst>
                <a:ext uri="{FF2B5EF4-FFF2-40B4-BE49-F238E27FC236}">
                  <a16:creationId xmlns:a16="http://schemas.microsoft.com/office/drawing/2014/main" id="{42AE3A88-D733-054F-8021-756564542D86}"/>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0" name="Line 36">
              <a:extLst>
                <a:ext uri="{FF2B5EF4-FFF2-40B4-BE49-F238E27FC236}">
                  <a16:creationId xmlns:a16="http://schemas.microsoft.com/office/drawing/2014/main" id="{956310C8-C0DA-1947-B831-25D09DF654BE}"/>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33" name="Text Box 37">
            <a:extLst>
              <a:ext uri="{FF2B5EF4-FFF2-40B4-BE49-F238E27FC236}">
                <a16:creationId xmlns:a16="http://schemas.microsoft.com/office/drawing/2014/main" id="{51F4410E-EDA0-404B-9470-7BCCE683F4CD}"/>
              </a:ext>
            </a:extLst>
          </p:cNvPr>
          <p:cNvSpPr txBox="1">
            <a:spLocks noChangeArrowheads="1"/>
          </p:cNvSpPr>
          <p:nvPr/>
        </p:nvSpPr>
        <p:spPr bwMode="auto">
          <a:xfrm>
            <a:off x="7547018" y="3164720"/>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6</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4" name="Text Box 38">
            <a:extLst>
              <a:ext uri="{FF2B5EF4-FFF2-40B4-BE49-F238E27FC236}">
                <a16:creationId xmlns:a16="http://schemas.microsoft.com/office/drawing/2014/main" id="{B984DE00-A1F0-E34E-9E38-F85DF1714734}"/>
              </a:ext>
            </a:extLst>
          </p:cNvPr>
          <p:cNvSpPr txBox="1">
            <a:spLocks noChangeArrowheads="1"/>
          </p:cNvSpPr>
          <p:nvPr/>
        </p:nvSpPr>
        <p:spPr bwMode="auto">
          <a:xfrm>
            <a:off x="6656911" y="2862465"/>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0</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5" name="Text Box 39">
            <a:extLst>
              <a:ext uri="{FF2B5EF4-FFF2-40B4-BE49-F238E27FC236}">
                <a16:creationId xmlns:a16="http://schemas.microsoft.com/office/drawing/2014/main" id="{9C78DE6A-2A5B-B241-92EA-489EFFCF4A4F}"/>
              </a:ext>
            </a:extLst>
          </p:cNvPr>
          <p:cNvSpPr txBox="1">
            <a:spLocks noChangeArrowheads="1"/>
          </p:cNvSpPr>
          <p:nvPr/>
        </p:nvSpPr>
        <p:spPr bwMode="auto">
          <a:xfrm>
            <a:off x="7574486" y="3653040"/>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6" name="Text Box 40">
            <a:extLst>
              <a:ext uri="{FF2B5EF4-FFF2-40B4-BE49-F238E27FC236}">
                <a16:creationId xmlns:a16="http://schemas.microsoft.com/office/drawing/2014/main" id="{88888D9A-367C-0B45-B853-7E15BB4375D2}"/>
              </a:ext>
            </a:extLst>
          </p:cNvPr>
          <p:cNvSpPr txBox="1">
            <a:spLocks noChangeArrowheads="1"/>
          </p:cNvSpPr>
          <p:nvPr/>
        </p:nvSpPr>
        <p:spPr bwMode="auto">
          <a:xfrm>
            <a:off x="7169673" y="4045152"/>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4</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7" name="Text Box 41">
            <a:extLst>
              <a:ext uri="{FF2B5EF4-FFF2-40B4-BE49-F238E27FC236}">
                <a16:creationId xmlns:a16="http://schemas.microsoft.com/office/drawing/2014/main" id="{101F3E60-0316-8640-A5CC-4F16F52028FD}"/>
              </a:ext>
            </a:extLst>
          </p:cNvPr>
          <p:cNvSpPr txBox="1">
            <a:spLocks noChangeArrowheads="1"/>
          </p:cNvSpPr>
          <p:nvPr/>
        </p:nvSpPr>
        <p:spPr bwMode="auto">
          <a:xfrm>
            <a:off x="6663261" y="4045152"/>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3</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8" name="Text Box 42">
            <a:extLst>
              <a:ext uri="{FF2B5EF4-FFF2-40B4-BE49-F238E27FC236}">
                <a16:creationId xmlns:a16="http://schemas.microsoft.com/office/drawing/2014/main" id="{DA5F73F7-E447-DD47-8E60-5EAB3A589918}"/>
              </a:ext>
            </a:extLst>
          </p:cNvPr>
          <p:cNvSpPr txBox="1">
            <a:spLocks noChangeArrowheads="1"/>
          </p:cNvSpPr>
          <p:nvPr/>
        </p:nvSpPr>
        <p:spPr bwMode="auto">
          <a:xfrm>
            <a:off x="6275911" y="3672090"/>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2</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9" name="Text Box 43">
            <a:extLst>
              <a:ext uri="{FF2B5EF4-FFF2-40B4-BE49-F238E27FC236}">
                <a16:creationId xmlns:a16="http://schemas.microsoft.com/office/drawing/2014/main" id="{325AAD4E-E72A-164D-B814-11D4053C5222}"/>
              </a:ext>
            </a:extLst>
          </p:cNvPr>
          <p:cNvSpPr txBox="1">
            <a:spLocks noChangeArrowheads="1"/>
          </p:cNvSpPr>
          <p:nvPr/>
        </p:nvSpPr>
        <p:spPr bwMode="auto">
          <a:xfrm>
            <a:off x="6299723" y="3197427"/>
            <a:ext cx="441146" cy="420564"/>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1</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nvGrpSpPr>
          <p:cNvPr id="42" name="组合 41">
            <a:extLst>
              <a:ext uri="{FF2B5EF4-FFF2-40B4-BE49-F238E27FC236}">
                <a16:creationId xmlns:a16="http://schemas.microsoft.com/office/drawing/2014/main" id="{3A5A2DA7-37FA-4367-9309-3622473DCE53}"/>
              </a:ext>
            </a:extLst>
          </p:cNvPr>
          <p:cNvGrpSpPr/>
          <p:nvPr/>
        </p:nvGrpSpPr>
        <p:grpSpPr>
          <a:xfrm>
            <a:off x="5277373" y="2378277"/>
            <a:ext cx="931863" cy="882650"/>
            <a:chOff x="6210300" y="2466975"/>
            <a:chExt cx="931863" cy="882650"/>
          </a:xfrm>
        </p:grpSpPr>
        <p:cxnSp>
          <p:nvCxnSpPr>
            <p:cNvPr id="45" name="直接箭头连接符 44">
              <a:extLst>
                <a:ext uri="{FF2B5EF4-FFF2-40B4-BE49-F238E27FC236}">
                  <a16:creationId xmlns:a16="http://schemas.microsoft.com/office/drawing/2014/main" id="{93A50F33-F800-4545-83B2-791683C494DB}"/>
                </a:ext>
              </a:extLst>
            </p:cNvPr>
            <p:cNvCxnSpPr>
              <a:cxnSpLocks noChangeShapeType="1"/>
            </p:cNvCxnSpPr>
            <p:nvPr/>
          </p:nvCxnSpPr>
          <p:spPr bwMode="auto">
            <a:xfrm>
              <a:off x="6494463" y="2909888"/>
              <a:ext cx="501650" cy="43973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6" name="Text Box 16">
              <a:extLst>
                <a:ext uri="{FF2B5EF4-FFF2-40B4-BE49-F238E27FC236}">
                  <a16:creationId xmlns:a16="http://schemas.microsoft.com/office/drawing/2014/main" id="{F4C6E4BE-96AB-654D-803B-47AED4F80EB8}"/>
                </a:ext>
              </a:extLst>
            </p:cNvPr>
            <p:cNvSpPr txBox="1">
              <a:spLocks noChangeArrowheads="1"/>
            </p:cNvSpPr>
            <p:nvPr/>
          </p:nvSpPr>
          <p:spPr bwMode="auto">
            <a:xfrm>
              <a:off x="6210300" y="2466975"/>
              <a:ext cx="931863"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361D4A32-1091-49E4-A6D1-B9401AEA0541}"/>
              </a:ext>
            </a:extLst>
          </p:cNvPr>
          <p:cNvGrpSpPr/>
          <p:nvPr/>
        </p:nvGrpSpPr>
        <p:grpSpPr>
          <a:xfrm>
            <a:off x="4823348" y="4076902"/>
            <a:ext cx="1366838" cy="611188"/>
            <a:chOff x="5756275" y="4165600"/>
            <a:chExt cx="1366838" cy="611188"/>
          </a:xfrm>
        </p:grpSpPr>
        <p:cxnSp>
          <p:nvCxnSpPr>
            <p:cNvPr id="47" name="直接箭头连接符 46">
              <a:extLst>
                <a:ext uri="{FF2B5EF4-FFF2-40B4-BE49-F238E27FC236}">
                  <a16:creationId xmlns:a16="http://schemas.microsoft.com/office/drawing/2014/main" id="{907FB49D-D0EA-44FF-ABD2-035B13483F2F}"/>
                </a:ext>
              </a:extLst>
            </p:cNvPr>
            <p:cNvCxnSpPr>
              <a:cxnSpLocks noChangeShapeType="1"/>
            </p:cNvCxnSpPr>
            <p:nvPr/>
          </p:nvCxnSpPr>
          <p:spPr bwMode="auto">
            <a:xfrm flipV="1">
              <a:off x="6556375" y="4165600"/>
              <a:ext cx="566738" cy="1889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8" name="Text Box 16">
              <a:extLst>
                <a:ext uri="{FF2B5EF4-FFF2-40B4-BE49-F238E27FC236}">
                  <a16:creationId xmlns:a16="http://schemas.microsoft.com/office/drawing/2014/main" id="{6419AF2A-6584-6C49-9249-993F456B078F}"/>
                </a:ext>
              </a:extLst>
            </p:cNvPr>
            <p:cNvSpPr txBox="1">
              <a:spLocks noChangeArrowheads="1"/>
            </p:cNvSpPr>
            <p:nvPr/>
          </p:nvSpPr>
          <p:spPr bwMode="auto">
            <a:xfrm>
              <a:off x="5756275" y="4397375"/>
              <a:ext cx="96202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08" name="组合 43007">
            <a:extLst>
              <a:ext uri="{FF2B5EF4-FFF2-40B4-BE49-F238E27FC236}">
                <a16:creationId xmlns:a16="http://schemas.microsoft.com/office/drawing/2014/main" id="{082BE404-3AFB-44DB-A5C9-72E97A71D7D0}"/>
              </a:ext>
            </a:extLst>
          </p:cNvPr>
          <p:cNvGrpSpPr/>
          <p:nvPr/>
        </p:nvGrpSpPr>
        <p:grpSpPr>
          <a:xfrm>
            <a:off x="5661548" y="4642052"/>
            <a:ext cx="1057275" cy="782638"/>
            <a:chOff x="6594475" y="4730750"/>
            <a:chExt cx="1057275" cy="782638"/>
          </a:xfrm>
        </p:grpSpPr>
        <p:cxnSp>
          <p:nvCxnSpPr>
            <p:cNvPr id="49" name="直接箭头连接符 48">
              <a:extLst>
                <a:ext uri="{FF2B5EF4-FFF2-40B4-BE49-F238E27FC236}">
                  <a16:creationId xmlns:a16="http://schemas.microsoft.com/office/drawing/2014/main" id="{4942B6CC-77D9-46A3-8934-0F1BB0B433BF}"/>
                </a:ext>
              </a:extLst>
            </p:cNvPr>
            <p:cNvCxnSpPr>
              <a:cxnSpLocks noChangeShapeType="1"/>
            </p:cNvCxnSpPr>
            <p:nvPr/>
          </p:nvCxnSpPr>
          <p:spPr bwMode="auto">
            <a:xfrm rot="5400000" flipH="1" flipV="1">
              <a:off x="7310438" y="4794250"/>
              <a:ext cx="377825"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0" name="Text Box 16">
              <a:extLst>
                <a:ext uri="{FF2B5EF4-FFF2-40B4-BE49-F238E27FC236}">
                  <a16:creationId xmlns:a16="http://schemas.microsoft.com/office/drawing/2014/main" id="{C7D054E9-BC76-A141-B84B-70171EB289DC}"/>
                </a:ext>
              </a:extLst>
            </p:cNvPr>
            <p:cNvSpPr txBox="1">
              <a:spLocks noChangeArrowheads="1"/>
            </p:cNvSpPr>
            <p:nvPr/>
          </p:nvSpPr>
          <p:spPr bwMode="auto">
            <a:xfrm>
              <a:off x="6594475" y="5133975"/>
              <a:ext cx="10572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10" name="组合 43009">
            <a:extLst>
              <a:ext uri="{FF2B5EF4-FFF2-40B4-BE49-F238E27FC236}">
                <a16:creationId xmlns:a16="http://schemas.microsoft.com/office/drawing/2014/main" id="{71BCFE9B-CD9D-4C17-A4DD-8B37CBD71879}"/>
              </a:ext>
            </a:extLst>
          </p:cNvPr>
          <p:cNvGrpSpPr/>
          <p:nvPr/>
        </p:nvGrpSpPr>
        <p:grpSpPr>
          <a:xfrm>
            <a:off x="7396686" y="4580140"/>
            <a:ext cx="965200" cy="819150"/>
            <a:chOff x="8329613" y="4668838"/>
            <a:chExt cx="965200" cy="819150"/>
          </a:xfrm>
        </p:grpSpPr>
        <p:cxnSp>
          <p:nvCxnSpPr>
            <p:cNvPr id="51" name="直接箭头连接符 50">
              <a:extLst>
                <a:ext uri="{FF2B5EF4-FFF2-40B4-BE49-F238E27FC236}">
                  <a16:creationId xmlns:a16="http://schemas.microsoft.com/office/drawing/2014/main" id="{38A3AC8A-39DB-4A9C-A587-F25833C1BE80}"/>
                </a:ext>
              </a:extLst>
            </p:cNvPr>
            <p:cNvCxnSpPr>
              <a:cxnSpLocks noChangeShapeType="1"/>
            </p:cNvCxnSpPr>
            <p:nvPr/>
          </p:nvCxnSpPr>
          <p:spPr bwMode="auto">
            <a:xfrm rot="16200000" flipV="1">
              <a:off x="8410575" y="4762501"/>
              <a:ext cx="376237" cy="188912"/>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2" name="Text Box 16">
              <a:extLst>
                <a:ext uri="{FF2B5EF4-FFF2-40B4-BE49-F238E27FC236}">
                  <a16:creationId xmlns:a16="http://schemas.microsoft.com/office/drawing/2014/main" id="{0858E42A-1DAE-684C-B8A0-14EAF234CB99}"/>
                </a:ext>
              </a:extLst>
            </p:cNvPr>
            <p:cNvSpPr txBox="1">
              <a:spLocks noChangeArrowheads="1"/>
            </p:cNvSpPr>
            <p:nvPr/>
          </p:nvSpPr>
          <p:spPr bwMode="auto">
            <a:xfrm>
              <a:off x="8329613" y="5108575"/>
              <a:ext cx="965200"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3011" name="组合 43010">
            <a:extLst>
              <a:ext uri="{FF2B5EF4-FFF2-40B4-BE49-F238E27FC236}">
                <a16:creationId xmlns:a16="http://schemas.microsoft.com/office/drawing/2014/main" id="{F52D6376-837A-435E-9B86-38309F42D871}"/>
              </a:ext>
            </a:extLst>
          </p:cNvPr>
          <p:cNvGrpSpPr/>
          <p:nvPr/>
        </p:nvGrpSpPr>
        <p:grpSpPr>
          <a:xfrm>
            <a:off x="8136461" y="4014990"/>
            <a:ext cx="1203325" cy="673100"/>
            <a:chOff x="9069388" y="4103688"/>
            <a:chExt cx="1203325" cy="673100"/>
          </a:xfrm>
        </p:grpSpPr>
        <p:cxnSp>
          <p:nvCxnSpPr>
            <p:cNvPr id="53" name="直接箭头连接符 52">
              <a:extLst>
                <a:ext uri="{FF2B5EF4-FFF2-40B4-BE49-F238E27FC236}">
                  <a16:creationId xmlns:a16="http://schemas.microsoft.com/office/drawing/2014/main" id="{E5DE6DEC-2CE2-4B2B-B941-5BD44C687F63}"/>
                </a:ext>
              </a:extLst>
            </p:cNvPr>
            <p:cNvCxnSpPr>
              <a:cxnSpLocks noChangeShapeType="1"/>
            </p:cNvCxnSpPr>
            <p:nvPr/>
          </p:nvCxnSpPr>
          <p:spPr bwMode="auto">
            <a:xfrm rot="10800000">
              <a:off x="9069388" y="4103688"/>
              <a:ext cx="512762"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4" name="Text Box 16">
              <a:extLst>
                <a:ext uri="{FF2B5EF4-FFF2-40B4-BE49-F238E27FC236}">
                  <a16:creationId xmlns:a16="http://schemas.microsoft.com/office/drawing/2014/main" id="{06CDE795-0F4B-314C-B559-41D83446B186}"/>
                </a:ext>
              </a:extLst>
            </p:cNvPr>
            <p:cNvSpPr txBox="1">
              <a:spLocks noChangeArrowheads="1"/>
            </p:cNvSpPr>
            <p:nvPr/>
          </p:nvSpPr>
          <p:spPr bwMode="auto">
            <a:xfrm>
              <a:off x="9317038" y="4397375"/>
              <a:ext cx="9556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76A531D8-68DD-4E3A-A664-FEB1739664C2}"/>
              </a:ext>
            </a:extLst>
          </p:cNvPr>
          <p:cNvGrpSpPr/>
          <p:nvPr/>
        </p:nvGrpSpPr>
        <p:grpSpPr>
          <a:xfrm>
            <a:off x="5514983" y="1779790"/>
            <a:ext cx="1086746" cy="911373"/>
            <a:chOff x="8466449" y="1845695"/>
            <a:chExt cx="1086746" cy="911373"/>
          </a:xfrm>
        </p:grpSpPr>
        <p:sp>
          <p:nvSpPr>
            <p:cNvPr id="55" name="Text Box 19">
              <a:extLst>
                <a:ext uri="{FF2B5EF4-FFF2-40B4-BE49-F238E27FC236}">
                  <a16:creationId xmlns:a16="http://schemas.microsoft.com/office/drawing/2014/main" id="{F060AEE6-0627-D94D-9D8D-A345B7936517}"/>
                </a:ext>
              </a:extLst>
            </p:cNvPr>
            <p:cNvSpPr txBox="1">
              <a:spLocks noChangeArrowheads="1"/>
            </p:cNvSpPr>
            <p:nvPr/>
          </p:nvSpPr>
          <p:spPr bwMode="auto">
            <a:xfrm>
              <a:off x="8466449" y="1845695"/>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EAF77A7-B021-4245-B9E9-7958DE81D4B2}"/>
                </a:ext>
              </a:extLst>
            </p:cNvPr>
            <p:cNvCxnSpPr>
              <a:cxnSpLocks/>
            </p:cNvCxnSpPr>
            <p:nvPr/>
          </p:nvCxnSpPr>
          <p:spPr>
            <a:xfrm>
              <a:off x="9007158" y="2247287"/>
              <a:ext cx="546037" cy="509781"/>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57" name="Text Box 52">
            <a:extLst>
              <a:ext uri="{FF2B5EF4-FFF2-40B4-BE49-F238E27FC236}">
                <a16:creationId xmlns:a16="http://schemas.microsoft.com/office/drawing/2014/main" id="{2054E3B7-C6A5-42C1-B86B-8DF33F5828FB}"/>
              </a:ext>
            </a:extLst>
          </p:cNvPr>
          <p:cNvSpPr txBox="1">
            <a:spLocks noChangeArrowheads="1"/>
          </p:cNvSpPr>
          <p:nvPr/>
        </p:nvSpPr>
        <p:spPr bwMode="auto">
          <a:xfrm>
            <a:off x="285920" y="5562094"/>
            <a:ext cx="433784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队列空</a:t>
            </a:r>
            <a:r>
              <a:rPr kumimoji="1" lang="zh-CN" altLang="en-US"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a:t>
            </a:r>
            <a:endParaRPr kumimoji="1" lang="en-US" altLang="zh-CN"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Q.rear+1</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mod M ==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endParaRPr kumimoji="1" lang="zh-CN" altLang="en-US" sz="20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8" name="Text Box 53">
            <a:extLst>
              <a:ext uri="{FF2B5EF4-FFF2-40B4-BE49-F238E27FC236}">
                <a16:creationId xmlns:a16="http://schemas.microsoft.com/office/drawing/2014/main" id="{34AED06B-A30C-49DE-95F0-C249F0E7E92F}"/>
              </a:ext>
            </a:extLst>
          </p:cNvPr>
          <p:cNvSpPr txBox="1">
            <a:spLocks noChangeArrowheads="1"/>
          </p:cNvSpPr>
          <p:nvPr/>
        </p:nvSpPr>
        <p:spPr bwMode="auto">
          <a:xfrm>
            <a:off x="5236987" y="5633181"/>
            <a:ext cx="68244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rgbClr val="C00000"/>
                </a:solidFill>
                <a:latin typeface="微软雅黑" panose="020B0503020204020204" pitchFamily="34" charset="-122"/>
                <a:ea typeface="微软雅黑" panose="020B0503020204020204" pitchFamily="34" charset="-122"/>
                <a:cs typeface="华文细黑" panose="02010600040101010101" pitchFamily="2" charset="-122"/>
              </a:rPr>
              <a:t>队列满：</a:t>
            </a:r>
            <a:endParaRPr kumimoji="1" lang="zh-CN" altLang="en-US" sz="2400" b="1" dirty="0">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(Q.rear+2) mod M ==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表示顺序表长度）</a:t>
            </a:r>
            <a:endPar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43012" name="组合 43011">
            <a:extLst>
              <a:ext uri="{FF2B5EF4-FFF2-40B4-BE49-F238E27FC236}">
                <a16:creationId xmlns:a16="http://schemas.microsoft.com/office/drawing/2014/main" id="{6CC139F5-5156-4A2D-B6DC-B59EBE8F40A5}"/>
              </a:ext>
            </a:extLst>
          </p:cNvPr>
          <p:cNvGrpSpPr/>
          <p:nvPr/>
        </p:nvGrpSpPr>
        <p:grpSpPr>
          <a:xfrm>
            <a:off x="8109848" y="3177439"/>
            <a:ext cx="1310859" cy="422274"/>
            <a:chOff x="9044403" y="3306764"/>
            <a:chExt cx="1310859" cy="422274"/>
          </a:xfrm>
        </p:grpSpPr>
        <p:cxnSp>
          <p:nvCxnSpPr>
            <p:cNvPr id="59" name="直接箭头连接符 58">
              <a:extLst>
                <a:ext uri="{FF2B5EF4-FFF2-40B4-BE49-F238E27FC236}">
                  <a16:creationId xmlns:a16="http://schemas.microsoft.com/office/drawing/2014/main" id="{1480890D-58F2-4A22-B026-63E1B74B1993}"/>
                </a:ext>
              </a:extLst>
            </p:cNvPr>
            <p:cNvCxnSpPr>
              <a:cxnSpLocks noChangeShapeType="1"/>
            </p:cNvCxnSpPr>
            <p:nvPr/>
          </p:nvCxnSpPr>
          <p:spPr bwMode="auto">
            <a:xfrm flipH="1">
              <a:off x="9044403" y="3306764"/>
              <a:ext cx="620296" cy="42861"/>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0" name="Text Box 16">
              <a:extLst>
                <a:ext uri="{FF2B5EF4-FFF2-40B4-BE49-F238E27FC236}">
                  <a16:creationId xmlns:a16="http://schemas.microsoft.com/office/drawing/2014/main" id="{F270D4AE-87D8-4D83-8496-0CECC2335C8E}"/>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40" name="组合 39">
            <a:extLst>
              <a:ext uri="{FF2B5EF4-FFF2-40B4-BE49-F238E27FC236}">
                <a16:creationId xmlns:a16="http://schemas.microsoft.com/office/drawing/2014/main" id="{DBFBD286-9698-47B2-B492-DF5D96F41E8D}"/>
              </a:ext>
            </a:extLst>
          </p:cNvPr>
          <p:cNvGrpSpPr/>
          <p:nvPr/>
        </p:nvGrpSpPr>
        <p:grpSpPr>
          <a:xfrm>
            <a:off x="7282173" y="1761590"/>
            <a:ext cx="1119188" cy="896717"/>
            <a:chOff x="7833263" y="1704357"/>
            <a:chExt cx="1119188" cy="896717"/>
          </a:xfrm>
        </p:grpSpPr>
        <p:sp>
          <p:nvSpPr>
            <p:cNvPr id="44" name="Text Box 16">
              <a:extLst>
                <a:ext uri="{FF2B5EF4-FFF2-40B4-BE49-F238E27FC236}">
                  <a16:creationId xmlns:a16="http://schemas.microsoft.com/office/drawing/2014/main" id="{93D0D1AA-CF46-824A-A692-30E9E3B56796}"/>
                </a:ext>
              </a:extLst>
            </p:cNvPr>
            <p:cNvSpPr txBox="1">
              <a:spLocks noChangeArrowheads="1"/>
            </p:cNvSpPr>
            <p:nvPr/>
          </p:nvSpPr>
          <p:spPr bwMode="auto">
            <a:xfrm>
              <a:off x="7833263" y="1704357"/>
              <a:ext cx="1119188" cy="37941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61" name="直接箭头连接符 60">
              <a:extLst>
                <a:ext uri="{FF2B5EF4-FFF2-40B4-BE49-F238E27FC236}">
                  <a16:creationId xmlns:a16="http://schemas.microsoft.com/office/drawing/2014/main" id="{9B43559D-6FFA-4349-BE15-C490F6A0D044}"/>
                </a:ext>
              </a:extLst>
            </p:cNvPr>
            <p:cNvCxnSpPr>
              <a:cxnSpLocks noChangeShapeType="1"/>
            </p:cNvCxnSpPr>
            <p:nvPr/>
          </p:nvCxnSpPr>
          <p:spPr bwMode="auto">
            <a:xfrm flipH="1">
              <a:off x="8041517" y="2099470"/>
              <a:ext cx="177923" cy="501604"/>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grpSp>
      <p:grpSp>
        <p:nvGrpSpPr>
          <p:cNvPr id="41" name="组合 40">
            <a:extLst>
              <a:ext uri="{FF2B5EF4-FFF2-40B4-BE49-F238E27FC236}">
                <a16:creationId xmlns:a16="http://schemas.microsoft.com/office/drawing/2014/main" id="{33F926A1-8A2C-4DA3-B068-BAC9055D1958}"/>
              </a:ext>
            </a:extLst>
          </p:cNvPr>
          <p:cNvGrpSpPr/>
          <p:nvPr/>
        </p:nvGrpSpPr>
        <p:grpSpPr>
          <a:xfrm>
            <a:off x="6525820" y="1681065"/>
            <a:ext cx="1119188" cy="933917"/>
            <a:chOff x="7101588" y="1786989"/>
            <a:chExt cx="1119188" cy="933917"/>
          </a:xfrm>
        </p:grpSpPr>
        <p:cxnSp>
          <p:nvCxnSpPr>
            <p:cNvPr id="43" name="直接箭头连接符 42">
              <a:extLst>
                <a:ext uri="{FF2B5EF4-FFF2-40B4-BE49-F238E27FC236}">
                  <a16:creationId xmlns:a16="http://schemas.microsoft.com/office/drawing/2014/main" id="{0252B8EB-692E-463F-B1F2-4F7828E7D04F}"/>
                </a:ext>
              </a:extLst>
            </p:cNvPr>
            <p:cNvCxnSpPr>
              <a:cxnSpLocks noChangeShapeType="1"/>
            </p:cNvCxnSpPr>
            <p:nvPr/>
          </p:nvCxnSpPr>
          <p:spPr bwMode="auto">
            <a:xfrm flipH="1">
              <a:off x="7394401" y="2155825"/>
              <a:ext cx="168449" cy="565081"/>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2" name="Text Box 16">
              <a:extLst>
                <a:ext uri="{FF2B5EF4-FFF2-40B4-BE49-F238E27FC236}">
                  <a16:creationId xmlns:a16="http://schemas.microsoft.com/office/drawing/2014/main" id="{8ED37648-786C-4180-856E-A1405D7D5230}"/>
                </a:ext>
              </a:extLst>
            </p:cNvPr>
            <p:cNvSpPr txBox="1">
              <a:spLocks noChangeArrowheads="1"/>
            </p:cNvSpPr>
            <p:nvPr/>
          </p:nvSpPr>
          <p:spPr bwMode="auto">
            <a:xfrm>
              <a:off x="7101588" y="1786989"/>
              <a:ext cx="1119188" cy="37941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E1592325-569F-4D67-946E-4072D932F06E}"/>
              </a:ext>
            </a:extLst>
          </p:cNvPr>
          <p:cNvGrpSpPr/>
          <p:nvPr/>
        </p:nvGrpSpPr>
        <p:grpSpPr>
          <a:xfrm>
            <a:off x="1014815" y="2053865"/>
            <a:ext cx="2342914" cy="2930730"/>
            <a:chOff x="2108436" y="1930195"/>
            <a:chExt cx="2342914" cy="2930730"/>
          </a:xfrm>
        </p:grpSpPr>
        <p:grpSp>
          <p:nvGrpSpPr>
            <p:cNvPr id="54275" name="Group 3">
              <a:extLst>
                <a:ext uri="{FF2B5EF4-FFF2-40B4-BE49-F238E27FC236}">
                  <a16:creationId xmlns:a16="http://schemas.microsoft.com/office/drawing/2014/main" id="{55E8628F-3FDD-49E5-B61B-94A1B35BBE8E}"/>
                </a:ext>
              </a:extLst>
            </p:cNvPr>
            <p:cNvGrpSpPr>
              <a:grpSpLocks/>
            </p:cNvGrpSpPr>
            <p:nvPr/>
          </p:nvGrpSpPr>
          <p:grpSpPr bwMode="auto">
            <a:xfrm>
              <a:off x="2135188" y="2806700"/>
              <a:ext cx="2092325" cy="2054225"/>
              <a:chOff x="2064" y="1152"/>
              <a:chExt cx="1968" cy="1968"/>
            </a:xfrm>
          </p:grpSpPr>
          <p:grpSp>
            <p:nvGrpSpPr>
              <p:cNvPr id="54315" name="Group 4">
                <a:extLst>
                  <a:ext uri="{FF2B5EF4-FFF2-40B4-BE49-F238E27FC236}">
                    <a16:creationId xmlns:a16="http://schemas.microsoft.com/office/drawing/2014/main" id="{5B2FCB5D-78A0-4CA1-AB7C-B87C6EC70390}"/>
                  </a:ext>
                </a:extLst>
              </p:cNvPr>
              <p:cNvGrpSpPr>
                <a:grpSpLocks/>
              </p:cNvGrpSpPr>
              <p:nvPr/>
            </p:nvGrpSpPr>
            <p:grpSpPr bwMode="auto">
              <a:xfrm>
                <a:off x="2064" y="1152"/>
                <a:ext cx="1968" cy="1968"/>
                <a:chOff x="2064" y="1152"/>
                <a:chExt cx="1968" cy="1968"/>
              </a:xfrm>
            </p:grpSpPr>
            <p:sp>
              <p:nvSpPr>
                <p:cNvPr id="17" name="Oval 5">
                  <a:extLst>
                    <a:ext uri="{FF2B5EF4-FFF2-40B4-BE49-F238E27FC236}">
                      <a16:creationId xmlns:a16="http://schemas.microsoft.com/office/drawing/2014/main" id="{ED18836D-5435-FE45-A8E1-19825A846026}"/>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8" name="Oval 6">
                  <a:extLst>
                    <a:ext uri="{FF2B5EF4-FFF2-40B4-BE49-F238E27FC236}">
                      <a16:creationId xmlns:a16="http://schemas.microsoft.com/office/drawing/2014/main" id="{7892D986-EBF7-CF43-AB63-58FC34A26DDA}"/>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9" name="Line 7">
                <a:extLst>
                  <a:ext uri="{FF2B5EF4-FFF2-40B4-BE49-F238E27FC236}">
                    <a16:creationId xmlns:a16="http://schemas.microsoft.com/office/drawing/2014/main" id="{D9BBCC9B-8911-1B4E-9103-FF78D68233B9}"/>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B101302B-81AF-784B-B3A1-A313D3390509}"/>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753EC7C-822C-674D-A121-E013D9DD037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018C16E1-7D42-AC46-AAE9-1C2437B8C6F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2B8CC419-24BE-224D-9AE0-F291C7E6AC6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BDA61EA4-58DC-9249-95C6-83AE175E40D7}"/>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5" name="Line 13">
                <a:extLst>
                  <a:ext uri="{FF2B5EF4-FFF2-40B4-BE49-F238E27FC236}">
                    <a16:creationId xmlns:a16="http://schemas.microsoft.com/office/drawing/2014/main" id="{4118088E-2E4D-1A44-8185-D3452C9C7F9B}"/>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6" name="Line 14">
                <a:extLst>
                  <a:ext uri="{FF2B5EF4-FFF2-40B4-BE49-F238E27FC236}">
                    <a16:creationId xmlns:a16="http://schemas.microsoft.com/office/drawing/2014/main" id="{9E5F23C9-87BD-BA40-A14A-50D5E3A923CA}"/>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9" name="Text Box 16">
              <a:extLst>
                <a:ext uri="{FF2B5EF4-FFF2-40B4-BE49-F238E27FC236}">
                  <a16:creationId xmlns:a16="http://schemas.microsoft.com/office/drawing/2014/main" id="{B553C2A3-2FB3-2744-8CB4-6E0B4446D2FF}"/>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0" name="Text Box 19">
              <a:extLst>
                <a:ext uri="{FF2B5EF4-FFF2-40B4-BE49-F238E27FC236}">
                  <a16:creationId xmlns:a16="http://schemas.microsoft.com/office/drawing/2014/main" id="{AA7DDFC8-7D65-A345-8572-6A3371EB12C4}"/>
                </a:ext>
              </a:extLst>
            </p:cNvPr>
            <p:cNvSpPr txBox="1">
              <a:spLocks noChangeArrowheads="1"/>
            </p:cNvSpPr>
            <p:nvPr/>
          </p:nvSpPr>
          <p:spPr bwMode="auto">
            <a:xfrm>
              <a:off x="2108436" y="1930195"/>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4286" name="直接箭头连接符 40">
              <a:extLst>
                <a:ext uri="{FF2B5EF4-FFF2-40B4-BE49-F238E27FC236}">
                  <a16:creationId xmlns:a16="http://schemas.microsoft.com/office/drawing/2014/main" id="{CD17F272-C9AE-4A40-8551-D9EDBF4D5D97}"/>
                </a:ext>
              </a:extLst>
            </p:cNvPr>
            <p:cNvCxnSpPr>
              <a:cxnSpLocks noChangeShapeType="1"/>
              <a:stCxn id="19"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287" name="直接箭头连接符 41">
              <a:extLst>
                <a:ext uri="{FF2B5EF4-FFF2-40B4-BE49-F238E27FC236}">
                  <a16:creationId xmlns:a16="http://schemas.microsoft.com/office/drawing/2014/main" id="{2E47B3DA-A909-4B0C-9D76-44A4102B0537}"/>
                </a:ext>
              </a:extLst>
            </p:cNvPr>
            <p:cNvCxnSpPr>
              <a:cxnSpLocks noChangeShapeType="1"/>
            </p:cNvCxnSpPr>
            <p:nvPr/>
          </p:nvCxnSpPr>
          <p:spPr bwMode="auto">
            <a:xfrm>
              <a:off x="2609434" y="2288407"/>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 name="文本框 6">
              <a:extLst>
                <a:ext uri="{FF2B5EF4-FFF2-40B4-BE49-F238E27FC236}">
                  <a16:creationId xmlns:a16="http://schemas.microsoft.com/office/drawing/2014/main" id="{703A7908-30F8-4605-A362-972577F45DD0}"/>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64" name="文本框 63">
              <a:extLst>
                <a:ext uri="{FF2B5EF4-FFF2-40B4-BE49-F238E27FC236}">
                  <a16:creationId xmlns:a16="http://schemas.microsoft.com/office/drawing/2014/main" id="{028A37C8-EECE-42F4-AEF7-6032783A03A2}"/>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65" name="文本框 64">
              <a:extLst>
                <a:ext uri="{FF2B5EF4-FFF2-40B4-BE49-F238E27FC236}">
                  <a16:creationId xmlns:a16="http://schemas.microsoft.com/office/drawing/2014/main" id="{83BA3935-954E-42F2-ABA0-44C7BCB97F88}"/>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67" name="文本框 66">
              <a:extLst>
                <a:ext uri="{FF2B5EF4-FFF2-40B4-BE49-F238E27FC236}">
                  <a16:creationId xmlns:a16="http://schemas.microsoft.com/office/drawing/2014/main" id="{063F2102-4180-4A6A-8AC4-A79C1B8E1014}"/>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68" name="文本框 67">
              <a:extLst>
                <a:ext uri="{FF2B5EF4-FFF2-40B4-BE49-F238E27FC236}">
                  <a16:creationId xmlns:a16="http://schemas.microsoft.com/office/drawing/2014/main" id="{2589A556-B433-411C-92F6-209FD6B7B445}"/>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69" name="文本框 68">
              <a:extLst>
                <a:ext uri="{FF2B5EF4-FFF2-40B4-BE49-F238E27FC236}">
                  <a16:creationId xmlns:a16="http://schemas.microsoft.com/office/drawing/2014/main" id="{726349CE-73D3-4518-83B8-5BA64E3E7ED4}"/>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0" name="文本框 69">
              <a:extLst>
                <a:ext uri="{FF2B5EF4-FFF2-40B4-BE49-F238E27FC236}">
                  <a16:creationId xmlns:a16="http://schemas.microsoft.com/office/drawing/2014/main" id="{48685157-C805-4A34-AFEA-185FD3849699}"/>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1" name="文本框 70">
              <a:extLst>
                <a:ext uri="{FF2B5EF4-FFF2-40B4-BE49-F238E27FC236}">
                  <a16:creationId xmlns:a16="http://schemas.microsoft.com/office/drawing/2014/main" id="{04E560B3-E651-4C9A-9FB7-4EE703C80407}"/>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sp>
        <p:nvSpPr>
          <p:cNvPr id="72" name="文本框 71">
            <a:extLst>
              <a:ext uri="{FF2B5EF4-FFF2-40B4-BE49-F238E27FC236}">
                <a16:creationId xmlns:a16="http://schemas.microsoft.com/office/drawing/2014/main" id="{214A4FF6-58B6-4249-86E9-486768F0E8E8}"/>
              </a:ext>
            </a:extLst>
          </p:cNvPr>
          <p:cNvSpPr txBox="1"/>
          <p:nvPr/>
        </p:nvSpPr>
        <p:spPr>
          <a:xfrm>
            <a:off x="7059398" y="3264512"/>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73" name="文本框 72">
            <a:extLst>
              <a:ext uri="{FF2B5EF4-FFF2-40B4-BE49-F238E27FC236}">
                <a16:creationId xmlns:a16="http://schemas.microsoft.com/office/drawing/2014/main" id="{9166613B-54C2-4CB3-A6AF-6F78B34DC78A}"/>
              </a:ext>
            </a:extLst>
          </p:cNvPr>
          <p:cNvSpPr txBox="1"/>
          <p:nvPr/>
        </p:nvSpPr>
        <p:spPr>
          <a:xfrm>
            <a:off x="6864597" y="3261783"/>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74" name="文本框 73">
            <a:extLst>
              <a:ext uri="{FF2B5EF4-FFF2-40B4-BE49-F238E27FC236}">
                <a16:creationId xmlns:a16="http://schemas.microsoft.com/office/drawing/2014/main" id="{66C39E84-63C0-434C-8F25-24032E95248B}"/>
              </a:ext>
            </a:extLst>
          </p:cNvPr>
          <p:cNvSpPr txBox="1"/>
          <p:nvPr/>
        </p:nvSpPr>
        <p:spPr>
          <a:xfrm>
            <a:off x="6733950" y="3388061"/>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75" name="文本框 74">
            <a:extLst>
              <a:ext uri="{FF2B5EF4-FFF2-40B4-BE49-F238E27FC236}">
                <a16:creationId xmlns:a16="http://schemas.microsoft.com/office/drawing/2014/main" id="{C8A03BF3-197F-434A-8413-FD5BD023FEDF}"/>
              </a:ext>
            </a:extLst>
          </p:cNvPr>
          <p:cNvSpPr txBox="1"/>
          <p:nvPr/>
        </p:nvSpPr>
        <p:spPr>
          <a:xfrm>
            <a:off x="6758227" y="3550170"/>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76" name="文本框 75">
            <a:extLst>
              <a:ext uri="{FF2B5EF4-FFF2-40B4-BE49-F238E27FC236}">
                <a16:creationId xmlns:a16="http://schemas.microsoft.com/office/drawing/2014/main" id="{FF5AB62D-3331-4173-BD13-E7523E3E0F14}"/>
              </a:ext>
            </a:extLst>
          </p:cNvPr>
          <p:cNvSpPr txBox="1"/>
          <p:nvPr/>
        </p:nvSpPr>
        <p:spPr>
          <a:xfrm>
            <a:off x="6855763" y="3656850"/>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77" name="文本框 76">
            <a:extLst>
              <a:ext uri="{FF2B5EF4-FFF2-40B4-BE49-F238E27FC236}">
                <a16:creationId xmlns:a16="http://schemas.microsoft.com/office/drawing/2014/main" id="{76686503-0201-44FD-B661-6C971DF31F1F}"/>
              </a:ext>
            </a:extLst>
          </p:cNvPr>
          <p:cNvSpPr txBox="1"/>
          <p:nvPr/>
        </p:nvSpPr>
        <p:spPr>
          <a:xfrm>
            <a:off x="7044739" y="3662946"/>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8" name="文本框 77">
            <a:extLst>
              <a:ext uri="{FF2B5EF4-FFF2-40B4-BE49-F238E27FC236}">
                <a16:creationId xmlns:a16="http://schemas.microsoft.com/office/drawing/2014/main" id="{A6F637F3-A48C-4F07-9C5A-3F4D7A991CC8}"/>
              </a:ext>
            </a:extLst>
          </p:cNvPr>
          <p:cNvSpPr txBox="1"/>
          <p:nvPr/>
        </p:nvSpPr>
        <p:spPr>
          <a:xfrm>
            <a:off x="7197139" y="3559314"/>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9" name="文本框 78">
            <a:extLst>
              <a:ext uri="{FF2B5EF4-FFF2-40B4-BE49-F238E27FC236}">
                <a16:creationId xmlns:a16="http://schemas.microsoft.com/office/drawing/2014/main" id="{47B1824A-CA1C-46F4-9F35-C1960C8E0A25}"/>
              </a:ext>
            </a:extLst>
          </p:cNvPr>
          <p:cNvSpPr txBox="1"/>
          <p:nvPr/>
        </p:nvSpPr>
        <p:spPr>
          <a:xfrm>
            <a:off x="7184947" y="3373386"/>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82" name="任意多边形: 形状 9">
            <a:extLst>
              <a:ext uri="{FF2B5EF4-FFF2-40B4-BE49-F238E27FC236}">
                <a16:creationId xmlns:a16="http://schemas.microsoft.com/office/drawing/2014/main" id="{436DB8A6-2A8D-4A83-A579-35AF820C341E}"/>
              </a:ext>
            </a:extLst>
          </p:cNvPr>
          <p:cNvSpPr/>
          <p:nvPr/>
        </p:nvSpPr>
        <p:spPr>
          <a:xfrm>
            <a:off x="574697" y="1121444"/>
            <a:ext cx="1807042"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lang="zh-CN" altLang="en-US" sz="2400" kern="1200" dirty="0">
                <a:solidFill>
                  <a:schemeClr val="bg1"/>
                </a:solidFill>
                <a:latin typeface="Microsoft YaHei" panose="020B0503020204020204" pitchFamily="34" charset="-122"/>
                <a:ea typeface="Microsoft YaHei" panose="020B0503020204020204" pitchFamily="34" charset="-122"/>
              </a:rPr>
              <a:t>实指针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sp>
        <p:nvSpPr>
          <p:cNvPr id="43013" name="文本框 43012">
            <a:extLst>
              <a:ext uri="{FF2B5EF4-FFF2-40B4-BE49-F238E27FC236}">
                <a16:creationId xmlns:a16="http://schemas.microsoft.com/office/drawing/2014/main" id="{F55A0BEB-2C2C-4C51-B6ED-46F6004F4501}"/>
              </a:ext>
            </a:extLst>
          </p:cNvPr>
          <p:cNvSpPr txBox="1"/>
          <p:nvPr/>
        </p:nvSpPr>
        <p:spPr>
          <a:xfrm>
            <a:off x="9630890" y="162002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0</a:t>
            </a:r>
            <a:r>
              <a:rPr lang="en-US" altLang="zh-CN" sz="2400" dirty="0">
                <a:solidFill>
                  <a:srgbClr val="00B0F0"/>
                </a:solidFill>
              </a:rPr>
              <a:t>)</a:t>
            </a:r>
            <a:endParaRPr lang="zh-CN" altLang="en-US" sz="2400" dirty="0">
              <a:solidFill>
                <a:srgbClr val="00B0F0"/>
              </a:solidFill>
            </a:endParaRPr>
          </a:p>
        </p:txBody>
      </p:sp>
      <p:sp>
        <p:nvSpPr>
          <p:cNvPr id="93" name="文本框 92">
            <a:extLst>
              <a:ext uri="{FF2B5EF4-FFF2-40B4-BE49-F238E27FC236}">
                <a16:creationId xmlns:a16="http://schemas.microsoft.com/office/drawing/2014/main" id="{C8E9B55C-879D-470D-A62D-0CDACF1DEE45}"/>
              </a:ext>
            </a:extLst>
          </p:cNvPr>
          <p:cNvSpPr txBox="1"/>
          <p:nvPr/>
        </p:nvSpPr>
        <p:spPr>
          <a:xfrm>
            <a:off x="9628021" y="2133988"/>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1</a:t>
            </a:r>
            <a:r>
              <a:rPr lang="en-US" altLang="zh-CN" sz="2400" dirty="0">
                <a:solidFill>
                  <a:srgbClr val="00B0F0"/>
                </a:solidFill>
              </a:rPr>
              <a:t>)</a:t>
            </a:r>
            <a:endParaRPr lang="zh-CN" altLang="en-US" sz="2400" dirty="0">
              <a:solidFill>
                <a:srgbClr val="00B0F0"/>
              </a:solidFill>
            </a:endParaRPr>
          </a:p>
        </p:txBody>
      </p:sp>
      <p:sp>
        <p:nvSpPr>
          <p:cNvPr id="94" name="文本框 93">
            <a:extLst>
              <a:ext uri="{FF2B5EF4-FFF2-40B4-BE49-F238E27FC236}">
                <a16:creationId xmlns:a16="http://schemas.microsoft.com/office/drawing/2014/main" id="{8361D323-E60B-4D17-BE3C-79372FA00CA4}"/>
              </a:ext>
            </a:extLst>
          </p:cNvPr>
          <p:cNvSpPr txBox="1"/>
          <p:nvPr/>
        </p:nvSpPr>
        <p:spPr>
          <a:xfrm>
            <a:off x="9632059" y="267894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2</a:t>
            </a:r>
            <a:r>
              <a:rPr lang="en-US" altLang="zh-CN" sz="2400" dirty="0">
                <a:solidFill>
                  <a:srgbClr val="00B0F0"/>
                </a:solidFill>
              </a:rPr>
              <a:t>)</a:t>
            </a:r>
            <a:endParaRPr lang="zh-CN" altLang="en-US" sz="2400" dirty="0">
              <a:solidFill>
                <a:srgbClr val="00B0F0"/>
              </a:solidFill>
            </a:endParaRPr>
          </a:p>
        </p:txBody>
      </p:sp>
      <p:sp>
        <p:nvSpPr>
          <p:cNvPr id="95" name="文本框 94">
            <a:extLst>
              <a:ext uri="{FF2B5EF4-FFF2-40B4-BE49-F238E27FC236}">
                <a16:creationId xmlns:a16="http://schemas.microsoft.com/office/drawing/2014/main" id="{A9F1D82C-C639-4218-A511-578BE488F26C}"/>
              </a:ext>
            </a:extLst>
          </p:cNvPr>
          <p:cNvSpPr txBox="1"/>
          <p:nvPr/>
        </p:nvSpPr>
        <p:spPr>
          <a:xfrm>
            <a:off x="9628021" y="3178675"/>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3</a:t>
            </a:r>
            <a:r>
              <a:rPr lang="en-US" altLang="zh-CN" sz="2400" dirty="0">
                <a:solidFill>
                  <a:srgbClr val="00B0F0"/>
                </a:solidFill>
              </a:rPr>
              <a:t>)</a:t>
            </a:r>
            <a:endParaRPr lang="zh-CN" altLang="en-US" sz="2400" dirty="0">
              <a:solidFill>
                <a:srgbClr val="00B0F0"/>
              </a:solidFill>
            </a:endParaRPr>
          </a:p>
        </p:txBody>
      </p:sp>
      <p:sp>
        <p:nvSpPr>
          <p:cNvPr id="96" name="文本框 95">
            <a:extLst>
              <a:ext uri="{FF2B5EF4-FFF2-40B4-BE49-F238E27FC236}">
                <a16:creationId xmlns:a16="http://schemas.microsoft.com/office/drawing/2014/main" id="{C26A539D-0912-4416-94C3-6FEC2A78A3C0}"/>
              </a:ext>
            </a:extLst>
          </p:cNvPr>
          <p:cNvSpPr txBox="1"/>
          <p:nvPr/>
        </p:nvSpPr>
        <p:spPr>
          <a:xfrm>
            <a:off x="9631478" y="3733794"/>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4</a:t>
            </a:r>
            <a:r>
              <a:rPr lang="en-US" altLang="zh-CN" sz="2400" dirty="0">
                <a:solidFill>
                  <a:srgbClr val="00B0F0"/>
                </a:solidFill>
              </a:rPr>
              <a:t>)</a:t>
            </a:r>
            <a:endParaRPr lang="zh-CN" altLang="en-US" sz="2400" dirty="0">
              <a:solidFill>
                <a:srgbClr val="00B0F0"/>
              </a:solidFill>
            </a:endParaRPr>
          </a:p>
        </p:txBody>
      </p:sp>
      <p:sp>
        <p:nvSpPr>
          <p:cNvPr id="97" name="文本框 96">
            <a:extLst>
              <a:ext uri="{FF2B5EF4-FFF2-40B4-BE49-F238E27FC236}">
                <a16:creationId xmlns:a16="http://schemas.microsoft.com/office/drawing/2014/main" id="{2A2F1AF8-5932-4E04-9278-EEC1386A5530}"/>
              </a:ext>
            </a:extLst>
          </p:cNvPr>
          <p:cNvSpPr txBox="1"/>
          <p:nvPr/>
        </p:nvSpPr>
        <p:spPr>
          <a:xfrm>
            <a:off x="9625841" y="4324448"/>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5</a:t>
            </a:r>
            <a:r>
              <a:rPr lang="en-US" altLang="zh-CN" sz="2400" dirty="0">
                <a:solidFill>
                  <a:srgbClr val="00B0F0"/>
                </a:solidFill>
              </a:rPr>
              <a:t>)</a:t>
            </a:r>
            <a:endParaRPr lang="zh-CN" altLang="en-US" sz="2400" dirty="0">
              <a:solidFill>
                <a:srgbClr val="00B0F0"/>
              </a:solidFill>
            </a:endParaRPr>
          </a:p>
        </p:txBody>
      </p:sp>
      <p:sp>
        <p:nvSpPr>
          <p:cNvPr id="98" name="文本框 97">
            <a:extLst>
              <a:ext uri="{FF2B5EF4-FFF2-40B4-BE49-F238E27FC236}">
                <a16:creationId xmlns:a16="http://schemas.microsoft.com/office/drawing/2014/main" id="{C28B2B81-8E86-4818-8C02-7A56C26B2500}"/>
              </a:ext>
            </a:extLst>
          </p:cNvPr>
          <p:cNvSpPr txBox="1"/>
          <p:nvPr/>
        </p:nvSpPr>
        <p:spPr>
          <a:xfrm>
            <a:off x="9625841" y="4879567"/>
            <a:ext cx="1778051" cy="461665"/>
          </a:xfrm>
          <a:prstGeom prst="rect">
            <a:avLst/>
          </a:prstGeom>
          <a:noFill/>
        </p:spPr>
        <p:txBody>
          <a:bodyPr wrap="none" rtlCol="0">
            <a:spAutoFit/>
          </a:bodyPr>
          <a:lstStyle/>
          <a:p>
            <a:r>
              <a:rPr lang="en-US" altLang="zh-CN" sz="2400" dirty="0" err="1">
                <a:solidFill>
                  <a:srgbClr val="00B0F0"/>
                </a:solidFill>
              </a:rPr>
              <a:t>EnQueue</a:t>
            </a:r>
            <a:r>
              <a:rPr lang="en-US" altLang="zh-CN" sz="2400" dirty="0">
                <a:solidFill>
                  <a:srgbClr val="00B0F0"/>
                </a:solidFill>
              </a:rPr>
              <a:t>(k</a:t>
            </a:r>
            <a:r>
              <a:rPr lang="en-US" altLang="zh-CN" dirty="0">
                <a:solidFill>
                  <a:srgbClr val="00B0F0"/>
                </a:solidFill>
              </a:rPr>
              <a:t>6</a:t>
            </a:r>
            <a:r>
              <a:rPr lang="en-US" altLang="zh-CN" sz="2400" dirty="0">
                <a:solidFill>
                  <a:srgbClr val="00B0F0"/>
                </a:solidFill>
              </a:rPr>
              <a:t>)</a:t>
            </a:r>
            <a:endParaRPr lang="zh-CN" altLang="en-US" sz="2400" dirty="0">
              <a:solidFill>
                <a:srgbClr val="00B0F0"/>
              </a:solidFill>
            </a:endParaRPr>
          </a:p>
        </p:txBody>
      </p:sp>
    </p:spTree>
    <p:extLst>
      <p:ext uri="{BB962C8B-B14F-4D97-AF65-F5344CB8AC3E}">
        <p14:creationId xmlns:p14="http://schemas.microsoft.com/office/powerpoint/2010/main" val="241210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4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6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300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4300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301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43010"/>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301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4301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301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p:bldP spid="39" grpId="0"/>
      <p:bldP spid="58" grpId="0"/>
      <p:bldP spid="43013" grpId="0"/>
      <p:bldP spid="93" grpId="0"/>
      <p:bldP spid="94" grpId="0"/>
      <p:bldP spid="95" grpId="0"/>
      <p:bldP spid="96" grpId="0"/>
      <p:bldP spid="97" grpId="0"/>
      <p:bldP spid="9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C8F09479-C216-456A-A750-08A644E5690C}"/>
              </a:ext>
            </a:extLst>
          </p:cNvPr>
          <p:cNvSpPr>
            <a:spLocks noGrp="1" noChangeArrowheads="1"/>
          </p:cNvSpPr>
          <p:nvPr>
            <p:ph type="title"/>
          </p:nvPr>
        </p:nvSpPr>
        <p:spPr/>
        <p:txBody>
          <a:bodyPr>
            <a:normAutofit/>
          </a:bodyPr>
          <a:lstStyle/>
          <a:p>
            <a:pPr>
              <a:spcBef>
                <a:spcPct val="50000"/>
              </a:spcBef>
              <a:defRPr/>
            </a:pPr>
            <a:r>
              <a:rPr kumimoji="0"/>
              <a:t>思考</a:t>
            </a:r>
          </a:p>
        </p:txBody>
      </p:sp>
      <p:sp>
        <p:nvSpPr>
          <p:cNvPr id="2" name="副标题 1">
            <a:extLst>
              <a:ext uri="{FF2B5EF4-FFF2-40B4-BE49-F238E27FC236}">
                <a16:creationId xmlns:a16="http://schemas.microsoft.com/office/drawing/2014/main" id="{A482FF1E-5064-48AB-A44A-F192AB91616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F2C7D11-D557-4FEC-BCB2-4168AB2656E7}"/>
              </a:ext>
            </a:extLst>
          </p:cNvPr>
          <p:cNvSpPr>
            <a:spLocks noGrp="1"/>
          </p:cNvSpPr>
          <p:nvPr>
            <p:ph type="body" idx="10"/>
          </p:nvPr>
        </p:nvSpPr>
        <p:spPr/>
        <p:txBody>
          <a:bodyPr/>
          <a:lstStyle/>
          <a:p>
            <a:endParaRPr lang="zh-CN" altLang="en-US"/>
          </a:p>
        </p:txBody>
      </p:sp>
      <p:sp>
        <p:nvSpPr>
          <p:cNvPr id="55299" name="内容占位符 2">
            <a:extLst>
              <a:ext uri="{FF2B5EF4-FFF2-40B4-BE49-F238E27FC236}">
                <a16:creationId xmlns:a16="http://schemas.microsoft.com/office/drawing/2014/main" id="{BEE8FB1D-7670-40AE-9348-4930B8EA60E7}"/>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只是用 </a:t>
            </a:r>
            <a:r>
              <a:rPr lang="en-US" altLang="zh-CN" dirty="0">
                <a:latin typeface="微软雅黑" panose="020B0503020204020204" pitchFamily="34" charset="-122"/>
              </a:rPr>
              <a:t>front, rear </a:t>
            </a:r>
            <a:r>
              <a:rPr lang="zh-CN" altLang="zh-CN" dirty="0">
                <a:latin typeface="微软雅黑" panose="020B0503020204020204" pitchFamily="34" charset="-122"/>
              </a:rPr>
              <a:t>两个变量，长度为</a:t>
            </a:r>
            <a:r>
              <a:rPr lang="en-US" altLang="zh-CN" dirty="0" err="1">
                <a:latin typeface="微软雅黑" panose="020B0503020204020204" pitchFamily="34" charset="-122"/>
              </a:rPr>
              <a:t>mSize</a:t>
            </a:r>
            <a:r>
              <a:rPr lang="en-US" altLang="zh-CN" dirty="0">
                <a:latin typeface="微软雅黑" panose="020B0503020204020204" pitchFamily="34" charset="-122"/>
              </a:rPr>
              <a:t> = n </a:t>
            </a:r>
            <a:r>
              <a:rPr lang="zh-CN" altLang="zh-CN" dirty="0">
                <a:latin typeface="微软雅黑" panose="020B0503020204020204" pitchFamily="34" charset="-122"/>
              </a:rPr>
              <a:t>的队列，可以容纳的</a:t>
            </a:r>
            <a:r>
              <a:rPr lang="zh-CN" altLang="zh-CN" dirty="0">
                <a:solidFill>
                  <a:srgbClr val="C00000"/>
                </a:solidFill>
                <a:latin typeface="微软雅黑" panose="020B0503020204020204" pitchFamily="34" charset="-122"/>
              </a:rPr>
              <a:t>最大</a:t>
            </a:r>
            <a:r>
              <a:rPr lang="zh-CN" altLang="zh-CN" dirty="0">
                <a:latin typeface="微软雅黑" panose="020B0503020204020204" pitchFamily="34" charset="-122"/>
              </a:rPr>
              <a:t>元素个数为多少？ 请给出详细的推导过程。</a:t>
            </a:r>
            <a:endParaRPr lang="en-US" altLang="zh-CN" dirty="0">
              <a:latin typeface="微软雅黑" panose="020B0503020204020204" pitchFamily="34" charset="-122"/>
            </a:endParaRPr>
          </a:p>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若不想浪费队列的存储单元，还可以采用什么方法？</a:t>
            </a:r>
            <a:endParaRPr lang="en-US" altLang="zh-CN" dirty="0">
              <a:latin typeface="微软雅黑" panose="020B0503020204020204" pitchFamily="34" charset="-122"/>
            </a:endParaRPr>
          </a:p>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采用实指和虚指方法实现队尾指针</a:t>
            </a:r>
            <a:r>
              <a:rPr lang="en-US" altLang="zh-CN" dirty="0">
                <a:latin typeface="微软雅黑" panose="020B0503020204020204" pitchFamily="34" charset="-122"/>
              </a:rPr>
              <a:t>(rear</a:t>
            </a:r>
            <a:r>
              <a:rPr lang="zh-CN" altLang="zh-CN" dirty="0">
                <a:latin typeface="微软雅黑" panose="020B0503020204020204" pitchFamily="34" charset="-122"/>
              </a:rPr>
              <a:t>指向队尾元素</a:t>
            </a:r>
            <a:r>
              <a:rPr lang="zh-CN" altLang="en-US" dirty="0">
                <a:latin typeface="微软雅黑" panose="020B0503020204020204" pitchFamily="34" charset="-122"/>
              </a:rPr>
              <a:t>的下</a:t>
            </a:r>
            <a:r>
              <a:rPr lang="zh-CN" altLang="zh-CN" dirty="0">
                <a:latin typeface="微软雅黑" panose="020B0503020204020204" pitchFamily="34" charset="-122"/>
              </a:rPr>
              <a:t>一个元素，和实指相比后移一位</a:t>
            </a:r>
            <a:r>
              <a:rPr lang="en-US" altLang="zh-CN" dirty="0">
                <a:latin typeface="微软雅黑" panose="020B0503020204020204" pitchFamily="34" charset="-122"/>
              </a:rPr>
              <a:t>)</a:t>
            </a:r>
            <a:r>
              <a:rPr lang="zh-CN" altLang="zh-CN" dirty="0">
                <a:latin typeface="微软雅黑" panose="020B0503020204020204" pitchFamily="34" charset="-122"/>
              </a:rPr>
              <a:t>，在具体实现上有何异同？哪一种更好？</a:t>
            </a:r>
          </a:p>
          <a:p>
            <a:pPr marL="360363" indent="-360363">
              <a:buFont typeface="Garamond" panose="02020404030301010803" pitchFamily="18" charset="0"/>
              <a:buAutoNum type="arabicPeriod"/>
            </a:pPr>
            <a:endParaRPr lang="en-US" altLang="zh-CN" dirty="0">
              <a:latin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6E1222B-4139-4A47-9FB0-ED806ABC3808}"/>
              </a:ext>
            </a:extLst>
          </p:cNvPr>
          <p:cNvSpPr txBox="1"/>
          <p:nvPr>
            <p:custDataLst>
              <p:tags r:id="rId2"/>
            </p:custDataLst>
          </p:nvPr>
        </p:nvSpPr>
        <p:spPr>
          <a:xfrm>
            <a:off x="1060450" y="643710"/>
            <a:ext cx="9753600" cy="152590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循环队列使用</a:t>
            </a:r>
            <a:r>
              <a:rPr lang="zh-CN" altLang="en-US" sz="2600" dirty="0">
                <a:solidFill>
                  <a:srgbClr val="C00000"/>
                </a:solidFill>
                <a:latin typeface="Microsoft Yahei" panose="020B0503020204020204" pitchFamily="34" charset="-122"/>
                <a:ea typeface="Microsoft Yahei" panose="020B0503020204020204" pitchFamily="34" charset="-122"/>
                <a:sym typeface="Microsoft Yahei" panose="020B0503020204020204" pitchFamily="34" charset="-122"/>
              </a:rPr>
              <a:t>实指针</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，两个队列中各自存放有多少个元素？</a:t>
            </a:r>
          </a:p>
        </p:txBody>
      </p:sp>
      <p:sp>
        <p:nvSpPr>
          <p:cNvPr id="9" name="文本框 8">
            <a:extLst>
              <a:ext uri="{FF2B5EF4-FFF2-40B4-BE49-F238E27FC236}">
                <a16:creationId xmlns:a16="http://schemas.microsoft.com/office/drawing/2014/main" id="{EA7E3592-DC17-4D86-B4BC-6D898EB8C6EC}"/>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D879B12B-3D5C-42FF-8CCB-D61EF52FA174}"/>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271E69F1-7B28-4CFD-8877-65090B648680}"/>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CE19A32B-B152-492A-8D7A-9157BB5D4D65}"/>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3B21419-75F0-4BBB-B50B-56A9F59CF8B9}"/>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3E8B0A1A-FE70-4D02-AE01-32FB919C51EB}"/>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0CF3A988-4E15-4896-B5BC-8015205495FD}"/>
              </a:ext>
            </a:extLst>
          </p:cNvPr>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B5B144FF-CC36-4765-947F-4E1144282E5E}"/>
              </a:ext>
            </a:extLst>
          </p:cNvPr>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3D9E4F9A-B58B-4F83-955F-2A041240C92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4" name="表格 23">
            <a:extLst>
              <a:ext uri="{FF2B5EF4-FFF2-40B4-BE49-F238E27FC236}">
                <a16:creationId xmlns:a16="http://schemas.microsoft.com/office/drawing/2014/main" id="{1D08910D-A811-4592-8BB7-8D5F10F27A6E}"/>
              </a:ext>
            </a:extLst>
          </p:cNvPr>
          <p:cNvGraphicFramePr>
            <a:graphicFrameLocks noGrp="1"/>
          </p:cNvGraphicFramePr>
          <p:nvPr>
            <p:extLst>
              <p:ext uri="{D42A27DB-BD31-4B8C-83A1-F6EECF244321}">
                <p14:modId xmlns:p14="http://schemas.microsoft.com/office/powerpoint/2010/main" val="3612896173"/>
              </p:ext>
            </p:extLst>
          </p:nvPr>
        </p:nvGraphicFramePr>
        <p:xfrm>
          <a:off x="7242175" y="2606516"/>
          <a:ext cx="4083050" cy="487680"/>
        </p:xfrm>
        <a:graphic>
          <a:graphicData uri="http://schemas.openxmlformats.org/drawingml/2006/table">
            <a:tbl>
              <a:tblPr firstRow="1" bandRow="1">
                <a:tableStyleId>{93296810-A885-4BE3-A3E7-6D5BEEA58F35}</a:tableStyleId>
              </a:tblPr>
              <a:tblGrid>
                <a:gridCol w="408305">
                  <a:extLst>
                    <a:ext uri="{9D8B030D-6E8A-4147-A177-3AD203B41FA5}">
                      <a16:colId xmlns:a16="http://schemas.microsoft.com/office/drawing/2014/main" val="586583134"/>
                    </a:ext>
                  </a:extLst>
                </a:gridCol>
                <a:gridCol w="408305">
                  <a:extLst>
                    <a:ext uri="{9D8B030D-6E8A-4147-A177-3AD203B41FA5}">
                      <a16:colId xmlns:a16="http://schemas.microsoft.com/office/drawing/2014/main" val="298077863"/>
                    </a:ext>
                  </a:extLst>
                </a:gridCol>
                <a:gridCol w="408305">
                  <a:extLst>
                    <a:ext uri="{9D8B030D-6E8A-4147-A177-3AD203B41FA5}">
                      <a16:colId xmlns:a16="http://schemas.microsoft.com/office/drawing/2014/main" val="3077586858"/>
                    </a:ext>
                  </a:extLst>
                </a:gridCol>
                <a:gridCol w="408305">
                  <a:extLst>
                    <a:ext uri="{9D8B030D-6E8A-4147-A177-3AD203B41FA5}">
                      <a16:colId xmlns:a16="http://schemas.microsoft.com/office/drawing/2014/main" val="624464749"/>
                    </a:ext>
                  </a:extLst>
                </a:gridCol>
                <a:gridCol w="408305">
                  <a:extLst>
                    <a:ext uri="{9D8B030D-6E8A-4147-A177-3AD203B41FA5}">
                      <a16:colId xmlns:a16="http://schemas.microsoft.com/office/drawing/2014/main" val="1832508782"/>
                    </a:ext>
                  </a:extLst>
                </a:gridCol>
                <a:gridCol w="408305">
                  <a:extLst>
                    <a:ext uri="{9D8B030D-6E8A-4147-A177-3AD203B41FA5}">
                      <a16:colId xmlns:a16="http://schemas.microsoft.com/office/drawing/2014/main" val="539432864"/>
                    </a:ext>
                  </a:extLst>
                </a:gridCol>
                <a:gridCol w="408305">
                  <a:extLst>
                    <a:ext uri="{9D8B030D-6E8A-4147-A177-3AD203B41FA5}">
                      <a16:colId xmlns:a16="http://schemas.microsoft.com/office/drawing/2014/main" val="1333529870"/>
                    </a:ext>
                  </a:extLst>
                </a:gridCol>
                <a:gridCol w="408305">
                  <a:extLst>
                    <a:ext uri="{9D8B030D-6E8A-4147-A177-3AD203B41FA5}">
                      <a16:colId xmlns:a16="http://schemas.microsoft.com/office/drawing/2014/main" val="4202238747"/>
                    </a:ext>
                  </a:extLst>
                </a:gridCol>
                <a:gridCol w="408305">
                  <a:extLst>
                    <a:ext uri="{9D8B030D-6E8A-4147-A177-3AD203B41FA5}">
                      <a16:colId xmlns:a16="http://schemas.microsoft.com/office/drawing/2014/main" val="1054872828"/>
                    </a:ext>
                  </a:extLst>
                </a:gridCol>
                <a:gridCol w="408305">
                  <a:extLst>
                    <a:ext uri="{9D8B030D-6E8A-4147-A177-3AD203B41FA5}">
                      <a16:colId xmlns:a16="http://schemas.microsoft.com/office/drawing/2014/main" val="3019199490"/>
                    </a:ext>
                  </a:extLst>
                </a:gridCol>
              </a:tblGrid>
              <a:tr h="487680">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6</a:t>
                      </a:r>
                      <a:endParaRPr lang="zh-CN" altLang="en-US" dirty="0"/>
                    </a:p>
                  </a:txBody>
                  <a:tcPr anchor="ctr"/>
                </a:tc>
                <a:tc>
                  <a:txBody>
                    <a:bodyPr/>
                    <a:lstStyle/>
                    <a:p>
                      <a:pPr algn="ctr"/>
                      <a:r>
                        <a:rPr lang="en-US" altLang="zh-CN" dirty="0"/>
                        <a:t>7</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9</a:t>
                      </a:r>
                      <a:endParaRPr lang="zh-CN" altLang="en-US" dirty="0"/>
                    </a:p>
                  </a:txBody>
                  <a:tcPr anchor="ctr"/>
                </a:tc>
                <a:extLst>
                  <a:ext uri="{0D108BD9-81ED-4DB2-BD59-A6C34878D82A}">
                    <a16:rowId xmlns:a16="http://schemas.microsoft.com/office/drawing/2014/main" val="1770092967"/>
                  </a:ext>
                </a:extLst>
              </a:tr>
            </a:tbl>
          </a:graphicData>
        </a:graphic>
      </p:graphicFrame>
      <p:sp>
        <p:nvSpPr>
          <p:cNvPr id="25" name="文本框 24">
            <a:extLst>
              <a:ext uri="{FF2B5EF4-FFF2-40B4-BE49-F238E27FC236}">
                <a16:creationId xmlns:a16="http://schemas.microsoft.com/office/drawing/2014/main" id="{DA3E0FE4-65C5-4E3E-91B2-B31372BCC44E}"/>
              </a:ext>
            </a:extLst>
          </p:cNvPr>
          <p:cNvSpPr txBox="1"/>
          <p:nvPr/>
        </p:nvSpPr>
        <p:spPr>
          <a:xfrm>
            <a:off x="8184453" y="1850115"/>
            <a:ext cx="716158" cy="400110"/>
          </a:xfrm>
          <a:prstGeom prst="rect">
            <a:avLst/>
          </a:prstGeom>
          <a:noFill/>
        </p:spPr>
        <p:txBody>
          <a:bodyPr wrap="none" rtlCol="0">
            <a:spAutoFit/>
          </a:bodyPr>
          <a:lstStyle/>
          <a:p>
            <a:r>
              <a:rPr lang="en-US" altLang="zh-CN" sz="2000" b="1" dirty="0"/>
              <a:t>front</a:t>
            </a:r>
            <a:endParaRPr lang="zh-CN" altLang="en-US" sz="2000" b="1" dirty="0"/>
          </a:p>
        </p:txBody>
      </p:sp>
      <p:sp>
        <p:nvSpPr>
          <p:cNvPr id="26" name="文本框 25">
            <a:extLst>
              <a:ext uri="{FF2B5EF4-FFF2-40B4-BE49-F238E27FC236}">
                <a16:creationId xmlns:a16="http://schemas.microsoft.com/office/drawing/2014/main" id="{97278D89-E20A-47BF-8A76-18D596EE857A}"/>
              </a:ext>
            </a:extLst>
          </p:cNvPr>
          <p:cNvSpPr txBox="1"/>
          <p:nvPr/>
        </p:nvSpPr>
        <p:spPr>
          <a:xfrm>
            <a:off x="9658350" y="1832916"/>
            <a:ext cx="621004" cy="400110"/>
          </a:xfrm>
          <a:prstGeom prst="rect">
            <a:avLst/>
          </a:prstGeom>
          <a:noFill/>
        </p:spPr>
        <p:txBody>
          <a:bodyPr wrap="none" rtlCol="0">
            <a:spAutoFit/>
          </a:bodyPr>
          <a:lstStyle/>
          <a:p>
            <a:r>
              <a:rPr lang="en-US" altLang="zh-CN" sz="2000" b="1" dirty="0">
                <a:solidFill>
                  <a:srgbClr val="FF0000"/>
                </a:solidFill>
              </a:rPr>
              <a:t>rear</a:t>
            </a:r>
            <a:endParaRPr lang="zh-CN" altLang="en-US" sz="2000" b="1" dirty="0">
              <a:solidFill>
                <a:srgbClr val="FF0000"/>
              </a:solidFill>
            </a:endParaRPr>
          </a:p>
        </p:txBody>
      </p:sp>
      <p:cxnSp>
        <p:nvCxnSpPr>
          <p:cNvPr id="28" name="直接箭头连接符 27">
            <a:extLst>
              <a:ext uri="{FF2B5EF4-FFF2-40B4-BE49-F238E27FC236}">
                <a16:creationId xmlns:a16="http://schemas.microsoft.com/office/drawing/2014/main" id="{24E7933A-AFB8-4761-A645-B57C794674DB}"/>
              </a:ext>
            </a:extLst>
          </p:cNvPr>
          <p:cNvCxnSpPr>
            <a:stCxn id="25" idx="2"/>
          </p:cNvCxnSpPr>
          <p:nvPr/>
        </p:nvCxnSpPr>
        <p:spPr>
          <a:xfrm>
            <a:off x="8542532" y="2250225"/>
            <a:ext cx="128393" cy="3562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93526D6A-C32A-4854-A4B7-7076A1B26BD5}"/>
              </a:ext>
            </a:extLst>
          </p:cNvPr>
          <p:cNvCxnSpPr>
            <a:cxnSpLocks/>
            <a:stCxn id="26" idx="2"/>
          </p:cNvCxnSpPr>
          <p:nvPr/>
        </p:nvCxnSpPr>
        <p:spPr>
          <a:xfrm flipH="1">
            <a:off x="9844956" y="2233026"/>
            <a:ext cx="123896" cy="3734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表格 32">
            <a:extLst>
              <a:ext uri="{FF2B5EF4-FFF2-40B4-BE49-F238E27FC236}">
                <a16:creationId xmlns:a16="http://schemas.microsoft.com/office/drawing/2014/main" id="{395F4C73-A6D5-41A2-A828-61918E643058}"/>
              </a:ext>
            </a:extLst>
          </p:cNvPr>
          <p:cNvGraphicFramePr>
            <a:graphicFrameLocks noGrp="1"/>
          </p:cNvGraphicFramePr>
          <p:nvPr>
            <p:extLst>
              <p:ext uri="{D42A27DB-BD31-4B8C-83A1-F6EECF244321}">
                <p14:modId xmlns:p14="http://schemas.microsoft.com/office/powerpoint/2010/main" val="2018996342"/>
              </p:ext>
            </p:extLst>
          </p:nvPr>
        </p:nvGraphicFramePr>
        <p:xfrm>
          <a:off x="7242175" y="4110049"/>
          <a:ext cx="4083050" cy="487680"/>
        </p:xfrm>
        <a:graphic>
          <a:graphicData uri="http://schemas.openxmlformats.org/drawingml/2006/table">
            <a:tbl>
              <a:tblPr firstRow="1" bandRow="1">
                <a:tableStyleId>{21E4AEA4-8DFA-4A89-87EB-49C32662AFE0}</a:tableStyleId>
              </a:tblPr>
              <a:tblGrid>
                <a:gridCol w="408305">
                  <a:extLst>
                    <a:ext uri="{9D8B030D-6E8A-4147-A177-3AD203B41FA5}">
                      <a16:colId xmlns:a16="http://schemas.microsoft.com/office/drawing/2014/main" val="586583134"/>
                    </a:ext>
                  </a:extLst>
                </a:gridCol>
                <a:gridCol w="408305">
                  <a:extLst>
                    <a:ext uri="{9D8B030D-6E8A-4147-A177-3AD203B41FA5}">
                      <a16:colId xmlns:a16="http://schemas.microsoft.com/office/drawing/2014/main" val="298077863"/>
                    </a:ext>
                  </a:extLst>
                </a:gridCol>
                <a:gridCol w="408305">
                  <a:extLst>
                    <a:ext uri="{9D8B030D-6E8A-4147-A177-3AD203B41FA5}">
                      <a16:colId xmlns:a16="http://schemas.microsoft.com/office/drawing/2014/main" val="3077586858"/>
                    </a:ext>
                  </a:extLst>
                </a:gridCol>
                <a:gridCol w="408305">
                  <a:extLst>
                    <a:ext uri="{9D8B030D-6E8A-4147-A177-3AD203B41FA5}">
                      <a16:colId xmlns:a16="http://schemas.microsoft.com/office/drawing/2014/main" val="624464749"/>
                    </a:ext>
                  </a:extLst>
                </a:gridCol>
                <a:gridCol w="408305">
                  <a:extLst>
                    <a:ext uri="{9D8B030D-6E8A-4147-A177-3AD203B41FA5}">
                      <a16:colId xmlns:a16="http://schemas.microsoft.com/office/drawing/2014/main" val="1832508782"/>
                    </a:ext>
                  </a:extLst>
                </a:gridCol>
                <a:gridCol w="408305">
                  <a:extLst>
                    <a:ext uri="{9D8B030D-6E8A-4147-A177-3AD203B41FA5}">
                      <a16:colId xmlns:a16="http://schemas.microsoft.com/office/drawing/2014/main" val="539432864"/>
                    </a:ext>
                  </a:extLst>
                </a:gridCol>
                <a:gridCol w="408305">
                  <a:extLst>
                    <a:ext uri="{9D8B030D-6E8A-4147-A177-3AD203B41FA5}">
                      <a16:colId xmlns:a16="http://schemas.microsoft.com/office/drawing/2014/main" val="1333529870"/>
                    </a:ext>
                  </a:extLst>
                </a:gridCol>
                <a:gridCol w="408305">
                  <a:extLst>
                    <a:ext uri="{9D8B030D-6E8A-4147-A177-3AD203B41FA5}">
                      <a16:colId xmlns:a16="http://schemas.microsoft.com/office/drawing/2014/main" val="4202238747"/>
                    </a:ext>
                  </a:extLst>
                </a:gridCol>
                <a:gridCol w="408305">
                  <a:extLst>
                    <a:ext uri="{9D8B030D-6E8A-4147-A177-3AD203B41FA5}">
                      <a16:colId xmlns:a16="http://schemas.microsoft.com/office/drawing/2014/main" val="1054872828"/>
                    </a:ext>
                  </a:extLst>
                </a:gridCol>
                <a:gridCol w="408305">
                  <a:extLst>
                    <a:ext uri="{9D8B030D-6E8A-4147-A177-3AD203B41FA5}">
                      <a16:colId xmlns:a16="http://schemas.microsoft.com/office/drawing/2014/main" val="3019199490"/>
                    </a:ext>
                  </a:extLst>
                </a:gridCol>
              </a:tblGrid>
              <a:tr h="487680">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6</a:t>
                      </a:r>
                      <a:endParaRPr lang="zh-CN" altLang="en-US" dirty="0"/>
                    </a:p>
                  </a:txBody>
                  <a:tcPr anchor="ctr"/>
                </a:tc>
                <a:tc>
                  <a:txBody>
                    <a:bodyPr/>
                    <a:lstStyle/>
                    <a:p>
                      <a:pPr algn="ctr"/>
                      <a:r>
                        <a:rPr lang="en-US" altLang="zh-CN" dirty="0"/>
                        <a:t>7</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9</a:t>
                      </a:r>
                      <a:endParaRPr lang="zh-CN" altLang="en-US" dirty="0"/>
                    </a:p>
                  </a:txBody>
                  <a:tcPr anchor="ctr"/>
                </a:tc>
                <a:extLst>
                  <a:ext uri="{0D108BD9-81ED-4DB2-BD59-A6C34878D82A}">
                    <a16:rowId xmlns:a16="http://schemas.microsoft.com/office/drawing/2014/main" val="1770092967"/>
                  </a:ext>
                </a:extLst>
              </a:tr>
            </a:tbl>
          </a:graphicData>
        </a:graphic>
      </p:graphicFrame>
      <p:sp>
        <p:nvSpPr>
          <p:cNvPr id="34" name="文本框 33">
            <a:extLst>
              <a:ext uri="{FF2B5EF4-FFF2-40B4-BE49-F238E27FC236}">
                <a16:creationId xmlns:a16="http://schemas.microsoft.com/office/drawing/2014/main" id="{5C8748CD-A632-4928-A82E-48AC4C88A59B}"/>
              </a:ext>
            </a:extLst>
          </p:cNvPr>
          <p:cNvSpPr txBox="1"/>
          <p:nvPr/>
        </p:nvSpPr>
        <p:spPr>
          <a:xfrm>
            <a:off x="8184453" y="3353648"/>
            <a:ext cx="621004" cy="400110"/>
          </a:xfrm>
          <a:prstGeom prst="rect">
            <a:avLst/>
          </a:prstGeom>
          <a:noFill/>
        </p:spPr>
        <p:txBody>
          <a:bodyPr wrap="none" rtlCol="0">
            <a:spAutoFit/>
          </a:bodyPr>
          <a:lstStyle/>
          <a:p>
            <a:r>
              <a:rPr lang="en-US" altLang="zh-CN" sz="2000" b="1" dirty="0">
                <a:solidFill>
                  <a:srgbClr val="FF0000"/>
                </a:solidFill>
              </a:rPr>
              <a:t>rear</a:t>
            </a:r>
            <a:endParaRPr lang="zh-CN" altLang="en-US" sz="2000" b="1" dirty="0">
              <a:solidFill>
                <a:srgbClr val="FF0000"/>
              </a:solidFill>
            </a:endParaRPr>
          </a:p>
        </p:txBody>
      </p:sp>
      <p:sp>
        <p:nvSpPr>
          <p:cNvPr id="35" name="文本框 34">
            <a:extLst>
              <a:ext uri="{FF2B5EF4-FFF2-40B4-BE49-F238E27FC236}">
                <a16:creationId xmlns:a16="http://schemas.microsoft.com/office/drawing/2014/main" id="{F3FAA91D-5FF4-4CD7-B2D9-05D176144446}"/>
              </a:ext>
            </a:extLst>
          </p:cNvPr>
          <p:cNvSpPr txBox="1"/>
          <p:nvPr/>
        </p:nvSpPr>
        <p:spPr>
          <a:xfrm>
            <a:off x="9658350" y="3336449"/>
            <a:ext cx="716158" cy="400110"/>
          </a:xfrm>
          <a:prstGeom prst="rect">
            <a:avLst/>
          </a:prstGeom>
          <a:noFill/>
        </p:spPr>
        <p:txBody>
          <a:bodyPr wrap="none" rtlCol="0">
            <a:spAutoFit/>
          </a:bodyPr>
          <a:lstStyle/>
          <a:p>
            <a:r>
              <a:rPr lang="en-US" altLang="zh-CN" sz="2000" b="1" dirty="0"/>
              <a:t>front</a:t>
            </a:r>
            <a:endParaRPr lang="zh-CN" altLang="en-US" sz="2000" b="1" dirty="0"/>
          </a:p>
        </p:txBody>
      </p:sp>
      <p:cxnSp>
        <p:nvCxnSpPr>
          <p:cNvPr id="36" name="直接箭头连接符 35">
            <a:extLst>
              <a:ext uri="{FF2B5EF4-FFF2-40B4-BE49-F238E27FC236}">
                <a16:creationId xmlns:a16="http://schemas.microsoft.com/office/drawing/2014/main" id="{64ABA452-950D-4F68-A14C-2BEDCB00DBE5}"/>
              </a:ext>
            </a:extLst>
          </p:cNvPr>
          <p:cNvCxnSpPr>
            <a:stCxn id="34" idx="2"/>
          </p:cNvCxnSpPr>
          <p:nvPr/>
        </p:nvCxnSpPr>
        <p:spPr>
          <a:xfrm>
            <a:off x="8494955" y="3753758"/>
            <a:ext cx="175970" cy="3562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6CD71DE9-FC68-4512-8C93-AB9002AB6BBE}"/>
              </a:ext>
            </a:extLst>
          </p:cNvPr>
          <p:cNvCxnSpPr>
            <a:cxnSpLocks/>
            <a:stCxn id="35" idx="2"/>
          </p:cNvCxnSpPr>
          <p:nvPr/>
        </p:nvCxnSpPr>
        <p:spPr>
          <a:xfrm flipH="1">
            <a:off x="9844958" y="3736559"/>
            <a:ext cx="171471" cy="3734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30935CFF-E8BF-4A48-A1FD-9C172EAE208E}"/>
              </a:ext>
            </a:extLst>
          </p:cNvPr>
          <p:cNvSpPr txBox="1"/>
          <p:nvPr/>
        </p:nvSpPr>
        <p:spPr>
          <a:xfrm>
            <a:off x="6508074" y="2715648"/>
            <a:ext cx="827471" cy="400110"/>
          </a:xfrm>
          <a:prstGeom prst="rect">
            <a:avLst/>
          </a:prstGeom>
          <a:noFill/>
        </p:spPr>
        <p:txBody>
          <a:bodyPr wrap="none" rtlCol="0">
            <a:spAutoFit/>
          </a:bodyPr>
          <a:lstStyle/>
          <a:p>
            <a:r>
              <a:rPr lang="zh-CN" altLang="en-US" sz="2000" b="1" dirty="0"/>
              <a:t>（</a:t>
            </a:r>
            <a:r>
              <a:rPr lang="en-US" altLang="zh-CN" sz="2000" b="1" dirty="0"/>
              <a:t>1</a:t>
            </a:r>
            <a:r>
              <a:rPr lang="zh-CN" altLang="en-US" sz="2000" b="1" dirty="0"/>
              <a:t>）</a:t>
            </a:r>
          </a:p>
        </p:txBody>
      </p:sp>
      <p:sp>
        <p:nvSpPr>
          <p:cNvPr id="39" name="文本框 38">
            <a:extLst>
              <a:ext uri="{FF2B5EF4-FFF2-40B4-BE49-F238E27FC236}">
                <a16:creationId xmlns:a16="http://schemas.microsoft.com/office/drawing/2014/main" id="{0A8A7F3C-AEA4-454F-BB49-2F47E4D3E536}"/>
              </a:ext>
            </a:extLst>
          </p:cNvPr>
          <p:cNvSpPr txBox="1"/>
          <p:nvPr/>
        </p:nvSpPr>
        <p:spPr>
          <a:xfrm>
            <a:off x="6523949" y="4169223"/>
            <a:ext cx="827471" cy="400110"/>
          </a:xfrm>
          <a:prstGeom prst="rect">
            <a:avLst/>
          </a:prstGeom>
          <a:noFill/>
        </p:spPr>
        <p:txBody>
          <a:bodyPr wrap="none" rtlCol="0">
            <a:spAutoFit/>
          </a:bodyPr>
          <a:lstStyle/>
          <a:p>
            <a:r>
              <a:rPr lang="zh-CN" altLang="en-US" sz="2000" b="1" dirty="0"/>
              <a:t>（</a:t>
            </a:r>
            <a:r>
              <a:rPr lang="en-US" altLang="zh-CN" sz="2000" b="1" dirty="0"/>
              <a:t>2</a:t>
            </a:r>
            <a:r>
              <a:rPr lang="zh-CN" altLang="en-US" sz="2000" b="1" dirty="0"/>
              <a:t>）</a:t>
            </a:r>
          </a:p>
        </p:txBody>
      </p:sp>
      <p:grpSp>
        <p:nvGrpSpPr>
          <p:cNvPr id="22" name="组合 21">
            <a:extLst>
              <a:ext uri="{FF2B5EF4-FFF2-40B4-BE49-F238E27FC236}">
                <a16:creationId xmlns:a16="http://schemas.microsoft.com/office/drawing/2014/main" id="{8F72F492-07E1-4E1F-8F08-A6D18B2F3474}"/>
              </a:ext>
            </a:extLst>
          </p:cNvPr>
          <p:cNvGrpSpPr/>
          <p:nvPr>
            <p:custDataLst>
              <p:tags r:id="rId12"/>
            </p:custDataLst>
          </p:nvPr>
        </p:nvGrpSpPr>
        <p:grpSpPr>
          <a:xfrm>
            <a:off x="0" y="0"/>
            <a:ext cx="12192000" cy="635000"/>
            <a:chOff x="0" y="36115"/>
            <a:chExt cx="12192000" cy="635000"/>
          </a:xfrm>
        </p:grpSpPr>
        <p:sp>
          <p:nvSpPr>
            <p:cNvPr id="18" name="TitleBackground">
              <a:extLst>
                <a:ext uri="{FF2B5EF4-FFF2-40B4-BE49-F238E27FC236}">
                  <a16:creationId xmlns:a16="http://schemas.microsoft.com/office/drawing/2014/main" id="{A094312F-29E9-4ECC-9907-D4D982103C91}"/>
                </a:ext>
              </a:extLst>
            </p:cNvPr>
            <p:cNvSpPr/>
            <p:nvPr>
              <p:custDataLst>
                <p:tags r:id="rId14"/>
              </p:custDataLst>
            </p:nvPr>
          </p:nvSpPr>
          <p:spPr>
            <a:xfrm>
              <a:off x="0" y="36115"/>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DFC9FEFD-8FD4-4E12-BC07-07D196DF8B82}"/>
                </a:ext>
              </a:extLst>
            </p:cNvPr>
            <p:cNvSpPr/>
            <p:nvPr>
              <p:custDataLst>
                <p:tags r:id="rId15"/>
              </p:custDataLst>
            </p:nvPr>
          </p:nvSpPr>
          <p:spPr>
            <a:xfrm>
              <a:off x="0" y="36115"/>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B96BE96A-E143-4667-92E0-90ABDE29F04A}"/>
                </a:ext>
              </a:extLst>
            </p:cNvPr>
            <p:cNvSpPr txBox="1"/>
            <p:nvPr>
              <p:custDataLst>
                <p:tags r:id="rId16"/>
              </p:custDataLst>
            </p:nvPr>
          </p:nvSpPr>
          <p:spPr>
            <a:xfrm>
              <a:off x="254000" y="36115"/>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79F334D2-A65C-4ADB-9256-42D9509F9A2B}"/>
                </a:ext>
              </a:extLst>
            </p:cNvPr>
            <p:cNvSpPr txBox="1"/>
            <p:nvPr>
              <p:custDataLst>
                <p:tags r:id="rId17"/>
              </p:custDataLst>
            </p:nvPr>
          </p:nvSpPr>
          <p:spPr>
            <a:xfrm>
              <a:off x="1525905" y="145335"/>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D7D1F39E-2A27-4A5B-855D-197449D69C3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1572513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6E1222B-4139-4A47-9FB0-ED806ABC3808}"/>
              </a:ext>
            </a:extLst>
          </p:cNvPr>
          <p:cNvSpPr txBox="1"/>
          <p:nvPr>
            <p:custDataLst>
              <p:tags r:id="rId2"/>
            </p:custDataLst>
          </p:nvPr>
        </p:nvSpPr>
        <p:spPr>
          <a:xfrm>
            <a:off x="1060450" y="643710"/>
            <a:ext cx="9753600" cy="152590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循环队列使用</a:t>
            </a:r>
            <a:r>
              <a:rPr lang="zh-CN" altLang="en-US" sz="2600" dirty="0">
                <a:solidFill>
                  <a:srgbClr val="0033CC"/>
                </a:solidFill>
                <a:latin typeface="Microsoft Yahei" panose="020B0503020204020204" pitchFamily="34" charset="-122"/>
                <a:ea typeface="Microsoft Yahei" panose="020B0503020204020204" pitchFamily="34" charset="-122"/>
                <a:sym typeface="Microsoft Yahei" panose="020B0503020204020204" pitchFamily="34" charset="-122"/>
              </a:rPr>
              <a:t>虚指针</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，两个队列中各自存放有多少个元素？</a:t>
            </a:r>
          </a:p>
        </p:txBody>
      </p:sp>
      <p:sp>
        <p:nvSpPr>
          <p:cNvPr id="9" name="文本框 8">
            <a:extLst>
              <a:ext uri="{FF2B5EF4-FFF2-40B4-BE49-F238E27FC236}">
                <a16:creationId xmlns:a16="http://schemas.microsoft.com/office/drawing/2014/main" id="{EA7E3592-DC17-4D86-B4BC-6D898EB8C6EC}"/>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D879B12B-3D5C-42FF-8CCB-D61EF52FA174}"/>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271E69F1-7B28-4CFD-8877-65090B648680}"/>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CE19A32B-B152-492A-8D7A-9157BB5D4D65}"/>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3B21419-75F0-4BBB-B50B-56A9F59CF8B9}"/>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3E8B0A1A-FE70-4D02-AE01-32FB919C51EB}"/>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0CF3A988-4E15-4896-B5BC-8015205495FD}"/>
              </a:ext>
            </a:extLst>
          </p:cNvPr>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B5B144FF-CC36-4765-947F-4E1144282E5E}"/>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3D9E4F9A-B58B-4F83-955F-2A041240C92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4" name="表格 23">
            <a:extLst>
              <a:ext uri="{FF2B5EF4-FFF2-40B4-BE49-F238E27FC236}">
                <a16:creationId xmlns:a16="http://schemas.microsoft.com/office/drawing/2014/main" id="{1D08910D-A811-4592-8BB7-8D5F10F27A6E}"/>
              </a:ext>
            </a:extLst>
          </p:cNvPr>
          <p:cNvGraphicFramePr>
            <a:graphicFrameLocks noGrp="1"/>
          </p:cNvGraphicFramePr>
          <p:nvPr/>
        </p:nvGraphicFramePr>
        <p:xfrm>
          <a:off x="7242175" y="2606516"/>
          <a:ext cx="4083050" cy="487680"/>
        </p:xfrm>
        <a:graphic>
          <a:graphicData uri="http://schemas.openxmlformats.org/drawingml/2006/table">
            <a:tbl>
              <a:tblPr firstRow="1" bandRow="1">
                <a:tableStyleId>{93296810-A885-4BE3-A3E7-6D5BEEA58F35}</a:tableStyleId>
              </a:tblPr>
              <a:tblGrid>
                <a:gridCol w="408305">
                  <a:extLst>
                    <a:ext uri="{9D8B030D-6E8A-4147-A177-3AD203B41FA5}">
                      <a16:colId xmlns:a16="http://schemas.microsoft.com/office/drawing/2014/main" val="586583134"/>
                    </a:ext>
                  </a:extLst>
                </a:gridCol>
                <a:gridCol w="408305">
                  <a:extLst>
                    <a:ext uri="{9D8B030D-6E8A-4147-A177-3AD203B41FA5}">
                      <a16:colId xmlns:a16="http://schemas.microsoft.com/office/drawing/2014/main" val="298077863"/>
                    </a:ext>
                  </a:extLst>
                </a:gridCol>
                <a:gridCol w="408305">
                  <a:extLst>
                    <a:ext uri="{9D8B030D-6E8A-4147-A177-3AD203B41FA5}">
                      <a16:colId xmlns:a16="http://schemas.microsoft.com/office/drawing/2014/main" val="3077586858"/>
                    </a:ext>
                  </a:extLst>
                </a:gridCol>
                <a:gridCol w="408305">
                  <a:extLst>
                    <a:ext uri="{9D8B030D-6E8A-4147-A177-3AD203B41FA5}">
                      <a16:colId xmlns:a16="http://schemas.microsoft.com/office/drawing/2014/main" val="624464749"/>
                    </a:ext>
                  </a:extLst>
                </a:gridCol>
                <a:gridCol w="408305">
                  <a:extLst>
                    <a:ext uri="{9D8B030D-6E8A-4147-A177-3AD203B41FA5}">
                      <a16:colId xmlns:a16="http://schemas.microsoft.com/office/drawing/2014/main" val="1832508782"/>
                    </a:ext>
                  </a:extLst>
                </a:gridCol>
                <a:gridCol w="408305">
                  <a:extLst>
                    <a:ext uri="{9D8B030D-6E8A-4147-A177-3AD203B41FA5}">
                      <a16:colId xmlns:a16="http://schemas.microsoft.com/office/drawing/2014/main" val="539432864"/>
                    </a:ext>
                  </a:extLst>
                </a:gridCol>
                <a:gridCol w="408305">
                  <a:extLst>
                    <a:ext uri="{9D8B030D-6E8A-4147-A177-3AD203B41FA5}">
                      <a16:colId xmlns:a16="http://schemas.microsoft.com/office/drawing/2014/main" val="1333529870"/>
                    </a:ext>
                  </a:extLst>
                </a:gridCol>
                <a:gridCol w="408305">
                  <a:extLst>
                    <a:ext uri="{9D8B030D-6E8A-4147-A177-3AD203B41FA5}">
                      <a16:colId xmlns:a16="http://schemas.microsoft.com/office/drawing/2014/main" val="4202238747"/>
                    </a:ext>
                  </a:extLst>
                </a:gridCol>
                <a:gridCol w="408305">
                  <a:extLst>
                    <a:ext uri="{9D8B030D-6E8A-4147-A177-3AD203B41FA5}">
                      <a16:colId xmlns:a16="http://schemas.microsoft.com/office/drawing/2014/main" val="1054872828"/>
                    </a:ext>
                  </a:extLst>
                </a:gridCol>
                <a:gridCol w="408305">
                  <a:extLst>
                    <a:ext uri="{9D8B030D-6E8A-4147-A177-3AD203B41FA5}">
                      <a16:colId xmlns:a16="http://schemas.microsoft.com/office/drawing/2014/main" val="3019199490"/>
                    </a:ext>
                  </a:extLst>
                </a:gridCol>
              </a:tblGrid>
              <a:tr h="487680">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6</a:t>
                      </a:r>
                      <a:endParaRPr lang="zh-CN" altLang="en-US" dirty="0"/>
                    </a:p>
                  </a:txBody>
                  <a:tcPr anchor="ctr"/>
                </a:tc>
                <a:tc>
                  <a:txBody>
                    <a:bodyPr/>
                    <a:lstStyle/>
                    <a:p>
                      <a:pPr algn="ctr"/>
                      <a:r>
                        <a:rPr lang="en-US" altLang="zh-CN" dirty="0"/>
                        <a:t>7</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9</a:t>
                      </a:r>
                      <a:endParaRPr lang="zh-CN" altLang="en-US" dirty="0"/>
                    </a:p>
                  </a:txBody>
                  <a:tcPr anchor="ctr"/>
                </a:tc>
                <a:extLst>
                  <a:ext uri="{0D108BD9-81ED-4DB2-BD59-A6C34878D82A}">
                    <a16:rowId xmlns:a16="http://schemas.microsoft.com/office/drawing/2014/main" val="1770092967"/>
                  </a:ext>
                </a:extLst>
              </a:tr>
            </a:tbl>
          </a:graphicData>
        </a:graphic>
      </p:graphicFrame>
      <p:sp>
        <p:nvSpPr>
          <p:cNvPr id="25" name="文本框 24">
            <a:extLst>
              <a:ext uri="{FF2B5EF4-FFF2-40B4-BE49-F238E27FC236}">
                <a16:creationId xmlns:a16="http://schemas.microsoft.com/office/drawing/2014/main" id="{DA3E0FE4-65C5-4E3E-91B2-B31372BCC44E}"/>
              </a:ext>
            </a:extLst>
          </p:cNvPr>
          <p:cNvSpPr txBox="1"/>
          <p:nvPr/>
        </p:nvSpPr>
        <p:spPr>
          <a:xfrm>
            <a:off x="8184453" y="1850115"/>
            <a:ext cx="716158" cy="400110"/>
          </a:xfrm>
          <a:prstGeom prst="rect">
            <a:avLst/>
          </a:prstGeom>
          <a:noFill/>
        </p:spPr>
        <p:txBody>
          <a:bodyPr wrap="none" rtlCol="0">
            <a:spAutoFit/>
          </a:bodyPr>
          <a:lstStyle/>
          <a:p>
            <a:r>
              <a:rPr lang="en-US" altLang="zh-CN" sz="2000" b="1" dirty="0"/>
              <a:t>front</a:t>
            </a:r>
            <a:endParaRPr lang="zh-CN" altLang="en-US" sz="2000" b="1" dirty="0"/>
          </a:p>
        </p:txBody>
      </p:sp>
      <p:sp>
        <p:nvSpPr>
          <p:cNvPr id="26" name="文本框 25">
            <a:extLst>
              <a:ext uri="{FF2B5EF4-FFF2-40B4-BE49-F238E27FC236}">
                <a16:creationId xmlns:a16="http://schemas.microsoft.com/office/drawing/2014/main" id="{97278D89-E20A-47BF-8A76-18D596EE857A}"/>
              </a:ext>
            </a:extLst>
          </p:cNvPr>
          <p:cNvSpPr txBox="1"/>
          <p:nvPr/>
        </p:nvSpPr>
        <p:spPr>
          <a:xfrm>
            <a:off x="9658350" y="1832916"/>
            <a:ext cx="621004" cy="400110"/>
          </a:xfrm>
          <a:prstGeom prst="rect">
            <a:avLst/>
          </a:prstGeom>
          <a:noFill/>
        </p:spPr>
        <p:txBody>
          <a:bodyPr wrap="none" rtlCol="0">
            <a:spAutoFit/>
          </a:bodyPr>
          <a:lstStyle/>
          <a:p>
            <a:r>
              <a:rPr lang="en-US" altLang="zh-CN" sz="2000" b="1" dirty="0">
                <a:solidFill>
                  <a:srgbClr val="FF0000"/>
                </a:solidFill>
              </a:rPr>
              <a:t>rear</a:t>
            </a:r>
            <a:endParaRPr lang="zh-CN" altLang="en-US" sz="2000" b="1" dirty="0">
              <a:solidFill>
                <a:srgbClr val="FF0000"/>
              </a:solidFill>
            </a:endParaRPr>
          </a:p>
        </p:txBody>
      </p:sp>
      <p:cxnSp>
        <p:nvCxnSpPr>
          <p:cNvPr id="28" name="直接箭头连接符 27">
            <a:extLst>
              <a:ext uri="{FF2B5EF4-FFF2-40B4-BE49-F238E27FC236}">
                <a16:creationId xmlns:a16="http://schemas.microsoft.com/office/drawing/2014/main" id="{24E7933A-AFB8-4761-A645-B57C794674DB}"/>
              </a:ext>
            </a:extLst>
          </p:cNvPr>
          <p:cNvCxnSpPr>
            <a:stCxn id="25" idx="2"/>
          </p:cNvCxnSpPr>
          <p:nvPr/>
        </p:nvCxnSpPr>
        <p:spPr>
          <a:xfrm>
            <a:off x="8542532" y="2250225"/>
            <a:ext cx="128393" cy="3562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93526D6A-C32A-4854-A4B7-7076A1B26BD5}"/>
              </a:ext>
            </a:extLst>
          </p:cNvPr>
          <p:cNvCxnSpPr>
            <a:cxnSpLocks/>
            <a:stCxn id="26" idx="2"/>
          </p:cNvCxnSpPr>
          <p:nvPr/>
        </p:nvCxnSpPr>
        <p:spPr>
          <a:xfrm flipH="1">
            <a:off x="9844956" y="2233026"/>
            <a:ext cx="123896" cy="3734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表格 32">
            <a:extLst>
              <a:ext uri="{FF2B5EF4-FFF2-40B4-BE49-F238E27FC236}">
                <a16:creationId xmlns:a16="http://schemas.microsoft.com/office/drawing/2014/main" id="{395F4C73-A6D5-41A2-A828-61918E643058}"/>
              </a:ext>
            </a:extLst>
          </p:cNvPr>
          <p:cNvGraphicFramePr>
            <a:graphicFrameLocks noGrp="1"/>
          </p:cNvGraphicFramePr>
          <p:nvPr/>
        </p:nvGraphicFramePr>
        <p:xfrm>
          <a:off x="7242175" y="4110049"/>
          <a:ext cx="4083050" cy="487680"/>
        </p:xfrm>
        <a:graphic>
          <a:graphicData uri="http://schemas.openxmlformats.org/drawingml/2006/table">
            <a:tbl>
              <a:tblPr firstRow="1" bandRow="1">
                <a:tableStyleId>{21E4AEA4-8DFA-4A89-87EB-49C32662AFE0}</a:tableStyleId>
              </a:tblPr>
              <a:tblGrid>
                <a:gridCol w="408305">
                  <a:extLst>
                    <a:ext uri="{9D8B030D-6E8A-4147-A177-3AD203B41FA5}">
                      <a16:colId xmlns:a16="http://schemas.microsoft.com/office/drawing/2014/main" val="586583134"/>
                    </a:ext>
                  </a:extLst>
                </a:gridCol>
                <a:gridCol w="408305">
                  <a:extLst>
                    <a:ext uri="{9D8B030D-6E8A-4147-A177-3AD203B41FA5}">
                      <a16:colId xmlns:a16="http://schemas.microsoft.com/office/drawing/2014/main" val="298077863"/>
                    </a:ext>
                  </a:extLst>
                </a:gridCol>
                <a:gridCol w="408305">
                  <a:extLst>
                    <a:ext uri="{9D8B030D-6E8A-4147-A177-3AD203B41FA5}">
                      <a16:colId xmlns:a16="http://schemas.microsoft.com/office/drawing/2014/main" val="3077586858"/>
                    </a:ext>
                  </a:extLst>
                </a:gridCol>
                <a:gridCol w="408305">
                  <a:extLst>
                    <a:ext uri="{9D8B030D-6E8A-4147-A177-3AD203B41FA5}">
                      <a16:colId xmlns:a16="http://schemas.microsoft.com/office/drawing/2014/main" val="624464749"/>
                    </a:ext>
                  </a:extLst>
                </a:gridCol>
                <a:gridCol w="408305">
                  <a:extLst>
                    <a:ext uri="{9D8B030D-6E8A-4147-A177-3AD203B41FA5}">
                      <a16:colId xmlns:a16="http://schemas.microsoft.com/office/drawing/2014/main" val="1832508782"/>
                    </a:ext>
                  </a:extLst>
                </a:gridCol>
                <a:gridCol w="408305">
                  <a:extLst>
                    <a:ext uri="{9D8B030D-6E8A-4147-A177-3AD203B41FA5}">
                      <a16:colId xmlns:a16="http://schemas.microsoft.com/office/drawing/2014/main" val="539432864"/>
                    </a:ext>
                  </a:extLst>
                </a:gridCol>
                <a:gridCol w="408305">
                  <a:extLst>
                    <a:ext uri="{9D8B030D-6E8A-4147-A177-3AD203B41FA5}">
                      <a16:colId xmlns:a16="http://schemas.microsoft.com/office/drawing/2014/main" val="1333529870"/>
                    </a:ext>
                  </a:extLst>
                </a:gridCol>
                <a:gridCol w="408305">
                  <a:extLst>
                    <a:ext uri="{9D8B030D-6E8A-4147-A177-3AD203B41FA5}">
                      <a16:colId xmlns:a16="http://schemas.microsoft.com/office/drawing/2014/main" val="4202238747"/>
                    </a:ext>
                  </a:extLst>
                </a:gridCol>
                <a:gridCol w="408305">
                  <a:extLst>
                    <a:ext uri="{9D8B030D-6E8A-4147-A177-3AD203B41FA5}">
                      <a16:colId xmlns:a16="http://schemas.microsoft.com/office/drawing/2014/main" val="1054872828"/>
                    </a:ext>
                  </a:extLst>
                </a:gridCol>
                <a:gridCol w="408305">
                  <a:extLst>
                    <a:ext uri="{9D8B030D-6E8A-4147-A177-3AD203B41FA5}">
                      <a16:colId xmlns:a16="http://schemas.microsoft.com/office/drawing/2014/main" val="3019199490"/>
                    </a:ext>
                  </a:extLst>
                </a:gridCol>
              </a:tblGrid>
              <a:tr h="487680">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6</a:t>
                      </a:r>
                      <a:endParaRPr lang="zh-CN" altLang="en-US" dirty="0"/>
                    </a:p>
                  </a:txBody>
                  <a:tcPr anchor="ctr"/>
                </a:tc>
                <a:tc>
                  <a:txBody>
                    <a:bodyPr/>
                    <a:lstStyle/>
                    <a:p>
                      <a:pPr algn="ctr"/>
                      <a:r>
                        <a:rPr lang="en-US" altLang="zh-CN" dirty="0"/>
                        <a:t>7</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9</a:t>
                      </a:r>
                      <a:endParaRPr lang="zh-CN" altLang="en-US" dirty="0"/>
                    </a:p>
                  </a:txBody>
                  <a:tcPr anchor="ctr"/>
                </a:tc>
                <a:extLst>
                  <a:ext uri="{0D108BD9-81ED-4DB2-BD59-A6C34878D82A}">
                    <a16:rowId xmlns:a16="http://schemas.microsoft.com/office/drawing/2014/main" val="1770092967"/>
                  </a:ext>
                </a:extLst>
              </a:tr>
            </a:tbl>
          </a:graphicData>
        </a:graphic>
      </p:graphicFrame>
      <p:sp>
        <p:nvSpPr>
          <p:cNvPr id="34" name="文本框 33">
            <a:extLst>
              <a:ext uri="{FF2B5EF4-FFF2-40B4-BE49-F238E27FC236}">
                <a16:creationId xmlns:a16="http://schemas.microsoft.com/office/drawing/2014/main" id="{5C8748CD-A632-4928-A82E-48AC4C88A59B}"/>
              </a:ext>
            </a:extLst>
          </p:cNvPr>
          <p:cNvSpPr txBox="1"/>
          <p:nvPr/>
        </p:nvSpPr>
        <p:spPr>
          <a:xfrm>
            <a:off x="8184453" y="3353648"/>
            <a:ext cx="621004" cy="400110"/>
          </a:xfrm>
          <a:prstGeom prst="rect">
            <a:avLst/>
          </a:prstGeom>
          <a:noFill/>
        </p:spPr>
        <p:txBody>
          <a:bodyPr wrap="none" rtlCol="0">
            <a:spAutoFit/>
          </a:bodyPr>
          <a:lstStyle/>
          <a:p>
            <a:r>
              <a:rPr lang="en-US" altLang="zh-CN" sz="2000" b="1" dirty="0">
                <a:solidFill>
                  <a:srgbClr val="FF0000"/>
                </a:solidFill>
              </a:rPr>
              <a:t>rear</a:t>
            </a:r>
            <a:endParaRPr lang="zh-CN" altLang="en-US" sz="2000" b="1" dirty="0">
              <a:solidFill>
                <a:srgbClr val="FF0000"/>
              </a:solidFill>
            </a:endParaRPr>
          </a:p>
        </p:txBody>
      </p:sp>
      <p:sp>
        <p:nvSpPr>
          <p:cNvPr id="35" name="文本框 34">
            <a:extLst>
              <a:ext uri="{FF2B5EF4-FFF2-40B4-BE49-F238E27FC236}">
                <a16:creationId xmlns:a16="http://schemas.microsoft.com/office/drawing/2014/main" id="{F3FAA91D-5FF4-4CD7-B2D9-05D176144446}"/>
              </a:ext>
            </a:extLst>
          </p:cNvPr>
          <p:cNvSpPr txBox="1"/>
          <p:nvPr/>
        </p:nvSpPr>
        <p:spPr>
          <a:xfrm>
            <a:off x="9658350" y="3336449"/>
            <a:ext cx="716158" cy="400110"/>
          </a:xfrm>
          <a:prstGeom prst="rect">
            <a:avLst/>
          </a:prstGeom>
          <a:noFill/>
        </p:spPr>
        <p:txBody>
          <a:bodyPr wrap="none" rtlCol="0">
            <a:spAutoFit/>
          </a:bodyPr>
          <a:lstStyle/>
          <a:p>
            <a:r>
              <a:rPr lang="en-US" altLang="zh-CN" sz="2000" b="1" dirty="0"/>
              <a:t>front</a:t>
            </a:r>
            <a:endParaRPr lang="zh-CN" altLang="en-US" sz="2000" b="1" dirty="0"/>
          </a:p>
        </p:txBody>
      </p:sp>
      <p:cxnSp>
        <p:nvCxnSpPr>
          <p:cNvPr id="36" name="直接箭头连接符 35">
            <a:extLst>
              <a:ext uri="{FF2B5EF4-FFF2-40B4-BE49-F238E27FC236}">
                <a16:creationId xmlns:a16="http://schemas.microsoft.com/office/drawing/2014/main" id="{64ABA452-950D-4F68-A14C-2BEDCB00DBE5}"/>
              </a:ext>
            </a:extLst>
          </p:cNvPr>
          <p:cNvCxnSpPr>
            <a:stCxn id="34" idx="2"/>
          </p:cNvCxnSpPr>
          <p:nvPr/>
        </p:nvCxnSpPr>
        <p:spPr>
          <a:xfrm>
            <a:off x="8494955" y="3753758"/>
            <a:ext cx="175970" cy="3562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6CD71DE9-FC68-4512-8C93-AB9002AB6BBE}"/>
              </a:ext>
            </a:extLst>
          </p:cNvPr>
          <p:cNvCxnSpPr>
            <a:cxnSpLocks/>
            <a:stCxn id="35" idx="2"/>
          </p:cNvCxnSpPr>
          <p:nvPr/>
        </p:nvCxnSpPr>
        <p:spPr>
          <a:xfrm flipH="1">
            <a:off x="9844958" y="3736559"/>
            <a:ext cx="171471" cy="3734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30935CFF-E8BF-4A48-A1FD-9C172EAE208E}"/>
              </a:ext>
            </a:extLst>
          </p:cNvPr>
          <p:cNvSpPr txBox="1"/>
          <p:nvPr/>
        </p:nvSpPr>
        <p:spPr>
          <a:xfrm>
            <a:off x="6508074" y="2715648"/>
            <a:ext cx="827471" cy="400110"/>
          </a:xfrm>
          <a:prstGeom prst="rect">
            <a:avLst/>
          </a:prstGeom>
          <a:noFill/>
        </p:spPr>
        <p:txBody>
          <a:bodyPr wrap="none" rtlCol="0">
            <a:spAutoFit/>
          </a:bodyPr>
          <a:lstStyle/>
          <a:p>
            <a:r>
              <a:rPr lang="zh-CN" altLang="en-US" sz="2000" b="1" dirty="0"/>
              <a:t>（</a:t>
            </a:r>
            <a:r>
              <a:rPr lang="en-US" altLang="zh-CN" sz="2000" b="1" dirty="0"/>
              <a:t>1</a:t>
            </a:r>
            <a:r>
              <a:rPr lang="zh-CN" altLang="en-US" sz="2000" b="1" dirty="0"/>
              <a:t>）</a:t>
            </a:r>
          </a:p>
        </p:txBody>
      </p:sp>
      <p:sp>
        <p:nvSpPr>
          <p:cNvPr id="39" name="文本框 38">
            <a:extLst>
              <a:ext uri="{FF2B5EF4-FFF2-40B4-BE49-F238E27FC236}">
                <a16:creationId xmlns:a16="http://schemas.microsoft.com/office/drawing/2014/main" id="{0A8A7F3C-AEA4-454F-BB49-2F47E4D3E536}"/>
              </a:ext>
            </a:extLst>
          </p:cNvPr>
          <p:cNvSpPr txBox="1"/>
          <p:nvPr/>
        </p:nvSpPr>
        <p:spPr>
          <a:xfrm>
            <a:off x="6523949" y="4169223"/>
            <a:ext cx="827471" cy="400110"/>
          </a:xfrm>
          <a:prstGeom prst="rect">
            <a:avLst/>
          </a:prstGeom>
          <a:noFill/>
        </p:spPr>
        <p:txBody>
          <a:bodyPr wrap="none" rtlCol="0">
            <a:spAutoFit/>
          </a:bodyPr>
          <a:lstStyle/>
          <a:p>
            <a:r>
              <a:rPr lang="zh-CN" altLang="en-US" sz="2000" b="1" dirty="0"/>
              <a:t>（</a:t>
            </a:r>
            <a:r>
              <a:rPr lang="en-US" altLang="zh-CN" sz="2000" b="1" dirty="0"/>
              <a:t>2</a:t>
            </a:r>
            <a:r>
              <a:rPr lang="zh-CN" altLang="en-US" sz="2000" b="1" dirty="0"/>
              <a:t>）</a:t>
            </a:r>
          </a:p>
        </p:txBody>
      </p:sp>
      <p:grpSp>
        <p:nvGrpSpPr>
          <p:cNvPr id="22" name="组合 21">
            <a:extLst>
              <a:ext uri="{FF2B5EF4-FFF2-40B4-BE49-F238E27FC236}">
                <a16:creationId xmlns:a16="http://schemas.microsoft.com/office/drawing/2014/main" id="{8F72F492-07E1-4E1F-8F08-A6D18B2F3474}"/>
              </a:ext>
            </a:extLst>
          </p:cNvPr>
          <p:cNvGrpSpPr/>
          <p:nvPr>
            <p:custDataLst>
              <p:tags r:id="rId12"/>
            </p:custDataLst>
          </p:nvPr>
        </p:nvGrpSpPr>
        <p:grpSpPr>
          <a:xfrm>
            <a:off x="0" y="0"/>
            <a:ext cx="12192000" cy="635000"/>
            <a:chOff x="0" y="36115"/>
            <a:chExt cx="12192000" cy="635000"/>
          </a:xfrm>
        </p:grpSpPr>
        <p:sp>
          <p:nvSpPr>
            <p:cNvPr id="18" name="TitleBackground">
              <a:extLst>
                <a:ext uri="{FF2B5EF4-FFF2-40B4-BE49-F238E27FC236}">
                  <a16:creationId xmlns:a16="http://schemas.microsoft.com/office/drawing/2014/main" id="{A094312F-29E9-4ECC-9907-D4D982103C91}"/>
                </a:ext>
              </a:extLst>
            </p:cNvPr>
            <p:cNvSpPr/>
            <p:nvPr>
              <p:custDataLst>
                <p:tags r:id="rId14"/>
              </p:custDataLst>
            </p:nvPr>
          </p:nvSpPr>
          <p:spPr>
            <a:xfrm>
              <a:off x="0" y="36115"/>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DFC9FEFD-8FD4-4E12-BC07-07D196DF8B82}"/>
                </a:ext>
              </a:extLst>
            </p:cNvPr>
            <p:cNvSpPr/>
            <p:nvPr>
              <p:custDataLst>
                <p:tags r:id="rId15"/>
              </p:custDataLst>
            </p:nvPr>
          </p:nvSpPr>
          <p:spPr>
            <a:xfrm>
              <a:off x="0" y="36115"/>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B96BE96A-E143-4667-92E0-90ABDE29F04A}"/>
                </a:ext>
              </a:extLst>
            </p:cNvPr>
            <p:cNvSpPr txBox="1"/>
            <p:nvPr>
              <p:custDataLst>
                <p:tags r:id="rId16"/>
              </p:custDataLst>
            </p:nvPr>
          </p:nvSpPr>
          <p:spPr>
            <a:xfrm>
              <a:off x="254000" y="36115"/>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79F334D2-A65C-4ADB-9256-42D9509F9A2B}"/>
                </a:ext>
              </a:extLst>
            </p:cNvPr>
            <p:cNvSpPr txBox="1"/>
            <p:nvPr>
              <p:custDataLst>
                <p:tags r:id="rId17"/>
              </p:custDataLst>
            </p:nvPr>
          </p:nvSpPr>
          <p:spPr>
            <a:xfrm>
              <a:off x="1525905" y="145335"/>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D7D1F39E-2A27-4A5B-855D-197449D69C3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17271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23EB66E-9A13-4546-A349-0D6C0620C6EB}"/>
              </a:ext>
            </a:extLst>
          </p:cNvPr>
          <p:cNvSpPr>
            <a:spLocks noGrp="1" noChangeArrowheads="1"/>
          </p:cNvSpPr>
          <p:nvPr>
            <p:ph type="title"/>
          </p:nvPr>
        </p:nvSpPr>
        <p:spPr/>
        <p:txBody>
          <a:bodyPr>
            <a:normAutofit/>
          </a:bodyPr>
          <a:lstStyle/>
          <a:p>
            <a:pPr>
              <a:spcBef>
                <a:spcPct val="50000"/>
              </a:spcBef>
              <a:defRPr/>
            </a:pPr>
            <a:r>
              <a:rPr kumimoji="0" dirty="0" err="1"/>
              <a:t>队列示意：环形</a:t>
            </a:r>
            <a:endParaRPr kumimoji="0" dirty="0"/>
          </a:p>
        </p:txBody>
      </p:sp>
      <p:sp>
        <p:nvSpPr>
          <p:cNvPr id="2" name="副标题 1">
            <a:extLst>
              <a:ext uri="{FF2B5EF4-FFF2-40B4-BE49-F238E27FC236}">
                <a16:creationId xmlns:a16="http://schemas.microsoft.com/office/drawing/2014/main" id="{BC75A77F-9681-444A-9D51-26047D1CA54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62687C-662D-425C-A429-209AD3C58C00}"/>
              </a:ext>
            </a:extLst>
          </p:cNvPr>
          <p:cNvSpPr>
            <a:spLocks noGrp="1"/>
          </p:cNvSpPr>
          <p:nvPr>
            <p:ph type="body" idx="10"/>
          </p:nvPr>
        </p:nvSpPr>
        <p:spPr/>
        <p:txBody>
          <a:bodyPr/>
          <a:lstStyle/>
          <a:p>
            <a:endParaRPr lang="zh-CN" altLang="en-US"/>
          </a:p>
        </p:txBody>
      </p:sp>
      <p:grpSp>
        <p:nvGrpSpPr>
          <p:cNvPr id="54278" name="Group 25">
            <a:extLst>
              <a:ext uri="{FF2B5EF4-FFF2-40B4-BE49-F238E27FC236}">
                <a16:creationId xmlns:a16="http://schemas.microsoft.com/office/drawing/2014/main" id="{FB8B6D60-B3EC-43FB-A134-2EE218DB439F}"/>
              </a:ext>
            </a:extLst>
          </p:cNvPr>
          <p:cNvGrpSpPr>
            <a:grpSpLocks/>
          </p:cNvGrpSpPr>
          <p:nvPr/>
        </p:nvGrpSpPr>
        <p:grpSpPr bwMode="auto">
          <a:xfrm>
            <a:off x="4375622" y="3070745"/>
            <a:ext cx="1971675" cy="1968500"/>
            <a:chOff x="2064" y="1152"/>
            <a:chExt cx="1968" cy="1968"/>
          </a:xfrm>
        </p:grpSpPr>
        <p:grpSp>
          <p:nvGrpSpPr>
            <p:cNvPr id="54304" name="Group 26">
              <a:extLst>
                <a:ext uri="{FF2B5EF4-FFF2-40B4-BE49-F238E27FC236}">
                  <a16:creationId xmlns:a16="http://schemas.microsoft.com/office/drawing/2014/main" id="{040AC892-C4C3-453C-888F-B2781DCB1FD0}"/>
                </a:ext>
              </a:extLst>
            </p:cNvPr>
            <p:cNvGrpSpPr>
              <a:grpSpLocks/>
            </p:cNvGrpSpPr>
            <p:nvPr/>
          </p:nvGrpSpPr>
          <p:grpSpPr bwMode="auto">
            <a:xfrm>
              <a:off x="2064" y="1152"/>
              <a:ext cx="1968" cy="1968"/>
              <a:chOff x="2064" y="1152"/>
              <a:chExt cx="1968" cy="1968"/>
            </a:xfrm>
          </p:grpSpPr>
          <p:sp>
            <p:nvSpPr>
              <p:cNvPr id="31" name="Oval 27">
                <a:extLst>
                  <a:ext uri="{FF2B5EF4-FFF2-40B4-BE49-F238E27FC236}">
                    <a16:creationId xmlns:a16="http://schemas.microsoft.com/office/drawing/2014/main" id="{252CDE79-5EC0-FE4A-B826-8E11D7CCFA41}"/>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2" name="Oval 28">
                <a:extLst>
                  <a:ext uri="{FF2B5EF4-FFF2-40B4-BE49-F238E27FC236}">
                    <a16:creationId xmlns:a16="http://schemas.microsoft.com/office/drawing/2014/main" id="{2310E47E-505E-8843-8EB3-48FD92733B5F}"/>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3" name="Line 29">
              <a:extLst>
                <a:ext uri="{FF2B5EF4-FFF2-40B4-BE49-F238E27FC236}">
                  <a16:creationId xmlns:a16="http://schemas.microsoft.com/office/drawing/2014/main" id="{9B723FA8-EF14-8740-B832-A6357A622572}"/>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4" name="Line 30">
              <a:extLst>
                <a:ext uri="{FF2B5EF4-FFF2-40B4-BE49-F238E27FC236}">
                  <a16:creationId xmlns:a16="http://schemas.microsoft.com/office/drawing/2014/main" id="{09E8C8D1-D343-E445-A24B-E8656A79E54D}"/>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5" name="Line 31">
              <a:extLst>
                <a:ext uri="{FF2B5EF4-FFF2-40B4-BE49-F238E27FC236}">
                  <a16:creationId xmlns:a16="http://schemas.microsoft.com/office/drawing/2014/main" id="{3E1F5CC0-0039-FD45-A529-E9055A41B6D3}"/>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6" name="Line 32">
              <a:extLst>
                <a:ext uri="{FF2B5EF4-FFF2-40B4-BE49-F238E27FC236}">
                  <a16:creationId xmlns:a16="http://schemas.microsoft.com/office/drawing/2014/main" id="{429B03BB-BCE6-C94E-BF51-6AEBCF89F4B6}"/>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7" name="Line 33">
              <a:extLst>
                <a:ext uri="{FF2B5EF4-FFF2-40B4-BE49-F238E27FC236}">
                  <a16:creationId xmlns:a16="http://schemas.microsoft.com/office/drawing/2014/main" id="{7A1EA7AC-2625-844B-9F60-9FCE3CFFE4BB}"/>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8" name="Line 34">
              <a:extLst>
                <a:ext uri="{FF2B5EF4-FFF2-40B4-BE49-F238E27FC236}">
                  <a16:creationId xmlns:a16="http://schemas.microsoft.com/office/drawing/2014/main" id="{B8861531-4654-A843-87A2-1916DE31BF9E}"/>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9" name="Line 35">
              <a:extLst>
                <a:ext uri="{FF2B5EF4-FFF2-40B4-BE49-F238E27FC236}">
                  <a16:creationId xmlns:a16="http://schemas.microsoft.com/office/drawing/2014/main" id="{42AE3A88-D733-054F-8021-756564542D86}"/>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0" name="Line 36">
              <a:extLst>
                <a:ext uri="{FF2B5EF4-FFF2-40B4-BE49-F238E27FC236}">
                  <a16:creationId xmlns:a16="http://schemas.microsoft.com/office/drawing/2014/main" id="{956310C8-C0DA-1947-B831-25D09DF654BE}"/>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76A531D8-68DD-4E3A-A664-FEB1739664C2}"/>
              </a:ext>
            </a:extLst>
          </p:cNvPr>
          <p:cNvGrpSpPr/>
          <p:nvPr/>
        </p:nvGrpSpPr>
        <p:grpSpPr>
          <a:xfrm>
            <a:off x="5927879" y="2134396"/>
            <a:ext cx="995268" cy="946552"/>
            <a:chOff x="8610282" y="1790976"/>
            <a:chExt cx="995268" cy="946552"/>
          </a:xfrm>
        </p:grpSpPr>
        <p:sp>
          <p:nvSpPr>
            <p:cNvPr id="55" name="Text Box 19">
              <a:extLst>
                <a:ext uri="{FF2B5EF4-FFF2-40B4-BE49-F238E27FC236}">
                  <a16:creationId xmlns:a16="http://schemas.microsoft.com/office/drawing/2014/main" id="{F060AEE6-0627-D94D-9D8D-A345B7936517}"/>
                </a:ext>
              </a:extLst>
            </p:cNvPr>
            <p:cNvSpPr txBox="1">
              <a:spLocks noChangeArrowheads="1"/>
            </p:cNvSpPr>
            <p:nvPr/>
          </p:nvSpPr>
          <p:spPr bwMode="auto">
            <a:xfrm>
              <a:off x="8622887" y="1790976"/>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EAF77A7-B021-4245-B9E9-7958DE81D4B2}"/>
                </a:ext>
              </a:extLst>
            </p:cNvPr>
            <p:cNvCxnSpPr>
              <a:cxnSpLocks/>
            </p:cNvCxnSpPr>
            <p:nvPr/>
          </p:nvCxnSpPr>
          <p:spPr>
            <a:xfrm flipH="1">
              <a:off x="8610282" y="2247287"/>
              <a:ext cx="396875" cy="490241"/>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57" name="Text Box 52">
            <a:extLst>
              <a:ext uri="{FF2B5EF4-FFF2-40B4-BE49-F238E27FC236}">
                <a16:creationId xmlns:a16="http://schemas.microsoft.com/office/drawing/2014/main" id="{2054E3B7-C6A5-42C1-B86B-8DF33F5828FB}"/>
              </a:ext>
            </a:extLst>
          </p:cNvPr>
          <p:cNvSpPr txBox="1">
            <a:spLocks noChangeArrowheads="1"/>
          </p:cNvSpPr>
          <p:nvPr/>
        </p:nvSpPr>
        <p:spPr bwMode="auto">
          <a:xfrm>
            <a:off x="686522" y="5317036"/>
            <a:ext cx="26717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队列空</a:t>
            </a:r>
            <a:r>
              <a:rPr kumimoji="1" lang="zh-CN" altLang="en-US"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a:t>
            </a:r>
            <a:endParaRPr kumimoji="1" lang="en-US" altLang="zh-CN"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Q.rear</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endParaRPr kumimoji="1" lang="zh-CN" altLang="en-US" sz="20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8" name="Text Box 53">
            <a:extLst>
              <a:ext uri="{FF2B5EF4-FFF2-40B4-BE49-F238E27FC236}">
                <a16:creationId xmlns:a16="http://schemas.microsoft.com/office/drawing/2014/main" id="{34AED06B-A30C-49DE-95F0-C249F0E7E92F}"/>
              </a:ext>
            </a:extLst>
          </p:cNvPr>
          <p:cNvSpPr txBox="1">
            <a:spLocks noChangeArrowheads="1"/>
          </p:cNvSpPr>
          <p:nvPr/>
        </p:nvSpPr>
        <p:spPr bwMode="auto">
          <a:xfrm>
            <a:off x="3964740" y="5334397"/>
            <a:ext cx="418038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C00000"/>
                </a:solidFill>
                <a:latin typeface="微软雅黑" panose="020B0503020204020204" pitchFamily="34" charset="-122"/>
                <a:ea typeface="微软雅黑" panose="020B0503020204020204" pitchFamily="34" charset="-122"/>
                <a:cs typeface="华文细黑" panose="02010600040101010101" pitchFamily="2" charset="-122"/>
              </a:rPr>
              <a:t>队列满：</a:t>
            </a:r>
            <a:endParaRPr kumimoji="1" lang="zh-CN" altLang="en-US" sz="2400" b="1" dirty="0">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(Q.rear+1) mod M ==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表示顺序表长度）</a:t>
            </a:r>
            <a:endPar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43012" name="组合 43011">
            <a:extLst>
              <a:ext uri="{FF2B5EF4-FFF2-40B4-BE49-F238E27FC236}">
                <a16:creationId xmlns:a16="http://schemas.microsoft.com/office/drawing/2014/main" id="{6CC139F5-5156-4A2D-B6DC-B59EBE8F40A5}"/>
              </a:ext>
            </a:extLst>
          </p:cNvPr>
          <p:cNvGrpSpPr/>
          <p:nvPr/>
        </p:nvGrpSpPr>
        <p:grpSpPr>
          <a:xfrm>
            <a:off x="6360372" y="3609557"/>
            <a:ext cx="1310859" cy="422274"/>
            <a:chOff x="9044403" y="3306764"/>
            <a:chExt cx="1310859" cy="422274"/>
          </a:xfrm>
        </p:grpSpPr>
        <p:cxnSp>
          <p:nvCxnSpPr>
            <p:cNvPr id="59" name="直接箭头连接符 58">
              <a:extLst>
                <a:ext uri="{FF2B5EF4-FFF2-40B4-BE49-F238E27FC236}">
                  <a16:creationId xmlns:a16="http://schemas.microsoft.com/office/drawing/2014/main" id="{1480890D-58F2-4A22-B026-63E1B74B1993}"/>
                </a:ext>
              </a:extLst>
            </p:cNvPr>
            <p:cNvCxnSpPr>
              <a:cxnSpLocks noChangeShapeType="1"/>
            </p:cNvCxnSpPr>
            <p:nvPr/>
          </p:nvCxnSpPr>
          <p:spPr bwMode="auto">
            <a:xfrm flipH="1">
              <a:off x="9044403" y="3306764"/>
              <a:ext cx="620296" cy="42861"/>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0" name="Text Box 16">
              <a:extLst>
                <a:ext uri="{FF2B5EF4-FFF2-40B4-BE49-F238E27FC236}">
                  <a16:creationId xmlns:a16="http://schemas.microsoft.com/office/drawing/2014/main" id="{F270D4AE-87D8-4D83-8496-0CECC2335C8E}"/>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E1592325-569F-4D67-946E-4072D932F06E}"/>
              </a:ext>
            </a:extLst>
          </p:cNvPr>
          <p:cNvGrpSpPr/>
          <p:nvPr/>
        </p:nvGrpSpPr>
        <p:grpSpPr>
          <a:xfrm>
            <a:off x="656226" y="2061095"/>
            <a:ext cx="2316162" cy="2978150"/>
            <a:chOff x="2135188" y="1882775"/>
            <a:chExt cx="2316162" cy="2978150"/>
          </a:xfrm>
        </p:grpSpPr>
        <p:grpSp>
          <p:nvGrpSpPr>
            <p:cNvPr id="54275" name="Group 3">
              <a:extLst>
                <a:ext uri="{FF2B5EF4-FFF2-40B4-BE49-F238E27FC236}">
                  <a16:creationId xmlns:a16="http://schemas.microsoft.com/office/drawing/2014/main" id="{55E8628F-3FDD-49E5-B61B-94A1B35BBE8E}"/>
                </a:ext>
              </a:extLst>
            </p:cNvPr>
            <p:cNvGrpSpPr>
              <a:grpSpLocks/>
            </p:cNvGrpSpPr>
            <p:nvPr/>
          </p:nvGrpSpPr>
          <p:grpSpPr bwMode="auto">
            <a:xfrm>
              <a:off x="2135188" y="2806700"/>
              <a:ext cx="2092325" cy="2054225"/>
              <a:chOff x="2064" y="1152"/>
              <a:chExt cx="1968" cy="1968"/>
            </a:xfrm>
          </p:grpSpPr>
          <p:grpSp>
            <p:nvGrpSpPr>
              <p:cNvPr id="54315" name="Group 4">
                <a:extLst>
                  <a:ext uri="{FF2B5EF4-FFF2-40B4-BE49-F238E27FC236}">
                    <a16:creationId xmlns:a16="http://schemas.microsoft.com/office/drawing/2014/main" id="{5B2FCB5D-78A0-4CA1-AB7C-B87C6EC70390}"/>
                  </a:ext>
                </a:extLst>
              </p:cNvPr>
              <p:cNvGrpSpPr>
                <a:grpSpLocks/>
              </p:cNvGrpSpPr>
              <p:nvPr/>
            </p:nvGrpSpPr>
            <p:grpSpPr bwMode="auto">
              <a:xfrm>
                <a:off x="2064" y="1152"/>
                <a:ext cx="1968" cy="1968"/>
                <a:chOff x="2064" y="1152"/>
                <a:chExt cx="1968" cy="1968"/>
              </a:xfrm>
            </p:grpSpPr>
            <p:sp>
              <p:nvSpPr>
                <p:cNvPr id="17" name="Oval 5">
                  <a:extLst>
                    <a:ext uri="{FF2B5EF4-FFF2-40B4-BE49-F238E27FC236}">
                      <a16:creationId xmlns:a16="http://schemas.microsoft.com/office/drawing/2014/main" id="{ED18836D-5435-FE45-A8E1-19825A846026}"/>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8" name="Oval 6">
                  <a:extLst>
                    <a:ext uri="{FF2B5EF4-FFF2-40B4-BE49-F238E27FC236}">
                      <a16:creationId xmlns:a16="http://schemas.microsoft.com/office/drawing/2014/main" id="{7892D986-EBF7-CF43-AB63-58FC34A26DDA}"/>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9" name="Line 7">
                <a:extLst>
                  <a:ext uri="{FF2B5EF4-FFF2-40B4-BE49-F238E27FC236}">
                    <a16:creationId xmlns:a16="http://schemas.microsoft.com/office/drawing/2014/main" id="{D9BBCC9B-8911-1B4E-9103-FF78D68233B9}"/>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B101302B-81AF-784B-B3A1-A313D3390509}"/>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753EC7C-822C-674D-A121-E013D9DD037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018C16E1-7D42-AC46-AAE9-1C2437B8C6F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2B8CC419-24BE-224D-9AE0-F291C7E6AC6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BDA61EA4-58DC-9249-95C6-83AE175E40D7}"/>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5" name="Line 13">
                <a:extLst>
                  <a:ext uri="{FF2B5EF4-FFF2-40B4-BE49-F238E27FC236}">
                    <a16:creationId xmlns:a16="http://schemas.microsoft.com/office/drawing/2014/main" id="{4118088E-2E4D-1A44-8185-D3452C9C7F9B}"/>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6" name="Line 14">
                <a:extLst>
                  <a:ext uri="{FF2B5EF4-FFF2-40B4-BE49-F238E27FC236}">
                    <a16:creationId xmlns:a16="http://schemas.microsoft.com/office/drawing/2014/main" id="{9E5F23C9-87BD-BA40-A14A-50D5E3A923CA}"/>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9" name="Text Box 16">
              <a:extLst>
                <a:ext uri="{FF2B5EF4-FFF2-40B4-BE49-F238E27FC236}">
                  <a16:creationId xmlns:a16="http://schemas.microsoft.com/office/drawing/2014/main" id="{B553C2A3-2FB3-2744-8CB4-6E0B4446D2FF}"/>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0" name="Text Box 19">
              <a:extLst>
                <a:ext uri="{FF2B5EF4-FFF2-40B4-BE49-F238E27FC236}">
                  <a16:creationId xmlns:a16="http://schemas.microsoft.com/office/drawing/2014/main" id="{AA7DDFC8-7D65-A345-8572-6A3371EB12C4}"/>
                </a:ext>
              </a:extLst>
            </p:cNvPr>
            <p:cNvSpPr txBox="1">
              <a:spLocks noChangeArrowheads="1"/>
            </p:cNvSpPr>
            <p:nvPr/>
          </p:nvSpPr>
          <p:spPr bwMode="auto">
            <a:xfrm>
              <a:off x="2674938" y="1882775"/>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4286" name="直接箭头连接符 40">
              <a:extLst>
                <a:ext uri="{FF2B5EF4-FFF2-40B4-BE49-F238E27FC236}">
                  <a16:creationId xmlns:a16="http://schemas.microsoft.com/office/drawing/2014/main" id="{CD17F272-C9AE-4A40-8551-D9EDBF4D5D97}"/>
                </a:ext>
              </a:extLst>
            </p:cNvPr>
            <p:cNvCxnSpPr>
              <a:cxnSpLocks noChangeShapeType="1"/>
              <a:stCxn id="19"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287" name="直接箭头连接符 41">
              <a:extLst>
                <a:ext uri="{FF2B5EF4-FFF2-40B4-BE49-F238E27FC236}">
                  <a16:creationId xmlns:a16="http://schemas.microsoft.com/office/drawing/2014/main" id="{2E47B3DA-A909-4B0C-9D76-44A4102B0537}"/>
                </a:ext>
              </a:extLst>
            </p:cNvPr>
            <p:cNvCxnSpPr>
              <a:cxnSpLocks noChangeShapeType="1"/>
              <a:stCxn id="20" idx="2"/>
            </p:cNvCxnSpPr>
            <p:nvPr/>
          </p:nvCxnSpPr>
          <p:spPr bwMode="auto">
            <a:xfrm>
              <a:off x="3167063" y="2262188"/>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 name="文本框 6">
              <a:extLst>
                <a:ext uri="{FF2B5EF4-FFF2-40B4-BE49-F238E27FC236}">
                  <a16:creationId xmlns:a16="http://schemas.microsoft.com/office/drawing/2014/main" id="{703A7908-30F8-4605-A362-972577F45DD0}"/>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64" name="文本框 63">
              <a:extLst>
                <a:ext uri="{FF2B5EF4-FFF2-40B4-BE49-F238E27FC236}">
                  <a16:creationId xmlns:a16="http://schemas.microsoft.com/office/drawing/2014/main" id="{028A37C8-EECE-42F4-AEF7-6032783A03A2}"/>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65" name="文本框 64">
              <a:extLst>
                <a:ext uri="{FF2B5EF4-FFF2-40B4-BE49-F238E27FC236}">
                  <a16:creationId xmlns:a16="http://schemas.microsoft.com/office/drawing/2014/main" id="{83BA3935-954E-42F2-ABA0-44C7BCB97F88}"/>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67" name="文本框 66">
              <a:extLst>
                <a:ext uri="{FF2B5EF4-FFF2-40B4-BE49-F238E27FC236}">
                  <a16:creationId xmlns:a16="http://schemas.microsoft.com/office/drawing/2014/main" id="{063F2102-4180-4A6A-8AC4-A79C1B8E1014}"/>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68" name="文本框 67">
              <a:extLst>
                <a:ext uri="{FF2B5EF4-FFF2-40B4-BE49-F238E27FC236}">
                  <a16:creationId xmlns:a16="http://schemas.microsoft.com/office/drawing/2014/main" id="{2589A556-B433-411C-92F6-209FD6B7B445}"/>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69" name="文本框 68">
              <a:extLst>
                <a:ext uri="{FF2B5EF4-FFF2-40B4-BE49-F238E27FC236}">
                  <a16:creationId xmlns:a16="http://schemas.microsoft.com/office/drawing/2014/main" id="{726349CE-73D3-4518-83B8-5BA64E3E7ED4}"/>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0" name="文本框 69">
              <a:extLst>
                <a:ext uri="{FF2B5EF4-FFF2-40B4-BE49-F238E27FC236}">
                  <a16:creationId xmlns:a16="http://schemas.microsoft.com/office/drawing/2014/main" id="{48685157-C805-4A34-AFEA-185FD3849699}"/>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1" name="文本框 70">
              <a:extLst>
                <a:ext uri="{FF2B5EF4-FFF2-40B4-BE49-F238E27FC236}">
                  <a16:creationId xmlns:a16="http://schemas.microsoft.com/office/drawing/2014/main" id="{04E560B3-E651-4C9A-9FB7-4EE703C80407}"/>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sp>
        <p:nvSpPr>
          <p:cNvPr id="72" name="文本框 71">
            <a:extLst>
              <a:ext uri="{FF2B5EF4-FFF2-40B4-BE49-F238E27FC236}">
                <a16:creationId xmlns:a16="http://schemas.microsoft.com/office/drawing/2014/main" id="{214A4FF6-58B6-4249-86E9-486768F0E8E8}"/>
              </a:ext>
            </a:extLst>
          </p:cNvPr>
          <p:cNvSpPr txBox="1"/>
          <p:nvPr/>
        </p:nvSpPr>
        <p:spPr>
          <a:xfrm>
            <a:off x="5309922" y="3696630"/>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73" name="文本框 72">
            <a:extLst>
              <a:ext uri="{FF2B5EF4-FFF2-40B4-BE49-F238E27FC236}">
                <a16:creationId xmlns:a16="http://schemas.microsoft.com/office/drawing/2014/main" id="{9166613B-54C2-4CB3-A6AF-6F78B34DC78A}"/>
              </a:ext>
            </a:extLst>
          </p:cNvPr>
          <p:cNvSpPr txBox="1"/>
          <p:nvPr/>
        </p:nvSpPr>
        <p:spPr>
          <a:xfrm>
            <a:off x="5115121" y="3693901"/>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74" name="文本框 73">
            <a:extLst>
              <a:ext uri="{FF2B5EF4-FFF2-40B4-BE49-F238E27FC236}">
                <a16:creationId xmlns:a16="http://schemas.microsoft.com/office/drawing/2014/main" id="{66C39E84-63C0-434C-8F25-24032E95248B}"/>
              </a:ext>
            </a:extLst>
          </p:cNvPr>
          <p:cNvSpPr txBox="1"/>
          <p:nvPr/>
        </p:nvSpPr>
        <p:spPr>
          <a:xfrm>
            <a:off x="4984474" y="3820179"/>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75" name="文本框 74">
            <a:extLst>
              <a:ext uri="{FF2B5EF4-FFF2-40B4-BE49-F238E27FC236}">
                <a16:creationId xmlns:a16="http://schemas.microsoft.com/office/drawing/2014/main" id="{C8A03BF3-197F-434A-8413-FD5BD023FEDF}"/>
              </a:ext>
            </a:extLst>
          </p:cNvPr>
          <p:cNvSpPr txBox="1"/>
          <p:nvPr/>
        </p:nvSpPr>
        <p:spPr>
          <a:xfrm>
            <a:off x="5008751" y="3982288"/>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76" name="文本框 75">
            <a:extLst>
              <a:ext uri="{FF2B5EF4-FFF2-40B4-BE49-F238E27FC236}">
                <a16:creationId xmlns:a16="http://schemas.microsoft.com/office/drawing/2014/main" id="{FF5AB62D-3331-4173-BD13-E7523E3E0F14}"/>
              </a:ext>
            </a:extLst>
          </p:cNvPr>
          <p:cNvSpPr txBox="1"/>
          <p:nvPr/>
        </p:nvSpPr>
        <p:spPr>
          <a:xfrm>
            <a:off x="5106287" y="4088968"/>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77" name="文本框 76">
            <a:extLst>
              <a:ext uri="{FF2B5EF4-FFF2-40B4-BE49-F238E27FC236}">
                <a16:creationId xmlns:a16="http://schemas.microsoft.com/office/drawing/2014/main" id="{76686503-0201-44FD-B661-6C971DF31F1F}"/>
              </a:ext>
            </a:extLst>
          </p:cNvPr>
          <p:cNvSpPr txBox="1"/>
          <p:nvPr/>
        </p:nvSpPr>
        <p:spPr>
          <a:xfrm>
            <a:off x="5295263" y="4095064"/>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8" name="文本框 77">
            <a:extLst>
              <a:ext uri="{FF2B5EF4-FFF2-40B4-BE49-F238E27FC236}">
                <a16:creationId xmlns:a16="http://schemas.microsoft.com/office/drawing/2014/main" id="{A6F637F3-A48C-4F07-9C5A-3F4D7A991CC8}"/>
              </a:ext>
            </a:extLst>
          </p:cNvPr>
          <p:cNvSpPr txBox="1"/>
          <p:nvPr/>
        </p:nvSpPr>
        <p:spPr>
          <a:xfrm>
            <a:off x="5447663" y="3991432"/>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9" name="文本框 78">
            <a:extLst>
              <a:ext uri="{FF2B5EF4-FFF2-40B4-BE49-F238E27FC236}">
                <a16:creationId xmlns:a16="http://schemas.microsoft.com/office/drawing/2014/main" id="{47B1824A-CA1C-46F4-9F35-C1960C8E0A25}"/>
              </a:ext>
            </a:extLst>
          </p:cNvPr>
          <p:cNvSpPr txBox="1"/>
          <p:nvPr/>
        </p:nvSpPr>
        <p:spPr>
          <a:xfrm>
            <a:off x="5435471" y="3805504"/>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82" name="任意多边形: 形状 9">
            <a:extLst>
              <a:ext uri="{FF2B5EF4-FFF2-40B4-BE49-F238E27FC236}">
                <a16:creationId xmlns:a16="http://schemas.microsoft.com/office/drawing/2014/main" id="{436DB8A6-2A8D-4A83-A579-35AF820C341E}"/>
              </a:ext>
            </a:extLst>
          </p:cNvPr>
          <p:cNvSpPr/>
          <p:nvPr/>
        </p:nvSpPr>
        <p:spPr>
          <a:xfrm>
            <a:off x="574697" y="1121444"/>
            <a:ext cx="1807042"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lang="zh-CN" altLang="en-US" sz="2400" kern="1200" dirty="0">
                <a:solidFill>
                  <a:schemeClr val="bg1"/>
                </a:solidFill>
                <a:latin typeface="Microsoft YaHei" panose="020B0503020204020204" pitchFamily="34" charset="-122"/>
                <a:ea typeface="Microsoft YaHei" panose="020B0503020204020204" pitchFamily="34" charset="-122"/>
              </a:rPr>
              <a:t>虚指针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grpSp>
        <p:nvGrpSpPr>
          <p:cNvPr id="99" name="Group 25">
            <a:extLst>
              <a:ext uri="{FF2B5EF4-FFF2-40B4-BE49-F238E27FC236}">
                <a16:creationId xmlns:a16="http://schemas.microsoft.com/office/drawing/2014/main" id="{FDCC5556-2E53-4BA8-85CA-C6C2B3D1A957}"/>
              </a:ext>
            </a:extLst>
          </p:cNvPr>
          <p:cNvGrpSpPr>
            <a:grpSpLocks/>
          </p:cNvGrpSpPr>
          <p:nvPr/>
        </p:nvGrpSpPr>
        <p:grpSpPr bwMode="auto">
          <a:xfrm>
            <a:off x="8562327" y="3131650"/>
            <a:ext cx="1971675" cy="1968500"/>
            <a:chOff x="2064" y="1152"/>
            <a:chExt cx="1968" cy="1968"/>
          </a:xfrm>
        </p:grpSpPr>
        <p:grpSp>
          <p:nvGrpSpPr>
            <p:cNvPr id="100" name="Group 26">
              <a:extLst>
                <a:ext uri="{FF2B5EF4-FFF2-40B4-BE49-F238E27FC236}">
                  <a16:creationId xmlns:a16="http://schemas.microsoft.com/office/drawing/2014/main" id="{16386436-E58A-4E91-B7F7-FB7363DDDF4C}"/>
                </a:ext>
              </a:extLst>
            </p:cNvPr>
            <p:cNvGrpSpPr>
              <a:grpSpLocks/>
            </p:cNvGrpSpPr>
            <p:nvPr/>
          </p:nvGrpSpPr>
          <p:grpSpPr bwMode="auto">
            <a:xfrm>
              <a:off x="2064" y="1152"/>
              <a:ext cx="1968" cy="1968"/>
              <a:chOff x="2064" y="1152"/>
              <a:chExt cx="1968" cy="1968"/>
            </a:xfrm>
          </p:grpSpPr>
          <p:sp>
            <p:nvSpPr>
              <p:cNvPr id="109" name="Oval 27">
                <a:extLst>
                  <a:ext uri="{FF2B5EF4-FFF2-40B4-BE49-F238E27FC236}">
                    <a16:creationId xmlns:a16="http://schemas.microsoft.com/office/drawing/2014/main" id="{241EA9A4-B306-40F3-8D38-ECC8040FF477}"/>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0" name="Oval 28">
                <a:extLst>
                  <a:ext uri="{FF2B5EF4-FFF2-40B4-BE49-F238E27FC236}">
                    <a16:creationId xmlns:a16="http://schemas.microsoft.com/office/drawing/2014/main" id="{72CB202E-D468-476A-BF99-B6E9CCC344A7}"/>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01" name="Line 29">
              <a:extLst>
                <a:ext uri="{FF2B5EF4-FFF2-40B4-BE49-F238E27FC236}">
                  <a16:creationId xmlns:a16="http://schemas.microsoft.com/office/drawing/2014/main" id="{81CB2B3F-EF77-4259-8D73-4BFD0027F081}"/>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2" name="Line 30">
              <a:extLst>
                <a:ext uri="{FF2B5EF4-FFF2-40B4-BE49-F238E27FC236}">
                  <a16:creationId xmlns:a16="http://schemas.microsoft.com/office/drawing/2014/main" id="{159CD9BD-9015-40B4-AA64-4EECC37277B7}"/>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3" name="Line 31">
              <a:extLst>
                <a:ext uri="{FF2B5EF4-FFF2-40B4-BE49-F238E27FC236}">
                  <a16:creationId xmlns:a16="http://schemas.microsoft.com/office/drawing/2014/main" id="{6DFCD714-04D9-47C4-AE30-CA80F95D7820}"/>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4" name="Line 32">
              <a:extLst>
                <a:ext uri="{FF2B5EF4-FFF2-40B4-BE49-F238E27FC236}">
                  <a16:creationId xmlns:a16="http://schemas.microsoft.com/office/drawing/2014/main" id="{3DD38ED5-7686-432C-8AA7-CEE911ABE044}"/>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5" name="Line 33">
              <a:extLst>
                <a:ext uri="{FF2B5EF4-FFF2-40B4-BE49-F238E27FC236}">
                  <a16:creationId xmlns:a16="http://schemas.microsoft.com/office/drawing/2014/main" id="{709A2CAA-2A9A-4B3E-965B-FEA2B1548A66}"/>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6" name="Line 34">
              <a:extLst>
                <a:ext uri="{FF2B5EF4-FFF2-40B4-BE49-F238E27FC236}">
                  <a16:creationId xmlns:a16="http://schemas.microsoft.com/office/drawing/2014/main" id="{27C96825-308A-4483-8018-9FE628CAF7D1}"/>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7" name="Line 35">
              <a:extLst>
                <a:ext uri="{FF2B5EF4-FFF2-40B4-BE49-F238E27FC236}">
                  <a16:creationId xmlns:a16="http://schemas.microsoft.com/office/drawing/2014/main" id="{DF6A89CE-4D09-4F60-AC97-E00B7B941CBA}"/>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8" name="Line 36">
              <a:extLst>
                <a:ext uri="{FF2B5EF4-FFF2-40B4-BE49-F238E27FC236}">
                  <a16:creationId xmlns:a16="http://schemas.microsoft.com/office/drawing/2014/main" id="{08737D40-1B02-466E-BFC2-08146BBF43D8}"/>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grpSp>
        <p:nvGrpSpPr>
          <p:cNvPr id="111" name="组合 110">
            <a:extLst>
              <a:ext uri="{FF2B5EF4-FFF2-40B4-BE49-F238E27FC236}">
                <a16:creationId xmlns:a16="http://schemas.microsoft.com/office/drawing/2014/main" id="{0E3EEC60-3332-458A-9919-0A58BCAE3E8A}"/>
              </a:ext>
            </a:extLst>
          </p:cNvPr>
          <p:cNvGrpSpPr/>
          <p:nvPr/>
        </p:nvGrpSpPr>
        <p:grpSpPr>
          <a:xfrm>
            <a:off x="8541065" y="2366301"/>
            <a:ext cx="982663" cy="831388"/>
            <a:chOff x="8622887" y="1790976"/>
            <a:chExt cx="982663" cy="831388"/>
          </a:xfrm>
        </p:grpSpPr>
        <p:sp>
          <p:nvSpPr>
            <p:cNvPr id="112" name="Text Box 19">
              <a:extLst>
                <a:ext uri="{FF2B5EF4-FFF2-40B4-BE49-F238E27FC236}">
                  <a16:creationId xmlns:a16="http://schemas.microsoft.com/office/drawing/2014/main" id="{1692D975-0B38-466C-B772-9311E5B0E59E}"/>
                </a:ext>
              </a:extLst>
            </p:cNvPr>
            <p:cNvSpPr txBox="1">
              <a:spLocks noChangeArrowheads="1"/>
            </p:cNvSpPr>
            <p:nvPr/>
          </p:nvSpPr>
          <p:spPr bwMode="auto">
            <a:xfrm>
              <a:off x="8622887" y="1790976"/>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113" name="直接箭头连接符 112">
              <a:extLst>
                <a:ext uri="{FF2B5EF4-FFF2-40B4-BE49-F238E27FC236}">
                  <a16:creationId xmlns:a16="http://schemas.microsoft.com/office/drawing/2014/main" id="{EDF65668-694E-4860-AC76-E47EB9A5E0F0}"/>
                </a:ext>
              </a:extLst>
            </p:cNvPr>
            <p:cNvCxnSpPr>
              <a:cxnSpLocks/>
            </p:cNvCxnSpPr>
            <p:nvPr/>
          </p:nvCxnSpPr>
          <p:spPr>
            <a:xfrm>
              <a:off x="9007158" y="2247287"/>
              <a:ext cx="245843" cy="375077"/>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4" name="组合 113">
            <a:extLst>
              <a:ext uri="{FF2B5EF4-FFF2-40B4-BE49-F238E27FC236}">
                <a16:creationId xmlns:a16="http://schemas.microsoft.com/office/drawing/2014/main" id="{238DFF94-498C-4728-9B92-675F24662644}"/>
              </a:ext>
            </a:extLst>
          </p:cNvPr>
          <p:cNvGrpSpPr/>
          <p:nvPr/>
        </p:nvGrpSpPr>
        <p:grpSpPr>
          <a:xfrm>
            <a:off x="10449274" y="4534617"/>
            <a:ext cx="1360765" cy="464500"/>
            <a:chOff x="8994497" y="3264538"/>
            <a:chExt cx="1360765" cy="464500"/>
          </a:xfrm>
        </p:grpSpPr>
        <p:cxnSp>
          <p:nvCxnSpPr>
            <p:cNvPr id="115" name="直接箭头连接符 114">
              <a:extLst>
                <a:ext uri="{FF2B5EF4-FFF2-40B4-BE49-F238E27FC236}">
                  <a16:creationId xmlns:a16="http://schemas.microsoft.com/office/drawing/2014/main" id="{37AD9894-F043-4FA2-ADCE-F3D09DE7053A}"/>
                </a:ext>
              </a:extLst>
            </p:cNvPr>
            <p:cNvCxnSpPr>
              <a:cxnSpLocks noChangeShapeType="1"/>
              <a:stCxn id="116" idx="1"/>
            </p:cNvCxnSpPr>
            <p:nvPr/>
          </p:nvCxnSpPr>
          <p:spPr bwMode="auto">
            <a:xfrm flipH="1" flipV="1">
              <a:off x="8994497" y="3264538"/>
              <a:ext cx="405090" cy="274794"/>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116" name="Text Box 16">
              <a:extLst>
                <a:ext uri="{FF2B5EF4-FFF2-40B4-BE49-F238E27FC236}">
                  <a16:creationId xmlns:a16="http://schemas.microsoft.com/office/drawing/2014/main" id="{034DCD96-DB9C-44A6-93C2-CC22BD1775BD}"/>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sp>
        <p:nvSpPr>
          <p:cNvPr id="117" name="文本框 116">
            <a:extLst>
              <a:ext uri="{FF2B5EF4-FFF2-40B4-BE49-F238E27FC236}">
                <a16:creationId xmlns:a16="http://schemas.microsoft.com/office/drawing/2014/main" id="{6A129AC8-B12A-47BA-A335-D62F8DC7BFEB}"/>
              </a:ext>
            </a:extLst>
          </p:cNvPr>
          <p:cNvSpPr txBox="1"/>
          <p:nvPr/>
        </p:nvSpPr>
        <p:spPr>
          <a:xfrm>
            <a:off x="9496627" y="3757535"/>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118" name="文本框 117">
            <a:extLst>
              <a:ext uri="{FF2B5EF4-FFF2-40B4-BE49-F238E27FC236}">
                <a16:creationId xmlns:a16="http://schemas.microsoft.com/office/drawing/2014/main" id="{F3C08B51-7B4D-48D4-8348-5476ECC91F56}"/>
              </a:ext>
            </a:extLst>
          </p:cNvPr>
          <p:cNvSpPr txBox="1"/>
          <p:nvPr/>
        </p:nvSpPr>
        <p:spPr>
          <a:xfrm>
            <a:off x="9301826" y="3754806"/>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119" name="文本框 118">
            <a:extLst>
              <a:ext uri="{FF2B5EF4-FFF2-40B4-BE49-F238E27FC236}">
                <a16:creationId xmlns:a16="http://schemas.microsoft.com/office/drawing/2014/main" id="{0CC4759F-523B-43F8-990A-17FC2AB93EB6}"/>
              </a:ext>
            </a:extLst>
          </p:cNvPr>
          <p:cNvSpPr txBox="1"/>
          <p:nvPr/>
        </p:nvSpPr>
        <p:spPr>
          <a:xfrm>
            <a:off x="9171179" y="3881084"/>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120" name="文本框 119">
            <a:extLst>
              <a:ext uri="{FF2B5EF4-FFF2-40B4-BE49-F238E27FC236}">
                <a16:creationId xmlns:a16="http://schemas.microsoft.com/office/drawing/2014/main" id="{870BFDE3-9264-406B-B109-3D7A351F8A44}"/>
              </a:ext>
            </a:extLst>
          </p:cNvPr>
          <p:cNvSpPr txBox="1"/>
          <p:nvPr/>
        </p:nvSpPr>
        <p:spPr>
          <a:xfrm>
            <a:off x="9195456" y="4043193"/>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121" name="文本框 120">
            <a:extLst>
              <a:ext uri="{FF2B5EF4-FFF2-40B4-BE49-F238E27FC236}">
                <a16:creationId xmlns:a16="http://schemas.microsoft.com/office/drawing/2014/main" id="{EE8B87D8-4A40-4299-B7A6-543F224C9904}"/>
              </a:ext>
            </a:extLst>
          </p:cNvPr>
          <p:cNvSpPr txBox="1"/>
          <p:nvPr/>
        </p:nvSpPr>
        <p:spPr>
          <a:xfrm>
            <a:off x="9292992" y="4149873"/>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122" name="文本框 121">
            <a:extLst>
              <a:ext uri="{FF2B5EF4-FFF2-40B4-BE49-F238E27FC236}">
                <a16:creationId xmlns:a16="http://schemas.microsoft.com/office/drawing/2014/main" id="{FC50413A-6175-4F35-90C4-40DE16657103}"/>
              </a:ext>
            </a:extLst>
          </p:cNvPr>
          <p:cNvSpPr txBox="1"/>
          <p:nvPr/>
        </p:nvSpPr>
        <p:spPr>
          <a:xfrm>
            <a:off x="9481968" y="4155969"/>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123" name="文本框 122">
            <a:extLst>
              <a:ext uri="{FF2B5EF4-FFF2-40B4-BE49-F238E27FC236}">
                <a16:creationId xmlns:a16="http://schemas.microsoft.com/office/drawing/2014/main" id="{50767020-8719-4D13-A79C-F3C4BF336EDC}"/>
              </a:ext>
            </a:extLst>
          </p:cNvPr>
          <p:cNvSpPr txBox="1"/>
          <p:nvPr/>
        </p:nvSpPr>
        <p:spPr>
          <a:xfrm>
            <a:off x="9634368" y="4052337"/>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124" name="文本框 123">
            <a:extLst>
              <a:ext uri="{FF2B5EF4-FFF2-40B4-BE49-F238E27FC236}">
                <a16:creationId xmlns:a16="http://schemas.microsoft.com/office/drawing/2014/main" id="{C88366FF-42AA-462F-80CA-E3B185B0EB99}"/>
              </a:ext>
            </a:extLst>
          </p:cNvPr>
          <p:cNvSpPr txBox="1"/>
          <p:nvPr/>
        </p:nvSpPr>
        <p:spPr>
          <a:xfrm>
            <a:off x="9622176" y="3866409"/>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125" name="Text Box 53">
            <a:extLst>
              <a:ext uri="{FF2B5EF4-FFF2-40B4-BE49-F238E27FC236}">
                <a16:creationId xmlns:a16="http://schemas.microsoft.com/office/drawing/2014/main" id="{A6F9057F-0042-42EC-90A5-7A45198B70A8}"/>
              </a:ext>
            </a:extLst>
          </p:cNvPr>
          <p:cNvSpPr txBox="1">
            <a:spLocks noChangeArrowheads="1"/>
          </p:cNvSpPr>
          <p:nvPr/>
        </p:nvSpPr>
        <p:spPr bwMode="auto">
          <a:xfrm>
            <a:off x="8443812" y="5378360"/>
            <a:ext cx="418038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0033CC"/>
                </a:solidFill>
                <a:latin typeface="微软雅黑" panose="020B0503020204020204" pitchFamily="34" charset="-122"/>
                <a:ea typeface="微软雅黑" panose="020B0503020204020204" pitchFamily="34" charset="-122"/>
                <a:cs typeface="华文细黑" panose="02010600040101010101" pitchFamily="2" charset="-122"/>
              </a:rPr>
              <a:t>队列中的元素数量：</a:t>
            </a: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M+Q.rear-Q.front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mod M</a:t>
            </a:r>
          </a:p>
        </p:txBody>
      </p:sp>
    </p:spTree>
    <p:extLst>
      <p:ext uri="{BB962C8B-B14F-4D97-AF65-F5344CB8AC3E}">
        <p14:creationId xmlns:p14="http://schemas.microsoft.com/office/powerpoint/2010/main" val="35243720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23EB66E-9A13-4546-A349-0D6C0620C6EB}"/>
              </a:ext>
            </a:extLst>
          </p:cNvPr>
          <p:cNvSpPr>
            <a:spLocks noGrp="1" noChangeArrowheads="1"/>
          </p:cNvSpPr>
          <p:nvPr>
            <p:ph type="title"/>
          </p:nvPr>
        </p:nvSpPr>
        <p:spPr/>
        <p:txBody>
          <a:bodyPr>
            <a:normAutofit/>
          </a:bodyPr>
          <a:lstStyle/>
          <a:p>
            <a:pPr>
              <a:spcBef>
                <a:spcPct val="50000"/>
              </a:spcBef>
              <a:defRPr/>
            </a:pPr>
            <a:r>
              <a:rPr kumimoji="0" dirty="0" err="1"/>
              <a:t>队列示意：环形</a:t>
            </a:r>
            <a:endParaRPr kumimoji="0" dirty="0"/>
          </a:p>
        </p:txBody>
      </p:sp>
      <p:sp>
        <p:nvSpPr>
          <p:cNvPr id="2" name="副标题 1">
            <a:extLst>
              <a:ext uri="{FF2B5EF4-FFF2-40B4-BE49-F238E27FC236}">
                <a16:creationId xmlns:a16="http://schemas.microsoft.com/office/drawing/2014/main" id="{BC75A77F-9681-444A-9D51-26047D1CA54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62687C-662D-425C-A429-209AD3C58C00}"/>
              </a:ext>
            </a:extLst>
          </p:cNvPr>
          <p:cNvSpPr>
            <a:spLocks noGrp="1"/>
          </p:cNvSpPr>
          <p:nvPr>
            <p:ph type="body" idx="10"/>
          </p:nvPr>
        </p:nvSpPr>
        <p:spPr/>
        <p:txBody>
          <a:bodyPr/>
          <a:lstStyle/>
          <a:p>
            <a:endParaRPr lang="zh-CN" altLang="en-US"/>
          </a:p>
        </p:txBody>
      </p:sp>
      <p:grpSp>
        <p:nvGrpSpPr>
          <p:cNvPr id="54278" name="Group 25">
            <a:extLst>
              <a:ext uri="{FF2B5EF4-FFF2-40B4-BE49-F238E27FC236}">
                <a16:creationId xmlns:a16="http://schemas.microsoft.com/office/drawing/2014/main" id="{FB8B6D60-B3EC-43FB-A134-2EE218DB439F}"/>
              </a:ext>
            </a:extLst>
          </p:cNvPr>
          <p:cNvGrpSpPr>
            <a:grpSpLocks/>
          </p:cNvGrpSpPr>
          <p:nvPr/>
        </p:nvGrpSpPr>
        <p:grpSpPr bwMode="auto">
          <a:xfrm>
            <a:off x="4375622" y="3070745"/>
            <a:ext cx="1971675" cy="1968500"/>
            <a:chOff x="2064" y="1152"/>
            <a:chExt cx="1968" cy="1968"/>
          </a:xfrm>
        </p:grpSpPr>
        <p:grpSp>
          <p:nvGrpSpPr>
            <p:cNvPr id="54304" name="Group 26">
              <a:extLst>
                <a:ext uri="{FF2B5EF4-FFF2-40B4-BE49-F238E27FC236}">
                  <a16:creationId xmlns:a16="http://schemas.microsoft.com/office/drawing/2014/main" id="{040AC892-C4C3-453C-888F-B2781DCB1FD0}"/>
                </a:ext>
              </a:extLst>
            </p:cNvPr>
            <p:cNvGrpSpPr>
              <a:grpSpLocks/>
            </p:cNvGrpSpPr>
            <p:nvPr/>
          </p:nvGrpSpPr>
          <p:grpSpPr bwMode="auto">
            <a:xfrm>
              <a:off x="2064" y="1152"/>
              <a:ext cx="1968" cy="1968"/>
              <a:chOff x="2064" y="1152"/>
              <a:chExt cx="1968" cy="1968"/>
            </a:xfrm>
          </p:grpSpPr>
          <p:sp>
            <p:nvSpPr>
              <p:cNvPr id="31" name="Oval 27">
                <a:extLst>
                  <a:ext uri="{FF2B5EF4-FFF2-40B4-BE49-F238E27FC236}">
                    <a16:creationId xmlns:a16="http://schemas.microsoft.com/office/drawing/2014/main" id="{252CDE79-5EC0-FE4A-B826-8E11D7CCFA41}"/>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2" name="Oval 28">
                <a:extLst>
                  <a:ext uri="{FF2B5EF4-FFF2-40B4-BE49-F238E27FC236}">
                    <a16:creationId xmlns:a16="http://schemas.microsoft.com/office/drawing/2014/main" id="{2310E47E-505E-8843-8EB3-48FD92733B5F}"/>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3" name="Line 29">
              <a:extLst>
                <a:ext uri="{FF2B5EF4-FFF2-40B4-BE49-F238E27FC236}">
                  <a16:creationId xmlns:a16="http://schemas.microsoft.com/office/drawing/2014/main" id="{9B723FA8-EF14-8740-B832-A6357A622572}"/>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4" name="Line 30">
              <a:extLst>
                <a:ext uri="{FF2B5EF4-FFF2-40B4-BE49-F238E27FC236}">
                  <a16:creationId xmlns:a16="http://schemas.microsoft.com/office/drawing/2014/main" id="{09E8C8D1-D343-E445-A24B-E8656A79E54D}"/>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5" name="Line 31">
              <a:extLst>
                <a:ext uri="{FF2B5EF4-FFF2-40B4-BE49-F238E27FC236}">
                  <a16:creationId xmlns:a16="http://schemas.microsoft.com/office/drawing/2014/main" id="{3E1F5CC0-0039-FD45-A529-E9055A41B6D3}"/>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6" name="Line 32">
              <a:extLst>
                <a:ext uri="{FF2B5EF4-FFF2-40B4-BE49-F238E27FC236}">
                  <a16:creationId xmlns:a16="http://schemas.microsoft.com/office/drawing/2014/main" id="{429B03BB-BCE6-C94E-BF51-6AEBCF89F4B6}"/>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7" name="Line 33">
              <a:extLst>
                <a:ext uri="{FF2B5EF4-FFF2-40B4-BE49-F238E27FC236}">
                  <a16:creationId xmlns:a16="http://schemas.microsoft.com/office/drawing/2014/main" id="{7A1EA7AC-2625-844B-9F60-9FCE3CFFE4BB}"/>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8" name="Line 34">
              <a:extLst>
                <a:ext uri="{FF2B5EF4-FFF2-40B4-BE49-F238E27FC236}">
                  <a16:creationId xmlns:a16="http://schemas.microsoft.com/office/drawing/2014/main" id="{B8861531-4654-A843-87A2-1916DE31BF9E}"/>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9" name="Line 35">
              <a:extLst>
                <a:ext uri="{FF2B5EF4-FFF2-40B4-BE49-F238E27FC236}">
                  <a16:creationId xmlns:a16="http://schemas.microsoft.com/office/drawing/2014/main" id="{42AE3A88-D733-054F-8021-756564542D86}"/>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0" name="Line 36">
              <a:extLst>
                <a:ext uri="{FF2B5EF4-FFF2-40B4-BE49-F238E27FC236}">
                  <a16:creationId xmlns:a16="http://schemas.microsoft.com/office/drawing/2014/main" id="{956310C8-C0DA-1947-B831-25D09DF654BE}"/>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76A531D8-68DD-4E3A-A664-FEB1739664C2}"/>
              </a:ext>
            </a:extLst>
          </p:cNvPr>
          <p:cNvGrpSpPr/>
          <p:nvPr/>
        </p:nvGrpSpPr>
        <p:grpSpPr>
          <a:xfrm>
            <a:off x="4441026" y="2243632"/>
            <a:ext cx="982663" cy="899021"/>
            <a:chOff x="8622887" y="1790976"/>
            <a:chExt cx="982663" cy="899021"/>
          </a:xfrm>
        </p:grpSpPr>
        <p:sp>
          <p:nvSpPr>
            <p:cNvPr id="55" name="Text Box 19">
              <a:extLst>
                <a:ext uri="{FF2B5EF4-FFF2-40B4-BE49-F238E27FC236}">
                  <a16:creationId xmlns:a16="http://schemas.microsoft.com/office/drawing/2014/main" id="{F060AEE6-0627-D94D-9D8D-A345B7936517}"/>
                </a:ext>
              </a:extLst>
            </p:cNvPr>
            <p:cNvSpPr txBox="1">
              <a:spLocks noChangeArrowheads="1"/>
            </p:cNvSpPr>
            <p:nvPr/>
          </p:nvSpPr>
          <p:spPr bwMode="auto">
            <a:xfrm>
              <a:off x="8622887" y="1790976"/>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EAF77A7-B021-4245-B9E9-7958DE81D4B2}"/>
                </a:ext>
              </a:extLst>
            </p:cNvPr>
            <p:cNvCxnSpPr>
              <a:cxnSpLocks/>
            </p:cNvCxnSpPr>
            <p:nvPr/>
          </p:nvCxnSpPr>
          <p:spPr>
            <a:xfrm>
              <a:off x="9007158" y="2247287"/>
              <a:ext cx="169907" cy="44271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57" name="Text Box 52">
            <a:extLst>
              <a:ext uri="{FF2B5EF4-FFF2-40B4-BE49-F238E27FC236}">
                <a16:creationId xmlns:a16="http://schemas.microsoft.com/office/drawing/2014/main" id="{2054E3B7-C6A5-42C1-B86B-8DF33F5828FB}"/>
              </a:ext>
            </a:extLst>
          </p:cNvPr>
          <p:cNvSpPr txBox="1">
            <a:spLocks noChangeArrowheads="1"/>
          </p:cNvSpPr>
          <p:nvPr/>
        </p:nvSpPr>
        <p:spPr bwMode="auto">
          <a:xfrm>
            <a:off x="144686" y="5334397"/>
            <a:ext cx="442667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队列空</a:t>
            </a:r>
            <a:r>
              <a:rPr kumimoji="1" lang="zh-CN" altLang="en-US"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a:t>
            </a:r>
            <a:endParaRPr kumimoji="1" lang="en-US" altLang="zh-CN" sz="24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(Q.rear+1) mod M</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endParaRPr kumimoji="1" lang="zh-CN" altLang="en-US" sz="2000" dirty="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8" name="Text Box 53">
            <a:extLst>
              <a:ext uri="{FF2B5EF4-FFF2-40B4-BE49-F238E27FC236}">
                <a16:creationId xmlns:a16="http://schemas.microsoft.com/office/drawing/2014/main" id="{34AED06B-A30C-49DE-95F0-C249F0E7E92F}"/>
              </a:ext>
            </a:extLst>
          </p:cNvPr>
          <p:cNvSpPr txBox="1">
            <a:spLocks noChangeArrowheads="1"/>
          </p:cNvSpPr>
          <p:nvPr/>
        </p:nvSpPr>
        <p:spPr bwMode="auto">
          <a:xfrm>
            <a:off x="4263432" y="5316115"/>
            <a:ext cx="418038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C00000"/>
                </a:solidFill>
                <a:latin typeface="微软雅黑" panose="020B0503020204020204" pitchFamily="34" charset="-122"/>
                <a:ea typeface="微软雅黑" panose="020B0503020204020204" pitchFamily="34" charset="-122"/>
                <a:cs typeface="华文细黑" panose="02010600040101010101" pitchFamily="2" charset="-122"/>
              </a:rPr>
              <a:t>队列满：</a:t>
            </a:r>
            <a:endParaRPr kumimoji="1" lang="zh-CN" altLang="en-US" sz="2400" b="1" dirty="0">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(Q.rear+2) mod M == </a:t>
            </a:r>
            <a:r>
              <a:rPr kumimoji="1" lang="en-US" altLang="zh-CN" sz="2000" dirty="0" err="1">
                <a:latin typeface="微软雅黑" panose="020B0503020204020204" pitchFamily="34" charset="-122"/>
                <a:ea typeface="微软雅黑" panose="020B0503020204020204" pitchFamily="34" charset="-122"/>
                <a:cs typeface="华文细黑" panose="02010600040101010101" pitchFamily="2" charset="-122"/>
              </a:rPr>
              <a:t>Q.front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 </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a:t>
            </a:r>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a:t>
            </a:r>
            <a:r>
              <a:rPr kumimoji="1" lang="zh-CN" altLang="en-US" sz="2000" dirty="0">
                <a:latin typeface="微软雅黑" panose="020B0503020204020204" pitchFamily="34" charset="-122"/>
                <a:ea typeface="微软雅黑" panose="020B0503020204020204" pitchFamily="34" charset="-122"/>
                <a:cs typeface="华文细黑" panose="02010600040101010101" pitchFamily="2" charset="-122"/>
              </a:rPr>
              <a:t>表示顺序表长度）</a:t>
            </a:r>
            <a:endPar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43012" name="组合 43011">
            <a:extLst>
              <a:ext uri="{FF2B5EF4-FFF2-40B4-BE49-F238E27FC236}">
                <a16:creationId xmlns:a16="http://schemas.microsoft.com/office/drawing/2014/main" id="{6CC139F5-5156-4A2D-B6DC-B59EBE8F40A5}"/>
              </a:ext>
            </a:extLst>
          </p:cNvPr>
          <p:cNvGrpSpPr/>
          <p:nvPr/>
        </p:nvGrpSpPr>
        <p:grpSpPr>
          <a:xfrm>
            <a:off x="6360372" y="3609557"/>
            <a:ext cx="1310859" cy="422274"/>
            <a:chOff x="9044403" y="3306764"/>
            <a:chExt cx="1310859" cy="422274"/>
          </a:xfrm>
        </p:grpSpPr>
        <p:cxnSp>
          <p:nvCxnSpPr>
            <p:cNvPr id="59" name="直接箭头连接符 58">
              <a:extLst>
                <a:ext uri="{FF2B5EF4-FFF2-40B4-BE49-F238E27FC236}">
                  <a16:creationId xmlns:a16="http://schemas.microsoft.com/office/drawing/2014/main" id="{1480890D-58F2-4A22-B026-63E1B74B1993}"/>
                </a:ext>
              </a:extLst>
            </p:cNvPr>
            <p:cNvCxnSpPr>
              <a:cxnSpLocks noChangeShapeType="1"/>
            </p:cNvCxnSpPr>
            <p:nvPr/>
          </p:nvCxnSpPr>
          <p:spPr bwMode="auto">
            <a:xfrm flipH="1">
              <a:off x="9044403" y="3306764"/>
              <a:ext cx="620296" cy="42861"/>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60" name="Text Box 16">
              <a:extLst>
                <a:ext uri="{FF2B5EF4-FFF2-40B4-BE49-F238E27FC236}">
                  <a16:creationId xmlns:a16="http://schemas.microsoft.com/office/drawing/2014/main" id="{F270D4AE-87D8-4D83-8496-0CECC2335C8E}"/>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E1592325-569F-4D67-946E-4072D932F06E}"/>
              </a:ext>
            </a:extLst>
          </p:cNvPr>
          <p:cNvGrpSpPr/>
          <p:nvPr/>
        </p:nvGrpSpPr>
        <p:grpSpPr>
          <a:xfrm>
            <a:off x="626607" y="2106018"/>
            <a:ext cx="2345781" cy="2933227"/>
            <a:chOff x="2105569" y="1927698"/>
            <a:chExt cx="2345781" cy="2933227"/>
          </a:xfrm>
        </p:grpSpPr>
        <p:grpSp>
          <p:nvGrpSpPr>
            <p:cNvPr id="54275" name="Group 3">
              <a:extLst>
                <a:ext uri="{FF2B5EF4-FFF2-40B4-BE49-F238E27FC236}">
                  <a16:creationId xmlns:a16="http://schemas.microsoft.com/office/drawing/2014/main" id="{55E8628F-3FDD-49E5-B61B-94A1B35BBE8E}"/>
                </a:ext>
              </a:extLst>
            </p:cNvPr>
            <p:cNvGrpSpPr>
              <a:grpSpLocks/>
            </p:cNvGrpSpPr>
            <p:nvPr/>
          </p:nvGrpSpPr>
          <p:grpSpPr bwMode="auto">
            <a:xfrm>
              <a:off x="2135188" y="2806700"/>
              <a:ext cx="2092325" cy="2054225"/>
              <a:chOff x="2064" y="1152"/>
              <a:chExt cx="1968" cy="1968"/>
            </a:xfrm>
          </p:grpSpPr>
          <p:grpSp>
            <p:nvGrpSpPr>
              <p:cNvPr id="54315" name="Group 4">
                <a:extLst>
                  <a:ext uri="{FF2B5EF4-FFF2-40B4-BE49-F238E27FC236}">
                    <a16:creationId xmlns:a16="http://schemas.microsoft.com/office/drawing/2014/main" id="{5B2FCB5D-78A0-4CA1-AB7C-B87C6EC70390}"/>
                  </a:ext>
                </a:extLst>
              </p:cNvPr>
              <p:cNvGrpSpPr>
                <a:grpSpLocks/>
              </p:cNvGrpSpPr>
              <p:nvPr/>
            </p:nvGrpSpPr>
            <p:grpSpPr bwMode="auto">
              <a:xfrm>
                <a:off x="2064" y="1152"/>
                <a:ext cx="1968" cy="1968"/>
                <a:chOff x="2064" y="1152"/>
                <a:chExt cx="1968" cy="1968"/>
              </a:xfrm>
            </p:grpSpPr>
            <p:sp>
              <p:nvSpPr>
                <p:cNvPr id="17" name="Oval 5">
                  <a:extLst>
                    <a:ext uri="{FF2B5EF4-FFF2-40B4-BE49-F238E27FC236}">
                      <a16:creationId xmlns:a16="http://schemas.microsoft.com/office/drawing/2014/main" id="{ED18836D-5435-FE45-A8E1-19825A846026}"/>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8" name="Oval 6">
                  <a:extLst>
                    <a:ext uri="{FF2B5EF4-FFF2-40B4-BE49-F238E27FC236}">
                      <a16:creationId xmlns:a16="http://schemas.microsoft.com/office/drawing/2014/main" id="{7892D986-EBF7-CF43-AB63-58FC34A26DDA}"/>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9" name="Line 7">
                <a:extLst>
                  <a:ext uri="{FF2B5EF4-FFF2-40B4-BE49-F238E27FC236}">
                    <a16:creationId xmlns:a16="http://schemas.microsoft.com/office/drawing/2014/main" id="{D9BBCC9B-8911-1B4E-9103-FF78D68233B9}"/>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B101302B-81AF-784B-B3A1-A313D3390509}"/>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753EC7C-822C-674D-A121-E013D9DD037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018C16E1-7D42-AC46-AAE9-1C2437B8C6F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2B8CC419-24BE-224D-9AE0-F291C7E6AC6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BDA61EA4-58DC-9249-95C6-83AE175E40D7}"/>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5" name="Line 13">
                <a:extLst>
                  <a:ext uri="{FF2B5EF4-FFF2-40B4-BE49-F238E27FC236}">
                    <a16:creationId xmlns:a16="http://schemas.microsoft.com/office/drawing/2014/main" id="{4118088E-2E4D-1A44-8185-D3452C9C7F9B}"/>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6" name="Line 14">
                <a:extLst>
                  <a:ext uri="{FF2B5EF4-FFF2-40B4-BE49-F238E27FC236}">
                    <a16:creationId xmlns:a16="http://schemas.microsoft.com/office/drawing/2014/main" id="{9E5F23C9-87BD-BA40-A14A-50D5E3A923CA}"/>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9" name="Text Box 16">
              <a:extLst>
                <a:ext uri="{FF2B5EF4-FFF2-40B4-BE49-F238E27FC236}">
                  <a16:creationId xmlns:a16="http://schemas.microsoft.com/office/drawing/2014/main" id="{B553C2A3-2FB3-2744-8CB4-6E0B4446D2FF}"/>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0" name="Text Box 19">
              <a:extLst>
                <a:ext uri="{FF2B5EF4-FFF2-40B4-BE49-F238E27FC236}">
                  <a16:creationId xmlns:a16="http://schemas.microsoft.com/office/drawing/2014/main" id="{AA7DDFC8-7D65-A345-8572-6A3371EB12C4}"/>
                </a:ext>
              </a:extLst>
            </p:cNvPr>
            <p:cNvSpPr txBox="1">
              <a:spLocks noChangeArrowheads="1"/>
            </p:cNvSpPr>
            <p:nvPr/>
          </p:nvSpPr>
          <p:spPr bwMode="auto">
            <a:xfrm>
              <a:off x="2105569" y="1927698"/>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4286" name="直接箭头连接符 40">
              <a:extLst>
                <a:ext uri="{FF2B5EF4-FFF2-40B4-BE49-F238E27FC236}">
                  <a16:creationId xmlns:a16="http://schemas.microsoft.com/office/drawing/2014/main" id="{CD17F272-C9AE-4A40-8551-D9EDBF4D5D97}"/>
                </a:ext>
              </a:extLst>
            </p:cNvPr>
            <p:cNvCxnSpPr>
              <a:cxnSpLocks noChangeShapeType="1"/>
              <a:stCxn id="19"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287" name="直接箭头连接符 41">
              <a:extLst>
                <a:ext uri="{FF2B5EF4-FFF2-40B4-BE49-F238E27FC236}">
                  <a16:creationId xmlns:a16="http://schemas.microsoft.com/office/drawing/2014/main" id="{2E47B3DA-A909-4B0C-9D76-44A4102B0537}"/>
                </a:ext>
              </a:extLst>
            </p:cNvPr>
            <p:cNvCxnSpPr>
              <a:cxnSpLocks noChangeShapeType="1"/>
            </p:cNvCxnSpPr>
            <p:nvPr/>
          </p:nvCxnSpPr>
          <p:spPr bwMode="auto">
            <a:xfrm>
              <a:off x="2590539" y="2262188"/>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 name="文本框 6">
              <a:extLst>
                <a:ext uri="{FF2B5EF4-FFF2-40B4-BE49-F238E27FC236}">
                  <a16:creationId xmlns:a16="http://schemas.microsoft.com/office/drawing/2014/main" id="{703A7908-30F8-4605-A362-972577F45DD0}"/>
                </a:ext>
              </a:extLst>
            </p:cNvPr>
            <p:cNvSpPr txBox="1"/>
            <p:nvPr/>
          </p:nvSpPr>
          <p:spPr>
            <a:xfrm>
              <a:off x="3119444" y="3486956"/>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64" name="文本框 63">
              <a:extLst>
                <a:ext uri="{FF2B5EF4-FFF2-40B4-BE49-F238E27FC236}">
                  <a16:creationId xmlns:a16="http://schemas.microsoft.com/office/drawing/2014/main" id="{028A37C8-EECE-42F4-AEF7-6032783A03A2}"/>
                </a:ext>
              </a:extLst>
            </p:cNvPr>
            <p:cNvSpPr txBox="1"/>
            <p:nvPr/>
          </p:nvSpPr>
          <p:spPr>
            <a:xfrm>
              <a:off x="2924643" y="348422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65" name="文本框 64">
              <a:extLst>
                <a:ext uri="{FF2B5EF4-FFF2-40B4-BE49-F238E27FC236}">
                  <a16:creationId xmlns:a16="http://schemas.microsoft.com/office/drawing/2014/main" id="{83BA3935-954E-42F2-ABA0-44C7BCB97F88}"/>
                </a:ext>
              </a:extLst>
            </p:cNvPr>
            <p:cNvSpPr txBox="1"/>
            <p:nvPr/>
          </p:nvSpPr>
          <p:spPr>
            <a:xfrm>
              <a:off x="2793996" y="3610505"/>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67" name="文本框 66">
              <a:extLst>
                <a:ext uri="{FF2B5EF4-FFF2-40B4-BE49-F238E27FC236}">
                  <a16:creationId xmlns:a16="http://schemas.microsoft.com/office/drawing/2014/main" id="{063F2102-4180-4A6A-8AC4-A79C1B8E1014}"/>
                </a:ext>
              </a:extLst>
            </p:cNvPr>
            <p:cNvSpPr txBox="1"/>
            <p:nvPr/>
          </p:nvSpPr>
          <p:spPr>
            <a:xfrm>
              <a:off x="2818273" y="37726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68" name="文本框 67">
              <a:extLst>
                <a:ext uri="{FF2B5EF4-FFF2-40B4-BE49-F238E27FC236}">
                  <a16:creationId xmlns:a16="http://schemas.microsoft.com/office/drawing/2014/main" id="{2589A556-B433-411C-92F6-209FD6B7B445}"/>
                </a:ext>
              </a:extLst>
            </p:cNvPr>
            <p:cNvSpPr txBox="1"/>
            <p:nvPr/>
          </p:nvSpPr>
          <p:spPr>
            <a:xfrm>
              <a:off x="2915809" y="3879294"/>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69" name="文本框 68">
              <a:extLst>
                <a:ext uri="{FF2B5EF4-FFF2-40B4-BE49-F238E27FC236}">
                  <a16:creationId xmlns:a16="http://schemas.microsoft.com/office/drawing/2014/main" id="{726349CE-73D3-4518-83B8-5BA64E3E7ED4}"/>
                </a:ext>
              </a:extLst>
            </p:cNvPr>
            <p:cNvSpPr txBox="1"/>
            <p:nvPr/>
          </p:nvSpPr>
          <p:spPr>
            <a:xfrm>
              <a:off x="3104785" y="3885390"/>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0" name="文本框 69">
              <a:extLst>
                <a:ext uri="{FF2B5EF4-FFF2-40B4-BE49-F238E27FC236}">
                  <a16:creationId xmlns:a16="http://schemas.microsoft.com/office/drawing/2014/main" id="{48685157-C805-4A34-AFEA-185FD3849699}"/>
                </a:ext>
              </a:extLst>
            </p:cNvPr>
            <p:cNvSpPr txBox="1"/>
            <p:nvPr/>
          </p:nvSpPr>
          <p:spPr>
            <a:xfrm>
              <a:off x="3257185" y="3781758"/>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1" name="文本框 70">
              <a:extLst>
                <a:ext uri="{FF2B5EF4-FFF2-40B4-BE49-F238E27FC236}">
                  <a16:creationId xmlns:a16="http://schemas.microsoft.com/office/drawing/2014/main" id="{04E560B3-E651-4C9A-9FB7-4EE703C80407}"/>
                </a:ext>
              </a:extLst>
            </p:cNvPr>
            <p:cNvSpPr txBox="1"/>
            <p:nvPr/>
          </p:nvSpPr>
          <p:spPr>
            <a:xfrm>
              <a:off x="3272425" y="3595830"/>
              <a:ext cx="276038" cy="307777"/>
            </a:xfrm>
            <a:prstGeom prst="rect">
              <a:avLst/>
            </a:prstGeom>
            <a:noFill/>
          </p:spPr>
          <p:txBody>
            <a:bodyPr wrap="none" rtlCol="0">
              <a:spAutoFit/>
            </a:bodyPr>
            <a:lstStyle/>
            <a:p>
              <a:r>
                <a:rPr lang="en-US" altLang="zh-CN" sz="1400" dirty="0"/>
                <a:t>7</a:t>
              </a:r>
              <a:endParaRPr lang="zh-CN" altLang="en-US" sz="1400" dirty="0"/>
            </a:p>
          </p:txBody>
        </p:sp>
      </p:grpSp>
      <p:sp>
        <p:nvSpPr>
          <p:cNvPr id="72" name="文本框 71">
            <a:extLst>
              <a:ext uri="{FF2B5EF4-FFF2-40B4-BE49-F238E27FC236}">
                <a16:creationId xmlns:a16="http://schemas.microsoft.com/office/drawing/2014/main" id="{214A4FF6-58B6-4249-86E9-486768F0E8E8}"/>
              </a:ext>
            </a:extLst>
          </p:cNvPr>
          <p:cNvSpPr txBox="1"/>
          <p:nvPr/>
        </p:nvSpPr>
        <p:spPr>
          <a:xfrm>
            <a:off x="5309922" y="3696630"/>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73" name="文本框 72">
            <a:extLst>
              <a:ext uri="{FF2B5EF4-FFF2-40B4-BE49-F238E27FC236}">
                <a16:creationId xmlns:a16="http://schemas.microsoft.com/office/drawing/2014/main" id="{9166613B-54C2-4CB3-A6AF-6F78B34DC78A}"/>
              </a:ext>
            </a:extLst>
          </p:cNvPr>
          <p:cNvSpPr txBox="1"/>
          <p:nvPr/>
        </p:nvSpPr>
        <p:spPr>
          <a:xfrm>
            <a:off x="5115121" y="3693901"/>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74" name="文本框 73">
            <a:extLst>
              <a:ext uri="{FF2B5EF4-FFF2-40B4-BE49-F238E27FC236}">
                <a16:creationId xmlns:a16="http://schemas.microsoft.com/office/drawing/2014/main" id="{66C39E84-63C0-434C-8F25-24032E95248B}"/>
              </a:ext>
            </a:extLst>
          </p:cNvPr>
          <p:cNvSpPr txBox="1"/>
          <p:nvPr/>
        </p:nvSpPr>
        <p:spPr>
          <a:xfrm>
            <a:off x="4984474" y="3820179"/>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75" name="文本框 74">
            <a:extLst>
              <a:ext uri="{FF2B5EF4-FFF2-40B4-BE49-F238E27FC236}">
                <a16:creationId xmlns:a16="http://schemas.microsoft.com/office/drawing/2014/main" id="{C8A03BF3-197F-434A-8413-FD5BD023FEDF}"/>
              </a:ext>
            </a:extLst>
          </p:cNvPr>
          <p:cNvSpPr txBox="1"/>
          <p:nvPr/>
        </p:nvSpPr>
        <p:spPr>
          <a:xfrm>
            <a:off x="5008751" y="3982288"/>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76" name="文本框 75">
            <a:extLst>
              <a:ext uri="{FF2B5EF4-FFF2-40B4-BE49-F238E27FC236}">
                <a16:creationId xmlns:a16="http://schemas.microsoft.com/office/drawing/2014/main" id="{FF5AB62D-3331-4173-BD13-E7523E3E0F14}"/>
              </a:ext>
            </a:extLst>
          </p:cNvPr>
          <p:cNvSpPr txBox="1"/>
          <p:nvPr/>
        </p:nvSpPr>
        <p:spPr>
          <a:xfrm>
            <a:off x="5106287" y="4088968"/>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77" name="文本框 76">
            <a:extLst>
              <a:ext uri="{FF2B5EF4-FFF2-40B4-BE49-F238E27FC236}">
                <a16:creationId xmlns:a16="http://schemas.microsoft.com/office/drawing/2014/main" id="{76686503-0201-44FD-B661-6C971DF31F1F}"/>
              </a:ext>
            </a:extLst>
          </p:cNvPr>
          <p:cNvSpPr txBox="1"/>
          <p:nvPr/>
        </p:nvSpPr>
        <p:spPr>
          <a:xfrm>
            <a:off x="5295263" y="4095064"/>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78" name="文本框 77">
            <a:extLst>
              <a:ext uri="{FF2B5EF4-FFF2-40B4-BE49-F238E27FC236}">
                <a16:creationId xmlns:a16="http://schemas.microsoft.com/office/drawing/2014/main" id="{A6F637F3-A48C-4F07-9C5A-3F4D7A991CC8}"/>
              </a:ext>
            </a:extLst>
          </p:cNvPr>
          <p:cNvSpPr txBox="1"/>
          <p:nvPr/>
        </p:nvSpPr>
        <p:spPr>
          <a:xfrm>
            <a:off x="5447663" y="3991432"/>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79" name="文本框 78">
            <a:extLst>
              <a:ext uri="{FF2B5EF4-FFF2-40B4-BE49-F238E27FC236}">
                <a16:creationId xmlns:a16="http://schemas.microsoft.com/office/drawing/2014/main" id="{47B1824A-CA1C-46F4-9F35-C1960C8E0A25}"/>
              </a:ext>
            </a:extLst>
          </p:cNvPr>
          <p:cNvSpPr txBox="1"/>
          <p:nvPr/>
        </p:nvSpPr>
        <p:spPr>
          <a:xfrm>
            <a:off x="5435471" y="3805504"/>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82" name="任意多边形: 形状 9">
            <a:extLst>
              <a:ext uri="{FF2B5EF4-FFF2-40B4-BE49-F238E27FC236}">
                <a16:creationId xmlns:a16="http://schemas.microsoft.com/office/drawing/2014/main" id="{436DB8A6-2A8D-4A83-A579-35AF820C341E}"/>
              </a:ext>
            </a:extLst>
          </p:cNvPr>
          <p:cNvSpPr/>
          <p:nvPr/>
        </p:nvSpPr>
        <p:spPr>
          <a:xfrm>
            <a:off x="574697" y="1121444"/>
            <a:ext cx="1807042" cy="71592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342900" indent="-342900">
              <a:buFont typeface="Arial" panose="020B0604020202020204" pitchFamily="34" charset="0"/>
              <a:buChar char="•"/>
            </a:pPr>
            <a:r>
              <a:rPr lang="zh-CN" altLang="en-US" sz="2400" dirty="0">
                <a:solidFill>
                  <a:schemeClr val="bg1"/>
                </a:solidFill>
                <a:latin typeface="Microsoft YaHei" panose="020B0503020204020204" pitchFamily="34" charset="-122"/>
                <a:ea typeface="Microsoft YaHei" panose="020B0503020204020204" pitchFamily="34" charset="-122"/>
              </a:rPr>
              <a:t>实</a:t>
            </a:r>
            <a:r>
              <a:rPr lang="zh-CN" altLang="en-US" sz="2400" kern="1200" dirty="0">
                <a:solidFill>
                  <a:schemeClr val="bg1"/>
                </a:solidFill>
                <a:latin typeface="Microsoft YaHei" panose="020B0503020204020204" pitchFamily="34" charset="-122"/>
                <a:ea typeface="Microsoft YaHei" panose="020B0503020204020204" pitchFamily="34" charset="-122"/>
              </a:rPr>
              <a:t>指针</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grpSp>
        <p:nvGrpSpPr>
          <p:cNvPr id="99" name="Group 25">
            <a:extLst>
              <a:ext uri="{FF2B5EF4-FFF2-40B4-BE49-F238E27FC236}">
                <a16:creationId xmlns:a16="http://schemas.microsoft.com/office/drawing/2014/main" id="{FDCC5556-2E53-4BA8-85CA-C6C2B3D1A957}"/>
              </a:ext>
            </a:extLst>
          </p:cNvPr>
          <p:cNvGrpSpPr>
            <a:grpSpLocks/>
          </p:cNvGrpSpPr>
          <p:nvPr/>
        </p:nvGrpSpPr>
        <p:grpSpPr bwMode="auto">
          <a:xfrm>
            <a:off x="8562327" y="3131650"/>
            <a:ext cx="1971675" cy="1968500"/>
            <a:chOff x="2064" y="1152"/>
            <a:chExt cx="1968" cy="1968"/>
          </a:xfrm>
        </p:grpSpPr>
        <p:grpSp>
          <p:nvGrpSpPr>
            <p:cNvPr id="100" name="Group 26">
              <a:extLst>
                <a:ext uri="{FF2B5EF4-FFF2-40B4-BE49-F238E27FC236}">
                  <a16:creationId xmlns:a16="http://schemas.microsoft.com/office/drawing/2014/main" id="{16386436-E58A-4E91-B7F7-FB7363DDDF4C}"/>
                </a:ext>
              </a:extLst>
            </p:cNvPr>
            <p:cNvGrpSpPr>
              <a:grpSpLocks/>
            </p:cNvGrpSpPr>
            <p:nvPr/>
          </p:nvGrpSpPr>
          <p:grpSpPr bwMode="auto">
            <a:xfrm>
              <a:off x="2064" y="1152"/>
              <a:ext cx="1968" cy="1968"/>
              <a:chOff x="2064" y="1152"/>
              <a:chExt cx="1968" cy="1968"/>
            </a:xfrm>
          </p:grpSpPr>
          <p:sp>
            <p:nvSpPr>
              <p:cNvPr id="109" name="Oval 27">
                <a:extLst>
                  <a:ext uri="{FF2B5EF4-FFF2-40B4-BE49-F238E27FC236}">
                    <a16:creationId xmlns:a16="http://schemas.microsoft.com/office/drawing/2014/main" id="{241EA9A4-B306-40F3-8D38-ECC8040FF477}"/>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0" name="Oval 28">
                <a:extLst>
                  <a:ext uri="{FF2B5EF4-FFF2-40B4-BE49-F238E27FC236}">
                    <a16:creationId xmlns:a16="http://schemas.microsoft.com/office/drawing/2014/main" id="{72CB202E-D468-476A-BF99-B6E9CCC344A7}"/>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01" name="Line 29">
              <a:extLst>
                <a:ext uri="{FF2B5EF4-FFF2-40B4-BE49-F238E27FC236}">
                  <a16:creationId xmlns:a16="http://schemas.microsoft.com/office/drawing/2014/main" id="{81CB2B3F-EF77-4259-8D73-4BFD0027F081}"/>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2" name="Line 30">
              <a:extLst>
                <a:ext uri="{FF2B5EF4-FFF2-40B4-BE49-F238E27FC236}">
                  <a16:creationId xmlns:a16="http://schemas.microsoft.com/office/drawing/2014/main" id="{159CD9BD-9015-40B4-AA64-4EECC37277B7}"/>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3" name="Line 31">
              <a:extLst>
                <a:ext uri="{FF2B5EF4-FFF2-40B4-BE49-F238E27FC236}">
                  <a16:creationId xmlns:a16="http://schemas.microsoft.com/office/drawing/2014/main" id="{6DFCD714-04D9-47C4-AE30-CA80F95D7820}"/>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4" name="Line 32">
              <a:extLst>
                <a:ext uri="{FF2B5EF4-FFF2-40B4-BE49-F238E27FC236}">
                  <a16:creationId xmlns:a16="http://schemas.microsoft.com/office/drawing/2014/main" id="{3DD38ED5-7686-432C-8AA7-CEE911ABE044}"/>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5" name="Line 33">
              <a:extLst>
                <a:ext uri="{FF2B5EF4-FFF2-40B4-BE49-F238E27FC236}">
                  <a16:creationId xmlns:a16="http://schemas.microsoft.com/office/drawing/2014/main" id="{709A2CAA-2A9A-4B3E-965B-FEA2B1548A66}"/>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6" name="Line 34">
              <a:extLst>
                <a:ext uri="{FF2B5EF4-FFF2-40B4-BE49-F238E27FC236}">
                  <a16:creationId xmlns:a16="http://schemas.microsoft.com/office/drawing/2014/main" id="{27C96825-308A-4483-8018-9FE628CAF7D1}"/>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7" name="Line 35">
              <a:extLst>
                <a:ext uri="{FF2B5EF4-FFF2-40B4-BE49-F238E27FC236}">
                  <a16:creationId xmlns:a16="http://schemas.microsoft.com/office/drawing/2014/main" id="{DF6A89CE-4D09-4F60-AC97-E00B7B941CBA}"/>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8" name="Line 36">
              <a:extLst>
                <a:ext uri="{FF2B5EF4-FFF2-40B4-BE49-F238E27FC236}">
                  <a16:creationId xmlns:a16="http://schemas.microsoft.com/office/drawing/2014/main" id="{08737D40-1B02-466E-BFC2-08146BBF43D8}"/>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grpSp>
        <p:nvGrpSpPr>
          <p:cNvPr id="111" name="组合 110">
            <a:extLst>
              <a:ext uri="{FF2B5EF4-FFF2-40B4-BE49-F238E27FC236}">
                <a16:creationId xmlns:a16="http://schemas.microsoft.com/office/drawing/2014/main" id="{0E3EEC60-3332-458A-9919-0A58BCAE3E8A}"/>
              </a:ext>
            </a:extLst>
          </p:cNvPr>
          <p:cNvGrpSpPr/>
          <p:nvPr/>
        </p:nvGrpSpPr>
        <p:grpSpPr>
          <a:xfrm>
            <a:off x="8541065" y="2366301"/>
            <a:ext cx="982663" cy="831388"/>
            <a:chOff x="8622887" y="1790976"/>
            <a:chExt cx="982663" cy="831388"/>
          </a:xfrm>
        </p:grpSpPr>
        <p:sp>
          <p:nvSpPr>
            <p:cNvPr id="112" name="Text Box 19">
              <a:extLst>
                <a:ext uri="{FF2B5EF4-FFF2-40B4-BE49-F238E27FC236}">
                  <a16:creationId xmlns:a16="http://schemas.microsoft.com/office/drawing/2014/main" id="{1692D975-0B38-466C-B772-9311E5B0E59E}"/>
                </a:ext>
              </a:extLst>
            </p:cNvPr>
            <p:cNvSpPr txBox="1">
              <a:spLocks noChangeArrowheads="1"/>
            </p:cNvSpPr>
            <p:nvPr/>
          </p:nvSpPr>
          <p:spPr bwMode="auto">
            <a:xfrm>
              <a:off x="8622887" y="1790976"/>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113" name="直接箭头连接符 112">
              <a:extLst>
                <a:ext uri="{FF2B5EF4-FFF2-40B4-BE49-F238E27FC236}">
                  <a16:creationId xmlns:a16="http://schemas.microsoft.com/office/drawing/2014/main" id="{EDF65668-694E-4860-AC76-E47EB9A5E0F0}"/>
                </a:ext>
              </a:extLst>
            </p:cNvPr>
            <p:cNvCxnSpPr>
              <a:cxnSpLocks/>
            </p:cNvCxnSpPr>
            <p:nvPr/>
          </p:nvCxnSpPr>
          <p:spPr>
            <a:xfrm>
              <a:off x="9007158" y="2247287"/>
              <a:ext cx="245843" cy="375077"/>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4" name="组合 113">
            <a:extLst>
              <a:ext uri="{FF2B5EF4-FFF2-40B4-BE49-F238E27FC236}">
                <a16:creationId xmlns:a16="http://schemas.microsoft.com/office/drawing/2014/main" id="{238DFF94-498C-4728-9B92-675F24662644}"/>
              </a:ext>
            </a:extLst>
          </p:cNvPr>
          <p:cNvGrpSpPr/>
          <p:nvPr/>
        </p:nvGrpSpPr>
        <p:grpSpPr>
          <a:xfrm>
            <a:off x="10449274" y="4534617"/>
            <a:ext cx="1360765" cy="464500"/>
            <a:chOff x="8994497" y="3264538"/>
            <a:chExt cx="1360765" cy="464500"/>
          </a:xfrm>
        </p:grpSpPr>
        <p:cxnSp>
          <p:nvCxnSpPr>
            <p:cNvPr id="115" name="直接箭头连接符 114">
              <a:extLst>
                <a:ext uri="{FF2B5EF4-FFF2-40B4-BE49-F238E27FC236}">
                  <a16:creationId xmlns:a16="http://schemas.microsoft.com/office/drawing/2014/main" id="{37AD9894-F043-4FA2-ADCE-F3D09DE7053A}"/>
                </a:ext>
              </a:extLst>
            </p:cNvPr>
            <p:cNvCxnSpPr>
              <a:cxnSpLocks noChangeShapeType="1"/>
              <a:stCxn id="116" idx="1"/>
            </p:cNvCxnSpPr>
            <p:nvPr/>
          </p:nvCxnSpPr>
          <p:spPr bwMode="auto">
            <a:xfrm flipH="1" flipV="1">
              <a:off x="8994497" y="3264538"/>
              <a:ext cx="405090" cy="274794"/>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116" name="Text Box 16">
              <a:extLst>
                <a:ext uri="{FF2B5EF4-FFF2-40B4-BE49-F238E27FC236}">
                  <a16:creationId xmlns:a16="http://schemas.microsoft.com/office/drawing/2014/main" id="{034DCD96-DB9C-44A6-93C2-CC22BD1775BD}"/>
                </a:ext>
              </a:extLst>
            </p:cNvPr>
            <p:cNvSpPr txBox="1">
              <a:spLocks noChangeArrowheads="1"/>
            </p:cNvSpPr>
            <p:nvPr/>
          </p:nvSpPr>
          <p:spPr bwMode="auto">
            <a:xfrm>
              <a:off x="9399587" y="3349625"/>
              <a:ext cx="955675" cy="379413"/>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sp>
        <p:nvSpPr>
          <p:cNvPr id="117" name="文本框 116">
            <a:extLst>
              <a:ext uri="{FF2B5EF4-FFF2-40B4-BE49-F238E27FC236}">
                <a16:creationId xmlns:a16="http://schemas.microsoft.com/office/drawing/2014/main" id="{6A129AC8-B12A-47BA-A335-D62F8DC7BFEB}"/>
              </a:ext>
            </a:extLst>
          </p:cNvPr>
          <p:cNvSpPr txBox="1"/>
          <p:nvPr/>
        </p:nvSpPr>
        <p:spPr>
          <a:xfrm>
            <a:off x="9496627" y="3757535"/>
            <a:ext cx="276038" cy="307777"/>
          </a:xfrm>
          <a:prstGeom prst="rect">
            <a:avLst/>
          </a:prstGeom>
          <a:noFill/>
        </p:spPr>
        <p:txBody>
          <a:bodyPr wrap="none" rtlCol="0">
            <a:spAutoFit/>
          </a:bodyPr>
          <a:lstStyle/>
          <a:p>
            <a:r>
              <a:rPr lang="en-US" altLang="zh-CN" sz="1400" dirty="0"/>
              <a:t>0</a:t>
            </a:r>
            <a:endParaRPr lang="zh-CN" altLang="en-US" sz="1400" dirty="0"/>
          </a:p>
        </p:txBody>
      </p:sp>
      <p:sp>
        <p:nvSpPr>
          <p:cNvPr id="118" name="文本框 117">
            <a:extLst>
              <a:ext uri="{FF2B5EF4-FFF2-40B4-BE49-F238E27FC236}">
                <a16:creationId xmlns:a16="http://schemas.microsoft.com/office/drawing/2014/main" id="{F3C08B51-7B4D-48D4-8348-5476ECC91F56}"/>
              </a:ext>
            </a:extLst>
          </p:cNvPr>
          <p:cNvSpPr txBox="1"/>
          <p:nvPr/>
        </p:nvSpPr>
        <p:spPr>
          <a:xfrm>
            <a:off x="9301826" y="3754806"/>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119" name="文本框 118">
            <a:extLst>
              <a:ext uri="{FF2B5EF4-FFF2-40B4-BE49-F238E27FC236}">
                <a16:creationId xmlns:a16="http://schemas.microsoft.com/office/drawing/2014/main" id="{0CC4759F-523B-43F8-990A-17FC2AB93EB6}"/>
              </a:ext>
            </a:extLst>
          </p:cNvPr>
          <p:cNvSpPr txBox="1"/>
          <p:nvPr/>
        </p:nvSpPr>
        <p:spPr>
          <a:xfrm>
            <a:off x="9171179" y="3881084"/>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120" name="文本框 119">
            <a:extLst>
              <a:ext uri="{FF2B5EF4-FFF2-40B4-BE49-F238E27FC236}">
                <a16:creationId xmlns:a16="http://schemas.microsoft.com/office/drawing/2014/main" id="{870BFDE3-9264-406B-B109-3D7A351F8A44}"/>
              </a:ext>
            </a:extLst>
          </p:cNvPr>
          <p:cNvSpPr txBox="1"/>
          <p:nvPr/>
        </p:nvSpPr>
        <p:spPr>
          <a:xfrm>
            <a:off x="9195456" y="4043193"/>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121" name="文本框 120">
            <a:extLst>
              <a:ext uri="{FF2B5EF4-FFF2-40B4-BE49-F238E27FC236}">
                <a16:creationId xmlns:a16="http://schemas.microsoft.com/office/drawing/2014/main" id="{EE8B87D8-4A40-4299-B7A6-543F224C9904}"/>
              </a:ext>
            </a:extLst>
          </p:cNvPr>
          <p:cNvSpPr txBox="1"/>
          <p:nvPr/>
        </p:nvSpPr>
        <p:spPr>
          <a:xfrm>
            <a:off x="9292992" y="4149873"/>
            <a:ext cx="276038" cy="307777"/>
          </a:xfrm>
          <a:prstGeom prst="rect">
            <a:avLst/>
          </a:prstGeom>
          <a:noFill/>
        </p:spPr>
        <p:txBody>
          <a:bodyPr wrap="none" rtlCol="0">
            <a:spAutoFit/>
          </a:bodyPr>
          <a:lstStyle/>
          <a:p>
            <a:r>
              <a:rPr lang="en-US" altLang="zh-CN" sz="1400" dirty="0"/>
              <a:t>4</a:t>
            </a:r>
            <a:endParaRPr lang="zh-CN" altLang="en-US" sz="1400" dirty="0"/>
          </a:p>
        </p:txBody>
      </p:sp>
      <p:sp>
        <p:nvSpPr>
          <p:cNvPr id="122" name="文本框 121">
            <a:extLst>
              <a:ext uri="{FF2B5EF4-FFF2-40B4-BE49-F238E27FC236}">
                <a16:creationId xmlns:a16="http://schemas.microsoft.com/office/drawing/2014/main" id="{FC50413A-6175-4F35-90C4-40DE16657103}"/>
              </a:ext>
            </a:extLst>
          </p:cNvPr>
          <p:cNvSpPr txBox="1"/>
          <p:nvPr/>
        </p:nvSpPr>
        <p:spPr>
          <a:xfrm>
            <a:off x="9481968" y="4155969"/>
            <a:ext cx="276038" cy="307777"/>
          </a:xfrm>
          <a:prstGeom prst="rect">
            <a:avLst/>
          </a:prstGeom>
          <a:noFill/>
        </p:spPr>
        <p:txBody>
          <a:bodyPr wrap="none" rtlCol="0">
            <a:spAutoFit/>
          </a:bodyPr>
          <a:lstStyle/>
          <a:p>
            <a:r>
              <a:rPr lang="en-US" altLang="zh-CN" sz="1400" dirty="0"/>
              <a:t>5</a:t>
            </a:r>
            <a:endParaRPr lang="zh-CN" altLang="en-US" sz="1400" dirty="0"/>
          </a:p>
        </p:txBody>
      </p:sp>
      <p:sp>
        <p:nvSpPr>
          <p:cNvPr id="123" name="文本框 122">
            <a:extLst>
              <a:ext uri="{FF2B5EF4-FFF2-40B4-BE49-F238E27FC236}">
                <a16:creationId xmlns:a16="http://schemas.microsoft.com/office/drawing/2014/main" id="{50767020-8719-4D13-A79C-F3C4BF336EDC}"/>
              </a:ext>
            </a:extLst>
          </p:cNvPr>
          <p:cNvSpPr txBox="1"/>
          <p:nvPr/>
        </p:nvSpPr>
        <p:spPr>
          <a:xfrm>
            <a:off x="9634368" y="4052337"/>
            <a:ext cx="276038" cy="307777"/>
          </a:xfrm>
          <a:prstGeom prst="rect">
            <a:avLst/>
          </a:prstGeom>
          <a:noFill/>
        </p:spPr>
        <p:txBody>
          <a:bodyPr wrap="none" rtlCol="0">
            <a:spAutoFit/>
          </a:bodyPr>
          <a:lstStyle/>
          <a:p>
            <a:r>
              <a:rPr lang="en-US" altLang="zh-CN" sz="1400" dirty="0"/>
              <a:t>6</a:t>
            </a:r>
            <a:endParaRPr lang="zh-CN" altLang="en-US" sz="1400" dirty="0"/>
          </a:p>
        </p:txBody>
      </p:sp>
      <p:sp>
        <p:nvSpPr>
          <p:cNvPr id="124" name="文本框 123">
            <a:extLst>
              <a:ext uri="{FF2B5EF4-FFF2-40B4-BE49-F238E27FC236}">
                <a16:creationId xmlns:a16="http://schemas.microsoft.com/office/drawing/2014/main" id="{C88366FF-42AA-462F-80CA-E3B185B0EB99}"/>
              </a:ext>
            </a:extLst>
          </p:cNvPr>
          <p:cNvSpPr txBox="1"/>
          <p:nvPr/>
        </p:nvSpPr>
        <p:spPr>
          <a:xfrm>
            <a:off x="9622176" y="3866409"/>
            <a:ext cx="276038" cy="307777"/>
          </a:xfrm>
          <a:prstGeom prst="rect">
            <a:avLst/>
          </a:prstGeom>
          <a:noFill/>
        </p:spPr>
        <p:txBody>
          <a:bodyPr wrap="none" rtlCol="0">
            <a:spAutoFit/>
          </a:bodyPr>
          <a:lstStyle/>
          <a:p>
            <a:r>
              <a:rPr lang="en-US" altLang="zh-CN" sz="1400" dirty="0"/>
              <a:t>7</a:t>
            </a:r>
            <a:endParaRPr lang="zh-CN" altLang="en-US" sz="1400" dirty="0"/>
          </a:p>
        </p:txBody>
      </p:sp>
      <p:sp>
        <p:nvSpPr>
          <p:cNvPr id="125" name="Text Box 53">
            <a:extLst>
              <a:ext uri="{FF2B5EF4-FFF2-40B4-BE49-F238E27FC236}">
                <a16:creationId xmlns:a16="http://schemas.microsoft.com/office/drawing/2014/main" id="{A6F9057F-0042-42EC-90A5-7A45198B70A8}"/>
              </a:ext>
            </a:extLst>
          </p:cNvPr>
          <p:cNvSpPr txBox="1">
            <a:spLocks noChangeArrowheads="1"/>
          </p:cNvSpPr>
          <p:nvPr/>
        </p:nvSpPr>
        <p:spPr bwMode="auto">
          <a:xfrm>
            <a:off x="8443812" y="5378360"/>
            <a:ext cx="418038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Arial" panose="020B0604020202020204" pitchFamily="34" charset="0"/>
              <a:buChar char="•"/>
            </a:pPr>
            <a:r>
              <a:rPr kumimoji="1" lang="zh-CN" altLang="en-US" sz="2400" b="1" dirty="0">
                <a:solidFill>
                  <a:srgbClr val="0033CC"/>
                </a:solidFill>
                <a:latin typeface="微软雅黑" panose="020B0503020204020204" pitchFamily="34" charset="-122"/>
                <a:ea typeface="微软雅黑" panose="020B0503020204020204" pitchFamily="34" charset="-122"/>
                <a:cs typeface="华文细黑" panose="02010600040101010101" pitchFamily="2" charset="-122"/>
              </a:rPr>
              <a:t>队列中的元素数量：</a:t>
            </a:r>
          </a:p>
          <a:p>
            <a:pPr eaLnBrk="1" hangingPunct="1"/>
            <a:r>
              <a:rPr kumimoji="1" lang="en-US" altLang="zh-CN" sz="2000" dirty="0">
                <a:latin typeface="微软雅黑" panose="020B0503020204020204" pitchFamily="34" charset="-122"/>
                <a:ea typeface="微软雅黑" panose="020B0503020204020204" pitchFamily="34" charset="-122"/>
                <a:cs typeface="华文细黑" panose="02010600040101010101" pitchFamily="2" charset="-122"/>
              </a:rPr>
              <a:t>(M+Q.rear-Q.front+1) mod M</a:t>
            </a:r>
          </a:p>
        </p:txBody>
      </p:sp>
    </p:spTree>
    <p:extLst>
      <p:ext uri="{BB962C8B-B14F-4D97-AF65-F5344CB8AC3E}">
        <p14:creationId xmlns:p14="http://schemas.microsoft.com/office/powerpoint/2010/main" val="1267659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74C5CEC-CE77-42FB-BF00-9BC24C76E1F7}"/>
              </a:ext>
            </a:extLst>
          </p:cNvPr>
          <p:cNvSpPr>
            <a:spLocks noGrp="1" noChangeArrowheads="1"/>
          </p:cNvSpPr>
          <p:nvPr>
            <p:ph type="title"/>
          </p:nvPr>
        </p:nvSpPr>
        <p:spPr/>
        <p:txBody>
          <a:bodyPr>
            <a:normAutofit/>
          </a:bodyPr>
          <a:lstStyle/>
          <a:p>
            <a:pPr>
              <a:spcBef>
                <a:spcPct val="50000"/>
              </a:spcBef>
              <a:defRPr/>
            </a:pPr>
            <a:r>
              <a:rPr kumimoji="0"/>
              <a:t>顺序队列的类定义 </a:t>
            </a:r>
          </a:p>
        </p:txBody>
      </p:sp>
      <p:sp>
        <p:nvSpPr>
          <p:cNvPr id="2" name="副标题 1">
            <a:extLst>
              <a:ext uri="{FF2B5EF4-FFF2-40B4-BE49-F238E27FC236}">
                <a16:creationId xmlns:a16="http://schemas.microsoft.com/office/drawing/2014/main" id="{C4A6DD20-00AA-4FDE-A78A-4EC4C9E1232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4669A0B-B42C-4AAE-B666-6FC7D9E59097}"/>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BD522D20-F801-423B-84EE-C54C24365639}"/>
              </a:ext>
            </a:extLst>
          </p:cNvPr>
          <p:cNvSpPr>
            <a:spLocks noGrp="1" noChangeArrowheads="1"/>
          </p:cNvSpPr>
          <p:nvPr>
            <p:ph idx="11"/>
          </p:nvPr>
        </p:nvSpPr>
        <p:spPr bwMode="auto">
          <a:xfrm>
            <a:off x="584224" y="1902475"/>
            <a:ext cx="10769575"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b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顺序队列的初始化 InitQueue(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kSize)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和正整数kSize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一个大小为kSize的顺序队列</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kSize+1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Calibri" panose="020F0502020204030204" pitchFamily="34" charset="0"/>
              </a:rPr>
              <a:t>kSize+1</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0"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en-US"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浪费一个存储空间以区别空和满</a:t>
            </a:r>
            <a:endPar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r>
              <a:rPr kumimoji="0" lang="zh-CN" altLang="en-US"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en-US" sz="2000" b="0" i="0" u="none" strike="noStrike" cap="none" normalizeH="0" baseline="0" dirty="0">
                <a:ln>
                  <a:noFill/>
                </a:ln>
                <a:solidFill>
                  <a:srgbClr val="0070C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虚指针</a:t>
            </a:r>
            <a:endParaRPr kumimoji="0" lang="zh-CN" altLang="zh-CN" sz="2000" b="0" i="0" u="none" strike="noStrike" cap="none" normalizeH="0" baseline="0" dirty="0">
              <a:ln>
                <a:noFill/>
              </a:ln>
              <a:solidFill>
                <a:srgbClr val="0070C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1030DF50-AE46-4ED6-8BF4-BBB2F73A2DFC}"/>
              </a:ext>
            </a:extLst>
          </p:cNvPr>
          <p:cNvCxnSpPr/>
          <p:nvPr/>
        </p:nvCxnSpPr>
        <p:spPr>
          <a:xfrm flipH="1">
            <a:off x="578224" y="1896036"/>
            <a:ext cx="60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CE2B7D1-9D0E-44B6-A7AA-B991F4C53F69}"/>
              </a:ext>
            </a:extLst>
          </p:cNvPr>
          <p:cNvCxnSpPr>
            <a:cxnSpLocks/>
          </p:cNvCxnSpPr>
          <p:nvPr/>
        </p:nvCxnSpPr>
        <p:spPr>
          <a:xfrm>
            <a:off x="584224" y="1915922"/>
            <a:ext cx="8922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74C5CEC-CE77-42FB-BF00-9BC24C76E1F7}"/>
              </a:ext>
            </a:extLst>
          </p:cNvPr>
          <p:cNvSpPr>
            <a:spLocks noGrp="1" noChangeArrowheads="1"/>
          </p:cNvSpPr>
          <p:nvPr>
            <p:ph type="title"/>
          </p:nvPr>
        </p:nvSpPr>
        <p:spPr/>
        <p:txBody>
          <a:bodyPr>
            <a:normAutofit/>
          </a:bodyPr>
          <a:lstStyle/>
          <a:p>
            <a:pPr>
              <a:spcBef>
                <a:spcPct val="50000"/>
              </a:spcBef>
              <a:defRPr/>
            </a:pPr>
            <a:r>
              <a:rPr kumimoji="0"/>
              <a:t>顺序队列的类定义 </a:t>
            </a:r>
          </a:p>
        </p:txBody>
      </p:sp>
      <p:sp>
        <p:nvSpPr>
          <p:cNvPr id="2" name="副标题 1">
            <a:extLst>
              <a:ext uri="{FF2B5EF4-FFF2-40B4-BE49-F238E27FC236}">
                <a16:creationId xmlns:a16="http://schemas.microsoft.com/office/drawing/2014/main" id="{C4A6DD20-00AA-4FDE-A78A-4EC4C9E1232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4669A0B-B42C-4AAE-B666-6FC7D9E59097}"/>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BD522D20-F801-423B-84EE-C54C24365639}"/>
              </a:ext>
            </a:extLst>
          </p:cNvPr>
          <p:cNvSpPr>
            <a:spLocks noGrp="1" noChangeArrowheads="1"/>
          </p:cNvSpPr>
          <p:nvPr>
            <p:ph idx="11"/>
          </p:nvPr>
        </p:nvSpPr>
        <p:spPr bwMode="auto">
          <a:xfrm>
            <a:off x="512314" y="1377650"/>
            <a:ext cx="10769575"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b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en-US" sz="200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判断</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en-US"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是否为空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I</a:t>
            </a:r>
            <a:r>
              <a:rPr kumimoji="0" lang="en-US" altLang="zh-CN" sz="2000" b="0" i="0" u="none" strike="noStrike" cap="none" normalizeH="0" baseline="0" dirty="0" err="1">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sEmpty</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队列是空序列，返回</a:t>
            </a:r>
            <a:r>
              <a:rPr lang="en-US"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true</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，否则返回</a:t>
            </a:r>
            <a:r>
              <a:rPr lang="en-US"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false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en-US" altLang="zh-CN" sz="2000" b="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a:t>
            </a:r>
            <a:r>
              <a:rPr kumimoji="0" lang="zh-CN" altLang="en-US"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en-US"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front</a:t>
            </a:r>
            <a:r>
              <a:rPr kumimoji="0" lang="zh-CN" altLang="en-US"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en-US"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rear</a:t>
            </a:r>
            <a:r>
              <a:rPr kumimoji="0" lang="zh-CN" altLang="en-US"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en-US" sz="2000" b="0" i="0" u="none" strike="noStrike" cap="none" normalizeH="0" baseline="0" dirty="0">
                <a:ln>
                  <a:noFill/>
                </a:ln>
                <a:solidFill>
                  <a:srgbClr val="0070C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虚指针</a:t>
            </a:r>
            <a:endParaRPr kumimoji="0" lang="zh-CN" altLang="zh-CN" sz="2000" b="0" i="0" u="none" strike="noStrike" cap="none" normalizeH="0" baseline="0" dirty="0">
              <a:ln>
                <a:noFill/>
              </a:ln>
              <a:solidFill>
                <a:srgbClr val="0070C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1030DF50-AE46-4ED6-8BF4-BBB2F73A2DFC}"/>
              </a:ext>
            </a:extLst>
          </p:cNvPr>
          <p:cNvCxnSpPr/>
          <p:nvPr/>
        </p:nvCxnSpPr>
        <p:spPr>
          <a:xfrm flipH="1">
            <a:off x="578224" y="1896036"/>
            <a:ext cx="6001"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9AD835D6-804C-888E-8762-E39BFEAD1D00}"/>
              </a:ext>
            </a:extLst>
          </p:cNvPr>
          <p:cNvSpPr txBox="1">
            <a:spLocks noChangeArrowheads="1"/>
          </p:cNvSpPr>
          <p:nvPr/>
        </p:nvSpPr>
        <p:spPr bwMode="auto">
          <a:xfrm>
            <a:off x="501875" y="3985152"/>
            <a:ext cx="10769575"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lang="zh-CN" altLang="en-US" sz="2400" kern="1200">
                <a:solidFill>
                  <a:schemeClr val="tx1"/>
                </a:solidFill>
                <a:latin typeface="Arial" panose="020B0604020202020204" pitchFamily="34" charset="0"/>
                <a:ea typeface="微软雅黑" panose="020B0503020204020204" pitchFamily="34" charset="-122"/>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nSpc>
                <a:spcPct val="100000"/>
              </a:lnSpc>
              <a:buFontTx/>
              <a:buNone/>
            </a:pPr>
            <a:br>
              <a:rPr lang="zh-CN" altLang="en-US" sz="12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r>
              <a:rPr lang="zh-CN" altLang="en-US" sz="2000" b="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判断队列是否满 </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Is</a:t>
            </a:r>
            <a:r>
              <a:rPr lang="en-US"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Full</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e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endParaRPr lang="en" altLang="zh-CN" sz="2000" dirty="0">
              <a:latin typeface="Microsoft YaHei Light" panose="020B0502040204020203" pitchFamily="34" charset="-122"/>
              <a:ea typeface="Microsoft YaHei Light" panose="020B0502040204020203" pitchFamily="34" charset="-122"/>
            </a:endParaRPr>
          </a:p>
          <a:p>
            <a:pPr marL="0" indent="0">
              <a:lnSpc>
                <a:spcPct val="100000"/>
              </a:lnSpc>
              <a:buFontTx/>
              <a:buNone/>
            </a:pP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endParaRPr lang="en" altLang="zh-CN" sz="2000" dirty="0">
              <a:latin typeface="Microsoft YaHei Light" panose="020B0502040204020203" pitchFamily="34" charset="-122"/>
              <a:ea typeface="Microsoft YaHei Light" panose="020B0502040204020203" pitchFamily="34" charset="-122"/>
            </a:endParaRPr>
          </a:p>
          <a:p>
            <a:pPr marL="0" indent="0">
              <a:lnSpc>
                <a:spcPct val="100000"/>
              </a:lnSpc>
              <a:buFontTx/>
              <a:buNone/>
            </a:pPr>
            <a:r>
              <a:rPr lang="zh-CN" altLang="en-US" sz="2000" b="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lang="e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lang="en" altLang="zh-CN" sz="2000" dirty="0">
              <a:latin typeface="Microsoft YaHei Light" panose="020B0502040204020203" pitchFamily="34" charset="-122"/>
              <a:ea typeface="Microsoft YaHei Light" panose="020B0502040204020203" pitchFamily="34" charset="-122"/>
            </a:endParaRPr>
          </a:p>
          <a:p>
            <a:pPr marL="0" indent="0">
              <a:lnSpc>
                <a:spcPct val="100000"/>
              </a:lnSpc>
              <a:buFontTx/>
              <a:buNone/>
            </a:pPr>
            <a:r>
              <a:rPr lang="zh-CN" altLang="en-US" sz="2000" b="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队列满，返回</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true</a:t>
            </a:r>
            <a:r>
              <a:rPr lang="e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否则返回</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false</a:t>
            </a:r>
            <a:endParaRPr lang="en" altLang="zh-CN" sz="2000" dirty="0">
              <a:latin typeface="Microsoft YaHei Light" panose="020B0502040204020203" pitchFamily="34" charset="-122"/>
              <a:ea typeface="Microsoft YaHei Light" panose="020B0502040204020203" pitchFamily="34" charset="-122"/>
            </a:endParaRPr>
          </a:p>
          <a:p>
            <a:pPr marL="0" indent="0">
              <a:lnSpc>
                <a:spcPct val="100000"/>
              </a:lnSpc>
              <a:buFontTx/>
              <a:buNone/>
            </a:pP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endParaRPr lang="en" altLang="zh-CN" sz="2000" dirty="0">
              <a:latin typeface="Microsoft YaHei Light" panose="020B0502040204020203" pitchFamily="34" charset="-122"/>
              <a:ea typeface="Microsoft YaHei Light" panose="020B0502040204020203" pitchFamily="34" charset="-122"/>
            </a:endParaRPr>
          </a:p>
          <a:p>
            <a:pPr marL="363538" indent="-363538">
              <a:lnSpc>
                <a:spcPct val="100000"/>
              </a:lnSpc>
              <a:buFont typeface="+mj-lt"/>
              <a:buAutoNum type="arabicPeriod"/>
            </a:pPr>
            <a:r>
              <a:rPr lang="en" altLang="zh-CN" sz="2000" b="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return</a:t>
            </a:r>
            <a:r>
              <a:rPr lang="e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 altLang="zh-CN" sz="2000" i="1" dirty="0" err="1">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lang="e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e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US"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en" altLang="zh-CN" sz="2000" i="1" dirty="0" err="1">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queue.rear</a:t>
            </a:r>
            <a:r>
              <a:rPr lang="zh-CN" altLang="en-US"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US"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US"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1)</a:t>
            </a:r>
            <a:r>
              <a:rPr lang="zh-CN" altLang="en-US"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US"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US" altLang="zh-CN" sz="2000" i="1" dirty="0" err="1">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queue.capacity</a:t>
            </a:r>
            <a:r>
              <a:rPr lang="zh-CN" altLang="en-US"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en"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000" dirty="0">
                <a:solidFill>
                  <a:srgbClr val="0070C0"/>
                </a:solidFill>
                <a:latin typeface="Microsoft YaHei Light" panose="020B0502040204020203" pitchFamily="34" charset="-122"/>
                <a:ea typeface="Microsoft YaHei Light" panose="020B0502040204020203" pitchFamily="34" charset="-122"/>
                <a:cs typeface="Times New Roman" panose="02020603050405020304" pitchFamily="18" charset="0"/>
              </a:rPr>
              <a:t>虚指针</a:t>
            </a:r>
            <a:endParaRPr lang="zh-CN" altLang="en-US" sz="2000" dirty="0">
              <a:solidFill>
                <a:srgbClr val="0070C0"/>
              </a:solidFill>
              <a:latin typeface="Microsoft YaHei Light" panose="020B0502040204020203" pitchFamily="34" charset="-122"/>
              <a:ea typeface="Microsoft YaHei Light" panose="020B0502040204020203" pitchFamily="34" charset="-122"/>
            </a:endParaRPr>
          </a:p>
          <a:p>
            <a:pPr marL="363538" indent="-363538">
              <a:lnSpc>
                <a:spcPct val="100000"/>
              </a:lnSpc>
              <a:buFont typeface="+mj-lt"/>
              <a:buAutoNum type="arabicPeriod"/>
            </a:pPr>
            <a:r>
              <a:rPr lang="en-US" altLang="zh-CN" sz="2000"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endParaRPr lang="zh-CN" altLang="en-US" sz="2000" dirty="0">
              <a:latin typeface="Microsoft YaHei Light" panose="020B0502040204020203" pitchFamily="34" charset="-122"/>
              <a:ea typeface="Microsoft YaHei Light" panose="020B0502040204020203" pitchFamily="34" charset="-122"/>
            </a:endParaRPr>
          </a:p>
        </p:txBody>
      </p:sp>
      <p:cxnSp>
        <p:nvCxnSpPr>
          <p:cNvPr id="6" name="直接连接符 6">
            <a:extLst>
              <a:ext uri="{FF2B5EF4-FFF2-40B4-BE49-F238E27FC236}">
                <a16:creationId xmlns:a16="http://schemas.microsoft.com/office/drawing/2014/main" id="{1DC6B08C-4282-453D-FB43-6981DDAC1AED}"/>
              </a:ext>
            </a:extLst>
          </p:cNvPr>
          <p:cNvCxnSpPr/>
          <p:nvPr/>
        </p:nvCxnSpPr>
        <p:spPr>
          <a:xfrm flipH="1">
            <a:off x="642941" y="4503538"/>
            <a:ext cx="600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303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26400A26-38E8-4E4A-AFFC-8D53EF9E0D1A}"/>
              </a:ext>
            </a:extLst>
          </p:cNvPr>
          <p:cNvSpPr>
            <a:spLocks noGrp="1" noChangeArrowheads="1"/>
          </p:cNvSpPr>
          <p:nvPr>
            <p:ph type="title"/>
          </p:nvPr>
        </p:nvSpPr>
        <p:spPr/>
        <p:txBody>
          <a:bodyPr>
            <a:normAutofit/>
          </a:bodyPr>
          <a:lstStyle/>
          <a:p>
            <a:pPr>
              <a:spcBef>
                <a:spcPct val="50000"/>
              </a:spcBef>
              <a:defRPr/>
            </a:pPr>
            <a:r>
              <a:rPr kumimoji="0" sz="2800" dirty="0" err="1"/>
              <a:t>顺序队列的实现</a:t>
            </a:r>
            <a:endParaRPr kumimoji="0" sz="2800" dirty="0"/>
          </a:p>
        </p:txBody>
      </p:sp>
      <p:sp>
        <p:nvSpPr>
          <p:cNvPr id="2" name="副标题 1">
            <a:extLst>
              <a:ext uri="{FF2B5EF4-FFF2-40B4-BE49-F238E27FC236}">
                <a16:creationId xmlns:a16="http://schemas.microsoft.com/office/drawing/2014/main" id="{4B143569-9590-4DEA-BFEB-901A485A680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DE44FFA-0E86-4628-9CFC-9859DB3F3CE8}"/>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8F2CAEE7-C1EE-4BCC-8DDA-59E4C136F8DF}"/>
              </a:ext>
            </a:extLst>
          </p:cNvPr>
          <p:cNvSpPr>
            <a:spLocks noGrp="1" noChangeArrowheads="1"/>
          </p:cNvSpPr>
          <p:nvPr>
            <p:ph idx="11"/>
          </p:nvPr>
        </p:nvSpPr>
        <p:spPr bwMode="auto">
          <a:xfrm>
            <a:off x="763519" y="1920895"/>
            <a:ext cx="10307893"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算法3-7：</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顺序队列的入队操作 EnQueue(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和待入队的元素</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入队后的顺序队列；若队列满，则退出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IsFull(</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队列满，退出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queue.rear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+ 1)%</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循环后继</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F377163B-4E05-44E6-A8CB-934D0ADD9DEB}"/>
              </a:ext>
            </a:extLst>
          </p:cNvPr>
          <p:cNvCxnSpPr>
            <a:cxnSpLocks/>
          </p:cNvCxnSpPr>
          <p:nvPr/>
        </p:nvCxnSpPr>
        <p:spPr>
          <a:xfrm>
            <a:off x="584225" y="186637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12AAF3D3-44FB-4F39-B583-E7DDBBC8C201}"/>
              </a:ext>
            </a:extLst>
          </p:cNvPr>
          <p:cNvCxnSpPr>
            <a:cxnSpLocks/>
          </p:cNvCxnSpPr>
          <p:nvPr/>
        </p:nvCxnSpPr>
        <p:spPr>
          <a:xfrm>
            <a:off x="584225" y="23423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D871DFE-DFFC-4B1B-A570-4B40D09CDD37}"/>
              </a:ext>
            </a:extLst>
          </p:cNvPr>
          <p:cNvCxnSpPr>
            <a:cxnSpLocks/>
          </p:cNvCxnSpPr>
          <p:nvPr/>
        </p:nvCxnSpPr>
        <p:spPr>
          <a:xfrm>
            <a:off x="584225" y="297882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a:extLst>
              <a:ext uri="{FF2B5EF4-FFF2-40B4-BE49-F238E27FC236}">
                <a16:creationId xmlns:a16="http://schemas.microsoft.com/office/drawing/2014/main" id="{B6B628D7-800A-4A8F-8797-40BD85557134}"/>
              </a:ext>
            </a:extLst>
          </p:cNvPr>
          <p:cNvSpPr>
            <a:spLocks noGrp="1" noChangeArrowheads="1"/>
          </p:cNvSpPr>
          <p:nvPr>
            <p:ph type="title"/>
          </p:nvPr>
        </p:nvSpPr>
        <p:spPr/>
        <p:txBody>
          <a:bodyPr>
            <a:normAutofit/>
          </a:bodyPr>
          <a:lstStyle/>
          <a:p>
            <a:pPr>
              <a:spcBef>
                <a:spcPct val="50000"/>
              </a:spcBef>
              <a:defRPr/>
            </a:pPr>
            <a:r>
              <a:rPr kumimoji="0"/>
              <a:t>顺序队列的实现</a:t>
            </a:r>
          </a:p>
        </p:txBody>
      </p:sp>
      <p:sp>
        <p:nvSpPr>
          <p:cNvPr id="2" name="副标题 1">
            <a:extLst>
              <a:ext uri="{FF2B5EF4-FFF2-40B4-BE49-F238E27FC236}">
                <a16:creationId xmlns:a16="http://schemas.microsoft.com/office/drawing/2014/main" id="{7B08A7F8-34B5-4724-81BB-809B65C0B13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FE714D4-841F-4B7A-8899-3CA6FE5B1CFA}"/>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8CC68A48-CCD9-4FFC-83CB-AAD0ADF0A240}"/>
              </a:ext>
            </a:extLst>
          </p:cNvPr>
          <p:cNvSpPr>
            <a:spLocks noGrp="1" noChangeArrowheads="1"/>
          </p:cNvSpPr>
          <p:nvPr>
            <p:ph idx="11"/>
          </p:nvPr>
        </p:nvSpPr>
        <p:spPr bwMode="auto">
          <a:xfrm>
            <a:off x="584225" y="1102216"/>
            <a:ext cx="1137191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顺序队列的查看队首操作 GetFront(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队列的头元素；若队列空，则输出NIL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顺序队列的出队操作 DeQueue(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删除队列头元素后的顺序队列；若队列空，则退出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队列空，退出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lang="en-US" altLang="zh-CN" sz="2000" dirty="0">
              <a:solidFill>
                <a:srgbClr val="000000"/>
              </a:solidFill>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+1)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421F1DF3-1177-4DB0-8356-44CB5DD8A5C8}"/>
              </a:ext>
            </a:extLst>
          </p:cNvPr>
          <p:cNvCxnSpPr>
            <a:cxnSpLocks/>
          </p:cNvCxnSpPr>
          <p:nvPr/>
        </p:nvCxnSpPr>
        <p:spPr>
          <a:xfrm>
            <a:off x="584225" y="105955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8152CFA-F3B8-47F0-93A7-0D9512DA16EB}"/>
              </a:ext>
            </a:extLst>
          </p:cNvPr>
          <p:cNvCxnSpPr>
            <a:cxnSpLocks/>
          </p:cNvCxnSpPr>
          <p:nvPr/>
        </p:nvCxnSpPr>
        <p:spPr>
          <a:xfrm>
            <a:off x="584225" y="153551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665013F-4A19-4B39-95AD-86E2DFFA0C31}"/>
              </a:ext>
            </a:extLst>
          </p:cNvPr>
          <p:cNvCxnSpPr>
            <a:cxnSpLocks/>
          </p:cNvCxnSpPr>
          <p:nvPr/>
        </p:nvCxnSpPr>
        <p:spPr>
          <a:xfrm>
            <a:off x="584225" y="217200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5791891-639B-4022-98B4-611EA6D38DEC}"/>
              </a:ext>
            </a:extLst>
          </p:cNvPr>
          <p:cNvCxnSpPr>
            <a:cxnSpLocks/>
          </p:cNvCxnSpPr>
          <p:nvPr/>
        </p:nvCxnSpPr>
        <p:spPr>
          <a:xfrm>
            <a:off x="584225" y="395066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D0467C8-D216-4DDC-9BE7-8726D3290A0D}"/>
              </a:ext>
            </a:extLst>
          </p:cNvPr>
          <p:cNvCxnSpPr>
            <a:cxnSpLocks/>
          </p:cNvCxnSpPr>
          <p:nvPr/>
        </p:nvCxnSpPr>
        <p:spPr>
          <a:xfrm>
            <a:off x="584225" y="44266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55D2A7D-0F71-4673-928D-7294A1AB6571}"/>
              </a:ext>
            </a:extLst>
          </p:cNvPr>
          <p:cNvCxnSpPr>
            <a:cxnSpLocks/>
          </p:cNvCxnSpPr>
          <p:nvPr/>
        </p:nvCxnSpPr>
        <p:spPr>
          <a:xfrm>
            <a:off x="584225" y="506311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a:extLst>
              <a:ext uri="{FF2B5EF4-FFF2-40B4-BE49-F238E27FC236}">
                <a16:creationId xmlns:a16="http://schemas.microsoft.com/office/drawing/2014/main" id="{7EEE2F52-8087-41A4-9DF6-AFAFBE68C12C}"/>
              </a:ext>
            </a:extLst>
          </p:cNvPr>
          <p:cNvSpPr>
            <a:spLocks noGrp="1" noChangeArrowheads="1"/>
          </p:cNvSpPr>
          <p:nvPr>
            <p:ph type="title"/>
          </p:nvPr>
        </p:nvSpPr>
        <p:spPr/>
        <p:txBody>
          <a:bodyPr>
            <a:normAutofit/>
          </a:bodyPr>
          <a:lstStyle/>
          <a:p>
            <a:pPr>
              <a:spcBef>
                <a:spcPct val="50000"/>
              </a:spcBef>
              <a:defRPr/>
            </a:pPr>
            <a:r>
              <a:rPr kumimoji="0"/>
              <a:t>链式队列</a:t>
            </a:r>
          </a:p>
        </p:txBody>
      </p:sp>
      <p:sp>
        <p:nvSpPr>
          <p:cNvPr id="2" name="副标题 1">
            <a:extLst>
              <a:ext uri="{FF2B5EF4-FFF2-40B4-BE49-F238E27FC236}">
                <a16:creationId xmlns:a16="http://schemas.microsoft.com/office/drawing/2014/main" id="{F1DB6CF0-80EA-454B-A6A9-C0FA8A8D5157}"/>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B3ECD88-5CAC-4457-A3DB-F9580E452779}"/>
              </a:ext>
            </a:extLst>
          </p:cNvPr>
          <p:cNvSpPr>
            <a:spLocks noGrp="1"/>
          </p:cNvSpPr>
          <p:nvPr>
            <p:ph type="body" idx="10"/>
          </p:nvPr>
        </p:nvSpPr>
        <p:spPr/>
        <p:txBody>
          <a:bodyPr/>
          <a:lstStyle/>
          <a:p>
            <a:endParaRPr lang="zh-CN" altLang="en-US"/>
          </a:p>
        </p:txBody>
      </p:sp>
      <p:sp>
        <p:nvSpPr>
          <p:cNvPr id="60419" name="内容占位符 2">
            <a:extLst>
              <a:ext uri="{FF2B5EF4-FFF2-40B4-BE49-F238E27FC236}">
                <a16:creationId xmlns:a16="http://schemas.microsoft.com/office/drawing/2014/main" id="{04BF5427-9C67-43D5-B276-A3D30C48E49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dirty="0">
                <a:solidFill>
                  <a:srgbClr val="0000FF"/>
                </a:solidFill>
                <a:latin typeface="微软雅黑" panose="020B0503020204020204" pitchFamily="34" charset="-122"/>
              </a:rPr>
              <a:t>单链表</a:t>
            </a:r>
            <a:r>
              <a:rPr lang="zh-CN" altLang="zh-CN" dirty="0">
                <a:latin typeface="微软雅黑" panose="020B0503020204020204" pitchFamily="34" charset="-122"/>
              </a:rPr>
              <a:t>队列 </a:t>
            </a:r>
          </a:p>
          <a:p>
            <a:pPr marL="341313" indent="-341313">
              <a:lnSpc>
                <a:spcPct val="105000"/>
              </a:lnSpc>
            </a:pPr>
            <a:r>
              <a:rPr lang="zh-CN" altLang="zh-CN" dirty="0">
                <a:latin typeface="微软雅黑" panose="020B0503020204020204" pitchFamily="34" charset="-122"/>
              </a:rPr>
              <a:t>链接指针的方向是从队</a:t>
            </a:r>
            <a:r>
              <a:rPr lang="zh-CN" altLang="zh-CN" dirty="0">
                <a:solidFill>
                  <a:srgbClr val="0000FF"/>
                </a:solidFill>
                <a:latin typeface="微软雅黑" panose="020B0503020204020204" pitchFamily="34" charset="-122"/>
              </a:rPr>
              <a:t>队头</a:t>
            </a:r>
            <a:r>
              <a:rPr lang="zh-CN" altLang="zh-CN" dirty="0">
                <a:latin typeface="微软雅黑" panose="020B0503020204020204" pitchFamily="34" charset="-122"/>
              </a:rPr>
              <a:t>到</a:t>
            </a:r>
            <a:r>
              <a:rPr lang="zh-CN" altLang="zh-CN" dirty="0">
                <a:solidFill>
                  <a:srgbClr val="0000FF"/>
                </a:solidFill>
                <a:latin typeface="微软雅黑" panose="020B0503020204020204" pitchFamily="34" charset="-122"/>
              </a:rPr>
              <a:t>队尾</a:t>
            </a:r>
            <a:endParaRPr lang="zh-CN" altLang="zh-CN" dirty="0">
              <a:latin typeface="微软雅黑" panose="020B0503020204020204" pitchFamily="34" charset="-122"/>
            </a:endParaRPr>
          </a:p>
        </p:txBody>
      </p:sp>
      <p:sp>
        <p:nvSpPr>
          <p:cNvPr id="8" name="Text Box 7">
            <a:extLst>
              <a:ext uri="{FF2B5EF4-FFF2-40B4-BE49-F238E27FC236}">
                <a16:creationId xmlns:a16="http://schemas.microsoft.com/office/drawing/2014/main" id="{F4D27B28-4765-6D45-ADC8-77A146681115}"/>
              </a:ext>
            </a:extLst>
          </p:cNvPr>
          <p:cNvSpPr txBox="1">
            <a:spLocks noChangeArrowheads="1"/>
          </p:cNvSpPr>
          <p:nvPr/>
        </p:nvSpPr>
        <p:spPr bwMode="auto">
          <a:xfrm>
            <a:off x="6337300" y="5033963"/>
            <a:ext cx="1038225" cy="420687"/>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2</a:t>
            </a:r>
            <a:r>
              <a:rPr kumimoji="1" lang="en-US" altLang="zh-CN" sz="2133" b="1" dirty="0">
                <a:latin typeface="Calibri" panose="020F0502020204030204" pitchFamily="34" charset="0"/>
                <a:ea typeface="微软雅黑" pitchFamily="34" charset="-122"/>
              </a:rPr>
              <a:t>         </a:t>
            </a:r>
          </a:p>
        </p:txBody>
      </p:sp>
      <p:sp>
        <p:nvSpPr>
          <p:cNvPr id="9" name="Line 23">
            <a:extLst>
              <a:ext uri="{FF2B5EF4-FFF2-40B4-BE49-F238E27FC236}">
                <a16:creationId xmlns:a16="http://schemas.microsoft.com/office/drawing/2014/main" id="{5572043F-4245-2648-8DDD-A2DF785E4D98}"/>
              </a:ext>
            </a:extLst>
          </p:cNvPr>
          <p:cNvSpPr>
            <a:spLocks noChangeShapeType="1"/>
          </p:cNvSpPr>
          <p:nvPr/>
        </p:nvSpPr>
        <p:spPr bwMode="auto">
          <a:xfrm>
            <a:off x="6900863" y="501650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0" name="Text Box 7">
            <a:extLst>
              <a:ext uri="{FF2B5EF4-FFF2-40B4-BE49-F238E27FC236}">
                <a16:creationId xmlns:a16="http://schemas.microsoft.com/office/drawing/2014/main" id="{6D740707-6058-7148-8969-ED615C5B2CD8}"/>
              </a:ext>
            </a:extLst>
          </p:cNvPr>
          <p:cNvSpPr txBox="1">
            <a:spLocks noChangeArrowheads="1"/>
          </p:cNvSpPr>
          <p:nvPr/>
        </p:nvSpPr>
        <p:spPr bwMode="auto">
          <a:xfrm>
            <a:off x="4965700" y="5041900"/>
            <a:ext cx="1038225" cy="420688"/>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1</a:t>
            </a:r>
            <a:r>
              <a:rPr kumimoji="1" lang="en-US" altLang="zh-CN" sz="2133" b="1" dirty="0">
                <a:latin typeface="Calibri" panose="020F0502020204030204" pitchFamily="34" charset="0"/>
                <a:ea typeface="微软雅黑" pitchFamily="34" charset="-122"/>
              </a:rPr>
              <a:t>         </a:t>
            </a:r>
          </a:p>
        </p:txBody>
      </p:sp>
      <p:sp>
        <p:nvSpPr>
          <p:cNvPr id="11" name="Line 23">
            <a:extLst>
              <a:ext uri="{FF2B5EF4-FFF2-40B4-BE49-F238E27FC236}">
                <a16:creationId xmlns:a16="http://schemas.microsoft.com/office/drawing/2014/main" id="{339E4B78-31B8-1D48-8A71-80DBEF7D667A}"/>
              </a:ext>
            </a:extLst>
          </p:cNvPr>
          <p:cNvSpPr>
            <a:spLocks noChangeShapeType="1"/>
          </p:cNvSpPr>
          <p:nvPr/>
        </p:nvSpPr>
        <p:spPr bwMode="auto">
          <a:xfrm>
            <a:off x="5516563" y="5037138"/>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24" name="Text Box 6">
            <a:extLst>
              <a:ext uri="{FF2B5EF4-FFF2-40B4-BE49-F238E27FC236}">
                <a16:creationId xmlns:a16="http://schemas.microsoft.com/office/drawing/2014/main" id="{F50633C9-21D6-48C3-BFD3-4E6094724B36}"/>
              </a:ext>
            </a:extLst>
          </p:cNvPr>
          <p:cNvSpPr txBox="1">
            <a:spLocks noChangeArrowheads="1"/>
          </p:cNvSpPr>
          <p:nvPr/>
        </p:nvSpPr>
        <p:spPr bwMode="auto">
          <a:xfrm>
            <a:off x="3576638" y="4249738"/>
            <a:ext cx="677862" cy="460375"/>
          </a:xfrm>
          <a:prstGeom prst="rect">
            <a:avLst/>
          </a:prstGeom>
          <a:solidFill>
            <a:srgbClr val="FFFFFF"/>
          </a:solidFill>
          <a:ln w="38100">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Calibri" panose="020F0502020204030204" pitchFamily="34" charset="0"/>
                <a:ea typeface="微软雅黑" panose="020B0503020204020204" pitchFamily="34" charset="-122"/>
                <a:cs typeface="华文细黑" panose="02010600040101010101" pitchFamily="2" charset="-122"/>
              </a:rPr>
              <a:t>          </a:t>
            </a:r>
          </a:p>
        </p:txBody>
      </p:sp>
      <p:sp>
        <p:nvSpPr>
          <p:cNvPr id="13" name="Text Box 7">
            <a:extLst>
              <a:ext uri="{FF2B5EF4-FFF2-40B4-BE49-F238E27FC236}">
                <a16:creationId xmlns:a16="http://schemas.microsoft.com/office/drawing/2014/main" id="{E97D0EB9-CBE0-6F45-B459-3CC61767C4EA}"/>
              </a:ext>
            </a:extLst>
          </p:cNvPr>
          <p:cNvSpPr txBox="1">
            <a:spLocks noChangeArrowheads="1"/>
          </p:cNvSpPr>
          <p:nvPr/>
        </p:nvSpPr>
        <p:spPr bwMode="auto">
          <a:xfrm>
            <a:off x="3589338" y="5040313"/>
            <a:ext cx="1036637" cy="420687"/>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0</a:t>
            </a:r>
            <a:r>
              <a:rPr kumimoji="1" lang="en-US" altLang="zh-CN" sz="2133" b="1" dirty="0">
                <a:latin typeface="Calibri" panose="020F0502020204030204" pitchFamily="34" charset="0"/>
                <a:ea typeface="微软雅黑" pitchFamily="34" charset="-122"/>
              </a:rPr>
              <a:t>         </a:t>
            </a:r>
          </a:p>
        </p:txBody>
      </p:sp>
      <p:sp>
        <p:nvSpPr>
          <p:cNvPr id="14" name="Line 11">
            <a:extLst>
              <a:ext uri="{FF2B5EF4-FFF2-40B4-BE49-F238E27FC236}">
                <a16:creationId xmlns:a16="http://schemas.microsoft.com/office/drawing/2014/main" id="{32B9DBE7-33FD-7F48-B2E3-945E55D422B0}"/>
              </a:ext>
            </a:extLst>
          </p:cNvPr>
          <p:cNvSpPr>
            <a:spLocks noChangeShapeType="1"/>
          </p:cNvSpPr>
          <p:nvPr/>
        </p:nvSpPr>
        <p:spPr bwMode="auto">
          <a:xfrm>
            <a:off x="4441825" y="5216525"/>
            <a:ext cx="52070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5" name="Line 12">
            <a:extLst>
              <a:ext uri="{FF2B5EF4-FFF2-40B4-BE49-F238E27FC236}">
                <a16:creationId xmlns:a16="http://schemas.microsoft.com/office/drawing/2014/main" id="{456F90FC-9291-9C4C-95BC-F55B82289D95}"/>
              </a:ext>
            </a:extLst>
          </p:cNvPr>
          <p:cNvSpPr>
            <a:spLocks noChangeShapeType="1"/>
          </p:cNvSpPr>
          <p:nvPr/>
        </p:nvSpPr>
        <p:spPr bwMode="auto">
          <a:xfrm>
            <a:off x="5851525" y="5216525"/>
            <a:ext cx="492125"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6" name="Line 13">
            <a:extLst>
              <a:ext uri="{FF2B5EF4-FFF2-40B4-BE49-F238E27FC236}">
                <a16:creationId xmlns:a16="http://schemas.microsoft.com/office/drawing/2014/main" id="{ED224758-0707-8844-BE34-D3C2F093C615}"/>
              </a:ext>
            </a:extLst>
          </p:cNvPr>
          <p:cNvSpPr>
            <a:spLocks noChangeShapeType="1"/>
          </p:cNvSpPr>
          <p:nvPr/>
        </p:nvSpPr>
        <p:spPr bwMode="auto">
          <a:xfrm>
            <a:off x="7267575" y="5216525"/>
            <a:ext cx="56515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7" name="Line 14">
            <a:extLst>
              <a:ext uri="{FF2B5EF4-FFF2-40B4-BE49-F238E27FC236}">
                <a16:creationId xmlns:a16="http://schemas.microsoft.com/office/drawing/2014/main" id="{7490582F-2DD7-AF40-B4AF-C1E9104487F4}"/>
              </a:ext>
            </a:extLst>
          </p:cNvPr>
          <p:cNvSpPr>
            <a:spLocks noChangeShapeType="1"/>
          </p:cNvSpPr>
          <p:nvPr/>
        </p:nvSpPr>
        <p:spPr bwMode="auto">
          <a:xfrm>
            <a:off x="8542338" y="5249863"/>
            <a:ext cx="45720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30" name="Text Box 15">
            <a:extLst>
              <a:ext uri="{FF2B5EF4-FFF2-40B4-BE49-F238E27FC236}">
                <a16:creationId xmlns:a16="http://schemas.microsoft.com/office/drawing/2014/main" id="{54B0D01B-8FE6-406B-95C9-78306F7370DA}"/>
              </a:ext>
            </a:extLst>
          </p:cNvPr>
          <p:cNvSpPr txBox="1">
            <a:spLocks noChangeArrowheads="1"/>
          </p:cNvSpPr>
          <p:nvPr/>
        </p:nvSpPr>
        <p:spPr bwMode="auto">
          <a:xfrm>
            <a:off x="7805738" y="5019675"/>
            <a:ext cx="719137" cy="4000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latin typeface="华文细黑" panose="02010600040101010101" pitchFamily="2" charset="-122"/>
                <a:ea typeface="华文细黑" panose="02010600040101010101" pitchFamily="2" charset="-122"/>
              </a:rPr>
              <a:t>…</a:t>
            </a:r>
          </a:p>
        </p:txBody>
      </p:sp>
      <p:sp>
        <p:nvSpPr>
          <p:cNvPr id="60431" name="Text Box 16">
            <a:extLst>
              <a:ext uri="{FF2B5EF4-FFF2-40B4-BE49-F238E27FC236}">
                <a16:creationId xmlns:a16="http://schemas.microsoft.com/office/drawing/2014/main" id="{31370BE5-EECC-4BCB-B552-1BC2D47B6492}"/>
              </a:ext>
            </a:extLst>
          </p:cNvPr>
          <p:cNvSpPr txBox="1">
            <a:spLocks noChangeArrowheads="1"/>
          </p:cNvSpPr>
          <p:nvPr/>
        </p:nvSpPr>
        <p:spPr bwMode="auto">
          <a:xfrm>
            <a:off x="3576638" y="3787775"/>
            <a:ext cx="677862" cy="461963"/>
          </a:xfrm>
          <a:prstGeom prst="rect">
            <a:avLst/>
          </a:prstGeom>
          <a:solidFill>
            <a:srgbClr val="FFFFFF"/>
          </a:solidFill>
          <a:ln w="38100">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Calibri" panose="020F0502020204030204" pitchFamily="34" charset="0"/>
                <a:ea typeface="微软雅黑" panose="020B0503020204020204" pitchFamily="34" charset="-122"/>
                <a:cs typeface="华文细黑" panose="02010600040101010101" pitchFamily="2" charset="-122"/>
              </a:rPr>
              <a:t>          </a:t>
            </a:r>
          </a:p>
        </p:txBody>
      </p:sp>
      <p:sp>
        <p:nvSpPr>
          <p:cNvPr id="20" name="Line 17">
            <a:extLst>
              <a:ext uri="{FF2B5EF4-FFF2-40B4-BE49-F238E27FC236}">
                <a16:creationId xmlns:a16="http://schemas.microsoft.com/office/drawing/2014/main" id="{F66B799F-05AB-574C-ABC1-8F7A1D55E4CB}"/>
              </a:ext>
            </a:extLst>
          </p:cNvPr>
          <p:cNvSpPr>
            <a:spLocks noChangeShapeType="1"/>
          </p:cNvSpPr>
          <p:nvPr/>
        </p:nvSpPr>
        <p:spPr bwMode="auto">
          <a:xfrm flipV="1">
            <a:off x="3946525" y="4471988"/>
            <a:ext cx="5613400" cy="7937"/>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cxnSp>
        <p:nvCxnSpPr>
          <p:cNvPr id="60433" name="AutoShape 19">
            <a:extLst>
              <a:ext uri="{FF2B5EF4-FFF2-40B4-BE49-F238E27FC236}">
                <a16:creationId xmlns:a16="http://schemas.microsoft.com/office/drawing/2014/main" id="{58C10524-18E9-4B71-A0C2-5437DA5ACC8D}"/>
              </a:ext>
            </a:extLst>
          </p:cNvPr>
          <p:cNvCxnSpPr>
            <a:cxnSpLocks noChangeShapeType="1"/>
            <a:endCxn id="13" idx="1"/>
          </p:cNvCxnSpPr>
          <p:nvPr/>
        </p:nvCxnSpPr>
        <p:spPr bwMode="auto">
          <a:xfrm rot="5400000">
            <a:off x="3135313" y="4519613"/>
            <a:ext cx="1184275" cy="276225"/>
          </a:xfrm>
          <a:prstGeom prst="bentConnector4">
            <a:avLst>
              <a:gd name="adj1" fmla="val -1454"/>
              <a:gd name="adj2" fmla="val 513069"/>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 name="Line 20">
            <a:extLst>
              <a:ext uri="{FF2B5EF4-FFF2-40B4-BE49-F238E27FC236}">
                <a16:creationId xmlns:a16="http://schemas.microsoft.com/office/drawing/2014/main" id="{20FAC611-0634-3740-B811-DF2E82A23EFA}"/>
              </a:ext>
            </a:extLst>
          </p:cNvPr>
          <p:cNvSpPr>
            <a:spLocks noChangeShapeType="1"/>
          </p:cNvSpPr>
          <p:nvPr/>
        </p:nvSpPr>
        <p:spPr bwMode="auto">
          <a:xfrm flipH="1">
            <a:off x="9559925" y="4471988"/>
            <a:ext cx="0" cy="544512"/>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35" name="Text Box 21">
            <a:extLst>
              <a:ext uri="{FF2B5EF4-FFF2-40B4-BE49-F238E27FC236}">
                <a16:creationId xmlns:a16="http://schemas.microsoft.com/office/drawing/2014/main" id="{DDA8D5C5-D317-4EC0-9E28-CF90CE87BCA2}"/>
              </a:ext>
            </a:extLst>
          </p:cNvPr>
          <p:cNvSpPr txBox="1">
            <a:spLocks noChangeArrowheads="1"/>
          </p:cNvSpPr>
          <p:nvPr/>
        </p:nvSpPr>
        <p:spPr bwMode="auto">
          <a:xfrm>
            <a:off x="2640013" y="3487738"/>
            <a:ext cx="1087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a:latin typeface="Calibri" panose="020F0502020204030204" pitchFamily="34" charset="0"/>
                <a:ea typeface="微软雅黑" panose="020B0503020204020204" pitchFamily="34" charset="-122"/>
                <a:cs typeface="华文细黑" panose="02010600040101010101" pitchFamily="2" charset="-122"/>
              </a:rPr>
              <a:t>front</a:t>
            </a:r>
          </a:p>
        </p:txBody>
      </p:sp>
      <p:sp>
        <p:nvSpPr>
          <p:cNvPr id="60436" name="Text Box 22">
            <a:extLst>
              <a:ext uri="{FF2B5EF4-FFF2-40B4-BE49-F238E27FC236}">
                <a16:creationId xmlns:a16="http://schemas.microsoft.com/office/drawing/2014/main" id="{EA1F514A-2D24-41DC-A968-5DE37BACB9E8}"/>
              </a:ext>
            </a:extLst>
          </p:cNvPr>
          <p:cNvSpPr txBox="1">
            <a:spLocks noChangeArrowheads="1"/>
          </p:cNvSpPr>
          <p:nvPr/>
        </p:nvSpPr>
        <p:spPr bwMode="auto">
          <a:xfrm>
            <a:off x="2711450" y="4121150"/>
            <a:ext cx="881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a:latin typeface="Calibri" panose="020F0502020204030204" pitchFamily="34" charset="0"/>
                <a:ea typeface="微软雅黑" panose="020B0503020204020204" pitchFamily="34" charset="-122"/>
                <a:cs typeface="华文细黑" panose="02010600040101010101" pitchFamily="2" charset="-122"/>
              </a:rPr>
              <a:t>rear</a:t>
            </a:r>
          </a:p>
        </p:txBody>
      </p:sp>
      <p:sp>
        <p:nvSpPr>
          <p:cNvPr id="25" name="Line 23">
            <a:extLst>
              <a:ext uri="{FF2B5EF4-FFF2-40B4-BE49-F238E27FC236}">
                <a16:creationId xmlns:a16="http://schemas.microsoft.com/office/drawing/2014/main" id="{4DE78A49-37AE-9346-AFA4-48638B055A81}"/>
              </a:ext>
            </a:extLst>
          </p:cNvPr>
          <p:cNvSpPr>
            <a:spLocks noChangeShapeType="1"/>
          </p:cNvSpPr>
          <p:nvPr/>
        </p:nvSpPr>
        <p:spPr bwMode="auto">
          <a:xfrm>
            <a:off x="4152900" y="502285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26" name="Text Box 7">
            <a:extLst>
              <a:ext uri="{FF2B5EF4-FFF2-40B4-BE49-F238E27FC236}">
                <a16:creationId xmlns:a16="http://schemas.microsoft.com/office/drawing/2014/main" id="{C755A532-E683-D54E-9A85-18CCD4A805FD}"/>
              </a:ext>
            </a:extLst>
          </p:cNvPr>
          <p:cNvSpPr txBox="1">
            <a:spLocks noChangeArrowheads="1"/>
          </p:cNvSpPr>
          <p:nvPr/>
        </p:nvSpPr>
        <p:spPr bwMode="auto">
          <a:xfrm>
            <a:off x="8999538" y="5032375"/>
            <a:ext cx="1211262" cy="420688"/>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n-1</a:t>
            </a:r>
            <a:r>
              <a:rPr kumimoji="1" lang="en-US" altLang="zh-CN" sz="2133" b="1" dirty="0">
                <a:latin typeface="Calibri" panose="020F0502020204030204" pitchFamily="34" charset="0"/>
                <a:ea typeface="微软雅黑" pitchFamily="34" charset="-122"/>
              </a:rPr>
              <a:t>         </a:t>
            </a:r>
          </a:p>
        </p:txBody>
      </p:sp>
      <p:sp>
        <p:nvSpPr>
          <p:cNvPr id="27" name="Line 23">
            <a:extLst>
              <a:ext uri="{FF2B5EF4-FFF2-40B4-BE49-F238E27FC236}">
                <a16:creationId xmlns:a16="http://schemas.microsoft.com/office/drawing/2014/main" id="{6242BDAB-C8C9-8F47-A875-928846F47383}"/>
              </a:ext>
            </a:extLst>
          </p:cNvPr>
          <p:cNvSpPr>
            <a:spLocks noChangeShapeType="1"/>
          </p:cNvSpPr>
          <p:nvPr/>
        </p:nvSpPr>
        <p:spPr bwMode="auto">
          <a:xfrm>
            <a:off x="9559925" y="501650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cxnSp>
        <p:nvCxnSpPr>
          <p:cNvPr id="44059" name="直接连接符 27">
            <a:extLst>
              <a:ext uri="{FF2B5EF4-FFF2-40B4-BE49-F238E27FC236}">
                <a16:creationId xmlns:a16="http://schemas.microsoft.com/office/drawing/2014/main" id="{34C81611-F057-CD45-A361-E79A097A2232}"/>
              </a:ext>
            </a:extLst>
          </p:cNvPr>
          <p:cNvCxnSpPr>
            <a:cxnSpLocks noChangeShapeType="1"/>
            <a:stCxn id="27" idx="0"/>
          </p:cNvCxnSpPr>
          <p:nvPr/>
        </p:nvCxnSpPr>
        <p:spPr bwMode="auto">
          <a:xfrm>
            <a:off x="9559925" y="5016500"/>
            <a:ext cx="658813" cy="4095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6FD5B515-9CEC-485B-85C5-896295C17017}"/>
              </a:ext>
            </a:extLst>
          </p:cNvPr>
          <p:cNvSpPr>
            <a:spLocks noGrp="1" noChangeArrowheads="1"/>
          </p:cNvSpPr>
          <p:nvPr>
            <p:ph type="title"/>
          </p:nvPr>
        </p:nvSpPr>
        <p:spPr/>
        <p:txBody>
          <a:bodyPr>
            <a:normAutofit/>
          </a:bodyPr>
          <a:lstStyle/>
          <a:p>
            <a:pPr>
              <a:spcBef>
                <a:spcPct val="50000"/>
              </a:spcBef>
              <a:defRPr/>
            </a:pPr>
            <a:r>
              <a:rPr kumimoji="0"/>
              <a:t>链式队列的类定义</a:t>
            </a:r>
          </a:p>
        </p:txBody>
      </p:sp>
      <p:sp>
        <p:nvSpPr>
          <p:cNvPr id="2" name="副标题 1">
            <a:extLst>
              <a:ext uri="{FF2B5EF4-FFF2-40B4-BE49-F238E27FC236}">
                <a16:creationId xmlns:a16="http://schemas.microsoft.com/office/drawing/2014/main" id="{0FDC6D24-3C1B-4113-8CE0-B81771367DCC}"/>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8A81FB0-32C0-4431-B033-98FD07446484}"/>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87405587-8E86-46D8-9622-D5F567CA578D}"/>
              </a:ext>
            </a:extLst>
          </p:cNvPr>
          <p:cNvSpPr>
            <a:spLocks noGrp="1" noChangeArrowheads="1"/>
          </p:cNvSpPr>
          <p:nvPr>
            <p:ph idx="11"/>
          </p:nvPr>
        </p:nvSpPr>
        <p:spPr bwMode="auto">
          <a:xfrm>
            <a:off x="678355" y="1843962"/>
            <a:ext cx="1051560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链式队列的初始化 InitQueue(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无</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一个空的链式队列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kumimoji="0" lang="zh-CN" altLang="en-US"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sym typeface="Symbol" panose="05050102010706020507" pitchFamily="18" charset="2"/>
              </a:rPr>
              <a:t></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8" name="直接连接符 7">
            <a:extLst>
              <a:ext uri="{FF2B5EF4-FFF2-40B4-BE49-F238E27FC236}">
                <a16:creationId xmlns:a16="http://schemas.microsoft.com/office/drawing/2014/main" id="{CC0896E7-4E44-462F-8E13-1F569FA9981F}"/>
              </a:ext>
            </a:extLst>
          </p:cNvPr>
          <p:cNvCxnSpPr>
            <a:cxnSpLocks/>
          </p:cNvCxnSpPr>
          <p:nvPr/>
        </p:nvCxnSpPr>
        <p:spPr>
          <a:xfrm>
            <a:off x="624566" y="177224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43E64AF-F262-411B-9E82-3F148E6ACA40}"/>
              </a:ext>
            </a:extLst>
          </p:cNvPr>
          <p:cNvCxnSpPr>
            <a:cxnSpLocks/>
          </p:cNvCxnSpPr>
          <p:nvPr/>
        </p:nvCxnSpPr>
        <p:spPr>
          <a:xfrm>
            <a:off x="624566" y="224820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A22B470-1501-4BEB-82F1-2D31E8CB2ADB}"/>
              </a:ext>
            </a:extLst>
          </p:cNvPr>
          <p:cNvCxnSpPr>
            <a:cxnSpLocks/>
          </p:cNvCxnSpPr>
          <p:nvPr/>
        </p:nvCxnSpPr>
        <p:spPr>
          <a:xfrm>
            <a:off x="624566" y="288469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8EF376B7-1767-4C2E-B1DA-B4CB9F6D2F61}"/>
              </a:ext>
            </a:extLst>
          </p:cNvPr>
          <p:cNvSpPr>
            <a:spLocks noGrp="1" noChangeArrowheads="1"/>
          </p:cNvSpPr>
          <p:nvPr>
            <p:ph type="title"/>
          </p:nvPr>
        </p:nvSpPr>
        <p:spPr/>
        <p:txBody>
          <a:bodyPr>
            <a:normAutofit/>
          </a:bodyPr>
          <a:lstStyle/>
          <a:p>
            <a:pPr>
              <a:spcBef>
                <a:spcPct val="50000"/>
              </a:spcBef>
              <a:defRPr/>
            </a:pPr>
            <a:r>
              <a:rPr kumimoji="0"/>
              <a:t>链式队列的入队</a:t>
            </a:r>
          </a:p>
        </p:txBody>
      </p:sp>
      <p:sp>
        <p:nvSpPr>
          <p:cNvPr id="2" name="副标题 1">
            <a:extLst>
              <a:ext uri="{FF2B5EF4-FFF2-40B4-BE49-F238E27FC236}">
                <a16:creationId xmlns:a16="http://schemas.microsoft.com/office/drawing/2014/main" id="{382A125D-16B0-4E0C-A9B7-59C63D8272C7}"/>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CCE29F6-6674-411C-80DD-103B2C424B3C}"/>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EFD4F9E3-616C-43E1-8300-98FEF45602E3}"/>
              </a:ext>
            </a:extLst>
          </p:cNvPr>
          <p:cNvSpPr>
            <a:spLocks noGrp="1" noChangeArrowheads="1"/>
          </p:cNvSpPr>
          <p:nvPr>
            <p:ph idx="11"/>
          </p:nvPr>
        </p:nvSpPr>
        <p:spPr bwMode="auto">
          <a:xfrm>
            <a:off x="506068" y="1300706"/>
            <a:ext cx="11276081"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链式队列的入队操作 EnQueue(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和待入队的元素</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入队后的链式队列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spcBef>
                <a:spcPts val="600"/>
              </a:spcBef>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new_node.data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new_node.next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//特殊处理插入空队列的情况</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queue.front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queue.rear.next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 queue.rear.next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17EB4753-BB0E-415E-A808-0A6BA1FDA64E}"/>
              </a:ext>
            </a:extLst>
          </p:cNvPr>
          <p:cNvCxnSpPr>
            <a:cxnSpLocks/>
          </p:cNvCxnSpPr>
          <p:nvPr/>
        </p:nvCxnSpPr>
        <p:spPr>
          <a:xfrm>
            <a:off x="584225" y="127470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A08B3E3-B345-4DB0-B403-3C0A5E87F04F}"/>
              </a:ext>
            </a:extLst>
          </p:cNvPr>
          <p:cNvCxnSpPr>
            <a:cxnSpLocks/>
          </p:cNvCxnSpPr>
          <p:nvPr/>
        </p:nvCxnSpPr>
        <p:spPr>
          <a:xfrm>
            <a:off x="584225" y="175066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FD5DE6A-78DD-46C6-A693-F245965C5097}"/>
              </a:ext>
            </a:extLst>
          </p:cNvPr>
          <p:cNvCxnSpPr>
            <a:cxnSpLocks/>
          </p:cNvCxnSpPr>
          <p:nvPr/>
        </p:nvCxnSpPr>
        <p:spPr>
          <a:xfrm>
            <a:off x="584225" y="238715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8926FCF3-703F-4D72-8D06-FCED4B6414E0}"/>
              </a:ext>
            </a:extLst>
          </p:cNvPr>
          <p:cNvSpPr>
            <a:spLocks noGrp="1" noChangeArrowheads="1"/>
          </p:cNvSpPr>
          <p:nvPr>
            <p:ph type="title"/>
          </p:nvPr>
        </p:nvSpPr>
        <p:spPr/>
        <p:txBody>
          <a:bodyPr>
            <a:normAutofit/>
          </a:bodyPr>
          <a:lstStyle/>
          <a:p>
            <a:pPr>
              <a:spcBef>
                <a:spcPct val="50000"/>
              </a:spcBef>
              <a:defRPr/>
            </a:pPr>
            <a:r>
              <a:rPr kumimoji="0"/>
              <a:t>链式队列的出队</a:t>
            </a:r>
          </a:p>
        </p:txBody>
      </p:sp>
      <p:sp>
        <p:nvSpPr>
          <p:cNvPr id="2" name="副标题 1">
            <a:extLst>
              <a:ext uri="{FF2B5EF4-FFF2-40B4-BE49-F238E27FC236}">
                <a16:creationId xmlns:a16="http://schemas.microsoft.com/office/drawing/2014/main" id="{01208AB8-4ED9-4D38-A650-66AFF72745A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C182F-661E-4588-BC91-4A38A67E61EE}"/>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9812C25F-3A8F-4D47-B31D-CD4C8B383D8C}"/>
              </a:ext>
            </a:extLst>
          </p:cNvPr>
          <p:cNvSpPr>
            <a:spLocks noGrp="1" noChangeArrowheads="1"/>
          </p:cNvSpPr>
          <p:nvPr>
            <p:ph idx="11"/>
          </p:nvPr>
        </p:nvSpPr>
        <p:spPr bwMode="auto">
          <a:xfrm>
            <a:off x="624566" y="1502716"/>
            <a:ext cx="999861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算法3-11：</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链式队列的查看队首操作 GetFront(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队首元素；若队列空，则输出NIL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queue.front.data</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69FF7A32-748B-4284-B596-887EC210D9F9}"/>
              </a:ext>
            </a:extLst>
          </p:cNvPr>
          <p:cNvCxnSpPr>
            <a:cxnSpLocks/>
          </p:cNvCxnSpPr>
          <p:nvPr/>
        </p:nvCxnSpPr>
        <p:spPr>
          <a:xfrm>
            <a:off x="624566" y="178569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CB621B4-8CDB-4A64-A078-B1A38162B064}"/>
              </a:ext>
            </a:extLst>
          </p:cNvPr>
          <p:cNvCxnSpPr>
            <a:cxnSpLocks/>
          </p:cNvCxnSpPr>
          <p:nvPr/>
        </p:nvCxnSpPr>
        <p:spPr>
          <a:xfrm>
            <a:off x="624566" y="226165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10088C9-A0F8-465C-BBD6-82C98FA0E421}"/>
              </a:ext>
            </a:extLst>
          </p:cNvPr>
          <p:cNvCxnSpPr>
            <a:cxnSpLocks/>
          </p:cNvCxnSpPr>
          <p:nvPr/>
        </p:nvCxnSpPr>
        <p:spPr>
          <a:xfrm>
            <a:off x="624566" y="289814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8926FCF3-703F-4D72-8D06-FCED4B6414E0}"/>
              </a:ext>
            </a:extLst>
          </p:cNvPr>
          <p:cNvSpPr>
            <a:spLocks noGrp="1" noChangeArrowheads="1"/>
          </p:cNvSpPr>
          <p:nvPr>
            <p:ph type="title"/>
          </p:nvPr>
        </p:nvSpPr>
        <p:spPr/>
        <p:txBody>
          <a:bodyPr>
            <a:normAutofit/>
          </a:bodyPr>
          <a:lstStyle/>
          <a:p>
            <a:pPr>
              <a:spcBef>
                <a:spcPct val="50000"/>
              </a:spcBef>
              <a:defRPr/>
            </a:pPr>
            <a:r>
              <a:rPr kumimoji="0"/>
              <a:t>链式队列的出队</a:t>
            </a:r>
          </a:p>
        </p:txBody>
      </p:sp>
      <p:sp>
        <p:nvSpPr>
          <p:cNvPr id="2" name="副标题 1">
            <a:extLst>
              <a:ext uri="{FF2B5EF4-FFF2-40B4-BE49-F238E27FC236}">
                <a16:creationId xmlns:a16="http://schemas.microsoft.com/office/drawing/2014/main" id="{01208AB8-4ED9-4D38-A650-66AFF72745A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C182F-661E-4588-BC91-4A38A67E61EE}"/>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9812C25F-3A8F-4D47-B31D-CD4C8B383D8C}"/>
              </a:ext>
            </a:extLst>
          </p:cNvPr>
          <p:cNvSpPr>
            <a:spLocks noGrp="1" noChangeArrowheads="1"/>
          </p:cNvSpPr>
          <p:nvPr>
            <p:ph idx="11"/>
          </p:nvPr>
        </p:nvSpPr>
        <p:spPr bwMode="auto">
          <a:xfrm>
            <a:off x="584225" y="1373803"/>
            <a:ext cx="9998610"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算法3-12：</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链式队列的出队操作 DeQueue(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删除队首元素后的链式队列；若队列空，则退出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队列空，退出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temp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queue.front.next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delete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temp</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- 1</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 </a:t>
            </a:r>
            <a:r>
              <a:rPr kumimoji="0" lang="en-US"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en-US"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特殊处理删除后变为空的队列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69FF7A32-748B-4284-B596-887EC210D9F9}"/>
              </a:ext>
            </a:extLst>
          </p:cNvPr>
          <p:cNvCxnSpPr>
            <a:cxnSpLocks/>
          </p:cNvCxnSpPr>
          <p:nvPr/>
        </p:nvCxnSpPr>
        <p:spPr>
          <a:xfrm>
            <a:off x="584225" y="169156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CB621B4-8CDB-4A64-A078-B1A38162B064}"/>
              </a:ext>
            </a:extLst>
          </p:cNvPr>
          <p:cNvCxnSpPr>
            <a:cxnSpLocks/>
          </p:cNvCxnSpPr>
          <p:nvPr/>
        </p:nvCxnSpPr>
        <p:spPr>
          <a:xfrm>
            <a:off x="584225" y="211373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10088C9-A0F8-465C-BBD6-82C98FA0E421}"/>
              </a:ext>
            </a:extLst>
          </p:cNvPr>
          <p:cNvCxnSpPr>
            <a:cxnSpLocks/>
          </p:cNvCxnSpPr>
          <p:nvPr/>
        </p:nvCxnSpPr>
        <p:spPr>
          <a:xfrm>
            <a:off x="584225" y="2777119"/>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686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a:extLst>
              <a:ext uri="{FF2B5EF4-FFF2-40B4-BE49-F238E27FC236}">
                <a16:creationId xmlns:a16="http://schemas.microsoft.com/office/drawing/2014/main" id="{E6B2BDE1-8C99-4AAE-9DFF-230445A2269E}"/>
              </a:ext>
            </a:extLst>
          </p:cNvPr>
          <p:cNvSpPr>
            <a:spLocks noGrp="1" noChangeArrowheads="1"/>
          </p:cNvSpPr>
          <p:nvPr>
            <p:ph type="title"/>
          </p:nvPr>
        </p:nvSpPr>
        <p:spPr/>
        <p:txBody>
          <a:bodyPr>
            <a:normAutofit/>
          </a:bodyPr>
          <a:lstStyle/>
          <a:p>
            <a:pPr>
              <a:spcBef>
                <a:spcPct val="50000"/>
              </a:spcBef>
              <a:defRPr/>
            </a:pPr>
            <a:r>
              <a:rPr kumimoji="0"/>
              <a:t>顺序队列 </a:t>
            </a:r>
            <a:r>
              <a:rPr kumimoji="0">
                <a:solidFill>
                  <a:srgbClr val="0432FF"/>
                </a:solidFill>
              </a:rPr>
              <a:t>vs </a:t>
            </a:r>
            <a:r>
              <a:rPr kumimoji="0"/>
              <a:t>链式队列</a:t>
            </a:r>
          </a:p>
        </p:txBody>
      </p:sp>
      <p:sp>
        <p:nvSpPr>
          <p:cNvPr id="2" name="副标题 1">
            <a:extLst>
              <a:ext uri="{FF2B5EF4-FFF2-40B4-BE49-F238E27FC236}">
                <a16:creationId xmlns:a16="http://schemas.microsoft.com/office/drawing/2014/main" id="{9B28FB5D-3A96-46A2-A3E8-E0D319AE6FC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0F43BA6-378D-4CC0-9A0F-6C8781BF4C2A}"/>
              </a:ext>
            </a:extLst>
          </p:cNvPr>
          <p:cNvSpPr>
            <a:spLocks noGrp="1"/>
          </p:cNvSpPr>
          <p:nvPr>
            <p:ph type="body" idx="10"/>
          </p:nvPr>
        </p:nvSpPr>
        <p:spPr/>
        <p:txBody>
          <a:bodyPr/>
          <a:lstStyle/>
          <a:p>
            <a:endParaRPr lang="zh-CN" altLang="en-US"/>
          </a:p>
        </p:txBody>
      </p:sp>
      <p:sp>
        <p:nvSpPr>
          <p:cNvPr id="64515" name="内容占位符 2">
            <a:extLst>
              <a:ext uri="{FF2B5EF4-FFF2-40B4-BE49-F238E27FC236}">
                <a16:creationId xmlns:a16="http://schemas.microsoft.com/office/drawing/2014/main" id="{AE32394F-7993-4880-BDFB-E985E66B699E}"/>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sz="2800" dirty="0">
                <a:latin typeface="Microsoft YaHei Light" panose="020B0502040204020203" pitchFamily="34" charset="-122"/>
                <a:ea typeface="Microsoft YaHei Light" panose="020B0502040204020203" pitchFamily="34" charset="-122"/>
              </a:rPr>
              <a:t>顺序队列  </a:t>
            </a:r>
          </a:p>
          <a:p>
            <a:pPr marL="714375" lvl="1" indent="-369888">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固定的</a:t>
            </a:r>
            <a:r>
              <a:rPr lang="zh-CN" altLang="zh-CN" dirty="0">
                <a:latin typeface="Microsoft YaHei Light" panose="020B0502040204020203" pitchFamily="34" charset="-122"/>
                <a:ea typeface="Microsoft YaHei Light" panose="020B0502040204020203" pitchFamily="34" charset="-122"/>
              </a:rPr>
              <a:t>存储空间</a:t>
            </a:r>
            <a:endParaRPr lang="en-US" altLang="zh-CN" dirty="0">
              <a:latin typeface="Microsoft YaHei Light" panose="020B0502040204020203" pitchFamily="34" charset="-122"/>
              <a:ea typeface="Microsoft YaHei Light" panose="020B0502040204020203" pitchFamily="34" charset="-122"/>
            </a:endParaRPr>
          </a:p>
          <a:p>
            <a:pPr marL="341313" indent="-341313">
              <a:buClr>
                <a:srgbClr val="CC3300"/>
              </a:buClr>
            </a:pPr>
            <a:endParaRPr lang="zh-CN" altLang="zh-CN" sz="1800" dirty="0">
              <a:latin typeface="Microsoft YaHei Light" panose="020B0502040204020203" pitchFamily="34" charset="-122"/>
              <a:ea typeface="Microsoft YaHei Light" panose="020B0502040204020203" pitchFamily="34" charset="-122"/>
            </a:endParaRPr>
          </a:p>
          <a:p>
            <a:pPr marL="341313" indent="-341313"/>
            <a:r>
              <a:rPr lang="zh-CN" altLang="zh-CN" sz="2800" dirty="0">
                <a:latin typeface="Microsoft YaHei Light" panose="020B0502040204020203" pitchFamily="34" charset="-122"/>
                <a:ea typeface="Microsoft YaHei Light" panose="020B0502040204020203" pitchFamily="34" charset="-122"/>
              </a:rPr>
              <a:t>链式队列</a:t>
            </a:r>
          </a:p>
          <a:p>
            <a:pPr marL="714375" lvl="1" indent="-369888">
              <a:buClr>
                <a:srgbClr val="CC3300"/>
              </a:buClr>
            </a:pPr>
            <a:r>
              <a:rPr lang="zh-CN" altLang="zh-CN" dirty="0">
                <a:latin typeface="Microsoft YaHei Light" panose="020B0502040204020203" pitchFamily="34" charset="-122"/>
                <a:ea typeface="Microsoft YaHei Light" panose="020B0502040204020203" pitchFamily="34" charset="-122"/>
              </a:rPr>
              <a:t>可以满足浪涌</a:t>
            </a:r>
            <a:r>
              <a:rPr lang="zh-CN" altLang="zh-CN" dirty="0">
                <a:solidFill>
                  <a:srgbClr val="C00000"/>
                </a:solidFill>
                <a:latin typeface="Microsoft YaHei Light" panose="020B0502040204020203" pitchFamily="34" charset="-122"/>
                <a:ea typeface="Microsoft YaHei Light" panose="020B0502040204020203" pitchFamily="34" charset="-122"/>
              </a:rPr>
              <a:t>大小无法估计</a:t>
            </a:r>
            <a:r>
              <a:rPr lang="zh-CN" altLang="zh-CN" dirty="0">
                <a:latin typeface="Microsoft YaHei Light" panose="020B0502040204020203" pitchFamily="34" charset="-122"/>
                <a:ea typeface="Microsoft YaHei Light" panose="020B0502040204020203" pitchFamily="34" charset="-122"/>
              </a:rPr>
              <a:t>的情况 </a:t>
            </a:r>
          </a:p>
          <a:p>
            <a:pPr marL="341313" indent="-341313"/>
            <a:endParaRPr lang="en-US" altLang="zh-CN" sz="1800" dirty="0">
              <a:latin typeface="Microsoft YaHei Light" panose="020B0502040204020203" pitchFamily="34" charset="-122"/>
              <a:ea typeface="Microsoft YaHei Light" panose="020B0502040204020203" pitchFamily="34" charset="-122"/>
            </a:endParaRPr>
          </a:p>
          <a:p>
            <a:pPr marL="341313" indent="-341313"/>
            <a:r>
              <a:rPr lang="zh-CN" altLang="zh-CN" sz="2800" dirty="0">
                <a:latin typeface="Microsoft YaHei Light" panose="020B0502040204020203" pitchFamily="34" charset="-122"/>
                <a:ea typeface="Microsoft YaHei Light" panose="020B0502040204020203" pitchFamily="34" charset="-122"/>
              </a:rPr>
              <a:t>不允许访问队列内部元素</a:t>
            </a:r>
          </a:p>
          <a:p>
            <a:pPr marL="341313" indent="-341313"/>
            <a:endParaRPr lang="zh-CN" altLang="zh-CN" sz="3200" dirty="0">
              <a:latin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8AAE8C14-8475-41FA-B344-015A9965BDDF}"/>
              </a:ext>
            </a:extLst>
          </p:cNvPr>
          <p:cNvSpPr>
            <a:spLocks noGrp="1" noChangeArrowheads="1"/>
          </p:cNvSpPr>
          <p:nvPr>
            <p:ph type="title"/>
          </p:nvPr>
        </p:nvSpPr>
        <p:spPr/>
        <p:txBody>
          <a:bodyPr>
            <a:normAutofit/>
          </a:bodyPr>
          <a:lstStyle/>
          <a:p>
            <a:pPr>
              <a:spcBef>
                <a:spcPct val="50000"/>
              </a:spcBef>
              <a:defRPr/>
            </a:pPr>
            <a:r>
              <a:rPr kumimoji="0"/>
              <a:t>思考</a:t>
            </a:r>
          </a:p>
        </p:txBody>
      </p:sp>
      <p:sp>
        <p:nvSpPr>
          <p:cNvPr id="2" name="副标题 1">
            <a:extLst>
              <a:ext uri="{FF2B5EF4-FFF2-40B4-BE49-F238E27FC236}">
                <a16:creationId xmlns:a16="http://schemas.microsoft.com/office/drawing/2014/main" id="{F989F7DA-A8C9-443D-A470-04E9B3B5ACE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46FEC26-683F-4F52-9C73-A5BB9A4C1F7D}"/>
              </a:ext>
            </a:extLst>
          </p:cNvPr>
          <p:cNvSpPr>
            <a:spLocks noGrp="1"/>
          </p:cNvSpPr>
          <p:nvPr>
            <p:ph type="body" idx="10"/>
          </p:nvPr>
        </p:nvSpPr>
        <p:spPr/>
        <p:txBody>
          <a:bodyPr/>
          <a:lstStyle/>
          <a:p>
            <a:endParaRPr lang="zh-CN" altLang="en-US"/>
          </a:p>
        </p:txBody>
      </p:sp>
      <p:sp>
        <p:nvSpPr>
          <p:cNvPr id="68611" name="内容占位符 2">
            <a:extLst>
              <a:ext uri="{FF2B5EF4-FFF2-40B4-BE49-F238E27FC236}">
                <a16:creationId xmlns:a16="http://schemas.microsoft.com/office/drawing/2014/main" id="{8B42DF20-59B1-44EA-9A85-E790D83CF07C}"/>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是否可以用</a:t>
            </a:r>
            <a:r>
              <a:rPr lang="zh-CN" altLang="zh-CN" dirty="0">
                <a:solidFill>
                  <a:srgbClr val="0432FF"/>
                </a:solidFill>
                <a:latin typeface="Microsoft YaHei Light" panose="020B0502040204020203" pitchFamily="34" charset="-122"/>
                <a:ea typeface="Microsoft YaHei Light" panose="020B0502040204020203" pitchFamily="34" charset="-122"/>
              </a:rPr>
              <a:t>栈</a:t>
            </a:r>
            <a:r>
              <a:rPr lang="zh-CN" altLang="zh-CN" dirty="0">
                <a:latin typeface="Microsoft YaHei Light" panose="020B0502040204020203" pitchFamily="34" charset="-122"/>
                <a:ea typeface="Microsoft YaHei Light" panose="020B0502040204020203" pitchFamily="34" charset="-122"/>
              </a:rPr>
              <a:t>来</a:t>
            </a:r>
            <a:r>
              <a:rPr lang="zh-CN" altLang="zh-CN" dirty="0">
                <a:solidFill>
                  <a:srgbClr val="C00000"/>
                </a:solidFill>
                <a:latin typeface="Microsoft YaHei Light" panose="020B0502040204020203" pitchFamily="34" charset="-122"/>
                <a:ea typeface="Microsoft YaHei Light" panose="020B0502040204020203" pitchFamily="34" charset="-122"/>
              </a:rPr>
              <a:t>模拟</a:t>
            </a:r>
            <a:r>
              <a:rPr lang="zh-CN" altLang="zh-CN" dirty="0">
                <a:solidFill>
                  <a:srgbClr val="0432FF"/>
                </a:solidFill>
                <a:latin typeface="Microsoft YaHei Light" panose="020B0502040204020203" pitchFamily="34" charset="-122"/>
                <a:ea typeface="Microsoft YaHei Light" panose="020B0502040204020203" pitchFamily="34" charset="-122"/>
              </a:rPr>
              <a:t>队列</a:t>
            </a:r>
            <a:r>
              <a:rPr lang="zh-CN"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若</a:t>
            </a:r>
            <a:r>
              <a:rPr lang="zh-CN" altLang="zh-CN" dirty="0">
                <a:latin typeface="Microsoft YaHei Light" panose="020B0502040204020203" pitchFamily="34" charset="-122"/>
                <a:ea typeface="Microsoft YaHei Light" panose="020B0502040204020203" pitchFamily="34" charset="-122"/>
              </a:rPr>
              <a:t>可以的话，需要几个栈，如何来模拟？</a:t>
            </a:r>
            <a:endParaRPr lang="en-US" altLang="zh-CN"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试利用非数组变量，按下述条件各设计一个相应的算法以使队列中的元素有序：</a:t>
            </a:r>
          </a:p>
          <a:p>
            <a:pPr marL="800100" lvl="1" indent="-457200">
              <a:lnSpc>
                <a:spcPct val="110000"/>
              </a:lnSpc>
              <a:spcBef>
                <a:spcPts val="600"/>
              </a:spcBef>
              <a:buClr>
                <a:srgbClr val="CC3300"/>
              </a:buClr>
              <a:buFont typeface="Garamond" panose="02020404030301010803" pitchFamily="18" charset="0"/>
              <a:buAutoNum type="alphaLcParenR"/>
            </a:pPr>
            <a:r>
              <a:rPr lang="zh-CN" altLang="zh-CN" dirty="0">
                <a:latin typeface="Microsoft YaHei Light" panose="020B0502040204020203" pitchFamily="34" charset="-122"/>
                <a:ea typeface="Microsoft YaHei Light" panose="020B0502040204020203" pitchFamily="34" charset="-122"/>
              </a:rPr>
              <a:t>使用两个辅助的队列；</a:t>
            </a:r>
          </a:p>
          <a:p>
            <a:pPr marL="800100" lvl="1" indent="-457200">
              <a:lnSpc>
                <a:spcPct val="110000"/>
              </a:lnSpc>
              <a:spcBef>
                <a:spcPts val="600"/>
              </a:spcBef>
              <a:buClr>
                <a:srgbClr val="CC3300"/>
              </a:buClr>
              <a:buFont typeface="Garamond" panose="02020404030301010803" pitchFamily="18" charset="0"/>
              <a:buAutoNum type="alphaLcParenR"/>
            </a:pPr>
            <a:r>
              <a:rPr lang="zh-CN" altLang="zh-CN" dirty="0">
                <a:latin typeface="Microsoft YaHei Light" panose="020B0502040204020203" pitchFamily="34" charset="-122"/>
                <a:ea typeface="Microsoft YaHei Light" panose="020B0502040204020203" pitchFamily="34" charset="-122"/>
              </a:rPr>
              <a:t>使用一个辅助的队列。</a:t>
            </a:r>
          </a:p>
        </p:txBody>
      </p:sp>
    </p:spTree>
    <p:extLst>
      <p:ext uri="{BB962C8B-B14F-4D97-AF65-F5344CB8AC3E}">
        <p14:creationId xmlns:p14="http://schemas.microsoft.com/office/powerpoint/2010/main" val="28157747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8AAE8C14-8475-41FA-B344-015A9965BDDF}"/>
              </a:ext>
            </a:extLst>
          </p:cNvPr>
          <p:cNvSpPr>
            <a:spLocks noGrp="1" noChangeArrowheads="1"/>
          </p:cNvSpPr>
          <p:nvPr>
            <p:ph type="title"/>
          </p:nvPr>
        </p:nvSpPr>
        <p:spPr/>
        <p:txBody>
          <a:bodyPr>
            <a:normAutofit/>
          </a:bodyPr>
          <a:lstStyle/>
          <a:p>
            <a:pPr>
              <a:spcBef>
                <a:spcPct val="50000"/>
              </a:spcBef>
              <a:defRPr/>
            </a:pPr>
            <a:r>
              <a:rPr kumimoji="0" dirty="0" err="1"/>
              <a:t>思考</a:t>
            </a:r>
            <a:endParaRPr kumimoji="0" dirty="0"/>
          </a:p>
        </p:txBody>
      </p:sp>
      <p:sp>
        <p:nvSpPr>
          <p:cNvPr id="2" name="副标题 1">
            <a:extLst>
              <a:ext uri="{FF2B5EF4-FFF2-40B4-BE49-F238E27FC236}">
                <a16:creationId xmlns:a16="http://schemas.microsoft.com/office/drawing/2014/main" id="{F989F7DA-A8C9-443D-A470-04E9B3B5ACE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46FEC26-683F-4F52-9C73-A5BB9A4C1F7D}"/>
              </a:ext>
            </a:extLst>
          </p:cNvPr>
          <p:cNvSpPr>
            <a:spLocks noGrp="1"/>
          </p:cNvSpPr>
          <p:nvPr>
            <p:ph type="body" idx="10"/>
          </p:nvPr>
        </p:nvSpPr>
        <p:spPr/>
        <p:txBody>
          <a:bodyPr/>
          <a:lstStyle/>
          <a:p>
            <a:endParaRPr lang="zh-CN" altLang="en-US"/>
          </a:p>
        </p:txBody>
      </p:sp>
      <p:sp>
        <p:nvSpPr>
          <p:cNvPr id="68611" name="内容占位符 2">
            <a:extLst>
              <a:ext uri="{FF2B5EF4-FFF2-40B4-BE49-F238E27FC236}">
                <a16:creationId xmlns:a16="http://schemas.microsoft.com/office/drawing/2014/main" id="{8B42DF20-59B1-44EA-9A85-E790D83CF07C}"/>
              </a:ext>
            </a:extLst>
          </p:cNvPr>
          <p:cNvSpPr>
            <a:spLocks noGrp="1" noChangeArrowheads="1"/>
          </p:cNvSpPr>
          <p:nvPr>
            <p:ph idx="11"/>
          </p:nvPr>
        </p:nvSpPr>
        <p:spPr bwMode="auto">
          <a:xfrm>
            <a:off x="568337" y="1000357"/>
            <a:ext cx="11055325" cy="6281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是否可以用</a:t>
            </a:r>
            <a:r>
              <a:rPr lang="zh-CN" altLang="zh-CN" dirty="0">
                <a:solidFill>
                  <a:srgbClr val="0432FF"/>
                </a:solidFill>
                <a:latin typeface="Microsoft YaHei Light" panose="020B0502040204020203" pitchFamily="34" charset="-122"/>
                <a:ea typeface="Microsoft YaHei Light" panose="020B0502040204020203" pitchFamily="34" charset="-122"/>
              </a:rPr>
              <a:t>栈</a:t>
            </a:r>
            <a:r>
              <a:rPr lang="zh-CN" altLang="zh-CN" dirty="0">
                <a:latin typeface="Microsoft YaHei Light" panose="020B0502040204020203" pitchFamily="34" charset="-122"/>
                <a:ea typeface="Microsoft YaHei Light" panose="020B0502040204020203" pitchFamily="34" charset="-122"/>
              </a:rPr>
              <a:t>来</a:t>
            </a:r>
            <a:r>
              <a:rPr lang="zh-CN" altLang="zh-CN" dirty="0">
                <a:solidFill>
                  <a:srgbClr val="C00000"/>
                </a:solidFill>
                <a:latin typeface="Microsoft YaHei Light" panose="020B0502040204020203" pitchFamily="34" charset="-122"/>
                <a:ea typeface="Microsoft YaHei Light" panose="020B0502040204020203" pitchFamily="34" charset="-122"/>
              </a:rPr>
              <a:t>模拟</a:t>
            </a:r>
            <a:r>
              <a:rPr lang="zh-CN" altLang="zh-CN" dirty="0">
                <a:solidFill>
                  <a:srgbClr val="0432FF"/>
                </a:solidFill>
                <a:latin typeface="Microsoft YaHei Light" panose="020B0502040204020203" pitchFamily="34" charset="-122"/>
                <a:ea typeface="Microsoft YaHei Light" panose="020B0502040204020203" pitchFamily="34" charset="-122"/>
              </a:rPr>
              <a:t>队列</a:t>
            </a:r>
            <a:r>
              <a:rPr lang="zh-CN"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若</a:t>
            </a:r>
            <a:r>
              <a:rPr lang="zh-CN" altLang="zh-CN" dirty="0">
                <a:latin typeface="Microsoft YaHei Light" panose="020B0502040204020203" pitchFamily="34" charset="-122"/>
                <a:ea typeface="Microsoft YaHei Light" panose="020B0502040204020203" pitchFamily="34" charset="-122"/>
              </a:rPr>
              <a:t>可以的话，需要几个栈，如何来模拟？</a:t>
            </a:r>
            <a:endParaRPr lang="en-US" altLang="zh-CN" dirty="0">
              <a:latin typeface="Microsoft YaHei Light" panose="020B0502040204020203" pitchFamily="34" charset="-122"/>
              <a:ea typeface="Microsoft YaHei Light" panose="020B0502040204020203" pitchFamily="34" charset="-122"/>
            </a:endParaRPr>
          </a:p>
          <a:p>
            <a:pPr marL="0" indent="0">
              <a:lnSpc>
                <a:spcPct val="110000"/>
              </a:lnSpc>
              <a:spcBef>
                <a:spcPts val="600"/>
              </a:spcBef>
              <a:buNone/>
            </a:pPr>
            <a:endParaRPr lang="en-US" altLang="zh-CN" dirty="0">
              <a:latin typeface="Microsoft YaHei Light" panose="020B0502040204020203" pitchFamily="34" charset="-122"/>
              <a:ea typeface="Microsoft YaHei Light" panose="020B0502040204020203" pitchFamily="34" charset="-122"/>
            </a:endParaRPr>
          </a:p>
        </p:txBody>
      </p:sp>
      <p:sp>
        <p:nvSpPr>
          <p:cNvPr id="70" name="任意多边形: 形状 69">
            <a:extLst>
              <a:ext uri="{FF2B5EF4-FFF2-40B4-BE49-F238E27FC236}">
                <a16:creationId xmlns:a16="http://schemas.microsoft.com/office/drawing/2014/main" id="{436DB8A6-2A8D-4A83-A579-35AF820C341E}"/>
              </a:ext>
            </a:extLst>
          </p:cNvPr>
          <p:cNvSpPr/>
          <p:nvPr/>
        </p:nvSpPr>
        <p:spPr>
          <a:xfrm>
            <a:off x="3070093" y="1538439"/>
            <a:ext cx="5921542" cy="1049383"/>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r>
              <a:rPr lang="zh-CN" altLang="en-US" sz="2000" kern="1200" dirty="0">
                <a:solidFill>
                  <a:schemeClr val="bg1"/>
                </a:solidFill>
                <a:latin typeface="Microsoft YaHei" panose="020B0503020204020204" pitchFamily="34" charset="-122"/>
                <a:ea typeface="Microsoft YaHei" panose="020B0503020204020204" pitchFamily="34" charset="-122"/>
              </a:rPr>
              <a:t>元素什么时候从左边栈移到右边栈？如何移？</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000" dirty="0">
                <a:solidFill>
                  <a:schemeClr val="bg1"/>
                </a:solidFill>
                <a:latin typeface="Microsoft YaHei" panose="020B0503020204020204" pitchFamily="34" charset="-122"/>
                <a:ea typeface="Microsoft YaHei" panose="020B0503020204020204" pitchFamily="34" charset="-122"/>
              </a:rPr>
              <a:t>队列（栈）的容量是？</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000" kern="1200" dirty="0">
                <a:solidFill>
                  <a:schemeClr val="bg1"/>
                </a:solidFill>
                <a:latin typeface="Microsoft YaHei" panose="020B0503020204020204" pitchFamily="34" charset="-122"/>
                <a:ea typeface="Microsoft YaHei" panose="020B0503020204020204" pitchFamily="34" charset="-122"/>
              </a:rPr>
              <a:t>模拟的时间复杂度？</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grpSp>
        <p:nvGrpSpPr>
          <p:cNvPr id="57350" name="组合 57349">
            <a:extLst>
              <a:ext uri="{FF2B5EF4-FFF2-40B4-BE49-F238E27FC236}">
                <a16:creationId xmlns:a16="http://schemas.microsoft.com/office/drawing/2014/main" id="{38BB0ED3-5905-4B67-B39C-91FAB32C1AC7}"/>
              </a:ext>
            </a:extLst>
          </p:cNvPr>
          <p:cNvGrpSpPr/>
          <p:nvPr/>
        </p:nvGrpSpPr>
        <p:grpSpPr>
          <a:xfrm>
            <a:off x="52527" y="2659304"/>
            <a:ext cx="10925826" cy="3746460"/>
            <a:chOff x="133841" y="2476424"/>
            <a:chExt cx="10925826" cy="3746460"/>
          </a:xfrm>
        </p:grpSpPr>
        <p:sp>
          <p:nvSpPr>
            <p:cNvPr id="4" name="矩形: 圆角 3">
              <a:extLst>
                <a:ext uri="{FF2B5EF4-FFF2-40B4-BE49-F238E27FC236}">
                  <a16:creationId xmlns:a16="http://schemas.microsoft.com/office/drawing/2014/main" id="{CD7E38A3-7214-4A41-9B44-78EF80725DD5}"/>
                </a:ext>
              </a:extLst>
            </p:cNvPr>
            <p:cNvSpPr/>
            <p:nvPr/>
          </p:nvSpPr>
          <p:spPr>
            <a:xfrm>
              <a:off x="1896769" y="3415676"/>
              <a:ext cx="7562088" cy="28072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a:extLst>
                <a:ext uri="{FF2B5EF4-FFF2-40B4-BE49-F238E27FC236}">
                  <a16:creationId xmlns:a16="http://schemas.microsoft.com/office/drawing/2014/main" id="{B2C967B2-DD42-4FEC-A348-510FDA0B4E82}"/>
                </a:ext>
              </a:extLst>
            </p:cNvPr>
            <p:cNvGrpSpPr/>
            <p:nvPr/>
          </p:nvGrpSpPr>
          <p:grpSpPr>
            <a:xfrm>
              <a:off x="5820464" y="3581560"/>
              <a:ext cx="3201555" cy="2536169"/>
              <a:chOff x="6826979" y="2780780"/>
              <a:chExt cx="3930108" cy="3113305"/>
            </a:xfrm>
          </p:grpSpPr>
          <p:sp>
            <p:nvSpPr>
              <p:cNvPr id="27" name="Text Box 14">
                <a:extLst>
                  <a:ext uri="{FF2B5EF4-FFF2-40B4-BE49-F238E27FC236}">
                    <a16:creationId xmlns:a16="http://schemas.microsoft.com/office/drawing/2014/main" id="{CC314845-B755-483C-816E-87E468C1C931}"/>
                  </a:ext>
                </a:extLst>
              </p:cNvPr>
              <p:cNvSpPr txBox="1">
                <a:spLocks noChangeArrowheads="1"/>
              </p:cNvSpPr>
              <p:nvPr/>
            </p:nvSpPr>
            <p:spPr bwMode="auto">
              <a:xfrm>
                <a:off x="8395115" y="2780780"/>
                <a:ext cx="1893856" cy="64228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solidFill>
                    <a:schemeClr val="bg1"/>
                  </a:solidFill>
                  <a:latin typeface="Lucida Fax" charset="0"/>
                  <a:ea typeface="微软雅黑" charset="0"/>
                  <a:cs typeface="微软雅黑" charset="0"/>
                </a:endParaRPr>
              </a:p>
            </p:txBody>
          </p:sp>
          <p:sp>
            <p:nvSpPr>
              <p:cNvPr id="28" name="Text Box 5">
                <a:extLst>
                  <a:ext uri="{FF2B5EF4-FFF2-40B4-BE49-F238E27FC236}">
                    <a16:creationId xmlns:a16="http://schemas.microsoft.com/office/drawing/2014/main" id="{FC207117-3B14-421D-A739-CF9763B69436}"/>
                  </a:ext>
                </a:extLst>
              </p:cNvPr>
              <p:cNvSpPr txBox="1">
                <a:spLocks noChangeArrowheads="1"/>
              </p:cNvSpPr>
              <p:nvPr/>
            </p:nvSpPr>
            <p:spPr bwMode="auto">
              <a:xfrm>
                <a:off x="8395115" y="50604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29" name="Text Box 6">
                <a:extLst>
                  <a:ext uri="{FF2B5EF4-FFF2-40B4-BE49-F238E27FC236}">
                    <a16:creationId xmlns:a16="http://schemas.microsoft.com/office/drawing/2014/main" id="{8E816B44-15DA-4968-83DF-617DEAD12AC7}"/>
                  </a:ext>
                </a:extLst>
              </p:cNvPr>
              <p:cNvSpPr txBox="1">
                <a:spLocks noChangeArrowheads="1"/>
              </p:cNvSpPr>
              <p:nvPr/>
            </p:nvSpPr>
            <p:spPr bwMode="auto">
              <a:xfrm>
                <a:off x="8395115" y="46032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0" name="Text Box 7">
                <a:extLst>
                  <a:ext uri="{FF2B5EF4-FFF2-40B4-BE49-F238E27FC236}">
                    <a16:creationId xmlns:a16="http://schemas.microsoft.com/office/drawing/2014/main" id="{105695EC-F2D2-450F-A00C-90CB3616F75A}"/>
                  </a:ext>
                </a:extLst>
              </p:cNvPr>
              <p:cNvSpPr txBox="1">
                <a:spLocks noChangeArrowheads="1"/>
              </p:cNvSpPr>
              <p:nvPr/>
            </p:nvSpPr>
            <p:spPr bwMode="auto">
              <a:xfrm>
                <a:off x="8395115" y="41460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1" name="Text Box 12">
                <a:extLst>
                  <a:ext uri="{FF2B5EF4-FFF2-40B4-BE49-F238E27FC236}">
                    <a16:creationId xmlns:a16="http://schemas.microsoft.com/office/drawing/2014/main" id="{7AC46FF7-0796-4E2E-9CA2-30D217BAC7F5}"/>
                  </a:ext>
                </a:extLst>
              </p:cNvPr>
              <p:cNvSpPr txBox="1">
                <a:spLocks noChangeArrowheads="1"/>
              </p:cNvSpPr>
              <p:nvPr/>
            </p:nvSpPr>
            <p:spPr bwMode="auto">
              <a:xfrm>
                <a:off x="8395115" y="36888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2" name="Text Box 13">
                <a:extLst>
                  <a:ext uri="{FF2B5EF4-FFF2-40B4-BE49-F238E27FC236}">
                    <a16:creationId xmlns:a16="http://schemas.microsoft.com/office/drawing/2014/main" id="{F963E532-3DCA-4BF2-966C-28789062D757}"/>
                  </a:ext>
                </a:extLst>
              </p:cNvPr>
              <p:cNvSpPr txBox="1">
                <a:spLocks noChangeArrowheads="1"/>
              </p:cNvSpPr>
              <p:nvPr/>
            </p:nvSpPr>
            <p:spPr bwMode="auto">
              <a:xfrm>
                <a:off x="8395115" y="3240716"/>
                <a:ext cx="1893856" cy="566722"/>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400" b="1" dirty="0">
                  <a:solidFill>
                    <a:schemeClr val="bg1"/>
                  </a:solidFill>
                  <a:latin typeface="Lucida Fax" charset="0"/>
                  <a:ea typeface="微软雅黑" charset="0"/>
                  <a:cs typeface="微软雅黑" charset="0"/>
                </a:endParaRPr>
              </a:p>
            </p:txBody>
          </p:sp>
          <p:grpSp>
            <p:nvGrpSpPr>
              <p:cNvPr id="33" name="组合 5">
                <a:extLst>
                  <a:ext uri="{FF2B5EF4-FFF2-40B4-BE49-F238E27FC236}">
                    <a16:creationId xmlns:a16="http://schemas.microsoft.com/office/drawing/2014/main" id="{886E3E80-86CC-4E9D-BBAB-DB91EAD1E3D2}"/>
                  </a:ext>
                </a:extLst>
              </p:cNvPr>
              <p:cNvGrpSpPr>
                <a:grpSpLocks/>
              </p:cNvGrpSpPr>
              <p:nvPr/>
            </p:nvGrpSpPr>
            <p:grpSpPr bwMode="auto">
              <a:xfrm>
                <a:off x="6826979" y="5440707"/>
                <a:ext cx="1466027" cy="453378"/>
                <a:chOff x="2722313" y="5720772"/>
                <a:chExt cx="1466701" cy="453319"/>
              </a:xfrm>
            </p:grpSpPr>
            <p:sp>
              <p:nvSpPr>
                <p:cNvPr id="42" name="Rectangle 8">
                  <a:extLst>
                    <a:ext uri="{FF2B5EF4-FFF2-40B4-BE49-F238E27FC236}">
                      <a16:creationId xmlns:a16="http://schemas.microsoft.com/office/drawing/2014/main" id="{771E1E56-5077-4003-99F7-0F528652D426}"/>
                    </a:ext>
                  </a:extLst>
                </p:cNvPr>
                <p:cNvSpPr>
                  <a:spLocks noChangeArrowheads="1"/>
                </p:cNvSpPr>
                <p:nvPr/>
              </p:nvSpPr>
              <p:spPr bwMode="auto">
                <a:xfrm>
                  <a:off x="2722313" y="5720772"/>
                  <a:ext cx="1248348" cy="45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栈顶</a:t>
                  </a:r>
                  <a:endParaRPr kumimoji="1" lang="en-US" altLang="zh-CN" b="1" dirty="0">
                    <a:solidFill>
                      <a:schemeClr val="bg1"/>
                    </a:solidFill>
                    <a:latin typeface="Lucida Fax" charset="0"/>
                    <a:ea typeface="微软雅黑" charset="0"/>
                    <a:cs typeface="微软雅黑" charset="0"/>
                  </a:endParaRPr>
                </a:p>
              </p:txBody>
            </p:sp>
            <p:sp>
              <p:nvSpPr>
                <p:cNvPr id="43" name="Line 9">
                  <a:extLst>
                    <a:ext uri="{FF2B5EF4-FFF2-40B4-BE49-F238E27FC236}">
                      <a16:creationId xmlns:a16="http://schemas.microsoft.com/office/drawing/2014/main" id="{831BE8F1-64F3-4CA5-8C43-ED2B13982702}"/>
                    </a:ext>
                  </a:extLst>
                </p:cNvPr>
                <p:cNvSpPr>
                  <a:spLocks noChangeShapeType="1"/>
                </p:cNvSpPr>
                <p:nvPr/>
              </p:nvSpPr>
              <p:spPr bwMode="auto">
                <a:xfrm>
                  <a:off x="3450488" y="5901955"/>
                  <a:ext cx="738526" cy="0"/>
                </a:xfrm>
                <a:prstGeom prst="line">
                  <a:avLst/>
                </a:prstGeom>
                <a:noFill/>
                <a:ln w="635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grpSp>
          <p:sp>
            <p:nvSpPr>
              <p:cNvPr id="34" name="Line 9">
                <a:extLst>
                  <a:ext uri="{FF2B5EF4-FFF2-40B4-BE49-F238E27FC236}">
                    <a16:creationId xmlns:a16="http://schemas.microsoft.com/office/drawing/2014/main" id="{08499D38-7601-4425-B1C2-5E806670DCA3}"/>
                  </a:ext>
                </a:extLst>
              </p:cNvPr>
              <p:cNvSpPr>
                <a:spLocks noChangeShapeType="1"/>
              </p:cNvSpPr>
              <p:nvPr/>
            </p:nvSpPr>
            <p:spPr bwMode="auto">
              <a:xfrm>
                <a:off x="7575113" y="5415416"/>
                <a:ext cx="738187" cy="0"/>
              </a:xfrm>
              <a:prstGeom prst="line">
                <a:avLst/>
              </a:prstGeom>
              <a:noFill/>
              <a:ln w="63500">
                <a:solidFill>
                  <a:schemeClr val="accent4">
                    <a:lumMod val="40000"/>
                    <a:lumOff val="6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sp>
            <p:nvSpPr>
              <p:cNvPr id="35" name="Rectangle 8">
                <a:extLst>
                  <a:ext uri="{FF2B5EF4-FFF2-40B4-BE49-F238E27FC236}">
                    <a16:creationId xmlns:a16="http://schemas.microsoft.com/office/drawing/2014/main" id="{E20D1AFB-AA52-4D24-A1B1-80B9A3A291C8}"/>
                  </a:ext>
                </a:extLst>
              </p:cNvPr>
              <p:cNvSpPr>
                <a:spLocks noChangeArrowheads="1"/>
              </p:cNvSpPr>
              <p:nvPr/>
            </p:nvSpPr>
            <p:spPr bwMode="auto">
              <a:xfrm>
                <a:off x="6826979" y="5110769"/>
                <a:ext cx="1247775" cy="45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栈底</a:t>
                </a:r>
                <a:endParaRPr kumimoji="1" lang="en-US" altLang="zh-CN" b="1" dirty="0">
                  <a:solidFill>
                    <a:schemeClr val="bg1"/>
                  </a:solidFill>
                  <a:latin typeface="Lucida Fax" charset="0"/>
                  <a:ea typeface="微软雅黑" charset="0"/>
                  <a:cs typeface="微软雅黑" charset="0"/>
                </a:endParaRPr>
              </a:p>
            </p:txBody>
          </p:sp>
          <p:sp>
            <p:nvSpPr>
              <p:cNvPr id="36" name="文本框 35">
                <a:extLst>
                  <a:ext uri="{FF2B5EF4-FFF2-40B4-BE49-F238E27FC236}">
                    <a16:creationId xmlns:a16="http://schemas.microsoft.com/office/drawing/2014/main" id="{EFC57C83-C4EB-4420-8435-8643E6CB71FD}"/>
                  </a:ext>
                </a:extLst>
              </p:cNvPr>
              <p:cNvSpPr txBox="1"/>
              <p:nvPr/>
            </p:nvSpPr>
            <p:spPr>
              <a:xfrm>
                <a:off x="10371006" y="5208586"/>
                <a:ext cx="386081" cy="491160"/>
              </a:xfrm>
              <a:prstGeom prst="rect">
                <a:avLst/>
              </a:prstGeom>
              <a:noFill/>
            </p:spPr>
            <p:txBody>
              <a:bodyPr wrap="none" rtlCol="0">
                <a:spAutoFit/>
              </a:bodyPr>
              <a:lstStyle/>
              <a:p>
                <a:r>
                  <a:rPr kumimoji="1" lang="en-US" altLang="zh-CN" sz="2000" dirty="0">
                    <a:solidFill>
                      <a:schemeClr val="bg1"/>
                    </a:solidFill>
                  </a:rPr>
                  <a:t>0</a:t>
                </a:r>
                <a:endParaRPr kumimoji="1" lang="zh-CN" altLang="en-US" sz="2000" dirty="0">
                  <a:solidFill>
                    <a:schemeClr val="bg1"/>
                  </a:solidFill>
                </a:endParaRPr>
              </a:p>
            </p:txBody>
          </p:sp>
          <p:sp>
            <p:nvSpPr>
              <p:cNvPr id="37" name="文本框 36">
                <a:extLst>
                  <a:ext uri="{FF2B5EF4-FFF2-40B4-BE49-F238E27FC236}">
                    <a16:creationId xmlns:a16="http://schemas.microsoft.com/office/drawing/2014/main" id="{088D08BA-D893-4332-B896-28B6EBF59746}"/>
                  </a:ext>
                </a:extLst>
              </p:cNvPr>
              <p:cNvSpPr txBox="1"/>
              <p:nvPr/>
            </p:nvSpPr>
            <p:spPr>
              <a:xfrm>
                <a:off x="10371006" y="4713872"/>
                <a:ext cx="386081" cy="491160"/>
              </a:xfrm>
              <a:prstGeom prst="rect">
                <a:avLst/>
              </a:prstGeom>
              <a:noFill/>
            </p:spPr>
            <p:txBody>
              <a:bodyPr wrap="none" rtlCol="0">
                <a:spAutoFit/>
              </a:bodyPr>
              <a:lstStyle/>
              <a:p>
                <a:r>
                  <a:rPr kumimoji="1" lang="en-US" altLang="zh-CN" sz="2000" dirty="0">
                    <a:solidFill>
                      <a:schemeClr val="bg1"/>
                    </a:solidFill>
                  </a:rPr>
                  <a:t>1</a:t>
                </a:r>
                <a:endParaRPr kumimoji="1" lang="zh-CN" altLang="en-US" sz="2000" dirty="0">
                  <a:solidFill>
                    <a:schemeClr val="bg1"/>
                  </a:solidFill>
                </a:endParaRPr>
              </a:p>
            </p:txBody>
          </p:sp>
          <p:sp>
            <p:nvSpPr>
              <p:cNvPr id="38" name="文本框 37">
                <a:extLst>
                  <a:ext uri="{FF2B5EF4-FFF2-40B4-BE49-F238E27FC236}">
                    <a16:creationId xmlns:a16="http://schemas.microsoft.com/office/drawing/2014/main" id="{7AB627E7-E1DA-4DBC-9720-25938131B055}"/>
                  </a:ext>
                </a:extLst>
              </p:cNvPr>
              <p:cNvSpPr txBox="1"/>
              <p:nvPr/>
            </p:nvSpPr>
            <p:spPr>
              <a:xfrm>
                <a:off x="10371006" y="4261362"/>
                <a:ext cx="386081" cy="491160"/>
              </a:xfrm>
              <a:prstGeom prst="rect">
                <a:avLst/>
              </a:prstGeom>
              <a:noFill/>
            </p:spPr>
            <p:txBody>
              <a:bodyPr wrap="none" rtlCol="0">
                <a:spAutoFit/>
              </a:bodyPr>
              <a:lstStyle/>
              <a:p>
                <a:r>
                  <a:rPr kumimoji="1" lang="en-US" altLang="zh-CN" sz="2000" dirty="0">
                    <a:solidFill>
                      <a:schemeClr val="bg1"/>
                    </a:solidFill>
                  </a:rPr>
                  <a:t>2</a:t>
                </a:r>
                <a:endParaRPr kumimoji="1" lang="zh-CN" altLang="en-US" sz="2000" dirty="0">
                  <a:solidFill>
                    <a:schemeClr val="bg1"/>
                  </a:solidFill>
                </a:endParaRPr>
              </a:p>
            </p:txBody>
          </p:sp>
          <p:sp>
            <p:nvSpPr>
              <p:cNvPr id="39" name="文本框 38">
                <a:extLst>
                  <a:ext uri="{FF2B5EF4-FFF2-40B4-BE49-F238E27FC236}">
                    <a16:creationId xmlns:a16="http://schemas.microsoft.com/office/drawing/2014/main" id="{B7640115-1F5F-407C-8A3B-6548FCC8CCCF}"/>
                  </a:ext>
                </a:extLst>
              </p:cNvPr>
              <p:cNvSpPr txBox="1"/>
              <p:nvPr/>
            </p:nvSpPr>
            <p:spPr>
              <a:xfrm>
                <a:off x="10371006" y="3780719"/>
                <a:ext cx="386081" cy="491160"/>
              </a:xfrm>
              <a:prstGeom prst="rect">
                <a:avLst/>
              </a:prstGeom>
              <a:noFill/>
            </p:spPr>
            <p:txBody>
              <a:bodyPr wrap="none" rtlCol="0">
                <a:spAutoFit/>
              </a:bodyPr>
              <a:lstStyle/>
              <a:p>
                <a:r>
                  <a:rPr kumimoji="1" lang="en-US" altLang="zh-CN" sz="2000" dirty="0">
                    <a:solidFill>
                      <a:schemeClr val="bg1"/>
                    </a:solidFill>
                  </a:rPr>
                  <a:t>3</a:t>
                </a:r>
                <a:endParaRPr kumimoji="1" lang="zh-CN" altLang="en-US" sz="2000" dirty="0">
                  <a:solidFill>
                    <a:schemeClr val="bg1"/>
                  </a:solidFill>
                </a:endParaRPr>
              </a:p>
            </p:txBody>
          </p:sp>
          <p:sp>
            <p:nvSpPr>
              <p:cNvPr id="40" name="文本框 39">
                <a:extLst>
                  <a:ext uri="{FF2B5EF4-FFF2-40B4-BE49-F238E27FC236}">
                    <a16:creationId xmlns:a16="http://schemas.microsoft.com/office/drawing/2014/main" id="{565DCDCB-9B5E-4D93-8764-B2ECB995E41D}"/>
                  </a:ext>
                </a:extLst>
              </p:cNvPr>
              <p:cNvSpPr txBox="1"/>
              <p:nvPr/>
            </p:nvSpPr>
            <p:spPr>
              <a:xfrm>
                <a:off x="10371006" y="3328206"/>
                <a:ext cx="386081" cy="491160"/>
              </a:xfrm>
              <a:prstGeom prst="rect">
                <a:avLst/>
              </a:prstGeom>
              <a:noFill/>
            </p:spPr>
            <p:txBody>
              <a:bodyPr wrap="none" rtlCol="0">
                <a:spAutoFit/>
              </a:bodyPr>
              <a:lstStyle/>
              <a:p>
                <a:r>
                  <a:rPr kumimoji="1" lang="en-US" altLang="zh-CN" sz="2000" dirty="0">
                    <a:solidFill>
                      <a:schemeClr val="bg1"/>
                    </a:solidFill>
                  </a:rPr>
                  <a:t>4</a:t>
                </a:r>
                <a:endParaRPr kumimoji="1" lang="zh-CN" altLang="en-US" sz="2000" dirty="0">
                  <a:solidFill>
                    <a:schemeClr val="bg1"/>
                  </a:solidFill>
                </a:endParaRPr>
              </a:p>
            </p:txBody>
          </p:sp>
          <p:sp>
            <p:nvSpPr>
              <p:cNvPr id="41" name="文本框 40">
                <a:extLst>
                  <a:ext uri="{FF2B5EF4-FFF2-40B4-BE49-F238E27FC236}">
                    <a16:creationId xmlns:a16="http://schemas.microsoft.com/office/drawing/2014/main" id="{D1B4BA74-A608-404B-B719-3F62B9E30386}"/>
                  </a:ext>
                </a:extLst>
              </p:cNvPr>
              <p:cNvSpPr txBox="1"/>
              <p:nvPr/>
            </p:nvSpPr>
            <p:spPr>
              <a:xfrm>
                <a:off x="10371006" y="2833493"/>
                <a:ext cx="386081" cy="491160"/>
              </a:xfrm>
              <a:prstGeom prst="rect">
                <a:avLst/>
              </a:prstGeom>
              <a:noFill/>
            </p:spPr>
            <p:txBody>
              <a:bodyPr wrap="none" rtlCol="0">
                <a:spAutoFit/>
              </a:bodyPr>
              <a:lstStyle/>
              <a:p>
                <a:r>
                  <a:rPr kumimoji="1" lang="en-US" altLang="zh-CN" sz="2000" dirty="0">
                    <a:solidFill>
                      <a:schemeClr val="bg1"/>
                    </a:solidFill>
                  </a:rPr>
                  <a:t>5</a:t>
                </a:r>
                <a:endParaRPr kumimoji="1" lang="zh-CN" altLang="en-US" sz="2000" dirty="0">
                  <a:solidFill>
                    <a:schemeClr val="bg1"/>
                  </a:solidFill>
                </a:endParaRPr>
              </a:p>
            </p:txBody>
          </p:sp>
        </p:grpSp>
        <p:grpSp>
          <p:nvGrpSpPr>
            <p:cNvPr id="45" name="组合 44">
              <a:extLst>
                <a:ext uri="{FF2B5EF4-FFF2-40B4-BE49-F238E27FC236}">
                  <a16:creationId xmlns:a16="http://schemas.microsoft.com/office/drawing/2014/main" id="{1A906CA3-9915-4977-8E58-29A8B2510337}"/>
                </a:ext>
              </a:extLst>
            </p:cNvPr>
            <p:cNvGrpSpPr/>
            <p:nvPr/>
          </p:nvGrpSpPr>
          <p:grpSpPr>
            <a:xfrm>
              <a:off x="2165084" y="3568961"/>
              <a:ext cx="3201555" cy="2536169"/>
              <a:chOff x="6826979" y="2780780"/>
              <a:chExt cx="3930108" cy="3113305"/>
            </a:xfrm>
          </p:grpSpPr>
          <p:sp>
            <p:nvSpPr>
              <p:cNvPr id="46" name="Text Box 14">
                <a:extLst>
                  <a:ext uri="{FF2B5EF4-FFF2-40B4-BE49-F238E27FC236}">
                    <a16:creationId xmlns:a16="http://schemas.microsoft.com/office/drawing/2014/main" id="{4693658E-11D7-4B83-9B50-F0B98B36D2C7}"/>
                  </a:ext>
                </a:extLst>
              </p:cNvPr>
              <p:cNvSpPr txBox="1">
                <a:spLocks noChangeArrowheads="1"/>
              </p:cNvSpPr>
              <p:nvPr/>
            </p:nvSpPr>
            <p:spPr bwMode="auto">
              <a:xfrm>
                <a:off x="8395115" y="2780780"/>
                <a:ext cx="1893856" cy="64228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solidFill>
                    <a:schemeClr val="bg1"/>
                  </a:solidFill>
                  <a:latin typeface="Lucida Fax" charset="0"/>
                  <a:ea typeface="微软雅黑" charset="0"/>
                  <a:cs typeface="微软雅黑" charset="0"/>
                </a:endParaRPr>
              </a:p>
            </p:txBody>
          </p:sp>
          <p:sp>
            <p:nvSpPr>
              <p:cNvPr id="47" name="Text Box 5">
                <a:extLst>
                  <a:ext uri="{FF2B5EF4-FFF2-40B4-BE49-F238E27FC236}">
                    <a16:creationId xmlns:a16="http://schemas.microsoft.com/office/drawing/2014/main" id="{7A2BF9EF-DEFC-4405-B731-C69ABA45EF31}"/>
                  </a:ext>
                </a:extLst>
              </p:cNvPr>
              <p:cNvSpPr txBox="1">
                <a:spLocks noChangeArrowheads="1"/>
              </p:cNvSpPr>
              <p:nvPr/>
            </p:nvSpPr>
            <p:spPr bwMode="auto">
              <a:xfrm>
                <a:off x="8395115" y="50604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48" name="Text Box 6">
                <a:extLst>
                  <a:ext uri="{FF2B5EF4-FFF2-40B4-BE49-F238E27FC236}">
                    <a16:creationId xmlns:a16="http://schemas.microsoft.com/office/drawing/2014/main" id="{BAB83487-8533-4864-8251-20784479F890}"/>
                  </a:ext>
                </a:extLst>
              </p:cNvPr>
              <p:cNvSpPr txBox="1">
                <a:spLocks noChangeArrowheads="1"/>
              </p:cNvSpPr>
              <p:nvPr/>
            </p:nvSpPr>
            <p:spPr bwMode="auto">
              <a:xfrm>
                <a:off x="8395115" y="46032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49" name="Text Box 7">
                <a:extLst>
                  <a:ext uri="{FF2B5EF4-FFF2-40B4-BE49-F238E27FC236}">
                    <a16:creationId xmlns:a16="http://schemas.microsoft.com/office/drawing/2014/main" id="{D4C69F44-2E80-4924-87C4-0A837E435A57}"/>
                  </a:ext>
                </a:extLst>
              </p:cNvPr>
              <p:cNvSpPr txBox="1">
                <a:spLocks noChangeArrowheads="1"/>
              </p:cNvSpPr>
              <p:nvPr/>
            </p:nvSpPr>
            <p:spPr bwMode="auto">
              <a:xfrm>
                <a:off x="8395115" y="41460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50" name="Text Box 12">
                <a:extLst>
                  <a:ext uri="{FF2B5EF4-FFF2-40B4-BE49-F238E27FC236}">
                    <a16:creationId xmlns:a16="http://schemas.microsoft.com/office/drawing/2014/main" id="{ACA7D1B9-C22B-4CDC-B044-B260C73BC031}"/>
                  </a:ext>
                </a:extLst>
              </p:cNvPr>
              <p:cNvSpPr txBox="1">
                <a:spLocks noChangeArrowheads="1"/>
              </p:cNvSpPr>
              <p:nvPr/>
            </p:nvSpPr>
            <p:spPr bwMode="auto">
              <a:xfrm>
                <a:off x="8395115" y="36888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51" name="Text Box 13">
                <a:extLst>
                  <a:ext uri="{FF2B5EF4-FFF2-40B4-BE49-F238E27FC236}">
                    <a16:creationId xmlns:a16="http://schemas.microsoft.com/office/drawing/2014/main" id="{F659B8A8-5244-4366-ADB4-1A6AD71CD6DD}"/>
                  </a:ext>
                </a:extLst>
              </p:cNvPr>
              <p:cNvSpPr txBox="1">
                <a:spLocks noChangeArrowheads="1"/>
              </p:cNvSpPr>
              <p:nvPr/>
            </p:nvSpPr>
            <p:spPr bwMode="auto">
              <a:xfrm>
                <a:off x="8395115" y="3240716"/>
                <a:ext cx="1893856" cy="566722"/>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400" b="1" dirty="0">
                  <a:solidFill>
                    <a:schemeClr val="bg1"/>
                  </a:solidFill>
                  <a:latin typeface="Lucida Fax" charset="0"/>
                  <a:ea typeface="微软雅黑" charset="0"/>
                  <a:cs typeface="微软雅黑" charset="0"/>
                </a:endParaRPr>
              </a:p>
            </p:txBody>
          </p:sp>
          <p:grpSp>
            <p:nvGrpSpPr>
              <p:cNvPr id="52" name="组合 5">
                <a:extLst>
                  <a:ext uri="{FF2B5EF4-FFF2-40B4-BE49-F238E27FC236}">
                    <a16:creationId xmlns:a16="http://schemas.microsoft.com/office/drawing/2014/main" id="{C7A16657-D8CF-45C0-A3C0-B788BF8DDF69}"/>
                  </a:ext>
                </a:extLst>
              </p:cNvPr>
              <p:cNvGrpSpPr>
                <a:grpSpLocks/>
              </p:cNvGrpSpPr>
              <p:nvPr/>
            </p:nvGrpSpPr>
            <p:grpSpPr bwMode="auto">
              <a:xfrm>
                <a:off x="6826979" y="5440707"/>
                <a:ext cx="1466027" cy="453378"/>
                <a:chOff x="2722313" y="5720772"/>
                <a:chExt cx="1466701" cy="453319"/>
              </a:xfrm>
            </p:grpSpPr>
            <p:sp>
              <p:nvSpPr>
                <p:cNvPr id="61" name="Rectangle 8">
                  <a:extLst>
                    <a:ext uri="{FF2B5EF4-FFF2-40B4-BE49-F238E27FC236}">
                      <a16:creationId xmlns:a16="http://schemas.microsoft.com/office/drawing/2014/main" id="{2FA7A9E2-6D3B-464B-8ABE-76EC28C90BB5}"/>
                    </a:ext>
                  </a:extLst>
                </p:cNvPr>
                <p:cNvSpPr>
                  <a:spLocks noChangeArrowheads="1"/>
                </p:cNvSpPr>
                <p:nvPr/>
              </p:nvSpPr>
              <p:spPr bwMode="auto">
                <a:xfrm>
                  <a:off x="2722313" y="5720772"/>
                  <a:ext cx="1248348" cy="45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栈顶</a:t>
                  </a:r>
                  <a:endParaRPr kumimoji="1" lang="en-US" altLang="zh-CN" b="1" dirty="0">
                    <a:solidFill>
                      <a:schemeClr val="bg1"/>
                    </a:solidFill>
                    <a:latin typeface="Lucida Fax" charset="0"/>
                    <a:ea typeface="微软雅黑" charset="0"/>
                    <a:cs typeface="微软雅黑" charset="0"/>
                  </a:endParaRPr>
                </a:p>
              </p:txBody>
            </p:sp>
            <p:sp>
              <p:nvSpPr>
                <p:cNvPr id="62" name="Line 9">
                  <a:extLst>
                    <a:ext uri="{FF2B5EF4-FFF2-40B4-BE49-F238E27FC236}">
                      <a16:creationId xmlns:a16="http://schemas.microsoft.com/office/drawing/2014/main" id="{A8E37E03-3AC0-41E2-9705-5DE8BA4D4A88}"/>
                    </a:ext>
                  </a:extLst>
                </p:cNvPr>
                <p:cNvSpPr>
                  <a:spLocks noChangeShapeType="1"/>
                </p:cNvSpPr>
                <p:nvPr/>
              </p:nvSpPr>
              <p:spPr bwMode="auto">
                <a:xfrm>
                  <a:off x="3450488" y="5901955"/>
                  <a:ext cx="738526" cy="0"/>
                </a:xfrm>
                <a:prstGeom prst="line">
                  <a:avLst/>
                </a:prstGeom>
                <a:noFill/>
                <a:ln w="635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grpSp>
          <p:sp>
            <p:nvSpPr>
              <p:cNvPr id="53" name="Line 9">
                <a:extLst>
                  <a:ext uri="{FF2B5EF4-FFF2-40B4-BE49-F238E27FC236}">
                    <a16:creationId xmlns:a16="http://schemas.microsoft.com/office/drawing/2014/main" id="{EB34F509-6247-4A16-ABDD-C9A66C1261A7}"/>
                  </a:ext>
                </a:extLst>
              </p:cNvPr>
              <p:cNvSpPr>
                <a:spLocks noChangeShapeType="1"/>
              </p:cNvSpPr>
              <p:nvPr/>
            </p:nvSpPr>
            <p:spPr bwMode="auto">
              <a:xfrm>
                <a:off x="7575113" y="5415416"/>
                <a:ext cx="738187" cy="0"/>
              </a:xfrm>
              <a:prstGeom prst="line">
                <a:avLst/>
              </a:prstGeom>
              <a:noFill/>
              <a:ln w="63500">
                <a:solidFill>
                  <a:schemeClr val="accent4">
                    <a:lumMod val="40000"/>
                    <a:lumOff val="6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sp>
            <p:nvSpPr>
              <p:cNvPr id="54" name="Rectangle 8">
                <a:extLst>
                  <a:ext uri="{FF2B5EF4-FFF2-40B4-BE49-F238E27FC236}">
                    <a16:creationId xmlns:a16="http://schemas.microsoft.com/office/drawing/2014/main" id="{752F11FA-FADE-4B8A-9054-40AF358E94C2}"/>
                  </a:ext>
                </a:extLst>
              </p:cNvPr>
              <p:cNvSpPr>
                <a:spLocks noChangeArrowheads="1"/>
              </p:cNvSpPr>
              <p:nvPr/>
            </p:nvSpPr>
            <p:spPr bwMode="auto">
              <a:xfrm>
                <a:off x="6826979" y="5110769"/>
                <a:ext cx="1247775" cy="45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栈底</a:t>
                </a:r>
                <a:endParaRPr kumimoji="1" lang="en-US" altLang="zh-CN" b="1" dirty="0">
                  <a:solidFill>
                    <a:schemeClr val="bg1"/>
                  </a:solidFill>
                  <a:latin typeface="Lucida Fax" charset="0"/>
                  <a:ea typeface="微软雅黑" charset="0"/>
                  <a:cs typeface="微软雅黑" charset="0"/>
                </a:endParaRPr>
              </a:p>
            </p:txBody>
          </p:sp>
          <p:sp>
            <p:nvSpPr>
              <p:cNvPr id="55" name="文本框 54">
                <a:extLst>
                  <a:ext uri="{FF2B5EF4-FFF2-40B4-BE49-F238E27FC236}">
                    <a16:creationId xmlns:a16="http://schemas.microsoft.com/office/drawing/2014/main" id="{12836FA7-B390-454D-9AE6-836E7269A557}"/>
                  </a:ext>
                </a:extLst>
              </p:cNvPr>
              <p:cNvSpPr txBox="1"/>
              <p:nvPr/>
            </p:nvSpPr>
            <p:spPr>
              <a:xfrm>
                <a:off x="10371006" y="5208586"/>
                <a:ext cx="386081" cy="491160"/>
              </a:xfrm>
              <a:prstGeom prst="rect">
                <a:avLst/>
              </a:prstGeom>
              <a:noFill/>
            </p:spPr>
            <p:txBody>
              <a:bodyPr wrap="none" rtlCol="0">
                <a:spAutoFit/>
              </a:bodyPr>
              <a:lstStyle/>
              <a:p>
                <a:r>
                  <a:rPr kumimoji="1" lang="en-US" altLang="zh-CN" sz="2000" dirty="0">
                    <a:solidFill>
                      <a:schemeClr val="bg1"/>
                    </a:solidFill>
                  </a:rPr>
                  <a:t>0</a:t>
                </a:r>
                <a:endParaRPr kumimoji="1" lang="zh-CN" altLang="en-US" sz="2000" dirty="0">
                  <a:solidFill>
                    <a:schemeClr val="bg1"/>
                  </a:solidFill>
                </a:endParaRPr>
              </a:p>
            </p:txBody>
          </p:sp>
          <p:sp>
            <p:nvSpPr>
              <p:cNvPr id="56" name="文本框 55">
                <a:extLst>
                  <a:ext uri="{FF2B5EF4-FFF2-40B4-BE49-F238E27FC236}">
                    <a16:creationId xmlns:a16="http://schemas.microsoft.com/office/drawing/2014/main" id="{938CB557-87A6-4604-B40E-986E83653627}"/>
                  </a:ext>
                </a:extLst>
              </p:cNvPr>
              <p:cNvSpPr txBox="1"/>
              <p:nvPr/>
            </p:nvSpPr>
            <p:spPr>
              <a:xfrm>
                <a:off x="10371006" y="4713872"/>
                <a:ext cx="386081" cy="491160"/>
              </a:xfrm>
              <a:prstGeom prst="rect">
                <a:avLst/>
              </a:prstGeom>
              <a:noFill/>
            </p:spPr>
            <p:txBody>
              <a:bodyPr wrap="none" rtlCol="0">
                <a:spAutoFit/>
              </a:bodyPr>
              <a:lstStyle/>
              <a:p>
                <a:r>
                  <a:rPr kumimoji="1" lang="en-US" altLang="zh-CN" sz="2000" dirty="0">
                    <a:solidFill>
                      <a:schemeClr val="bg1"/>
                    </a:solidFill>
                  </a:rPr>
                  <a:t>1</a:t>
                </a:r>
                <a:endParaRPr kumimoji="1" lang="zh-CN" altLang="en-US" sz="2000" dirty="0">
                  <a:solidFill>
                    <a:schemeClr val="bg1"/>
                  </a:solidFill>
                </a:endParaRPr>
              </a:p>
            </p:txBody>
          </p:sp>
          <p:sp>
            <p:nvSpPr>
              <p:cNvPr id="57" name="文本框 56">
                <a:extLst>
                  <a:ext uri="{FF2B5EF4-FFF2-40B4-BE49-F238E27FC236}">
                    <a16:creationId xmlns:a16="http://schemas.microsoft.com/office/drawing/2014/main" id="{82C7B312-6B4C-4451-9674-D07AF7548B97}"/>
                  </a:ext>
                </a:extLst>
              </p:cNvPr>
              <p:cNvSpPr txBox="1"/>
              <p:nvPr/>
            </p:nvSpPr>
            <p:spPr>
              <a:xfrm>
                <a:off x="10371006" y="4261362"/>
                <a:ext cx="386081" cy="491160"/>
              </a:xfrm>
              <a:prstGeom prst="rect">
                <a:avLst/>
              </a:prstGeom>
              <a:noFill/>
            </p:spPr>
            <p:txBody>
              <a:bodyPr wrap="none" rtlCol="0">
                <a:spAutoFit/>
              </a:bodyPr>
              <a:lstStyle/>
              <a:p>
                <a:r>
                  <a:rPr kumimoji="1" lang="en-US" altLang="zh-CN" sz="2000" dirty="0">
                    <a:solidFill>
                      <a:schemeClr val="bg1"/>
                    </a:solidFill>
                  </a:rPr>
                  <a:t>2</a:t>
                </a:r>
                <a:endParaRPr kumimoji="1" lang="zh-CN" altLang="en-US" sz="2000" dirty="0">
                  <a:solidFill>
                    <a:schemeClr val="bg1"/>
                  </a:solidFill>
                </a:endParaRPr>
              </a:p>
            </p:txBody>
          </p:sp>
          <p:sp>
            <p:nvSpPr>
              <p:cNvPr id="58" name="文本框 57">
                <a:extLst>
                  <a:ext uri="{FF2B5EF4-FFF2-40B4-BE49-F238E27FC236}">
                    <a16:creationId xmlns:a16="http://schemas.microsoft.com/office/drawing/2014/main" id="{11102B64-9F0C-4D52-83B2-29A38C3B3D3C}"/>
                  </a:ext>
                </a:extLst>
              </p:cNvPr>
              <p:cNvSpPr txBox="1"/>
              <p:nvPr/>
            </p:nvSpPr>
            <p:spPr>
              <a:xfrm>
                <a:off x="10371006" y="3780719"/>
                <a:ext cx="386081" cy="491160"/>
              </a:xfrm>
              <a:prstGeom prst="rect">
                <a:avLst/>
              </a:prstGeom>
              <a:noFill/>
            </p:spPr>
            <p:txBody>
              <a:bodyPr wrap="none" rtlCol="0">
                <a:spAutoFit/>
              </a:bodyPr>
              <a:lstStyle/>
              <a:p>
                <a:r>
                  <a:rPr kumimoji="1" lang="en-US" altLang="zh-CN" sz="2000" dirty="0">
                    <a:solidFill>
                      <a:schemeClr val="bg1"/>
                    </a:solidFill>
                  </a:rPr>
                  <a:t>3</a:t>
                </a:r>
                <a:endParaRPr kumimoji="1" lang="zh-CN" altLang="en-US" sz="2000" dirty="0">
                  <a:solidFill>
                    <a:schemeClr val="bg1"/>
                  </a:solidFill>
                </a:endParaRPr>
              </a:p>
            </p:txBody>
          </p:sp>
          <p:sp>
            <p:nvSpPr>
              <p:cNvPr id="59" name="文本框 58">
                <a:extLst>
                  <a:ext uri="{FF2B5EF4-FFF2-40B4-BE49-F238E27FC236}">
                    <a16:creationId xmlns:a16="http://schemas.microsoft.com/office/drawing/2014/main" id="{4653433D-D526-4944-B7E1-FD69420F64BC}"/>
                  </a:ext>
                </a:extLst>
              </p:cNvPr>
              <p:cNvSpPr txBox="1"/>
              <p:nvPr/>
            </p:nvSpPr>
            <p:spPr>
              <a:xfrm>
                <a:off x="10371006" y="3328206"/>
                <a:ext cx="386081" cy="491160"/>
              </a:xfrm>
              <a:prstGeom prst="rect">
                <a:avLst/>
              </a:prstGeom>
              <a:noFill/>
            </p:spPr>
            <p:txBody>
              <a:bodyPr wrap="none" rtlCol="0">
                <a:spAutoFit/>
              </a:bodyPr>
              <a:lstStyle/>
              <a:p>
                <a:r>
                  <a:rPr kumimoji="1" lang="en-US" altLang="zh-CN" sz="2000" dirty="0">
                    <a:solidFill>
                      <a:schemeClr val="bg1"/>
                    </a:solidFill>
                  </a:rPr>
                  <a:t>4</a:t>
                </a:r>
                <a:endParaRPr kumimoji="1" lang="zh-CN" altLang="en-US" sz="2000" dirty="0">
                  <a:solidFill>
                    <a:schemeClr val="bg1"/>
                  </a:solidFill>
                </a:endParaRPr>
              </a:p>
            </p:txBody>
          </p:sp>
          <p:sp>
            <p:nvSpPr>
              <p:cNvPr id="60" name="文本框 59">
                <a:extLst>
                  <a:ext uri="{FF2B5EF4-FFF2-40B4-BE49-F238E27FC236}">
                    <a16:creationId xmlns:a16="http://schemas.microsoft.com/office/drawing/2014/main" id="{0A2F5F74-03FE-4245-B40A-6D32F2B78A17}"/>
                  </a:ext>
                </a:extLst>
              </p:cNvPr>
              <p:cNvSpPr txBox="1"/>
              <p:nvPr/>
            </p:nvSpPr>
            <p:spPr>
              <a:xfrm>
                <a:off x="10371006" y="2833493"/>
                <a:ext cx="386081" cy="491160"/>
              </a:xfrm>
              <a:prstGeom prst="rect">
                <a:avLst/>
              </a:prstGeom>
              <a:noFill/>
            </p:spPr>
            <p:txBody>
              <a:bodyPr wrap="none" rtlCol="0">
                <a:spAutoFit/>
              </a:bodyPr>
              <a:lstStyle/>
              <a:p>
                <a:r>
                  <a:rPr kumimoji="1" lang="en-US" altLang="zh-CN" sz="2000" dirty="0">
                    <a:solidFill>
                      <a:schemeClr val="bg1"/>
                    </a:solidFill>
                  </a:rPr>
                  <a:t>5</a:t>
                </a:r>
                <a:endParaRPr kumimoji="1" lang="zh-CN" altLang="en-US" sz="2000" dirty="0">
                  <a:solidFill>
                    <a:schemeClr val="bg1"/>
                  </a:solidFill>
                </a:endParaRPr>
              </a:p>
            </p:txBody>
          </p:sp>
        </p:grpSp>
        <p:sp>
          <p:nvSpPr>
            <p:cNvPr id="44" name="箭头: 圆角右 43">
              <a:extLst>
                <a:ext uri="{FF2B5EF4-FFF2-40B4-BE49-F238E27FC236}">
                  <a16:creationId xmlns:a16="http://schemas.microsoft.com/office/drawing/2014/main" id="{BB4765E2-62F6-4954-83B3-089B3A6B97B0}"/>
                </a:ext>
              </a:extLst>
            </p:cNvPr>
            <p:cNvSpPr/>
            <p:nvPr/>
          </p:nvSpPr>
          <p:spPr>
            <a:xfrm rot="16200000" flipH="1">
              <a:off x="8532903" y="2237858"/>
              <a:ext cx="834364" cy="1547920"/>
            </a:xfrm>
            <a:prstGeom prst="bentArrow">
              <a:avLst>
                <a:gd name="adj1" fmla="val 31576"/>
                <a:gd name="adj2" fmla="val 25000"/>
                <a:gd name="adj3" fmla="val 2061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 name="文本框 62">
              <a:extLst>
                <a:ext uri="{FF2B5EF4-FFF2-40B4-BE49-F238E27FC236}">
                  <a16:creationId xmlns:a16="http://schemas.microsoft.com/office/drawing/2014/main" id="{033DCD16-F956-4703-9857-A2C60DBA51DE}"/>
                </a:ext>
              </a:extLst>
            </p:cNvPr>
            <p:cNvSpPr txBox="1"/>
            <p:nvPr/>
          </p:nvSpPr>
          <p:spPr>
            <a:xfrm>
              <a:off x="9724045" y="2476424"/>
              <a:ext cx="1335622" cy="461665"/>
            </a:xfrm>
            <a:prstGeom prst="rect">
              <a:avLst/>
            </a:prstGeom>
            <a:noFill/>
          </p:spPr>
          <p:txBody>
            <a:bodyPr wrap="none" rtlCol="0">
              <a:spAutoFit/>
            </a:bodyPr>
            <a:lstStyle/>
            <a:p>
              <a:r>
                <a:rPr lang="en-US" altLang="zh-CN" sz="2400" dirty="0" err="1"/>
                <a:t>EnQueue</a:t>
              </a:r>
              <a:endParaRPr lang="zh-CN" altLang="en-US" sz="2400" dirty="0"/>
            </a:p>
          </p:txBody>
        </p:sp>
        <p:sp>
          <p:nvSpPr>
            <p:cNvPr id="67" name="箭头: 圆角右 66">
              <a:extLst>
                <a:ext uri="{FF2B5EF4-FFF2-40B4-BE49-F238E27FC236}">
                  <a16:creationId xmlns:a16="http://schemas.microsoft.com/office/drawing/2014/main" id="{78C44CD2-80DA-45DF-97D8-9463F4736AD0}"/>
                </a:ext>
              </a:extLst>
            </p:cNvPr>
            <p:cNvSpPr/>
            <p:nvPr/>
          </p:nvSpPr>
          <p:spPr>
            <a:xfrm flipH="1">
              <a:off x="1567596" y="2594637"/>
              <a:ext cx="2234907" cy="911976"/>
            </a:xfrm>
            <a:prstGeom prst="bentArrow">
              <a:avLst>
                <a:gd name="adj1" fmla="val 32019"/>
                <a:gd name="adj2" fmla="val 25502"/>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文本框 67">
              <a:extLst>
                <a:ext uri="{FF2B5EF4-FFF2-40B4-BE49-F238E27FC236}">
                  <a16:creationId xmlns:a16="http://schemas.microsoft.com/office/drawing/2014/main" id="{E3209F22-7008-4FEE-AACC-01418EEE3A51}"/>
                </a:ext>
              </a:extLst>
            </p:cNvPr>
            <p:cNvSpPr txBox="1"/>
            <p:nvPr/>
          </p:nvSpPr>
          <p:spPr>
            <a:xfrm>
              <a:off x="133841" y="2588960"/>
              <a:ext cx="1366080" cy="461665"/>
            </a:xfrm>
            <a:prstGeom prst="rect">
              <a:avLst/>
            </a:prstGeom>
            <a:noFill/>
          </p:spPr>
          <p:txBody>
            <a:bodyPr wrap="none" rtlCol="0">
              <a:spAutoFit/>
            </a:bodyPr>
            <a:lstStyle/>
            <a:p>
              <a:r>
                <a:rPr lang="en-US" altLang="zh-CN" sz="2400" dirty="0" err="1"/>
                <a:t>DeQueue</a:t>
              </a:r>
              <a:endParaRPr lang="zh-CN" altLang="en-US" sz="2400" dirty="0"/>
            </a:p>
          </p:txBody>
        </p:sp>
        <p:sp>
          <p:nvSpPr>
            <p:cNvPr id="57346" name="文本框 57345">
              <a:extLst>
                <a:ext uri="{FF2B5EF4-FFF2-40B4-BE49-F238E27FC236}">
                  <a16:creationId xmlns:a16="http://schemas.microsoft.com/office/drawing/2014/main" id="{42E6BC7E-3CFD-47C3-84A5-9984DA75568C}"/>
                </a:ext>
              </a:extLst>
            </p:cNvPr>
            <p:cNvSpPr txBox="1"/>
            <p:nvPr/>
          </p:nvSpPr>
          <p:spPr>
            <a:xfrm>
              <a:off x="8754818" y="2534975"/>
              <a:ext cx="704039"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push</a:t>
              </a:r>
              <a:endParaRPr lang="zh-CN" altLang="en-US" dirty="0">
                <a:solidFill>
                  <a:schemeClr val="bg1"/>
                </a:solidFill>
                <a:latin typeface="Aharoni" panose="02010803020104030203" pitchFamily="2" charset="-79"/>
                <a:cs typeface="Aharoni" panose="02010803020104030203" pitchFamily="2" charset="-79"/>
              </a:endParaRPr>
            </a:p>
          </p:txBody>
        </p:sp>
        <p:sp>
          <p:nvSpPr>
            <p:cNvPr id="72" name="文本框 71">
              <a:extLst>
                <a:ext uri="{FF2B5EF4-FFF2-40B4-BE49-F238E27FC236}">
                  <a16:creationId xmlns:a16="http://schemas.microsoft.com/office/drawing/2014/main" id="{70DCDFF7-8803-4B4E-80D8-6AB169C2C5F8}"/>
                </a:ext>
              </a:extLst>
            </p:cNvPr>
            <p:cNvSpPr txBox="1"/>
            <p:nvPr/>
          </p:nvSpPr>
          <p:spPr>
            <a:xfrm>
              <a:off x="2401168" y="2622780"/>
              <a:ext cx="612668"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pop</a:t>
              </a:r>
              <a:endParaRPr lang="zh-CN" altLang="en-US" dirty="0">
                <a:solidFill>
                  <a:schemeClr val="bg1"/>
                </a:solidFill>
                <a:latin typeface="Aharoni" panose="02010803020104030203" pitchFamily="2" charset="-79"/>
                <a:cs typeface="Aharoni" panose="02010803020104030203" pitchFamily="2" charset="-79"/>
              </a:endParaRPr>
            </a:p>
          </p:txBody>
        </p:sp>
        <p:sp>
          <p:nvSpPr>
            <p:cNvPr id="57347" name="箭头: 手杖形 57346">
              <a:extLst>
                <a:ext uri="{FF2B5EF4-FFF2-40B4-BE49-F238E27FC236}">
                  <a16:creationId xmlns:a16="http://schemas.microsoft.com/office/drawing/2014/main" id="{35B039E7-E18F-4CC2-AA33-006F52C8F1E4}"/>
                </a:ext>
              </a:extLst>
            </p:cNvPr>
            <p:cNvSpPr/>
            <p:nvPr/>
          </p:nvSpPr>
          <p:spPr>
            <a:xfrm flipH="1">
              <a:off x="4401997" y="2634931"/>
              <a:ext cx="3161479" cy="780745"/>
            </a:xfrm>
            <a:prstGeom prst="uturnArrow">
              <a:avLst>
                <a:gd name="adj1" fmla="val 27716"/>
                <a:gd name="adj2" fmla="val 25000"/>
                <a:gd name="adj3" fmla="val 25000"/>
                <a:gd name="adj4" fmla="val 43750"/>
                <a:gd name="adj5"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solidFill>
                  <a:schemeClr val="tx1"/>
                </a:solidFill>
              </a:endParaRPr>
            </a:p>
          </p:txBody>
        </p:sp>
        <p:sp>
          <p:nvSpPr>
            <p:cNvPr id="74" name="文本框 73">
              <a:extLst>
                <a:ext uri="{FF2B5EF4-FFF2-40B4-BE49-F238E27FC236}">
                  <a16:creationId xmlns:a16="http://schemas.microsoft.com/office/drawing/2014/main" id="{D80B322F-8910-46A1-B048-42640790D5AB}"/>
                </a:ext>
              </a:extLst>
            </p:cNvPr>
            <p:cNvSpPr txBox="1"/>
            <p:nvPr/>
          </p:nvSpPr>
          <p:spPr>
            <a:xfrm>
              <a:off x="6733508" y="2534975"/>
              <a:ext cx="612668"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pop</a:t>
              </a:r>
              <a:endParaRPr lang="zh-CN" altLang="en-US" dirty="0">
                <a:solidFill>
                  <a:schemeClr val="bg1"/>
                </a:solidFill>
                <a:latin typeface="Aharoni" panose="02010803020104030203" pitchFamily="2" charset="-79"/>
                <a:cs typeface="Aharoni" panose="02010803020104030203" pitchFamily="2" charset="-79"/>
              </a:endParaRPr>
            </a:p>
          </p:txBody>
        </p:sp>
        <p:sp>
          <p:nvSpPr>
            <p:cNvPr id="75" name="文本框 74">
              <a:extLst>
                <a:ext uri="{FF2B5EF4-FFF2-40B4-BE49-F238E27FC236}">
                  <a16:creationId xmlns:a16="http://schemas.microsoft.com/office/drawing/2014/main" id="{286995A9-8DA8-41FD-B2ED-7BF417EC23F9}"/>
                </a:ext>
              </a:extLst>
            </p:cNvPr>
            <p:cNvSpPr txBox="1"/>
            <p:nvPr/>
          </p:nvSpPr>
          <p:spPr>
            <a:xfrm>
              <a:off x="4741337" y="2551626"/>
              <a:ext cx="704039" cy="369332"/>
            </a:xfrm>
            <a:prstGeom prst="rect">
              <a:avLst/>
            </a:prstGeom>
            <a:noFill/>
          </p:spPr>
          <p:txBody>
            <a:bodyPr wrap="square" rtlCol="0">
              <a:spAutoFit/>
            </a:bodyPr>
            <a:lstStyle/>
            <a:p>
              <a:r>
                <a:rPr lang="en-US" altLang="zh-CN" dirty="0">
                  <a:solidFill>
                    <a:schemeClr val="bg1"/>
                  </a:solidFill>
                  <a:latin typeface="Aharoni" panose="02010803020104030203" pitchFamily="2" charset="-79"/>
                  <a:cs typeface="Aharoni" panose="02010803020104030203" pitchFamily="2" charset="-79"/>
                </a:rPr>
                <a:t>push</a:t>
              </a:r>
              <a:endParaRPr lang="zh-CN" altLang="en-US" dirty="0">
                <a:solidFill>
                  <a:schemeClr val="bg1"/>
                </a:solidFill>
                <a:latin typeface="Aharoni" panose="02010803020104030203" pitchFamily="2" charset="-79"/>
                <a:cs typeface="Aharoni" panose="02010803020104030203" pitchFamily="2" charset="-79"/>
              </a:endParaRPr>
            </a:p>
          </p:txBody>
        </p:sp>
      </p:grpSp>
      <p:sp>
        <p:nvSpPr>
          <p:cNvPr id="57349" name="文本框 57348">
            <a:extLst>
              <a:ext uri="{FF2B5EF4-FFF2-40B4-BE49-F238E27FC236}">
                <a16:creationId xmlns:a16="http://schemas.microsoft.com/office/drawing/2014/main" id="{E3B8F74C-FDD8-4CD6-83A3-2AAC60FF2C5C}"/>
              </a:ext>
            </a:extLst>
          </p:cNvPr>
          <p:cNvSpPr txBox="1"/>
          <p:nvPr/>
        </p:nvSpPr>
        <p:spPr>
          <a:xfrm>
            <a:off x="9612945" y="4444040"/>
            <a:ext cx="2168110" cy="1477328"/>
          </a:xfrm>
          <a:prstGeom prst="rect">
            <a:avLst/>
          </a:prstGeom>
          <a:noFill/>
        </p:spPr>
        <p:txBody>
          <a:bodyPr wrap="square" rtlCol="0">
            <a:spAutoFit/>
          </a:bodyPr>
          <a:lstStyle/>
          <a:p>
            <a:r>
              <a:rPr lang="en-US" altLang="zh-CN" dirty="0">
                <a:solidFill>
                  <a:srgbClr val="C00000"/>
                </a:solidFill>
                <a:latin typeface="微软雅黑" panose="020B0503020204020204" pitchFamily="34" charset="-122"/>
                <a:ea typeface="微软雅黑" panose="020B0503020204020204" pitchFamily="34" charset="-122"/>
              </a:rPr>
              <a:t>Hint</a:t>
            </a:r>
            <a:r>
              <a:rPr lang="zh-CN" altLang="en-US" dirty="0">
                <a:solidFill>
                  <a:srgbClr val="C00000"/>
                </a:solidFill>
                <a:latin typeface="微软雅黑" panose="020B0503020204020204" pitchFamily="34" charset="-122"/>
                <a:ea typeface="微软雅黑" panose="020B0503020204020204" pitchFamily="34" charset="-122"/>
              </a:rPr>
              <a:t>：每个元素从入队</a:t>
            </a:r>
            <a:r>
              <a:rPr lang="en-US" altLang="zh-CN" dirty="0">
                <a:solidFill>
                  <a:srgbClr val="C00000"/>
                </a:solidFill>
                <a:latin typeface="微软雅黑" panose="020B0503020204020204" pitchFamily="34" charset="-122"/>
                <a:ea typeface="微软雅黑" panose="020B0503020204020204" pitchFamily="34" charset="-122"/>
              </a:rPr>
              <a:t>(enqueue)</a:t>
            </a:r>
            <a:r>
              <a:rPr lang="zh-CN" altLang="en-US" dirty="0">
                <a:solidFill>
                  <a:srgbClr val="C00000"/>
                </a:solidFill>
                <a:latin typeface="微软雅黑" panose="020B0503020204020204" pitchFamily="34" charset="-122"/>
                <a:ea typeface="微软雅黑" panose="020B0503020204020204" pitchFamily="34" charset="-122"/>
              </a:rPr>
              <a:t>到出队</a:t>
            </a:r>
            <a:r>
              <a:rPr lang="en-US" altLang="zh-CN" dirty="0">
                <a:solidFill>
                  <a:srgbClr val="C00000"/>
                </a:solidFill>
                <a:latin typeface="微软雅黑" panose="020B0503020204020204" pitchFamily="34" charset="-122"/>
                <a:ea typeface="微软雅黑" panose="020B0503020204020204" pitchFamily="34" charset="-122"/>
              </a:rPr>
              <a:t>(dequeue)</a:t>
            </a:r>
            <a:r>
              <a:rPr lang="zh-CN" altLang="en-US" dirty="0">
                <a:solidFill>
                  <a:srgbClr val="C00000"/>
                </a:solidFill>
                <a:latin typeface="微软雅黑" panose="020B0503020204020204" pitchFamily="34" charset="-122"/>
                <a:ea typeface="微软雅黑" panose="020B0503020204020204" pitchFamily="34" charset="-122"/>
              </a:rPr>
              <a:t>，需要经历几次入栈</a:t>
            </a:r>
            <a:r>
              <a:rPr lang="en-US" altLang="zh-CN" dirty="0">
                <a:solidFill>
                  <a:srgbClr val="C00000"/>
                </a:solidFill>
                <a:latin typeface="微软雅黑" panose="020B0503020204020204" pitchFamily="34" charset="-122"/>
                <a:ea typeface="微软雅黑" panose="020B0503020204020204" pitchFamily="34" charset="-122"/>
              </a:rPr>
              <a:t>(push)</a:t>
            </a:r>
            <a:r>
              <a:rPr lang="zh-CN" altLang="en-US" dirty="0">
                <a:solidFill>
                  <a:srgbClr val="C00000"/>
                </a:solidFill>
                <a:latin typeface="微软雅黑" panose="020B0503020204020204" pitchFamily="34" charset="-122"/>
                <a:ea typeface="微软雅黑" panose="020B0503020204020204" pitchFamily="34" charset="-122"/>
              </a:rPr>
              <a:t>和出栈</a:t>
            </a:r>
            <a:r>
              <a:rPr lang="en-US" altLang="zh-CN" dirty="0">
                <a:solidFill>
                  <a:srgbClr val="C00000"/>
                </a:solidFill>
                <a:latin typeface="微软雅黑" panose="020B0503020204020204" pitchFamily="34" charset="-122"/>
                <a:ea typeface="微软雅黑" panose="020B0503020204020204" pitchFamily="34" charset="-122"/>
              </a:rPr>
              <a:t>(pop)</a:t>
            </a:r>
            <a:r>
              <a:rPr lang="zh-CN" altLang="en-US"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fade">
                                      <p:cBhvr>
                                        <p:cTn id="7" dur="1000"/>
                                        <p:tgtEl>
                                          <p:spTgt spid="57350"/>
                                        </p:tgtEl>
                                      </p:cBhvr>
                                    </p:animEffect>
                                    <p:anim calcmode="lin" valueType="num">
                                      <p:cBhvr>
                                        <p:cTn id="8" dur="1000" fill="hold"/>
                                        <p:tgtEl>
                                          <p:spTgt spid="57350"/>
                                        </p:tgtEl>
                                        <p:attrNameLst>
                                          <p:attrName>ppt_x</p:attrName>
                                        </p:attrNameLst>
                                      </p:cBhvr>
                                      <p:tavLst>
                                        <p:tav tm="0">
                                          <p:val>
                                            <p:strVal val="#ppt_x"/>
                                          </p:val>
                                        </p:tav>
                                        <p:tav tm="100000">
                                          <p:val>
                                            <p:strVal val="#ppt_x"/>
                                          </p:val>
                                        </p:tav>
                                      </p:tavLst>
                                    </p:anim>
                                    <p:anim calcmode="lin" valueType="num">
                                      <p:cBhvr>
                                        <p:cTn id="9" dur="1000" fill="hold"/>
                                        <p:tgtEl>
                                          <p:spTgt spid="573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7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5734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EA43A260-43E8-185B-6330-EE3858549E34}"/>
              </a:ext>
            </a:extLst>
          </p:cNvPr>
          <p:cNvSpPr txBox="1"/>
          <p:nvPr>
            <p:custDataLst>
              <p:tags r:id="rId2"/>
            </p:custDataLst>
          </p:nvPr>
        </p:nvSpPr>
        <p:spPr>
          <a:xfrm>
            <a:off x="596900" y="75184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元素什么时候能够从右边栈移到左边栈？</a:t>
            </a:r>
          </a:p>
        </p:txBody>
      </p:sp>
      <p:sp>
        <p:nvSpPr>
          <p:cNvPr id="14" name="文本框 13">
            <a:extLst>
              <a:ext uri="{FF2B5EF4-FFF2-40B4-BE49-F238E27FC236}">
                <a16:creationId xmlns:a16="http://schemas.microsoft.com/office/drawing/2014/main" id="{1C61088B-1260-78A2-CA38-0D5C9988566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右边栈装满的时候</a:t>
            </a:r>
          </a:p>
        </p:txBody>
      </p:sp>
      <p:sp>
        <p:nvSpPr>
          <p:cNvPr id="15" name="文本框 14">
            <a:extLst>
              <a:ext uri="{FF2B5EF4-FFF2-40B4-BE49-F238E27FC236}">
                <a16:creationId xmlns:a16="http://schemas.microsoft.com/office/drawing/2014/main" id="{F2682D4D-391B-FFFE-D762-57EA22F7C09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左边栈未满的时候</a:t>
            </a:r>
          </a:p>
        </p:txBody>
      </p:sp>
      <p:sp>
        <p:nvSpPr>
          <p:cNvPr id="16" name="文本框 15">
            <a:extLst>
              <a:ext uri="{FF2B5EF4-FFF2-40B4-BE49-F238E27FC236}">
                <a16:creationId xmlns:a16="http://schemas.microsoft.com/office/drawing/2014/main" id="{9F7856CC-2C02-480D-593D-D4FE1118CDAC}"/>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左边栈为空的时候</a:t>
            </a:r>
          </a:p>
        </p:txBody>
      </p:sp>
      <p:sp>
        <p:nvSpPr>
          <p:cNvPr id="17" name="文本框 16">
            <a:extLst>
              <a:ext uri="{FF2B5EF4-FFF2-40B4-BE49-F238E27FC236}">
                <a16:creationId xmlns:a16="http://schemas.microsoft.com/office/drawing/2014/main" id="{16631416-D555-EE8E-0D3A-D1C295F48A19}"/>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左边栈中的元素数量比右边栈少的时候</a:t>
            </a:r>
          </a:p>
        </p:txBody>
      </p:sp>
      <p:sp>
        <p:nvSpPr>
          <p:cNvPr id="18" name="椭圆 17">
            <a:extLst>
              <a:ext uri="{FF2B5EF4-FFF2-40B4-BE49-F238E27FC236}">
                <a16:creationId xmlns:a16="http://schemas.microsoft.com/office/drawing/2014/main" id="{3BD050D7-079D-056F-71A8-69D08EDE592F}"/>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E8D46F83-2C37-D9DB-75DC-9E22D37F65D4}"/>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74A73B14-C2D4-D050-42A4-2797177DD264}"/>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418627C6-4C20-C8BB-6407-944C932D8FF2}"/>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0286F81A-8215-264C-CCA5-D8BFF8EE4239}"/>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4" name="图片 23">
            <a:extLst>
              <a:ext uri="{FF2B5EF4-FFF2-40B4-BE49-F238E27FC236}">
                <a16:creationId xmlns:a16="http://schemas.microsoft.com/office/drawing/2014/main" id="{0A6377E1-6284-D23D-752D-86488B2ABA15}"/>
              </a:ext>
            </a:extLst>
          </p:cNvPr>
          <p:cNvPicPr>
            <a:picLocks noChangeAspect="1"/>
          </p:cNvPicPr>
          <p:nvPr/>
        </p:nvPicPr>
        <p:blipFill>
          <a:blip r:embed="rId19"/>
          <a:stretch>
            <a:fillRect/>
          </a:stretch>
        </p:blipFill>
        <p:spPr>
          <a:xfrm>
            <a:off x="6536260" y="1155859"/>
            <a:ext cx="5322365" cy="1739106"/>
          </a:xfrm>
          <a:prstGeom prst="rect">
            <a:avLst/>
          </a:prstGeom>
        </p:spPr>
      </p:pic>
      <p:grpSp>
        <p:nvGrpSpPr>
          <p:cNvPr id="12" name="组合 11">
            <a:extLst>
              <a:ext uri="{FF2B5EF4-FFF2-40B4-BE49-F238E27FC236}">
                <a16:creationId xmlns:a16="http://schemas.microsoft.com/office/drawing/2014/main" id="{2B938EDA-C175-90B7-ED40-F0A41C0BDA00}"/>
              </a:ext>
            </a:extLst>
          </p:cNvPr>
          <p:cNvGrpSpPr/>
          <p:nvPr>
            <p:custDataLst>
              <p:tags r:id="rId12"/>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09408EC1-4B3C-83F2-346F-BA5AE8C7ECDD}"/>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FC694FB1-AD58-5C11-DF95-25A13845069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44ECF300-831C-47ED-C9DF-147F262CED9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28C1743D-7E69-EE37-D8F1-C4E58A32071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BB2E2902-6D1B-0CCD-1101-5A0F4846DE13}"/>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749035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EA43A260-43E8-185B-6330-EE3858549E34}"/>
              </a:ext>
            </a:extLst>
          </p:cNvPr>
          <p:cNvSpPr txBox="1"/>
          <p:nvPr>
            <p:custDataLst>
              <p:tags r:id="rId2"/>
            </p:custDataLst>
          </p:nvPr>
        </p:nvSpPr>
        <p:spPr>
          <a:xfrm>
            <a:off x="939800" y="707231"/>
            <a:ext cx="5322365"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如果两个栈模拟的队列的容量是</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，则栈的容量至少是？</a:t>
            </a:r>
          </a:p>
        </p:txBody>
      </p:sp>
      <p:sp>
        <p:nvSpPr>
          <p:cNvPr id="14" name="文本框 13">
            <a:extLst>
              <a:ext uri="{FF2B5EF4-FFF2-40B4-BE49-F238E27FC236}">
                <a16:creationId xmlns:a16="http://schemas.microsoft.com/office/drawing/2014/main" id="{1C61088B-1260-78A2-CA38-0D5C9988566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文本框 14">
            <a:extLst>
              <a:ext uri="{FF2B5EF4-FFF2-40B4-BE49-F238E27FC236}">
                <a16:creationId xmlns:a16="http://schemas.microsoft.com/office/drawing/2014/main" id="{F2682D4D-391B-FFFE-D762-57EA22F7C09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9</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文本框 15">
            <a:extLst>
              <a:ext uri="{FF2B5EF4-FFF2-40B4-BE49-F238E27FC236}">
                <a16:creationId xmlns:a16="http://schemas.microsoft.com/office/drawing/2014/main" id="{9F7856CC-2C02-480D-593D-D4FE1118CDAC}"/>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16631416-D555-EE8E-0D3A-D1C295F48A19}"/>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3BD050D7-079D-056F-71A8-69D08EDE592F}"/>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E8D46F83-2C37-D9DB-75DC-9E22D37F65D4}"/>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74A73B14-C2D4-D050-42A4-2797177DD264}"/>
              </a:ext>
            </a:extLst>
          </p:cNvPr>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418627C6-4C20-C8BB-6407-944C932D8FF2}"/>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0286F81A-8215-264C-CCA5-D8BFF8EE4239}"/>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4" name="图片 23">
            <a:extLst>
              <a:ext uri="{FF2B5EF4-FFF2-40B4-BE49-F238E27FC236}">
                <a16:creationId xmlns:a16="http://schemas.microsoft.com/office/drawing/2014/main" id="{0A6377E1-6284-D23D-752D-86488B2ABA15}"/>
              </a:ext>
            </a:extLst>
          </p:cNvPr>
          <p:cNvPicPr>
            <a:picLocks noChangeAspect="1"/>
          </p:cNvPicPr>
          <p:nvPr/>
        </p:nvPicPr>
        <p:blipFill>
          <a:blip r:embed="rId19"/>
          <a:stretch>
            <a:fillRect/>
          </a:stretch>
        </p:blipFill>
        <p:spPr>
          <a:xfrm>
            <a:off x="6869635" y="1066483"/>
            <a:ext cx="5322365" cy="1739106"/>
          </a:xfrm>
          <a:prstGeom prst="rect">
            <a:avLst/>
          </a:prstGeom>
        </p:spPr>
      </p:pic>
      <p:grpSp>
        <p:nvGrpSpPr>
          <p:cNvPr id="12" name="组合 11">
            <a:extLst>
              <a:ext uri="{FF2B5EF4-FFF2-40B4-BE49-F238E27FC236}">
                <a16:creationId xmlns:a16="http://schemas.microsoft.com/office/drawing/2014/main" id="{2B938EDA-C175-90B7-ED40-F0A41C0BDA00}"/>
              </a:ext>
            </a:extLst>
          </p:cNvPr>
          <p:cNvGrpSpPr/>
          <p:nvPr>
            <p:custDataLst>
              <p:tags r:id="rId12"/>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09408EC1-4B3C-83F2-346F-BA5AE8C7ECDD}"/>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FC694FB1-AD58-5C11-DF95-25A13845069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44ECF300-831C-47ED-C9DF-147F262CED9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28C1743D-7E69-EE37-D8F1-C4E58A32071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BB2E2902-6D1B-0CCD-1101-5A0F4846DE13}"/>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258273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8AAE8C14-8475-41FA-B344-015A9965BDDF}"/>
              </a:ext>
            </a:extLst>
          </p:cNvPr>
          <p:cNvSpPr>
            <a:spLocks noGrp="1" noChangeArrowheads="1"/>
          </p:cNvSpPr>
          <p:nvPr>
            <p:ph type="title"/>
          </p:nvPr>
        </p:nvSpPr>
        <p:spPr/>
        <p:txBody>
          <a:bodyPr>
            <a:normAutofit/>
          </a:bodyPr>
          <a:lstStyle/>
          <a:p>
            <a:pPr>
              <a:spcBef>
                <a:spcPct val="50000"/>
              </a:spcBef>
              <a:defRPr/>
            </a:pPr>
            <a:r>
              <a:rPr kumimoji="0" dirty="0" err="1"/>
              <a:t>思考</a:t>
            </a:r>
            <a:endParaRPr kumimoji="0" dirty="0"/>
          </a:p>
        </p:txBody>
      </p:sp>
      <p:sp>
        <p:nvSpPr>
          <p:cNvPr id="2" name="副标题 1">
            <a:extLst>
              <a:ext uri="{FF2B5EF4-FFF2-40B4-BE49-F238E27FC236}">
                <a16:creationId xmlns:a16="http://schemas.microsoft.com/office/drawing/2014/main" id="{F989F7DA-A8C9-443D-A470-04E9B3B5ACE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46FEC26-683F-4F52-9C73-A5BB9A4C1F7D}"/>
              </a:ext>
            </a:extLst>
          </p:cNvPr>
          <p:cNvSpPr>
            <a:spLocks noGrp="1"/>
          </p:cNvSpPr>
          <p:nvPr>
            <p:ph type="body" idx="10"/>
          </p:nvPr>
        </p:nvSpPr>
        <p:spPr/>
        <p:txBody>
          <a:bodyPr/>
          <a:lstStyle/>
          <a:p>
            <a:endParaRPr lang="zh-CN" altLang="en-US"/>
          </a:p>
        </p:txBody>
      </p:sp>
      <p:sp>
        <p:nvSpPr>
          <p:cNvPr id="68611" name="内容占位符 2">
            <a:extLst>
              <a:ext uri="{FF2B5EF4-FFF2-40B4-BE49-F238E27FC236}">
                <a16:creationId xmlns:a16="http://schemas.microsoft.com/office/drawing/2014/main" id="{8B42DF20-59B1-44EA-9A85-E790D83CF07C}"/>
              </a:ext>
            </a:extLst>
          </p:cNvPr>
          <p:cNvSpPr>
            <a:spLocks noGrp="1" noChangeArrowheads="1"/>
          </p:cNvSpPr>
          <p:nvPr>
            <p:ph idx="11"/>
          </p:nvPr>
        </p:nvSpPr>
        <p:spPr bwMode="auto">
          <a:xfrm>
            <a:off x="568337" y="1000357"/>
            <a:ext cx="11055325" cy="6281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是否可以用</a:t>
            </a:r>
            <a:r>
              <a:rPr lang="zh-CN" altLang="zh-CN" dirty="0">
                <a:solidFill>
                  <a:srgbClr val="0432FF"/>
                </a:solidFill>
                <a:latin typeface="Microsoft YaHei Light" panose="020B0502040204020203" pitchFamily="34" charset="-122"/>
                <a:ea typeface="Microsoft YaHei Light" panose="020B0502040204020203" pitchFamily="34" charset="-122"/>
              </a:rPr>
              <a:t>栈</a:t>
            </a:r>
            <a:r>
              <a:rPr lang="zh-CN" altLang="zh-CN" dirty="0">
                <a:latin typeface="Microsoft YaHei Light" panose="020B0502040204020203" pitchFamily="34" charset="-122"/>
                <a:ea typeface="Microsoft YaHei Light" panose="020B0502040204020203" pitchFamily="34" charset="-122"/>
              </a:rPr>
              <a:t>来</a:t>
            </a:r>
            <a:r>
              <a:rPr lang="zh-CN" altLang="zh-CN" dirty="0">
                <a:solidFill>
                  <a:srgbClr val="C00000"/>
                </a:solidFill>
                <a:latin typeface="Microsoft YaHei Light" panose="020B0502040204020203" pitchFamily="34" charset="-122"/>
                <a:ea typeface="Microsoft YaHei Light" panose="020B0502040204020203" pitchFamily="34" charset="-122"/>
              </a:rPr>
              <a:t>模拟</a:t>
            </a:r>
            <a:r>
              <a:rPr lang="zh-CN" altLang="zh-CN" dirty="0">
                <a:solidFill>
                  <a:srgbClr val="0432FF"/>
                </a:solidFill>
                <a:latin typeface="Microsoft YaHei Light" panose="020B0502040204020203" pitchFamily="34" charset="-122"/>
                <a:ea typeface="Microsoft YaHei Light" panose="020B0502040204020203" pitchFamily="34" charset="-122"/>
              </a:rPr>
              <a:t>队列</a:t>
            </a:r>
            <a:r>
              <a:rPr lang="zh-CN"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若</a:t>
            </a:r>
            <a:r>
              <a:rPr lang="zh-CN" altLang="zh-CN" dirty="0">
                <a:latin typeface="Microsoft YaHei Light" panose="020B0502040204020203" pitchFamily="34" charset="-122"/>
                <a:ea typeface="Microsoft YaHei Light" panose="020B0502040204020203" pitchFamily="34" charset="-122"/>
              </a:rPr>
              <a:t>可以的话，需要几个栈，如何来模拟？</a:t>
            </a:r>
            <a:endParaRPr lang="en-US" altLang="zh-CN" dirty="0">
              <a:latin typeface="Microsoft YaHei Light" panose="020B0502040204020203" pitchFamily="34" charset="-122"/>
              <a:ea typeface="Microsoft YaHei Light" panose="020B0502040204020203" pitchFamily="34" charset="-122"/>
            </a:endParaRPr>
          </a:p>
          <a:p>
            <a:pPr marL="0" indent="0">
              <a:lnSpc>
                <a:spcPct val="110000"/>
              </a:lnSpc>
              <a:spcBef>
                <a:spcPts val="600"/>
              </a:spcBef>
              <a:buNone/>
            </a:pPr>
            <a:endParaRPr lang="en-US" altLang="zh-CN" dirty="0">
              <a:latin typeface="Microsoft YaHei Light" panose="020B0502040204020203" pitchFamily="34" charset="-122"/>
              <a:ea typeface="Microsoft YaHei Light" panose="020B0502040204020203" pitchFamily="34" charset="-122"/>
            </a:endParaRPr>
          </a:p>
        </p:txBody>
      </p:sp>
      <p:sp>
        <p:nvSpPr>
          <p:cNvPr id="70" name="任意多边形: 形状 69">
            <a:extLst>
              <a:ext uri="{FF2B5EF4-FFF2-40B4-BE49-F238E27FC236}">
                <a16:creationId xmlns:a16="http://schemas.microsoft.com/office/drawing/2014/main" id="{436DB8A6-2A8D-4A83-A579-35AF820C341E}"/>
              </a:ext>
            </a:extLst>
          </p:cNvPr>
          <p:cNvSpPr/>
          <p:nvPr/>
        </p:nvSpPr>
        <p:spPr>
          <a:xfrm>
            <a:off x="3070093" y="1538439"/>
            <a:ext cx="5921542" cy="1049383"/>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r>
              <a:rPr lang="zh-CN" altLang="en-US" sz="2000" kern="1200" dirty="0">
                <a:solidFill>
                  <a:schemeClr val="bg1"/>
                </a:solidFill>
                <a:latin typeface="Microsoft YaHei" panose="020B0503020204020204" pitchFamily="34" charset="-122"/>
                <a:ea typeface="Microsoft YaHei" panose="020B0503020204020204" pitchFamily="34" charset="-122"/>
              </a:rPr>
              <a:t>元素什么时候从左边栈移到右边栈？如何移？</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000" dirty="0">
                <a:solidFill>
                  <a:schemeClr val="bg1"/>
                </a:solidFill>
                <a:latin typeface="Microsoft YaHei" panose="020B0503020204020204" pitchFamily="34" charset="-122"/>
                <a:ea typeface="Microsoft YaHei" panose="020B0503020204020204" pitchFamily="34" charset="-122"/>
              </a:rPr>
              <a:t>队列的容量是？</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000" kern="1200" dirty="0">
                <a:solidFill>
                  <a:schemeClr val="bg1"/>
                </a:solidFill>
                <a:latin typeface="Microsoft YaHei" panose="020B0503020204020204" pitchFamily="34" charset="-122"/>
                <a:ea typeface="Microsoft YaHei" panose="020B0503020204020204" pitchFamily="34" charset="-122"/>
              </a:rPr>
              <a:t>模拟的时间复杂度？</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grpSp>
        <p:nvGrpSpPr>
          <p:cNvPr id="57350" name="组合 57349">
            <a:extLst>
              <a:ext uri="{FF2B5EF4-FFF2-40B4-BE49-F238E27FC236}">
                <a16:creationId xmlns:a16="http://schemas.microsoft.com/office/drawing/2014/main" id="{38BB0ED3-5905-4B67-B39C-91FAB32C1AC7}"/>
              </a:ext>
            </a:extLst>
          </p:cNvPr>
          <p:cNvGrpSpPr/>
          <p:nvPr/>
        </p:nvGrpSpPr>
        <p:grpSpPr>
          <a:xfrm>
            <a:off x="52527" y="2659304"/>
            <a:ext cx="10925826" cy="3746460"/>
            <a:chOff x="133841" y="2476424"/>
            <a:chExt cx="10925826" cy="3746460"/>
          </a:xfrm>
        </p:grpSpPr>
        <p:sp>
          <p:nvSpPr>
            <p:cNvPr id="4" name="矩形: 圆角 3">
              <a:extLst>
                <a:ext uri="{FF2B5EF4-FFF2-40B4-BE49-F238E27FC236}">
                  <a16:creationId xmlns:a16="http://schemas.microsoft.com/office/drawing/2014/main" id="{CD7E38A3-7214-4A41-9B44-78EF80725DD5}"/>
                </a:ext>
              </a:extLst>
            </p:cNvPr>
            <p:cNvSpPr/>
            <p:nvPr/>
          </p:nvSpPr>
          <p:spPr>
            <a:xfrm>
              <a:off x="1896769" y="3415676"/>
              <a:ext cx="7562088" cy="28072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a:extLst>
                <a:ext uri="{FF2B5EF4-FFF2-40B4-BE49-F238E27FC236}">
                  <a16:creationId xmlns:a16="http://schemas.microsoft.com/office/drawing/2014/main" id="{B2C967B2-DD42-4FEC-A348-510FDA0B4E82}"/>
                </a:ext>
              </a:extLst>
            </p:cNvPr>
            <p:cNvGrpSpPr/>
            <p:nvPr/>
          </p:nvGrpSpPr>
          <p:grpSpPr>
            <a:xfrm>
              <a:off x="5820464" y="3581560"/>
              <a:ext cx="3201555" cy="2536169"/>
              <a:chOff x="6826979" y="2780780"/>
              <a:chExt cx="3930108" cy="3113305"/>
            </a:xfrm>
          </p:grpSpPr>
          <p:sp>
            <p:nvSpPr>
              <p:cNvPr id="27" name="Text Box 14">
                <a:extLst>
                  <a:ext uri="{FF2B5EF4-FFF2-40B4-BE49-F238E27FC236}">
                    <a16:creationId xmlns:a16="http://schemas.microsoft.com/office/drawing/2014/main" id="{CC314845-B755-483C-816E-87E468C1C931}"/>
                  </a:ext>
                </a:extLst>
              </p:cNvPr>
              <p:cNvSpPr txBox="1">
                <a:spLocks noChangeArrowheads="1"/>
              </p:cNvSpPr>
              <p:nvPr/>
            </p:nvSpPr>
            <p:spPr bwMode="auto">
              <a:xfrm>
                <a:off x="8395115" y="2780780"/>
                <a:ext cx="1893856" cy="64228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solidFill>
                    <a:schemeClr val="bg1"/>
                  </a:solidFill>
                  <a:latin typeface="Lucida Fax" charset="0"/>
                  <a:ea typeface="微软雅黑" charset="0"/>
                  <a:cs typeface="微软雅黑" charset="0"/>
                </a:endParaRPr>
              </a:p>
            </p:txBody>
          </p:sp>
          <p:sp>
            <p:nvSpPr>
              <p:cNvPr id="28" name="Text Box 5">
                <a:extLst>
                  <a:ext uri="{FF2B5EF4-FFF2-40B4-BE49-F238E27FC236}">
                    <a16:creationId xmlns:a16="http://schemas.microsoft.com/office/drawing/2014/main" id="{FC207117-3B14-421D-A739-CF9763B69436}"/>
                  </a:ext>
                </a:extLst>
              </p:cNvPr>
              <p:cNvSpPr txBox="1">
                <a:spLocks noChangeArrowheads="1"/>
              </p:cNvSpPr>
              <p:nvPr/>
            </p:nvSpPr>
            <p:spPr bwMode="auto">
              <a:xfrm>
                <a:off x="8395115" y="50604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29" name="Text Box 6">
                <a:extLst>
                  <a:ext uri="{FF2B5EF4-FFF2-40B4-BE49-F238E27FC236}">
                    <a16:creationId xmlns:a16="http://schemas.microsoft.com/office/drawing/2014/main" id="{8E816B44-15DA-4968-83DF-617DEAD12AC7}"/>
                  </a:ext>
                </a:extLst>
              </p:cNvPr>
              <p:cNvSpPr txBox="1">
                <a:spLocks noChangeArrowheads="1"/>
              </p:cNvSpPr>
              <p:nvPr/>
            </p:nvSpPr>
            <p:spPr bwMode="auto">
              <a:xfrm>
                <a:off x="8395115" y="46032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0" name="Text Box 7">
                <a:extLst>
                  <a:ext uri="{FF2B5EF4-FFF2-40B4-BE49-F238E27FC236}">
                    <a16:creationId xmlns:a16="http://schemas.microsoft.com/office/drawing/2014/main" id="{105695EC-F2D2-450F-A00C-90CB3616F75A}"/>
                  </a:ext>
                </a:extLst>
              </p:cNvPr>
              <p:cNvSpPr txBox="1">
                <a:spLocks noChangeArrowheads="1"/>
              </p:cNvSpPr>
              <p:nvPr/>
            </p:nvSpPr>
            <p:spPr bwMode="auto">
              <a:xfrm>
                <a:off x="8395115" y="41460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1" name="Text Box 12">
                <a:extLst>
                  <a:ext uri="{FF2B5EF4-FFF2-40B4-BE49-F238E27FC236}">
                    <a16:creationId xmlns:a16="http://schemas.microsoft.com/office/drawing/2014/main" id="{7AC46FF7-0796-4E2E-9CA2-30D217BAC7F5}"/>
                  </a:ext>
                </a:extLst>
              </p:cNvPr>
              <p:cNvSpPr txBox="1">
                <a:spLocks noChangeArrowheads="1"/>
              </p:cNvSpPr>
              <p:nvPr/>
            </p:nvSpPr>
            <p:spPr bwMode="auto">
              <a:xfrm>
                <a:off x="8395115" y="36888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32" name="Text Box 13">
                <a:extLst>
                  <a:ext uri="{FF2B5EF4-FFF2-40B4-BE49-F238E27FC236}">
                    <a16:creationId xmlns:a16="http://schemas.microsoft.com/office/drawing/2014/main" id="{F963E532-3DCA-4BF2-966C-28789062D757}"/>
                  </a:ext>
                </a:extLst>
              </p:cNvPr>
              <p:cNvSpPr txBox="1">
                <a:spLocks noChangeArrowheads="1"/>
              </p:cNvSpPr>
              <p:nvPr/>
            </p:nvSpPr>
            <p:spPr bwMode="auto">
              <a:xfrm>
                <a:off x="8395115" y="3240716"/>
                <a:ext cx="1893856" cy="566722"/>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400" b="1" dirty="0">
                  <a:solidFill>
                    <a:schemeClr val="bg1"/>
                  </a:solidFill>
                  <a:latin typeface="Lucida Fax" charset="0"/>
                  <a:ea typeface="微软雅黑" charset="0"/>
                  <a:cs typeface="微软雅黑" charset="0"/>
                </a:endParaRPr>
              </a:p>
            </p:txBody>
          </p:sp>
          <p:grpSp>
            <p:nvGrpSpPr>
              <p:cNvPr id="33" name="组合 5">
                <a:extLst>
                  <a:ext uri="{FF2B5EF4-FFF2-40B4-BE49-F238E27FC236}">
                    <a16:creationId xmlns:a16="http://schemas.microsoft.com/office/drawing/2014/main" id="{886E3E80-86CC-4E9D-BBAB-DB91EAD1E3D2}"/>
                  </a:ext>
                </a:extLst>
              </p:cNvPr>
              <p:cNvGrpSpPr>
                <a:grpSpLocks/>
              </p:cNvGrpSpPr>
              <p:nvPr/>
            </p:nvGrpSpPr>
            <p:grpSpPr bwMode="auto">
              <a:xfrm>
                <a:off x="6826979" y="5440707"/>
                <a:ext cx="1466027" cy="453378"/>
                <a:chOff x="2722313" y="5720772"/>
                <a:chExt cx="1466701" cy="453319"/>
              </a:xfrm>
            </p:grpSpPr>
            <p:sp>
              <p:nvSpPr>
                <p:cNvPr id="42" name="Rectangle 8">
                  <a:extLst>
                    <a:ext uri="{FF2B5EF4-FFF2-40B4-BE49-F238E27FC236}">
                      <a16:creationId xmlns:a16="http://schemas.microsoft.com/office/drawing/2014/main" id="{771E1E56-5077-4003-99F7-0F528652D426}"/>
                    </a:ext>
                  </a:extLst>
                </p:cNvPr>
                <p:cNvSpPr>
                  <a:spLocks noChangeArrowheads="1"/>
                </p:cNvSpPr>
                <p:nvPr/>
              </p:nvSpPr>
              <p:spPr bwMode="auto">
                <a:xfrm>
                  <a:off x="2722313" y="5720772"/>
                  <a:ext cx="1248348" cy="45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栈顶</a:t>
                  </a:r>
                  <a:endParaRPr kumimoji="1" lang="en-US" altLang="zh-CN" b="1" dirty="0">
                    <a:solidFill>
                      <a:schemeClr val="bg1"/>
                    </a:solidFill>
                    <a:latin typeface="Lucida Fax" charset="0"/>
                    <a:ea typeface="微软雅黑" charset="0"/>
                    <a:cs typeface="微软雅黑" charset="0"/>
                  </a:endParaRPr>
                </a:p>
              </p:txBody>
            </p:sp>
            <p:sp>
              <p:nvSpPr>
                <p:cNvPr id="43" name="Line 9">
                  <a:extLst>
                    <a:ext uri="{FF2B5EF4-FFF2-40B4-BE49-F238E27FC236}">
                      <a16:creationId xmlns:a16="http://schemas.microsoft.com/office/drawing/2014/main" id="{831BE8F1-64F3-4CA5-8C43-ED2B13982702}"/>
                    </a:ext>
                  </a:extLst>
                </p:cNvPr>
                <p:cNvSpPr>
                  <a:spLocks noChangeShapeType="1"/>
                </p:cNvSpPr>
                <p:nvPr/>
              </p:nvSpPr>
              <p:spPr bwMode="auto">
                <a:xfrm>
                  <a:off x="3450488" y="5901955"/>
                  <a:ext cx="738526" cy="0"/>
                </a:xfrm>
                <a:prstGeom prst="line">
                  <a:avLst/>
                </a:prstGeom>
                <a:noFill/>
                <a:ln w="635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grpSp>
          <p:sp>
            <p:nvSpPr>
              <p:cNvPr id="34" name="Line 9">
                <a:extLst>
                  <a:ext uri="{FF2B5EF4-FFF2-40B4-BE49-F238E27FC236}">
                    <a16:creationId xmlns:a16="http://schemas.microsoft.com/office/drawing/2014/main" id="{08499D38-7601-4425-B1C2-5E806670DCA3}"/>
                  </a:ext>
                </a:extLst>
              </p:cNvPr>
              <p:cNvSpPr>
                <a:spLocks noChangeShapeType="1"/>
              </p:cNvSpPr>
              <p:nvPr/>
            </p:nvSpPr>
            <p:spPr bwMode="auto">
              <a:xfrm>
                <a:off x="7575113" y="5415416"/>
                <a:ext cx="738187" cy="0"/>
              </a:xfrm>
              <a:prstGeom prst="line">
                <a:avLst/>
              </a:prstGeom>
              <a:noFill/>
              <a:ln w="63500">
                <a:solidFill>
                  <a:schemeClr val="accent4">
                    <a:lumMod val="40000"/>
                    <a:lumOff val="6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sp>
            <p:nvSpPr>
              <p:cNvPr id="35" name="Rectangle 8">
                <a:extLst>
                  <a:ext uri="{FF2B5EF4-FFF2-40B4-BE49-F238E27FC236}">
                    <a16:creationId xmlns:a16="http://schemas.microsoft.com/office/drawing/2014/main" id="{E20D1AFB-AA52-4D24-A1B1-80B9A3A291C8}"/>
                  </a:ext>
                </a:extLst>
              </p:cNvPr>
              <p:cNvSpPr>
                <a:spLocks noChangeArrowheads="1"/>
              </p:cNvSpPr>
              <p:nvPr/>
            </p:nvSpPr>
            <p:spPr bwMode="auto">
              <a:xfrm>
                <a:off x="6826979" y="5110769"/>
                <a:ext cx="1247775" cy="45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栈底</a:t>
                </a:r>
                <a:endParaRPr kumimoji="1" lang="en-US" altLang="zh-CN" b="1" dirty="0">
                  <a:solidFill>
                    <a:schemeClr val="bg1"/>
                  </a:solidFill>
                  <a:latin typeface="Lucida Fax" charset="0"/>
                  <a:ea typeface="微软雅黑" charset="0"/>
                  <a:cs typeface="微软雅黑" charset="0"/>
                </a:endParaRPr>
              </a:p>
            </p:txBody>
          </p:sp>
          <p:sp>
            <p:nvSpPr>
              <p:cNvPr id="36" name="文本框 35">
                <a:extLst>
                  <a:ext uri="{FF2B5EF4-FFF2-40B4-BE49-F238E27FC236}">
                    <a16:creationId xmlns:a16="http://schemas.microsoft.com/office/drawing/2014/main" id="{EFC57C83-C4EB-4420-8435-8643E6CB71FD}"/>
                  </a:ext>
                </a:extLst>
              </p:cNvPr>
              <p:cNvSpPr txBox="1"/>
              <p:nvPr/>
            </p:nvSpPr>
            <p:spPr>
              <a:xfrm>
                <a:off x="10371006" y="5208586"/>
                <a:ext cx="386081" cy="491160"/>
              </a:xfrm>
              <a:prstGeom prst="rect">
                <a:avLst/>
              </a:prstGeom>
              <a:noFill/>
            </p:spPr>
            <p:txBody>
              <a:bodyPr wrap="none" rtlCol="0">
                <a:spAutoFit/>
              </a:bodyPr>
              <a:lstStyle/>
              <a:p>
                <a:r>
                  <a:rPr kumimoji="1" lang="en-US" altLang="zh-CN" sz="2000" dirty="0">
                    <a:solidFill>
                      <a:schemeClr val="bg1"/>
                    </a:solidFill>
                  </a:rPr>
                  <a:t>0</a:t>
                </a:r>
                <a:endParaRPr kumimoji="1" lang="zh-CN" altLang="en-US" sz="2000" dirty="0">
                  <a:solidFill>
                    <a:schemeClr val="bg1"/>
                  </a:solidFill>
                </a:endParaRPr>
              </a:p>
            </p:txBody>
          </p:sp>
          <p:sp>
            <p:nvSpPr>
              <p:cNvPr id="37" name="文本框 36">
                <a:extLst>
                  <a:ext uri="{FF2B5EF4-FFF2-40B4-BE49-F238E27FC236}">
                    <a16:creationId xmlns:a16="http://schemas.microsoft.com/office/drawing/2014/main" id="{088D08BA-D893-4332-B896-28B6EBF59746}"/>
                  </a:ext>
                </a:extLst>
              </p:cNvPr>
              <p:cNvSpPr txBox="1"/>
              <p:nvPr/>
            </p:nvSpPr>
            <p:spPr>
              <a:xfrm>
                <a:off x="10371006" y="4713872"/>
                <a:ext cx="386081" cy="491160"/>
              </a:xfrm>
              <a:prstGeom prst="rect">
                <a:avLst/>
              </a:prstGeom>
              <a:noFill/>
            </p:spPr>
            <p:txBody>
              <a:bodyPr wrap="none" rtlCol="0">
                <a:spAutoFit/>
              </a:bodyPr>
              <a:lstStyle/>
              <a:p>
                <a:r>
                  <a:rPr kumimoji="1" lang="en-US" altLang="zh-CN" sz="2000" dirty="0">
                    <a:solidFill>
                      <a:schemeClr val="bg1"/>
                    </a:solidFill>
                  </a:rPr>
                  <a:t>1</a:t>
                </a:r>
                <a:endParaRPr kumimoji="1" lang="zh-CN" altLang="en-US" sz="2000" dirty="0">
                  <a:solidFill>
                    <a:schemeClr val="bg1"/>
                  </a:solidFill>
                </a:endParaRPr>
              </a:p>
            </p:txBody>
          </p:sp>
          <p:sp>
            <p:nvSpPr>
              <p:cNvPr id="38" name="文本框 37">
                <a:extLst>
                  <a:ext uri="{FF2B5EF4-FFF2-40B4-BE49-F238E27FC236}">
                    <a16:creationId xmlns:a16="http://schemas.microsoft.com/office/drawing/2014/main" id="{7AB627E7-E1DA-4DBC-9720-25938131B055}"/>
                  </a:ext>
                </a:extLst>
              </p:cNvPr>
              <p:cNvSpPr txBox="1"/>
              <p:nvPr/>
            </p:nvSpPr>
            <p:spPr>
              <a:xfrm>
                <a:off x="10371006" y="4261362"/>
                <a:ext cx="386081" cy="491160"/>
              </a:xfrm>
              <a:prstGeom prst="rect">
                <a:avLst/>
              </a:prstGeom>
              <a:noFill/>
            </p:spPr>
            <p:txBody>
              <a:bodyPr wrap="none" rtlCol="0">
                <a:spAutoFit/>
              </a:bodyPr>
              <a:lstStyle/>
              <a:p>
                <a:r>
                  <a:rPr kumimoji="1" lang="en-US" altLang="zh-CN" sz="2000" dirty="0">
                    <a:solidFill>
                      <a:schemeClr val="bg1"/>
                    </a:solidFill>
                  </a:rPr>
                  <a:t>2</a:t>
                </a:r>
                <a:endParaRPr kumimoji="1" lang="zh-CN" altLang="en-US" sz="2000" dirty="0">
                  <a:solidFill>
                    <a:schemeClr val="bg1"/>
                  </a:solidFill>
                </a:endParaRPr>
              </a:p>
            </p:txBody>
          </p:sp>
          <p:sp>
            <p:nvSpPr>
              <p:cNvPr id="39" name="文本框 38">
                <a:extLst>
                  <a:ext uri="{FF2B5EF4-FFF2-40B4-BE49-F238E27FC236}">
                    <a16:creationId xmlns:a16="http://schemas.microsoft.com/office/drawing/2014/main" id="{B7640115-1F5F-407C-8A3B-6548FCC8CCCF}"/>
                  </a:ext>
                </a:extLst>
              </p:cNvPr>
              <p:cNvSpPr txBox="1"/>
              <p:nvPr/>
            </p:nvSpPr>
            <p:spPr>
              <a:xfrm>
                <a:off x="10371006" y="3780719"/>
                <a:ext cx="386081" cy="491160"/>
              </a:xfrm>
              <a:prstGeom prst="rect">
                <a:avLst/>
              </a:prstGeom>
              <a:noFill/>
            </p:spPr>
            <p:txBody>
              <a:bodyPr wrap="none" rtlCol="0">
                <a:spAutoFit/>
              </a:bodyPr>
              <a:lstStyle/>
              <a:p>
                <a:r>
                  <a:rPr kumimoji="1" lang="en-US" altLang="zh-CN" sz="2000" dirty="0">
                    <a:solidFill>
                      <a:schemeClr val="bg1"/>
                    </a:solidFill>
                  </a:rPr>
                  <a:t>3</a:t>
                </a:r>
                <a:endParaRPr kumimoji="1" lang="zh-CN" altLang="en-US" sz="2000" dirty="0">
                  <a:solidFill>
                    <a:schemeClr val="bg1"/>
                  </a:solidFill>
                </a:endParaRPr>
              </a:p>
            </p:txBody>
          </p:sp>
          <p:sp>
            <p:nvSpPr>
              <p:cNvPr id="40" name="文本框 39">
                <a:extLst>
                  <a:ext uri="{FF2B5EF4-FFF2-40B4-BE49-F238E27FC236}">
                    <a16:creationId xmlns:a16="http://schemas.microsoft.com/office/drawing/2014/main" id="{565DCDCB-9B5E-4D93-8764-B2ECB995E41D}"/>
                  </a:ext>
                </a:extLst>
              </p:cNvPr>
              <p:cNvSpPr txBox="1"/>
              <p:nvPr/>
            </p:nvSpPr>
            <p:spPr>
              <a:xfrm>
                <a:off x="10371006" y="3328206"/>
                <a:ext cx="386081" cy="491160"/>
              </a:xfrm>
              <a:prstGeom prst="rect">
                <a:avLst/>
              </a:prstGeom>
              <a:noFill/>
            </p:spPr>
            <p:txBody>
              <a:bodyPr wrap="none" rtlCol="0">
                <a:spAutoFit/>
              </a:bodyPr>
              <a:lstStyle/>
              <a:p>
                <a:r>
                  <a:rPr kumimoji="1" lang="en-US" altLang="zh-CN" sz="2000" dirty="0">
                    <a:solidFill>
                      <a:schemeClr val="bg1"/>
                    </a:solidFill>
                  </a:rPr>
                  <a:t>4</a:t>
                </a:r>
                <a:endParaRPr kumimoji="1" lang="zh-CN" altLang="en-US" sz="2000" dirty="0">
                  <a:solidFill>
                    <a:schemeClr val="bg1"/>
                  </a:solidFill>
                </a:endParaRPr>
              </a:p>
            </p:txBody>
          </p:sp>
          <p:sp>
            <p:nvSpPr>
              <p:cNvPr id="41" name="文本框 40">
                <a:extLst>
                  <a:ext uri="{FF2B5EF4-FFF2-40B4-BE49-F238E27FC236}">
                    <a16:creationId xmlns:a16="http://schemas.microsoft.com/office/drawing/2014/main" id="{D1B4BA74-A608-404B-B719-3F62B9E30386}"/>
                  </a:ext>
                </a:extLst>
              </p:cNvPr>
              <p:cNvSpPr txBox="1"/>
              <p:nvPr/>
            </p:nvSpPr>
            <p:spPr>
              <a:xfrm>
                <a:off x="10371006" y="2833493"/>
                <a:ext cx="386081" cy="491160"/>
              </a:xfrm>
              <a:prstGeom prst="rect">
                <a:avLst/>
              </a:prstGeom>
              <a:noFill/>
            </p:spPr>
            <p:txBody>
              <a:bodyPr wrap="none" rtlCol="0">
                <a:spAutoFit/>
              </a:bodyPr>
              <a:lstStyle/>
              <a:p>
                <a:r>
                  <a:rPr kumimoji="1" lang="en-US" altLang="zh-CN" sz="2000" dirty="0">
                    <a:solidFill>
                      <a:schemeClr val="bg1"/>
                    </a:solidFill>
                  </a:rPr>
                  <a:t>5</a:t>
                </a:r>
                <a:endParaRPr kumimoji="1" lang="zh-CN" altLang="en-US" sz="2000" dirty="0">
                  <a:solidFill>
                    <a:schemeClr val="bg1"/>
                  </a:solidFill>
                </a:endParaRPr>
              </a:p>
            </p:txBody>
          </p:sp>
        </p:grpSp>
        <p:grpSp>
          <p:nvGrpSpPr>
            <p:cNvPr id="45" name="组合 44">
              <a:extLst>
                <a:ext uri="{FF2B5EF4-FFF2-40B4-BE49-F238E27FC236}">
                  <a16:creationId xmlns:a16="http://schemas.microsoft.com/office/drawing/2014/main" id="{1A906CA3-9915-4977-8E58-29A8B2510337}"/>
                </a:ext>
              </a:extLst>
            </p:cNvPr>
            <p:cNvGrpSpPr/>
            <p:nvPr/>
          </p:nvGrpSpPr>
          <p:grpSpPr>
            <a:xfrm>
              <a:off x="2165084" y="3568961"/>
              <a:ext cx="3201555" cy="2536169"/>
              <a:chOff x="6826979" y="2780780"/>
              <a:chExt cx="3930108" cy="3113305"/>
            </a:xfrm>
          </p:grpSpPr>
          <p:sp>
            <p:nvSpPr>
              <p:cNvPr id="46" name="Text Box 14">
                <a:extLst>
                  <a:ext uri="{FF2B5EF4-FFF2-40B4-BE49-F238E27FC236}">
                    <a16:creationId xmlns:a16="http://schemas.microsoft.com/office/drawing/2014/main" id="{4693658E-11D7-4B83-9B50-F0B98B36D2C7}"/>
                  </a:ext>
                </a:extLst>
              </p:cNvPr>
              <p:cNvSpPr txBox="1">
                <a:spLocks noChangeArrowheads="1"/>
              </p:cNvSpPr>
              <p:nvPr/>
            </p:nvSpPr>
            <p:spPr bwMode="auto">
              <a:xfrm>
                <a:off x="8395115" y="2780780"/>
                <a:ext cx="1893856" cy="64228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solidFill>
                    <a:schemeClr val="bg1"/>
                  </a:solidFill>
                  <a:latin typeface="Lucida Fax" charset="0"/>
                  <a:ea typeface="微软雅黑" charset="0"/>
                  <a:cs typeface="微软雅黑" charset="0"/>
                </a:endParaRPr>
              </a:p>
            </p:txBody>
          </p:sp>
          <p:sp>
            <p:nvSpPr>
              <p:cNvPr id="47" name="Text Box 5">
                <a:extLst>
                  <a:ext uri="{FF2B5EF4-FFF2-40B4-BE49-F238E27FC236}">
                    <a16:creationId xmlns:a16="http://schemas.microsoft.com/office/drawing/2014/main" id="{7A2BF9EF-DEFC-4405-B731-C69ABA45EF31}"/>
                  </a:ext>
                </a:extLst>
              </p:cNvPr>
              <p:cNvSpPr txBox="1">
                <a:spLocks noChangeArrowheads="1"/>
              </p:cNvSpPr>
              <p:nvPr/>
            </p:nvSpPr>
            <p:spPr bwMode="auto">
              <a:xfrm>
                <a:off x="8395115" y="50604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48" name="Text Box 6">
                <a:extLst>
                  <a:ext uri="{FF2B5EF4-FFF2-40B4-BE49-F238E27FC236}">
                    <a16:creationId xmlns:a16="http://schemas.microsoft.com/office/drawing/2014/main" id="{BAB83487-8533-4864-8251-20784479F890}"/>
                  </a:ext>
                </a:extLst>
              </p:cNvPr>
              <p:cNvSpPr txBox="1">
                <a:spLocks noChangeArrowheads="1"/>
              </p:cNvSpPr>
              <p:nvPr/>
            </p:nvSpPr>
            <p:spPr bwMode="auto">
              <a:xfrm>
                <a:off x="8395115" y="46032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49" name="Text Box 7">
                <a:extLst>
                  <a:ext uri="{FF2B5EF4-FFF2-40B4-BE49-F238E27FC236}">
                    <a16:creationId xmlns:a16="http://schemas.microsoft.com/office/drawing/2014/main" id="{D4C69F44-2E80-4924-87C4-0A837E435A57}"/>
                  </a:ext>
                </a:extLst>
              </p:cNvPr>
              <p:cNvSpPr txBox="1">
                <a:spLocks noChangeArrowheads="1"/>
              </p:cNvSpPr>
              <p:nvPr/>
            </p:nvSpPr>
            <p:spPr bwMode="auto">
              <a:xfrm>
                <a:off x="8395115" y="41460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50" name="Text Box 12">
                <a:extLst>
                  <a:ext uri="{FF2B5EF4-FFF2-40B4-BE49-F238E27FC236}">
                    <a16:creationId xmlns:a16="http://schemas.microsoft.com/office/drawing/2014/main" id="{ACA7D1B9-C22B-4CDC-B044-B260C73BC031}"/>
                  </a:ext>
                </a:extLst>
              </p:cNvPr>
              <p:cNvSpPr txBox="1">
                <a:spLocks noChangeArrowheads="1"/>
              </p:cNvSpPr>
              <p:nvPr/>
            </p:nvSpPr>
            <p:spPr bwMode="auto">
              <a:xfrm>
                <a:off x="8395115" y="3688830"/>
                <a:ext cx="1893856" cy="71784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endParaRPr lang="en-US" altLang="zh-CN" sz="3200" b="1" dirty="0">
                  <a:solidFill>
                    <a:schemeClr val="bg1"/>
                  </a:solidFill>
                  <a:latin typeface="Calibri" panose="020F0502020204030204" pitchFamily="34" charset="0"/>
                  <a:ea typeface="微软雅黑" pitchFamily="34" charset="-122"/>
                </a:endParaRPr>
              </a:p>
            </p:txBody>
          </p:sp>
          <p:sp>
            <p:nvSpPr>
              <p:cNvPr id="51" name="Text Box 13">
                <a:extLst>
                  <a:ext uri="{FF2B5EF4-FFF2-40B4-BE49-F238E27FC236}">
                    <a16:creationId xmlns:a16="http://schemas.microsoft.com/office/drawing/2014/main" id="{F659B8A8-5244-4366-ADB4-1A6AD71CD6DD}"/>
                  </a:ext>
                </a:extLst>
              </p:cNvPr>
              <p:cNvSpPr txBox="1">
                <a:spLocks noChangeArrowheads="1"/>
              </p:cNvSpPr>
              <p:nvPr/>
            </p:nvSpPr>
            <p:spPr bwMode="auto">
              <a:xfrm>
                <a:off x="8395115" y="3240716"/>
                <a:ext cx="1893856" cy="566722"/>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400" b="1" dirty="0">
                  <a:solidFill>
                    <a:schemeClr val="bg1"/>
                  </a:solidFill>
                  <a:latin typeface="Lucida Fax" charset="0"/>
                  <a:ea typeface="微软雅黑" charset="0"/>
                  <a:cs typeface="微软雅黑" charset="0"/>
                </a:endParaRPr>
              </a:p>
            </p:txBody>
          </p:sp>
          <p:grpSp>
            <p:nvGrpSpPr>
              <p:cNvPr id="52" name="组合 5">
                <a:extLst>
                  <a:ext uri="{FF2B5EF4-FFF2-40B4-BE49-F238E27FC236}">
                    <a16:creationId xmlns:a16="http://schemas.microsoft.com/office/drawing/2014/main" id="{C7A16657-D8CF-45C0-A3C0-B788BF8DDF69}"/>
                  </a:ext>
                </a:extLst>
              </p:cNvPr>
              <p:cNvGrpSpPr>
                <a:grpSpLocks/>
              </p:cNvGrpSpPr>
              <p:nvPr/>
            </p:nvGrpSpPr>
            <p:grpSpPr bwMode="auto">
              <a:xfrm>
                <a:off x="6826979" y="5440707"/>
                <a:ext cx="1466027" cy="453378"/>
                <a:chOff x="2722313" y="5720772"/>
                <a:chExt cx="1466701" cy="453319"/>
              </a:xfrm>
            </p:grpSpPr>
            <p:sp>
              <p:nvSpPr>
                <p:cNvPr id="61" name="Rectangle 8">
                  <a:extLst>
                    <a:ext uri="{FF2B5EF4-FFF2-40B4-BE49-F238E27FC236}">
                      <a16:creationId xmlns:a16="http://schemas.microsoft.com/office/drawing/2014/main" id="{2FA7A9E2-6D3B-464B-8ABE-76EC28C90BB5}"/>
                    </a:ext>
                  </a:extLst>
                </p:cNvPr>
                <p:cNvSpPr>
                  <a:spLocks noChangeArrowheads="1"/>
                </p:cNvSpPr>
                <p:nvPr/>
              </p:nvSpPr>
              <p:spPr bwMode="auto">
                <a:xfrm>
                  <a:off x="2722313" y="5720772"/>
                  <a:ext cx="1248348" cy="45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栈顶</a:t>
                  </a:r>
                  <a:endParaRPr kumimoji="1" lang="en-US" altLang="zh-CN" b="1" dirty="0">
                    <a:solidFill>
                      <a:schemeClr val="bg1"/>
                    </a:solidFill>
                    <a:latin typeface="Lucida Fax" charset="0"/>
                    <a:ea typeface="微软雅黑" charset="0"/>
                    <a:cs typeface="微软雅黑" charset="0"/>
                  </a:endParaRPr>
                </a:p>
              </p:txBody>
            </p:sp>
            <p:sp>
              <p:nvSpPr>
                <p:cNvPr id="62" name="Line 9">
                  <a:extLst>
                    <a:ext uri="{FF2B5EF4-FFF2-40B4-BE49-F238E27FC236}">
                      <a16:creationId xmlns:a16="http://schemas.microsoft.com/office/drawing/2014/main" id="{A8E37E03-3AC0-41E2-9705-5DE8BA4D4A88}"/>
                    </a:ext>
                  </a:extLst>
                </p:cNvPr>
                <p:cNvSpPr>
                  <a:spLocks noChangeShapeType="1"/>
                </p:cNvSpPr>
                <p:nvPr/>
              </p:nvSpPr>
              <p:spPr bwMode="auto">
                <a:xfrm>
                  <a:off x="3450488" y="5901955"/>
                  <a:ext cx="738526" cy="0"/>
                </a:xfrm>
                <a:prstGeom prst="line">
                  <a:avLst/>
                </a:prstGeom>
                <a:noFill/>
                <a:ln w="635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grpSp>
          <p:sp>
            <p:nvSpPr>
              <p:cNvPr id="53" name="Line 9">
                <a:extLst>
                  <a:ext uri="{FF2B5EF4-FFF2-40B4-BE49-F238E27FC236}">
                    <a16:creationId xmlns:a16="http://schemas.microsoft.com/office/drawing/2014/main" id="{EB34F509-6247-4A16-ABDD-C9A66C1261A7}"/>
                  </a:ext>
                </a:extLst>
              </p:cNvPr>
              <p:cNvSpPr>
                <a:spLocks noChangeShapeType="1"/>
              </p:cNvSpPr>
              <p:nvPr/>
            </p:nvSpPr>
            <p:spPr bwMode="auto">
              <a:xfrm>
                <a:off x="7575113" y="5415416"/>
                <a:ext cx="738187" cy="0"/>
              </a:xfrm>
              <a:prstGeom prst="line">
                <a:avLst/>
              </a:prstGeom>
              <a:noFill/>
              <a:ln w="63500">
                <a:solidFill>
                  <a:schemeClr val="accent4">
                    <a:lumMod val="40000"/>
                    <a:lumOff val="6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solidFill>
                    <a:schemeClr val="bg1"/>
                  </a:solidFill>
                  <a:latin typeface="Arial" charset="0"/>
                  <a:ea typeface="宋体" charset="0"/>
                </a:endParaRPr>
              </a:p>
            </p:txBody>
          </p:sp>
          <p:sp>
            <p:nvSpPr>
              <p:cNvPr id="54" name="Rectangle 8">
                <a:extLst>
                  <a:ext uri="{FF2B5EF4-FFF2-40B4-BE49-F238E27FC236}">
                    <a16:creationId xmlns:a16="http://schemas.microsoft.com/office/drawing/2014/main" id="{752F11FA-FADE-4B8A-9054-40AF358E94C2}"/>
                  </a:ext>
                </a:extLst>
              </p:cNvPr>
              <p:cNvSpPr>
                <a:spLocks noChangeArrowheads="1"/>
              </p:cNvSpPr>
              <p:nvPr/>
            </p:nvSpPr>
            <p:spPr bwMode="auto">
              <a:xfrm>
                <a:off x="6826979" y="5110769"/>
                <a:ext cx="1247775" cy="45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b="1" dirty="0">
                    <a:solidFill>
                      <a:schemeClr val="bg1"/>
                    </a:solidFill>
                    <a:latin typeface="Lucida Fax" charset="0"/>
                    <a:ea typeface="微软雅黑" charset="0"/>
                    <a:cs typeface="微软雅黑" charset="0"/>
                  </a:rPr>
                  <a:t>栈底</a:t>
                </a:r>
                <a:endParaRPr kumimoji="1" lang="en-US" altLang="zh-CN" b="1" dirty="0">
                  <a:solidFill>
                    <a:schemeClr val="bg1"/>
                  </a:solidFill>
                  <a:latin typeface="Lucida Fax" charset="0"/>
                  <a:ea typeface="微软雅黑" charset="0"/>
                  <a:cs typeface="微软雅黑" charset="0"/>
                </a:endParaRPr>
              </a:p>
            </p:txBody>
          </p:sp>
          <p:sp>
            <p:nvSpPr>
              <p:cNvPr id="55" name="文本框 54">
                <a:extLst>
                  <a:ext uri="{FF2B5EF4-FFF2-40B4-BE49-F238E27FC236}">
                    <a16:creationId xmlns:a16="http://schemas.microsoft.com/office/drawing/2014/main" id="{12836FA7-B390-454D-9AE6-836E7269A557}"/>
                  </a:ext>
                </a:extLst>
              </p:cNvPr>
              <p:cNvSpPr txBox="1"/>
              <p:nvPr/>
            </p:nvSpPr>
            <p:spPr>
              <a:xfrm>
                <a:off x="10371006" y="5208586"/>
                <a:ext cx="386081" cy="491160"/>
              </a:xfrm>
              <a:prstGeom prst="rect">
                <a:avLst/>
              </a:prstGeom>
              <a:noFill/>
            </p:spPr>
            <p:txBody>
              <a:bodyPr wrap="none" rtlCol="0">
                <a:spAutoFit/>
              </a:bodyPr>
              <a:lstStyle/>
              <a:p>
                <a:r>
                  <a:rPr kumimoji="1" lang="en-US" altLang="zh-CN" sz="2000" dirty="0">
                    <a:solidFill>
                      <a:schemeClr val="bg1"/>
                    </a:solidFill>
                  </a:rPr>
                  <a:t>0</a:t>
                </a:r>
                <a:endParaRPr kumimoji="1" lang="zh-CN" altLang="en-US" sz="2000" dirty="0">
                  <a:solidFill>
                    <a:schemeClr val="bg1"/>
                  </a:solidFill>
                </a:endParaRPr>
              </a:p>
            </p:txBody>
          </p:sp>
          <p:sp>
            <p:nvSpPr>
              <p:cNvPr id="56" name="文本框 55">
                <a:extLst>
                  <a:ext uri="{FF2B5EF4-FFF2-40B4-BE49-F238E27FC236}">
                    <a16:creationId xmlns:a16="http://schemas.microsoft.com/office/drawing/2014/main" id="{938CB557-87A6-4604-B40E-986E83653627}"/>
                  </a:ext>
                </a:extLst>
              </p:cNvPr>
              <p:cNvSpPr txBox="1"/>
              <p:nvPr/>
            </p:nvSpPr>
            <p:spPr>
              <a:xfrm>
                <a:off x="10371006" y="4713872"/>
                <a:ext cx="386081" cy="491160"/>
              </a:xfrm>
              <a:prstGeom prst="rect">
                <a:avLst/>
              </a:prstGeom>
              <a:noFill/>
            </p:spPr>
            <p:txBody>
              <a:bodyPr wrap="none" rtlCol="0">
                <a:spAutoFit/>
              </a:bodyPr>
              <a:lstStyle/>
              <a:p>
                <a:r>
                  <a:rPr kumimoji="1" lang="en-US" altLang="zh-CN" sz="2000" dirty="0">
                    <a:solidFill>
                      <a:schemeClr val="bg1"/>
                    </a:solidFill>
                  </a:rPr>
                  <a:t>1</a:t>
                </a:r>
                <a:endParaRPr kumimoji="1" lang="zh-CN" altLang="en-US" sz="2000" dirty="0">
                  <a:solidFill>
                    <a:schemeClr val="bg1"/>
                  </a:solidFill>
                </a:endParaRPr>
              </a:p>
            </p:txBody>
          </p:sp>
          <p:sp>
            <p:nvSpPr>
              <p:cNvPr id="57" name="文本框 56">
                <a:extLst>
                  <a:ext uri="{FF2B5EF4-FFF2-40B4-BE49-F238E27FC236}">
                    <a16:creationId xmlns:a16="http://schemas.microsoft.com/office/drawing/2014/main" id="{82C7B312-6B4C-4451-9674-D07AF7548B97}"/>
                  </a:ext>
                </a:extLst>
              </p:cNvPr>
              <p:cNvSpPr txBox="1"/>
              <p:nvPr/>
            </p:nvSpPr>
            <p:spPr>
              <a:xfrm>
                <a:off x="10371006" y="4261362"/>
                <a:ext cx="386081" cy="491160"/>
              </a:xfrm>
              <a:prstGeom prst="rect">
                <a:avLst/>
              </a:prstGeom>
              <a:noFill/>
            </p:spPr>
            <p:txBody>
              <a:bodyPr wrap="none" rtlCol="0">
                <a:spAutoFit/>
              </a:bodyPr>
              <a:lstStyle/>
              <a:p>
                <a:r>
                  <a:rPr kumimoji="1" lang="en-US" altLang="zh-CN" sz="2000" dirty="0">
                    <a:solidFill>
                      <a:schemeClr val="bg1"/>
                    </a:solidFill>
                  </a:rPr>
                  <a:t>2</a:t>
                </a:r>
                <a:endParaRPr kumimoji="1" lang="zh-CN" altLang="en-US" sz="2000" dirty="0">
                  <a:solidFill>
                    <a:schemeClr val="bg1"/>
                  </a:solidFill>
                </a:endParaRPr>
              </a:p>
            </p:txBody>
          </p:sp>
          <p:sp>
            <p:nvSpPr>
              <p:cNvPr id="58" name="文本框 57">
                <a:extLst>
                  <a:ext uri="{FF2B5EF4-FFF2-40B4-BE49-F238E27FC236}">
                    <a16:creationId xmlns:a16="http://schemas.microsoft.com/office/drawing/2014/main" id="{11102B64-9F0C-4D52-83B2-29A38C3B3D3C}"/>
                  </a:ext>
                </a:extLst>
              </p:cNvPr>
              <p:cNvSpPr txBox="1"/>
              <p:nvPr/>
            </p:nvSpPr>
            <p:spPr>
              <a:xfrm>
                <a:off x="10371006" y="3780719"/>
                <a:ext cx="386081" cy="491160"/>
              </a:xfrm>
              <a:prstGeom prst="rect">
                <a:avLst/>
              </a:prstGeom>
              <a:noFill/>
            </p:spPr>
            <p:txBody>
              <a:bodyPr wrap="none" rtlCol="0">
                <a:spAutoFit/>
              </a:bodyPr>
              <a:lstStyle/>
              <a:p>
                <a:r>
                  <a:rPr kumimoji="1" lang="en-US" altLang="zh-CN" sz="2000" dirty="0">
                    <a:solidFill>
                      <a:schemeClr val="bg1"/>
                    </a:solidFill>
                  </a:rPr>
                  <a:t>3</a:t>
                </a:r>
                <a:endParaRPr kumimoji="1" lang="zh-CN" altLang="en-US" sz="2000" dirty="0">
                  <a:solidFill>
                    <a:schemeClr val="bg1"/>
                  </a:solidFill>
                </a:endParaRPr>
              </a:p>
            </p:txBody>
          </p:sp>
          <p:sp>
            <p:nvSpPr>
              <p:cNvPr id="59" name="文本框 58">
                <a:extLst>
                  <a:ext uri="{FF2B5EF4-FFF2-40B4-BE49-F238E27FC236}">
                    <a16:creationId xmlns:a16="http://schemas.microsoft.com/office/drawing/2014/main" id="{4653433D-D526-4944-B7E1-FD69420F64BC}"/>
                  </a:ext>
                </a:extLst>
              </p:cNvPr>
              <p:cNvSpPr txBox="1"/>
              <p:nvPr/>
            </p:nvSpPr>
            <p:spPr>
              <a:xfrm>
                <a:off x="10371006" y="3328206"/>
                <a:ext cx="386081" cy="491160"/>
              </a:xfrm>
              <a:prstGeom prst="rect">
                <a:avLst/>
              </a:prstGeom>
              <a:noFill/>
            </p:spPr>
            <p:txBody>
              <a:bodyPr wrap="none" rtlCol="0">
                <a:spAutoFit/>
              </a:bodyPr>
              <a:lstStyle/>
              <a:p>
                <a:r>
                  <a:rPr kumimoji="1" lang="en-US" altLang="zh-CN" sz="2000" dirty="0">
                    <a:solidFill>
                      <a:schemeClr val="bg1"/>
                    </a:solidFill>
                  </a:rPr>
                  <a:t>4</a:t>
                </a:r>
                <a:endParaRPr kumimoji="1" lang="zh-CN" altLang="en-US" sz="2000" dirty="0">
                  <a:solidFill>
                    <a:schemeClr val="bg1"/>
                  </a:solidFill>
                </a:endParaRPr>
              </a:p>
            </p:txBody>
          </p:sp>
          <p:sp>
            <p:nvSpPr>
              <p:cNvPr id="60" name="文本框 59">
                <a:extLst>
                  <a:ext uri="{FF2B5EF4-FFF2-40B4-BE49-F238E27FC236}">
                    <a16:creationId xmlns:a16="http://schemas.microsoft.com/office/drawing/2014/main" id="{0A2F5F74-03FE-4245-B40A-6D32F2B78A17}"/>
                  </a:ext>
                </a:extLst>
              </p:cNvPr>
              <p:cNvSpPr txBox="1"/>
              <p:nvPr/>
            </p:nvSpPr>
            <p:spPr>
              <a:xfrm>
                <a:off x="10371006" y="2833493"/>
                <a:ext cx="386081" cy="491160"/>
              </a:xfrm>
              <a:prstGeom prst="rect">
                <a:avLst/>
              </a:prstGeom>
              <a:noFill/>
            </p:spPr>
            <p:txBody>
              <a:bodyPr wrap="none" rtlCol="0">
                <a:spAutoFit/>
              </a:bodyPr>
              <a:lstStyle/>
              <a:p>
                <a:r>
                  <a:rPr kumimoji="1" lang="en-US" altLang="zh-CN" sz="2000" dirty="0">
                    <a:solidFill>
                      <a:schemeClr val="bg1"/>
                    </a:solidFill>
                  </a:rPr>
                  <a:t>5</a:t>
                </a:r>
                <a:endParaRPr kumimoji="1" lang="zh-CN" altLang="en-US" sz="2000" dirty="0">
                  <a:solidFill>
                    <a:schemeClr val="bg1"/>
                  </a:solidFill>
                </a:endParaRPr>
              </a:p>
            </p:txBody>
          </p:sp>
        </p:grpSp>
        <p:sp>
          <p:nvSpPr>
            <p:cNvPr id="44" name="箭头: 圆角右 43">
              <a:extLst>
                <a:ext uri="{FF2B5EF4-FFF2-40B4-BE49-F238E27FC236}">
                  <a16:creationId xmlns:a16="http://schemas.microsoft.com/office/drawing/2014/main" id="{BB4765E2-62F6-4954-83B3-089B3A6B97B0}"/>
                </a:ext>
              </a:extLst>
            </p:cNvPr>
            <p:cNvSpPr/>
            <p:nvPr/>
          </p:nvSpPr>
          <p:spPr>
            <a:xfrm rot="16200000" flipH="1">
              <a:off x="8532903" y="2237858"/>
              <a:ext cx="834364" cy="1547920"/>
            </a:xfrm>
            <a:prstGeom prst="bentArrow">
              <a:avLst>
                <a:gd name="adj1" fmla="val 31576"/>
                <a:gd name="adj2" fmla="val 25000"/>
                <a:gd name="adj3" fmla="val 2061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 name="文本框 62">
              <a:extLst>
                <a:ext uri="{FF2B5EF4-FFF2-40B4-BE49-F238E27FC236}">
                  <a16:creationId xmlns:a16="http://schemas.microsoft.com/office/drawing/2014/main" id="{033DCD16-F956-4703-9857-A2C60DBA51DE}"/>
                </a:ext>
              </a:extLst>
            </p:cNvPr>
            <p:cNvSpPr txBox="1"/>
            <p:nvPr/>
          </p:nvSpPr>
          <p:spPr>
            <a:xfrm>
              <a:off x="9724045" y="2476424"/>
              <a:ext cx="1335622" cy="461665"/>
            </a:xfrm>
            <a:prstGeom prst="rect">
              <a:avLst/>
            </a:prstGeom>
            <a:noFill/>
          </p:spPr>
          <p:txBody>
            <a:bodyPr wrap="none" rtlCol="0">
              <a:spAutoFit/>
            </a:bodyPr>
            <a:lstStyle/>
            <a:p>
              <a:r>
                <a:rPr lang="en-US" altLang="zh-CN" sz="2400" dirty="0" err="1"/>
                <a:t>EnQueue</a:t>
              </a:r>
              <a:endParaRPr lang="zh-CN" altLang="en-US" sz="2400" dirty="0"/>
            </a:p>
          </p:txBody>
        </p:sp>
        <p:sp>
          <p:nvSpPr>
            <p:cNvPr id="67" name="箭头: 圆角右 66">
              <a:extLst>
                <a:ext uri="{FF2B5EF4-FFF2-40B4-BE49-F238E27FC236}">
                  <a16:creationId xmlns:a16="http://schemas.microsoft.com/office/drawing/2014/main" id="{78C44CD2-80DA-45DF-97D8-9463F4736AD0}"/>
                </a:ext>
              </a:extLst>
            </p:cNvPr>
            <p:cNvSpPr/>
            <p:nvPr/>
          </p:nvSpPr>
          <p:spPr>
            <a:xfrm flipH="1">
              <a:off x="1567596" y="2594637"/>
              <a:ext cx="2234907" cy="911976"/>
            </a:xfrm>
            <a:prstGeom prst="bentArrow">
              <a:avLst>
                <a:gd name="adj1" fmla="val 32019"/>
                <a:gd name="adj2" fmla="val 25502"/>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文本框 67">
              <a:extLst>
                <a:ext uri="{FF2B5EF4-FFF2-40B4-BE49-F238E27FC236}">
                  <a16:creationId xmlns:a16="http://schemas.microsoft.com/office/drawing/2014/main" id="{E3209F22-7008-4FEE-AACC-01418EEE3A51}"/>
                </a:ext>
              </a:extLst>
            </p:cNvPr>
            <p:cNvSpPr txBox="1"/>
            <p:nvPr/>
          </p:nvSpPr>
          <p:spPr>
            <a:xfrm>
              <a:off x="133841" y="2588960"/>
              <a:ext cx="1366080" cy="461665"/>
            </a:xfrm>
            <a:prstGeom prst="rect">
              <a:avLst/>
            </a:prstGeom>
            <a:noFill/>
          </p:spPr>
          <p:txBody>
            <a:bodyPr wrap="none" rtlCol="0">
              <a:spAutoFit/>
            </a:bodyPr>
            <a:lstStyle/>
            <a:p>
              <a:r>
                <a:rPr lang="en-US" altLang="zh-CN" sz="2400" dirty="0" err="1"/>
                <a:t>DeQueue</a:t>
              </a:r>
              <a:endParaRPr lang="zh-CN" altLang="en-US" sz="2400" dirty="0"/>
            </a:p>
          </p:txBody>
        </p:sp>
        <p:sp>
          <p:nvSpPr>
            <p:cNvPr id="57346" name="文本框 57345">
              <a:extLst>
                <a:ext uri="{FF2B5EF4-FFF2-40B4-BE49-F238E27FC236}">
                  <a16:creationId xmlns:a16="http://schemas.microsoft.com/office/drawing/2014/main" id="{42E6BC7E-3CFD-47C3-84A5-9984DA75568C}"/>
                </a:ext>
              </a:extLst>
            </p:cNvPr>
            <p:cNvSpPr txBox="1"/>
            <p:nvPr/>
          </p:nvSpPr>
          <p:spPr>
            <a:xfrm>
              <a:off x="8754818" y="2534975"/>
              <a:ext cx="704039"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push</a:t>
              </a:r>
              <a:endParaRPr lang="zh-CN" altLang="en-US" dirty="0">
                <a:solidFill>
                  <a:schemeClr val="bg1"/>
                </a:solidFill>
                <a:latin typeface="Aharoni" panose="02010803020104030203" pitchFamily="2" charset="-79"/>
                <a:cs typeface="Aharoni" panose="02010803020104030203" pitchFamily="2" charset="-79"/>
              </a:endParaRPr>
            </a:p>
          </p:txBody>
        </p:sp>
        <p:sp>
          <p:nvSpPr>
            <p:cNvPr id="72" name="文本框 71">
              <a:extLst>
                <a:ext uri="{FF2B5EF4-FFF2-40B4-BE49-F238E27FC236}">
                  <a16:creationId xmlns:a16="http://schemas.microsoft.com/office/drawing/2014/main" id="{70DCDFF7-8803-4B4E-80D8-6AB169C2C5F8}"/>
                </a:ext>
              </a:extLst>
            </p:cNvPr>
            <p:cNvSpPr txBox="1"/>
            <p:nvPr/>
          </p:nvSpPr>
          <p:spPr>
            <a:xfrm>
              <a:off x="2401168" y="2622780"/>
              <a:ext cx="612668"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pop</a:t>
              </a:r>
              <a:endParaRPr lang="zh-CN" altLang="en-US" dirty="0">
                <a:solidFill>
                  <a:schemeClr val="bg1"/>
                </a:solidFill>
                <a:latin typeface="Aharoni" panose="02010803020104030203" pitchFamily="2" charset="-79"/>
                <a:cs typeface="Aharoni" panose="02010803020104030203" pitchFamily="2" charset="-79"/>
              </a:endParaRPr>
            </a:p>
          </p:txBody>
        </p:sp>
        <p:sp>
          <p:nvSpPr>
            <p:cNvPr id="57347" name="箭头: 手杖形 57346">
              <a:extLst>
                <a:ext uri="{FF2B5EF4-FFF2-40B4-BE49-F238E27FC236}">
                  <a16:creationId xmlns:a16="http://schemas.microsoft.com/office/drawing/2014/main" id="{35B039E7-E18F-4CC2-AA33-006F52C8F1E4}"/>
                </a:ext>
              </a:extLst>
            </p:cNvPr>
            <p:cNvSpPr/>
            <p:nvPr/>
          </p:nvSpPr>
          <p:spPr>
            <a:xfrm flipH="1">
              <a:off x="4401997" y="2634931"/>
              <a:ext cx="3161479" cy="780745"/>
            </a:xfrm>
            <a:prstGeom prst="uturnArrow">
              <a:avLst>
                <a:gd name="adj1" fmla="val 27716"/>
                <a:gd name="adj2" fmla="val 25000"/>
                <a:gd name="adj3" fmla="val 25000"/>
                <a:gd name="adj4" fmla="val 43750"/>
                <a:gd name="adj5"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solidFill>
                  <a:schemeClr val="tx1"/>
                </a:solidFill>
              </a:endParaRPr>
            </a:p>
          </p:txBody>
        </p:sp>
        <p:sp>
          <p:nvSpPr>
            <p:cNvPr id="74" name="文本框 73">
              <a:extLst>
                <a:ext uri="{FF2B5EF4-FFF2-40B4-BE49-F238E27FC236}">
                  <a16:creationId xmlns:a16="http://schemas.microsoft.com/office/drawing/2014/main" id="{D80B322F-8910-46A1-B048-42640790D5AB}"/>
                </a:ext>
              </a:extLst>
            </p:cNvPr>
            <p:cNvSpPr txBox="1"/>
            <p:nvPr/>
          </p:nvSpPr>
          <p:spPr>
            <a:xfrm>
              <a:off x="6733508" y="2534975"/>
              <a:ext cx="612668" cy="369332"/>
            </a:xfrm>
            <a:prstGeom prst="rect">
              <a:avLst/>
            </a:prstGeom>
            <a:noFill/>
          </p:spPr>
          <p:txBody>
            <a:bodyPr wrap="none" rtlCol="0">
              <a:spAutoFit/>
            </a:bodyPr>
            <a:lstStyle/>
            <a:p>
              <a:r>
                <a:rPr lang="en-US" altLang="zh-CN" dirty="0">
                  <a:solidFill>
                    <a:schemeClr val="bg1"/>
                  </a:solidFill>
                  <a:latin typeface="Aharoni" panose="02010803020104030203" pitchFamily="2" charset="-79"/>
                  <a:cs typeface="Aharoni" panose="02010803020104030203" pitchFamily="2" charset="-79"/>
                </a:rPr>
                <a:t>pop</a:t>
              </a:r>
              <a:endParaRPr lang="zh-CN" altLang="en-US" dirty="0">
                <a:solidFill>
                  <a:schemeClr val="bg1"/>
                </a:solidFill>
                <a:latin typeface="Aharoni" panose="02010803020104030203" pitchFamily="2" charset="-79"/>
                <a:cs typeface="Aharoni" panose="02010803020104030203" pitchFamily="2" charset="-79"/>
              </a:endParaRPr>
            </a:p>
          </p:txBody>
        </p:sp>
        <p:sp>
          <p:nvSpPr>
            <p:cNvPr id="75" name="文本框 74">
              <a:extLst>
                <a:ext uri="{FF2B5EF4-FFF2-40B4-BE49-F238E27FC236}">
                  <a16:creationId xmlns:a16="http://schemas.microsoft.com/office/drawing/2014/main" id="{286995A9-8DA8-41FD-B2ED-7BF417EC23F9}"/>
                </a:ext>
              </a:extLst>
            </p:cNvPr>
            <p:cNvSpPr txBox="1"/>
            <p:nvPr/>
          </p:nvSpPr>
          <p:spPr>
            <a:xfrm>
              <a:off x="4741337" y="2551626"/>
              <a:ext cx="704039" cy="369332"/>
            </a:xfrm>
            <a:prstGeom prst="rect">
              <a:avLst/>
            </a:prstGeom>
            <a:noFill/>
          </p:spPr>
          <p:txBody>
            <a:bodyPr wrap="square" rtlCol="0">
              <a:spAutoFit/>
            </a:bodyPr>
            <a:lstStyle/>
            <a:p>
              <a:r>
                <a:rPr lang="en-US" altLang="zh-CN" dirty="0">
                  <a:solidFill>
                    <a:schemeClr val="bg1"/>
                  </a:solidFill>
                  <a:latin typeface="Aharoni" panose="02010803020104030203" pitchFamily="2" charset="-79"/>
                  <a:cs typeface="Aharoni" panose="02010803020104030203" pitchFamily="2" charset="-79"/>
                </a:rPr>
                <a:t>push</a:t>
              </a:r>
              <a:endParaRPr lang="zh-CN" altLang="en-US" dirty="0">
                <a:solidFill>
                  <a:schemeClr val="bg1"/>
                </a:solidFill>
                <a:latin typeface="Aharoni" panose="02010803020104030203" pitchFamily="2" charset="-79"/>
                <a:cs typeface="Aharoni" panose="02010803020104030203" pitchFamily="2" charset="-79"/>
              </a:endParaRPr>
            </a:p>
          </p:txBody>
        </p:sp>
      </p:grpSp>
      <p:sp>
        <p:nvSpPr>
          <p:cNvPr id="57349" name="文本框 57348">
            <a:extLst>
              <a:ext uri="{FF2B5EF4-FFF2-40B4-BE49-F238E27FC236}">
                <a16:creationId xmlns:a16="http://schemas.microsoft.com/office/drawing/2014/main" id="{E3B8F74C-FDD8-4CD6-83A3-2AAC60FF2C5C}"/>
              </a:ext>
            </a:extLst>
          </p:cNvPr>
          <p:cNvSpPr txBox="1"/>
          <p:nvPr/>
        </p:nvSpPr>
        <p:spPr>
          <a:xfrm>
            <a:off x="9612945" y="4444040"/>
            <a:ext cx="2168110" cy="1477328"/>
          </a:xfrm>
          <a:prstGeom prst="rect">
            <a:avLst/>
          </a:prstGeom>
          <a:noFill/>
        </p:spPr>
        <p:txBody>
          <a:bodyPr wrap="square" rtlCol="0">
            <a:spAutoFit/>
          </a:bodyPr>
          <a:lstStyle/>
          <a:p>
            <a:r>
              <a:rPr lang="en-US" altLang="zh-CN" dirty="0">
                <a:solidFill>
                  <a:srgbClr val="C00000"/>
                </a:solidFill>
                <a:latin typeface="微软雅黑" panose="020B0503020204020204" pitchFamily="34" charset="-122"/>
                <a:ea typeface="微软雅黑" panose="020B0503020204020204" pitchFamily="34" charset="-122"/>
              </a:rPr>
              <a:t>Hint</a:t>
            </a:r>
            <a:r>
              <a:rPr lang="zh-CN" altLang="en-US" dirty="0">
                <a:solidFill>
                  <a:srgbClr val="C00000"/>
                </a:solidFill>
                <a:latin typeface="微软雅黑" panose="020B0503020204020204" pitchFamily="34" charset="-122"/>
                <a:ea typeface="微软雅黑" panose="020B0503020204020204" pitchFamily="34" charset="-122"/>
              </a:rPr>
              <a:t>：每个元素从入队</a:t>
            </a:r>
            <a:r>
              <a:rPr lang="en-US" altLang="zh-CN" dirty="0">
                <a:solidFill>
                  <a:srgbClr val="C00000"/>
                </a:solidFill>
                <a:latin typeface="微软雅黑" panose="020B0503020204020204" pitchFamily="34" charset="-122"/>
                <a:ea typeface="微软雅黑" panose="020B0503020204020204" pitchFamily="34" charset="-122"/>
              </a:rPr>
              <a:t>(enqueue)</a:t>
            </a:r>
            <a:r>
              <a:rPr lang="zh-CN" altLang="en-US" dirty="0">
                <a:solidFill>
                  <a:srgbClr val="C00000"/>
                </a:solidFill>
                <a:latin typeface="微软雅黑" panose="020B0503020204020204" pitchFamily="34" charset="-122"/>
                <a:ea typeface="微软雅黑" panose="020B0503020204020204" pitchFamily="34" charset="-122"/>
              </a:rPr>
              <a:t>到出队</a:t>
            </a:r>
            <a:r>
              <a:rPr lang="en-US" altLang="zh-CN" dirty="0">
                <a:solidFill>
                  <a:srgbClr val="C00000"/>
                </a:solidFill>
                <a:latin typeface="微软雅黑" panose="020B0503020204020204" pitchFamily="34" charset="-122"/>
                <a:ea typeface="微软雅黑" panose="020B0503020204020204" pitchFamily="34" charset="-122"/>
              </a:rPr>
              <a:t>(dequeue)</a:t>
            </a:r>
            <a:r>
              <a:rPr lang="zh-CN" altLang="en-US" dirty="0">
                <a:solidFill>
                  <a:srgbClr val="C00000"/>
                </a:solidFill>
                <a:latin typeface="微软雅黑" panose="020B0503020204020204" pitchFamily="34" charset="-122"/>
                <a:ea typeface="微软雅黑" panose="020B0503020204020204" pitchFamily="34" charset="-122"/>
              </a:rPr>
              <a:t>，需要经历几次入栈</a:t>
            </a:r>
            <a:r>
              <a:rPr lang="en-US" altLang="zh-CN" dirty="0">
                <a:solidFill>
                  <a:srgbClr val="C00000"/>
                </a:solidFill>
                <a:latin typeface="微软雅黑" panose="020B0503020204020204" pitchFamily="34" charset="-122"/>
                <a:ea typeface="微软雅黑" panose="020B0503020204020204" pitchFamily="34" charset="-122"/>
              </a:rPr>
              <a:t>(push)</a:t>
            </a:r>
            <a:r>
              <a:rPr lang="zh-CN" altLang="en-US" dirty="0">
                <a:solidFill>
                  <a:srgbClr val="C00000"/>
                </a:solidFill>
                <a:latin typeface="微软雅黑" panose="020B0503020204020204" pitchFamily="34" charset="-122"/>
                <a:ea typeface="微软雅黑" panose="020B0503020204020204" pitchFamily="34" charset="-122"/>
              </a:rPr>
              <a:t>和出栈</a:t>
            </a:r>
            <a:r>
              <a:rPr lang="en-US" altLang="zh-CN" dirty="0">
                <a:solidFill>
                  <a:srgbClr val="C00000"/>
                </a:solidFill>
                <a:latin typeface="微软雅黑" panose="020B0503020204020204" pitchFamily="34" charset="-122"/>
                <a:ea typeface="微软雅黑" panose="020B0503020204020204" pitchFamily="34" charset="-122"/>
              </a:rPr>
              <a:t>(pop)</a:t>
            </a:r>
            <a:r>
              <a:rPr lang="zh-CN" altLang="en-US"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24621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0EB6BACE-4ECE-418C-B8FF-39C100CE2F18}"/>
              </a:ext>
            </a:extLst>
          </p:cNvPr>
          <p:cNvSpPr>
            <a:spLocks noGrp="1" noChangeArrowheads="1"/>
          </p:cNvSpPr>
          <p:nvPr>
            <p:ph type="title"/>
          </p:nvPr>
        </p:nvSpPr>
        <p:spPr/>
        <p:txBody>
          <a:bodyPr>
            <a:normAutofit/>
          </a:bodyPr>
          <a:lstStyle/>
          <a:p>
            <a:pPr>
              <a:spcBef>
                <a:spcPct val="50000"/>
              </a:spcBef>
              <a:defRPr/>
            </a:pPr>
            <a:r>
              <a:rPr kumimoji="0"/>
              <a:t>变种的栈和队列结构 </a:t>
            </a:r>
          </a:p>
        </p:txBody>
      </p:sp>
      <p:sp>
        <p:nvSpPr>
          <p:cNvPr id="2" name="副标题 1">
            <a:extLst>
              <a:ext uri="{FF2B5EF4-FFF2-40B4-BE49-F238E27FC236}">
                <a16:creationId xmlns:a16="http://schemas.microsoft.com/office/drawing/2014/main" id="{A7881E1B-D238-4389-8CA8-8662203F637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97A955F-90B4-46CC-AF36-99E7812B51F6}"/>
              </a:ext>
            </a:extLst>
          </p:cNvPr>
          <p:cNvSpPr>
            <a:spLocks noGrp="1"/>
          </p:cNvSpPr>
          <p:nvPr>
            <p:ph type="body" idx="10"/>
          </p:nvPr>
        </p:nvSpPr>
        <p:spPr/>
        <p:txBody>
          <a:bodyPr/>
          <a:lstStyle/>
          <a:p>
            <a:endParaRPr lang="zh-CN" altLang="en-US"/>
          </a:p>
        </p:txBody>
      </p:sp>
      <p:sp>
        <p:nvSpPr>
          <p:cNvPr id="36867" name="Rectangle 3">
            <a:extLst>
              <a:ext uri="{FF2B5EF4-FFF2-40B4-BE49-F238E27FC236}">
                <a16:creationId xmlns:a16="http://schemas.microsoft.com/office/drawing/2014/main" id="{BA5F8FD5-83C9-4405-8237-8A4EB64A8633}"/>
              </a:ext>
            </a:extLst>
          </p:cNvPr>
          <p:cNvSpPr>
            <a:spLocks noGrp="1" noChangeArrowheads="1"/>
          </p:cNvSpPr>
          <p:nvPr>
            <p:ph idx="1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defRPr/>
            </a:pPr>
            <a:r>
              <a:rPr lang="zh-CN" altLang="zh-CN" dirty="0">
                <a:latin typeface="Microsoft YaHei Light" panose="020B0502040204020203" pitchFamily="34" charset="-122"/>
                <a:ea typeface="Microsoft YaHei Light" panose="020B0502040204020203" pitchFamily="34" charset="-122"/>
              </a:rPr>
              <a:t>双端队列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限制插入和删除在线性表的</a:t>
            </a:r>
            <a:r>
              <a:rPr lang="zh-CN" altLang="zh-CN" dirty="0">
                <a:solidFill>
                  <a:srgbClr val="C00000"/>
                </a:solidFill>
                <a:latin typeface="Microsoft YaHei Light" panose="020B0502040204020203" pitchFamily="34" charset="-122"/>
                <a:ea typeface="Microsoft YaHei Light" panose="020B0502040204020203" pitchFamily="34" charset="-122"/>
              </a:rPr>
              <a:t>两端</a:t>
            </a:r>
            <a:r>
              <a:rPr lang="zh-CN" altLang="zh-CN" dirty="0">
                <a:latin typeface="Microsoft YaHei Light" panose="020B0502040204020203" pitchFamily="34" charset="-122"/>
                <a:ea typeface="Microsoft YaHei Light" panose="020B0502040204020203" pitchFamily="34" charset="-122"/>
              </a:rPr>
              <a:t>进行</a:t>
            </a:r>
          </a:p>
          <a:p>
            <a:pPr marL="674722" lvl="1" indent="-341313">
              <a:defRPr/>
            </a:pPr>
            <a:r>
              <a:rPr lang="en-US" altLang="zh-CN" dirty="0">
                <a:latin typeface="Microsoft YaHei Light" panose="020B0502040204020203" pitchFamily="34" charset="-122"/>
                <a:ea typeface="Microsoft YaHei Light" panose="020B0502040204020203" pitchFamily="34" charset="-122"/>
              </a:rPr>
              <a:t> </a:t>
            </a:r>
            <a:r>
              <a:rPr lang="zh-CN" altLang="zh-CN" dirty="0">
                <a:latin typeface="Microsoft YaHei Light" panose="020B0502040204020203" pitchFamily="34" charset="-122"/>
                <a:ea typeface="Microsoft YaHei Light" panose="020B0502040204020203" pitchFamily="34" charset="-122"/>
              </a:rPr>
              <a:t>两个底部相连的栈</a:t>
            </a:r>
          </a:p>
          <a:p>
            <a:pPr marL="341313" indent="-341313">
              <a:defRPr/>
            </a:pPr>
            <a:r>
              <a:rPr lang="zh-CN" altLang="zh-CN" dirty="0">
                <a:latin typeface="Microsoft YaHei Light" panose="020B0502040204020203" pitchFamily="34" charset="-122"/>
                <a:ea typeface="Microsoft YaHei Light" panose="020B0502040204020203" pitchFamily="34" charset="-122"/>
              </a:rPr>
              <a:t>超队列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一种</a:t>
            </a:r>
            <a:r>
              <a:rPr lang="zh-CN" altLang="zh-CN" dirty="0">
                <a:solidFill>
                  <a:srgbClr val="C00000"/>
                </a:solidFill>
                <a:latin typeface="Microsoft YaHei Light" panose="020B0502040204020203" pitchFamily="34" charset="-122"/>
                <a:ea typeface="Microsoft YaHei Light" panose="020B0502040204020203" pitchFamily="34" charset="-122"/>
              </a:rPr>
              <a:t>删除受限</a:t>
            </a:r>
            <a:r>
              <a:rPr lang="zh-CN" altLang="zh-CN" dirty="0">
                <a:latin typeface="Microsoft YaHei Light" panose="020B0502040204020203" pitchFamily="34" charset="-122"/>
                <a:ea typeface="Microsoft YaHei Light" panose="020B0502040204020203" pitchFamily="34" charset="-122"/>
              </a:rPr>
              <a:t>的双端队列：</a:t>
            </a:r>
            <a:r>
              <a:rPr lang="zh-CN" altLang="zh-CN" dirty="0">
                <a:solidFill>
                  <a:srgbClr val="C00000"/>
                </a:solidFill>
                <a:latin typeface="Microsoft YaHei Light" panose="020B0502040204020203" pitchFamily="34" charset="-122"/>
                <a:ea typeface="Microsoft YaHei Light" panose="020B0502040204020203" pitchFamily="34" charset="-122"/>
              </a:rPr>
              <a:t>删除只允许在一端进行</a:t>
            </a:r>
            <a:r>
              <a:rPr lang="zh-CN" altLang="zh-CN" dirty="0">
                <a:latin typeface="Microsoft YaHei Light" panose="020B0502040204020203" pitchFamily="34" charset="-122"/>
                <a:ea typeface="Microsoft YaHei Light" panose="020B0502040204020203" pitchFamily="34" charset="-122"/>
              </a:rPr>
              <a:t>，而插入可在两端进行</a:t>
            </a:r>
          </a:p>
          <a:p>
            <a:pPr marL="341313" indent="-341313">
              <a:defRPr/>
            </a:pPr>
            <a:r>
              <a:rPr lang="zh-CN" altLang="zh-CN" dirty="0">
                <a:latin typeface="Microsoft YaHei Light" panose="020B0502040204020203" pitchFamily="34" charset="-122"/>
                <a:ea typeface="Microsoft YaHei Light" panose="020B0502040204020203" pitchFamily="34" charset="-122"/>
              </a:rPr>
              <a:t>超栈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一种</a:t>
            </a:r>
            <a:r>
              <a:rPr lang="zh-CN" altLang="zh-CN" dirty="0">
                <a:solidFill>
                  <a:srgbClr val="C00000"/>
                </a:solidFill>
                <a:latin typeface="Microsoft YaHei Light" panose="020B0502040204020203" pitchFamily="34" charset="-122"/>
                <a:ea typeface="Microsoft YaHei Light" panose="020B0502040204020203" pitchFamily="34" charset="-122"/>
              </a:rPr>
              <a:t>插入受限</a:t>
            </a:r>
            <a:r>
              <a:rPr lang="zh-CN" altLang="zh-CN" dirty="0">
                <a:latin typeface="Microsoft YaHei Light" panose="020B0502040204020203" pitchFamily="34" charset="-122"/>
                <a:ea typeface="Microsoft YaHei Light" panose="020B0502040204020203" pitchFamily="34" charset="-122"/>
              </a:rPr>
              <a:t>的双端队列，</a:t>
            </a:r>
            <a:r>
              <a:rPr lang="zh-CN" altLang="zh-CN" dirty="0">
                <a:solidFill>
                  <a:srgbClr val="C00000"/>
                </a:solidFill>
                <a:latin typeface="Microsoft YaHei Light" panose="020B0502040204020203" pitchFamily="34" charset="-122"/>
                <a:ea typeface="Microsoft YaHei Light" panose="020B0502040204020203" pitchFamily="34" charset="-122"/>
              </a:rPr>
              <a:t>插入只限制在一端</a:t>
            </a:r>
            <a:r>
              <a:rPr lang="zh-CN" altLang="zh-CN" dirty="0">
                <a:latin typeface="Microsoft YaHei Light" panose="020B0502040204020203" pitchFamily="34" charset="-122"/>
                <a:ea typeface="Microsoft YaHei Light" panose="020B0502040204020203" pitchFamily="34" charset="-122"/>
              </a:rPr>
              <a:t>而删除允许在两端进行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36867">
                                            <p:txEl>
                                              <p:pRg st="0" end="0"/>
                                            </p:txEl>
                                          </p:spTgt>
                                        </p:tgtEl>
                                        <p:attrNameLst>
                                          <p:attrName>style.color</p:attrName>
                                        </p:attrNameLst>
                                      </p:cBhvr>
                                      <p:to>
                                        <a:srgbClr val="0000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6AEE60C3-658F-422B-9ECF-7559872CCAF3}"/>
              </a:ext>
            </a:extLst>
          </p:cNvPr>
          <p:cNvSpPr>
            <a:spLocks noGrp="1" noChangeArrowheads="1"/>
          </p:cNvSpPr>
          <p:nvPr>
            <p:ph type="title"/>
          </p:nvPr>
        </p:nvSpPr>
        <p:spPr/>
        <p:txBody>
          <a:bodyPr>
            <a:normAutofit/>
          </a:bodyPr>
          <a:lstStyle/>
          <a:p>
            <a:pPr eaLnBrk="1" hangingPunct="1">
              <a:spcBef>
                <a:spcPct val="50000"/>
              </a:spcBef>
              <a:defRPr/>
            </a:pPr>
            <a:r>
              <a:rPr kumimoji="0" sz="2800" dirty="0" err="1"/>
              <a:t>栈的应用</a:t>
            </a:r>
            <a:endParaRPr kumimoji="0" sz="2800" dirty="0"/>
          </a:p>
        </p:txBody>
      </p:sp>
      <p:sp>
        <p:nvSpPr>
          <p:cNvPr id="2" name="副标题 1">
            <a:extLst>
              <a:ext uri="{FF2B5EF4-FFF2-40B4-BE49-F238E27FC236}">
                <a16:creationId xmlns:a16="http://schemas.microsoft.com/office/drawing/2014/main" id="{66501E10-B233-46C9-88DF-6A10A92076B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40BE7EF-3D66-4E6B-88AD-7D31A9B44904}"/>
              </a:ext>
            </a:extLst>
          </p:cNvPr>
          <p:cNvSpPr>
            <a:spLocks noGrp="1"/>
          </p:cNvSpPr>
          <p:nvPr>
            <p:ph type="body" idx="10"/>
          </p:nvPr>
        </p:nvSpPr>
        <p:spPr/>
        <p:txBody>
          <a:bodyPr/>
          <a:lstStyle/>
          <a:p>
            <a:endParaRPr lang="zh-CN" altLang="en-US"/>
          </a:p>
        </p:txBody>
      </p:sp>
      <p:sp>
        <p:nvSpPr>
          <p:cNvPr id="873475" name="Rectangle 3">
            <a:extLst>
              <a:ext uri="{FF2B5EF4-FFF2-40B4-BE49-F238E27FC236}">
                <a16:creationId xmlns:a16="http://schemas.microsoft.com/office/drawing/2014/main" id="{4E44B9FF-11CC-406F-84EF-696A0B3EB73B}"/>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栈的特点：</a:t>
            </a:r>
            <a:r>
              <a:rPr lang="zh-CN" altLang="zh-CN" sz="2800" dirty="0">
                <a:solidFill>
                  <a:srgbClr val="C00000"/>
                </a:solidFill>
                <a:latin typeface="Microsoft YaHei Light" panose="020B0502040204020203" pitchFamily="34" charset="-122"/>
                <a:ea typeface="Microsoft YaHei Light" panose="020B0502040204020203" pitchFamily="34" charset="-122"/>
              </a:rPr>
              <a:t>后进先出</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体现了元素间的</a:t>
            </a:r>
            <a:r>
              <a:rPr lang="zh-CN" altLang="zh-CN" dirty="0">
                <a:solidFill>
                  <a:srgbClr val="0000FF"/>
                </a:solidFill>
                <a:latin typeface="Microsoft YaHei Light" panose="020B0502040204020203" pitchFamily="34" charset="-122"/>
                <a:ea typeface="Microsoft YaHei Light" panose="020B0502040204020203" pitchFamily="34" charset="-122"/>
              </a:rPr>
              <a:t>透明性</a:t>
            </a:r>
          </a:p>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常用来处理具有递归结构的数据</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深度优先搜索</a:t>
            </a: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数制转换</a:t>
            </a:r>
            <a:endParaRPr lang="en-US" altLang="zh-CN" dirty="0">
              <a:solidFill>
                <a:srgbClr val="C00000"/>
              </a:solidFill>
              <a:latin typeface="Microsoft YaHei Light" panose="020B0502040204020203" pitchFamily="34" charset="-122"/>
              <a:ea typeface="Microsoft YaHei Light" panose="020B0502040204020203" pitchFamily="34" charset="-122"/>
            </a:endParaRPr>
          </a:p>
          <a:p>
            <a:pPr marL="714375" lvl="1" indent="-369888">
              <a:lnSpc>
                <a:spcPct val="110000"/>
              </a:lnSpc>
              <a:spcBef>
                <a:spcPts val="600"/>
              </a:spcBef>
              <a:buClr>
                <a:srgbClr val="CC3300"/>
              </a:buClr>
            </a:pPr>
            <a:r>
              <a:rPr lang="zh-CN" altLang="en-US" dirty="0">
                <a:solidFill>
                  <a:srgbClr val="C00000"/>
                </a:solidFill>
                <a:latin typeface="Microsoft YaHei Light" panose="020B0502040204020203" pitchFamily="34" charset="-122"/>
                <a:ea typeface="Microsoft YaHei Light" panose="020B0502040204020203" pitchFamily="34" charset="-122"/>
              </a:rPr>
              <a:t>括号语句判定</a:t>
            </a:r>
            <a:endParaRPr lang="en-US" altLang="zh-CN" dirty="0">
              <a:solidFill>
                <a:srgbClr val="C00000"/>
              </a:solidFill>
              <a:latin typeface="Microsoft YaHei Light" panose="020B0502040204020203" pitchFamily="34" charset="-122"/>
              <a:ea typeface="Microsoft YaHei Light" panose="020B0502040204020203" pitchFamily="34" charset="-122"/>
            </a:endParaRP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表达式求值</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行编辑处理</a:t>
            </a:r>
            <a:r>
              <a:rPr lang="zh-CN" altLang="zh-CN" dirty="0">
                <a:solidFill>
                  <a:srgbClr val="C00000"/>
                </a:solidFill>
                <a:latin typeface="Microsoft YaHei Light" panose="020B0502040204020203" pitchFamily="34" charset="-122"/>
                <a:ea typeface="Microsoft YaHei Light" panose="020B0502040204020203" pitchFamily="34" charset="-122"/>
              </a:rPr>
              <a:t> </a:t>
            </a: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子程序／函数调用的管理</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消除递归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873475">
                                            <p:txEl>
                                              <p:pRg st="3" end="3"/>
                                            </p:txEl>
                                          </p:spTgt>
                                        </p:tgtEl>
                                        <p:attrNameLst>
                                          <p:attrName>style.visibility</p:attrName>
                                        </p:attrNameLst>
                                      </p:cBhvr>
                                      <p:to>
                                        <p:strVal val="visible"/>
                                      </p:to>
                                    </p:set>
                                    <p:anim calcmode="lin" valueType="num">
                                      <p:cBhvr>
                                        <p:cTn id="7" dur="500" fill="hold"/>
                                        <p:tgtEl>
                                          <p:spTgt spid="873475">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873475">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873475">
                                            <p:txEl>
                                              <p:pRg st="4" end="4"/>
                                            </p:txEl>
                                          </p:spTgt>
                                        </p:tgtEl>
                                        <p:attrNameLst>
                                          <p:attrName>style.visibility</p:attrName>
                                        </p:attrNameLst>
                                      </p:cBhvr>
                                      <p:to>
                                        <p:strVal val="visible"/>
                                      </p:to>
                                    </p:set>
                                    <p:animEffect transition="in" filter="fade">
                                      <p:cBhvr>
                                        <p:cTn id="13" dur="2000"/>
                                        <p:tgtEl>
                                          <p:spTgt spid="87347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73475">
                                            <p:txEl>
                                              <p:pRg st="5" end="5"/>
                                            </p:txEl>
                                          </p:spTgt>
                                        </p:tgtEl>
                                        <p:attrNameLst>
                                          <p:attrName>style.visibility</p:attrName>
                                        </p:attrNameLst>
                                      </p:cBhvr>
                                      <p:to>
                                        <p:strVal val="visible"/>
                                      </p:to>
                                    </p:set>
                                    <p:animEffect transition="in" filter="fade">
                                      <p:cBhvr>
                                        <p:cTn id="18" dur="2000"/>
                                        <p:tgtEl>
                                          <p:spTgt spid="873475">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873475">
                                            <p:txEl>
                                              <p:pRg st="6" end="6"/>
                                            </p:txEl>
                                          </p:spTgt>
                                        </p:tgtEl>
                                        <p:attrNameLst>
                                          <p:attrName>style.visibility</p:attrName>
                                        </p:attrNameLst>
                                      </p:cBhvr>
                                      <p:to>
                                        <p:strVal val="visible"/>
                                      </p:to>
                                    </p:set>
                                    <p:animEffect transition="in" filter="fade">
                                      <p:cBhvr>
                                        <p:cTn id="23" dur="2000"/>
                                        <p:tgtEl>
                                          <p:spTgt spid="873475">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873475">
                                            <p:txEl>
                                              <p:pRg st="7" end="7"/>
                                            </p:txEl>
                                          </p:spTgt>
                                        </p:tgtEl>
                                        <p:attrNameLst>
                                          <p:attrName>style.visibility</p:attrName>
                                        </p:attrNameLst>
                                      </p:cBhvr>
                                      <p:to>
                                        <p:strVal val="visible"/>
                                      </p:to>
                                    </p:set>
                                    <p:animEffect transition="in" filter="fade">
                                      <p:cBhvr>
                                        <p:cTn id="28" dur="2000"/>
                                        <p:tgtEl>
                                          <p:spTgt spid="873475">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873475">
                                            <p:txEl>
                                              <p:pRg st="8" end="8"/>
                                            </p:txEl>
                                          </p:spTgt>
                                        </p:tgtEl>
                                        <p:attrNameLst>
                                          <p:attrName>style.visibility</p:attrName>
                                        </p:attrNameLst>
                                      </p:cBhvr>
                                      <p:to>
                                        <p:strVal val="visible"/>
                                      </p:to>
                                    </p:set>
                                    <p:animEffect transition="in" filter="fade">
                                      <p:cBhvr>
                                        <p:cTn id="33" dur="2000"/>
                                        <p:tgtEl>
                                          <p:spTgt spid="873475">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873475">
                                            <p:txEl>
                                              <p:pRg st="9" end="9"/>
                                            </p:txEl>
                                          </p:spTgt>
                                        </p:tgtEl>
                                        <p:attrNameLst>
                                          <p:attrName>style.visibility</p:attrName>
                                        </p:attrNameLst>
                                      </p:cBhvr>
                                      <p:to>
                                        <p:strVal val="visible"/>
                                      </p:to>
                                    </p:set>
                                    <p:animEffect transition="in" filter="fade">
                                      <p:cBhvr>
                                        <p:cTn id="38" dur="2000"/>
                                        <p:tgtEl>
                                          <p:spTgt spid="8734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sym typeface="Wingdings" panose="05000000000000000000" pitchFamily="2" charset="2"/>
              </a:rPr>
              <a:t>数制转换</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885763" name="Rectangle 3">
            <a:extLst>
              <a:ext uri="{FF2B5EF4-FFF2-40B4-BE49-F238E27FC236}">
                <a16:creationId xmlns:a16="http://schemas.microsoft.com/office/drawing/2014/main" id="{126AC2D0-112F-4194-8ACF-E1209F8864B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Font typeface="Wingdings" panose="05000000000000000000" pitchFamily="2" charset="2"/>
              <a:buChar char="l"/>
            </a:pPr>
            <a:r>
              <a:rPr lang="zh-CN" altLang="zh-CN" sz="2800" dirty="0">
                <a:latin typeface="Microsoft YaHei Light" panose="020B0502040204020203" pitchFamily="34" charset="-122"/>
                <a:ea typeface="Microsoft YaHei Light" panose="020B0502040204020203" pitchFamily="34" charset="-122"/>
              </a:rPr>
              <a:t>非负十进制数转换成其它进制的一种方法</a:t>
            </a:r>
          </a:p>
          <a:p>
            <a:pPr marL="685800" lvl="1" indent="-342900">
              <a:lnSpc>
                <a:spcPct val="105000"/>
              </a:lnSpc>
              <a:spcBef>
                <a:spcPts val="600"/>
              </a:spcBef>
              <a:buClr>
                <a:srgbClr val="CC3300"/>
              </a:buClr>
              <a:buFont typeface="Wingdings" panose="05000000000000000000" pitchFamily="2" charset="2"/>
              <a:buChar char="ü"/>
            </a:pPr>
            <a:r>
              <a:rPr lang="zh-CN" altLang="zh-CN" sz="2400" dirty="0">
                <a:latin typeface="Microsoft YaHei Light" panose="020B0502040204020203" pitchFamily="34" charset="-122"/>
                <a:ea typeface="Microsoft YaHei Light" panose="020B0502040204020203" pitchFamily="34" charset="-122"/>
              </a:rPr>
              <a:t>例，</a:t>
            </a:r>
            <a:r>
              <a:rPr lang="zh-CN" altLang="zh-CN" sz="2400" dirty="0">
                <a:solidFill>
                  <a:srgbClr val="0000FF"/>
                </a:solidFill>
                <a:latin typeface="Microsoft YaHei Light" panose="020B0502040204020203" pitchFamily="34" charset="-122"/>
                <a:ea typeface="Microsoft YaHei Light" panose="020B0502040204020203" pitchFamily="34" charset="-122"/>
              </a:rPr>
              <a:t>十进制</a:t>
            </a:r>
            <a:r>
              <a:rPr lang="zh-CN" altLang="zh-CN" sz="2400" dirty="0">
                <a:latin typeface="Microsoft YaHei Light" panose="020B0502040204020203" pitchFamily="34" charset="-122"/>
                <a:ea typeface="Microsoft YaHei Light" panose="020B0502040204020203" pitchFamily="34" charset="-122"/>
              </a:rPr>
              <a:t>转换成</a:t>
            </a:r>
            <a:r>
              <a:rPr lang="zh-CN" altLang="zh-CN" sz="2400" dirty="0">
                <a:solidFill>
                  <a:srgbClr val="0000FF"/>
                </a:solidFill>
                <a:latin typeface="Microsoft YaHei Light" panose="020B0502040204020203" pitchFamily="34" charset="-122"/>
                <a:ea typeface="Microsoft YaHei Light" panose="020B0502040204020203" pitchFamily="34" charset="-122"/>
              </a:rPr>
              <a:t>八进制</a:t>
            </a:r>
            <a:r>
              <a:rPr lang="zh-CN" altLang="zh-CN" sz="2400" dirty="0">
                <a:latin typeface="Microsoft YaHei Light" panose="020B0502040204020203" pitchFamily="34" charset="-122"/>
                <a:ea typeface="Microsoft YaHei Light" panose="020B0502040204020203" pitchFamily="34" charset="-122"/>
              </a:rPr>
              <a:t>：</a:t>
            </a:r>
            <a:r>
              <a:rPr lang="en-US" altLang="zh-CN" sz="2400" dirty="0">
                <a:latin typeface="Microsoft YaHei Light" panose="020B0502040204020203" pitchFamily="34" charset="-122"/>
                <a:ea typeface="Microsoft YaHei Light" panose="020B0502040204020203" pitchFamily="34" charset="-122"/>
              </a:rPr>
              <a:t>(66)</a:t>
            </a:r>
            <a:r>
              <a:rPr lang="en-US" altLang="zh-CN" sz="2400" baseline="-25000" dirty="0">
                <a:latin typeface="Microsoft YaHei Light" panose="020B0502040204020203" pitchFamily="34" charset="-122"/>
                <a:ea typeface="Microsoft YaHei Light" panose="020B0502040204020203" pitchFamily="34" charset="-122"/>
              </a:rPr>
              <a:t>10</a:t>
            </a:r>
            <a:r>
              <a:rPr lang="en-US" altLang="zh-CN" sz="2400" dirty="0">
                <a:latin typeface="Microsoft YaHei Light" panose="020B0502040204020203" pitchFamily="34" charset="-122"/>
                <a:ea typeface="Microsoft YaHei Light" panose="020B0502040204020203" pitchFamily="34" charset="-122"/>
              </a:rPr>
              <a:t>=(102)</a:t>
            </a:r>
            <a:r>
              <a:rPr lang="en-US" altLang="zh-CN" sz="2400" baseline="-25000" dirty="0">
                <a:latin typeface="Microsoft YaHei Light" panose="020B0502040204020203" pitchFamily="34" charset="-122"/>
                <a:ea typeface="Microsoft YaHei Light" panose="020B0502040204020203" pitchFamily="34" charset="-122"/>
              </a:rPr>
              <a:t>8</a:t>
            </a:r>
            <a:endParaRPr lang="en-US" altLang="zh-CN" sz="2800" baseline="-25000" dirty="0">
              <a:latin typeface="Microsoft YaHei Light" panose="020B0502040204020203" pitchFamily="34" charset="-122"/>
              <a:ea typeface="Microsoft YaHei Light" panose="020B0502040204020203" pitchFamily="34" charset="-122"/>
            </a:endParaRP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66/8 = 8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2</a:t>
            </a: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8/8   = 1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0</a:t>
            </a: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1/8   = 0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1</a:t>
            </a:r>
          </a:p>
          <a:p>
            <a:pPr marL="357188" indent="-357188">
              <a:lnSpc>
                <a:spcPct val="105000"/>
              </a:lnSpc>
              <a:spcBef>
                <a:spcPts val="600"/>
              </a:spcBef>
              <a:buFont typeface="Wingdings" panose="05000000000000000000" pitchFamily="2" charset="2"/>
              <a:buNone/>
            </a:pPr>
            <a:r>
              <a:rPr lang="en-US" altLang="zh-CN" sz="2400" dirty="0">
                <a:latin typeface="Microsoft YaHei Light" panose="020B0502040204020203" pitchFamily="34" charset="-122"/>
                <a:ea typeface="Microsoft YaHei Light" panose="020B0502040204020203" pitchFamily="34" charset="-122"/>
              </a:rPr>
              <a:t>    </a:t>
            </a:r>
            <a:r>
              <a:rPr lang="zh-CN" altLang="zh-CN" sz="2400" dirty="0">
                <a:latin typeface="Microsoft YaHei Light" panose="020B0502040204020203" pitchFamily="34" charset="-122"/>
                <a:ea typeface="Microsoft YaHei Light" panose="020B0502040204020203" pitchFamily="34" charset="-122"/>
              </a:rPr>
              <a:t>结果为余数的</a:t>
            </a:r>
            <a:r>
              <a:rPr lang="zh-CN" altLang="zh-CN" sz="2400" dirty="0">
                <a:solidFill>
                  <a:srgbClr val="C00000"/>
                </a:solidFill>
                <a:latin typeface="Microsoft YaHei Light" panose="020B0502040204020203" pitchFamily="34" charset="-122"/>
                <a:ea typeface="Microsoft YaHei Light" panose="020B0502040204020203" pitchFamily="34" charset="-122"/>
              </a:rPr>
              <a:t>逆序</a:t>
            </a:r>
            <a:r>
              <a:rPr lang="zh-CN" altLang="zh-CN" sz="2400" dirty="0">
                <a:latin typeface="Microsoft YaHei Light" panose="020B0502040204020203" pitchFamily="34" charset="-122"/>
                <a:ea typeface="Microsoft YaHei Light" panose="020B0502040204020203" pitchFamily="34" charset="-122"/>
              </a:rPr>
              <a:t>：</a:t>
            </a:r>
            <a:r>
              <a:rPr lang="en-US" altLang="zh-CN" sz="2400" dirty="0">
                <a:latin typeface="Microsoft YaHei Light" panose="020B0502040204020203" pitchFamily="34" charset="-122"/>
                <a:ea typeface="Microsoft YaHei Light" panose="020B0502040204020203" pitchFamily="34" charset="-122"/>
              </a:rPr>
              <a:t>102 </a:t>
            </a:r>
          </a:p>
          <a:p>
            <a:pPr marL="357188" indent="-357188">
              <a:lnSpc>
                <a:spcPct val="105000"/>
              </a:lnSpc>
              <a:spcBef>
                <a:spcPts val="600"/>
              </a:spcBef>
              <a:buFont typeface="Wingdings" panose="05000000000000000000" pitchFamily="2" charset="2"/>
              <a:buChar char="l"/>
            </a:pPr>
            <a:r>
              <a:rPr lang="zh-CN" altLang="zh-CN" sz="2800" dirty="0">
                <a:latin typeface="Microsoft YaHei Light" panose="020B0502040204020203" pitchFamily="34" charset="-122"/>
                <a:ea typeface="Microsoft YaHei Light" panose="020B0502040204020203" pitchFamily="34" charset="-122"/>
              </a:rPr>
              <a:t>特点： </a:t>
            </a:r>
            <a:r>
              <a:rPr lang="zh-CN" altLang="en-US" sz="2800" dirty="0">
                <a:latin typeface="Microsoft YaHei Light" panose="020B0502040204020203" pitchFamily="34" charset="-122"/>
                <a:ea typeface="Microsoft YaHei Light" panose="020B0502040204020203" pitchFamily="34" charset="-122"/>
              </a:rPr>
              <a:t>最</a:t>
            </a:r>
            <a:r>
              <a:rPr lang="zh-CN" altLang="zh-CN" sz="2800" dirty="0">
                <a:latin typeface="Microsoft YaHei Light" panose="020B0502040204020203" pitchFamily="34" charset="-122"/>
                <a:ea typeface="Microsoft YaHei Light" panose="020B0502040204020203" pitchFamily="34" charset="-122"/>
              </a:rPr>
              <a:t>先求得的</a:t>
            </a:r>
            <a:r>
              <a:rPr lang="zh-CN" altLang="zh-CN" sz="2800" dirty="0">
                <a:solidFill>
                  <a:srgbClr val="0000FF"/>
                </a:solidFill>
                <a:latin typeface="Microsoft YaHei Light" panose="020B0502040204020203" pitchFamily="34" charset="-122"/>
                <a:ea typeface="Microsoft YaHei Light" panose="020B0502040204020203" pitchFamily="34" charset="-122"/>
              </a:rPr>
              <a:t>余数</a:t>
            </a:r>
            <a:r>
              <a:rPr lang="zh-CN" altLang="en-US" sz="2800" dirty="0">
                <a:latin typeface="Microsoft YaHei Light" panose="020B0502040204020203" pitchFamily="34" charset="-122"/>
                <a:ea typeface="Microsoft YaHei Light" panose="020B0502040204020203" pitchFamily="34" charset="-122"/>
              </a:rPr>
              <a:t>在输出</a:t>
            </a:r>
            <a:r>
              <a:rPr lang="zh-CN" altLang="zh-CN" sz="2800" dirty="0">
                <a:latin typeface="Microsoft YaHei Light" panose="020B0502040204020203" pitchFamily="34" charset="-122"/>
                <a:ea typeface="Microsoft YaHei Light" panose="020B0502040204020203" pitchFamily="34" charset="-122"/>
              </a:rPr>
              <a:t>结果</a:t>
            </a:r>
            <a:r>
              <a:rPr lang="zh-CN" altLang="en-US" sz="2800" dirty="0">
                <a:latin typeface="Microsoft YaHei Light" panose="020B0502040204020203" pitchFamily="34" charset="-122"/>
                <a:ea typeface="Microsoft YaHei Light" panose="020B0502040204020203" pitchFamily="34" charset="-122"/>
              </a:rPr>
              <a:t>中</a:t>
            </a:r>
            <a:r>
              <a:rPr lang="zh-CN" altLang="zh-CN" sz="2800" dirty="0">
                <a:latin typeface="Microsoft YaHei Light" panose="020B0502040204020203" pitchFamily="34" charset="-122"/>
                <a:ea typeface="Microsoft YaHei Light" panose="020B0502040204020203" pitchFamily="34" charset="-122"/>
              </a:rPr>
              <a:t>最后写出，最后求出的</a:t>
            </a:r>
            <a:r>
              <a:rPr lang="zh-CN" altLang="zh-CN" sz="2800" dirty="0">
                <a:solidFill>
                  <a:srgbClr val="0000FF"/>
                </a:solidFill>
                <a:latin typeface="Microsoft YaHei Light" panose="020B0502040204020203" pitchFamily="34" charset="-122"/>
                <a:ea typeface="Microsoft YaHei Light" panose="020B0502040204020203" pitchFamily="34" charset="-122"/>
              </a:rPr>
              <a:t>余数</a:t>
            </a:r>
            <a:r>
              <a:rPr lang="zh-CN" altLang="zh-CN" sz="2800" dirty="0">
                <a:latin typeface="Microsoft YaHei Light" panose="020B0502040204020203" pitchFamily="34" charset="-122"/>
                <a:ea typeface="Microsoft YaHei Light" panose="020B0502040204020203" pitchFamily="34" charset="-122"/>
              </a:rPr>
              <a:t>最先写出，符合</a:t>
            </a:r>
            <a:r>
              <a:rPr lang="zh-CN" altLang="zh-CN" sz="2800" dirty="0">
                <a:solidFill>
                  <a:srgbClr val="0000FF"/>
                </a:solidFill>
                <a:latin typeface="Microsoft YaHei Light" panose="020B0502040204020203" pitchFamily="34" charset="-122"/>
                <a:ea typeface="Microsoft YaHei Light" panose="020B0502040204020203" pitchFamily="34" charset="-122"/>
              </a:rPr>
              <a:t>栈的先入后出</a:t>
            </a:r>
            <a:r>
              <a:rPr lang="zh-CN" altLang="zh-CN" sz="2800" dirty="0">
                <a:latin typeface="Microsoft YaHei Light" panose="020B0502040204020203" pitchFamily="34" charset="-122"/>
                <a:ea typeface="Microsoft YaHei Light" panose="020B0502040204020203" pitchFamily="34" charset="-122"/>
              </a:rPr>
              <a:t>性质，故可用</a:t>
            </a:r>
            <a:r>
              <a:rPr lang="zh-CN" altLang="zh-CN" sz="2800" dirty="0">
                <a:solidFill>
                  <a:srgbClr val="0000FF"/>
                </a:solidFill>
                <a:latin typeface="Microsoft YaHei Light" panose="020B0502040204020203" pitchFamily="34" charset="-122"/>
                <a:ea typeface="Microsoft YaHei Light" panose="020B0502040204020203" pitchFamily="34" charset="-122"/>
              </a:rPr>
              <a:t>栈</a:t>
            </a:r>
            <a:r>
              <a:rPr lang="zh-CN" altLang="zh-CN" sz="2800" dirty="0">
                <a:latin typeface="Microsoft YaHei Light" panose="020B0502040204020203" pitchFamily="34" charset="-122"/>
                <a:ea typeface="Microsoft YaHei Light" panose="020B0502040204020203" pitchFamily="34" charset="-122"/>
              </a:rPr>
              <a:t>来实现数制转换</a:t>
            </a:r>
          </a:p>
          <a:p>
            <a:pPr marL="685800" lvl="1" indent="-342900">
              <a:lnSpc>
                <a:spcPct val="105000"/>
              </a:lnSpc>
              <a:spcBef>
                <a:spcPts val="600"/>
              </a:spcBef>
              <a:buClr>
                <a:srgbClr val="CC3300"/>
              </a:buClr>
              <a:buFont typeface="Wingdings" panose="05000000000000000000" pitchFamily="2" charset="2"/>
              <a:buChar char="ü"/>
            </a:pPr>
            <a:r>
              <a:rPr lang="zh-CN" altLang="zh-CN" sz="2400" dirty="0">
                <a:latin typeface="Microsoft YaHei Light" panose="020B0502040204020203" pitchFamily="34" charset="-122"/>
                <a:ea typeface="Microsoft YaHei Light" panose="020B0502040204020203" pitchFamily="34" charset="-122"/>
              </a:rPr>
              <a:t>同理，一个非负十进制整数</a:t>
            </a:r>
            <a:r>
              <a:rPr lang="en-US" altLang="zh-CN" sz="2400" dirty="0">
                <a:latin typeface="Microsoft YaHei Light" panose="020B0502040204020203" pitchFamily="34" charset="-122"/>
                <a:ea typeface="Microsoft YaHei Light" panose="020B0502040204020203" pitchFamily="34" charset="-122"/>
              </a:rPr>
              <a:t> N </a:t>
            </a:r>
            <a:r>
              <a:rPr lang="zh-CN" altLang="zh-CN" sz="2400" dirty="0">
                <a:latin typeface="Microsoft YaHei Light" panose="020B0502040204020203" pitchFamily="34" charset="-122"/>
                <a:ea typeface="Microsoft YaHei Light" panose="020B0502040204020203" pitchFamily="34" charset="-122"/>
              </a:rPr>
              <a:t>转换为另一个等价的</a:t>
            </a:r>
            <a:r>
              <a:rPr lang="en-US" altLang="zh-CN" sz="2400" dirty="0">
                <a:latin typeface="Microsoft YaHei Light" panose="020B0502040204020203" pitchFamily="34" charset="-122"/>
                <a:ea typeface="Microsoft YaHei Light" panose="020B0502040204020203" pitchFamily="34" charset="-122"/>
              </a:rPr>
              <a:t>B</a:t>
            </a:r>
            <a:r>
              <a:rPr lang="zh-CN" altLang="zh-CN" sz="2400" dirty="0">
                <a:latin typeface="Microsoft YaHei Light" panose="020B0502040204020203" pitchFamily="34" charset="-122"/>
                <a:ea typeface="Microsoft YaHei Light" panose="020B0502040204020203" pitchFamily="34" charset="-122"/>
              </a:rPr>
              <a:t>进制数，可以采用</a:t>
            </a:r>
            <a:r>
              <a:rPr lang="en-US" altLang="zh-CN" sz="2400" dirty="0">
                <a:latin typeface="Microsoft YaHei Light" panose="020B0502040204020203" pitchFamily="34" charset="-122"/>
                <a:ea typeface="Microsoft YaHei Light" panose="020B0502040204020203" pitchFamily="34" charset="-122"/>
              </a:rPr>
              <a:t>“</a:t>
            </a:r>
            <a:r>
              <a:rPr lang="zh-CN" altLang="zh-CN" sz="2400" dirty="0">
                <a:solidFill>
                  <a:srgbClr val="C00000"/>
                </a:solidFill>
                <a:latin typeface="Microsoft YaHei Light" panose="020B0502040204020203" pitchFamily="34" charset="-122"/>
                <a:ea typeface="Microsoft YaHei Light" panose="020B0502040204020203" pitchFamily="34" charset="-122"/>
              </a:rPr>
              <a:t>除</a:t>
            </a:r>
            <a:r>
              <a:rPr lang="en-US" altLang="zh-CN" sz="2400" dirty="0">
                <a:solidFill>
                  <a:srgbClr val="C00000"/>
                </a:solidFill>
                <a:latin typeface="Microsoft YaHei Light" panose="020B0502040204020203" pitchFamily="34" charset="-122"/>
                <a:ea typeface="Microsoft YaHei Light" panose="020B0502040204020203" pitchFamily="34" charset="-122"/>
              </a:rPr>
              <a:t>B</a:t>
            </a:r>
            <a:r>
              <a:rPr lang="zh-CN" altLang="zh-CN" sz="2400" dirty="0">
                <a:solidFill>
                  <a:srgbClr val="C00000"/>
                </a:solidFill>
                <a:latin typeface="Microsoft YaHei Light" panose="020B0502040204020203" pitchFamily="34" charset="-122"/>
                <a:ea typeface="Microsoft YaHei Light" panose="020B0502040204020203" pitchFamily="34" charset="-122"/>
              </a:rPr>
              <a:t>取余法</a:t>
            </a:r>
            <a:r>
              <a:rPr lang="en-US" altLang="zh-CN" sz="2400" dirty="0">
                <a:latin typeface="Microsoft YaHei Light" panose="020B0502040204020203" pitchFamily="34" charset="-122"/>
                <a:ea typeface="Microsoft YaHei Light" panose="020B0502040204020203" pitchFamily="34" charset="-122"/>
              </a:rPr>
              <a:t>”</a:t>
            </a:r>
            <a:r>
              <a:rPr lang="zh-CN" altLang="zh-CN" sz="2400" dirty="0">
                <a:latin typeface="Microsoft YaHei Light" panose="020B0502040204020203" pitchFamily="34" charset="-122"/>
                <a:ea typeface="Microsoft YaHei Light" panose="020B0502040204020203" pitchFamily="34" charset="-122"/>
              </a:rPr>
              <a:t>来解决 </a:t>
            </a:r>
            <a:endParaRPr lang="en-US" altLang="zh-CN" sz="2400"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57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57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576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8576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8576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8576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857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885763" name="Rectangle 3">
            <a:extLst>
              <a:ext uri="{FF2B5EF4-FFF2-40B4-BE49-F238E27FC236}">
                <a16:creationId xmlns:a16="http://schemas.microsoft.com/office/drawing/2014/main" id="{126AC2D0-112F-4194-8ACF-E1209F8864B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a:lnSpc>
                <a:spcPct val="105000"/>
              </a:lnSpc>
              <a:spcBef>
                <a:spcPts val="600"/>
              </a:spcBef>
              <a:buFont typeface="Wingdings" panose="05000000000000000000" pitchFamily="2" charset="2"/>
              <a:buChar char="l"/>
            </a:pPr>
            <a:r>
              <a:rPr lang="zh-CN" altLang="en-US" sz="2800" b="1" dirty="0">
                <a:latin typeface="Microsoft YaHei Light" panose="020B0502040204020203" pitchFamily="34" charset="-122"/>
                <a:ea typeface="Microsoft YaHei Light" panose="020B0502040204020203" pitchFamily="34" charset="-122"/>
              </a:rPr>
              <a:t>括号语句</a:t>
            </a:r>
            <a:r>
              <a:rPr lang="zh-CN" altLang="en-US" sz="2800" dirty="0">
                <a:latin typeface="Microsoft YaHei Light" panose="020B0502040204020203" pitchFamily="34" charset="-122"/>
                <a:ea typeface="Microsoft YaHei Light" panose="020B0502040204020203" pitchFamily="34" charset="-122"/>
              </a:rPr>
              <a:t>：由括号字符</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按如下规则递归生成的字符串</a:t>
            </a:r>
            <a:endParaRPr lang="en-US" altLang="zh-CN" sz="2800" dirty="0">
              <a:latin typeface="Microsoft YaHei Light" panose="020B0502040204020203" pitchFamily="34" charset="-122"/>
              <a:ea typeface="Microsoft YaHei Light" panose="020B0502040204020203" pitchFamily="34" charset="-122"/>
            </a:endParaRPr>
          </a:p>
          <a:p>
            <a:pPr marL="0" indent="0">
              <a:lnSpc>
                <a:spcPct val="105000"/>
              </a:lnSpc>
              <a:spcBef>
                <a:spcPts val="600"/>
              </a:spcBef>
              <a:buNone/>
            </a:pP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1</a:t>
            </a:r>
            <a:r>
              <a:rPr lang="zh-CN" altLang="en-US" sz="2800" dirty="0">
                <a:latin typeface="Microsoft YaHei Light" panose="020B0502040204020203" pitchFamily="34" charset="-122"/>
                <a:ea typeface="Microsoft YaHei Light" panose="020B0502040204020203" pitchFamily="34" charset="-122"/>
              </a:rPr>
              <a:t>） 空字符串是括号语句</a:t>
            </a:r>
            <a:endParaRPr lang="en-US" altLang="zh-CN" sz="2800" dirty="0">
              <a:latin typeface="Microsoft YaHei Light" panose="020B0502040204020203" pitchFamily="34" charset="-122"/>
              <a:ea typeface="Microsoft YaHei Light" panose="020B0502040204020203" pitchFamily="34" charset="-122"/>
            </a:endParaRPr>
          </a:p>
          <a:p>
            <a:pPr marL="0" indent="0">
              <a:lnSpc>
                <a:spcPct val="105000"/>
              </a:lnSpc>
              <a:spcBef>
                <a:spcPts val="600"/>
              </a:spcBef>
              <a:buNone/>
            </a:pP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2)</a:t>
            </a:r>
            <a:r>
              <a:rPr lang="zh-CN" altLang="en-US" sz="2800" dirty="0">
                <a:latin typeface="Microsoft YaHei Light" panose="020B0502040204020203" pitchFamily="34" charset="-122"/>
                <a:ea typeface="Microsoft YaHei Light" panose="020B0502040204020203" pitchFamily="34" charset="-122"/>
              </a:rPr>
              <a:t>   如果</a:t>
            </a:r>
            <a:r>
              <a:rPr lang="en-US" altLang="zh-CN" sz="2800" dirty="0">
                <a:latin typeface="Microsoft YaHei Light" panose="020B0502040204020203" pitchFamily="34" charset="-122"/>
                <a:ea typeface="Microsoft YaHei Light" panose="020B0502040204020203" pitchFamily="34" charset="-122"/>
              </a:rPr>
              <a:t>A</a:t>
            </a:r>
            <a:r>
              <a:rPr lang="zh-CN" altLang="en-US" sz="2800" dirty="0">
                <a:latin typeface="Microsoft YaHei Light" panose="020B0502040204020203" pitchFamily="34" charset="-122"/>
                <a:ea typeface="Microsoft YaHei Light" panose="020B0502040204020203" pitchFamily="34" charset="-122"/>
              </a:rPr>
              <a:t>是括号语句，则</a:t>
            </a:r>
            <a:r>
              <a:rPr lang="en-US" altLang="zh-CN" sz="2800" dirty="0">
                <a:latin typeface="Microsoft YaHei Light" panose="020B0502040204020203" pitchFamily="34" charset="-122"/>
                <a:ea typeface="Microsoft YaHei Light" panose="020B0502040204020203" pitchFamily="34" charset="-122"/>
              </a:rPr>
              <a:t>(A),</a:t>
            </a: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[A]</a:t>
            </a:r>
            <a:r>
              <a:rPr lang="zh-CN" altLang="en-US" sz="2800" dirty="0">
                <a:latin typeface="Microsoft YaHei Light" panose="020B0502040204020203" pitchFamily="34" charset="-122"/>
                <a:ea typeface="Microsoft YaHei Light" panose="020B0502040204020203" pitchFamily="34" charset="-122"/>
              </a:rPr>
              <a:t>以及</a:t>
            </a:r>
            <a:r>
              <a:rPr lang="en-US" altLang="zh-CN" sz="2800" dirty="0">
                <a:latin typeface="Microsoft YaHei Light" panose="020B0502040204020203" pitchFamily="34" charset="-122"/>
                <a:ea typeface="Microsoft YaHei Light" panose="020B0502040204020203" pitchFamily="34" charset="-122"/>
              </a:rPr>
              <a:t>{A}</a:t>
            </a:r>
            <a:r>
              <a:rPr lang="zh-CN" altLang="en-US" sz="2800" dirty="0">
                <a:latin typeface="Microsoft YaHei Light" panose="020B0502040204020203" pitchFamily="34" charset="-122"/>
                <a:ea typeface="Microsoft YaHei Light" panose="020B0502040204020203" pitchFamily="34" charset="-122"/>
              </a:rPr>
              <a:t>是括号语句</a:t>
            </a:r>
            <a:endParaRPr lang="en-US" altLang="zh-CN" sz="2800" dirty="0">
              <a:latin typeface="Microsoft YaHei Light" panose="020B0502040204020203" pitchFamily="34" charset="-122"/>
              <a:ea typeface="Microsoft YaHei Light" panose="020B0502040204020203" pitchFamily="34" charset="-122"/>
            </a:endParaRPr>
          </a:p>
          <a:p>
            <a:pPr marL="0" indent="0">
              <a:lnSpc>
                <a:spcPct val="105000"/>
              </a:lnSpc>
              <a:spcBef>
                <a:spcPts val="600"/>
              </a:spcBef>
              <a:buNone/>
            </a:pPr>
            <a:r>
              <a:rPr lang="zh-CN" altLang="en-US" sz="2800" dirty="0">
                <a:latin typeface="Microsoft YaHei Light" panose="020B0502040204020203" pitchFamily="34" charset="-122"/>
                <a:ea typeface="Microsoft YaHei Light" panose="020B0502040204020203" pitchFamily="34" charset="-122"/>
              </a:rPr>
              <a:t>    （</a:t>
            </a:r>
            <a:r>
              <a:rPr lang="en-US" altLang="zh-CN" sz="2800" dirty="0">
                <a:latin typeface="Microsoft YaHei Light" panose="020B0502040204020203" pitchFamily="34" charset="-122"/>
                <a:ea typeface="Microsoft YaHei Light" panose="020B0502040204020203" pitchFamily="34" charset="-122"/>
              </a:rPr>
              <a:t>3</a:t>
            </a:r>
            <a:r>
              <a:rPr lang="zh-CN" altLang="en-US" sz="2800" dirty="0">
                <a:latin typeface="Microsoft YaHei Light" panose="020B0502040204020203" pitchFamily="34" charset="-122"/>
                <a:ea typeface="Microsoft YaHei Light" panose="020B0502040204020203" pitchFamily="34" charset="-122"/>
              </a:rPr>
              <a:t>）如果</a:t>
            </a:r>
            <a:r>
              <a:rPr lang="en-US" altLang="zh-CN" sz="2800" dirty="0">
                <a:latin typeface="Microsoft YaHei Light" panose="020B0502040204020203" pitchFamily="34" charset="-122"/>
                <a:ea typeface="Microsoft YaHei Light" panose="020B0502040204020203" pitchFamily="34" charset="-122"/>
              </a:rPr>
              <a:t>A</a:t>
            </a:r>
            <a:r>
              <a:rPr lang="zh-CN" altLang="en-US" sz="2800" dirty="0">
                <a:latin typeface="Microsoft YaHei Light" panose="020B0502040204020203" pitchFamily="34" charset="-122"/>
                <a:ea typeface="Microsoft YaHei Light" panose="020B0502040204020203" pitchFamily="34" charset="-122"/>
              </a:rPr>
              <a:t>和</a:t>
            </a:r>
            <a:r>
              <a:rPr lang="en-US" altLang="zh-CN" sz="2800" dirty="0">
                <a:latin typeface="Microsoft YaHei Light" panose="020B0502040204020203" pitchFamily="34" charset="-122"/>
                <a:ea typeface="Microsoft YaHei Light" panose="020B0502040204020203" pitchFamily="34" charset="-122"/>
              </a:rPr>
              <a:t>B</a:t>
            </a:r>
            <a:r>
              <a:rPr lang="zh-CN" altLang="en-US" sz="2800" dirty="0">
                <a:latin typeface="Microsoft YaHei Light" panose="020B0502040204020203" pitchFamily="34" charset="-122"/>
                <a:ea typeface="Microsoft YaHei Light" panose="020B0502040204020203" pitchFamily="34" charset="-122"/>
              </a:rPr>
              <a:t>是括号语句，则</a:t>
            </a:r>
            <a:r>
              <a:rPr lang="en-US" altLang="zh-CN" sz="2800" dirty="0">
                <a:latin typeface="Microsoft YaHei Light" panose="020B0502040204020203" pitchFamily="34" charset="-122"/>
                <a:ea typeface="Microsoft YaHei Light" panose="020B0502040204020203" pitchFamily="34" charset="-122"/>
              </a:rPr>
              <a:t>AB</a:t>
            </a:r>
            <a:r>
              <a:rPr lang="zh-CN" altLang="en-US" sz="2800" dirty="0">
                <a:latin typeface="Microsoft YaHei Light" panose="020B0502040204020203" pitchFamily="34" charset="-122"/>
                <a:ea typeface="Microsoft YaHei Light" panose="020B0502040204020203" pitchFamily="34" charset="-122"/>
              </a:rPr>
              <a:t>是括号语句</a:t>
            </a:r>
            <a:endParaRPr lang="en-US" altLang="zh-CN" sz="2800" dirty="0">
              <a:latin typeface="Microsoft YaHei Light" panose="020B0502040204020203" pitchFamily="34" charset="-122"/>
              <a:ea typeface="Microsoft YaHei Light" panose="020B0502040204020203" pitchFamily="34" charset="-122"/>
            </a:endParaRPr>
          </a:p>
          <a:p>
            <a:pPr marL="0" indent="0">
              <a:lnSpc>
                <a:spcPct val="105000"/>
              </a:lnSpc>
              <a:spcBef>
                <a:spcPts val="600"/>
              </a:spcBef>
              <a:buNone/>
            </a:pPr>
            <a:endParaRPr lang="zh-CN" altLang="zh-CN" sz="2800" dirty="0">
              <a:latin typeface="Microsoft YaHei Light" panose="020B0502040204020203" pitchFamily="34" charset="-122"/>
              <a:ea typeface="Microsoft YaHei Light" panose="020B0502040204020203" pitchFamily="34" charset="-122"/>
            </a:endParaRPr>
          </a:p>
          <a:p>
            <a:pPr marL="685800" lvl="1" indent="-342900">
              <a:lnSpc>
                <a:spcPct val="105000"/>
              </a:lnSpc>
              <a:spcBef>
                <a:spcPts val="600"/>
              </a:spcBef>
              <a:buClr>
                <a:srgbClr val="CC3300"/>
              </a:buClr>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括号语句：</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p>
          <a:p>
            <a:pPr marL="685800" lvl="1" indent="-342900">
              <a:lnSpc>
                <a:spcPct val="105000"/>
              </a:lnSpc>
              <a:spcBef>
                <a:spcPts val="600"/>
              </a:spcBef>
              <a:buClr>
                <a:srgbClr val="CC3300"/>
              </a:buClr>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非括号语句：</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p>
          <a:p>
            <a:pPr marL="342900" lvl="1" indent="0">
              <a:lnSpc>
                <a:spcPct val="105000"/>
              </a:lnSpc>
              <a:spcBef>
                <a:spcPts val="600"/>
              </a:spcBef>
              <a:buClr>
                <a:srgbClr val="CC3300"/>
              </a:buClr>
              <a:buNone/>
            </a:pPr>
            <a:endParaRPr lang="en-US" altLang="zh-CN" dirty="0">
              <a:latin typeface="Microsoft YaHei Light" panose="020B0502040204020203" pitchFamily="34" charset="-122"/>
              <a:ea typeface="Microsoft YaHei Light" panose="020B0502040204020203" pitchFamily="34" charset="-122"/>
            </a:endParaRPr>
          </a:p>
          <a:p>
            <a:pPr marL="357188" lvl="0" indent="-357188">
              <a:lnSpc>
                <a:spcPct val="105000"/>
              </a:lnSpc>
              <a:spcBef>
                <a:spcPts val="600"/>
              </a:spcBef>
              <a:buFont typeface="Wingdings" panose="05000000000000000000" pitchFamily="2" charset="2"/>
              <a:buChar char="l"/>
            </a:pPr>
            <a:r>
              <a:rPr lang="zh-CN" altLang="en-US" sz="2800" b="1" dirty="0">
                <a:solidFill>
                  <a:prstClr val="black"/>
                </a:solidFill>
                <a:latin typeface="Microsoft YaHei Light" panose="020B0502040204020203" pitchFamily="34" charset="-122"/>
                <a:ea typeface="Microsoft YaHei Light" panose="020B0502040204020203" pitchFamily="34" charset="-122"/>
              </a:rPr>
              <a:t>括号语句的判定问题</a:t>
            </a:r>
            <a:r>
              <a:rPr lang="zh-CN" altLang="en-US" sz="2800" dirty="0">
                <a:solidFill>
                  <a:prstClr val="black"/>
                </a:solidFill>
                <a:latin typeface="Microsoft YaHei Light" panose="020B0502040204020203" pitchFamily="34" charset="-122"/>
                <a:ea typeface="Microsoft YaHei Light" panose="020B0502040204020203" pitchFamily="34" charset="-122"/>
              </a:rPr>
              <a:t>：给出一个由括号字符组成的字符串，判断其是否是括号语句</a:t>
            </a:r>
            <a:endParaRPr lang="en-US" altLang="zh-CN" sz="2800" dirty="0">
              <a:solidFill>
                <a:prstClr val="black"/>
              </a:solidFill>
              <a:latin typeface="Microsoft YaHei Light" panose="020B0502040204020203" pitchFamily="34" charset="-122"/>
              <a:ea typeface="Microsoft YaHei Light" panose="020B0502040204020203" pitchFamily="34" charset="-122"/>
            </a:endParaRPr>
          </a:p>
          <a:p>
            <a:pPr marL="342900" lvl="1" indent="0">
              <a:lnSpc>
                <a:spcPct val="105000"/>
              </a:lnSpc>
              <a:spcBef>
                <a:spcPts val="600"/>
              </a:spcBef>
              <a:buClr>
                <a:srgbClr val="CC3300"/>
              </a:buClr>
              <a:buNone/>
            </a:pPr>
            <a:endParaRPr lang="en-US" altLang="zh-CN" sz="2800" baseline="-25000" dirty="0">
              <a:latin typeface="Microsoft YaHei Light" panose="020B0502040204020203" pitchFamily="34" charset="-122"/>
              <a:ea typeface="Microsoft YaHei Light" panose="020B0502040204020203" pitchFamily="34" charset="-122"/>
            </a:endParaRPr>
          </a:p>
        </p:txBody>
      </p:sp>
    </p:spTree>
    <p:extLst>
      <p:ext uri="{BB962C8B-B14F-4D97-AF65-F5344CB8AC3E}">
        <p14:creationId xmlns:p14="http://schemas.microsoft.com/office/powerpoint/2010/main" val="40159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57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57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57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885763">
                                            <p:txEl>
                                              <p:pRg st="5" end="5"/>
                                            </p:txEl>
                                          </p:spTgt>
                                        </p:tgtEl>
                                        <p:attrNameLst>
                                          <p:attrName>style.visibility</p:attrName>
                                        </p:attrNameLst>
                                      </p:cBhvr>
                                      <p:to>
                                        <p:strVal val="visible"/>
                                      </p:to>
                                    </p:set>
                                    <p:animEffect transition="in" filter="checkerboard(across)">
                                      <p:cBhvr>
                                        <p:cTn id="19" dur="500"/>
                                        <p:tgtEl>
                                          <p:spTgt spid="885763">
                                            <p:txEl>
                                              <p:pRg st="5" end="5"/>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885763">
                                            <p:txEl>
                                              <p:pRg st="6" end="6"/>
                                            </p:txEl>
                                          </p:spTgt>
                                        </p:tgtEl>
                                        <p:attrNameLst>
                                          <p:attrName>style.visibility</p:attrName>
                                        </p:attrNameLst>
                                      </p:cBhvr>
                                      <p:to>
                                        <p:strVal val="visible"/>
                                      </p:to>
                                    </p:set>
                                    <p:animEffect transition="in" filter="checkerboard(across)">
                                      <p:cBhvr>
                                        <p:cTn id="22" dur="500"/>
                                        <p:tgtEl>
                                          <p:spTgt spid="88576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57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mc:AlternateContent xmlns:mc="http://schemas.openxmlformats.org/markup-compatibility/2006" xmlns:a14="http://schemas.microsoft.com/office/drawing/2010/main">
        <mc:Choice Requires="a14">
          <p:sp>
            <p:nvSpPr>
              <p:cNvPr id="885763" name="Rectangle 3">
                <a:extLst>
                  <a:ext uri="{FF2B5EF4-FFF2-40B4-BE49-F238E27FC236}">
                    <a16:creationId xmlns:a16="http://schemas.microsoft.com/office/drawing/2014/main" id="{126AC2D0-112F-4194-8ACF-E1209F8864B9}"/>
                  </a:ext>
                </a:extLst>
              </p:cNvPr>
              <p:cNvSpPr>
                <a:spLocks noGrp="1" noChangeArrowheads="1"/>
              </p:cNvSpPr>
              <p:nvPr>
                <p:ph idx="11"/>
              </p:nvPr>
            </p:nvSpPr>
            <p:spPr bwMode="auto">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ormAutofit/>
              </a:bodyPr>
              <a:lstStyle/>
              <a:p>
                <a:pPr marL="342900" indent="-342900"/>
                <a:r>
                  <a:rPr kumimoji="1" lang="zh-CN" altLang="en-US" sz="2800" dirty="0">
                    <a:latin typeface="Microsoft YaHei" panose="020B0503020204020204" pitchFamily="34" charset="-122"/>
                    <a:ea typeface="Microsoft YaHei" panose="020B0503020204020204" pitchFamily="34" charset="-122"/>
                  </a:rPr>
                  <a:t>设</a:t>
                </a:r>
                <a14:m>
                  <m:oMath xmlns:m="http://schemas.openxmlformats.org/officeDocument/2006/math">
                    <m:sSub>
                      <m:sSubPr>
                        <m:ctrlPr>
                          <a:rPr kumimoji="1" lang="en-US" altLang="zh-CN" sz="2800" i="1" dirty="0">
                            <a:latin typeface="Cambria Math" panose="02040503050406030204" pitchFamily="18" charset="0"/>
                            <a:ea typeface="Microsoft YaHei" panose="020B0503020204020204" pitchFamily="34" charset="-122"/>
                          </a:rPr>
                        </m:ctrlPr>
                      </m:sSubPr>
                      <m:e>
                        <m:r>
                          <m:rPr>
                            <m:sty m:val="p"/>
                          </m:rPr>
                          <a:rPr kumimoji="1" lang="en-US" altLang="zh-CN" sz="2800" i="1" dirty="0">
                            <a:latin typeface="Cambria Math" panose="02040503050406030204" pitchFamily="18" charset="0"/>
                            <a:ea typeface="Microsoft YaHei" panose="020B0503020204020204" pitchFamily="34" charset="-122"/>
                          </a:rPr>
                          <m:t>s</m:t>
                        </m:r>
                      </m:e>
                      <m:sub>
                        <m:r>
                          <a:rPr kumimoji="1" lang="en-US" altLang="zh-CN" sz="2800" i="1" dirty="0">
                            <a:latin typeface="Cambria Math" panose="02040503050406030204" pitchFamily="18" charset="0"/>
                            <a:ea typeface="Microsoft YaHei" panose="020B0503020204020204" pitchFamily="34" charset="-122"/>
                          </a:rPr>
                          <m:t>1</m:t>
                        </m:r>
                      </m:sub>
                    </m:sSub>
                    <m:sSub>
                      <m:sSubPr>
                        <m:ctrlPr>
                          <a:rPr kumimoji="1" lang="en-US" altLang="zh-CN" sz="2800" i="1" dirty="0">
                            <a:latin typeface="Cambria Math" panose="02040503050406030204" pitchFamily="18" charset="0"/>
                            <a:ea typeface="Microsoft YaHei" panose="020B0503020204020204" pitchFamily="34" charset="-122"/>
                          </a:rPr>
                        </m:ctrlPr>
                      </m:sSubPr>
                      <m:e>
                        <m:r>
                          <m:rPr>
                            <m:sty m:val="p"/>
                          </m:rPr>
                          <a:rPr kumimoji="1" lang="en-US" altLang="zh-CN" sz="2800" i="1" dirty="0">
                            <a:latin typeface="Cambria Math" panose="02040503050406030204" pitchFamily="18" charset="0"/>
                            <a:ea typeface="Microsoft YaHei" panose="020B0503020204020204" pitchFamily="34" charset="-122"/>
                          </a:rPr>
                          <m:t>s</m:t>
                        </m:r>
                      </m:e>
                      <m:sub>
                        <m:r>
                          <a:rPr kumimoji="1" lang="en-US" altLang="zh-CN" sz="2800" i="1" dirty="0">
                            <a:latin typeface="Cambria Math" panose="02040503050406030204" pitchFamily="18" charset="0"/>
                            <a:ea typeface="Microsoft YaHei" panose="020B0503020204020204" pitchFamily="34" charset="-122"/>
                          </a:rPr>
                          <m:t>2</m:t>
                        </m:r>
                      </m:sub>
                    </m:sSub>
                    <m:r>
                      <a:rPr kumimoji="1" lang="en-US" altLang="zh-CN" sz="2800" i="1" dirty="0">
                        <a:latin typeface="Cambria Math" panose="02040503050406030204" pitchFamily="18" charset="0"/>
                        <a:ea typeface="Microsoft YaHei" panose="020B0503020204020204" pitchFamily="34" charset="-122"/>
                      </a:rPr>
                      <m:t>…</m:t>
                    </m:r>
                    <m:sSub>
                      <m:sSubPr>
                        <m:ctrlPr>
                          <a:rPr kumimoji="1" lang="en-US" altLang="zh-CN" sz="2800" i="1" dirty="0">
                            <a:solidFill>
                              <a:srgbClr val="FF0000"/>
                            </a:solidFill>
                            <a:latin typeface="Cambria Math" panose="02040503050406030204" pitchFamily="18" charset="0"/>
                            <a:ea typeface="Microsoft YaHei" panose="020B0503020204020204" pitchFamily="34" charset="-122"/>
                          </a:rPr>
                        </m:ctrlPr>
                      </m:sSubPr>
                      <m:e>
                        <m:r>
                          <a:rPr kumimoji="1" lang="en-US" altLang="zh-CN" sz="2800" i="1" dirty="0">
                            <a:solidFill>
                              <a:srgbClr val="FF0000"/>
                            </a:solidFill>
                            <a:latin typeface="Cambria Math" panose="02040503050406030204" pitchFamily="18" charset="0"/>
                            <a:ea typeface="Microsoft YaHei" panose="020B0503020204020204" pitchFamily="34" charset="-122"/>
                          </a:rPr>
                          <m:t>𝑠</m:t>
                        </m:r>
                      </m:e>
                      <m:sub>
                        <m:r>
                          <a:rPr kumimoji="1" lang="en-US" altLang="zh-CN" sz="2800" i="1" dirty="0">
                            <a:solidFill>
                              <a:srgbClr val="FF0000"/>
                            </a:solidFill>
                            <a:latin typeface="Cambria Math" panose="02040503050406030204" pitchFamily="18" charset="0"/>
                            <a:ea typeface="Microsoft YaHei" panose="020B0503020204020204" pitchFamily="34" charset="-122"/>
                          </a:rPr>
                          <m:t>𝑖</m:t>
                        </m:r>
                      </m:sub>
                    </m:sSub>
                    <m:sSub>
                      <m:sSubPr>
                        <m:ctrlPr>
                          <a:rPr kumimoji="1" lang="en-US" altLang="zh-CN" sz="2800" i="1" dirty="0">
                            <a:solidFill>
                              <a:srgbClr val="0070C0"/>
                            </a:solidFill>
                            <a:latin typeface="Cambria Math" panose="02040503050406030204" pitchFamily="18" charset="0"/>
                            <a:ea typeface="Microsoft YaHei" panose="020B0503020204020204" pitchFamily="34" charset="-122"/>
                          </a:rPr>
                        </m:ctrlPr>
                      </m:sSubPr>
                      <m:e>
                        <m:r>
                          <a:rPr kumimoji="1" lang="en-US" altLang="zh-CN" sz="2800" i="1" dirty="0">
                            <a:solidFill>
                              <a:srgbClr val="0070C0"/>
                            </a:solidFill>
                            <a:latin typeface="Cambria Math" panose="02040503050406030204" pitchFamily="18" charset="0"/>
                            <a:ea typeface="Microsoft YaHei" panose="020B0503020204020204" pitchFamily="34" charset="-122"/>
                          </a:rPr>
                          <m:t>𝑠</m:t>
                        </m:r>
                      </m:e>
                      <m:sub>
                        <m:r>
                          <a:rPr kumimoji="1" lang="en-US" altLang="zh-CN" sz="2800" i="1" dirty="0">
                            <a:solidFill>
                              <a:srgbClr val="0070C0"/>
                            </a:solidFill>
                            <a:latin typeface="Cambria Math" panose="02040503050406030204" pitchFamily="18" charset="0"/>
                            <a:ea typeface="Microsoft YaHei" panose="020B0503020204020204" pitchFamily="34" charset="-122"/>
                          </a:rPr>
                          <m:t>𝑖</m:t>
                        </m:r>
                        <m:r>
                          <a:rPr kumimoji="1" lang="en-US" altLang="zh-CN" sz="2800" i="1" dirty="0">
                            <a:solidFill>
                              <a:srgbClr val="0070C0"/>
                            </a:solidFill>
                            <a:latin typeface="Cambria Math" panose="02040503050406030204" pitchFamily="18" charset="0"/>
                            <a:ea typeface="Microsoft YaHei" panose="020B0503020204020204" pitchFamily="34" charset="-122"/>
                          </a:rPr>
                          <m:t>+1</m:t>
                        </m:r>
                      </m:sub>
                    </m:sSub>
                    <m:r>
                      <a:rPr kumimoji="1" lang="en-US" altLang="zh-CN" sz="2800" i="1" dirty="0">
                        <a:solidFill>
                          <a:srgbClr val="0070C0"/>
                        </a:solidFill>
                        <a:latin typeface="Cambria Math" panose="02040503050406030204" pitchFamily="18" charset="0"/>
                        <a:ea typeface="Microsoft YaHei" panose="020B0503020204020204" pitchFamily="34" charset="-122"/>
                      </a:rPr>
                      <m:t>…</m:t>
                    </m:r>
                    <m:sSub>
                      <m:sSubPr>
                        <m:ctrlPr>
                          <a:rPr kumimoji="1" lang="en-US" altLang="zh-CN" sz="2800" i="1" dirty="0">
                            <a:solidFill>
                              <a:srgbClr val="0070C0"/>
                            </a:solidFill>
                            <a:latin typeface="Cambria Math" panose="02040503050406030204" pitchFamily="18" charset="0"/>
                            <a:ea typeface="Microsoft YaHei" panose="020B0503020204020204" pitchFamily="34" charset="-122"/>
                          </a:rPr>
                        </m:ctrlPr>
                      </m:sSubPr>
                      <m:e>
                        <m:r>
                          <a:rPr kumimoji="1" lang="en-US" altLang="zh-CN" sz="2800" i="1" dirty="0">
                            <a:solidFill>
                              <a:srgbClr val="0070C0"/>
                            </a:solidFill>
                            <a:latin typeface="Cambria Math" panose="02040503050406030204" pitchFamily="18" charset="0"/>
                            <a:ea typeface="Microsoft YaHei" panose="020B0503020204020204" pitchFamily="34" charset="-122"/>
                          </a:rPr>
                          <m:t>𝑠</m:t>
                        </m:r>
                      </m:e>
                      <m:sub>
                        <m:r>
                          <a:rPr kumimoji="1" lang="en-US" altLang="zh-CN" sz="2800" i="1" dirty="0">
                            <a:solidFill>
                              <a:srgbClr val="0070C0"/>
                            </a:solidFill>
                            <a:latin typeface="Cambria Math" panose="02040503050406030204" pitchFamily="18" charset="0"/>
                            <a:ea typeface="Microsoft YaHei" panose="020B0503020204020204" pitchFamily="34" charset="-122"/>
                          </a:rPr>
                          <m:t>𝑗</m:t>
                        </m:r>
                        <m:r>
                          <a:rPr kumimoji="1" lang="en-US" altLang="zh-CN" sz="2800" i="1" dirty="0">
                            <a:solidFill>
                              <a:srgbClr val="0070C0"/>
                            </a:solidFill>
                            <a:latin typeface="Cambria Math" panose="02040503050406030204" pitchFamily="18" charset="0"/>
                            <a:ea typeface="Microsoft YaHei" panose="020B0503020204020204" pitchFamily="34" charset="-122"/>
                          </a:rPr>
                          <m:t>−1</m:t>
                        </m:r>
                      </m:sub>
                    </m:sSub>
                    <m:sSub>
                      <m:sSubPr>
                        <m:ctrlPr>
                          <a:rPr kumimoji="1" lang="en-US" altLang="zh-CN" sz="2800" i="1" dirty="0">
                            <a:solidFill>
                              <a:srgbClr val="FF0000"/>
                            </a:solidFill>
                            <a:latin typeface="Cambria Math" panose="02040503050406030204" pitchFamily="18" charset="0"/>
                            <a:ea typeface="Microsoft YaHei" panose="020B0503020204020204" pitchFamily="34" charset="-122"/>
                          </a:rPr>
                        </m:ctrlPr>
                      </m:sSubPr>
                      <m:e>
                        <m:r>
                          <a:rPr kumimoji="1" lang="en-US" altLang="zh-CN" sz="2800" i="1" dirty="0">
                            <a:solidFill>
                              <a:srgbClr val="FF0000"/>
                            </a:solidFill>
                            <a:latin typeface="Cambria Math" panose="02040503050406030204" pitchFamily="18" charset="0"/>
                            <a:ea typeface="Microsoft YaHei" panose="020B0503020204020204" pitchFamily="34" charset="-122"/>
                          </a:rPr>
                          <m:t>𝑠</m:t>
                        </m:r>
                      </m:e>
                      <m:sub>
                        <m:r>
                          <a:rPr kumimoji="1" lang="en-US" altLang="zh-CN" sz="2800" i="1" dirty="0">
                            <a:solidFill>
                              <a:srgbClr val="FF0000"/>
                            </a:solidFill>
                            <a:latin typeface="Cambria Math" panose="02040503050406030204" pitchFamily="18" charset="0"/>
                            <a:ea typeface="Microsoft YaHei" panose="020B0503020204020204" pitchFamily="34" charset="-122"/>
                          </a:rPr>
                          <m:t>𝑗</m:t>
                        </m:r>
                      </m:sub>
                    </m:sSub>
                    <m:r>
                      <a:rPr kumimoji="1" lang="en-US" altLang="zh-CN" sz="2800" i="1" dirty="0">
                        <a:latin typeface="Cambria Math" panose="02040503050406030204" pitchFamily="18" charset="0"/>
                        <a:ea typeface="Microsoft YaHei" panose="020B0503020204020204" pitchFamily="34" charset="-122"/>
                      </a:rPr>
                      <m:t>…</m:t>
                    </m:r>
                    <m:sSub>
                      <m:sSubPr>
                        <m:ctrlPr>
                          <a:rPr kumimoji="1" lang="en-US" altLang="zh-CN" sz="2800" i="1" dirty="0">
                            <a:latin typeface="Cambria Math" panose="02040503050406030204" pitchFamily="18" charset="0"/>
                            <a:ea typeface="Microsoft YaHei" panose="020B0503020204020204" pitchFamily="34" charset="-122"/>
                          </a:rPr>
                        </m:ctrlPr>
                      </m:sSubPr>
                      <m:e>
                        <m:r>
                          <a:rPr kumimoji="1" lang="en-US" altLang="zh-CN" sz="2800" i="1" dirty="0">
                            <a:latin typeface="Cambria Math" panose="02040503050406030204" pitchFamily="18" charset="0"/>
                            <a:ea typeface="Microsoft YaHei" panose="020B0503020204020204" pitchFamily="34" charset="-122"/>
                          </a:rPr>
                          <m:t>𝑠</m:t>
                        </m:r>
                      </m:e>
                      <m:sub>
                        <m:r>
                          <a:rPr kumimoji="1" lang="en-US" altLang="zh-CN" sz="2800" i="1" dirty="0">
                            <a:latin typeface="Cambria Math" panose="02040503050406030204" pitchFamily="18" charset="0"/>
                            <a:ea typeface="Microsoft YaHei" panose="020B0503020204020204" pitchFamily="34" charset="-122"/>
                          </a:rPr>
                          <m:t>𝑛</m:t>
                        </m:r>
                      </m:sub>
                    </m:sSub>
                  </m:oMath>
                </a14:m>
                <a:r>
                  <a:rPr kumimoji="1" lang="zh-CN" altLang="en-US" sz="2800" dirty="0">
                    <a:latin typeface="Microsoft YaHei" panose="020B0503020204020204" pitchFamily="34" charset="-122"/>
                    <a:ea typeface="Microsoft YaHei" panose="020B0503020204020204" pitchFamily="34" charset="-122"/>
                  </a:rPr>
                  <a:t>是括号语句，满足以下性质</a:t>
                </a:r>
              </a:p>
            </p:txBody>
          </p:sp>
        </mc:Choice>
        <mc:Fallback xmlns="">
          <p:sp>
            <p:nvSpPr>
              <p:cNvPr id="885763" name="Rectangle 3">
                <a:extLst>
                  <a:ext uri="{FF2B5EF4-FFF2-40B4-BE49-F238E27FC236}">
                    <a16:creationId xmlns:a16="http://schemas.microsoft.com/office/drawing/2014/main" id="{126AC2D0-112F-4194-8ACF-E1209F8864B9}"/>
                  </a:ext>
                </a:extLst>
              </p:cNvPr>
              <p:cNvSpPr>
                <a:spLocks noGrp="1" noRot="1" noChangeAspect="1" noMove="1" noResize="1" noEditPoints="1" noAdjustHandles="1" noChangeArrowheads="1" noChangeShapeType="1" noTextEdit="1"/>
              </p:cNvSpPr>
              <p:nvPr>
                <p:ph idx="11"/>
              </p:nvPr>
            </p:nvSpPr>
            <p:spPr bwMode="auto">
              <a:prstGeom prst="rect">
                <a:avLst/>
              </a:prstGeom>
              <a:blipFill>
                <a:blip r:embed="rId2"/>
                <a:stretch>
                  <a:fillRect l="-1033" t="-2005"/>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任意多边形: 形状 69">
                <a:extLst>
                  <a:ext uri="{FF2B5EF4-FFF2-40B4-BE49-F238E27FC236}">
                    <a16:creationId xmlns:a16="http://schemas.microsoft.com/office/drawing/2014/main" id="{2A7D8BFB-FF34-EE1A-E288-D47F8A6A56FB}"/>
                  </a:ext>
                </a:extLst>
              </p:cNvPr>
              <p:cNvSpPr/>
              <p:nvPr/>
            </p:nvSpPr>
            <p:spPr>
              <a:xfrm>
                <a:off x="1897280" y="2136572"/>
                <a:ext cx="7754720" cy="2668939"/>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14:m>
                  <m:oMath xmlns:m="http://schemas.openxmlformats.org/officeDocument/2006/math">
                    <m:sSub>
                      <m:sSubPr>
                        <m:ctrlPr>
                          <a:rPr lang="en-US" altLang="zh-CN" sz="2400" b="0" i="1" kern="1200" smtClean="0">
                            <a:solidFill>
                              <a:schemeClr val="bg1"/>
                            </a:solidFill>
                            <a:latin typeface="Cambria Math" panose="02040503050406030204" pitchFamily="18" charset="0"/>
                            <a:ea typeface="Microsoft YaHei" panose="020B0503020204020204" pitchFamily="34" charset="-122"/>
                          </a:rPr>
                        </m:ctrlPr>
                      </m:sSubPr>
                      <m:e>
                        <m:r>
                          <a:rPr lang="en-US" altLang="zh-CN" sz="2400" b="0" i="1" kern="1200" smtClean="0">
                            <a:solidFill>
                              <a:schemeClr val="bg1"/>
                            </a:solidFill>
                            <a:latin typeface="Cambria Math" panose="02040503050406030204" pitchFamily="18" charset="0"/>
                            <a:ea typeface="Microsoft YaHei" panose="020B0503020204020204" pitchFamily="34" charset="-122"/>
                          </a:rPr>
                          <m:t>𝑠</m:t>
                        </m:r>
                      </m:e>
                      <m:sub>
                        <m:r>
                          <a:rPr lang="en-US" altLang="zh-CN" sz="2400" b="0" i="1" kern="1200" smtClean="0">
                            <a:solidFill>
                              <a:schemeClr val="bg1"/>
                            </a:solidFill>
                            <a:latin typeface="Cambria Math" panose="02040503050406030204" pitchFamily="18" charset="0"/>
                            <a:ea typeface="Microsoft YaHei" panose="020B0503020204020204" pitchFamily="34" charset="-122"/>
                          </a:rPr>
                          <m:t>1</m:t>
                        </m:r>
                      </m:sub>
                    </m:sSub>
                  </m:oMath>
                </a14:m>
                <a:r>
                  <a:rPr lang="zh-CN" altLang="en-US" sz="2400" kern="1200" dirty="0">
                    <a:solidFill>
                      <a:schemeClr val="bg1"/>
                    </a:solidFill>
                    <a:latin typeface="Microsoft YaHei" panose="020B0503020204020204" pitchFamily="34" charset="-122"/>
                    <a:ea typeface="Microsoft YaHei" panose="020B0503020204020204" pitchFamily="34" charset="-122"/>
                  </a:rPr>
                  <a:t>是左括号，</a:t>
                </a:r>
                <a14:m>
                  <m:oMath xmlns:m="http://schemas.openxmlformats.org/officeDocument/2006/math">
                    <m:sSub>
                      <m:sSubPr>
                        <m:ctrlPr>
                          <a:rPr lang="en-US" altLang="zh-CN" sz="2400" b="0" i="1" kern="1200" smtClean="0">
                            <a:solidFill>
                              <a:schemeClr val="bg1"/>
                            </a:solidFill>
                            <a:latin typeface="Cambria Math" panose="02040503050406030204" pitchFamily="18" charset="0"/>
                            <a:ea typeface="Microsoft YaHei" panose="020B0503020204020204" pitchFamily="34" charset="-122"/>
                          </a:rPr>
                        </m:ctrlPr>
                      </m:sSubPr>
                      <m:e>
                        <m:r>
                          <a:rPr lang="en-US" altLang="zh-CN" sz="2400" b="0" i="1" kern="1200" smtClean="0">
                            <a:solidFill>
                              <a:schemeClr val="bg1"/>
                            </a:solidFill>
                            <a:latin typeface="Cambria Math" panose="02040503050406030204" pitchFamily="18" charset="0"/>
                            <a:ea typeface="Microsoft YaHei" panose="020B0503020204020204" pitchFamily="34" charset="-122"/>
                          </a:rPr>
                          <m:t>𝑠</m:t>
                        </m:r>
                      </m:e>
                      <m:sub>
                        <m:r>
                          <a:rPr lang="en-US" altLang="zh-CN" sz="2400" b="0" i="1" kern="1200" smtClean="0">
                            <a:solidFill>
                              <a:schemeClr val="bg1"/>
                            </a:solidFill>
                            <a:latin typeface="Cambria Math" panose="02040503050406030204" pitchFamily="18" charset="0"/>
                            <a:ea typeface="Microsoft YaHei" panose="020B0503020204020204" pitchFamily="34" charset="-122"/>
                          </a:rPr>
                          <m:t>𝑛</m:t>
                        </m:r>
                      </m:sub>
                    </m:sSub>
                  </m:oMath>
                </a14:m>
                <a:r>
                  <a:rPr lang="zh-CN" altLang="en-US" sz="2400" kern="1200" dirty="0">
                    <a:solidFill>
                      <a:schemeClr val="bg1"/>
                    </a:solidFill>
                    <a:latin typeface="Microsoft YaHei" panose="020B0503020204020204" pitchFamily="34" charset="-122"/>
                    <a:ea typeface="Microsoft YaHei" panose="020B0503020204020204" pitchFamily="34" charset="-122"/>
                  </a:rPr>
                  <a:t>是右括号</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400" dirty="0">
                    <a:solidFill>
                      <a:schemeClr val="bg1"/>
                    </a:solidFill>
                    <a:latin typeface="Microsoft YaHei" panose="020B0503020204020204" pitchFamily="34" charset="-122"/>
                    <a:ea typeface="Microsoft YaHei" panose="020B0503020204020204" pitchFamily="34" charset="-122"/>
                  </a:rPr>
                  <a:t>如果</a:t>
                </a:r>
                <a14:m>
                  <m:oMath xmlns:m="http://schemas.openxmlformats.org/officeDocument/2006/math">
                    <m:sSub>
                      <m:sSubPr>
                        <m:ctrlPr>
                          <a:rPr lang="en-US" altLang="zh-CN" sz="2400" b="0" i="1" smtClean="0">
                            <a:solidFill>
                              <a:schemeClr val="bg1"/>
                            </a:solidFill>
                            <a:latin typeface="Cambria Math" panose="02040503050406030204" pitchFamily="18" charset="0"/>
                            <a:ea typeface="Microsoft YaHei" panose="020B0503020204020204" pitchFamily="34" charset="-122"/>
                          </a:rPr>
                        </m:ctrlPr>
                      </m:sSubPr>
                      <m:e>
                        <m:r>
                          <a:rPr lang="en-US" altLang="zh-CN" sz="2400" b="0" i="1" smtClean="0">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𝑖</m:t>
                        </m:r>
                      </m:sub>
                    </m:sSub>
                    <m:r>
                      <a:rPr lang="zh-CN" altLang="en-US" sz="2400" b="0" i="0" smtClean="0">
                        <a:solidFill>
                          <a:schemeClr val="bg1"/>
                        </a:solidFill>
                        <a:latin typeface="Cambria Math" panose="02040503050406030204" pitchFamily="18" charset="0"/>
                        <a:ea typeface="Microsoft YaHei" panose="020B0503020204020204" pitchFamily="34" charset="-122"/>
                      </a:rPr>
                      <m:t> </m:t>
                    </m:r>
                    <m:r>
                      <a:rPr lang="en-US" altLang="zh-CN" sz="2400" b="0" i="0" smtClean="0">
                        <a:solidFill>
                          <a:schemeClr val="bg1"/>
                        </a:solidFill>
                        <a:latin typeface="Cambria Math" panose="02040503050406030204" pitchFamily="18" charset="0"/>
                        <a:ea typeface="Microsoft YaHei" panose="020B0503020204020204" pitchFamily="34" charset="-122"/>
                      </a:rPr>
                      <m:t>(1</m:t>
                    </m:r>
                    <m:r>
                      <a:rPr lang="en-US" altLang="zh-CN" sz="2400" b="0" i="1" smtClean="0">
                        <a:solidFill>
                          <a:schemeClr val="bg1"/>
                        </a:solidFill>
                        <a:latin typeface="Cambria Math" panose="02040503050406030204" pitchFamily="18" charset="0"/>
                        <a:ea typeface="Microsoft YaHei" panose="020B0503020204020204" pitchFamily="34" charset="-122"/>
                      </a:rPr>
                      <m:t>≤</m:t>
                    </m:r>
                    <m:r>
                      <a:rPr lang="en-US" altLang="zh-CN" sz="2400" b="0" i="1" smtClean="0">
                        <a:solidFill>
                          <a:schemeClr val="bg1"/>
                        </a:solidFill>
                        <a:latin typeface="Cambria Math" panose="02040503050406030204" pitchFamily="18" charset="0"/>
                        <a:ea typeface="Microsoft YaHei" panose="020B0503020204020204" pitchFamily="34" charset="-122"/>
                      </a:rPr>
                      <m:t>𝑖</m:t>
                    </m:r>
                    <m:r>
                      <a:rPr lang="en-US" altLang="zh-CN" sz="2400" b="0" i="1" smtClean="0">
                        <a:solidFill>
                          <a:schemeClr val="bg1"/>
                        </a:solidFill>
                        <a:latin typeface="Cambria Math" panose="02040503050406030204" pitchFamily="18" charset="0"/>
                        <a:ea typeface="Microsoft YaHei" panose="020B0503020204020204" pitchFamily="34" charset="-122"/>
                      </a:rPr>
                      <m:t>&lt;</m:t>
                    </m:r>
                    <m:r>
                      <a:rPr lang="en-US" altLang="zh-CN" sz="2400" b="0" i="1" smtClean="0">
                        <a:solidFill>
                          <a:schemeClr val="bg1"/>
                        </a:solidFill>
                        <a:latin typeface="Cambria Math" panose="02040503050406030204" pitchFamily="18" charset="0"/>
                        <a:ea typeface="Microsoft YaHei" panose="020B0503020204020204" pitchFamily="34" charset="-122"/>
                      </a:rPr>
                      <m:t>𝑛</m:t>
                    </m:r>
                    <m:r>
                      <a:rPr lang="en-US" altLang="zh-CN" sz="2400" b="0" i="1" smtClean="0">
                        <a:solidFill>
                          <a:schemeClr val="bg1"/>
                        </a:solidFill>
                        <a:latin typeface="Cambria Math" panose="02040503050406030204" pitchFamily="18" charset="0"/>
                        <a:ea typeface="Microsoft YaHei" panose="020B0503020204020204" pitchFamily="34" charset="-122"/>
                      </a:rPr>
                      <m:t>)</m:t>
                    </m:r>
                  </m:oMath>
                </a14:m>
                <a:r>
                  <a:rPr lang="zh-CN" altLang="en-US" sz="2400" kern="1200" dirty="0">
                    <a:solidFill>
                      <a:schemeClr val="bg1"/>
                    </a:solidFill>
                    <a:latin typeface="Microsoft YaHei" panose="020B0503020204020204" pitchFamily="34" charset="-122"/>
                    <a:ea typeface="Microsoft YaHei" panose="020B0503020204020204" pitchFamily="34" charset="-122"/>
                  </a:rPr>
                  <a:t>是左括号，存在唯一的</a:t>
                </a:r>
                <a14:m>
                  <m:oMath xmlns:m="http://schemas.openxmlformats.org/officeDocument/2006/math">
                    <m:r>
                      <a:rPr lang="en-US" altLang="zh-CN" sz="2400" b="0" i="1" kern="1200" smtClean="0">
                        <a:solidFill>
                          <a:schemeClr val="bg1"/>
                        </a:solidFill>
                        <a:latin typeface="Cambria Math" panose="02040503050406030204" pitchFamily="18" charset="0"/>
                        <a:ea typeface="Microsoft YaHei" panose="020B0503020204020204" pitchFamily="34" charset="-122"/>
                      </a:rPr>
                      <m:t>𝑗</m:t>
                    </m:r>
                    <m:r>
                      <a:rPr lang="en-US" altLang="zh-CN" sz="2400" b="0" i="1" kern="1200" smtClean="0">
                        <a:solidFill>
                          <a:schemeClr val="bg1"/>
                        </a:solidFill>
                        <a:latin typeface="Cambria Math" panose="02040503050406030204" pitchFamily="18" charset="0"/>
                        <a:ea typeface="Microsoft YaHei" panose="020B0503020204020204" pitchFamily="34" charset="-122"/>
                      </a:rPr>
                      <m:t>∈[</m:t>
                    </m:r>
                    <m:r>
                      <a:rPr lang="en-US" altLang="zh-CN" sz="2400" b="0" i="1" kern="1200" smtClean="0">
                        <a:solidFill>
                          <a:schemeClr val="bg1"/>
                        </a:solidFill>
                        <a:latin typeface="Cambria Math" panose="02040503050406030204" pitchFamily="18" charset="0"/>
                        <a:ea typeface="Microsoft YaHei" panose="020B0503020204020204" pitchFamily="34" charset="-122"/>
                      </a:rPr>
                      <m:t>𝑖</m:t>
                    </m:r>
                    <m:r>
                      <a:rPr lang="en-US" altLang="zh-CN" sz="2400" b="0" i="1" kern="1200" smtClean="0">
                        <a:solidFill>
                          <a:schemeClr val="bg1"/>
                        </a:solidFill>
                        <a:latin typeface="Cambria Math" panose="02040503050406030204" pitchFamily="18" charset="0"/>
                        <a:ea typeface="Microsoft YaHei" panose="020B0503020204020204" pitchFamily="34" charset="-122"/>
                      </a:rPr>
                      <m:t>+1, </m:t>
                    </m:r>
                    <m:r>
                      <a:rPr lang="en-US" altLang="zh-CN" sz="2400" b="0" i="1" kern="1200" smtClean="0">
                        <a:solidFill>
                          <a:schemeClr val="bg1"/>
                        </a:solidFill>
                        <a:latin typeface="Cambria Math" panose="02040503050406030204" pitchFamily="18" charset="0"/>
                        <a:ea typeface="Microsoft YaHei" panose="020B0503020204020204" pitchFamily="34" charset="-122"/>
                      </a:rPr>
                      <m:t>𝑛</m:t>
                    </m:r>
                    <m:r>
                      <a:rPr lang="en-US" altLang="zh-CN" sz="2400" b="0" i="1" kern="1200" smtClean="0">
                        <a:solidFill>
                          <a:schemeClr val="bg1"/>
                        </a:solidFill>
                        <a:latin typeface="Cambria Math" panose="02040503050406030204" pitchFamily="18" charset="0"/>
                        <a:ea typeface="Microsoft YaHei" panose="020B0503020204020204" pitchFamily="34" charset="-122"/>
                      </a:rPr>
                      <m:t>]</m:t>
                    </m:r>
                  </m:oMath>
                </a14:m>
                <a:r>
                  <a:rPr lang="zh-CN" altLang="en-US" sz="2400" kern="1200" dirty="0">
                    <a:solidFill>
                      <a:schemeClr val="bg1"/>
                    </a:solidFill>
                    <a:latin typeface="Microsoft YaHei" panose="020B0503020204020204" pitchFamily="34" charset="-122"/>
                    <a:ea typeface="Microsoft YaHei" panose="020B0503020204020204" pitchFamily="34" charset="-122"/>
                  </a:rPr>
                  <a:t>，</a:t>
                </a:r>
                <a:r>
                  <a:rPr lang="en-US" altLang="zh-CN" sz="2400" dirty="0">
                    <a:solidFill>
                      <a:schemeClr val="bg1"/>
                    </a:solidFill>
                    <a:ea typeface="Microsoft YaHei" panose="020B0503020204020204" pitchFamily="34" charset="-122"/>
                  </a:rPr>
                  <a:t> </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𝑗</m:t>
                        </m:r>
                      </m:sub>
                    </m:sSub>
                    <m:r>
                      <a:rPr lang="zh-CN" altLang="en-US" sz="2400">
                        <a:solidFill>
                          <a:schemeClr val="bg1"/>
                        </a:solidFill>
                        <a:latin typeface="Cambria Math" panose="02040503050406030204" pitchFamily="18" charset="0"/>
                        <a:ea typeface="Microsoft YaHei" panose="020B0503020204020204" pitchFamily="34" charset="-122"/>
                      </a:rPr>
                      <m:t> </m:t>
                    </m:r>
                  </m:oMath>
                </a14:m>
                <a:r>
                  <a:rPr lang="zh-CN" altLang="en-US" sz="2400" b="0" kern="1200" dirty="0">
                    <a:solidFill>
                      <a:schemeClr val="bg1"/>
                    </a:solidFill>
                    <a:latin typeface="Microsoft YaHei" panose="020B0503020204020204" pitchFamily="34" charset="-122"/>
                    <a:ea typeface="Microsoft YaHei" panose="020B0503020204020204" pitchFamily="34" charset="-122"/>
                  </a:rPr>
                  <a:t>是与</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i="1">
                            <a:solidFill>
                              <a:schemeClr val="bg1"/>
                            </a:solidFill>
                            <a:latin typeface="Cambria Math" panose="02040503050406030204" pitchFamily="18" charset="0"/>
                            <a:ea typeface="Microsoft YaHei" panose="020B0503020204020204" pitchFamily="34" charset="-122"/>
                          </a:rPr>
                          <m:t>𝑖</m:t>
                        </m:r>
                      </m:sub>
                    </m:sSub>
                    <m:r>
                      <a:rPr lang="zh-CN" altLang="en-US" sz="2400">
                        <a:solidFill>
                          <a:schemeClr val="bg1"/>
                        </a:solidFill>
                        <a:latin typeface="Cambria Math" panose="02040503050406030204" pitchFamily="18" charset="0"/>
                        <a:ea typeface="Microsoft YaHei" panose="020B0503020204020204" pitchFamily="34" charset="-122"/>
                      </a:rPr>
                      <m:t> </m:t>
                    </m:r>
                  </m:oMath>
                </a14:m>
                <a:r>
                  <a:rPr lang="zh-CN" altLang="en-US" sz="2400" b="0" kern="1200" dirty="0">
                    <a:solidFill>
                      <a:schemeClr val="bg1"/>
                    </a:solidFill>
                    <a:latin typeface="Microsoft YaHei" panose="020B0503020204020204" pitchFamily="34" charset="-122"/>
                    <a:ea typeface="Microsoft YaHei" panose="020B0503020204020204" pitchFamily="34" charset="-122"/>
                  </a:rPr>
                  <a:t>匹配的右括号</a:t>
                </a:r>
                <a:endParaRPr lang="en-US" altLang="zh-CN" sz="2400" b="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400" dirty="0">
                    <a:solidFill>
                      <a:schemeClr val="bg1"/>
                    </a:solidFill>
                    <a:latin typeface="Microsoft YaHei" panose="020B0503020204020204" pitchFamily="34" charset="-122"/>
                    <a:ea typeface="Microsoft YaHei" panose="020B0503020204020204" pitchFamily="34" charset="-122"/>
                  </a:rPr>
                  <a:t>如果</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𝑗</m:t>
                        </m:r>
                      </m:sub>
                    </m:sSub>
                    <m:r>
                      <a:rPr lang="zh-CN" altLang="en-US" sz="2400">
                        <a:solidFill>
                          <a:schemeClr val="bg1"/>
                        </a:solidFill>
                        <a:latin typeface="Cambria Math" panose="02040503050406030204" pitchFamily="18" charset="0"/>
                        <a:ea typeface="Microsoft YaHei" panose="020B0503020204020204" pitchFamily="34" charset="-122"/>
                      </a:rPr>
                      <m:t> </m:t>
                    </m:r>
                    <m:r>
                      <a:rPr lang="en-US" altLang="zh-CN" sz="2400">
                        <a:solidFill>
                          <a:schemeClr val="bg1"/>
                        </a:solidFill>
                        <a:latin typeface="Cambria Math" panose="02040503050406030204" pitchFamily="18" charset="0"/>
                        <a:ea typeface="Microsoft YaHei" panose="020B0503020204020204" pitchFamily="34" charset="-122"/>
                      </a:rPr>
                      <m:t>(1</m:t>
                    </m:r>
                    <m:r>
                      <a:rPr lang="en-US" altLang="zh-CN" sz="2400" b="0" i="1" smtClean="0">
                        <a:solidFill>
                          <a:schemeClr val="bg1"/>
                        </a:solidFill>
                        <a:latin typeface="Cambria Math" panose="02040503050406030204" pitchFamily="18" charset="0"/>
                        <a:ea typeface="Microsoft YaHei" panose="020B0503020204020204" pitchFamily="34" charset="-122"/>
                      </a:rPr>
                      <m:t>&lt;</m:t>
                    </m:r>
                    <m:r>
                      <a:rPr lang="en-US" altLang="zh-CN" sz="2400" b="0" i="1" smtClean="0">
                        <a:solidFill>
                          <a:schemeClr val="bg1"/>
                        </a:solidFill>
                        <a:latin typeface="Cambria Math" panose="02040503050406030204" pitchFamily="18" charset="0"/>
                        <a:ea typeface="Microsoft YaHei" panose="020B0503020204020204" pitchFamily="34" charset="-122"/>
                      </a:rPr>
                      <m:t>𝑗</m:t>
                    </m:r>
                    <m:r>
                      <a:rPr lang="en-US" altLang="zh-CN" sz="2400" b="0" i="1" smtClean="0">
                        <a:solidFill>
                          <a:schemeClr val="bg1"/>
                        </a:solidFill>
                        <a:latin typeface="Cambria Math" panose="02040503050406030204" pitchFamily="18" charset="0"/>
                        <a:ea typeface="Microsoft YaHei" panose="020B0503020204020204" pitchFamily="34" charset="-122"/>
                      </a:rPr>
                      <m:t>≤</m:t>
                    </m:r>
                    <m:r>
                      <a:rPr lang="en-US" altLang="zh-CN" sz="2400" i="1">
                        <a:solidFill>
                          <a:schemeClr val="bg1"/>
                        </a:solidFill>
                        <a:latin typeface="Cambria Math" panose="02040503050406030204" pitchFamily="18" charset="0"/>
                        <a:ea typeface="Microsoft YaHei" panose="020B0503020204020204" pitchFamily="34" charset="-122"/>
                      </a:rPr>
                      <m:t>𝑛</m:t>
                    </m:r>
                    <m:r>
                      <a:rPr lang="en-US" altLang="zh-CN" sz="2400" i="1">
                        <a:solidFill>
                          <a:schemeClr val="bg1"/>
                        </a:solidFill>
                        <a:latin typeface="Cambria Math" panose="02040503050406030204" pitchFamily="18" charset="0"/>
                        <a:ea typeface="Microsoft YaHei" panose="020B0503020204020204" pitchFamily="34" charset="-122"/>
                      </a:rPr>
                      <m:t>)</m:t>
                    </m:r>
                  </m:oMath>
                </a14:m>
                <a:r>
                  <a:rPr lang="zh-CN" altLang="en-US" sz="2400" dirty="0">
                    <a:solidFill>
                      <a:schemeClr val="bg1"/>
                    </a:solidFill>
                    <a:latin typeface="Microsoft YaHei" panose="020B0503020204020204" pitchFamily="34" charset="-122"/>
                    <a:ea typeface="Microsoft YaHei" panose="020B0503020204020204" pitchFamily="34" charset="-122"/>
                  </a:rPr>
                  <a:t>是右括号，存在唯一的</a:t>
                </a:r>
                <a14:m>
                  <m:oMath xmlns:m="http://schemas.openxmlformats.org/officeDocument/2006/math">
                    <m:r>
                      <a:rPr lang="en-US" altLang="zh-CN" sz="2400" b="0" i="1" smtClean="0">
                        <a:solidFill>
                          <a:schemeClr val="bg1"/>
                        </a:solidFill>
                        <a:latin typeface="Cambria Math" panose="02040503050406030204" pitchFamily="18" charset="0"/>
                        <a:ea typeface="Microsoft YaHei" panose="020B0503020204020204" pitchFamily="34" charset="-122"/>
                      </a:rPr>
                      <m:t>𝑖</m:t>
                    </m:r>
                    <m:r>
                      <a:rPr lang="en-US" altLang="zh-CN" sz="2400" i="1">
                        <a:solidFill>
                          <a:schemeClr val="bg1"/>
                        </a:solidFill>
                        <a:latin typeface="Cambria Math" panose="02040503050406030204" pitchFamily="18" charset="0"/>
                        <a:ea typeface="Microsoft YaHei" panose="020B0503020204020204" pitchFamily="34" charset="-122"/>
                      </a:rPr>
                      <m:t>∈[</m:t>
                    </m:r>
                    <m:r>
                      <a:rPr lang="en-US" altLang="zh-CN" sz="2400" b="0" i="1" smtClean="0">
                        <a:solidFill>
                          <a:schemeClr val="bg1"/>
                        </a:solidFill>
                        <a:latin typeface="Cambria Math" panose="02040503050406030204" pitchFamily="18" charset="0"/>
                        <a:ea typeface="Microsoft YaHei" panose="020B0503020204020204" pitchFamily="34" charset="-122"/>
                      </a:rPr>
                      <m:t>1</m:t>
                    </m:r>
                    <m:r>
                      <a:rPr lang="en-US" altLang="zh-CN" sz="2400" i="1">
                        <a:solidFill>
                          <a:schemeClr val="bg1"/>
                        </a:solidFill>
                        <a:latin typeface="Cambria Math" panose="02040503050406030204" pitchFamily="18" charset="0"/>
                        <a:ea typeface="Microsoft YaHei" panose="020B0503020204020204" pitchFamily="34" charset="-122"/>
                      </a:rPr>
                      <m:t>,</m:t>
                    </m:r>
                    <m:r>
                      <a:rPr lang="zh-CN" altLang="en-US" sz="2400" i="1">
                        <a:solidFill>
                          <a:schemeClr val="bg1"/>
                        </a:solidFill>
                        <a:latin typeface="Cambria Math" panose="02040503050406030204" pitchFamily="18" charset="0"/>
                        <a:ea typeface="Microsoft YaHei" panose="020B0503020204020204" pitchFamily="34" charset="-122"/>
                      </a:rPr>
                      <m:t> </m:t>
                    </m:r>
                    <m:r>
                      <a:rPr lang="en-US" altLang="zh-CN" sz="2400" b="0" i="1" smtClean="0">
                        <a:solidFill>
                          <a:schemeClr val="bg1"/>
                        </a:solidFill>
                        <a:latin typeface="Cambria Math" panose="02040503050406030204" pitchFamily="18" charset="0"/>
                        <a:ea typeface="Microsoft YaHei" panose="020B0503020204020204" pitchFamily="34" charset="-122"/>
                      </a:rPr>
                      <m:t>𝑗</m:t>
                    </m:r>
                    <m:r>
                      <a:rPr lang="en-US" altLang="zh-CN" sz="2400" b="0" i="1" smtClean="0">
                        <a:solidFill>
                          <a:schemeClr val="bg1"/>
                        </a:solidFill>
                        <a:latin typeface="Cambria Math" panose="02040503050406030204" pitchFamily="18" charset="0"/>
                        <a:ea typeface="Microsoft YaHei" panose="020B0503020204020204" pitchFamily="34" charset="-122"/>
                      </a:rPr>
                      <m:t>−1]</m:t>
                    </m:r>
                  </m:oMath>
                </a14:m>
                <a:r>
                  <a:rPr lang="zh-CN" altLang="en-US" sz="2400" dirty="0">
                    <a:solidFill>
                      <a:schemeClr val="bg1"/>
                    </a:solidFill>
                    <a:latin typeface="Microsoft YaHei" panose="020B0503020204020204" pitchFamily="34" charset="-122"/>
                    <a:ea typeface="Microsoft YaHei" panose="020B0503020204020204" pitchFamily="34" charset="-122"/>
                  </a:rPr>
                  <a:t>，</a:t>
                </a:r>
                <a:r>
                  <a:rPr lang="en-US" altLang="zh-CN" sz="2400" dirty="0">
                    <a:solidFill>
                      <a:schemeClr val="bg1"/>
                    </a:solidFill>
                    <a:ea typeface="Microsoft YaHei" panose="020B0503020204020204" pitchFamily="34" charset="-122"/>
                  </a:rPr>
                  <a:t> </a:t>
                </a:r>
                <a14:m>
                  <m:oMath xmlns:m="http://schemas.openxmlformats.org/officeDocument/2006/math">
                    <m:sSub>
                      <m:sSubPr>
                        <m:ctrlPr>
                          <a:rPr lang="en-US" altLang="zh-CN" sz="2400" b="0" i="1" smtClean="0">
                            <a:solidFill>
                              <a:schemeClr val="bg1"/>
                            </a:solidFill>
                            <a:latin typeface="Cambria Math" panose="02040503050406030204" pitchFamily="18" charset="0"/>
                            <a:ea typeface="Microsoft YaHei" panose="020B0503020204020204" pitchFamily="34" charset="-122"/>
                          </a:rPr>
                        </m:ctrlPr>
                      </m:sSubPr>
                      <m:e>
                        <m:r>
                          <a:rPr lang="en-US" altLang="zh-CN" sz="2400" b="0" i="1" smtClean="0">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𝑖</m:t>
                        </m:r>
                      </m:sub>
                    </m:sSub>
                    <m:r>
                      <a:rPr lang="zh-CN" altLang="en-US" sz="2400" i="1">
                        <a:solidFill>
                          <a:schemeClr val="bg1"/>
                        </a:solidFill>
                        <a:latin typeface="Cambria Math" panose="02040503050406030204" pitchFamily="18" charset="0"/>
                        <a:ea typeface="Microsoft YaHei" panose="020B0503020204020204" pitchFamily="34" charset="-122"/>
                      </a:rPr>
                      <m:t> </m:t>
                    </m:r>
                  </m:oMath>
                </a14:m>
                <a:r>
                  <a:rPr lang="zh-CN" altLang="en-US" sz="2400" dirty="0">
                    <a:solidFill>
                      <a:schemeClr val="bg1"/>
                    </a:solidFill>
                    <a:latin typeface="Microsoft YaHei" panose="020B0503020204020204" pitchFamily="34" charset="-122"/>
                    <a:ea typeface="Microsoft YaHei" panose="020B0503020204020204" pitchFamily="34" charset="-122"/>
                  </a:rPr>
                  <a:t>是与</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𝑗</m:t>
                        </m:r>
                      </m:sub>
                    </m:sSub>
                    <m:r>
                      <a:rPr lang="zh-CN" altLang="en-US" sz="2400">
                        <a:solidFill>
                          <a:schemeClr val="bg1"/>
                        </a:solidFill>
                        <a:latin typeface="Cambria Math" panose="02040503050406030204" pitchFamily="18" charset="0"/>
                        <a:ea typeface="Microsoft YaHei" panose="020B0503020204020204" pitchFamily="34" charset="-122"/>
                      </a:rPr>
                      <m:t> </m:t>
                    </m:r>
                  </m:oMath>
                </a14:m>
                <a:r>
                  <a:rPr lang="zh-CN" altLang="en-US" sz="2400" dirty="0">
                    <a:solidFill>
                      <a:schemeClr val="bg1"/>
                    </a:solidFill>
                    <a:latin typeface="Microsoft YaHei" panose="020B0503020204020204" pitchFamily="34" charset="-122"/>
                    <a:ea typeface="Microsoft YaHei" panose="020B0503020204020204" pitchFamily="34" charset="-122"/>
                  </a:rPr>
                  <a:t>匹配的左括号</a:t>
                </a:r>
                <a:endParaRPr lang="en-US" altLang="zh-CN" sz="24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400" dirty="0">
                    <a:solidFill>
                      <a:schemeClr val="bg1"/>
                    </a:solidFill>
                    <a:latin typeface="Microsoft YaHei" panose="020B0503020204020204" pitchFamily="34" charset="-122"/>
                    <a:ea typeface="Microsoft YaHei" panose="020B0503020204020204" pitchFamily="34" charset="-122"/>
                  </a:rPr>
                  <a:t>如果</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i="1">
                            <a:solidFill>
                              <a:schemeClr val="bg1"/>
                            </a:solidFill>
                            <a:latin typeface="Cambria Math" panose="02040503050406030204" pitchFamily="18" charset="0"/>
                            <a:ea typeface="Microsoft YaHei" panose="020B0503020204020204" pitchFamily="34" charset="-122"/>
                          </a:rPr>
                          <m:t>𝑖</m:t>
                        </m:r>
                      </m:sub>
                    </m:sSub>
                  </m:oMath>
                </a14:m>
                <a:r>
                  <a:rPr lang="zh-CN" altLang="en-US" sz="2400" dirty="0">
                    <a:solidFill>
                      <a:schemeClr val="bg1"/>
                    </a:solidFill>
                    <a:latin typeface="Microsoft YaHei" panose="020B0503020204020204" pitchFamily="34" charset="-122"/>
                    <a:ea typeface="Microsoft YaHei" panose="020B0503020204020204" pitchFamily="34" charset="-122"/>
                  </a:rPr>
                  <a:t>与</a:t>
                </a:r>
                <a14:m>
                  <m:oMath xmlns:m="http://schemas.openxmlformats.org/officeDocument/2006/math">
                    <m:sSub>
                      <m:sSubPr>
                        <m:ctrlPr>
                          <a:rPr lang="en-US" altLang="zh-CN" sz="2400" i="1">
                            <a:solidFill>
                              <a:schemeClr val="bg1"/>
                            </a:solidFill>
                            <a:latin typeface="Cambria Math" panose="02040503050406030204" pitchFamily="18" charset="0"/>
                            <a:ea typeface="Microsoft YaHei" panose="020B0503020204020204" pitchFamily="34" charset="-122"/>
                          </a:rPr>
                        </m:ctrlPr>
                      </m:sSubPr>
                      <m:e>
                        <m:r>
                          <a:rPr lang="en-US" altLang="zh-CN" sz="2400" i="1">
                            <a:solidFill>
                              <a:schemeClr val="bg1"/>
                            </a:solidFill>
                            <a:latin typeface="Cambria Math" panose="02040503050406030204" pitchFamily="18" charset="0"/>
                            <a:ea typeface="Microsoft YaHei" panose="020B0503020204020204" pitchFamily="34" charset="-122"/>
                          </a:rPr>
                          <m:t>𝑠</m:t>
                        </m:r>
                      </m:e>
                      <m:sub>
                        <m:r>
                          <a:rPr lang="en-US" altLang="zh-CN" sz="2400" i="1">
                            <a:solidFill>
                              <a:schemeClr val="bg1"/>
                            </a:solidFill>
                            <a:latin typeface="Cambria Math" panose="02040503050406030204" pitchFamily="18" charset="0"/>
                            <a:ea typeface="Microsoft YaHei" panose="020B0503020204020204" pitchFamily="34" charset="-122"/>
                          </a:rPr>
                          <m:t>𝑗</m:t>
                        </m:r>
                      </m:sub>
                    </m:sSub>
                  </m:oMath>
                </a14:m>
                <a:r>
                  <a:rPr lang="zh-CN" altLang="en-US" sz="2400" dirty="0">
                    <a:solidFill>
                      <a:schemeClr val="bg1"/>
                    </a:solidFill>
                    <a:latin typeface="Microsoft YaHei" panose="020B0503020204020204" pitchFamily="34" charset="-122"/>
                    <a:ea typeface="Microsoft YaHei" panose="020B0503020204020204" pitchFamily="34" charset="-122"/>
                  </a:rPr>
                  <a:t>相互匹配，则子串</a:t>
                </a:r>
                <a14:m>
                  <m:oMath xmlns:m="http://schemas.openxmlformats.org/officeDocument/2006/math">
                    <m:sSub>
                      <m:sSubPr>
                        <m:ctrlPr>
                          <a:rPr lang="en-US" altLang="zh-CN" sz="2400" b="0" i="1" smtClean="0">
                            <a:solidFill>
                              <a:schemeClr val="bg1"/>
                            </a:solidFill>
                            <a:latin typeface="Cambria Math" panose="02040503050406030204" pitchFamily="18" charset="0"/>
                            <a:ea typeface="Microsoft YaHei" panose="020B0503020204020204" pitchFamily="34" charset="-122"/>
                          </a:rPr>
                        </m:ctrlPr>
                      </m:sSubPr>
                      <m:e>
                        <m:r>
                          <a:rPr lang="en-US" altLang="zh-CN" sz="2400" b="0" i="1" smtClean="0">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𝑖</m:t>
                        </m:r>
                        <m:r>
                          <a:rPr lang="en-US" altLang="zh-CN" sz="2400" b="0" i="1" smtClean="0">
                            <a:solidFill>
                              <a:schemeClr val="bg1"/>
                            </a:solidFill>
                            <a:latin typeface="Cambria Math" panose="02040503050406030204" pitchFamily="18" charset="0"/>
                            <a:ea typeface="Microsoft YaHei" panose="020B0503020204020204" pitchFamily="34" charset="-122"/>
                          </a:rPr>
                          <m:t>+1</m:t>
                        </m:r>
                      </m:sub>
                    </m:sSub>
                    <m:r>
                      <a:rPr lang="en-US" altLang="zh-CN" sz="2400" b="0" i="1" smtClean="0">
                        <a:solidFill>
                          <a:schemeClr val="bg1"/>
                        </a:solidFill>
                        <a:latin typeface="Cambria Math" panose="02040503050406030204" pitchFamily="18" charset="0"/>
                        <a:ea typeface="Microsoft YaHei" panose="020B0503020204020204" pitchFamily="34" charset="-122"/>
                      </a:rPr>
                      <m:t>…</m:t>
                    </m:r>
                    <m:sSub>
                      <m:sSubPr>
                        <m:ctrlPr>
                          <a:rPr lang="en-US" altLang="zh-CN" sz="2400" b="0" i="1" smtClean="0">
                            <a:solidFill>
                              <a:schemeClr val="bg1"/>
                            </a:solidFill>
                            <a:latin typeface="Cambria Math" panose="02040503050406030204" pitchFamily="18" charset="0"/>
                            <a:ea typeface="Microsoft YaHei" panose="020B0503020204020204" pitchFamily="34" charset="-122"/>
                          </a:rPr>
                        </m:ctrlPr>
                      </m:sSubPr>
                      <m:e>
                        <m:r>
                          <a:rPr lang="en-US" altLang="zh-CN" sz="2400" b="0" i="1" smtClean="0">
                            <a:solidFill>
                              <a:schemeClr val="bg1"/>
                            </a:solidFill>
                            <a:latin typeface="Cambria Math" panose="02040503050406030204" pitchFamily="18" charset="0"/>
                            <a:ea typeface="Microsoft YaHei" panose="020B0503020204020204" pitchFamily="34" charset="-122"/>
                          </a:rPr>
                          <m:t>𝑠</m:t>
                        </m:r>
                      </m:e>
                      <m:sub>
                        <m:r>
                          <a:rPr lang="en-US" altLang="zh-CN" sz="2400" b="0" i="1" smtClean="0">
                            <a:solidFill>
                              <a:schemeClr val="bg1"/>
                            </a:solidFill>
                            <a:latin typeface="Cambria Math" panose="02040503050406030204" pitchFamily="18" charset="0"/>
                            <a:ea typeface="Microsoft YaHei" panose="020B0503020204020204" pitchFamily="34" charset="-122"/>
                          </a:rPr>
                          <m:t>𝑗</m:t>
                        </m:r>
                        <m:r>
                          <a:rPr lang="en-US" altLang="zh-CN" sz="2400" b="0" i="1" smtClean="0">
                            <a:solidFill>
                              <a:schemeClr val="bg1"/>
                            </a:solidFill>
                            <a:latin typeface="Cambria Math" panose="02040503050406030204" pitchFamily="18" charset="0"/>
                            <a:ea typeface="Microsoft YaHei" panose="020B0503020204020204" pitchFamily="34" charset="-122"/>
                          </a:rPr>
                          <m:t>−1</m:t>
                        </m:r>
                      </m:sub>
                    </m:sSub>
                  </m:oMath>
                </a14:m>
                <a:r>
                  <a:rPr lang="zh-CN" altLang="en-US" sz="2400" dirty="0">
                    <a:solidFill>
                      <a:schemeClr val="bg1"/>
                    </a:solidFill>
                    <a:latin typeface="Microsoft YaHei" panose="020B0503020204020204" pitchFamily="34" charset="-122"/>
                    <a:ea typeface="Microsoft YaHei" panose="020B0503020204020204" pitchFamily="34" charset="-122"/>
                  </a:rPr>
                  <a:t>是括号语句</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mc:Choice>
        <mc:Fallback xmlns="">
          <p:sp>
            <p:nvSpPr>
              <p:cNvPr id="5" name="任意多边形: 形状 69">
                <a:extLst>
                  <a:ext uri="{FF2B5EF4-FFF2-40B4-BE49-F238E27FC236}">
                    <a16:creationId xmlns:a16="http://schemas.microsoft.com/office/drawing/2014/main" id="{2A7D8BFB-FF34-EE1A-E288-D47F8A6A56FB}"/>
                  </a:ext>
                </a:extLst>
              </p:cNvPr>
              <p:cNvSpPr>
                <a:spLocks noRot="1" noChangeAspect="1" noMove="1" noResize="1" noEditPoints="1" noAdjustHandles="1" noChangeArrowheads="1" noChangeShapeType="1" noTextEdit="1"/>
              </p:cNvSpPr>
              <p:nvPr/>
            </p:nvSpPr>
            <p:spPr>
              <a:xfrm>
                <a:off x="1897280" y="2136572"/>
                <a:ext cx="7754720" cy="2668939"/>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blipFill>
                <a:blip r:embed="rId3"/>
                <a:stretch>
                  <a:fillRect l="-163" r="-4241"/>
                </a:stretch>
              </a:blipFill>
            </p:spPr>
            <p:txBody>
              <a:bodyPr/>
              <a:lstStyle/>
              <a:p>
                <a:r>
                  <a:rPr lang="zh-CN" altLang="en-US">
                    <a:noFill/>
                  </a:rPr>
                  <a:t> </a:t>
                </a:r>
              </a:p>
            </p:txBody>
          </p:sp>
        </mc:Fallback>
      </mc:AlternateContent>
      <p:sp>
        <p:nvSpPr>
          <p:cNvPr id="6" name="任意多边形: 形状 69">
            <a:extLst>
              <a:ext uri="{FF2B5EF4-FFF2-40B4-BE49-F238E27FC236}">
                <a16:creationId xmlns:a16="http://schemas.microsoft.com/office/drawing/2014/main" id="{5851E898-DE45-1AEB-449B-9A9508D3AD14}"/>
              </a:ext>
            </a:extLst>
          </p:cNvPr>
          <p:cNvSpPr/>
          <p:nvPr/>
        </p:nvSpPr>
        <p:spPr>
          <a:xfrm>
            <a:off x="3784134" y="5539316"/>
            <a:ext cx="3981012" cy="917580"/>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kern="1200" dirty="0">
                <a:solidFill>
                  <a:schemeClr val="bg1"/>
                </a:solidFill>
                <a:latin typeface="Microsoft YaHei" panose="020B0503020204020204" pitchFamily="34" charset="-122"/>
                <a:ea typeface="Microsoft YaHei" panose="020B0503020204020204" pitchFamily="34" charset="-122"/>
              </a:rPr>
              <a:t>用</a:t>
            </a:r>
            <a:r>
              <a:rPr lang="zh-CN" altLang="en-US" sz="2800" b="1" kern="1200" dirty="0">
                <a:solidFill>
                  <a:schemeClr val="bg1"/>
                </a:solidFill>
                <a:latin typeface="Microsoft YaHei" panose="020B0503020204020204" pitchFamily="34" charset="-122"/>
                <a:ea typeface="Microsoft YaHei" panose="020B0503020204020204" pitchFamily="34" charset="-122"/>
              </a:rPr>
              <a:t>栈</a:t>
            </a:r>
            <a:r>
              <a:rPr lang="zh-CN" altLang="en-US" sz="2800" kern="1200" dirty="0">
                <a:solidFill>
                  <a:schemeClr val="bg1"/>
                </a:solidFill>
                <a:latin typeface="Microsoft YaHei" panose="020B0503020204020204" pitchFamily="34" charset="-122"/>
                <a:ea typeface="Microsoft YaHei" panose="020B0503020204020204" pitchFamily="34" charset="-122"/>
              </a:rPr>
              <a:t>实现括号语句判定</a:t>
            </a:r>
            <a:endParaRPr lang="en-US" altLang="zh-CN" sz="2800" kern="1200" dirty="0">
              <a:solidFill>
                <a:schemeClr val="bg1"/>
              </a:solidFill>
              <a:latin typeface="Microsoft YaHei" panose="020B0503020204020204" pitchFamily="34" charset="-122"/>
              <a:ea typeface="Microsoft YaHei" panose="020B0503020204020204" pitchFamily="34" charset="-122"/>
            </a:endParaRPr>
          </a:p>
        </p:txBody>
      </p:sp>
      <p:sp>
        <p:nvSpPr>
          <p:cNvPr id="7" name="下箭头 6">
            <a:extLst>
              <a:ext uri="{FF2B5EF4-FFF2-40B4-BE49-F238E27FC236}">
                <a16:creationId xmlns:a16="http://schemas.microsoft.com/office/drawing/2014/main" id="{AF2FCA7C-37B3-3B07-5F85-776802625C82}"/>
              </a:ext>
            </a:extLst>
          </p:cNvPr>
          <p:cNvSpPr/>
          <p:nvPr/>
        </p:nvSpPr>
        <p:spPr>
          <a:xfrm>
            <a:off x="5355682" y="5051052"/>
            <a:ext cx="837916" cy="361950"/>
          </a:xfrm>
          <a:prstGeom prst="downArrow">
            <a:avLst/>
          </a:prstGeom>
          <a:solidFill>
            <a:srgbClr val="009999"/>
          </a:solidFill>
          <a:ln>
            <a:solidFill>
              <a:srgbClr val="00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8292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5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9" name="任意多边形: 形状 6">
            <a:extLst>
              <a:ext uri="{FF2B5EF4-FFF2-40B4-BE49-F238E27FC236}">
                <a16:creationId xmlns:a16="http://schemas.microsoft.com/office/drawing/2014/main" id="{675A07AB-96B7-DB54-3BE9-DDA70C3075A7}"/>
              </a:ext>
            </a:extLst>
          </p:cNvPr>
          <p:cNvSpPr/>
          <p:nvPr/>
        </p:nvSpPr>
        <p:spPr>
          <a:xfrm>
            <a:off x="1025955" y="1048920"/>
            <a:ext cx="8003745" cy="553787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lvl="0" eaLnBrk="0" fontAlgn="base" hangingPunct="0">
              <a:spcBef>
                <a:spcPct val="0"/>
              </a:spcBef>
              <a:spcAft>
                <a:spcPct val="0"/>
              </a:spcAft>
            </a:pPr>
            <a:r>
              <a:rPr lang="zh-CN" altLang="zh-CN" sz="1600" dirty="0">
                <a:latin typeface="微软雅黑" panose="020B0503020204020204" pitchFamily="34" charset="-122"/>
                <a:ea typeface="微软雅黑" panose="020B0503020204020204" pitchFamily="34" charset="-122"/>
              </a:rPr>
              <a:t>——————————————————————</a:t>
            </a:r>
          </a:p>
          <a:p>
            <a:pPr marL="360000" lvl="0" indent="-288000" eaLnBrk="0" fontAlgn="base" hangingPunct="0">
              <a:spcBef>
                <a:spcPct val="0"/>
              </a:spcBef>
              <a:spcAft>
                <a:spcPct val="0"/>
              </a:spcAft>
              <a:buFont typeface="+mj-lt"/>
              <a:buAutoNum type="arabicPeriod"/>
            </a:pPr>
            <a:r>
              <a:rPr lang="zh-CN"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InitStack</a:t>
            </a:r>
            <a:r>
              <a:rPr lang="en-US" altLang="zh-CN" sz="1600" dirty="0">
                <a:latin typeface="微软雅黑" panose="020B0503020204020204" pitchFamily="34" charset="-122"/>
                <a:ea typeface="微软雅黑" panose="020B0503020204020204" pitchFamily="34" charset="-122"/>
              </a:rPr>
              <a:t>(stack)</a:t>
            </a:r>
            <a:r>
              <a:rPr lang="zh-CN" altLang="zh-CN"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初始化栈，存放左括号字符</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Length(str)</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字符串</a:t>
            </a:r>
            <a:r>
              <a:rPr lang="en-US" altLang="zh-CN" sz="1600" dirty="0">
                <a:latin typeface="微软雅黑" panose="020B0503020204020204" pitchFamily="34" charset="-122"/>
                <a:ea typeface="微软雅黑" panose="020B0503020204020204" pitchFamily="34" charset="-122"/>
              </a:rPr>
              <a:t>str</a:t>
            </a:r>
            <a:r>
              <a:rPr lang="zh-CN" altLang="en-US" sz="1600" dirty="0">
                <a:latin typeface="微软雅黑" panose="020B0503020204020204" pitchFamily="34" charset="-122"/>
                <a:ea typeface="微软雅黑" panose="020B0503020204020204" pitchFamily="34" charset="-122"/>
              </a:rPr>
              <a:t>的长度，字符串由括号字符组成</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0</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true</a:t>
            </a:r>
            <a:r>
              <a:rPr lang="zh-CN" altLang="en-US" sz="1600" b="1"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判定结果的初始值</a:t>
            </a:r>
            <a:endParaRPr lang="zh-CN"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zh-CN"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while</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true</a:t>
            </a:r>
            <a:r>
              <a:rPr lang="zh-CN" altLang="en-US" sz="1600" dirty="0">
                <a:latin typeface="微软雅黑" panose="020B0503020204020204" pitchFamily="34" charset="-122"/>
                <a:ea typeface="微软雅黑" panose="020B0503020204020204" pitchFamily="34" charset="-122"/>
              </a:rPr>
              <a:t> 且 </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&lt;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do</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if</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或 </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或 </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then</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个字符是</a:t>
            </a:r>
            <a:r>
              <a:rPr lang="zh-CN" altLang="en-US" sz="1600" dirty="0">
                <a:solidFill>
                  <a:srgbClr val="FFFF00"/>
                </a:solidFill>
                <a:latin typeface="微软雅黑" panose="020B0503020204020204" pitchFamily="34" charset="-122"/>
                <a:ea typeface="微软雅黑" panose="020B0503020204020204" pitchFamily="34" charset="-122"/>
              </a:rPr>
              <a:t>左括号</a:t>
            </a:r>
            <a:endParaRPr lang="en-US" altLang="zh-CN" sz="1600" b="1" dirty="0">
              <a:solidFill>
                <a:srgbClr val="FFFF00"/>
              </a:solidFill>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b="1"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Push(stack,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入栈</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else</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是右括号</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if</a:t>
            </a:r>
            <a:r>
              <a:rPr lang="zh-CN" altLang="en-US"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IsEmpty</a:t>
            </a:r>
            <a:r>
              <a:rPr lang="en-US" altLang="zh-CN" sz="1600" dirty="0">
                <a:latin typeface="微软雅黑" panose="020B0503020204020204" pitchFamily="34" charset="-122"/>
                <a:ea typeface="微软雅黑" panose="020B0503020204020204" pitchFamily="34" charset="-122"/>
              </a:rPr>
              <a:t>(stack)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false</a:t>
            </a:r>
            <a:r>
              <a:rPr lang="zh-CN" altLang="en-US" sz="1600" dirty="0">
                <a:latin typeface="微软雅黑" panose="020B0503020204020204" pitchFamily="34" charset="-122"/>
                <a:ea typeface="微软雅黑" panose="020B0503020204020204" pitchFamily="34" charset="-122"/>
              </a:rPr>
              <a:t> 且 </a:t>
            </a:r>
            <a:r>
              <a:rPr lang="en-US" altLang="zh-CN" sz="1600" dirty="0" err="1">
                <a:solidFill>
                  <a:srgbClr val="FFFF00"/>
                </a:solidFill>
                <a:latin typeface="微软雅黑" panose="020B0503020204020204" pitchFamily="34" charset="-122"/>
                <a:ea typeface="微软雅黑" panose="020B0503020204020204" pitchFamily="34" charset="-122"/>
              </a:rPr>
              <a:t>isMatch</a:t>
            </a:r>
            <a:r>
              <a:rPr lang="en-US" altLang="zh-CN" sz="1600" dirty="0">
                <a:solidFill>
                  <a:srgbClr val="FFFF00"/>
                </a:solidFill>
                <a:latin typeface="微软雅黑" panose="020B0503020204020204" pitchFamily="34" charset="-122"/>
                <a:ea typeface="微软雅黑" panose="020B0503020204020204" pitchFamily="34" charset="-122"/>
              </a:rPr>
              <a:t>(Top(stack),</a:t>
            </a:r>
            <a:r>
              <a:rPr lang="zh-CN" altLang="en-US" sz="1600" dirty="0">
                <a:solidFill>
                  <a:srgbClr val="FFFF00"/>
                </a:solidFill>
                <a:latin typeface="微软雅黑" panose="020B0503020204020204" pitchFamily="34" charset="-122"/>
                <a:ea typeface="微软雅黑" panose="020B0503020204020204" pitchFamily="34" charset="-122"/>
              </a:rPr>
              <a:t> </a:t>
            </a:r>
            <a:r>
              <a:rPr lang="en-US" altLang="zh-CN" sz="1600" dirty="0">
                <a:solidFill>
                  <a:srgbClr val="FFFF00"/>
                </a:solidFill>
                <a:latin typeface="微软雅黑" panose="020B0503020204020204" pitchFamily="34" charset="-122"/>
                <a:ea typeface="微软雅黑" panose="020B0503020204020204" pitchFamily="34" charset="-122"/>
              </a:rPr>
              <a:t>str[k])</a:t>
            </a:r>
            <a:r>
              <a:rPr lang="zh-CN" altLang="en-US" sz="1600" dirty="0">
                <a:solidFill>
                  <a:srgbClr val="FFFF00"/>
                </a:solidFill>
                <a:latin typeface="微软雅黑" panose="020B0503020204020204" pitchFamily="34" charset="-122"/>
                <a:ea typeface="微软雅黑" panose="020B0503020204020204" pitchFamily="34" charset="-122"/>
              </a:rPr>
              <a:t> </a:t>
            </a:r>
            <a:r>
              <a:rPr lang="en-US" altLang="zh-CN" sz="1600" dirty="0">
                <a:solidFill>
                  <a:srgbClr val="FFFF00"/>
                </a:solidFill>
                <a:latin typeface="微软雅黑" panose="020B0503020204020204" pitchFamily="34" charset="-122"/>
                <a:ea typeface="微软雅黑" panose="020B0503020204020204" pitchFamily="34" charset="-122"/>
              </a:rPr>
              <a:t>=</a:t>
            </a:r>
            <a:r>
              <a:rPr lang="zh-CN" altLang="en-US" sz="1600" dirty="0">
                <a:solidFill>
                  <a:srgbClr val="FFFF00"/>
                </a:solidFill>
                <a:latin typeface="微软雅黑" panose="020B0503020204020204" pitchFamily="34" charset="-122"/>
                <a:ea typeface="微软雅黑" panose="020B0503020204020204" pitchFamily="34" charset="-122"/>
              </a:rPr>
              <a:t> </a:t>
            </a:r>
            <a:r>
              <a:rPr lang="en-US" altLang="zh-CN" sz="1600" b="1" dirty="0">
                <a:solidFill>
                  <a:srgbClr val="FFFF00"/>
                </a:solidFill>
                <a:latin typeface="微软雅黑" panose="020B0503020204020204" pitchFamily="34" charset="-122"/>
                <a:ea typeface="微软雅黑" panose="020B0503020204020204" pitchFamily="34" charset="-122"/>
              </a:rPr>
              <a:t>true</a:t>
            </a:r>
            <a:r>
              <a:rPr lang="zh-CN" altLang="en-US" sz="1600" dirty="0">
                <a:solidFill>
                  <a:srgbClr val="FFFF00"/>
                </a:solidFill>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then</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Pop(stack)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与栈顶的左括号类型一致，弹出左括号</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else</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空栈或栈顶括号与</a:t>
            </a:r>
            <a:r>
              <a:rPr lang="en-US" altLang="zh-CN" sz="1600" dirty="0">
                <a:latin typeface="微软雅黑" panose="020B0503020204020204" pitchFamily="34" charset="-122"/>
                <a:ea typeface="微软雅黑" panose="020B0503020204020204" pitchFamily="34" charset="-122"/>
              </a:rPr>
              <a:t>str[k]</a:t>
            </a:r>
            <a:r>
              <a:rPr lang="zh-CN" altLang="en-US" sz="1600" dirty="0">
                <a:latin typeface="微软雅黑" panose="020B0503020204020204" pitchFamily="34" charset="-122"/>
                <a:ea typeface="微软雅黑" panose="020B0503020204020204" pitchFamily="34" charset="-122"/>
              </a:rPr>
              <a:t>不匹配</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false</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if</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true</a:t>
            </a:r>
            <a:r>
              <a:rPr lang="zh-CN" altLang="en-US" sz="1600" dirty="0">
                <a:latin typeface="微软雅黑" panose="020B0503020204020204" pitchFamily="34" charset="-122"/>
                <a:ea typeface="微软雅黑" panose="020B0503020204020204" pitchFamily="34" charset="-122"/>
              </a:rPr>
              <a:t> 且 </a:t>
            </a:r>
            <a:r>
              <a:rPr lang="en-US" altLang="zh-CN" sz="1600" dirty="0" err="1">
                <a:latin typeface="微软雅黑" panose="020B0503020204020204" pitchFamily="34" charset="-122"/>
                <a:ea typeface="微软雅黑" panose="020B0503020204020204" pitchFamily="34" charset="-122"/>
              </a:rPr>
              <a:t>IsEmpty</a:t>
            </a:r>
            <a:r>
              <a:rPr lang="en-US" altLang="zh-CN" sz="1600" dirty="0">
                <a:latin typeface="微软雅黑" panose="020B0503020204020204" pitchFamily="34" charset="-122"/>
                <a:ea typeface="微软雅黑" panose="020B0503020204020204" pitchFamily="34" charset="-122"/>
              </a:rPr>
              <a:t>(stack)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false</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then</a:t>
            </a:r>
            <a:r>
              <a:rPr lang="zh-CN" altLang="en-US" sz="1600" b="1"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还有未匹配的左括号</a:t>
            </a:r>
            <a:endParaRPr lang="en-US" altLang="zh-CN" sz="16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r>
              <a:rPr lang="zh-CN" altLang="en-US"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false</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DestroyStack</a:t>
            </a:r>
            <a:r>
              <a:rPr lang="en-US" altLang="zh-CN" sz="1600" dirty="0">
                <a:latin typeface="微软雅黑" panose="020B0503020204020204" pitchFamily="34" charset="-122"/>
                <a:ea typeface="微软雅黑" panose="020B0503020204020204" pitchFamily="34" charset="-122"/>
              </a:rPr>
              <a:t>(stack)</a:t>
            </a:r>
          </a:p>
          <a:p>
            <a:pPr marL="360000" lvl="0" indent="-288000" eaLnBrk="0" fontAlgn="base" hangingPunct="0">
              <a:spcBef>
                <a:spcPct val="0"/>
              </a:spcBef>
              <a:spcAft>
                <a:spcPct val="0"/>
              </a:spcAft>
              <a:buFont typeface="+mj-lt"/>
              <a:buAutoNum type="arabicPeriod"/>
            </a:pPr>
            <a:r>
              <a:rPr lang="zh-CN" altLang="en-US" sz="1600"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return</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valid</a:t>
            </a:r>
          </a:p>
          <a:p>
            <a:pPr lvl="0" eaLnBrk="0" fontAlgn="base" hangingPunct="0">
              <a:spcBef>
                <a:spcPct val="0"/>
              </a:spcBef>
              <a:spcAft>
                <a:spcPct val="0"/>
              </a:spcAft>
            </a:pPr>
            <a:r>
              <a:rPr lang="zh-CN" altLang="zh-CN" sz="16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59E87BF2-6364-201F-9E20-890730E76E34}"/>
              </a:ext>
            </a:extLst>
          </p:cNvPr>
          <p:cNvSpPr txBox="1"/>
          <p:nvPr/>
        </p:nvSpPr>
        <p:spPr>
          <a:xfrm>
            <a:off x="9131300" y="3429000"/>
            <a:ext cx="2342308" cy="646331"/>
          </a:xfrm>
          <a:prstGeom prst="rect">
            <a:avLst/>
          </a:prstGeom>
          <a:noFill/>
        </p:spPr>
        <p:txBody>
          <a:bodyPr wrap="none" rtlCol="0">
            <a:spAutoFit/>
          </a:bodyPr>
          <a:lstStyle/>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时间复杂度：</a:t>
            </a:r>
            <a:r>
              <a:rPr kumimoji="1" lang="en-US" altLang="zh-CN" dirty="0">
                <a:latin typeface="Microsoft YaHei" panose="020B0503020204020204" pitchFamily="34" charset="-122"/>
                <a:ea typeface="Microsoft YaHei" panose="020B0503020204020204" pitchFamily="34" charset="-122"/>
              </a:rPr>
              <a:t>O(n)</a:t>
            </a: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空间复杂度：</a:t>
            </a:r>
            <a:r>
              <a:rPr kumimoji="1" lang="en-US" altLang="zh-CN" dirty="0">
                <a:latin typeface="Microsoft YaHei" panose="020B0503020204020204" pitchFamily="34" charset="-122"/>
                <a:ea typeface="Microsoft YaHei" panose="020B0503020204020204" pitchFamily="34" charset="-122"/>
              </a:rPr>
              <a:t>O(n)</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1353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括号语句的判定示例</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graphicFrame>
        <p:nvGraphicFramePr>
          <p:cNvPr id="5" name="Group 35">
            <a:extLst>
              <a:ext uri="{FF2B5EF4-FFF2-40B4-BE49-F238E27FC236}">
                <a16:creationId xmlns:a16="http://schemas.microsoft.com/office/drawing/2014/main" id="{2063CB39-F222-A0B9-F4C0-FCB70593053C}"/>
              </a:ext>
            </a:extLst>
          </p:cNvPr>
          <p:cNvGraphicFramePr>
            <a:graphicFrameLocks/>
          </p:cNvGraphicFramePr>
          <p:nvPr>
            <p:extLst>
              <p:ext uri="{D42A27DB-BD31-4B8C-83A1-F6EECF244321}">
                <p14:modId xmlns:p14="http://schemas.microsoft.com/office/powerpoint/2010/main" val="158610801"/>
              </p:ext>
            </p:extLst>
          </p:nvPr>
        </p:nvGraphicFramePr>
        <p:xfrm>
          <a:off x="3362325" y="3241378"/>
          <a:ext cx="1019175" cy="2676703"/>
        </p:xfrm>
        <a:graphic>
          <a:graphicData uri="http://schemas.openxmlformats.org/drawingml/2006/table">
            <a:tbl>
              <a:tblPr/>
              <a:tblGrid>
                <a:gridCol w="1019175">
                  <a:extLst>
                    <a:ext uri="{9D8B030D-6E8A-4147-A177-3AD203B41FA5}">
                      <a16:colId xmlns:a16="http://schemas.microsoft.com/office/drawing/2014/main" val="20000"/>
                    </a:ext>
                  </a:extLst>
                </a:gridCol>
              </a:tblGrid>
              <a:tr h="49196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7217">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0539">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r>
                        <a:rPr kumimoji="0" lang="en-US" altLang="zh-CN" sz="2900" b="0" i="0" u="none" strike="noStrike" cap="none" normalizeH="0" baseline="0" dirty="0">
                          <a:ln>
                            <a:noFill/>
                          </a:ln>
                          <a:solidFill>
                            <a:schemeClr val="tx1"/>
                          </a:solidFill>
                          <a:effectLst/>
                          <a:latin typeface="Comic Sans MS" pitchFamily="66" charset="0"/>
                          <a:ea typeface="宋体" pitchFamily="2" charset="-122"/>
                        </a:rPr>
                        <a:t> </a:t>
                      </a: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196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4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196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文本框 5">
            <a:extLst>
              <a:ext uri="{FF2B5EF4-FFF2-40B4-BE49-F238E27FC236}">
                <a16:creationId xmlns:a16="http://schemas.microsoft.com/office/drawing/2014/main" id="{FC922899-BD3A-08CB-F6F5-C2C85C0DB1E8}"/>
              </a:ext>
            </a:extLst>
          </p:cNvPr>
          <p:cNvSpPr txBox="1"/>
          <p:nvPr/>
        </p:nvSpPr>
        <p:spPr>
          <a:xfrm>
            <a:off x="5918200" y="1577866"/>
            <a:ext cx="3958135" cy="584775"/>
          </a:xfrm>
          <a:prstGeom prst="rect">
            <a:avLst/>
          </a:prstGeom>
          <a:noFill/>
        </p:spPr>
        <p:txBody>
          <a:bodyPr wrap="none" rtlCol="0">
            <a:spAutoFit/>
          </a:bodyPr>
          <a:lstStyle/>
          <a:p>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r>
              <a:rPr kumimoji="1" lang="zh-CN" altLang="en-US" sz="3200" dirty="0"/>
              <a:t>   </a:t>
            </a:r>
            <a:r>
              <a:rPr kumimoji="1" lang="en-US" altLang="zh-CN" sz="3200" dirty="0"/>
              <a:t>)</a:t>
            </a:r>
            <a:endParaRPr kumimoji="1" lang="zh-CN" altLang="en-US" sz="3200" dirty="0"/>
          </a:p>
        </p:txBody>
      </p:sp>
      <p:grpSp>
        <p:nvGrpSpPr>
          <p:cNvPr id="11" name="组合 10">
            <a:extLst>
              <a:ext uri="{FF2B5EF4-FFF2-40B4-BE49-F238E27FC236}">
                <a16:creationId xmlns:a16="http://schemas.microsoft.com/office/drawing/2014/main" id="{ED436B1D-B782-8167-C600-0C84E5BF158F}"/>
              </a:ext>
            </a:extLst>
          </p:cNvPr>
          <p:cNvGrpSpPr/>
          <p:nvPr/>
        </p:nvGrpSpPr>
        <p:grpSpPr>
          <a:xfrm>
            <a:off x="2077617" y="6000234"/>
            <a:ext cx="1125323" cy="400110"/>
            <a:chOff x="2138577" y="6000234"/>
            <a:chExt cx="1125323" cy="400110"/>
          </a:xfrm>
        </p:grpSpPr>
        <p:cxnSp>
          <p:nvCxnSpPr>
            <p:cNvPr id="8" name="直线箭头连接符 7">
              <a:extLst>
                <a:ext uri="{FF2B5EF4-FFF2-40B4-BE49-F238E27FC236}">
                  <a16:creationId xmlns:a16="http://schemas.microsoft.com/office/drawing/2014/main" id="{D75F36B9-A19C-06AC-9B1B-658C3FC5B117}"/>
                </a:ext>
              </a:extLst>
            </p:cNvPr>
            <p:cNvCxnSpPr/>
            <p:nvPr/>
          </p:nvCxnSpPr>
          <p:spPr>
            <a:xfrm>
              <a:off x="2654300" y="62103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9C5098F-0949-C24C-19E4-2E7CB40E1546}"/>
                </a:ext>
              </a:extLst>
            </p:cNvPr>
            <p:cNvSpPr txBox="1"/>
            <p:nvPr/>
          </p:nvSpPr>
          <p:spPr>
            <a:xfrm>
              <a:off x="2138577" y="6000234"/>
              <a:ext cx="538032" cy="400110"/>
            </a:xfrm>
            <a:prstGeom prst="rect">
              <a:avLst/>
            </a:prstGeom>
            <a:noFill/>
          </p:spPr>
          <p:txBody>
            <a:bodyPr wrap="none" rtlCol="0">
              <a:spAutoFit/>
            </a:bodyPr>
            <a:lstStyle/>
            <a:p>
              <a:r>
                <a:rPr kumimoji="1" lang="en-US" altLang="zh-CN" sz="2000" dirty="0"/>
                <a:t>top</a:t>
              </a:r>
              <a:endParaRPr kumimoji="1" lang="zh-CN" altLang="en-US" sz="2000" dirty="0"/>
            </a:p>
          </p:txBody>
        </p:sp>
      </p:grpSp>
      <p:cxnSp>
        <p:nvCxnSpPr>
          <p:cNvPr id="13" name="直线箭头连接符 12">
            <a:extLst>
              <a:ext uri="{FF2B5EF4-FFF2-40B4-BE49-F238E27FC236}">
                <a16:creationId xmlns:a16="http://schemas.microsoft.com/office/drawing/2014/main" id="{B88E496D-FF84-A9BD-134B-7ABB65BC43F2}"/>
              </a:ext>
            </a:extLst>
          </p:cNvPr>
          <p:cNvCxnSpPr>
            <a:cxnSpLocks/>
          </p:cNvCxnSpPr>
          <p:nvPr/>
        </p:nvCxnSpPr>
        <p:spPr>
          <a:xfrm flipV="1">
            <a:off x="5715000" y="2162641"/>
            <a:ext cx="0" cy="58055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192B8AE-2481-7FCF-6B82-6B88C6EE7FD5}"/>
              </a:ext>
            </a:extLst>
          </p:cNvPr>
          <p:cNvSpPr txBox="1"/>
          <p:nvPr/>
        </p:nvSpPr>
        <p:spPr>
          <a:xfrm>
            <a:off x="3663812" y="5339259"/>
            <a:ext cx="309700" cy="584775"/>
          </a:xfrm>
          <a:prstGeom prst="rect">
            <a:avLst/>
          </a:prstGeom>
          <a:noFill/>
        </p:spPr>
        <p:txBody>
          <a:bodyPr wrap="none" rtlCol="0">
            <a:spAutoFit/>
          </a:bodyPr>
          <a:lstStyle/>
          <a:p>
            <a:r>
              <a:rPr kumimoji="1" lang="en-US" altLang="zh-CN" sz="3200" dirty="0"/>
              <a:t>(</a:t>
            </a:r>
            <a:endParaRPr kumimoji="1" lang="zh-CN" altLang="en-US" sz="3200" dirty="0"/>
          </a:p>
        </p:txBody>
      </p:sp>
      <p:sp>
        <p:nvSpPr>
          <p:cNvPr id="23" name="文本框 22">
            <a:extLst>
              <a:ext uri="{FF2B5EF4-FFF2-40B4-BE49-F238E27FC236}">
                <a16:creationId xmlns:a16="http://schemas.microsoft.com/office/drawing/2014/main" id="{9DD49F4D-6075-E7CC-E513-062AB6178943}"/>
              </a:ext>
            </a:extLst>
          </p:cNvPr>
          <p:cNvSpPr txBox="1"/>
          <p:nvPr/>
        </p:nvSpPr>
        <p:spPr>
          <a:xfrm>
            <a:off x="3673268" y="4805343"/>
            <a:ext cx="309700" cy="584775"/>
          </a:xfrm>
          <a:prstGeom prst="rect">
            <a:avLst/>
          </a:prstGeom>
          <a:noFill/>
        </p:spPr>
        <p:txBody>
          <a:bodyPr wrap="none" rtlCol="0">
            <a:spAutoFit/>
          </a:bodyPr>
          <a:lstStyle/>
          <a:p>
            <a:r>
              <a:rPr kumimoji="1" lang="en-US" altLang="zh-CN" sz="3200" dirty="0"/>
              <a:t>(</a:t>
            </a:r>
            <a:endParaRPr kumimoji="1" lang="zh-CN" altLang="en-US" sz="3200" dirty="0"/>
          </a:p>
        </p:txBody>
      </p:sp>
      <p:sp>
        <p:nvSpPr>
          <p:cNvPr id="28" name="文本框 27">
            <a:extLst>
              <a:ext uri="{FF2B5EF4-FFF2-40B4-BE49-F238E27FC236}">
                <a16:creationId xmlns:a16="http://schemas.microsoft.com/office/drawing/2014/main" id="{66332380-0556-0BA6-0985-2E9C7CB0EBEE}"/>
              </a:ext>
            </a:extLst>
          </p:cNvPr>
          <p:cNvSpPr txBox="1"/>
          <p:nvPr/>
        </p:nvSpPr>
        <p:spPr>
          <a:xfrm>
            <a:off x="3682788" y="4300496"/>
            <a:ext cx="311304" cy="584775"/>
          </a:xfrm>
          <a:prstGeom prst="rect">
            <a:avLst/>
          </a:prstGeom>
          <a:noFill/>
        </p:spPr>
        <p:txBody>
          <a:bodyPr wrap="none" rtlCol="0">
            <a:spAutoFit/>
          </a:bodyPr>
          <a:lstStyle/>
          <a:p>
            <a:r>
              <a:rPr kumimoji="1" lang="en-US" altLang="zh-CN" sz="3200" dirty="0"/>
              <a:t>[</a:t>
            </a:r>
            <a:endParaRPr kumimoji="1" lang="zh-CN" altLang="en-US" sz="3200" dirty="0"/>
          </a:p>
        </p:txBody>
      </p:sp>
      <p:sp>
        <p:nvSpPr>
          <p:cNvPr id="33" name="文本框 32">
            <a:extLst>
              <a:ext uri="{FF2B5EF4-FFF2-40B4-BE49-F238E27FC236}">
                <a16:creationId xmlns:a16="http://schemas.microsoft.com/office/drawing/2014/main" id="{AF8BB5F5-2951-7B39-AF93-3A7ED96DBD5D}"/>
              </a:ext>
            </a:extLst>
          </p:cNvPr>
          <p:cNvSpPr txBox="1"/>
          <p:nvPr/>
        </p:nvSpPr>
        <p:spPr>
          <a:xfrm>
            <a:off x="3778104" y="3766580"/>
            <a:ext cx="314510" cy="584775"/>
          </a:xfrm>
          <a:prstGeom prst="rect">
            <a:avLst/>
          </a:prstGeom>
          <a:noFill/>
        </p:spPr>
        <p:txBody>
          <a:bodyPr wrap="none" rtlCol="0">
            <a:spAutoFit/>
          </a:bodyPr>
          <a:lstStyle/>
          <a:p>
            <a:r>
              <a:rPr kumimoji="1" lang="en-US" altLang="zh-CN" sz="3200" dirty="0"/>
              <a:t>{</a:t>
            </a:r>
            <a:endParaRPr kumimoji="1" lang="zh-CN" altLang="en-US" sz="3200" dirty="0"/>
          </a:p>
        </p:txBody>
      </p:sp>
      <p:sp>
        <p:nvSpPr>
          <p:cNvPr id="36" name="文本框 35">
            <a:extLst>
              <a:ext uri="{FF2B5EF4-FFF2-40B4-BE49-F238E27FC236}">
                <a16:creationId xmlns:a16="http://schemas.microsoft.com/office/drawing/2014/main" id="{E4192A63-91B2-DE40-0264-62DD52D9107A}"/>
              </a:ext>
            </a:extLst>
          </p:cNvPr>
          <p:cNvSpPr txBox="1"/>
          <p:nvPr/>
        </p:nvSpPr>
        <p:spPr>
          <a:xfrm>
            <a:off x="3684392" y="3752745"/>
            <a:ext cx="309700" cy="584775"/>
          </a:xfrm>
          <a:prstGeom prst="rect">
            <a:avLst/>
          </a:prstGeom>
          <a:noFill/>
        </p:spPr>
        <p:txBody>
          <a:bodyPr wrap="none" rtlCol="0">
            <a:spAutoFit/>
          </a:bodyPr>
          <a:lstStyle/>
          <a:p>
            <a:r>
              <a:rPr kumimoji="1" lang="en-US" altLang="zh-CN" sz="3200" dirty="0"/>
              <a:t>(</a:t>
            </a:r>
            <a:endParaRPr kumimoji="1" lang="zh-CN" altLang="en-US" sz="3200" dirty="0"/>
          </a:p>
        </p:txBody>
      </p:sp>
    </p:spTree>
    <p:extLst>
      <p:ext uri="{BB962C8B-B14F-4D97-AF65-F5344CB8AC3E}">
        <p14:creationId xmlns:p14="http://schemas.microsoft.com/office/powerpoint/2010/main" val="407422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495 0.00023 L 0.03125 0.00023 " pathEditMode="relative" ptsTypes="AA">
                                      <p:cBhvr>
                                        <p:cTn id="6" dur="2000" fill="hold"/>
                                        <p:tgtEl>
                                          <p:spTgt spid="1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1211 -0.00857 L 0.01093 -0.08426 " pathEditMode="relative" rAng="0" ptsTypes="AA">
                                      <p:cBhvr>
                                        <p:cTn id="10" dur="2000" fill="hold"/>
                                        <p:tgtEl>
                                          <p:spTgt spid="11"/>
                                        </p:tgtEl>
                                        <p:attrNameLst>
                                          <p:attrName>ppt_x</p:attrName>
                                          <p:attrName>ppt_y</p:attrName>
                                        </p:attrNameLst>
                                      </p:cBhvr>
                                      <p:rCtr x="-65" y="-3796"/>
                                    </p:animMotion>
                                  </p:childTnLst>
                                </p:cTn>
                              </p:par>
                            </p:childTnLst>
                          </p:cTn>
                        </p:par>
                        <p:par>
                          <p:cTn id="11" fill="hold">
                            <p:stCondLst>
                              <p:cond delay="20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nodeType="clickEffect">
                                  <p:stCondLst>
                                    <p:cond delay="0"/>
                                  </p:stCondLst>
                                  <p:childTnLst>
                                    <p:animMotion origin="layout" path="M 0.03125 -0.00208 L 0.0625 -0.00208 " pathEditMode="relative" ptsTypes="AA">
                                      <p:cBhvr>
                                        <p:cTn id="17" dur="2000" fill="hold"/>
                                        <p:tgtEl>
                                          <p:spTgt spid="13"/>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20" presetID="0" presetClass="path" presetSubtype="0" accel="50000" decel="50000" fill="hold" nodeType="clickEffect">
                                  <p:stCondLst>
                                    <p:cond delay="0"/>
                                  </p:stCondLst>
                                  <p:childTnLst>
                                    <p:animMotion origin="layout" path="M 0.01224 -0.07755 L 0.01341 -0.15324 " pathEditMode="relative" rAng="0" ptsTypes="AA">
                                      <p:cBhvr>
                                        <p:cTn id="21" dur="2000" fill="hold"/>
                                        <p:tgtEl>
                                          <p:spTgt spid="11"/>
                                        </p:tgtEl>
                                        <p:attrNameLst>
                                          <p:attrName>ppt_x</p:attrName>
                                          <p:attrName>ppt_y</p:attrName>
                                        </p:attrNameLst>
                                      </p:cBhvr>
                                      <p:rCtr x="52" y="-3796"/>
                                    </p:animMotion>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nodeType="clickEffect">
                                  <p:stCondLst>
                                    <p:cond delay="0"/>
                                  </p:stCondLst>
                                  <p:childTnLst>
                                    <p:animMotion origin="layout" path="M 0.0625 -0.0044 L 0.0987 -0.00648 " pathEditMode="relative" rAng="0" ptsTypes="AA">
                                      <p:cBhvr>
                                        <p:cTn id="28" dur="2000" fill="hold"/>
                                        <p:tgtEl>
                                          <p:spTgt spid="13"/>
                                        </p:tgtEl>
                                        <p:attrNameLst>
                                          <p:attrName>ppt_x</p:attrName>
                                          <p:attrName>ppt_y</p:attrName>
                                        </p:attrNameLst>
                                      </p:cBhvr>
                                      <p:rCtr x="1810" y="-116"/>
                                    </p:animMotion>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1341 -0.15324 L 0.01471 -0.22639 " pathEditMode="relative" rAng="0" ptsTypes="AA">
                                      <p:cBhvr>
                                        <p:cTn id="32" dur="2000" fill="hold"/>
                                        <p:tgtEl>
                                          <p:spTgt spid="11"/>
                                        </p:tgtEl>
                                        <p:attrNameLst>
                                          <p:attrName>ppt_x</p:attrName>
                                          <p:attrName>ppt_y</p:attrName>
                                        </p:attrNameLst>
                                      </p:cBhvr>
                                      <p:rCtr x="247" y="-3889"/>
                                    </p:animMotion>
                                  </p:childTnLst>
                                </p:cTn>
                              </p:par>
                            </p:childTnLst>
                          </p:cTn>
                        </p:par>
                        <p:par>
                          <p:cTn id="33" fill="hold">
                            <p:stCondLst>
                              <p:cond delay="2000"/>
                            </p:stCondLst>
                            <p:childTnLst>
                              <p:par>
                                <p:cTn id="34" presetID="1" presetClass="entr" presetSubtype="0" fill="hold" grpId="0" nodeType="afterEffect">
                                  <p:stCondLst>
                                    <p:cond delay="0"/>
                                  </p:stCondLst>
                                  <p:childTnLst>
                                    <p:set>
                                      <p:cBhvr>
                                        <p:cTn id="35" dur="1" fill="hold">
                                          <p:stCondLst>
                                            <p:cond delay="0"/>
                                          </p:stCondLst>
                                        </p:cTn>
                                        <p:tgtEl>
                                          <p:spTgt spid="2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0.0987 -0.0088 L 0.12995 -0.0088 " pathEditMode="relative" ptsTypes="AA">
                                      <p:cBhvr>
                                        <p:cTn id="39" dur="2000" fill="hold"/>
                                        <p:tgtEl>
                                          <p:spTgt spid="13"/>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nodeType="clickEffect">
                                  <p:stCondLst>
                                    <p:cond delay="0"/>
                                  </p:stCondLst>
                                  <p:childTnLst>
                                    <p:animMotion origin="layout" path="M 0.01601 -0.22639 L 0.01601 -0.3176 " pathEditMode="relative" ptsTypes="AA">
                                      <p:cBhvr>
                                        <p:cTn id="43" dur="2000" fill="hold"/>
                                        <p:tgtEl>
                                          <p:spTgt spid="11"/>
                                        </p:tgtEl>
                                        <p:attrNameLst>
                                          <p:attrName>ppt_x</p:attrName>
                                          <p:attrName>ppt_y</p:attrName>
                                        </p:attrNameLst>
                                      </p:cBhvr>
                                    </p:animMotion>
                                  </p:childTnLst>
                                </p:cTn>
                              </p:par>
                            </p:childTnLst>
                          </p:cTn>
                        </p:par>
                        <p:par>
                          <p:cTn id="44" fill="hold">
                            <p:stCondLst>
                              <p:cond delay="2000"/>
                            </p:stCondLst>
                            <p:childTnLst>
                              <p:par>
                                <p:cTn id="45" presetID="1" presetClass="entr" presetSubtype="0"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nodeType="clickEffect">
                                  <p:stCondLst>
                                    <p:cond delay="0"/>
                                  </p:stCondLst>
                                  <p:childTnLst>
                                    <p:animMotion origin="layout" path="M 0.12878 -0.01088 L 0.1612 -0.01088 " pathEditMode="relative" ptsTypes="AA">
                                      <p:cBhvr>
                                        <p:cTn id="50" dur="2000" fill="hold"/>
                                        <p:tgtEl>
                                          <p:spTgt spid="13"/>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36"/>
                                        </p:tgtEl>
                                        <p:attrNameLst>
                                          <p:attrName>style.visibility</p:attrName>
                                        </p:attrNameLst>
                                      </p:cBhvr>
                                      <p:to>
                                        <p:strVal val="hidden"/>
                                      </p:to>
                                    </p:set>
                                  </p:childTnLst>
                                </p:cTn>
                              </p:par>
                            </p:childTnLst>
                          </p:cTn>
                        </p:par>
                        <p:par>
                          <p:cTn id="55" fill="hold">
                            <p:stCondLst>
                              <p:cond delay="0"/>
                            </p:stCondLst>
                            <p:childTnLst>
                              <p:par>
                                <p:cTn id="56" presetID="0" presetClass="path" presetSubtype="0" accel="50000" decel="50000" fill="hold" nodeType="afterEffect">
                                  <p:stCondLst>
                                    <p:cond delay="0"/>
                                  </p:stCondLst>
                                  <p:childTnLst>
                                    <p:animMotion origin="layout" path="M 0.00963 -0.31528 L 0.00963 -0.22639 " pathEditMode="relative" rAng="0" ptsTypes="AA">
                                      <p:cBhvr>
                                        <p:cTn id="57" dur="2000" fill="hold"/>
                                        <p:tgtEl>
                                          <p:spTgt spid="11"/>
                                        </p:tgtEl>
                                        <p:attrNameLst>
                                          <p:attrName>ppt_x</p:attrName>
                                          <p:attrName>ppt_y</p:attrName>
                                        </p:attrNameLst>
                                      </p:cBhvr>
                                      <p:rCtr x="0" y="4444"/>
                                    </p:animMotion>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15872 -0.0088 L 0.19622 -0.0088 " pathEditMode="relative" ptsTypes="AA">
                                      <p:cBhvr>
                                        <p:cTn id="61" dur="2000" fill="hold"/>
                                        <p:tgtEl>
                                          <p:spTgt spid="13"/>
                                        </p:tgtEl>
                                        <p:attrNameLst>
                                          <p:attrName>ppt_x</p:attrName>
                                          <p:attrName>ppt_y</p:attrName>
                                        </p:attrNameLst>
                                      </p:cBhvr>
                                    </p:animMotion>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nodeType="clickEffect">
                                  <p:stCondLst>
                                    <p:cond delay="0"/>
                                  </p:stCondLst>
                                  <p:childTnLst>
                                    <p:animMotion origin="layout" path="M 0.01224 -0.22871 L 0.01224 -0.3176 " pathEditMode="relative" rAng="0" ptsTypes="AA">
                                      <p:cBhvr>
                                        <p:cTn id="65" dur="2000" fill="hold"/>
                                        <p:tgtEl>
                                          <p:spTgt spid="11"/>
                                        </p:tgtEl>
                                        <p:attrNameLst>
                                          <p:attrName>ppt_x</p:attrName>
                                          <p:attrName>ppt_y</p:attrName>
                                        </p:attrNameLst>
                                      </p:cBhvr>
                                      <p:rCtr x="0" y="-4444"/>
                                    </p:animMotion>
                                  </p:childTnLst>
                                </p:cTn>
                              </p:par>
                            </p:childTnLst>
                          </p:cTn>
                        </p:par>
                        <p:par>
                          <p:cTn id="66" fill="hold">
                            <p:stCondLst>
                              <p:cond delay="2000"/>
                            </p:stCondLst>
                            <p:childTnLst>
                              <p:par>
                                <p:cTn id="67" presetID="1" presetClass="entr" presetSubtype="0"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0" presetClass="path" presetSubtype="0" accel="50000" decel="50000" fill="hold" nodeType="clickEffect">
                                  <p:stCondLst>
                                    <p:cond delay="0"/>
                                  </p:stCondLst>
                                  <p:childTnLst>
                                    <p:animMotion origin="layout" path="M 0.19505 -0.00648 L 0.2263 -0.00648 " pathEditMode="relative" ptsTypes="AA">
                                      <p:cBhvr>
                                        <p:cTn id="72" dur="2000" fill="hold"/>
                                        <p:tgtEl>
                                          <p:spTgt spid="13"/>
                                        </p:tgtEl>
                                        <p:attrNameLst>
                                          <p:attrName>ppt_x</p:attrName>
                                          <p:attrName>ppt_y</p:attrName>
                                        </p:attrNameLst>
                                      </p:cBhvr>
                                    </p:animMotion>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33"/>
                                        </p:tgtEl>
                                        <p:attrNameLst>
                                          <p:attrName>style.visibility</p:attrName>
                                        </p:attrNameLst>
                                      </p:cBhvr>
                                      <p:to>
                                        <p:strVal val="hidden"/>
                                      </p:to>
                                    </p:set>
                                  </p:childTnLst>
                                </p:cTn>
                              </p:par>
                            </p:childTnLst>
                          </p:cTn>
                        </p:par>
                        <p:par>
                          <p:cTn id="77" fill="hold">
                            <p:stCondLst>
                              <p:cond delay="0"/>
                            </p:stCondLst>
                            <p:childTnLst>
                              <p:par>
                                <p:cTn id="78" presetID="0" presetClass="path" presetSubtype="0" accel="50000" decel="50000" fill="hold" nodeType="afterEffect">
                                  <p:stCondLst>
                                    <p:cond delay="0"/>
                                  </p:stCondLst>
                                  <p:childTnLst>
                                    <p:animMotion origin="layout" path="M 0.00599 -0.31528 L 0.00599 -0.22871 " pathEditMode="relative" ptsTypes="AA">
                                      <p:cBhvr>
                                        <p:cTn id="79" dur="2000" fill="hold"/>
                                        <p:tgtEl>
                                          <p:spTgt spid="11"/>
                                        </p:tgtEl>
                                        <p:attrNameLst>
                                          <p:attrName>ppt_x</p:attrName>
                                          <p:attrName>ppt_y</p:attrName>
                                        </p:attrNameLst>
                                      </p:cBhvr>
                                    </p:animMotion>
                                  </p:childTnLst>
                                </p:cTn>
                              </p:par>
                            </p:childTnLst>
                          </p:cTn>
                        </p:par>
                      </p:childTnLst>
                    </p:cTn>
                  </p:par>
                  <p:par>
                    <p:cTn id="80" fill="hold">
                      <p:stCondLst>
                        <p:cond delay="indefinite"/>
                      </p:stCondLst>
                      <p:childTnLst>
                        <p:par>
                          <p:cTn id="81" fill="hold">
                            <p:stCondLst>
                              <p:cond delay="0"/>
                            </p:stCondLst>
                            <p:childTnLst>
                              <p:par>
                                <p:cTn id="82" presetID="0" presetClass="path" presetSubtype="0" accel="50000" decel="50000" fill="hold" nodeType="clickEffect">
                                  <p:stCondLst>
                                    <p:cond delay="0"/>
                                  </p:stCondLst>
                                  <p:childTnLst>
                                    <p:animMotion origin="layout" path="M 0.225 -0.00648 L 0.26003 -0.00648 " pathEditMode="relative" ptsTypes="AA">
                                      <p:cBhvr>
                                        <p:cTn id="83" dur="2000" fill="hold"/>
                                        <p:tgtEl>
                                          <p:spTgt spid="13"/>
                                        </p:tgtEl>
                                        <p:attrNameLst>
                                          <p:attrName>ppt_x</p:attrName>
                                          <p:attrName>ppt_y</p:attrName>
                                        </p:attrNameLst>
                                      </p:cBhvr>
                                    </p:animMotion>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1" nodeType="clickEffect">
                                  <p:stCondLst>
                                    <p:cond delay="0"/>
                                  </p:stCondLst>
                                  <p:childTnLst>
                                    <p:set>
                                      <p:cBhvr>
                                        <p:cTn id="87" dur="1" fill="hold">
                                          <p:stCondLst>
                                            <p:cond delay="0"/>
                                          </p:stCondLst>
                                        </p:cTn>
                                        <p:tgtEl>
                                          <p:spTgt spid="28"/>
                                        </p:tgtEl>
                                        <p:attrNameLst>
                                          <p:attrName>style.visibility</p:attrName>
                                        </p:attrNameLst>
                                      </p:cBhvr>
                                      <p:to>
                                        <p:strVal val="hidden"/>
                                      </p:to>
                                    </p:set>
                                  </p:childTnLst>
                                </p:cTn>
                              </p:par>
                            </p:childTnLst>
                          </p:cTn>
                        </p:par>
                        <p:par>
                          <p:cTn id="88" fill="hold">
                            <p:stCondLst>
                              <p:cond delay="0"/>
                            </p:stCondLst>
                            <p:childTnLst>
                              <p:par>
                                <p:cTn id="89" presetID="0" presetClass="path" presetSubtype="0" accel="50000" decel="50000" fill="hold" nodeType="afterEffect">
                                  <p:stCondLst>
                                    <p:cond delay="0"/>
                                  </p:stCondLst>
                                  <p:childTnLst>
                                    <p:animMotion origin="layout" path="M 0.00599 -0.22871 L 0.01341 -0.15324 " pathEditMode="relative" rAng="0" ptsTypes="AA">
                                      <p:cBhvr>
                                        <p:cTn id="90" dur="2000" fill="hold"/>
                                        <p:tgtEl>
                                          <p:spTgt spid="11"/>
                                        </p:tgtEl>
                                        <p:attrNameLst>
                                          <p:attrName>ppt_x</p:attrName>
                                          <p:attrName>ppt_y</p:attrName>
                                        </p:attrNameLst>
                                      </p:cBhvr>
                                      <p:rCtr x="117" y="3773"/>
                                    </p:animMotion>
                                  </p:childTnLst>
                                </p:cTn>
                              </p:par>
                            </p:childTnLst>
                          </p:cTn>
                        </p:par>
                      </p:childTnLst>
                    </p:cTn>
                  </p:par>
                  <p:par>
                    <p:cTn id="91" fill="hold">
                      <p:stCondLst>
                        <p:cond delay="indefinite"/>
                      </p:stCondLst>
                      <p:childTnLst>
                        <p:par>
                          <p:cTn id="92" fill="hold">
                            <p:stCondLst>
                              <p:cond delay="0"/>
                            </p:stCondLst>
                            <p:childTnLst>
                              <p:par>
                                <p:cTn id="93" presetID="0" presetClass="path" presetSubtype="0" accel="50000" decel="50000" fill="hold" nodeType="clickEffect">
                                  <p:stCondLst>
                                    <p:cond delay="0"/>
                                  </p:stCondLst>
                                  <p:childTnLst>
                                    <p:animMotion origin="layout" path="M 0.25872 -0.00648 L 0.29505 -0.00648 " pathEditMode="relative" ptsTypes="AA">
                                      <p:cBhvr>
                                        <p:cTn id="94" dur="2000" fill="hold"/>
                                        <p:tgtEl>
                                          <p:spTgt spid="13"/>
                                        </p:tgtEl>
                                        <p:attrNameLst>
                                          <p:attrName>ppt_x</p:attrName>
                                          <p:attrName>ppt_y</p:attrName>
                                        </p:attrNameLst>
                                      </p:cBhvr>
                                    </p:animMotion>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23"/>
                                        </p:tgtEl>
                                        <p:attrNameLst>
                                          <p:attrName>style.visibility</p:attrName>
                                        </p:attrNameLst>
                                      </p:cBhvr>
                                      <p:to>
                                        <p:strVal val="hidden"/>
                                      </p:to>
                                    </p:set>
                                  </p:childTnLst>
                                </p:cTn>
                              </p:par>
                            </p:childTnLst>
                          </p:cTn>
                        </p:par>
                        <p:par>
                          <p:cTn id="99" fill="hold">
                            <p:stCondLst>
                              <p:cond delay="0"/>
                            </p:stCondLst>
                            <p:childTnLst>
                              <p:par>
                                <p:cTn id="100" presetID="0" presetClass="path" presetSubtype="0" accel="50000" decel="50000" fill="hold" nodeType="afterEffect">
                                  <p:stCondLst>
                                    <p:cond delay="0"/>
                                  </p:stCondLst>
                                  <p:childTnLst>
                                    <p:animMotion origin="layout" path="M 0.00468 -0.15093 L 0.00468 -0.07084 " pathEditMode="relative" ptsTypes="AA">
                                      <p:cBhvr>
                                        <p:cTn id="101" dur="2000" fill="hold"/>
                                        <p:tgtEl>
                                          <p:spTgt spid="11"/>
                                        </p:tgtEl>
                                        <p:attrNameLst>
                                          <p:attrName>ppt_x</p:attrName>
                                          <p:attrName>ppt_y</p:attrName>
                                        </p:attrNameLst>
                                      </p:cBhvr>
                                    </p:animMotion>
                                  </p:childTnLst>
                                </p:cTn>
                              </p:par>
                            </p:childTnLst>
                          </p:cTn>
                        </p:par>
                      </p:childTnLst>
                    </p:cTn>
                  </p:par>
                  <p:par>
                    <p:cTn id="102" fill="hold">
                      <p:stCondLst>
                        <p:cond delay="indefinite"/>
                      </p:stCondLst>
                      <p:childTnLst>
                        <p:par>
                          <p:cTn id="103" fill="hold">
                            <p:stCondLst>
                              <p:cond delay="0"/>
                            </p:stCondLst>
                            <p:childTnLst>
                              <p:par>
                                <p:cTn id="104" presetID="0" presetClass="path" presetSubtype="0" accel="50000" decel="50000" fill="hold" nodeType="clickEffect">
                                  <p:stCondLst>
                                    <p:cond delay="0"/>
                                  </p:stCondLst>
                                  <p:childTnLst>
                                    <p:animMotion origin="layout" path="M 0.29375 -0.00648 L 0.32878 -0.00648 " pathEditMode="relative" ptsTypes="AA">
                                      <p:cBhvr>
                                        <p:cTn id="105" dur="2000" fill="hold"/>
                                        <p:tgtEl>
                                          <p:spTgt spid="13"/>
                                        </p:tgtEl>
                                        <p:attrNameLst>
                                          <p:attrName>ppt_x</p:attrName>
                                          <p:attrName>ppt_y</p:attrName>
                                        </p:attrNameLst>
                                      </p:cBhvr>
                                    </p:animMotion>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15"/>
                                        </p:tgtEl>
                                        <p:attrNameLst>
                                          <p:attrName>style.visibility</p:attrName>
                                        </p:attrNameLst>
                                      </p:cBhvr>
                                      <p:to>
                                        <p:strVal val="hidden"/>
                                      </p:to>
                                    </p:set>
                                  </p:childTnLst>
                                </p:cTn>
                              </p:par>
                            </p:childTnLst>
                          </p:cTn>
                        </p:par>
                        <p:par>
                          <p:cTn id="110" fill="hold">
                            <p:stCondLst>
                              <p:cond delay="0"/>
                            </p:stCondLst>
                            <p:childTnLst>
                              <p:par>
                                <p:cTn id="111" presetID="0" presetClass="path" presetSubtype="0" accel="50000" decel="50000" fill="hold" nodeType="afterEffect">
                                  <p:stCondLst>
                                    <p:cond delay="0"/>
                                  </p:stCondLst>
                                  <p:childTnLst>
                                    <p:animMotion origin="layout" path="M 0.00716 -0.07315 L 0.00716 -0.00857 " pathEditMode="relative" ptsTypes="AA">
                                      <p:cBhvr>
                                        <p:cTn id="112" dur="20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23" grpId="0"/>
      <p:bldP spid="23" grpId="1"/>
      <p:bldP spid="28" grpId="0"/>
      <p:bldP spid="28" grpId="1"/>
      <p:bldP spid="33" grpId="0"/>
      <p:bldP spid="33" grpId="1"/>
      <p:bldP spid="36" grpId="0"/>
      <p:bldP spid="36"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9F35C6C2-796C-4223-E1A1-BFA73DA449C9}"/>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使用栈判定字符串 </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是否括号语句，栈的</a:t>
            </a:r>
            <a:r>
              <a:rPr kumimoji="1" lang="zh-CN" altLang="en-US" sz="2600" dirty="0">
                <a:solidFill>
                  <a:srgbClr val="C00000"/>
                </a:solidFill>
                <a:latin typeface="Microsoft Yahei" panose="020B0503020204020204" pitchFamily="34" charset="-122"/>
                <a:ea typeface="Microsoft Yahei" panose="020B0503020204020204" pitchFamily="34" charset="-122"/>
                <a:sym typeface="Microsoft Yahei" panose="020B0503020204020204" pitchFamily="34" charset="-122"/>
              </a:rPr>
              <a:t>最小</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容量是 </a:t>
            </a:r>
          </a:p>
        </p:txBody>
      </p:sp>
      <p:sp>
        <p:nvSpPr>
          <p:cNvPr id="14" name="文本框 13">
            <a:extLst>
              <a:ext uri="{FF2B5EF4-FFF2-40B4-BE49-F238E27FC236}">
                <a16:creationId xmlns:a16="http://schemas.microsoft.com/office/drawing/2014/main" id="{4A7847BB-559E-E48C-7C4D-77280E06F293}"/>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文本框 14">
            <a:extLst>
              <a:ext uri="{FF2B5EF4-FFF2-40B4-BE49-F238E27FC236}">
                <a16:creationId xmlns:a16="http://schemas.microsoft.com/office/drawing/2014/main" id="{19F4735A-8D45-D72F-4603-FEE6C1638353}"/>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文本框 15">
            <a:extLst>
              <a:ext uri="{FF2B5EF4-FFF2-40B4-BE49-F238E27FC236}">
                <a16:creationId xmlns:a16="http://schemas.microsoft.com/office/drawing/2014/main" id="{0A4C55C7-D48C-B369-616E-F6CF10D788BE}"/>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36905DDA-5070-4E2E-B3AD-8E38610CA66E}"/>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176AFD1B-5E80-24B3-353F-A5A83DCDC2A5}"/>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9EC157F4-9628-EB95-09B1-C683F8EC6765}"/>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E1111A2F-823F-70AC-AB1A-B458694A292F}"/>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1FE6D59A-1DAD-E81D-5F1B-3BF3A4023D01}"/>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F1FC39D0-A25F-D173-2D4F-EB4E4B9E9A29}"/>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2" name="组合 11">
            <a:extLst>
              <a:ext uri="{FF2B5EF4-FFF2-40B4-BE49-F238E27FC236}">
                <a16:creationId xmlns:a16="http://schemas.microsoft.com/office/drawing/2014/main" id="{1598D799-9C4A-9250-895C-9B3B3BCBB1EA}"/>
              </a:ext>
            </a:extLst>
          </p:cNvPr>
          <p:cNvGrpSpPr/>
          <p:nvPr>
            <p:custDataLst>
              <p:tags r:id="rId12"/>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03AE1E9A-7108-CE48-FAF3-2E4F7337EE1F}"/>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7BC3A712-4896-7D20-39F4-2B8D01CC12D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EFC4F600-FF60-22C3-5E7C-1112A48F9D6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EE49B798-47C7-0A55-E9D7-3482D9ED124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066BF197-6105-C558-C785-0BD53C73248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021383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885763" name="Rectangle 3">
            <a:extLst>
              <a:ext uri="{FF2B5EF4-FFF2-40B4-BE49-F238E27FC236}">
                <a16:creationId xmlns:a16="http://schemas.microsoft.com/office/drawing/2014/main" id="{126AC2D0-112F-4194-8ACF-E1209F8864B9}"/>
              </a:ext>
            </a:extLst>
          </p:cNvPr>
          <p:cNvSpPr>
            <a:spLocks noGrp="1" noChangeArrowheads="1"/>
          </p:cNvSpPr>
          <p:nvPr>
            <p:ph idx="11"/>
          </p:nvPr>
        </p:nvSpPr>
        <p:spPr bwMode="auto">
          <a:xfrm>
            <a:off x="584225" y="1276350"/>
            <a:ext cx="1137191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a:lnSpc>
                <a:spcPct val="105000"/>
              </a:lnSpc>
              <a:spcBef>
                <a:spcPts val="600"/>
              </a:spcBef>
              <a:buFont typeface="Wingdings" panose="05000000000000000000" pitchFamily="2" charset="2"/>
              <a:buChar char="l"/>
            </a:pPr>
            <a:r>
              <a:rPr lang="zh-CN" altLang="en-US" sz="2800" b="1" dirty="0">
                <a:latin typeface="Microsoft YaHei Light" panose="020B0502040204020203" pitchFamily="34" charset="-122"/>
                <a:ea typeface="Microsoft YaHei Light" panose="020B0502040204020203" pitchFamily="34" charset="-122"/>
              </a:rPr>
              <a:t>思考</a:t>
            </a:r>
            <a:r>
              <a:rPr lang="zh-CN" altLang="en-US" sz="2800" dirty="0">
                <a:latin typeface="Microsoft YaHei Light" panose="020B0502040204020203" pitchFamily="34" charset="-122"/>
                <a:ea typeface="Microsoft YaHei Light" panose="020B0502040204020203" pitchFamily="34" charset="-122"/>
              </a:rPr>
              <a:t>：如果字符串仅含小括号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和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括号语句的判定有无高效算法？</a:t>
            </a:r>
            <a:endParaRPr lang="en-US" altLang="zh-CN" sz="2800" dirty="0">
              <a:latin typeface="Microsoft YaHei Light" panose="020B0502040204020203" pitchFamily="34" charset="-122"/>
              <a:ea typeface="Microsoft YaHei Light" panose="020B0502040204020203" pitchFamily="34" charset="-122"/>
            </a:endParaRPr>
          </a:p>
          <a:p>
            <a:pPr marL="0" indent="0">
              <a:lnSpc>
                <a:spcPct val="105000"/>
              </a:lnSpc>
              <a:spcBef>
                <a:spcPts val="600"/>
              </a:spcBef>
              <a:buNone/>
            </a:pPr>
            <a:r>
              <a:rPr lang="zh-CN" altLang="en-US" sz="2800" dirty="0">
                <a:latin typeface="Microsoft YaHei Light" panose="020B0502040204020203" pitchFamily="34" charset="-122"/>
                <a:ea typeface="Microsoft YaHei Light" panose="020B0502040204020203" pitchFamily="34" charset="-122"/>
              </a:rPr>
              <a:t>    </a:t>
            </a:r>
            <a:endParaRPr lang="zh-CN" altLang="zh-CN" sz="2800" dirty="0">
              <a:latin typeface="Microsoft YaHei Light" panose="020B0502040204020203" pitchFamily="34" charset="-122"/>
              <a:ea typeface="Microsoft YaHei Light" panose="020B0502040204020203" pitchFamily="34" charset="-122"/>
            </a:endParaRPr>
          </a:p>
          <a:p>
            <a:pPr marL="685800" lvl="1" indent="-342900">
              <a:lnSpc>
                <a:spcPct val="105000"/>
              </a:lnSpc>
              <a:spcBef>
                <a:spcPts val="600"/>
              </a:spcBef>
              <a:buClr>
                <a:srgbClr val="CC3300"/>
              </a:buClr>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括号语句：</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p>
          <a:p>
            <a:pPr marL="685800" lvl="1" indent="-342900">
              <a:lnSpc>
                <a:spcPct val="105000"/>
              </a:lnSpc>
              <a:spcBef>
                <a:spcPts val="600"/>
              </a:spcBef>
              <a:buClr>
                <a:srgbClr val="CC3300"/>
              </a:buClr>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非括号语句：</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 </a:t>
            </a:r>
            <a:r>
              <a:rPr lang="en-US" altLang="zh-CN" dirty="0">
                <a:latin typeface="Microsoft YaHei Light" panose="020B0502040204020203" pitchFamily="34" charset="-122"/>
                <a:ea typeface="Microsoft YaHei Light" panose="020B0502040204020203" pitchFamily="34" charset="-122"/>
              </a:rPr>
              <a:t>(())())</a:t>
            </a:r>
          </a:p>
          <a:p>
            <a:pPr marL="342900" lvl="1" indent="0">
              <a:lnSpc>
                <a:spcPct val="105000"/>
              </a:lnSpc>
              <a:spcBef>
                <a:spcPts val="600"/>
              </a:spcBef>
              <a:buClr>
                <a:srgbClr val="CC3300"/>
              </a:buClr>
              <a:buNone/>
            </a:pPr>
            <a:endParaRPr lang="en-US" altLang="zh-CN" dirty="0">
              <a:latin typeface="Microsoft YaHei Light" panose="020B0502040204020203" pitchFamily="34" charset="-122"/>
              <a:ea typeface="Microsoft YaHei Light" panose="020B0502040204020203" pitchFamily="34" charset="-122"/>
            </a:endParaRPr>
          </a:p>
          <a:p>
            <a:pPr marL="357188" lvl="0" indent="-357188">
              <a:lnSpc>
                <a:spcPct val="105000"/>
              </a:lnSpc>
              <a:spcBef>
                <a:spcPts val="600"/>
              </a:spcBef>
              <a:buFont typeface="Wingdings" panose="05000000000000000000" pitchFamily="2" charset="2"/>
              <a:buChar char="l"/>
            </a:pPr>
            <a:r>
              <a:rPr lang="zh-CN" altLang="en-US" sz="2800" dirty="0">
                <a:solidFill>
                  <a:prstClr val="black"/>
                </a:solidFill>
                <a:latin typeface="Microsoft YaHei Light" panose="020B0502040204020203" pitchFamily="34" charset="-122"/>
                <a:ea typeface="Microsoft YaHei Light" panose="020B0502040204020203" pitchFamily="34" charset="-122"/>
              </a:rPr>
              <a:t>仅含 </a:t>
            </a:r>
            <a:r>
              <a:rPr lang="en-US" altLang="zh-CN" sz="2800" dirty="0">
                <a:solidFill>
                  <a:prstClr val="black"/>
                </a:solidFill>
                <a:latin typeface="Microsoft YaHei Light" panose="020B0502040204020203" pitchFamily="34" charset="-122"/>
                <a:ea typeface="Microsoft YaHei Light" panose="020B0502040204020203" pitchFamily="34" charset="-122"/>
              </a:rPr>
              <a:t>`</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和 </a:t>
            </a:r>
            <a:r>
              <a:rPr lang="en-US" altLang="zh-CN" sz="2800" dirty="0">
                <a:latin typeface="Microsoft YaHei Light" panose="020B0502040204020203" pitchFamily="34" charset="-122"/>
                <a:ea typeface="Microsoft YaHei Light" panose="020B0502040204020203" pitchFamily="34" charset="-122"/>
              </a:rPr>
              <a:t>`)`</a:t>
            </a:r>
            <a:r>
              <a:rPr lang="zh-CN" altLang="en-US" sz="2800" dirty="0">
                <a:latin typeface="Microsoft YaHei Light" panose="020B0502040204020203" pitchFamily="34" charset="-122"/>
                <a:ea typeface="Microsoft YaHei Light" panose="020B0502040204020203" pitchFamily="34" charset="-122"/>
              </a:rPr>
              <a:t> </a:t>
            </a:r>
            <a:r>
              <a:rPr lang="zh-CN" altLang="en-US" sz="2800" dirty="0">
                <a:solidFill>
                  <a:prstClr val="black"/>
                </a:solidFill>
                <a:latin typeface="Microsoft YaHei Light" panose="020B0502040204020203" pitchFamily="34" charset="-122"/>
                <a:ea typeface="Microsoft YaHei Light" panose="020B0502040204020203" pitchFamily="34" charset="-122"/>
              </a:rPr>
              <a:t>的括号语句基本性质：</a:t>
            </a:r>
            <a:endParaRPr lang="en-US" altLang="zh-CN" sz="2800" dirty="0">
              <a:solidFill>
                <a:prstClr val="black"/>
              </a:solidFill>
              <a:latin typeface="Microsoft YaHei Light" panose="020B0502040204020203" pitchFamily="34" charset="-122"/>
              <a:ea typeface="Microsoft YaHei Light" panose="020B0502040204020203" pitchFamily="34" charset="-122"/>
            </a:endParaRPr>
          </a:p>
          <a:p>
            <a:pPr marL="342900" lvl="1" indent="0">
              <a:lnSpc>
                <a:spcPct val="105000"/>
              </a:lnSpc>
              <a:spcBef>
                <a:spcPts val="600"/>
              </a:spcBef>
              <a:buClr>
                <a:srgbClr val="CC3300"/>
              </a:buClr>
              <a:buNone/>
            </a:pPr>
            <a:endParaRPr lang="en-US" altLang="zh-CN" sz="2800" baseline="-25000" dirty="0">
              <a:latin typeface="Microsoft YaHei Light" panose="020B0502040204020203" pitchFamily="34" charset="-122"/>
              <a:ea typeface="Microsoft YaHei Light" panose="020B0502040204020203" pitchFamily="34" charset="-122"/>
            </a:endParaRPr>
          </a:p>
        </p:txBody>
      </p:sp>
      <p:sp>
        <p:nvSpPr>
          <p:cNvPr id="4" name="任意多边形: 形状 69">
            <a:extLst>
              <a:ext uri="{FF2B5EF4-FFF2-40B4-BE49-F238E27FC236}">
                <a16:creationId xmlns:a16="http://schemas.microsoft.com/office/drawing/2014/main" id="{48DE5912-39E1-5341-8A0A-A70807709E06}"/>
              </a:ext>
            </a:extLst>
          </p:cNvPr>
          <p:cNvSpPr/>
          <p:nvPr/>
        </p:nvSpPr>
        <p:spPr>
          <a:xfrm>
            <a:off x="2049922" y="4343400"/>
            <a:ext cx="7906878" cy="1030150"/>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buFont typeface="Arial" panose="020B0604020202020204" pitchFamily="34" charset="0"/>
              <a:buChar char="•"/>
            </a:pPr>
            <a:r>
              <a:rPr lang="zh-CN" altLang="en-US" sz="2400" kern="1200" dirty="0">
                <a:solidFill>
                  <a:schemeClr val="bg1"/>
                </a:solidFill>
                <a:latin typeface="Microsoft YaHei" panose="020B0503020204020204" pitchFamily="34" charset="-122"/>
                <a:ea typeface="Microsoft YaHei" panose="020B0503020204020204" pitchFamily="34" charset="-122"/>
              </a:rPr>
              <a:t>字符串的</a:t>
            </a:r>
            <a:r>
              <a:rPr lang="zh-CN" altLang="en-US" sz="2400" kern="1200" dirty="0">
                <a:solidFill>
                  <a:schemeClr val="accent2">
                    <a:lumMod val="20000"/>
                    <a:lumOff val="80000"/>
                  </a:schemeClr>
                </a:solidFill>
                <a:latin typeface="Microsoft YaHei" panose="020B0503020204020204" pitchFamily="34" charset="-122"/>
                <a:ea typeface="Microsoft YaHei" panose="020B0503020204020204" pitchFamily="34" charset="-122"/>
              </a:rPr>
              <a:t>所有前缀</a:t>
            </a:r>
            <a:r>
              <a:rPr lang="zh-CN" altLang="en-US" sz="2400" kern="1200" dirty="0">
                <a:solidFill>
                  <a:schemeClr val="bg1"/>
                </a:solidFill>
                <a:latin typeface="Microsoft YaHei" panose="020B0503020204020204" pitchFamily="34" charset="-122"/>
                <a:ea typeface="Microsoft YaHei" panose="020B0503020204020204" pitchFamily="34" charset="-122"/>
              </a:rPr>
              <a:t>中，左括号数量</a:t>
            </a:r>
            <a:r>
              <a:rPr lang="zh-CN" altLang="en-US" sz="2400" kern="1200" dirty="0">
                <a:solidFill>
                  <a:srgbClr val="FFFF00"/>
                </a:solidFill>
                <a:latin typeface="Microsoft YaHei" panose="020B0503020204020204" pitchFamily="34" charset="-122"/>
                <a:ea typeface="Microsoft YaHei" panose="020B0503020204020204" pitchFamily="34" charset="-122"/>
              </a:rPr>
              <a:t>不少于</a:t>
            </a:r>
            <a:r>
              <a:rPr lang="zh-CN" altLang="en-US" sz="2400" kern="1200" dirty="0">
                <a:solidFill>
                  <a:schemeClr val="bg1"/>
                </a:solidFill>
                <a:latin typeface="Microsoft YaHei" panose="020B0503020204020204" pitchFamily="34" charset="-122"/>
                <a:ea typeface="Microsoft YaHei" panose="020B0503020204020204" pitchFamily="34" charset="-122"/>
              </a:rPr>
              <a:t>右括号数量</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a:p>
            <a:pPr marL="342900" indent="-342900">
              <a:buFont typeface="Arial" panose="020B0604020202020204" pitchFamily="34" charset="0"/>
              <a:buChar char="•"/>
            </a:pPr>
            <a:r>
              <a:rPr lang="zh-CN" altLang="en-US" sz="2400" kern="1200" dirty="0">
                <a:solidFill>
                  <a:schemeClr val="bg1"/>
                </a:solidFill>
                <a:latin typeface="Microsoft YaHei" panose="020B0503020204020204" pitchFamily="34" charset="-122"/>
                <a:ea typeface="Microsoft YaHei" panose="020B0503020204020204" pitchFamily="34" charset="-122"/>
              </a:rPr>
              <a:t>整个字符串中的左括号与右括号数量相等</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sp>
        <p:nvSpPr>
          <p:cNvPr id="5" name="任意多边形: 形状 69">
            <a:extLst>
              <a:ext uri="{FF2B5EF4-FFF2-40B4-BE49-F238E27FC236}">
                <a16:creationId xmlns:a16="http://schemas.microsoft.com/office/drawing/2014/main" id="{60112657-8D6F-B7CD-C09E-985A30D7CB70}"/>
              </a:ext>
            </a:extLst>
          </p:cNvPr>
          <p:cNvSpPr/>
          <p:nvPr/>
        </p:nvSpPr>
        <p:spPr>
          <a:xfrm>
            <a:off x="3978494" y="5955855"/>
            <a:ext cx="3981012" cy="61489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solidFill>
                  <a:schemeClr val="bg1"/>
                </a:solidFill>
                <a:latin typeface="Microsoft YaHei" panose="020B0503020204020204" pitchFamily="34" charset="-122"/>
                <a:ea typeface="Microsoft YaHei" panose="020B0503020204020204" pitchFamily="34" charset="-122"/>
              </a:rPr>
              <a:t>字符串是</a:t>
            </a:r>
            <a:r>
              <a:rPr lang="zh-CN" altLang="en-US" sz="2800" kern="1200" dirty="0">
                <a:solidFill>
                  <a:schemeClr val="bg1"/>
                </a:solidFill>
                <a:latin typeface="Microsoft YaHei" panose="020B0503020204020204" pitchFamily="34" charset="-122"/>
                <a:ea typeface="Microsoft YaHei" panose="020B0503020204020204" pitchFamily="34" charset="-122"/>
              </a:rPr>
              <a:t>括号语句</a:t>
            </a:r>
            <a:endParaRPr lang="en-US" altLang="zh-CN" sz="2800" kern="1200" dirty="0">
              <a:solidFill>
                <a:schemeClr val="bg1"/>
              </a:solidFill>
              <a:latin typeface="Microsoft YaHei" panose="020B0503020204020204" pitchFamily="34" charset="-122"/>
              <a:ea typeface="Microsoft YaHei" panose="020B0503020204020204" pitchFamily="34" charset="-122"/>
            </a:endParaRPr>
          </a:p>
        </p:txBody>
      </p:sp>
      <p:sp>
        <p:nvSpPr>
          <p:cNvPr id="6" name="上下箭头 5">
            <a:extLst>
              <a:ext uri="{FF2B5EF4-FFF2-40B4-BE49-F238E27FC236}">
                <a16:creationId xmlns:a16="http://schemas.microsoft.com/office/drawing/2014/main" id="{A9C4BEDF-ABC6-CEE8-C839-C431507AA62D}"/>
              </a:ext>
            </a:extLst>
          </p:cNvPr>
          <p:cNvSpPr/>
          <p:nvPr/>
        </p:nvSpPr>
        <p:spPr>
          <a:xfrm>
            <a:off x="5679653" y="5399682"/>
            <a:ext cx="647416" cy="524691"/>
          </a:xfrm>
          <a:prstGeom prst="upDownArrow">
            <a:avLst>
              <a:gd name="adj1" fmla="val 50000"/>
              <a:gd name="adj2" fmla="val 34307"/>
            </a:avLst>
          </a:prstGeom>
          <a:solidFill>
            <a:srgbClr val="51A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E7665158-4F36-F871-FA01-C6E33E414691}"/>
              </a:ext>
            </a:extLst>
          </p:cNvPr>
          <p:cNvSpPr txBox="1"/>
          <p:nvPr/>
        </p:nvSpPr>
        <p:spPr>
          <a:xfrm>
            <a:off x="6327069" y="5498115"/>
            <a:ext cx="2492990"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充分必要条件（思考）</a:t>
            </a:r>
          </a:p>
        </p:txBody>
      </p:sp>
      <p:sp>
        <p:nvSpPr>
          <p:cNvPr id="8" name="文本框 7">
            <a:extLst>
              <a:ext uri="{FF2B5EF4-FFF2-40B4-BE49-F238E27FC236}">
                <a16:creationId xmlns:a16="http://schemas.microsoft.com/office/drawing/2014/main" id="{326602E3-7CE5-4D61-BC7A-88F40258CB02}"/>
              </a:ext>
            </a:extLst>
          </p:cNvPr>
          <p:cNvSpPr txBox="1"/>
          <p:nvPr/>
        </p:nvSpPr>
        <p:spPr>
          <a:xfrm>
            <a:off x="9119427" y="5978946"/>
            <a:ext cx="2488348" cy="646331"/>
          </a:xfrm>
          <a:prstGeom prst="rect">
            <a:avLst/>
          </a:prstGeom>
          <a:noFill/>
        </p:spPr>
        <p:txBody>
          <a:bodyPr wrap="square" rtlCol="0">
            <a:spAutoFit/>
          </a:bodyPr>
          <a:lstStyle/>
          <a:p>
            <a:r>
              <a:rPr lang="zh-CN" altLang="en-US" dirty="0">
                <a:solidFill>
                  <a:srgbClr val="009999"/>
                </a:solidFill>
                <a:latin typeface="微软雅黑" panose="020B0503020204020204" pitchFamily="34" charset="-122"/>
                <a:ea typeface="微软雅黑" panose="020B0503020204020204" pitchFamily="34" charset="-122"/>
              </a:rPr>
              <a:t>思考：如何检测左括号与右括号的数量差？</a:t>
            </a:r>
          </a:p>
        </p:txBody>
      </p:sp>
    </p:spTree>
    <p:extLst>
      <p:ext uri="{BB962C8B-B14F-4D97-AF65-F5344CB8AC3E}">
        <p14:creationId xmlns:p14="http://schemas.microsoft.com/office/powerpoint/2010/main" val="143578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heckerboard(across)">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5" grpId="0" animBg="1"/>
      <p:bldP spid="6" grpId="0" animBg="1"/>
      <p:bldP spid="7" grpId="0"/>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lang="en-US" sz="2800" dirty="0" err="1">
                <a:sym typeface="Wingdings" panose="05000000000000000000" pitchFamily="2" charset="2"/>
              </a:rPr>
              <a:t>括号语句的判定</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9" name="任意多边形: 形状 6">
            <a:extLst>
              <a:ext uri="{FF2B5EF4-FFF2-40B4-BE49-F238E27FC236}">
                <a16:creationId xmlns:a16="http://schemas.microsoft.com/office/drawing/2014/main" id="{675A07AB-96B7-DB54-3BE9-DDA70C3075A7}"/>
              </a:ext>
            </a:extLst>
          </p:cNvPr>
          <p:cNvSpPr/>
          <p:nvPr/>
        </p:nvSpPr>
        <p:spPr>
          <a:xfrm>
            <a:off x="129180" y="1138652"/>
            <a:ext cx="8882808" cy="531846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lvl="0" eaLnBrk="0" fontAlgn="base" hangingPunct="0">
              <a:spcBef>
                <a:spcPct val="0"/>
              </a:spcBef>
              <a:spcAft>
                <a:spcPct val="0"/>
              </a:spcAft>
            </a:pPr>
            <a:r>
              <a:rPr lang="zh-CN" altLang="zh-CN" sz="2000" dirty="0">
                <a:latin typeface="微软雅黑" panose="020B0503020204020204" pitchFamily="34" charset="-122"/>
                <a:ea typeface="微软雅黑" panose="020B0503020204020204" pitchFamily="34" charset="-122"/>
              </a:rPr>
              <a:t>—————————————————————</a:t>
            </a:r>
          </a:p>
          <a:p>
            <a:pPr marL="360000" lvl="0" indent="-288000" eaLnBrk="0" fontAlgn="base" hangingPunct="0">
              <a:spcBef>
                <a:spcPct val="0"/>
              </a:spcBef>
              <a:spcAft>
                <a:spcPct val="0"/>
              </a:spcAft>
              <a:buFont typeface="+mj-lt"/>
              <a:buAutoNum type="arabicPeriod"/>
            </a:pP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Length(str)</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字符串</a:t>
            </a:r>
            <a:r>
              <a:rPr lang="en-US" altLang="zh-CN" sz="2000" dirty="0">
                <a:latin typeface="微软雅黑" panose="020B0503020204020204" pitchFamily="34" charset="-122"/>
                <a:ea typeface="微软雅黑" panose="020B0503020204020204" pitchFamily="34" charset="-122"/>
              </a:rPr>
              <a:t>str</a:t>
            </a:r>
            <a:r>
              <a:rPr lang="zh-CN" altLang="en-US" sz="2000" dirty="0">
                <a:latin typeface="微软雅黑" panose="020B0503020204020204" pitchFamily="34" charset="-122"/>
                <a:ea typeface="微软雅黑" panose="020B0503020204020204" pitchFamily="34" charset="-122"/>
              </a:rPr>
              <a:t>的长度，字符串由小括号字符组成</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前缀和的初始值</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sz="2000" b="1" dirty="0">
                <a:latin typeface="微软雅黑" panose="020B0503020204020204" pitchFamily="34" charset="-122"/>
                <a:ea typeface="微软雅黑" panose="020B0503020204020204" pitchFamily="34" charset="-122"/>
              </a:rPr>
              <a:t>for</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0 </a:t>
            </a:r>
            <a:r>
              <a:rPr lang="en-US" altLang="zh-CN" sz="2000" b="1" dirty="0">
                <a:latin typeface="微软雅黑" panose="020B0503020204020204" pitchFamily="34" charset="-122"/>
                <a:ea typeface="微软雅黑" panose="020B0503020204020204" pitchFamily="34" charset="-122"/>
              </a:rPr>
              <a:t>to</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n-1</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do</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if</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str[k]</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then</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个字符是</a:t>
            </a:r>
            <a:r>
              <a:rPr lang="zh-CN" altLang="en-US" sz="2000" dirty="0">
                <a:solidFill>
                  <a:srgbClr val="FFFF00"/>
                </a:solidFill>
                <a:latin typeface="微软雅黑" panose="020B0503020204020204" pitchFamily="34" charset="-122"/>
                <a:ea typeface="微软雅黑" panose="020B0503020204020204" pitchFamily="34" charset="-122"/>
              </a:rPr>
              <a:t>左括号</a:t>
            </a:r>
            <a:endParaRPr lang="en-US" altLang="zh-CN" sz="2000" b="1" dirty="0">
              <a:solidFill>
                <a:srgbClr val="FFFF00"/>
              </a:solidFill>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2000" b="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FFFF00"/>
                </a:solidFill>
                <a:latin typeface="微软雅黑" panose="020B0503020204020204" pitchFamily="34" charset="-122"/>
                <a:ea typeface="微软雅黑" panose="020B0503020204020204" pitchFamily="34" charset="-122"/>
              </a:rPr>
              <a:t>前缀和加</a:t>
            </a:r>
            <a:r>
              <a:rPr lang="en-US" altLang="zh-CN" sz="2000" dirty="0">
                <a:solidFill>
                  <a:srgbClr val="FFFF00"/>
                </a:solidFill>
                <a:latin typeface="微软雅黑" panose="020B0503020204020204" pitchFamily="34" charset="-122"/>
                <a:ea typeface="微软雅黑" panose="020B0503020204020204" pitchFamily="34" charset="-122"/>
              </a:rPr>
              <a:t>1</a:t>
            </a: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else</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//str[k]</a:t>
            </a:r>
            <a:r>
              <a:rPr lang="zh-CN" altLang="en-US" sz="2000" dirty="0">
                <a:latin typeface="微软雅黑" panose="020B0503020204020204" pitchFamily="34" charset="-122"/>
                <a:ea typeface="微软雅黑" panose="020B0503020204020204" pitchFamily="34" charset="-122"/>
              </a:rPr>
              <a:t>是</a:t>
            </a:r>
            <a:r>
              <a:rPr lang="zh-CN" altLang="en-US" sz="2000" dirty="0">
                <a:solidFill>
                  <a:schemeClr val="accent2">
                    <a:lumMod val="20000"/>
                    <a:lumOff val="80000"/>
                  </a:schemeClr>
                </a:solidFill>
                <a:latin typeface="微软雅黑" panose="020B0503020204020204" pitchFamily="34" charset="-122"/>
                <a:ea typeface="微软雅黑" panose="020B0503020204020204" pitchFamily="34" charset="-122"/>
              </a:rPr>
              <a:t>右括号</a:t>
            </a:r>
            <a:endParaRPr lang="en-US" altLang="zh-CN" sz="2000" dirty="0">
              <a:solidFill>
                <a:schemeClr val="accent2">
                  <a:lumMod val="20000"/>
                  <a:lumOff val="80000"/>
                </a:schemeClr>
              </a:solidFill>
              <a:latin typeface="微软雅黑" panose="020B0503020204020204" pitchFamily="34" charset="-122"/>
              <a:ea typeface="微软雅黑" panose="020B0503020204020204" pitchFamily="34" charset="-122"/>
            </a:endParaRPr>
          </a:p>
          <a:p>
            <a:pPr marL="36000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solidFill>
                  <a:schemeClr val="accent2">
                    <a:lumMod val="20000"/>
                    <a:lumOff val="80000"/>
                  </a:schemeClr>
                </a:solidFill>
                <a:latin typeface="微软雅黑" panose="020B0503020204020204" pitchFamily="34" charset="-122"/>
                <a:ea typeface="微软雅黑" panose="020B0503020204020204" pitchFamily="34" charset="-122"/>
              </a:rPr>
              <a:t>前缀和减</a:t>
            </a:r>
            <a:r>
              <a:rPr lang="en-US" altLang="zh-CN" sz="2000" dirty="0">
                <a:solidFill>
                  <a:schemeClr val="accent2">
                    <a:lumMod val="20000"/>
                    <a:lumOff val="80000"/>
                  </a:schemeClr>
                </a:solidFill>
                <a:latin typeface="微软雅黑" panose="020B0503020204020204" pitchFamily="34" charset="-122"/>
                <a:ea typeface="微软雅黑" panose="020B0503020204020204" pitchFamily="34" charset="-122"/>
              </a:rPr>
              <a:t>1</a:t>
            </a:r>
          </a:p>
          <a:p>
            <a:pPr marL="360000" lvl="0" indent="-288000" eaLnBrk="0" fontAlgn="base" hangingPunct="0">
              <a:spcBef>
                <a:spcPct val="0"/>
              </a:spcBef>
              <a:spcAft>
                <a:spcPct val="0"/>
              </a:spcAft>
              <a:buFont typeface="+mj-lt"/>
              <a:buAutoNum type="arabicPeriod"/>
            </a:pP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if</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&lt;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then</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前缀和小于</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，即右括号比左括号多</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return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false</a:t>
            </a:r>
            <a:r>
              <a:rPr lang="zh-CN" altLang="en-US" sz="2000" b="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非括号语句</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if</a:t>
            </a: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pref_sum</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then</a:t>
            </a:r>
            <a:r>
              <a:rPr lang="zh-CN" altLang="en-US" sz="2000" b="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//str</a:t>
            </a:r>
            <a:r>
              <a:rPr lang="zh-CN" altLang="en-US" sz="2000" dirty="0">
                <a:latin typeface="微软雅黑" panose="020B0503020204020204" pitchFamily="34" charset="-122"/>
                <a:ea typeface="微软雅黑" panose="020B0503020204020204" pitchFamily="34" charset="-122"/>
              </a:rPr>
              <a:t>中左括号比右括号多</a:t>
            </a:r>
            <a:endParaRPr lang="en-US" altLang="zh-CN" sz="2000"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return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false</a:t>
            </a:r>
          </a:p>
          <a:p>
            <a:pPr marL="360000" lvl="0" indent="-288000" eaLnBrk="0" fontAlgn="base" hangingPunct="0">
              <a:spcBef>
                <a:spcPct val="0"/>
              </a:spcBef>
              <a:spcAft>
                <a:spcPct val="0"/>
              </a:spcAft>
              <a:buFont typeface="+mj-lt"/>
              <a:buAutoNum type="arabicPeriod"/>
            </a:pPr>
            <a:r>
              <a:rPr lang="zh-CN" altLang="en-US"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return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true</a:t>
            </a:r>
          </a:p>
          <a:p>
            <a:pPr lvl="0" eaLnBrk="0" fontAlgn="base" hangingPunct="0">
              <a:spcBef>
                <a:spcPct val="0"/>
              </a:spcBef>
              <a:spcAft>
                <a:spcPct val="0"/>
              </a:spcAft>
            </a:pPr>
            <a:r>
              <a:rPr lang="zh-CN" altLang="zh-CN" sz="20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59E87BF2-6364-201F-9E20-890730E76E34}"/>
              </a:ext>
            </a:extLst>
          </p:cNvPr>
          <p:cNvSpPr txBox="1"/>
          <p:nvPr/>
        </p:nvSpPr>
        <p:spPr>
          <a:xfrm>
            <a:off x="9613832" y="3474720"/>
            <a:ext cx="2342308" cy="646331"/>
          </a:xfrm>
          <a:prstGeom prst="rect">
            <a:avLst/>
          </a:prstGeom>
          <a:noFill/>
        </p:spPr>
        <p:txBody>
          <a:bodyPr wrap="none" rtlCol="0">
            <a:spAutoFit/>
          </a:bodyPr>
          <a:lstStyle/>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时间复杂度：</a:t>
            </a:r>
            <a:r>
              <a:rPr kumimoji="1" lang="en-US" altLang="zh-CN" dirty="0">
                <a:latin typeface="Microsoft YaHei" panose="020B0503020204020204" pitchFamily="34" charset="-122"/>
                <a:ea typeface="Microsoft YaHei" panose="020B0503020204020204" pitchFamily="34" charset="-122"/>
              </a:rPr>
              <a:t>O(n)</a:t>
            </a: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空间复杂度：</a:t>
            </a:r>
            <a:r>
              <a:rPr kumimoji="1" lang="en-US" altLang="zh-CN" dirty="0">
                <a:solidFill>
                  <a:srgbClr val="FF0000"/>
                </a:solidFill>
                <a:latin typeface="Microsoft YaHei" panose="020B0503020204020204" pitchFamily="34" charset="-122"/>
                <a:ea typeface="Microsoft YaHei" panose="020B0503020204020204" pitchFamily="34" charset="-122"/>
              </a:rPr>
              <a:t>O(1)</a:t>
            </a:r>
            <a:endParaRPr kumimoji="1" lang="zh-CN" altLang="en-US"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8538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E9B8473B-F9F6-4C47-B465-71D9450E209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表达式计算</a:t>
            </a:r>
          </a:p>
        </p:txBody>
      </p:sp>
      <p:sp>
        <p:nvSpPr>
          <p:cNvPr id="2" name="副标题 1">
            <a:extLst>
              <a:ext uri="{FF2B5EF4-FFF2-40B4-BE49-F238E27FC236}">
                <a16:creationId xmlns:a16="http://schemas.microsoft.com/office/drawing/2014/main" id="{B004CA26-F93A-4009-AD38-6764B134594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0D3BC2F-9718-40B8-9A5C-DC87BDEB92FC}"/>
              </a:ext>
            </a:extLst>
          </p:cNvPr>
          <p:cNvSpPr>
            <a:spLocks noGrp="1"/>
          </p:cNvSpPr>
          <p:nvPr>
            <p:ph type="body" idx="10"/>
          </p:nvPr>
        </p:nvSpPr>
        <p:spPr/>
        <p:txBody>
          <a:bodyPr/>
          <a:lstStyle/>
          <a:p>
            <a:endParaRPr lang="zh-CN" altLang="en-US"/>
          </a:p>
        </p:txBody>
      </p:sp>
      <p:sp>
        <p:nvSpPr>
          <p:cNvPr id="11267" name="Rectangle 3">
            <a:extLst>
              <a:ext uri="{FF2B5EF4-FFF2-40B4-BE49-F238E27FC236}">
                <a16:creationId xmlns:a16="http://schemas.microsoft.com/office/drawing/2014/main" id="{F0E5E595-19E6-4D6A-88D7-9898C8ABA3F5}"/>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latin typeface="微软雅黑" panose="020B0503020204020204" pitchFamily="34" charset="-122"/>
                <a:ea typeface="微软雅黑" panose="020B0503020204020204" pitchFamily="34" charset="-122"/>
              </a:rPr>
              <a:t>表达式定义</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基本</a:t>
            </a:r>
            <a:r>
              <a:rPr lang="zh-CN" altLang="zh-CN" sz="2400" dirty="0">
                <a:solidFill>
                  <a:srgbClr val="C00000"/>
                </a:solidFill>
                <a:latin typeface="微软雅黑" panose="020B0503020204020204" pitchFamily="34" charset="-122"/>
                <a:ea typeface="微软雅黑" panose="020B0503020204020204" pitchFamily="34" charset="-122"/>
              </a:rPr>
              <a:t>符号集</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{0</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语法</a:t>
            </a:r>
            <a:r>
              <a:rPr lang="zh-CN" altLang="zh-CN" sz="2400" dirty="0">
                <a:solidFill>
                  <a:srgbClr val="C00000"/>
                </a:solidFill>
                <a:latin typeface="微软雅黑" panose="020B0503020204020204" pitchFamily="34" charset="-122"/>
                <a:ea typeface="微软雅黑" panose="020B0503020204020204" pitchFamily="34" charset="-122"/>
              </a:rPr>
              <a:t>成分集</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{&lt;</a:t>
            </a:r>
            <a:r>
              <a:rPr lang="zh-CN" altLang="zh-CN" sz="2400" dirty="0">
                <a:latin typeface="微软雅黑" panose="020B0503020204020204" pitchFamily="34" charset="-122"/>
                <a:ea typeface="微软雅黑" panose="020B0503020204020204" pitchFamily="34" charset="-122"/>
              </a:rPr>
              <a:t>表达式</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项</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因子</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常数</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数字</a:t>
            </a:r>
            <a:r>
              <a:rPr lang="en-US" altLang="zh-CN" sz="2400" dirty="0">
                <a:latin typeface="微软雅黑" panose="020B0503020204020204" pitchFamily="34" charset="-122"/>
                <a:ea typeface="微软雅黑" panose="020B0503020204020204" pitchFamily="34" charset="-122"/>
              </a:rPr>
              <a:t>&gt;  } </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语法</a:t>
            </a:r>
            <a:r>
              <a:rPr lang="zh-CN" altLang="zh-CN" sz="2400" dirty="0">
                <a:solidFill>
                  <a:srgbClr val="C00000"/>
                </a:solidFill>
                <a:latin typeface="微软雅黑" panose="020B0503020204020204" pitchFamily="34" charset="-122"/>
                <a:ea typeface="微软雅黑" panose="020B0503020204020204" pitchFamily="34" charset="-122"/>
              </a:rPr>
              <a:t>公式集</a:t>
            </a:r>
            <a:r>
              <a:rPr lang="zh-CN" altLang="zh-CN" sz="2400" dirty="0">
                <a:latin typeface="微软雅黑" panose="020B0503020204020204" pitchFamily="34" charset="-122"/>
                <a:ea typeface="微软雅黑" panose="020B0503020204020204" pitchFamily="34" charset="-122"/>
              </a:rPr>
              <a:t> </a:t>
            </a:r>
          </a:p>
          <a:p>
            <a:pPr marL="357188" indent="-357188">
              <a:lnSpc>
                <a:spcPct val="105000"/>
              </a:lnSpc>
              <a:spcBef>
                <a:spcPts val="600"/>
              </a:spcBef>
              <a:tabLst>
                <a:tab pos="444500" algn="l"/>
              </a:tabLst>
            </a:pPr>
            <a:endParaRPr lang="en-US" altLang="zh-CN" sz="1200" dirty="0">
              <a:solidFill>
                <a:srgbClr val="0000FF"/>
              </a:solidFill>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solidFill>
                  <a:srgbClr val="3333CC"/>
                </a:solidFill>
                <a:latin typeface="微软雅黑" panose="020B0503020204020204" pitchFamily="34" charset="-122"/>
                <a:ea typeface="微软雅黑" panose="020B0503020204020204" pitchFamily="34" charset="-122"/>
              </a:rPr>
              <a:t>中缀表达式 </a:t>
            </a:r>
          </a:p>
          <a:p>
            <a:pPr marL="357188" indent="-357188">
              <a:lnSpc>
                <a:spcPct val="105000"/>
              </a:lnSpc>
              <a:spcBef>
                <a:spcPts val="600"/>
              </a:spcBef>
              <a:buFont typeface="Wingdings" panose="05000000000000000000" pitchFamily="2" charset="2"/>
              <a:buNone/>
              <a:tabLst>
                <a:tab pos="444500" algn="l"/>
              </a:tabLst>
            </a:pPr>
            <a:r>
              <a:rPr lang="zh-CN" altLang="zh-CN"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23 + (34 * 45) / (5 + 6 + 7)</a:t>
            </a:r>
          </a:p>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solidFill>
                  <a:srgbClr val="3333CC"/>
                </a:solidFill>
              </a:rPr>
              <a:t>后缀表达式 </a:t>
            </a:r>
          </a:p>
          <a:p>
            <a:pPr marL="357188" indent="-357188">
              <a:lnSpc>
                <a:spcPct val="105000"/>
              </a:lnSpc>
              <a:spcBef>
                <a:spcPts val="600"/>
              </a:spcBef>
              <a:buFont typeface="Wingdings" panose="05000000000000000000" pitchFamily="2" charset="2"/>
              <a:buNone/>
              <a:tabLst>
                <a:tab pos="444500" algn="l"/>
              </a:tabLst>
            </a:pPr>
            <a:r>
              <a:rPr lang="zh-CN" altLang="zh-CN"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23 34 45 * 5 6 + 7 + / +</a:t>
            </a:r>
            <a:r>
              <a:rPr lang="zh-CN" altLang="zh-CN"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3DCED743-266A-4F35-979F-7F5C6D4044A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中缀表达式的语法公式  </a:t>
            </a:r>
          </a:p>
        </p:txBody>
      </p:sp>
      <p:sp>
        <p:nvSpPr>
          <p:cNvPr id="2" name="副标题 1">
            <a:extLst>
              <a:ext uri="{FF2B5EF4-FFF2-40B4-BE49-F238E27FC236}">
                <a16:creationId xmlns:a16="http://schemas.microsoft.com/office/drawing/2014/main" id="{035BAAF3-0E7D-45EB-A441-165B972FC0A3}"/>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F8FD1AA1-AFC8-450D-A77A-54B9DD296DA3}"/>
              </a:ext>
            </a:extLst>
          </p:cNvPr>
          <p:cNvSpPr>
            <a:spLocks noGrp="1"/>
          </p:cNvSpPr>
          <p:nvPr>
            <p:ph type="body" idx="10"/>
          </p:nvPr>
        </p:nvSpPr>
        <p:spPr/>
        <p:txBody>
          <a:bodyPr/>
          <a:lstStyle/>
          <a:p>
            <a:endParaRPr lang="zh-CN" altLang="en-US"/>
          </a:p>
        </p:txBody>
      </p:sp>
      <p:sp>
        <p:nvSpPr>
          <p:cNvPr id="69635" name="Rectangle 3">
            <a:extLst>
              <a:ext uri="{FF2B5EF4-FFF2-40B4-BE49-F238E27FC236}">
                <a16:creationId xmlns:a16="http://schemas.microsoft.com/office/drawing/2014/main" id="{1448809E-F4DA-4DF6-9AE5-313C9C5DD8E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表达式</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9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solidFill>
                  <a:srgbClr val="FF0000"/>
                </a:solidFill>
                <a:latin typeface="微软雅黑" panose="020B0503020204020204" pitchFamily="34" charset="-122"/>
                <a:ea typeface="微软雅黑" panose="020B0503020204020204" pitchFamily="34" charset="-122"/>
              </a:rPr>
              <a:t> </a:t>
            </a:r>
            <a:r>
              <a:rPr kumimoji="0" lang="zh-CN" altLang="zh-CN" sz="2400" dirty="0">
                <a:solidFill>
                  <a:srgbClr val="00B0F0"/>
                </a:solidFill>
                <a:latin typeface="微软雅黑" panose="020B0503020204020204" pitchFamily="34" charset="-122"/>
                <a:ea typeface="微软雅黑" panose="020B0503020204020204" pitchFamily="34" charset="-122"/>
              </a:rPr>
              <a:t>（ </a:t>
            </a:r>
            <a:r>
              <a:rPr kumimoji="0" lang="en-US" altLang="zh-CN" sz="2400" dirty="0">
                <a:solidFill>
                  <a:srgbClr val="00B0F0"/>
                </a:solidFill>
                <a:latin typeface="微软雅黑" panose="020B0503020204020204" pitchFamily="34" charset="-122"/>
                <a:ea typeface="微软雅黑" panose="020B0503020204020204" pitchFamily="34" charset="-122"/>
              </a:rPr>
              <a:t>&lt;</a:t>
            </a:r>
            <a:r>
              <a:rPr kumimoji="0" lang="zh-CN" altLang="zh-CN" sz="2400" dirty="0">
                <a:solidFill>
                  <a:srgbClr val="00B0F0"/>
                </a:solidFill>
                <a:latin typeface="微软雅黑" panose="020B0503020204020204" pitchFamily="34" charset="-122"/>
                <a:ea typeface="微软雅黑" panose="020B0503020204020204" pitchFamily="34" charset="-122"/>
              </a:rPr>
              <a:t>表达式</a:t>
            </a:r>
            <a:r>
              <a:rPr kumimoji="0" lang="en-US" altLang="zh-CN" sz="2400" dirty="0">
                <a:solidFill>
                  <a:srgbClr val="00B0F0"/>
                </a:solidFill>
                <a:latin typeface="微软雅黑" panose="020B0503020204020204" pitchFamily="34" charset="-122"/>
                <a:ea typeface="微软雅黑" panose="020B0503020204020204" pitchFamily="34" charset="-122"/>
              </a:rPr>
              <a:t>&gt; </a:t>
            </a:r>
            <a:r>
              <a:rPr kumimoji="0" lang="zh-CN" altLang="zh-CN" sz="2400" dirty="0">
                <a:solidFill>
                  <a:srgbClr val="00B0F0"/>
                </a:solidFill>
                <a:latin typeface="微软雅黑" panose="020B0503020204020204" pitchFamily="34" charset="-122"/>
                <a:ea typeface="微软雅黑" panose="020B0503020204020204" pitchFamily="34" charset="-122"/>
              </a:rPr>
              <a:t>）</a:t>
            </a:r>
            <a:endParaRPr kumimoji="0" lang="en-US" altLang="zh-CN" sz="2400" dirty="0">
              <a:solidFill>
                <a:srgbClr val="00B0F0"/>
              </a:solidFill>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endParaRPr kumimoji="0" lang="zh-CN" altLang="zh-CN" sz="2400" dirty="0">
              <a:solidFill>
                <a:srgbClr val="FF0000"/>
              </a:solidFill>
              <a:latin typeface="微软雅黑" panose="020B0503020204020204" pitchFamily="34" charset="-122"/>
              <a:ea typeface="微软雅黑" panose="020B0503020204020204" pitchFamily="34" charset="-122"/>
            </a:endParaRPr>
          </a:p>
          <a:p>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   0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1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2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3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4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5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6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7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8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9 </a:t>
            </a:r>
          </a:p>
        </p:txBody>
      </p:sp>
      <p:sp>
        <p:nvSpPr>
          <p:cNvPr id="4" name="任意多边形: 形状 69">
            <a:extLst>
              <a:ext uri="{FF2B5EF4-FFF2-40B4-BE49-F238E27FC236}">
                <a16:creationId xmlns:a16="http://schemas.microsoft.com/office/drawing/2014/main" id="{8679BFB6-D975-43D0-1C69-B7011DF6140D}"/>
              </a:ext>
            </a:extLst>
          </p:cNvPr>
          <p:cNvSpPr/>
          <p:nvPr/>
        </p:nvSpPr>
        <p:spPr>
          <a:xfrm>
            <a:off x="7240313" y="2999295"/>
            <a:ext cx="3565306" cy="61489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kern="1200" dirty="0">
                <a:solidFill>
                  <a:schemeClr val="bg1"/>
                </a:solidFill>
                <a:latin typeface="Microsoft YaHei" panose="020B0503020204020204" pitchFamily="34" charset="-122"/>
                <a:ea typeface="Microsoft YaHei" panose="020B0503020204020204" pitchFamily="34" charset="-122"/>
              </a:rPr>
              <a:t>加上括号的表达式</a:t>
            </a:r>
            <a:endParaRPr lang="en-US" altLang="zh-CN" sz="2800" kern="1200" dirty="0">
              <a:solidFill>
                <a:schemeClr val="bg1"/>
              </a:solidFill>
              <a:latin typeface="Microsoft YaHei" panose="020B0503020204020204" pitchFamily="34" charset="-122"/>
              <a:ea typeface="Microsoft YaHei" panose="020B0503020204020204" pitchFamily="34" charset="-122"/>
            </a:endParaRPr>
          </a:p>
        </p:txBody>
      </p:sp>
      <p:sp>
        <p:nvSpPr>
          <p:cNvPr id="5" name="任意多边形: 形状 69">
            <a:extLst>
              <a:ext uri="{FF2B5EF4-FFF2-40B4-BE49-F238E27FC236}">
                <a16:creationId xmlns:a16="http://schemas.microsoft.com/office/drawing/2014/main" id="{79A182C7-E411-4A2D-FBDC-553E8BBD945F}"/>
              </a:ext>
            </a:extLst>
          </p:cNvPr>
          <p:cNvSpPr/>
          <p:nvPr/>
        </p:nvSpPr>
        <p:spPr>
          <a:xfrm>
            <a:off x="7240313" y="4202787"/>
            <a:ext cx="3565306" cy="61489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solidFill>
                  <a:schemeClr val="bg1"/>
                </a:solidFill>
                <a:latin typeface="Microsoft YaHei" panose="020B0503020204020204" pitchFamily="34" charset="-122"/>
                <a:ea typeface="Microsoft YaHei" panose="020B0503020204020204" pitchFamily="34" charset="-122"/>
              </a:rPr>
              <a:t>递归（分层）结构</a:t>
            </a:r>
            <a:endParaRPr lang="en-US" altLang="zh-CN" sz="2800" kern="1200" dirty="0">
              <a:solidFill>
                <a:schemeClr val="bg1"/>
              </a:solidFill>
              <a:latin typeface="Microsoft YaHei" panose="020B0503020204020204" pitchFamily="34" charset="-122"/>
              <a:ea typeface="Microsoft YaHei" panose="020B0503020204020204" pitchFamily="34" charset="-122"/>
            </a:endParaRPr>
          </a:p>
        </p:txBody>
      </p:sp>
      <p:sp>
        <p:nvSpPr>
          <p:cNvPr id="6" name="下箭头 5">
            <a:extLst>
              <a:ext uri="{FF2B5EF4-FFF2-40B4-BE49-F238E27FC236}">
                <a16:creationId xmlns:a16="http://schemas.microsoft.com/office/drawing/2014/main" id="{DA27F746-B851-49ED-5418-EDE208E9FB83}"/>
              </a:ext>
            </a:extLst>
          </p:cNvPr>
          <p:cNvSpPr/>
          <p:nvPr/>
        </p:nvSpPr>
        <p:spPr>
          <a:xfrm>
            <a:off x="8578683" y="3709714"/>
            <a:ext cx="888566" cy="397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D420221E-0F1C-41D3-9AA0-0781B3E7912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中缀表达式的递归图示</a:t>
            </a:r>
          </a:p>
        </p:txBody>
      </p:sp>
      <p:sp>
        <p:nvSpPr>
          <p:cNvPr id="2" name="副标题 1">
            <a:extLst>
              <a:ext uri="{FF2B5EF4-FFF2-40B4-BE49-F238E27FC236}">
                <a16:creationId xmlns:a16="http://schemas.microsoft.com/office/drawing/2014/main" id="{EDF9E82B-721E-40F8-BDC2-EB5CCE749DE1}"/>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8C081D65-FBA2-4236-A0A6-AE7E0A20A636}"/>
              </a:ext>
            </a:extLst>
          </p:cNvPr>
          <p:cNvSpPr>
            <a:spLocks noGrp="1"/>
          </p:cNvSpPr>
          <p:nvPr>
            <p:ph type="body" idx="10"/>
          </p:nvPr>
        </p:nvSpPr>
        <p:spPr/>
        <p:txBody>
          <a:bodyPr/>
          <a:lstStyle/>
          <a:p>
            <a:endParaRPr lang="zh-CN" altLang="en-US"/>
          </a:p>
        </p:txBody>
      </p:sp>
      <p:sp>
        <p:nvSpPr>
          <p:cNvPr id="70659" name="Text Box 2">
            <a:extLst>
              <a:ext uri="{FF2B5EF4-FFF2-40B4-BE49-F238E27FC236}">
                <a16:creationId xmlns:a16="http://schemas.microsoft.com/office/drawing/2014/main" id="{4DE773FE-54C4-4AC4-A00D-1B71B605B61E}"/>
              </a:ext>
            </a:extLst>
          </p:cNvPr>
          <p:cNvSpPr txBox="1">
            <a:spLocks noChangeArrowheads="1"/>
          </p:cNvSpPr>
          <p:nvPr/>
        </p:nvSpPr>
        <p:spPr bwMode="auto">
          <a:xfrm>
            <a:off x="2889250" y="1581945"/>
            <a:ext cx="14239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100">
                <a:latin typeface="微软雅黑" panose="020B0503020204020204" pitchFamily="34" charset="-122"/>
                <a:ea typeface="微软雅黑" panose="020B0503020204020204" pitchFamily="34" charset="-122"/>
              </a:rPr>
              <a:t>表达式</a:t>
            </a:r>
            <a:endParaRPr kumimoji="1" lang="zh-CN" altLang="en-US" sz="2400">
              <a:latin typeface="微软雅黑" panose="020B0503020204020204" pitchFamily="34" charset="-122"/>
              <a:ea typeface="微软雅黑" panose="020B0503020204020204" pitchFamily="34" charset="-122"/>
            </a:endParaRPr>
          </a:p>
        </p:txBody>
      </p:sp>
      <p:sp>
        <p:nvSpPr>
          <p:cNvPr id="8" name="Line 3">
            <a:extLst>
              <a:ext uri="{FF2B5EF4-FFF2-40B4-BE49-F238E27FC236}">
                <a16:creationId xmlns:a16="http://schemas.microsoft.com/office/drawing/2014/main" id="{358FD088-8869-46FB-A989-77D242E41D69}"/>
              </a:ext>
            </a:extLst>
          </p:cNvPr>
          <p:cNvSpPr>
            <a:spLocks noChangeShapeType="1"/>
          </p:cNvSpPr>
          <p:nvPr/>
        </p:nvSpPr>
        <p:spPr bwMode="auto">
          <a:xfrm>
            <a:off x="4244975" y="1802607"/>
            <a:ext cx="1422400"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9" name="Rectangle 4">
            <a:extLst>
              <a:ext uri="{FF2B5EF4-FFF2-40B4-BE49-F238E27FC236}">
                <a16:creationId xmlns:a16="http://schemas.microsoft.com/office/drawing/2014/main" id="{F5D012D7-A1BE-43A5-98CE-A78D94223D4B}"/>
              </a:ext>
            </a:extLst>
          </p:cNvPr>
          <p:cNvSpPr>
            <a:spLocks noChangeArrowheads="1"/>
          </p:cNvSpPr>
          <p:nvPr/>
        </p:nvSpPr>
        <p:spPr bwMode="auto">
          <a:xfrm>
            <a:off x="5683250" y="1678782"/>
            <a:ext cx="1360488" cy="323850"/>
          </a:xfrm>
          <a:prstGeom prst="rect">
            <a:avLst/>
          </a:prstGeom>
          <a:solidFill>
            <a:srgbClr val="0070C0"/>
          </a:solidFill>
          <a:ln w="25400" cap="sq">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项</a:t>
            </a:r>
            <a:endParaRPr kumimoji="1"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10" name="Line 5">
            <a:extLst>
              <a:ext uri="{FF2B5EF4-FFF2-40B4-BE49-F238E27FC236}">
                <a16:creationId xmlns:a16="http://schemas.microsoft.com/office/drawing/2014/main" id="{A505DB7E-7EA9-43E2-BA67-5724883FF6CD}"/>
              </a:ext>
            </a:extLst>
          </p:cNvPr>
          <p:cNvSpPr>
            <a:spLocks noChangeShapeType="1"/>
          </p:cNvSpPr>
          <p:nvPr/>
        </p:nvSpPr>
        <p:spPr bwMode="auto">
          <a:xfrm>
            <a:off x="7059613" y="1772445"/>
            <a:ext cx="1455737" cy="30162"/>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1" name="Oval 6">
            <a:extLst>
              <a:ext uri="{FF2B5EF4-FFF2-40B4-BE49-F238E27FC236}">
                <a16:creationId xmlns:a16="http://schemas.microsoft.com/office/drawing/2014/main" id="{554BE3F8-DB51-4D64-A455-39AF475533A6}"/>
              </a:ext>
            </a:extLst>
          </p:cNvPr>
          <p:cNvSpPr>
            <a:spLocks noChangeArrowheads="1"/>
          </p:cNvSpPr>
          <p:nvPr/>
        </p:nvSpPr>
        <p:spPr bwMode="auto">
          <a:xfrm>
            <a:off x="6213475" y="2053432"/>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64" name="Text Box 7">
            <a:extLst>
              <a:ext uri="{FF2B5EF4-FFF2-40B4-BE49-F238E27FC236}">
                <a16:creationId xmlns:a16="http://schemas.microsoft.com/office/drawing/2014/main" id="{8194D3B2-2830-43AE-9EEF-EA2F02D6D28D}"/>
              </a:ext>
            </a:extLst>
          </p:cNvPr>
          <p:cNvSpPr txBox="1">
            <a:spLocks noChangeArrowheads="1"/>
          </p:cNvSpPr>
          <p:nvPr/>
        </p:nvSpPr>
        <p:spPr bwMode="auto">
          <a:xfrm>
            <a:off x="6197600" y="1967707"/>
            <a:ext cx="376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13" name="Oval 8">
            <a:extLst>
              <a:ext uri="{FF2B5EF4-FFF2-40B4-BE49-F238E27FC236}">
                <a16:creationId xmlns:a16="http://schemas.microsoft.com/office/drawing/2014/main" id="{E753B429-8DB5-430D-B2AA-DF94D619B8E0}"/>
              </a:ext>
            </a:extLst>
          </p:cNvPr>
          <p:cNvSpPr>
            <a:spLocks noChangeArrowheads="1"/>
          </p:cNvSpPr>
          <p:nvPr/>
        </p:nvSpPr>
        <p:spPr bwMode="auto">
          <a:xfrm>
            <a:off x="6234113" y="2464595"/>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66" name="Text Box 9">
            <a:extLst>
              <a:ext uri="{FF2B5EF4-FFF2-40B4-BE49-F238E27FC236}">
                <a16:creationId xmlns:a16="http://schemas.microsoft.com/office/drawing/2014/main" id="{1333CF66-3C66-4A58-8F78-43E01F6CA5AC}"/>
              </a:ext>
            </a:extLst>
          </p:cNvPr>
          <p:cNvSpPr txBox="1">
            <a:spLocks noChangeArrowheads="1"/>
          </p:cNvSpPr>
          <p:nvPr/>
        </p:nvSpPr>
        <p:spPr bwMode="auto">
          <a:xfrm>
            <a:off x="6169025" y="2393157"/>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a:latin typeface="微软雅黑" panose="020B0503020204020204" pitchFamily="34" charset="-122"/>
                <a:ea typeface="微软雅黑" panose="020B0503020204020204" pitchFamily="34" charset="-122"/>
              </a:rPr>
              <a:t>－</a:t>
            </a:r>
          </a:p>
        </p:txBody>
      </p:sp>
      <p:sp>
        <p:nvSpPr>
          <p:cNvPr id="15" name="Line 10">
            <a:extLst>
              <a:ext uri="{FF2B5EF4-FFF2-40B4-BE49-F238E27FC236}">
                <a16:creationId xmlns:a16="http://schemas.microsoft.com/office/drawing/2014/main" id="{1255AD41-A095-4060-BF6F-814FAE6075BF}"/>
              </a:ext>
            </a:extLst>
          </p:cNvPr>
          <p:cNvSpPr>
            <a:spLocks noChangeShapeType="1"/>
          </p:cNvSpPr>
          <p:nvPr/>
        </p:nvSpPr>
        <p:spPr bwMode="auto">
          <a:xfrm flipH="1">
            <a:off x="7804150" y="1802607"/>
            <a:ext cx="0" cy="59690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6" name="Line 11">
            <a:extLst>
              <a:ext uri="{FF2B5EF4-FFF2-40B4-BE49-F238E27FC236}">
                <a16:creationId xmlns:a16="http://schemas.microsoft.com/office/drawing/2014/main" id="{B85E530F-5C8C-43A9-8276-EED0E5B4035C}"/>
              </a:ext>
            </a:extLst>
          </p:cNvPr>
          <p:cNvSpPr>
            <a:spLocks noChangeShapeType="1"/>
          </p:cNvSpPr>
          <p:nvPr/>
        </p:nvSpPr>
        <p:spPr bwMode="auto">
          <a:xfrm flipH="1">
            <a:off x="7221538" y="2409032"/>
            <a:ext cx="582612"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7" name="Line 12">
            <a:extLst>
              <a:ext uri="{FF2B5EF4-FFF2-40B4-BE49-F238E27FC236}">
                <a16:creationId xmlns:a16="http://schemas.microsoft.com/office/drawing/2014/main" id="{A9F0C958-602B-446D-AEE6-A23834EC555D}"/>
              </a:ext>
            </a:extLst>
          </p:cNvPr>
          <p:cNvSpPr>
            <a:spLocks noChangeShapeType="1"/>
          </p:cNvSpPr>
          <p:nvPr/>
        </p:nvSpPr>
        <p:spPr bwMode="auto">
          <a:xfrm flipH="1">
            <a:off x="6573838" y="2213770"/>
            <a:ext cx="649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8" name="Line 13">
            <a:extLst>
              <a:ext uri="{FF2B5EF4-FFF2-40B4-BE49-F238E27FC236}">
                <a16:creationId xmlns:a16="http://schemas.microsoft.com/office/drawing/2014/main" id="{B0B871A2-EBD2-4419-81A7-F0B36B8805E8}"/>
              </a:ext>
            </a:extLst>
          </p:cNvPr>
          <p:cNvSpPr>
            <a:spLocks noChangeShapeType="1"/>
          </p:cNvSpPr>
          <p:nvPr/>
        </p:nvSpPr>
        <p:spPr bwMode="auto">
          <a:xfrm flipH="1">
            <a:off x="6575425" y="2624932"/>
            <a:ext cx="64928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9" name="Line 14">
            <a:extLst>
              <a:ext uri="{FF2B5EF4-FFF2-40B4-BE49-F238E27FC236}">
                <a16:creationId xmlns:a16="http://schemas.microsoft.com/office/drawing/2014/main" id="{545585C7-4CB2-4424-ACF6-C1A69C3861BF}"/>
              </a:ext>
            </a:extLst>
          </p:cNvPr>
          <p:cNvSpPr>
            <a:spLocks noChangeShapeType="1"/>
          </p:cNvSpPr>
          <p:nvPr/>
        </p:nvSpPr>
        <p:spPr bwMode="auto">
          <a:xfrm flipH="1">
            <a:off x="7221538" y="2201070"/>
            <a:ext cx="1587" cy="423862"/>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0" name="Line 15">
            <a:extLst>
              <a:ext uri="{FF2B5EF4-FFF2-40B4-BE49-F238E27FC236}">
                <a16:creationId xmlns:a16="http://schemas.microsoft.com/office/drawing/2014/main" id="{D1BE83B6-7D20-4E42-B33C-532B5E82FCE4}"/>
              </a:ext>
            </a:extLst>
          </p:cNvPr>
          <p:cNvSpPr>
            <a:spLocks noChangeShapeType="1"/>
          </p:cNvSpPr>
          <p:nvPr/>
        </p:nvSpPr>
        <p:spPr bwMode="auto">
          <a:xfrm flipV="1">
            <a:off x="4957763" y="1802607"/>
            <a:ext cx="0" cy="611188"/>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1" name="Line 16">
            <a:extLst>
              <a:ext uri="{FF2B5EF4-FFF2-40B4-BE49-F238E27FC236}">
                <a16:creationId xmlns:a16="http://schemas.microsoft.com/office/drawing/2014/main" id="{16CFC073-1714-4860-B687-47821B85AF0F}"/>
              </a:ext>
            </a:extLst>
          </p:cNvPr>
          <p:cNvSpPr>
            <a:spLocks noChangeShapeType="1"/>
          </p:cNvSpPr>
          <p:nvPr/>
        </p:nvSpPr>
        <p:spPr bwMode="auto">
          <a:xfrm flipH="1">
            <a:off x="4957763" y="2409032"/>
            <a:ext cx="581025"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2" name="Line 17">
            <a:extLst>
              <a:ext uri="{FF2B5EF4-FFF2-40B4-BE49-F238E27FC236}">
                <a16:creationId xmlns:a16="http://schemas.microsoft.com/office/drawing/2014/main" id="{47C189EC-6F76-45B4-98F5-65507342340E}"/>
              </a:ext>
            </a:extLst>
          </p:cNvPr>
          <p:cNvSpPr>
            <a:spLocks noChangeShapeType="1"/>
          </p:cNvSpPr>
          <p:nvPr/>
        </p:nvSpPr>
        <p:spPr bwMode="auto">
          <a:xfrm flipH="1">
            <a:off x="5537200" y="2226470"/>
            <a:ext cx="1588" cy="398462"/>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3" name="Line 18">
            <a:extLst>
              <a:ext uri="{FF2B5EF4-FFF2-40B4-BE49-F238E27FC236}">
                <a16:creationId xmlns:a16="http://schemas.microsoft.com/office/drawing/2014/main" id="{5272106D-7808-4425-837A-CA50B08B9059}"/>
              </a:ext>
            </a:extLst>
          </p:cNvPr>
          <p:cNvSpPr>
            <a:spLocks noChangeShapeType="1"/>
          </p:cNvSpPr>
          <p:nvPr/>
        </p:nvSpPr>
        <p:spPr bwMode="auto">
          <a:xfrm flipH="1">
            <a:off x="5538788" y="2201070"/>
            <a:ext cx="649287" cy="1270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4" name="Line 19">
            <a:extLst>
              <a:ext uri="{FF2B5EF4-FFF2-40B4-BE49-F238E27FC236}">
                <a16:creationId xmlns:a16="http://schemas.microsoft.com/office/drawing/2014/main" id="{280F76C7-2B32-49CA-97B0-98A80B8ACB27}"/>
              </a:ext>
            </a:extLst>
          </p:cNvPr>
          <p:cNvSpPr>
            <a:spLocks noChangeShapeType="1"/>
          </p:cNvSpPr>
          <p:nvPr/>
        </p:nvSpPr>
        <p:spPr bwMode="auto">
          <a:xfrm flipH="1" flipV="1">
            <a:off x="5538788" y="2624932"/>
            <a:ext cx="695325" cy="635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5" name="Text Box 20">
            <a:extLst>
              <a:ext uri="{FF2B5EF4-FFF2-40B4-BE49-F238E27FC236}">
                <a16:creationId xmlns:a16="http://schemas.microsoft.com/office/drawing/2014/main" id="{9F3D2F17-BA6F-4DC3-8955-3AD391BF02CA}"/>
              </a:ext>
            </a:extLst>
          </p:cNvPr>
          <p:cNvSpPr txBox="1">
            <a:spLocks noChangeArrowheads="1"/>
          </p:cNvSpPr>
          <p:nvPr/>
        </p:nvSpPr>
        <p:spPr bwMode="auto">
          <a:xfrm>
            <a:off x="2977356" y="3286941"/>
            <a:ext cx="1423988" cy="420688"/>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kumimoji="1" lang="zh-CN" altLang="en-US" sz="2133" dirty="0">
                <a:latin typeface="微软雅黑" panose="020B0503020204020204" pitchFamily="34" charset="-122"/>
                <a:ea typeface="微软雅黑" panose="020B0503020204020204" pitchFamily="34" charset="-122"/>
              </a:rPr>
              <a:t>项</a:t>
            </a:r>
            <a:endParaRPr kumimoji="1" lang="zh-CN" altLang="en-US" sz="3200" dirty="0">
              <a:latin typeface="微软雅黑" panose="020B0503020204020204" pitchFamily="34" charset="-122"/>
              <a:ea typeface="微软雅黑" panose="020B0503020204020204" pitchFamily="34" charset="-122"/>
            </a:endParaRPr>
          </a:p>
        </p:txBody>
      </p:sp>
      <p:sp>
        <p:nvSpPr>
          <p:cNvPr id="26" name="Line 21">
            <a:extLst>
              <a:ext uri="{FF2B5EF4-FFF2-40B4-BE49-F238E27FC236}">
                <a16:creationId xmlns:a16="http://schemas.microsoft.com/office/drawing/2014/main" id="{44939B71-F6F3-4DB7-918A-6BD0AA3B5C7E}"/>
              </a:ext>
            </a:extLst>
          </p:cNvPr>
          <p:cNvSpPr>
            <a:spLocks noChangeShapeType="1"/>
          </p:cNvSpPr>
          <p:nvPr/>
        </p:nvSpPr>
        <p:spPr bwMode="auto">
          <a:xfrm>
            <a:off x="4009231" y="3544116"/>
            <a:ext cx="1795463"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7" name="Line 22">
            <a:extLst>
              <a:ext uri="{FF2B5EF4-FFF2-40B4-BE49-F238E27FC236}">
                <a16:creationId xmlns:a16="http://schemas.microsoft.com/office/drawing/2014/main" id="{F4555F74-6E9C-499B-A3BB-BECA651920DF}"/>
              </a:ext>
            </a:extLst>
          </p:cNvPr>
          <p:cNvSpPr>
            <a:spLocks noChangeShapeType="1"/>
          </p:cNvSpPr>
          <p:nvPr/>
        </p:nvSpPr>
        <p:spPr bwMode="auto">
          <a:xfrm>
            <a:off x="7244556" y="3544116"/>
            <a:ext cx="1422400"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8" name="Oval 23">
            <a:extLst>
              <a:ext uri="{FF2B5EF4-FFF2-40B4-BE49-F238E27FC236}">
                <a16:creationId xmlns:a16="http://schemas.microsoft.com/office/drawing/2014/main" id="{420A1E90-9A0A-4C7F-A735-0725B6F9B591}"/>
              </a:ext>
            </a:extLst>
          </p:cNvPr>
          <p:cNvSpPr>
            <a:spLocks noChangeArrowheads="1"/>
          </p:cNvSpPr>
          <p:nvPr/>
        </p:nvSpPr>
        <p:spPr bwMode="auto">
          <a:xfrm>
            <a:off x="6404769" y="3788591"/>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81" name="Text Box 24">
            <a:extLst>
              <a:ext uri="{FF2B5EF4-FFF2-40B4-BE49-F238E27FC236}">
                <a16:creationId xmlns:a16="http://schemas.microsoft.com/office/drawing/2014/main" id="{3F6282E4-B2F8-49DB-A2B0-BBB21B6F8B2A}"/>
              </a:ext>
            </a:extLst>
          </p:cNvPr>
          <p:cNvSpPr txBox="1">
            <a:spLocks noChangeArrowheads="1"/>
          </p:cNvSpPr>
          <p:nvPr/>
        </p:nvSpPr>
        <p:spPr bwMode="auto">
          <a:xfrm flipH="1">
            <a:off x="6328569" y="3785416"/>
            <a:ext cx="47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200">
                <a:latin typeface="微软雅黑" panose="020B0503020204020204" pitchFamily="34" charset="-122"/>
                <a:ea typeface="微软雅黑" panose="020B0503020204020204" pitchFamily="34" charset="-122"/>
              </a:rPr>
              <a:t>*</a:t>
            </a:r>
          </a:p>
        </p:txBody>
      </p:sp>
      <p:sp>
        <p:nvSpPr>
          <p:cNvPr id="30" name="Oval 25">
            <a:extLst>
              <a:ext uri="{FF2B5EF4-FFF2-40B4-BE49-F238E27FC236}">
                <a16:creationId xmlns:a16="http://schemas.microsoft.com/office/drawing/2014/main" id="{5B84BA19-74B1-4204-B50C-29C13B688140}"/>
              </a:ext>
            </a:extLst>
          </p:cNvPr>
          <p:cNvSpPr>
            <a:spLocks noChangeArrowheads="1"/>
          </p:cNvSpPr>
          <p:nvPr/>
        </p:nvSpPr>
        <p:spPr bwMode="auto">
          <a:xfrm>
            <a:off x="6404769" y="4155304"/>
            <a:ext cx="323850" cy="325437"/>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83" name="Text Box 26">
            <a:extLst>
              <a:ext uri="{FF2B5EF4-FFF2-40B4-BE49-F238E27FC236}">
                <a16:creationId xmlns:a16="http://schemas.microsoft.com/office/drawing/2014/main" id="{725F3F61-8AD1-4822-93D6-3B7C6CEBABB6}"/>
              </a:ext>
            </a:extLst>
          </p:cNvPr>
          <p:cNvSpPr txBox="1">
            <a:spLocks noChangeArrowheads="1"/>
          </p:cNvSpPr>
          <p:nvPr/>
        </p:nvSpPr>
        <p:spPr bwMode="auto">
          <a:xfrm>
            <a:off x="6411119" y="4101329"/>
            <a:ext cx="3238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32" name="Line 27">
            <a:extLst>
              <a:ext uri="{FF2B5EF4-FFF2-40B4-BE49-F238E27FC236}">
                <a16:creationId xmlns:a16="http://schemas.microsoft.com/office/drawing/2014/main" id="{656EEB86-A524-4F1A-8E53-420D50AA742D}"/>
              </a:ext>
            </a:extLst>
          </p:cNvPr>
          <p:cNvSpPr>
            <a:spLocks noChangeShapeType="1"/>
          </p:cNvSpPr>
          <p:nvPr/>
        </p:nvSpPr>
        <p:spPr bwMode="auto">
          <a:xfrm flipH="1">
            <a:off x="8087519" y="3544116"/>
            <a:ext cx="0" cy="5683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3" name="Line 28">
            <a:extLst>
              <a:ext uri="{FF2B5EF4-FFF2-40B4-BE49-F238E27FC236}">
                <a16:creationId xmlns:a16="http://schemas.microsoft.com/office/drawing/2014/main" id="{C69B7AC0-4B3F-47FA-9331-61A05BD34EBD}"/>
              </a:ext>
            </a:extLst>
          </p:cNvPr>
          <p:cNvSpPr>
            <a:spLocks noChangeShapeType="1"/>
          </p:cNvSpPr>
          <p:nvPr/>
        </p:nvSpPr>
        <p:spPr bwMode="auto">
          <a:xfrm flipH="1" flipV="1">
            <a:off x="7379494" y="4112441"/>
            <a:ext cx="706437" cy="158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4" name="Line 29">
            <a:extLst>
              <a:ext uri="{FF2B5EF4-FFF2-40B4-BE49-F238E27FC236}">
                <a16:creationId xmlns:a16="http://schemas.microsoft.com/office/drawing/2014/main" id="{6F34F138-1C28-48BA-98E5-E07B700C5326}"/>
              </a:ext>
            </a:extLst>
          </p:cNvPr>
          <p:cNvSpPr>
            <a:spLocks noChangeShapeType="1"/>
          </p:cNvSpPr>
          <p:nvPr/>
        </p:nvSpPr>
        <p:spPr bwMode="auto">
          <a:xfrm flipH="1">
            <a:off x="6733381" y="3952104"/>
            <a:ext cx="64928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5" name="Line 30">
            <a:extLst>
              <a:ext uri="{FF2B5EF4-FFF2-40B4-BE49-F238E27FC236}">
                <a16:creationId xmlns:a16="http://schemas.microsoft.com/office/drawing/2014/main" id="{734FF976-7F4B-493B-8D85-81B663E2A0C6}"/>
              </a:ext>
            </a:extLst>
          </p:cNvPr>
          <p:cNvSpPr>
            <a:spLocks noChangeShapeType="1"/>
          </p:cNvSpPr>
          <p:nvPr/>
        </p:nvSpPr>
        <p:spPr bwMode="auto">
          <a:xfrm flipH="1">
            <a:off x="6734969" y="4298179"/>
            <a:ext cx="649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6" name="Line 31">
            <a:extLst>
              <a:ext uri="{FF2B5EF4-FFF2-40B4-BE49-F238E27FC236}">
                <a16:creationId xmlns:a16="http://schemas.microsoft.com/office/drawing/2014/main" id="{F2153ED6-AB5F-484E-995E-F4064708B979}"/>
              </a:ext>
            </a:extLst>
          </p:cNvPr>
          <p:cNvSpPr>
            <a:spLocks noChangeShapeType="1"/>
          </p:cNvSpPr>
          <p:nvPr/>
        </p:nvSpPr>
        <p:spPr bwMode="auto">
          <a:xfrm flipH="1">
            <a:off x="7379494" y="3952104"/>
            <a:ext cx="3175" cy="344487"/>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7" name="Line 32">
            <a:extLst>
              <a:ext uri="{FF2B5EF4-FFF2-40B4-BE49-F238E27FC236}">
                <a16:creationId xmlns:a16="http://schemas.microsoft.com/office/drawing/2014/main" id="{003887C2-B09E-43B1-B6B8-0F9A7EC219CF}"/>
              </a:ext>
            </a:extLst>
          </p:cNvPr>
          <p:cNvSpPr>
            <a:spLocks noChangeShapeType="1"/>
          </p:cNvSpPr>
          <p:nvPr/>
        </p:nvSpPr>
        <p:spPr bwMode="auto">
          <a:xfrm flipH="1" flipV="1">
            <a:off x="5174456" y="3544116"/>
            <a:ext cx="0" cy="568325"/>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8" name="Line 33">
            <a:extLst>
              <a:ext uri="{FF2B5EF4-FFF2-40B4-BE49-F238E27FC236}">
                <a16:creationId xmlns:a16="http://schemas.microsoft.com/office/drawing/2014/main" id="{182C95D3-9192-4EF3-A6A5-FA2574228CDD}"/>
              </a:ext>
            </a:extLst>
          </p:cNvPr>
          <p:cNvSpPr>
            <a:spLocks noChangeShapeType="1"/>
          </p:cNvSpPr>
          <p:nvPr/>
        </p:nvSpPr>
        <p:spPr bwMode="auto">
          <a:xfrm flipH="1">
            <a:off x="5174456" y="4112441"/>
            <a:ext cx="522288" cy="158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9" name="Line 34">
            <a:extLst>
              <a:ext uri="{FF2B5EF4-FFF2-40B4-BE49-F238E27FC236}">
                <a16:creationId xmlns:a16="http://schemas.microsoft.com/office/drawing/2014/main" id="{B4520890-B3B1-4E8D-BCE2-292ECCBB863F}"/>
              </a:ext>
            </a:extLst>
          </p:cNvPr>
          <p:cNvSpPr>
            <a:spLocks noChangeShapeType="1"/>
          </p:cNvSpPr>
          <p:nvPr/>
        </p:nvSpPr>
        <p:spPr bwMode="auto">
          <a:xfrm flipH="1">
            <a:off x="5696744" y="3952104"/>
            <a:ext cx="1587" cy="344487"/>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0" name="Line 35">
            <a:extLst>
              <a:ext uri="{FF2B5EF4-FFF2-40B4-BE49-F238E27FC236}">
                <a16:creationId xmlns:a16="http://schemas.microsoft.com/office/drawing/2014/main" id="{8EDC4777-FADB-453A-9E56-3A03E26D120A}"/>
              </a:ext>
            </a:extLst>
          </p:cNvPr>
          <p:cNvSpPr>
            <a:spLocks noChangeShapeType="1"/>
          </p:cNvSpPr>
          <p:nvPr/>
        </p:nvSpPr>
        <p:spPr bwMode="auto">
          <a:xfrm flipH="1" flipV="1">
            <a:off x="5698331" y="3952104"/>
            <a:ext cx="673100" cy="95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1" name="Line 36">
            <a:extLst>
              <a:ext uri="{FF2B5EF4-FFF2-40B4-BE49-F238E27FC236}">
                <a16:creationId xmlns:a16="http://schemas.microsoft.com/office/drawing/2014/main" id="{2429DBCC-90A7-4F83-B244-430E70437D9A}"/>
              </a:ext>
            </a:extLst>
          </p:cNvPr>
          <p:cNvSpPr>
            <a:spLocks noChangeShapeType="1"/>
          </p:cNvSpPr>
          <p:nvPr/>
        </p:nvSpPr>
        <p:spPr bwMode="auto">
          <a:xfrm flipH="1">
            <a:off x="5698331" y="4298179"/>
            <a:ext cx="673100"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2" name="Rectangle 37">
            <a:extLst>
              <a:ext uri="{FF2B5EF4-FFF2-40B4-BE49-F238E27FC236}">
                <a16:creationId xmlns:a16="http://schemas.microsoft.com/office/drawing/2014/main" id="{05B86737-609E-4522-BD7F-D88758A81014}"/>
              </a:ext>
            </a:extLst>
          </p:cNvPr>
          <p:cNvSpPr>
            <a:spLocks noChangeArrowheads="1"/>
          </p:cNvSpPr>
          <p:nvPr/>
        </p:nvSpPr>
        <p:spPr bwMode="auto">
          <a:xfrm>
            <a:off x="5803106" y="3398066"/>
            <a:ext cx="1443038" cy="322263"/>
          </a:xfrm>
          <a:prstGeom prst="rect">
            <a:avLst/>
          </a:prstGeom>
          <a:solidFill>
            <a:srgbClr val="0070C0"/>
          </a:solidFill>
          <a:ln w="25400" cap="sq">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因子</a:t>
            </a:r>
            <a:endParaRPr kumimoji="1"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3" name="Text Box 40">
            <a:extLst>
              <a:ext uri="{FF2B5EF4-FFF2-40B4-BE49-F238E27FC236}">
                <a16:creationId xmlns:a16="http://schemas.microsoft.com/office/drawing/2014/main" id="{CA4C572B-701A-4B17-8458-CA0B8FD02771}"/>
              </a:ext>
            </a:extLst>
          </p:cNvPr>
          <p:cNvSpPr txBox="1">
            <a:spLocks noChangeArrowheads="1"/>
          </p:cNvSpPr>
          <p:nvPr/>
        </p:nvSpPr>
        <p:spPr bwMode="auto">
          <a:xfrm>
            <a:off x="2958306" y="5269630"/>
            <a:ext cx="1339850" cy="420688"/>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kumimoji="1" lang="zh-CN" altLang="en-US" sz="2133" dirty="0">
                <a:latin typeface="微软雅黑" panose="020B0503020204020204" pitchFamily="34" charset="-122"/>
                <a:ea typeface="微软雅黑" panose="020B0503020204020204" pitchFamily="34" charset="-122"/>
              </a:rPr>
              <a:t>因子</a:t>
            </a:r>
          </a:p>
        </p:txBody>
      </p:sp>
      <p:sp>
        <p:nvSpPr>
          <p:cNvPr id="44" name="Line 41">
            <a:extLst>
              <a:ext uri="{FF2B5EF4-FFF2-40B4-BE49-F238E27FC236}">
                <a16:creationId xmlns:a16="http://schemas.microsoft.com/office/drawing/2014/main" id="{90F6C4D5-473F-4F22-8849-CC28D9421615}"/>
              </a:ext>
            </a:extLst>
          </p:cNvPr>
          <p:cNvSpPr>
            <a:spLocks noChangeShapeType="1"/>
          </p:cNvSpPr>
          <p:nvPr/>
        </p:nvSpPr>
        <p:spPr bwMode="auto">
          <a:xfrm>
            <a:off x="3693319" y="5485530"/>
            <a:ext cx="776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5" name="Line 42">
            <a:extLst>
              <a:ext uri="{FF2B5EF4-FFF2-40B4-BE49-F238E27FC236}">
                <a16:creationId xmlns:a16="http://schemas.microsoft.com/office/drawing/2014/main" id="{7D6F83D0-43E1-4F1D-B27A-9C42E7E4509A}"/>
              </a:ext>
            </a:extLst>
          </p:cNvPr>
          <p:cNvSpPr>
            <a:spLocks noChangeShapeType="1"/>
          </p:cNvSpPr>
          <p:nvPr/>
        </p:nvSpPr>
        <p:spPr bwMode="auto">
          <a:xfrm>
            <a:off x="7254081" y="5244230"/>
            <a:ext cx="454025"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6" name="Line 43">
            <a:extLst>
              <a:ext uri="{FF2B5EF4-FFF2-40B4-BE49-F238E27FC236}">
                <a16:creationId xmlns:a16="http://schemas.microsoft.com/office/drawing/2014/main" id="{20444A88-42F6-453D-B492-133EDCC83C03}"/>
              </a:ext>
            </a:extLst>
          </p:cNvPr>
          <p:cNvSpPr>
            <a:spLocks noChangeShapeType="1"/>
          </p:cNvSpPr>
          <p:nvPr/>
        </p:nvSpPr>
        <p:spPr bwMode="auto">
          <a:xfrm>
            <a:off x="8743156" y="5252168"/>
            <a:ext cx="0" cy="4032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7" name="Line 44">
            <a:extLst>
              <a:ext uri="{FF2B5EF4-FFF2-40B4-BE49-F238E27FC236}">
                <a16:creationId xmlns:a16="http://schemas.microsoft.com/office/drawing/2014/main" id="{7C3C7A10-2EA2-4867-B453-83C74AC432D4}"/>
              </a:ext>
            </a:extLst>
          </p:cNvPr>
          <p:cNvSpPr>
            <a:spLocks noChangeShapeType="1"/>
          </p:cNvSpPr>
          <p:nvPr/>
        </p:nvSpPr>
        <p:spPr bwMode="auto">
          <a:xfrm flipH="1">
            <a:off x="7263606" y="5663330"/>
            <a:ext cx="1455738"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8" name="Line 45">
            <a:extLst>
              <a:ext uri="{FF2B5EF4-FFF2-40B4-BE49-F238E27FC236}">
                <a16:creationId xmlns:a16="http://schemas.microsoft.com/office/drawing/2014/main" id="{5E7FC9DC-4238-4B7D-B648-EA20DDE43AEF}"/>
              </a:ext>
            </a:extLst>
          </p:cNvPr>
          <p:cNvSpPr>
            <a:spLocks noChangeShapeType="1"/>
          </p:cNvSpPr>
          <p:nvPr/>
        </p:nvSpPr>
        <p:spPr bwMode="auto">
          <a:xfrm flipV="1">
            <a:off x="4480719" y="5228355"/>
            <a:ext cx="481012"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1" name="Rectangle 46">
            <a:extLst>
              <a:ext uri="{FF2B5EF4-FFF2-40B4-BE49-F238E27FC236}">
                <a16:creationId xmlns:a16="http://schemas.microsoft.com/office/drawing/2014/main" id="{662E74FB-07D3-4127-9E56-D4401EA6CAC0}"/>
              </a:ext>
            </a:extLst>
          </p:cNvPr>
          <p:cNvSpPr>
            <a:spLocks noChangeArrowheads="1"/>
          </p:cNvSpPr>
          <p:nvPr/>
        </p:nvSpPr>
        <p:spPr bwMode="auto">
          <a:xfrm>
            <a:off x="5893594" y="5069605"/>
            <a:ext cx="1360487" cy="323850"/>
          </a:xfrm>
          <a:prstGeom prst="rect">
            <a:avLst/>
          </a:prstGeom>
          <a:solidFill>
            <a:srgbClr val="0070C0"/>
          </a:solidFill>
          <a:ln w="25400" cap="sq">
            <a:solidFill>
              <a:srgbClr val="0070C0"/>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100">
                <a:solidFill>
                  <a:schemeClr val="bg1"/>
                </a:solidFill>
                <a:latin typeface="微软雅黑" panose="020B0503020204020204" pitchFamily="34" charset="-122"/>
                <a:ea typeface="微软雅黑" panose="020B0503020204020204" pitchFamily="34" charset="-122"/>
              </a:rPr>
              <a:t>表达式</a:t>
            </a:r>
          </a:p>
        </p:txBody>
      </p:sp>
      <p:sp>
        <p:nvSpPr>
          <p:cNvPr id="50" name="Oval 47">
            <a:extLst>
              <a:ext uri="{FF2B5EF4-FFF2-40B4-BE49-F238E27FC236}">
                <a16:creationId xmlns:a16="http://schemas.microsoft.com/office/drawing/2014/main" id="{6E69A9D9-0064-4999-912C-A888E45886B0}"/>
              </a:ext>
            </a:extLst>
          </p:cNvPr>
          <p:cNvSpPr>
            <a:spLocks noChangeArrowheads="1"/>
          </p:cNvSpPr>
          <p:nvPr/>
        </p:nvSpPr>
        <p:spPr bwMode="auto">
          <a:xfrm>
            <a:off x="4936331" y="5071193"/>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3" name="Text Box 48">
            <a:extLst>
              <a:ext uri="{FF2B5EF4-FFF2-40B4-BE49-F238E27FC236}">
                <a16:creationId xmlns:a16="http://schemas.microsoft.com/office/drawing/2014/main" id="{AC6983ED-B29C-4460-99AC-FBFEA6470544}"/>
              </a:ext>
            </a:extLst>
          </p:cNvPr>
          <p:cNvSpPr txBox="1">
            <a:spLocks noChangeArrowheads="1"/>
          </p:cNvSpPr>
          <p:nvPr/>
        </p:nvSpPr>
        <p:spPr bwMode="auto">
          <a:xfrm>
            <a:off x="4949031" y="4999755"/>
            <a:ext cx="3238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52" name="Oval 49">
            <a:extLst>
              <a:ext uri="{FF2B5EF4-FFF2-40B4-BE49-F238E27FC236}">
                <a16:creationId xmlns:a16="http://schemas.microsoft.com/office/drawing/2014/main" id="{8E227E6C-7B1C-47C8-99FD-54543E750076}"/>
              </a:ext>
            </a:extLst>
          </p:cNvPr>
          <p:cNvSpPr>
            <a:spLocks noChangeArrowheads="1"/>
          </p:cNvSpPr>
          <p:nvPr/>
        </p:nvSpPr>
        <p:spPr bwMode="auto">
          <a:xfrm>
            <a:off x="7709694" y="5082305"/>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5" name="Text Box 50">
            <a:extLst>
              <a:ext uri="{FF2B5EF4-FFF2-40B4-BE49-F238E27FC236}">
                <a16:creationId xmlns:a16="http://schemas.microsoft.com/office/drawing/2014/main" id="{B51FB49E-0B47-42B4-8180-81EA86318BB9}"/>
              </a:ext>
            </a:extLst>
          </p:cNvPr>
          <p:cNvSpPr txBox="1">
            <a:spLocks noChangeArrowheads="1"/>
          </p:cNvSpPr>
          <p:nvPr/>
        </p:nvSpPr>
        <p:spPr bwMode="auto">
          <a:xfrm>
            <a:off x="7746206" y="5015630"/>
            <a:ext cx="376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54" name="Line 51">
            <a:extLst>
              <a:ext uri="{FF2B5EF4-FFF2-40B4-BE49-F238E27FC236}">
                <a16:creationId xmlns:a16="http://schemas.microsoft.com/office/drawing/2014/main" id="{8B27FA42-9E2F-4C6B-BBC0-02995ABF0544}"/>
              </a:ext>
            </a:extLst>
          </p:cNvPr>
          <p:cNvSpPr>
            <a:spLocks noChangeShapeType="1"/>
          </p:cNvSpPr>
          <p:nvPr/>
        </p:nvSpPr>
        <p:spPr bwMode="auto">
          <a:xfrm>
            <a:off x="5285581" y="5228355"/>
            <a:ext cx="633413" cy="1270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5" name="Line 52">
            <a:extLst>
              <a:ext uri="{FF2B5EF4-FFF2-40B4-BE49-F238E27FC236}">
                <a16:creationId xmlns:a16="http://schemas.microsoft.com/office/drawing/2014/main" id="{5668E97F-7FFB-40CB-AE44-A6F3AD9B6F0C}"/>
              </a:ext>
            </a:extLst>
          </p:cNvPr>
          <p:cNvSpPr>
            <a:spLocks noChangeShapeType="1"/>
          </p:cNvSpPr>
          <p:nvPr/>
        </p:nvSpPr>
        <p:spPr bwMode="auto">
          <a:xfrm flipH="1">
            <a:off x="8033544" y="5244230"/>
            <a:ext cx="709612" cy="793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6" name="Line 53">
            <a:extLst>
              <a:ext uri="{FF2B5EF4-FFF2-40B4-BE49-F238E27FC236}">
                <a16:creationId xmlns:a16="http://schemas.microsoft.com/office/drawing/2014/main" id="{9F5F75A5-9435-445B-ABDA-43A444C9491B}"/>
              </a:ext>
            </a:extLst>
          </p:cNvPr>
          <p:cNvSpPr>
            <a:spLocks noChangeShapeType="1"/>
          </p:cNvSpPr>
          <p:nvPr/>
        </p:nvSpPr>
        <p:spPr bwMode="auto">
          <a:xfrm>
            <a:off x="8743156" y="5471243"/>
            <a:ext cx="1033463"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7" name="Rectangle 54">
            <a:extLst>
              <a:ext uri="{FF2B5EF4-FFF2-40B4-BE49-F238E27FC236}">
                <a16:creationId xmlns:a16="http://schemas.microsoft.com/office/drawing/2014/main" id="{FA2C065E-7CA9-4A9D-B0E2-FCD8C83B587F}"/>
              </a:ext>
            </a:extLst>
          </p:cNvPr>
          <p:cNvSpPr>
            <a:spLocks noChangeArrowheads="1"/>
          </p:cNvSpPr>
          <p:nvPr/>
        </p:nvSpPr>
        <p:spPr bwMode="auto">
          <a:xfrm>
            <a:off x="5893594" y="5550618"/>
            <a:ext cx="1360487" cy="311150"/>
          </a:xfrm>
          <a:prstGeom prst="rect">
            <a:avLst/>
          </a:prstGeom>
          <a:solidFill>
            <a:srgbClr val="0070C0"/>
          </a:solidFill>
          <a:ln w="25400" cap="sq" algn="ctr">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常数</a:t>
            </a:r>
          </a:p>
        </p:txBody>
      </p:sp>
      <p:sp>
        <p:nvSpPr>
          <p:cNvPr id="58" name="Line 55">
            <a:extLst>
              <a:ext uri="{FF2B5EF4-FFF2-40B4-BE49-F238E27FC236}">
                <a16:creationId xmlns:a16="http://schemas.microsoft.com/office/drawing/2014/main" id="{7A841A88-3AE9-4CA5-9EAB-F71D30222E02}"/>
              </a:ext>
            </a:extLst>
          </p:cNvPr>
          <p:cNvSpPr>
            <a:spLocks noChangeShapeType="1"/>
          </p:cNvSpPr>
          <p:nvPr/>
        </p:nvSpPr>
        <p:spPr bwMode="auto">
          <a:xfrm>
            <a:off x="4469606" y="5228355"/>
            <a:ext cx="0" cy="45243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9" name="Line 56">
            <a:extLst>
              <a:ext uri="{FF2B5EF4-FFF2-40B4-BE49-F238E27FC236}">
                <a16:creationId xmlns:a16="http://schemas.microsoft.com/office/drawing/2014/main" id="{6DB075D1-12D9-404C-BC23-872A1601331A}"/>
              </a:ext>
            </a:extLst>
          </p:cNvPr>
          <p:cNvSpPr>
            <a:spLocks noChangeShapeType="1"/>
          </p:cNvSpPr>
          <p:nvPr/>
        </p:nvSpPr>
        <p:spPr bwMode="auto">
          <a:xfrm flipV="1">
            <a:off x="4469606" y="5680793"/>
            <a:ext cx="145573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a:extLst>
              <a:ext uri="{FF2B5EF4-FFF2-40B4-BE49-F238E27FC236}">
                <a16:creationId xmlns:a16="http://schemas.microsoft.com/office/drawing/2014/main" id="{FDBC1314-FD64-4669-99AC-9E9F0D6ACC7C}"/>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a:t>
            </a:r>
          </a:p>
        </p:txBody>
      </p:sp>
      <p:sp>
        <p:nvSpPr>
          <p:cNvPr id="3" name="文本占位符 2">
            <a:extLst>
              <a:ext uri="{FF2B5EF4-FFF2-40B4-BE49-F238E27FC236}">
                <a16:creationId xmlns:a16="http://schemas.microsoft.com/office/drawing/2014/main" id="{87A0D70C-136F-4717-9BB4-3B55E129F837}"/>
              </a:ext>
            </a:extLst>
          </p:cNvPr>
          <p:cNvSpPr>
            <a:spLocks noGrp="1"/>
          </p:cNvSpPr>
          <p:nvPr>
            <p:ph type="body" idx="10"/>
          </p:nvPr>
        </p:nvSpPr>
        <p:spPr/>
        <p:txBody>
          <a:bodyPr/>
          <a:lstStyle/>
          <a:p>
            <a:endParaRPr lang="zh-CN" altLang="en-US"/>
          </a:p>
        </p:txBody>
      </p:sp>
      <p:sp>
        <p:nvSpPr>
          <p:cNvPr id="71683" name="内容占位符 2">
            <a:extLst>
              <a:ext uri="{FF2B5EF4-FFF2-40B4-BE49-F238E27FC236}">
                <a16:creationId xmlns:a16="http://schemas.microsoft.com/office/drawing/2014/main" id="{9F8964D0-F28B-4422-85DD-13310BA2ADD8}"/>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a:lnSpc>
                <a:spcPct val="110000"/>
              </a:lnSpc>
              <a:spcBef>
                <a:spcPts val="600"/>
              </a:spcBef>
              <a:buFont typeface="Wingdings" panose="05000000000000000000" pitchFamily="2" charset="2"/>
              <a:buChar char="l"/>
            </a:pPr>
            <a:r>
              <a:rPr lang="zh-CN" altLang="zh-CN" sz="2400" dirty="0">
                <a:solidFill>
                  <a:srgbClr val="0000FF"/>
                </a:solidFill>
                <a:latin typeface="微软雅黑" panose="020B0503020204020204" pitchFamily="34" charset="-122"/>
                <a:ea typeface="微软雅黑" panose="020B0503020204020204" pitchFamily="34" charset="-122"/>
              </a:rPr>
              <a:t>特点 </a:t>
            </a:r>
            <a:endParaRPr lang="en-US" altLang="zh-CN" sz="2400" dirty="0">
              <a:solidFill>
                <a:srgbClr val="0000FF"/>
              </a:solidFill>
              <a:latin typeface="微软雅黑" panose="020B0503020204020204" pitchFamily="34" charset="-122"/>
              <a:ea typeface="微软雅黑" panose="020B0503020204020204" pitchFamily="34" charset="-122"/>
            </a:endParaRPr>
          </a:p>
          <a:p>
            <a:pPr marL="712788" lvl="1" indent="-369888">
              <a:lnSpc>
                <a:spcPct val="110000"/>
              </a:lnSpc>
              <a:spcBef>
                <a:spcPts val="600"/>
              </a:spcBef>
              <a:buClr>
                <a:srgbClr val="CC3300"/>
              </a:buClr>
              <a:buFont typeface="Wingdings" panose="05000000000000000000" pitchFamily="2" charset="2"/>
              <a:buChar char="ü"/>
            </a:pPr>
            <a:r>
              <a:rPr lang="zh-CN" altLang="zh-CN" sz="2000" dirty="0">
                <a:latin typeface="微软雅黑" panose="020B0503020204020204" pitchFamily="34" charset="-122"/>
                <a:ea typeface="微软雅黑" panose="020B0503020204020204" pitchFamily="34" charset="-122"/>
              </a:rPr>
              <a:t>运算符在</a:t>
            </a:r>
            <a:r>
              <a:rPr lang="zh-CN" altLang="zh-CN" sz="2000" dirty="0">
                <a:solidFill>
                  <a:srgbClr val="0000FF"/>
                </a:solidFill>
                <a:latin typeface="微软雅黑" panose="020B0503020204020204" pitchFamily="34" charset="-122"/>
                <a:ea typeface="微软雅黑" panose="020B0503020204020204" pitchFamily="34" charset="-122"/>
              </a:rPr>
              <a:t>中间</a:t>
            </a:r>
          </a:p>
          <a:p>
            <a:pPr marL="712788" lvl="1" indent="-369888">
              <a:lnSpc>
                <a:spcPct val="110000"/>
              </a:lnSpc>
              <a:spcBef>
                <a:spcPts val="600"/>
              </a:spcBef>
              <a:buClr>
                <a:srgbClr val="CC3300"/>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运算优先级可由</a:t>
            </a:r>
            <a:r>
              <a:rPr lang="zh-CN" altLang="zh-CN" sz="2000" dirty="0">
                <a:solidFill>
                  <a:srgbClr val="0000FF"/>
                </a:solidFill>
                <a:latin typeface="微软雅黑" panose="020B0503020204020204" pitchFamily="34" charset="-122"/>
                <a:ea typeface="微软雅黑" panose="020B0503020204020204" pitchFamily="34" charset="-122"/>
              </a:rPr>
              <a:t>括号</a:t>
            </a:r>
            <a:r>
              <a:rPr lang="zh-CN" altLang="zh-CN" sz="2000" dirty="0">
                <a:latin typeface="微软雅黑" panose="020B0503020204020204" pitchFamily="34" charset="-122"/>
                <a:ea typeface="微软雅黑" panose="020B0503020204020204" pitchFamily="34" charset="-122"/>
              </a:rPr>
              <a:t>改变</a:t>
            </a:r>
            <a:endParaRPr lang="en-US" altLang="zh-CN" sz="2000" dirty="0">
              <a:latin typeface="微软雅黑" panose="020B0503020204020204" pitchFamily="34" charset="-122"/>
              <a:ea typeface="微软雅黑" panose="020B0503020204020204" pitchFamily="34" charset="-122"/>
            </a:endParaRPr>
          </a:p>
          <a:p>
            <a:pPr marL="628650" lvl="1" indent="-285750">
              <a:lnSpc>
                <a:spcPct val="105000"/>
              </a:lnSpc>
              <a:spcBef>
                <a:spcPts val="600"/>
              </a:spcBef>
              <a:buClr>
                <a:srgbClr val="CC3300"/>
              </a:buClr>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buFont typeface="Wingdings" panose="05000000000000000000" pitchFamily="2" charset="2"/>
              <a:buNone/>
              <a:defRPr/>
            </a:pPr>
            <a:r>
              <a:rPr lang="pt-BR" altLang="zh-CN" dirty="0">
                <a:latin typeface="微软雅黑" panose="020B0503020204020204" pitchFamily="34" charset="-122"/>
                <a:ea typeface="微软雅黑" panose="020B0503020204020204" pitchFamily="34" charset="-122"/>
              </a:rPr>
              <a:t>4 * x * (2 * x + a) – c</a:t>
            </a:r>
            <a:endParaRPr lang="zh-CN" altLang="zh-CN" sz="2000" dirty="0">
              <a:latin typeface="微软雅黑" panose="020B0503020204020204" pitchFamily="34" charset="-122"/>
              <a:ea typeface="微软雅黑" panose="020B0503020204020204" pitchFamily="34" charset="-122"/>
            </a:endParaRPr>
          </a:p>
          <a:p>
            <a:pPr>
              <a:lnSpc>
                <a:spcPct val="105000"/>
              </a:lnSpc>
              <a:spcBef>
                <a:spcPts val="600"/>
              </a:spcBef>
            </a:pPr>
            <a:endParaRPr lang="zh-CN" altLang="zh-CN" dirty="0">
              <a:latin typeface="微软雅黑" panose="020B0503020204020204" pitchFamily="34" charset="-122"/>
              <a:ea typeface="微软雅黑" panose="020B0503020204020204" pitchFamily="34" charset="-122"/>
            </a:endParaRPr>
          </a:p>
        </p:txBody>
      </p:sp>
      <p:grpSp>
        <p:nvGrpSpPr>
          <p:cNvPr id="71685" name="组合 6">
            <a:extLst>
              <a:ext uri="{FF2B5EF4-FFF2-40B4-BE49-F238E27FC236}">
                <a16:creationId xmlns:a16="http://schemas.microsoft.com/office/drawing/2014/main" id="{99D245B2-E23C-48E8-9055-94B1929F180A}"/>
              </a:ext>
            </a:extLst>
          </p:cNvPr>
          <p:cNvGrpSpPr>
            <a:grpSpLocks/>
          </p:cNvGrpSpPr>
          <p:nvPr/>
        </p:nvGrpSpPr>
        <p:grpSpPr bwMode="auto">
          <a:xfrm>
            <a:off x="6900863" y="1252537"/>
            <a:ext cx="3817937" cy="3305175"/>
            <a:chOff x="5409406" y="1953875"/>
            <a:chExt cx="4992567" cy="4319555"/>
          </a:xfrm>
        </p:grpSpPr>
        <p:grpSp>
          <p:nvGrpSpPr>
            <p:cNvPr id="71686" name="Group 4">
              <a:extLst>
                <a:ext uri="{FF2B5EF4-FFF2-40B4-BE49-F238E27FC236}">
                  <a16:creationId xmlns:a16="http://schemas.microsoft.com/office/drawing/2014/main" id="{4A29AE40-C560-43C2-976F-F51FE5531CC8}"/>
                </a:ext>
              </a:extLst>
            </p:cNvPr>
            <p:cNvGrpSpPr>
              <a:grpSpLocks/>
            </p:cNvGrpSpPr>
            <p:nvPr/>
          </p:nvGrpSpPr>
          <p:grpSpPr bwMode="auto">
            <a:xfrm>
              <a:off x="7809393" y="1953875"/>
              <a:ext cx="1441263" cy="383067"/>
              <a:chOff x="3651" y="1344"/>
              <a:chExt cx="681" cy="181"/>
            </a:xfrm>
          </p:grpSpPr>
          <p:sp>
            <p:nvSpPr>
              <p:cNvPr id="44" name="Rectangle 5">
                <a:extLst>
                  <a:ext uri="{FF2B5EF4-FFF2-40B4-BE49-F238E27FC236}">
                    <a16:creationId xmlns:a16="http://schemas.microsoft.com/office/drawing/2014/main" id="{5E25770C-BD9B-4442-891D-C7D98C077307}"/>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45" name="Rectangle 6">
                <a:extLst>
                  <a:ext uri="{FF2B5EF4-FFF2-40B4-BE49-F238E27FC236}">
                    <a16:creationId xmlns:a16="http://schemas.microsoft.com/office/drawing/2014/main" id="{1F96AA80-1AE0-44B1-B2F6-4B0E4E3D45A8}"/>
                  </a:ext>
                </a:extLst>
              </p:cNvPr>
              <p:cNvSpPr>
                <a:spLocks noChangeArrowheads="1"/>
              </p:cNvSpPr>
              <p:nvPr/>
            </p:nvSpPr>
            <p:spPr bwMode="auto">
              <a:xfrm>
                <a:off x="3876"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dirty="0">
                    <a:solidFill>
                      <a:srgbClr val="1F497D"/>
                    </a:solidFill>
                    <a:latin typeface="微软雅黑" pitchFamily="34" charset="-122"/>
                    <a:ea typeface="微软雅黑" pitchFamily="34" charset="-122"/>
                  </a:rPr>
                  <a:t>-</a:t>
                </a:r>
              </a:p>
            </p:txBody>
          </p:sp>
          <p:sp>
            <p:nvSpPr>
              <p:cNvPr id="46" name="Rectangle 7">
                <a:extLst>
                  <a:ext uri="{FF2B5EF4-FFF2-40B4-BE49-F238E27FC236}">
                    <a16:creationId xmlns:a16="http://schemas.microsoft.com/office/drawing/2014/main" id="{DCE07A2F-F969-4207-BBB6-4045DE298E40}"/>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7" name="Group 8">
              <a:extLst>
                <a:ext uri="{FF2B5EF4-FFF2-40B4-BE49-F238E27FC236}">
                  <a16:creationId xmlns:a16="http://schemas.microsoft.com/office/drawing/2014/main" id="{3DC84986-C244-44FF-BEA1-5D497B67E5AF}"/>
                </a:ext>
              </a:extLst>
            </p:cNvPr>
            <p:cNvGrpSpPr>
              <a:grpSpLocks/>
            </p:cNvGrpSpPr>
            <p:nvPr/>
          </p:nvGrpSpPr>
          <p:grpSpPr bwMode="auto">
            <a:xfrm>
              <a:off x="6465486" y="2811016"/>
              <a:ext cx="1441262" cy="395766"/>
              <a:chOff x="3651" y="1341"/>
              <a:chExt cx="681" cy="187"/>
            </a:xfrm>
          </p:grpSpPr>
          <p:sp>
            <p:nvSpPr>
              <p:cNvPr id="41" name="Rectangle 9">
                <a:extLst>
                  <a:ext uri="{FF2B5EF4-FFF2-40B4-BE49-F238E27FC236}">
                    <a16:creationId xmlns:a16="http://schemas.microsoft.com/office/drawing/2014/main" id="{8BC7F413-76B0-4DFD-9F04-4FF6C56255D3}"/>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42" name="Rectangle 10">
                <a:extLst>
                  <a:ext uri="{FF2B5EF4-FFF2-40B4-BE49-F238E27FC236}">
                    <a16:creationId xmlns:a16="http://schemas.microsoft.com/office/drawing/2014/main" id="{DD65E615-E262-43E5-B061-1002DDB0C1D1}"/>
                  </a:ext>
                </a:extLst>
              </p:cNvPr>
              <p:cNvSpPr>
                <a:spLocks noChangeArrowheads="1"/>
              </p:cNvSpPr>
              <p:nvPr/>
            </p:nvSpPr>
            <p:spPr bwMode="auto">
              <a:xfrm>
                <a:off x="3878" y="1341"/>
                <a:ext cx="231" cy="187"/>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43" name="Rectangle 11">
                <a:extLst>
                  <a:ext uri="{FF2B5EF4-FFF2-40B4-BE49-F238E27FC236}">
                    <a16:creationId xmlns:a16="http://schemas.microsoft.com/office/drawing/2014/main" id="{44619657-1E7F-437F-9BF3-D6710514256C}"/>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8" name="Group 12">
              <a:extLst>
                <a:ext uri="{FF2B5EF4-FFF2-40B4-BE49-F238E27FC236}">
                  <a16:creationId xmlns:a16="http://schemas.microsoft.com/office/drawing/2014/main" id="{6B9C7C37-36D3-4613-B824-3F758641A3A6}"/>
                </a:ext>
              </a:extLst>
            </p:cNvPr>
            <p:cNvGrpSpPr>
              <a:grpSpLocks/>
            </p:cNvGrpSpPr>
            <p:nvPr/>
          </p:nvGrpSpPr>
          <p:grpSpPr bwMode="auto">
            <a:xfrm>
              <a:off x="5409406" y="3873443"/>
              <a:ext cx="1441263" cy="383066"/>
              <a:chOff x="3651" y="1344"/>
              <a:chExt cx="681" cy="181"/>
            </a:xfrm>
          </p:grpSpPr>
          <p:sp>
            <p:nvSpPr>
              <p:cNvPr id="38" name="Rectangle 13">
                <a:extLst>
                  <a:ext uri="{FF2B5EF4-FFF2-40B4-BE49-F238E27FC236}">
                    <a16:creationId xmlns:a16="http://schemas.microsoft.com/office/drawing/2014/main" id="{BDD71F31-411E-4384-A17C-3917AA4DB9EC}"/>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39" name="Rectangle 14">
                <a:extLst>
                  <a:ext uri="{FF2B5EF4-FFF2-40B4-BE49-F238E27FC236}">
                    <a16:creationId xmlns:a16="http://schemas.microsoft.com/office/drawing/2014/main" id="{28CD6C73-61B8-4554-9AAD-6A19C4B2D94E}"/>
                  </a:ext>
                </a:extLst>
              </p:cNvPr>
              <p:cNvSpPr>
                <a:spLocks noChangeArrowheads="1"/>
              </p:cNvSpPr>
              <p:nvPr/>
            </p:nvSpPr>
            <p:spPr bwMode="auto">
              <a:xfrm>
                <a:off x="3878"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40" name="Rectangle 15">
                <a:extLst>
                  <a:ext uri="{FF2B5EF4-FFF2-40B4-BE49-F238E27FC236}">
                    <a16:creationId xmlns:a16="http://schemas.microsoft.com/office/drawing/2014/main" id="{358C941D-4A07-48DE-B7C2-CDE899387E22}"/>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9" name="Group 16">
              <a:extLst>
                <a:ext uri="{FF2B5EF4-FFF2-40B4-BE49-F238E27FC236}">
                  <a16:creationId xmlns:a16="http://schemas.microsoft.com/office/drawing/2014/main" id="{B525F9C8-11B2-4A06-90DB-D75966034721}"/>
                </a:ext>
              </a:extLst>
            </p:cNvPr>
            <p:cNvGrpSpPr>
              <a:grpSpLocks/>
            </p:cNvGrpSpPr>
            <p:nvPr/>
          </p:nvGrpSpPr>
          <p:grpSpPr bwMode="auto">
            <a:xfrm>
              <a:off x="8192461" y="3873443"/>
              <a:ext cx="1441262" cy="383066"/>
              <a:chOff x="3651" y="1344"/>
              <a:chExt cx="681" cy="181"/>
            </a:xfrm>
          </p:grpSpPr>
          <p:sp>
            <p:nvSpPr>
              <p:cNvPr id="35" name="Rectangle 17">
                <a:extLst>
                  <a:ext uri="{FF2B5EF4-FFF2-40B4-BE49-F238E27FC236}">
                    <a16:creationId xmlns:a16="http://schemas.microsoft.com/office/drawing/2014/main" id="{8F315114-A13D-4388-8628-B24FF1969BE1}"/>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71714" name="Rectangle 18">
                <a:extLst>
                  <a:ext uri="{FF2B5EF4-FFF2-40B4-BE49-F238E27FC236}">
                    <a16:creationId xmlns:a16="http://schemas.microsoft.com/office/drawing/2014/main" id="{2E5001CB-BB27-4905-8B57-A25BE12A4060}"/>
                  </a:ext>
                </a:extLst>
              </p:cNvPr>
              <p:cNvSpPr>
                <a:spLocks noChangeArrowheads="1"/>
              </p:cNvSpPr>
              <p:nvPr/>
            </p:nvSpPr>
            <p:spPr bwMode="auto">
              <a:xfrm>
                <a:off x="3878" y="1344"/>
                <a:ext cx="231" cy="181"/>
              </a:xfrm>
              <a:prstGeom prst="rect">
                <a:avLst/>
              </a:prstGeom>
              <a:solidFill>
                <a:srgbClr val="CCECFF"/>
              </a:solidFill>
              <a:ln w="38100">
                <a:solidFill>
                  <a:srgbClr val="000000"/>
                </a:solidFill>
                <a:miter lim="800000"/>
                <a:headEnd/>
                <a:tailEnd/>
              </a:ln>
            </p:spPr>
            <p:txBody>
              <a:bodyPr wrap="none" anchor="ctr"/>
              <a:lstStyle>
                <a:lvl1pPr marL="455613" indent="-455613" defTabSz="1217613">
                  <a:defRPr>
                    <a:solidFill>
                      <a:schemeClr val="tx1"/>
                    </a:solidFill>
                    <a:latin typeface="Arial" panose="020B0604020202020204" pitchFamily="34" charset="0"/>
                    <a:ea typeface="宋体" panose="02010600030101010101" pitchFamily="2" charset="-122"/>
                  </a:defRPr>
                </a:lvl1pPr>
                <a:lvl2pPr marL="742950" indent="-285750" defTabSz="1217613">
                  <a:defRPr>
                    <a:solidFill>
                      <a:schemeClr val="tx1"/>
                    </a:solidFill>
                    <a:latin typeface="Arial" panose="020B0604020202020204" pitchFamily="34" charset="0"/>
                    <a:ea typeface="宋体" panose="02010600030101010101" pitchFamily="2" charset="-122"/>
                  </a:defRPr>
                </a:lvl2pPr>
                <a:lvl3pPr marL="1143000" indent="-228600" defTabSz="1217613">
                  <a:defRPr>
                    <a:solidFill>
                      <a:schemeClr val="tx1"/>
                    </a:solidFill>
                    <a:latin typeface="Arial" panose="020B0604020202020204" pitchFamily="34" charset="0"/>
                    <a:ea typeface="宋体" panose="02010600030101010101" pitchFamily="2" charset="-122"/>
                  </a:defRPr>
                </a:lvl3pPr>
                <a:lvl4pPr marL="1600200" indent="-228600" defTabSz="1217613">
                  <a:defRPr>
                    <a:solidFill>
                      <a:schemeClr val="tx1"/>
                    </a:solidFill>
                    <a:latin typeface="Arial" panose="020B0604020202020204" pitchFamily="34" charset="0"/>
                    <a:ea typeface="宋体" panose="02010600030101010101" pitchFamily="2" charset="-122"/>
                  </a:defRPr>
                </a:lvl4pPr>
                <a:lvl5pPr marL="2057400" indent="-228600" defTabSz="1217613">
                  <a:defRPr>
                    <a:solidFill>
                      <a:schemeClr val="tx1"/>
                    </a:solidFill>
                    <a:latin typeface="Arial" panose="020B0604020202020204" pitchFamily="34" charset="0"/>
                    <a:ea typeface="宋体" panose="02010600030101010101" pitchFamily="2" charset="-122"/>
                  </a:defRPr>
                </a:lvl5pPr>
                <a:lvl6pPr marL="25146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endParaRPr lang="en-US" altLang="zh-CN" sz="2000" b="1">
                  <a:solidFill>
                    <a:srgbClr val="1F497D"/>
                  </a:solidFill>
                  <a:latin typeface="微软雅黑" panose="020B0503020204020204" pitchFamily="34" charset="-122"/>
                  <a:ea typeface="微软雅黑" panose="020B0503020204020204" pitchFamily="34" charset="-122"/>
                </a:endParaRPr>
              </a:p>
            </p:txBody>
          </p:sp>
          <p:sp>
            <p:nvSpPr>
              <p:cNvPr id="37" name="Rectangle 19">
                <a:extLst>
                  <a:ext uri="{FF2B5EF4-FFF2-40B4-BE49-F238E27FC236}">
                    <a16:creationId xmlns:a16="http://schemas.microsoft.com/office/drawing/2014/main" id="{C8D5C98C-CA1B-43D7-AEBB-9C25DB835B4C}"/>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90" name="Group 20">
              <a:extLst>
                <a:ext uri="{FF2B5EF4-FFF2-40B4-BE49-F238E27FC236}">
                  <a16:creationId xmlns:a16="http://schemas.microsoft.com/office/drawing/2014/main" id="{2EEA6BDD-0894-483A-9C1E-7CB1C0CC8CFA}"/>
                </a:ext>
              </a:extLst>
            </p:cNvPr>
            <p:cNvGrpSpPr>
              <a:grpSpLocks/>
            </p:cNvGrpSpPr>
            <p:nvPr/>
          </p:nvGrpSpPr>
          <p:grpSpPr bwMode="auto">
            <a:xfrm>
              <a:off x="7424210" y="4832167"/>
              <a:ext cx="1441263" cy="383067"/>
              <a:chOff x="3651" y="1344"/>
              <a:chExt cx="681" cy="181"/>
            </a:xfrm>
          </p:grpSpPr>
          <p:sp>
            <p:nvSpPr>
              <p:cNvPr id="32" name="Rectangle 21">
                <a:extLst>
                  <a:ext uri="{FF2B5EF4-FFF2-40B4-BE49-F238E27FC236}">
                    <a16:creationId xmlns:a16="http://schemas.microsoft.com/office/drawing/2014/main" id="{0577E226-34B9-4B96-BFF4-2DECF3730C72}"/>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33" name="Rectangle 22">
                <a:extLst>
                  <a:ext uri="{FF2B5EF4-FFF2-40B4-BE49-F238E27FC236}">
                    <a16:creationId xmlns:a16="http://schemas.microsoft.com/office/drawing/2014/main" id="{1065B662-86E9-41F8-838A-C8E6173A0ED3}"/>
                  </a:ext>
                </a:extLst>
              </p:cNvPr>
              <p:cNvSpPr>
                <a:spLocks noChangeArrowheads="1"/>
              </p:cNvSpPr>
              <p:nvPr/>
            </p:nvSpPr>
            <p:spPr bwMode="auto">
              <a:xfrm>
                <a:off x="3878"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34" name="Rectangle 23">
                <a:extLst>
                  <a:ext uri="{FF2B5EF4-FFF2-40B4-BE49-F238E27FC236}">
                    <a16:creationId xmlns:a16="http://schemas.microsoft.com/office/drawing/2014/main" id="{7BECE38B-20FC-43D7-A96C-3A62929F4799}"/>
                  </a:ext>
                </a:extLst>
              </p:cNvPr>
              <p:cNvSpPr>
                <a:spLocks noChangeArrowheads="1"/>
              </p:cNvSpPr>
              <p:nvPr/>
            </p:nvSpPr>
            <p:spPr bwMode="auto">
              <a:xfrm>
                <a:off x="4109"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sp>
          <p:nvSpPr>
            <p:cNvPr id="13" name="Oval 24">
              <a:extLst>
                <a:ext uri="{FF2B5EF4-FFF2-40B4-BE49-F238E27FC236}">
                  <a16:creationId xmlns:a16="http://schemas.microsoft.com/office/drawing/2014/main" id="{4A405163-DBFC-4683-B15F-B910E7D1276D}"/>
                </a:ext>
              </a:extLst>
            </p:cNvPr>
            <p:cNvSpPr>
              <a:spLocks noChangeArrowheads="1"/>
            </p:cNvSpPr>
            <p:nvPr/>
          </p:nvSpPr>
          <p:spPr bwMode="auto">
            <a:xfrm>
              <a:off x="9536318" y="2624008"/>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000" b="1" kern="0">
                  <a:solidFill>
                    <a:srgbClr val="1F497D"/>
                  </a:solidFill>
                  <a:latin typeface="微软雅黑" pitchFamily="34" charset="-122"/>
                  <a:ea typeface="微软雅黑" pitchFamily="34" charset="-122"/>
                </a:rPr>
                <a:t>c</a:t>
              </a:r>
            </a:p>
          </p:txBody>
        </p:sp>
        <p:sp>
          <p:nvSpPr>
            <p:cNvPr id="14" name="Oval 25">
              <a:extLst>
                <a:ext uri="{FF2B5EF4-FFF2-40B4-BE49-F238E27FC236}">
                  <a16:creationId xmlns:a16="http://schemas.microsoft.com/office/drawing/2014/main" id="{D22956EF-CF3E-4A33-8570-D2DA7FC7D2A9}"/>
                </a:ext>
              </a:extLst>
            </p:cNvPr>
            <p:cNvSpPr>
              <a:spLocks noChangeArrowheads="1"/>
            </p:cNvSpPr>
            <p:nvPr/>
          </p:nvSpPr>
          <p:spPr bwMode="auto">
            <a:xfrm>
              <a:off x="5409406" y="4831504"/>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4</a:t>
              </a:r>
            </a:p>
          </p:txBody>
        </p:sp>
        <p:sp>
          <p:nvSpPr>
            <p:cNvPr id="15" name="Oval 26">
              <a:extLst>
                <a:ext uri="{FF2B5EF4-FFF2-40B4-BE49-F238E27FC236}">
                  <a16:creationId xmlns:a16="http://schemas.microsoft.com/office/drawing/2014/main" id="{3F9A1693-8695-4CCF-AD5E-B315F0E9AA63}"/>
                </a:ext>
              </a:extLst>
            </p:cNvPr>
            <p:cNvSpPr>
              <a:spLocks noChangeArrowheads="1"/>
            </p:cNvSpPr>
            <p:nvPr/>
          </p:nvSpPr>
          <p:spPr bwMode="auto">
            <a:xfrm>
              <a:off x="6368477" y="4831504"/>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6" name="Oval 27">
              <a:extLst>
                <a:ext uri="{FF2B5EF4-FFF2-40B4-BE49-F238E27FC236}">
                  <a16:creationId xmlns:a16="http://schemas.microsoft.com/office/drawing/2014/main" id="{99FD22A2-C3D2-40B4-ACB5-6EBA840413D9}"/>
                </a:ext>
              </a:extLst>
            </p:cNvPr>
            <p:cNvSpPr>
              <a:spLocks noChangeArrowheads="1"/>
            </p:cNvSpPr>
            <p:nvPr/>
          </p:nvSpPr>
          <p:spPr bwMode="auto">
            <a:xfrm>
              <a:off x="9922438" y="4736067"/>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a</a:t>
              </a:r>
            </a:p>
          </p:txBody>
        </p:sp>
        <p:sp>
          <p:nvSpPr>
            <p:cNvPr id="17" name="Oval 28">
              <a:extLst>
                <a:ext uri="{FF2B5EF4-FFF2-40B4-BE49-F238E27FC236}">
                  <a16:creationId xmlns:a16="http://schemas.microsoft.com/office/drawing/2014/main" id="{EB8E2D0D-4EEB-46CD-9170-848ECBA1AE52}"/>
                </a:ext>
              </a:extLst>
            </p:cNvPr>
            <p:cNvSpPr>
              <a:spLocks noChangeArrowheads="1"/>
            </p:cNvSpPr>
            <p:nvPr/>
          </p:nvSpPr>
          <p:spPr bwMode="auto">
            <a:xfrm>
              <a:off x="7329624" y="5792096"/>
              <a:ext cx="479536"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2</a:t>
              </a:r>
            </a:p>
          </p:txBody>
        </p:sp>
        <p:sp>
          <p:nvSpPr>
            <p:cNvPr id="18" name="Oval 29">
              <a:extLst>
                <a:ext uri="{FF2B5EF4-FFF2-40B4-BE49-F238E27FC236}">
                  <a16:creationId xmlns:a16="http://schemas.microsoft.com/office/drawing/2014/main" id="{57DDB937-818F-43CF-9307-E6255D9166ED}"/>
                </a:ext>
              </a:extLst>
            </p:cNvPr>
            <p:cNvSpPr>
              <a:spLocks noChangeArrowheads="1"/>
            </p:cNvSpPr>
            <p:nvPr/>
          </p:nvSpPr>
          <p:spPr bwMode="auto">
            <a:xfrm>
              <a:off x="8479679" y="5792096"/>
              <a:ext cx="481612"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9" name="Line 30">
              <a:extLst>
                <a:ext uri="{FF2B5EF4-FFF2-40B4-BE49-F238E27FC236}">
                  <a16:creationId xmlns:a16="http://schemas.microsoft.com/office/drawing/2014/main" id="{7256F947-95D3-4BD1-B20E-52F0654879A3}"/>
                </a:ext>
              </a:extLst>
            </p:cNvPr>
            <p:cNvSpPr>
              <a:spLocks noChangeShapeType="1"/>
            </p:cNvSpPr>
            <p:nvPr/>
          </p:nvSpPr>
          <p:spPr bwMode="auto">
            <a:xfrm flipH="1">
              <a:off x="7234132" y="2144749"/>
              <a:ext cx="863579" cy="67220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0" name="Line 31">
              <a:extLst>
                <a:ext uri="{FF2B5EF4-FFF2-40B4-BE49-F238E27FC236}">
                  <a16:creationId xmlns:a16="http://schemas.microsoft.com/office/drawing/2014/main" id="{83FE49BC-81CF-445A-BF2C-7263DBA42501}"/>
                </a:ext>
              </a:extLst>
            </p:cNvPr>
            <p:cNvSpPr>
              <a:spLocks noChangeShapeType="1"/>
            </p:cNvSpPr>
            <p:nvPr/>
          </p:nvSpPr>
          <p:spPr bwMode="auto">
            <a:xfrm>
              <a:off x="9056782" y="2144749"/>
              <a:ext cx="672595" cy="479260"/>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1" name="Line 32">
              <a:extLst>
                <a:ext uri="{FF2B5EF4-FFF2-40B4-BE49-F238E27FC236}">
                  <a16:creationId xmlns:a16="http://schemas.microsoft.com/office/drawing/2014/main" id="{20222CB9-2D53-44C0-920D-D036F68DD8EA}"/>
                </a:ext>
              </a:extLst>
            </p:cNvPr>
            <p:cNvSpPr>
              <a:spLocks noChangeShapeType="1"/>
            </p:cNvSpPr>
            <p:nvPr/>
          </p:nvSpPr>
          <p:spPr bwMode="auto">
            <a:xfrm flipH="1">
              <a:off x="6079925" y="3007830"/>
              <a:ext cx="672595" cy="865156"/>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2" name="Line 33">
              <a:extLst>
                <a:ext uri="{FF2B5EF4-FFF2-40B4-BE49-F238E27FC236}">
                  <a16:creationId xmlns:a16="http://schemas.microsoft.com/office/drawing/2014/main" id="{1DA19315-08A1-4391-B2D0-266563A19FFD}"/>
                </a:ext>
              </a:extLst>
            </p:cNvPr>
            <p:cNvSpPr>
              <a:spLocks noChangeShapeType="1"/>
            </p:cNvSpPr>
            <p:nvPr/>
          </p:nvSpPr>
          <p:spPr bwMode="auto">
            <a:xfrm>
              <a:off x="7711591" y="3007830"/>
              <a:ext cx="1249699" cy="865156"/>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3" name="Line 34">
              <a:extLst>
                <a:ext uri="{FF2B5EF4-FFF2-40B4-BE49-F238E27FC236}">
                  <a16:creationId xmlns:a16="http://schemas.microsoft.com/office/drawing/2014/main" id="{FB1F5C55-FE78-4DF4-BC51-B77ED149AD2C}"/>
                </a:ext>
              </a:extLst>
            </p:cNvPr>
            <p:cNvSpPr>
              <a:spLocks noChangeShapeType="1"/>
            </p:cNvSpPr>
            <p:nvPr/>
          </p:nvSpPr>
          <p:spPr bwMode="auto">
            <a:xfrm>
              <a:off x="5602465" y="4161371"/>
              <a:ext cx="0" cy="67013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4" name="Line 35">
              <a:extLst>
                <a:ext uri="{FF2B5EF4-FFF2-40B4-BE49-F238E27FC236}">
                  <a16:creationId xmlns:a16="http://schemas.microsoft.com/office/drawing/2014/main" id="{4E7BA081-9355-4516-8A83-0F89AA368231}"/>
                </a:ext>
              </a:extLst>
            </p:cNvPr>
            <p:cNvSpPr>
              <a:spLocks noChangeShapeType="1"/>
            </p:cNvSpPr>
            <p:nvPr/>
          </p:nvSpPr>
          <p:spPr bwMode="auto">
            <a:xfrm>
              <a:off x="6654953" y="4063860"/>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5" name="Line 36">
              <a:extLst>
                <a:ext uri="{FF2B5EF4-FFF2-40B4-BE49-F238E27FC236}">
                  <a16:creationId xmlns:a16="http://schemas.microsoft.com/office/drawing/2014/main" id="{C53079F6-C5C6-4923-83D5-9DDE8CBBB4DD}"/>
                </a:ext>
              </a:extLst>
            </p:cNvPr>
            <p:cNvSpPr>
              <a:spLocks noChangeShapeType="1"/>
            </p:cNvSpPr>
            <p:nvPr/>
          </p:nvSpPr>
          <p:spPr bwMode="auto">
            <a:xfrm flipH="1">
              <a:off x="8193203" y="4063860"/>
              <a:ext cx="190984"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6" name="Line 37">
              <a:extLst>
                <a:ext uri="{FF2B5EF4-FFF2-40B4-BE49-F238E27FC236}">
                  <a16:creationId xmlns:a16="http://schemas.microsoft.com/office/drawing/2014/main" id="{26D686E4-8305-455F-A4DB-42E5DAA87C03}"/>
                </a:ext>
              </a:extLst>
            </p:cNvPr>
            <p:cNvSpPr>
              <a:spLocks noChangeShapeType="1"/>
            </p:cNvSpPr>
            <p:nvPr/>
          </p:nvSpPr>
          <p:spPr bwMode="auto">
            <a:xfrm>
              <a:off x="9440827" y="4063860"/>
              <a:ext cx="670519" cy="67220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7" name="Line 38">
              <a:extLst>
                <a:ext uri="{FF2B5EF4-FFF2-40B4-BE49-F238E27FC236}">
                  <a16:creationId xmlns:a16="http://schemas.microsoft.com/office/drawing/2014/main" id="{599D9D83-DEC3-4381-A7F6-787DEE76562C}"/>
                </a:ext>
              </a:extLst>
            </p:cNvPr>
            <p:cNvSpPr>
              <a:spLocks noChangeShapeType="1"/>
            </p:cNvSpPr>
            <p:nvPr/>
          </p:nvSpPr>
          <p:spPr bwMode="auto">
            <a:xfrm>
              <a:off x="7616099" y="5024452"/>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8" name="Line 39">
              <a:extLst>
                <a:ext uri="{FF2B5EF4-FFF2-40B4-BE49-F238E27FC236}">
                  <a16:creationId xmlns:a16="http://schemas.microsoft.com/office/drawing/2014/main" id="{ECA4474D-2DF9-4912-9C75-3880958EC83B}"/>
                </a:ext>
              </a:extLst>
            </p:cNvPr>
            <p:cNvSpPr>
              <a:spLocks noChangeShapeType="1"/>
            </p:cNvSpPr>
            <p:nvPr/>
          </p:nvSpPr>
          <p:spPr bwMode="auto">
            <a:xfrm>
              <a:off x="8672739" y="5024452"/>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71707" name="矩形 28">
              <a:extLst>
                <a:ext uri="{FF2B5EF4-FFF2-40B4-BE49-F238E27FC236}">
                  <a16:creationId xmlns:a16="http://schemas.microsoft.com/office/drawing/2014/main" id="{D0C60028-5F16-44E6-BE20-C6623595C701}"/>
                </a:ext>
              </a:extLst>
            </p:cNvPr>
            <p:cNvSpPr>
              <a:spLocks noChangeArrowheads="1"/>
            </p:cNvSpPr>
            <p:nvPr/>
          </p:nvSpPr>
          <p:spPr bwMode="auto">
            <a:xfrm>
              <a:off x="5905371" y="3962042"/>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endParaRPr lang="en-US" altLang="zh-CN" sz="4000" b="1">
                <a:solidFill>
                  <a:srgbClr val="1F497D"/>
                </a:solidFill>
                <a:latin typeface="微软雅黑" panose="020B0503020204020204" pitchFamily="34" charset="-122"/>
                <a:ea typeface="微软雅黑" panose="020B0503020204020204" pitchFamily="34" charset="-122"/>
              </a:endParaRPr>
            </a:p>
          </p:txBody>
        </p:sp>
        <p:sp>
          <p:nvSpPr>
            <p:cNvPr id="71708" name="矩形 29">
              <a:extLst>
                <a:ext uri="{FF2B5EF4-FFF2-40B4-BE49-F238E27FC236}">
                  <a16:creationId xmlns:a16="http://schemas.microsoft.com/office/drawing/2014/main" id="{F580D338-82A2-44D2-8018-99A5E2CEFF6A}"/>
                </a:ext>
              </a:extLst>
            </p:cNvPr>
            <p:cNvSpPr>
              <a:spLocks noChangeArrowheads="1"/>
            </p:cNvSpPr>
            <p:nvPr/>
          </p:nvSpPr>
          <p:spPr bwMode="auto">
            <a:xfrm>
              <a:off x="6952994" y="2890368"/>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1709" name="矩形 30">
              <a:extLst>
                <a:ext uri="{FF2B5EF4-FFF2-40B4-BE49-F238E27FC236}">
                  <a16:creationId xmlns:a16="http://schemas.microsoft.com/office/drawing/2014/main" id="{8A2E312D-A542-49EC-A43C-D650F5280513}"/>
                </a:ext>
              </a:extLst>
            </p:cNvPr>
            <p:cNvSpPr>
              <a:spLocks noChangeArrowheads="1"/>
            </p:cNvSpPr>
            <p:nvPr/>
          </p:nvSpPr>
          <p:spPr bwMode="auto">
            <a:xfrm>
              <a:off x="7937457" y="4906411"/>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grpSp>
      <p:sp>
        <p:nvSpPr>
          <p:cNvPr id="5" name="副标题 4">
            <a:extLst>
              <a:ext uri="{FF2B5EF4-FFF2-40B4-BE49-F238E27FC236}">
                <a16:creationId xmlns:a16="http://schemas.microsoft.com/office/drawing/2014/main" id="{8E8F8E93-51B1-4B5D-966D-D27493AF6B89}"/>
              </a:ext>
            </a:extLst>
          </p:cNvPr>
          <p:cNvSpPr>
            <a:spLocks noGrp="1"/>
          </p:cNvSpPr>
          <p:nvPr>
            <p:ph type="subTitle" idx="1"/>
          </p:nvPr>
        </p:nvSpPr>
        <p:spPr/>
        <p:txBody>
          <a:bodyPr/>
          <a:lstStyle/>
          <a:p>
            <a:endParaRPr lang="zh-CN" altLang="en-US"/>
          </a:p>
        </p:txBody>
      </p:sp>
      <p:sp>
        <p:nvSpPr>
          <p:cNvPr id="47" name="任意多边形: 形状 69">
            <a:extLst>
              <a:ext uri="{FF2B5EF4-FFF2-40B4-BE49-F238E27FC236}">
                <a16:creationId xmlns:a16="http://schemas.microsoft.com/office/drawing/2014/main" id="{965311F3-14FD-47EB-BD02-372244A9DCA9}"/>
              </a:ext>
            </a:extLst>
          </p:cNvPr>
          <p:cNvSpPr/>
          <p:nvPr/>
        </p:nvSpPr>
        <p:spPr>
          <a:xfrm>
            <a:off x="552450" y="5065990"/>
            <a:ext cx="5080561"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中缀表达式的逻辑结构具有</a:t>
            </a:r>
            <a:r>
              <a:rPr lang="zh-CN" altLang="en-US" sz="2000" dirty="0">
                <a:solidFill>
                  <a:srgbClr val="FFFF00"/>
                </a:solidFill>
                <a:latin typeface="Microsoft YaHei" panose="020B0503020204020204" pitchFamily="34" charset="-122"/>
                <a:ea typeface="Microsoft YaHei" panose="020B0503020204020204" pitchFamily="34" charset="-122"/>
              </a:rPr>
              <a:t>非线性</a:t>
            </a:r>
            <a:r>
              <a:rPr lang="zh-CN" altLang="en-US" sz="2000" dirty="0">
                <a:solidFill>
                  <a:schemeClr val="bg1"/>
                </a:solidFill>
                <a:latin typeface="Microsoft YaHei" panose="020B0503020204020204" pitchFamily="34" charset="-122"/>
                <a:ea typeface="Microsoft YaHei" panose="020B0503020204020204" pitchFamily="34" charset="-122"/>
              </a:rPr>
              <a:t>的特征</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48" name="任意多边形: 形状 69">
            <a:extLst>
              <a:ext uri="{FF2B5EF4-FFF2-40B4-BE49-F238E27FC236}">
                <a16:creationId xmlns:a16="http://schemas.microsoft.com/office/drawing/2014/main" id="{F0DD22A0-3108-4A24-818D-50AD36F85E24}"/>
              </a:ext>
            </a:extLst>
          </p:cNvPr>
          <p:cNvSpPr/>
          <p:nvPr/>
        </p:nvSpPr>
        <p:spPr>
          <a:xfrm>
            <a:off x="8001000" y="5065990"/>
            <a:ext cx="2499006"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表达式树</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202C7CA-0874-47E2-8A47-2C0D176F89A8}"/>
              </a:ext>
            </a:extLst>
          </p:cNvPr>
          <p:cNvSpPr>
            <a:spLocks noGrp="1" noChangeArrowheads="1"/>
          </p:cNvSpPr>
          <p:nvPr>
            <p:ph type="title"/>
          </p:nvPr>
        </p:nvSpPr>
        <p:spPr>
          <a:xfrm>
            <a:off x="838200" y="626775"/>
            <a:ext cx="10515600" cy="518958"/>
          </a:xfrm>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中缀表达式的计算</a:t>
            </a:r>
            <a:endParaRPr kumimoji="0" sz="2800" dirty="0"/>
          </a:p>
        </p:txBody>
      </p:sp>
      <p:sp>
        <p:nvSpPr>
          <p:cNvPr id="2" name="副标题 1">
            <a:extLst>
              <a:ext uri="{FF2B5EF4-FFF2-40B4-BE49-F238E27FC236}">
                <a16:creationId xmlns:a16="http://schemas.microsoft.com/office/drawing/2014/main" id="{F50987AE-924D-45ED-B68D-1182CFC7F1C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34EC1E41-C908-4926-BAD5-A5E642251979}"/>
              </a:ext>
            </a:extLst>
          </p:cNvPr>
          <p:cNvSpPr>
            <a:spLocks noGrp="1"/>
          </p:cNvSpPr>
          <p:nvPr>
            <p:ph type="body" idx="10"/>
          </p:nvPr>
        </p:nvSpPr>
        <p:spPr/>
        <p:txBody>
          <a:bodyPr/>
          <a:lstStyle/>
          <a:p>
            <a:endParaRPr lang="zh-CN" altLang="en-US"/>
          </a:p>
        </p:txBody>
      </p:sp>
      <p:sp>
        <p:nvSpPr>
          <p:cNvPr id="72707" name="Rectangle 3">
            <a:extLst>
              <a:ext uri="{FF2B5EF4-FFF2-40B4-BE49-F238E27FC236}">
                <a16:creationId xmlns:a16="http://schemas.microsoft.com/office/drawing/2014/main" id="{BF1E2A8C-19A6-4ACC-8F33-71034BD3E68B}"/>
              </a:ext>
            </a:extLst>
          </p:cNvPr>
          <p:cNvSpPr>
            <a:spLocks noGrp="1" noChangeArrowheads="1"/>
          </p:cNvSpPr>
          <p:nvPr>
            <p:ph idx="11"/>
          </p:nvPr>
        </p:nvSpPr>
        <p:spPr bwMode="auto">
          <a:xfrm>
            <a:off x="584225" y="1276350"/>
            <a:ext cx="716912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dirty="0">
                <a:latin typeface="微软雅黑" panose="020B0503020204020204" pitchFamily="34" charset="-122"/>
                <a:ea typeface="微软雅黑" panose="020B0503020204020204" pitchFamily="34" charset="-122"/>
              </a:rPr>
              <a:t>若</a:t>
            </a:r>
            <a:r>
              <a:rPr kumimoji="0" lang="zh-CN" altLang="zh-CN" dirty="0">
                <a:solidFill>
                  <a:srgbClr val="0000FF"/>
                </a:solidFill>
                <a:latin typeface="微软雅黑" panose="020B0503020204020204" pitchFamily="34" charset="-122"/>
                <a:ea typeface="微软雅黑" panose="020B0503020204020204" pitchFamily="34" charset="-122"/>
              </a:rPr>
              <a:t>有括号</a:t>
            </a:r>
            <a:r>
              <a:rPr kumimoji="0" lang="zh-CN" altLang="zh-CN" dirty="0">
                <a:latin typeface="微软雅黑" panose="020B0503020204020204" pitchFamily="34" charset="-122"/>
                <a:ea typeface="微软雅黑" panose="020B0503020204020204" pitchFamily="34" charset="-122"/>
              </a:rPr>
              <a:t>，先执行</a:t>
            </a:r>
            <a:r>
              <a:rPr kumimoji="0" lang="zh-CN" altLang="zh-CN" b="1" dirty="0">
                <a:solidFill>
                  <a:srgbClr val="7030A0"/>
                </a:solidFill>
                <a:latin typeface="微软雅黑" panose="020B0503020204020204" pitchFamily="34" charset="-122"/>
                <a:ea typeface="微软雅黑" panose="020B0503020204020204" pitchFamily="34" charset="-122"/>
              </a:rPr>
              <a:t>括号内</a:t>
            </a:r>
            <a:r>
              <a:rPr kumimoji="0" lang="zh-CN" altLang="zh-CN" dirty="0">
                <a:latin typeface="微软雅黑" panose="020B0503020204020204" pitchFamily="34" charset="-122"/>
                <a:ea typeface="微软雅黑" panose="020B0503020204020204" pitchFamily="34" charset="-122"/>
              </a:rPr>
              <a:t>的计算，后执行</a:t>
            </a:r>
            <a:r>
              <a:rPr kumimoji="0" lang="zh-CN" altLang="zh-CN" dirty="0">
                <a:solidFill>
                  <a:srgbClr val="7030A0"/>
                </a:solidFill>
                <a:latin typeface="微软雅黑" panose="020B0503020204020204" pitchFamily="34" charset="-122"/>
                <a:ea typeface="微软雅黑" panose="020B0503020204020204" pitchFamily="34" charset="-122"/>
              </a:rPr>
              <a:t>括号外</a:t>
            </a:r>
            <a:r>
              <a:rPr kumimoji="0" lang="zh-CN" altLang="zh-CN" dirty="0">
                <a:latin typeface="微软雅黑" panose="020B0503020204020204" pitchFamily="34" charset="-122"/>
                <a:ea typeface="微软雅黑" panose="020B0503020204020204" pitchFamily="34" charset="-122"/>
              </a:rPr>
              <a:t>的计算。具有多层括号时，按层次</a:t>
            </a:r>
            <a:r>
              <a:rPr kumimoji="0" lang="zh-CN" altLang="en-US" dirty="0">
                <a:latin typeface="微软雅黑" panose="020B0503020204020204" pitchFamily="34" charset="-122"/>
                <a:ea typeface="微软雅黑" panose="020B0503020204020204" pitchFamily="34" charset="-122"/>
              </a:rPr>
              <a:t>由内而外</a:t>
            </a:r>
            <a:r>
              <a:rPr kumimoji="0" lang="zh-CN" altLang="zh-CN" dirty="0">
                <a:latin typeface="微软雅黑" panose="020B0503020204020204" pitchFamily="34" charset="-122"/>
                <a:ea typeface="微软雅黑" panose="020B0503020204020204" pitchFamily="34" charset="-122"/>
              </a:rPr>
              <a:t>反复地脱括号，</a:t>
            </a:r>
            <a:r>
              <a:rPr kumimoji="0" lang="zh-CN" altLang="zh-CN" dirty="0">
                <a:solidFill>
                  <a:srgbClr val="C00000"/>
                </a:solidFill>
                <a:latin typeface="微软雅黑" panose="020B0503020204020204" pitchFamily="34" charset="-122"/>
                <a:ea typeface="微软雅黑" panose="020B0503020204020204" pitchFamily="34" charset="-122"/>
              </a:rPr>
              <a:t>左右括号必须配对</a:t>
            </a:r>
          </a:p>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en-US" dirty="0">
                <a:solidFill>
                  <a:srgbClr val="0000FF"/>
                </a:solidFill>
                <a:latin typeface="微软雅黑" panose="020B0503020204020204" pitchFamily="34" charset="-122"/>
                <a:ea typeface="微软雅黑" panose="020B0503020204020204" pitchFamily="34" charset="-122"/>
              </a:rPr>
              <a:t>无括号</a:t>
            </a:r>
            <a:r>
              <a:rPr kumimoji="0" lang="zh-CN" altLang="zh-CN" dirty="0">
                <a:latin typeface="微软雅黑" panose="020B0503020204020204" pitchFamily="34" charset="-122"/>
                <a:ea typeface="微软雅黑" panose="020B0503020204020204" pitchFamily="34" charset="-122"/>
              </a:rPr>
              <a:t>或同层括号时，先乘</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、除</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，后加</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、减</a:t>
            </a:r>
            <a:r>
              <a:rPr kumimoji="0" lang="en-US" altLang="zh-CN" dirty="0">
                <a:latin typeface="微软雅黑" panose="020B0503020204020204" pitchFamily="34" charset="-122"/>
                <a:ea typeface="微软雅黑" panose="020B0503020204020204" pitchFamily="34" charset="-122"/>
              </a:rPr>
              <a:t>(-)</a:t>
            </a:r>
            <a:endParaRPr kumimoji="0"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dirty="0">
                <a:solidFill>
                  <a:srgbClr val="0000FF"/>
                </a:solidFill>
                <a:latin typeface="微软雅黑" panose="020B0503020204020204" pitchFamily="34" charset="-122"/>
                <a:ea typeface="微软雅黑" panose="020B0503020204020204" pitchFamily="34" charset="-122"/>
              </a:rPr>
              <a:t>同一个层次</a:t>
            </a:r>
            <a:r>
              <a:rPr kumimoji="0" lang="zh-CN" altLang="zh-CN" dirty="0">
                <a:latin typeface="微软雅黑" panose="020B0503020204020204" pitchFamily="34" charset="-122"/>
                <a:ea typeface="微软雅黑" panose="020B0503020204020204" pitchFamily="34" charset="-122"/>
              </a:rPr>
              <a:t>，若有多个乘除（*、／）或</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加减 </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的运算，按</a:t>
            </a:r>
            <a:r>
              <a:rPr kumimoji="0" lang="zh-CN" altLang="zh-CN" b="1" dirty="0">
                <a:solidFill>
                  <a:srgbClr val="7030A0"/>
                </a:solidFill>
                <a:latin typeface="微软雅黑" panose="020B0503020204020204" pitchFamily="34" charset="-122"/>
                <a:ea typeface="微软雅黑" panose="020B0503020204020204" pitchFamily="34" charset="-122"/>
              </a:rPr>
              <a:t>自左至右</a:t>
            </a:r>
            <a:r>
              <a:rPr kumimoji="0" lang="zh-CN" altLang="en-US" b="1" dirty="0">
                <a:solidFill>
                  <a:srgbClr val="7030A0"/>
                </a:solidFill>
                <a:latin typeface="微软雅黑" panose="020B0503020204020204" pitchFamily="34" charset="-122"/>
                <a:ea typeface="微软雅黑" panose="020B0503020204020204" pitchFamily="34" charset="-122"/>
              </a:rPr>
              <a:t>次</a:t>
            </a:r>
            <a:r>
              <a:rPr kumimoji="0" lang="zh-CN" altLang="zh-CN" b="1" dirty="0">
                <a:solidFill>
                  <a:srgbClr val="7030A0"/>
                </a:solidFill>
                <a:latin typeface="微软雅黑" panose="020B0503020204020204" pitchFamily="34" charset="-122"/>
                <a:ea typeface="微软雅黑" panose="020B0503020204020204" pitchFamily="34" charset="-122"/>
              </a:rPr>
              <a:t>序</a:t>
            </a:r>
            <a:r>
              <a:rPr kumimoji="0" lang="en-US" altLang="zh-CN" b="1" dirty="0">
                <a:solidFill>
                  <a:srgbClr val="7030A0"/>
                </a:solidFill>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执行 </a:t>
            </a:r>
          </a:p>
        </p:txBody>
      </p:sp>
      <p:sp>
        <p:nvSpPr>
          <p:cNvPr id="876548" name="Text Box 4">
            <a:extLst>
              <a:ext uri="{FF2B5EF4-FFF2-40B4-BE49-F238E27FC236}">
                <a16:creationId xmlns:a16="http://schemas.microsoft.com/office/drawing/2014/main" id="{74AE2B67-BA1D-4C6F-9FA3-AA3306E4CFE6}"/>
              </a:ext>
            </a:extLst>
          </p:cNvPr>
          <p:cNvSpPr txBox="1">
            <a:spLocks noChangeArrowheads="1"/>
          </p:cNvSpPr>
          <p:nvPr/>
        </p:nvSpPr>
        <p:spPr bwMode="auto">
          <a:xfrm>
            <a:off x="1089212" y="4844190"/>
            <a:ext cx="500678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23+(34*45)/(5+6+7)  =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p>
        </p:txBody>
      </p:sp>
      <p:sp>
        <p:nvSpPr>
          <p:cNvPr id="876549" name="Text Box 5">
            <a:extLst>
              <a:ext uri="{FF2B5EF4-FFF2-40B4-BE49-F238E27FC236}">
                <a16:creationId xmlns:a16="http://schemas.microsoft.com/office/drawing/2014/main" id="{AF53D5B5-7868-4BF0-9EEB-C6E2CB3CCE7F}"/>
              </a:ext>
            </a:extLst>
          </p:cNvPr>
          <p:cNvSpPr txBox="1">
            <a:spLocks noChangeArrowheads="1"/>
          </p:cNvSpPr>
          <p:nvPr/>
        </p:nvSpPr>
        <p:spPr bwMode="auto">
          <a:xfrm>
            <a:off x="723900" y="5607204"/>
            <a:ext cx="5473606"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zh-CN" altLang="en-US" sz="2800" b="1" dirty="0">
                <a:solidFill>
                  <a:srgbClr val="0000FF"/>
                </a:solidFill>
                <a:latin typeface="微软雅黑" panose="020B0503020204020204" pitchFamily="34" charset="-122"/>
                <a:ea typeface="微软雅黑" panose="020B0503020204020204" pitchFamily="34" charset="-122"/>
              </a:rPr>
              <a:t>计算特点？</a:t>
            </a:r>
          </a:p>
        </p:txBody>
      </p:sp>
      <p:sp>
        <p:nvSpPr>
          <p:cNvPr id="8" name="任意多边形: 形状 69">
            <a:extLst>
              <a:ext uri="{FF2B5EF4-FFF2-40B4-BE49-F238E27FC236}">
                <a16:creationId xmlns:a16="http://schemas.microsoft.com/office/drawing/2014/main" id="{37214CDC-13EE-45DB-AFA2-3B2E5D5BF63D}"/>
              </a:ext>
            </a:extLst>
          </p:cNvPr>
          <p:cNvSpPr/>
          <p:nvPr/>
        </p:nvSpPr>
        <p:spPr>
          <a:xfrm>
            <a:off x="8575369" y="1914524"/>
            <a:ext cx="3032406" cy="1724025"/>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实质就是将中缀表达式转换成</a:t>
            </a:r>
            <a:r>
              <a:rPr lang="zh-CN" altLang="en-US" sz="2000" dirty="0">
                <a:solidFill>
                  <a:srgbClr val="FFFF00"/>
                </a:solidFill>
                <a:latin typeface="Microsoft YaHei" panose="020B0503020204020204" pitchFamily="34" charset="-122"/>
                <a:ea typeface="Microsoft YaHei" panose="020B0503020204020204" pitchFamily="34" charset="-122"/>
              </a:rPr>
              <a:t>表达式树</a:t>
            </a:r>
            <a:r>
              <a:rPr lang="zh-CN" altLang="en-US" sz="2000" dirty="0">
                <a:solidFill>
                  <a:schemeClr val="bg1"/>
                </a:solidFill>
                <a:latin typeface="Microsoft YaHei" panose="020B0503020204020204" pitchFamily="34" charset="-122"/>
                <a:ea typeface="Microsoft YaHei" panose="020B0503020204020204" pitchFamily="34" charset="-122"/>
              </a:rPr>
              <a:t>，再根据树遍历算法求解</a:t>
            </a:r>
            <a:endParaRPr lang="en-US" altLang="zh-CN" sz="2000" dirty="0">
              <a:solidFill>
                <a:schemeClr val="bg1"/>
              </a:solidFill>
              <a:latin typeface="Microsoft YaHei" panose="020B0503020204020204" pitchFamily="34" charset="-122"/>
              <a:ea typeface="Microsoft YaHei" panose="020B0503020204020204" pitchFamily="34" charset="-122"/>
            </a:endParaRPr>
          </a:p>
        </p:txBody>
      </p:sp>
      <p:sp>
        <p:nvSpPr>
          <p:cNvPr id="4" name="右大括号 3">
            <a:extLst>
              <a:ext uri="{FF2B5EF4-FFF2-40B4-BE49-F238E27FC236}">
                <a16:creationId xmlns:a16="http://schemas.microsoft.com/office/drawing/2014/main" id="{E9A4D6D7-B3F7-4500-84C5-4B2FF8C9FAA1}"/>
              </a:ext>
            </a:extLst>
          </p:cNvPr>
          <p:cNvSpPr/>
          <p:nvPr/>
        </p:nvSpPr>
        <p:spPr>
          <a:xfrm>
            <a:off x="7753350" y="1476375"/>
            <a:ext cx="495300" cy="2600325"/>
          </a:xfrm>
          <a:prstGeom prst="rightBrace">
            <a:avLst>
              <a:gd name="adj1" fmla="val 5641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76548"/>
                                        </p:tgtEl>
                                        <p:attrNameLst>
                                          <p:attrName>style.visibility</p:attrName>
                                        </p:attrNameLst>
                                      </p:cBhvr>
                                      <p:to>
                                        <p:strVal val="visible"/>
                                      </p:to>
                                    </p:set>
                                    <p:animEffect transition="in" filter="checkerboard(across)">
                                      <p:cBhvr>
                                        <p:cTn id="7" dur="500"/>
                                        <p:tgtEl>
                                          <p:spTgt spid="876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76549"/>
                                        </p:tgtEl>
                                        <p:attrNameLst>
                                          <p:attrName>style.visibility</p:attrName>
                                        </p:attrNameLst>
                                      </p:cBhvr>
                                      <p:to>
                                        <p:strVal val="visible"/>
                                      </p:to>
                                    </p:set>
                                    <p:animEffect transition="in" filter="checkerboard(across)">
                                      <p:cBhvr>
                                        <p:cTn id="12" dur="500"/>
                                        <p:tgtEl>
                                          <p:spTgt spid="8765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8" grpId="0"/>
      <p:bldP spid="876549" grpId="0"/>
      <p:bldP spid="8" grpId="0" animBg="1"/>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55671314-F931-49EF-A9DD-71DCE2565DB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后缀表达式的语法公式</a:t>
            </a:r>
            <a:r>
              <a:rPr kumimoji="0" sz="2800" dirty="0"/>
              <a:t> </a:t>
            </a:r>
          </a:p>
        </p:txBody>
      </p:sp>
      <p:sp>
        <p:nvSpPr>
          <p:cNvPr id="2" name="副标题 1">
            <a:extLst>
              <a:ext uri="{FF2B5EF4-FFF2-40B4-BE49-F238E27FC236}">
                <a16:creationId xmlns:a16="http://schemas.microsoft.com/office/drawing/2014/main" id="{20233678-247A-4FDB-85E7-2C6FB3E93D1B}"/>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7F459368-08B9-4900-A9C1-E89E91C5F1DE}"/>
              </a:ext>
            </a:extLst>
          </p:cNvPr>
          <p:cNvSpPr>
            <a:spLocks noGrp="1"/>
          </p:cNvSpPr>
          <p:nvPr>
            <p:ph type="body" idx="10"/>
          </p:nvPr>
        </p:nvSpPr>
        <p:spPr/>
        <p:txBody>
          <a:bodyPr/>
          <a:lstStyle/>
          <a:p>
            <a:endParaRPr lang="zh-CN" altLang="en-US"/>
          </a:p>
        </p:txBody>
      </p:sp>
      <p:sp>
        <p:nvSpPr>
          <p:cNvPr id="73731" name="Rectangle 3">
            <a:extLst>
              <a:ext uri="{FF2B5EF4-FFF2-40B4-BE49-F238E27FC236}">
                <a16:creationId xmlns:a16="http://schemas.microsoft.com/office/drawing/2014/main" id="{01946091-1828-4BED-B24A-655A0EC938DA}"/>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表达式</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a:t>
            </a:r>
            <a:r>
              <a:rPr kumimoji="0" lang="en-US" altLang="zh-CN"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8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pPr>
              <a:lnSpc>
                <a:spcPct val="80000"/>
              </a:lnSpc>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a:t>
            </a:r>
            <a:r>
              <a:rPr kumimoji="0" lang="en-US" altLang="zh-CN" sz="2400" b="1" dirty="0">
                <a:solidFill>
                  <a:srgbClr val="FF0000"/>
                </a:solidFill>
                <a:latin typeface="微软雅黑" panose="020B0503020204020204" pitchFamily="34" charset="-122"/>
                <a:ea typeface="微软雅黑" panose="020B0503020204020204" pitchFamily="34" charset="-122"/>
              </a:rPr>
              <a:t> |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a:t>
            </a:r>
            <a:r>
              <a:rPr kumimoji="0" lang="en-US" altLang="zh-CN" sz="2400" b="1"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8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pPr>
              <a:lnSpc>
                <a:spcPct val="80000"/>
              </a:lnSpc>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8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pPr>
              <a:lnSpc>
                <a:spcPct val="80000"/>
              </a:lnSpc>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r>
              <a:rPr kumimoji="0" lang="en-US" altLang="zh-CN" sz="2400" b="1" dirty="0">
                <a:solidFill>
                  <a:srgbClr val="FF0000"/>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80000"/>
              </a:lnSpc>
              <a:buFont typeface="Wingdings" panose="05000000000000000000" pitchFamily="2" charset="2"/>
              <a:buNone/>
            </a:pPr>
            <a:endParaRPr kumimoji="0" lang="en-US" altLang="zh-CN" sz="2400" dirty="0">
              <a:latin typeface="微软雅黑" panose="020B0503020204020204" pitchFamily="34" charset="-122"/>
              <a:ea typeface="微软雅黑" panose="020B0503020204020204" pitchFamily="34" charset="-122"/>
            </a:endParaRPr>
          </a:p>
          <a:p>
            <a:pPr>
              <a:lnSpc>
                <a:spcPct val="80000"/>
              </a:lnSpc>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0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1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2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3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4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5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6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7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8 </a:t>
            </a:r>
            <a:r>
              <a:rPr kumimoji="0" lang="en-US" altLang="zh-CN" sz="2400" dirty="0">
                <a:solidFill>
                  <a:srgbClr val="FF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9  </a:t>
            </a:r>
          </a:p>
        </p:txBody>
      </p:sp>
      <p:sp>
        <p:nvSpPr>
          <p:cNvPr id="6" name="任意多边形: 形状 69">
            <a:extLst>
              <a:ext uri="{FF2B5EF4-FFF2-40B4-BE49-F238E27FC236}">
                <a16:creationId xmlns:a16="http://schemas.microsoft.com/office/drawing/2014/main" id="{95AE807B-C838-4D14-A17A-5C8EB1682AF0}"/>
              </a:ext>
            </a:extLst>
          </p:cNvPr>
          <p:cNvSpPr/>
          <p:nvPr/>
        </p:nvSpPr>
        <p:spPr>
          <a:xfrm>
            <a:off x="5789471" y="2840021"/>
            <a:ext cx="3609071"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kern="1200" dirty="0">
                <a:solidFill>
                  <a:srgbClr val="FFFF00"/>
                </a:solidFill>
                <a:latin typeface="Microsoft YaHei" panose="020B0503020204020204" pitchFamily="34" charset="-122"/>
                <a:ea typeface="Microsoft YaHei" panose="020B0503020204020204" pitchFamily="34" charset="-122"/>
              </a:rPr>
              <a:t>无括号</a:t>
            </a:r>
            <a:r>
              <a:rPr lang="zh-CN" altLang="en-US" sz="2400" kern="1200" dirty="0">
                <a:solidFill>
                  <a:schemeClr val="bg1"/>
                </a:solidFill>
                <a:latin typeface="Microsoft YaHei" panose="020B0503020204020204" pitchFamily="34" charset="-122"/>
                <a:ea typeface="Microsoft YaHei" panose="020B0503020204020204" pitchFamily="34" charset="-122"/>
              </a:rPr>
              <a:t>（即无递归结构）</a:t>
            </a:r>
            <a:endParaRPr lang="en-US" altLang="zh-CN" sz="2400" kern="1200" dirty="0">
              <a:solidFill>
                <a:schemeClr val="bg1"/>
              </a:solidFill>
              <a:latin typeface="Microsoft YaHei" panose="020B0503020204020204" pitchFamily="34" charset="-122"/>
              <a:ea typeface="Microsoft YaHei" panose="020B0503020204020204" pitchFamily="34" charset="-122"/>
            </a:endParaRPr>
          </a:p>
        </p:txBody>
      </p:sp>
      <p:sp>
        <p:nvSpPr>
          <p:cNvPr id="4" name="箭头: 右 3">
            <a:extLst>
              <a:ext uri="{FF2B5EF4-FFF2-40B4-BE49-F238E27FC236}">
                <a16:creationId xmlns:a16="http://schemas.microsoft.com/office/drawing/2014/main" id="{05F020E0-3E03-41B9-9F1B-6FFCA10834CA}"/>
              </a:ext>
            </a:extLst>
          </p:cNvPr>
          <p:cNvSpPr/>
          <p:nvPr/>
        </p:nvSpPr>
        <p:spPr>
          <a:xfrm>
            <a:off x="4534184" y="2939248"/>
            <a:ext cx="914400" cy="372261"/>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42048902-D97E-49D7-A1FA-9285F5BB84FB}"/>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 </a:t>
            </a:r>
          </a:p>
        </p:txBody>
      </p:sp>
      <p:sp>
        <p:nvSpPr>
          <p:cNvPr id="74756" name="Rectangle 3">
            <a:extLst>
              <a:ext uri="{FF2B5EF4-FFF2-40B4-BE49-F238E27FC236}">
                <a16:creationId xmlns:a16="http://schemas.microsoft.com/office/drawing/2014/main" id="{79FAFE72-5776-4309-BBA5-4BF81DF53202}"/>
              </a:ext>
            </a:extLst>
          </p:cNvPr>
          <p:cNvSpPr>
            <a:spLocks noGrp="1" noChangeArrowheads="1"/>
          </p:cNvSpPr>
          <p:nvPr>
            <p:ph type="subTitle" idx="1"/>
          </p:nvPr>
        </p:nvSpPr>
        <p:spPr bwMode="auto">
          <a:xfrm>
            <a:off x="584225" y="271204"/>
            <a:ext cx="4864359" cy="32742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indent="0">
              <a:lnSpc>
                <a:spcPct val="105000"/>
              </a:lnSpc>
              <a:spcBef>
                <a:spcPts val="600"/>
              </a:spcBef>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p:txBody>
      </p:sp>
      <p:sp>
        <p:nvSpPr>
          <p:cNvPr id="2" name="文本占位符 1">
            <a:extLst>
              <a:ext uri="{FF2B5EF4-FFF2-40B4-BE49-F238E27FC236}">
                <a16:creationId xmlns:a16="http://schemas.microsoft.com/office/drawing/2014/main" id="{522EFA13-C73D-474A-A490-D0D9AA5B2765}"/>
              </a:ext>
            </a:extLst>
          </p:cNvPr>
          <p:cNvSpPr>
            <a:spLocks noGrp="1"/>
          </p:cNvSpPr>
          <p:nvPr>
            <p:ph type="body" idx="10"/>
          </p:nvPr>
        </p:nvSpPr>
        <p:spPr/>
        <p:txBody>
          <a:bodyPr/>
          <a:lstStyle/>
          <a:p>
            <a:endParaRPr lang="zh-CN" altLang="en-US"/>
          </a:p>
        </p:txBody>
      </p:sp>
      <p:sp>
        <p:nvSpPr>
          <p:cNvPr id="74755" name="Rectangle 3">
            <a:extLst>
              <a:ext uri="{FF2B5EF4-FFF2-40B4-BE49-F238E27FC236}">
                <a16:creationId xmlns:a16="http://schemas.microsoft.com/office/drawing/2014/main" id="{007BCF7B-EB0B-4260-9BAE-C3462FA771A7}"/>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a:lnSpc>
                <a:spcPct val="105000"/>
              </a:lnSpc>
              <a:spcBef>
                <a:spcPts val="600"/>
              </a:spcBef>
              <a:tabLst>
                <a:tab pos="268288" algn="l"/>
              </a:tabLst>
            </a:pPr>
            <a:r>
              <a:rPr lang="zh-CN" altLang="zh-CN" sz="2800" dirty="0">
                <a:solidFill>
                  <a:srgbClr val="0000FF"/>
                </a:solidFill>
                <a:latin typeface="微软雅黑" panose="020B0503020204020204" pitchFamily="34" charset="-122"/>
                <a:ea typeface="微软雅黑" panose="020B0503020204020204" pitchFamily="34" charset="-122"/>
              </a:rPr>
              <a:t>特点</a:t>
            </a:r>
            <a:endParaRPr lang="en-US" altLang="zh-CN" sz="2800" dirty="0">
              <a:solidFill>
                <a:srgbClr val="0000FF"/>
              </a:solidFill>
              <a:latin typeface="微软雅黑" panose="020B0503020204020204" pitchFamily="34" charset="-122"/>
              <a:ea typeface="微软雅黑" panose="020B0503020204020204" pitchFamily="34" charset="-122"/>
            </a:endParaRPr>
          </a:p>
          <a:p>
            <a:pPr marL="712788" lvl="1" indent="-369888">
              <a:lnSpc>
                <a:spcPct val="105000"/>
              </a:lnSpc>
              <a:spcBef>
                <a:spcPts val="600"/>
              </a:spcBef>
              <a:buClr>
                <a:srgbClr val="CC3300"/>
              </a:buClr>
            </a:pPr>
            <a:r>
              <a:rPr lang="zh-CN" altLang="zh-CN" sz="2400" dirty="0">
                <a:solidFill>
                  <a:srgbClr val="C00000"/>
                </a:solidFill>
                <a:latin typeface="微软雅黑" panose="020B0503020204020204" pitchFamily="34" charset="-122"/>
                <a:ea typeface="微软雅黑" panose="020B0503020204020204" pitchFamily="34" charset="-122"/>
              </a:rPr>
              <a:t>运算符</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3333CC"/>
                </a:solidFill>
                <a:latin typeface="微软雅黑" panose="020B0503020204020204" pitchFamily="34" charset="-122"/>
                <a:ea typeface="微软雅黑" panose="020B0503020204020204" pitchFamily="34" charset="-122"/>
              </a:rPr>
              <a:t>操作数</a:t>
            </a:r>
            <a:r>
              <a:rPr lang="zh-CN" altLang="en-US" sz="2400" dirty="0">
                <a:latin typeface="微软雅黑" panose="020B0503020204020204" pitchFamily="34" charset="-122"/>
                <a:ea typeface="微软雅黑" panose="020B0503020204020204" pitchFamily="34" charset="-122"/>
              </a:rPr>
              <a:t> </a:t>
            </a:r>
            <a:r>
              <a:rPr lang="zh-CN" altLang="zh-CN" sz="2400" dirty="0">
                <a:solidFill>
                  <a:srgbClr val="7030A0"/>
                </a:solidFill>
                <a:latin typeface="微软雅黑" panose="020B0503020204020204" pitchFamily="34" charset="-122"/>
                <a:ea typeface="微软雅黑" panose="020B0503020204020204" pitchFamily="34" charset="-122"/>
              </a:rPr>
              <a:t>后面</a:t>
            </a:r>
            <a:endParaRPr lang="en-US" altLang="zh-CN" sz="2400" dirty="0">
              <a:solidFill>
                <a:srgbClr val="7030A0"/>
              </a:solidFill>
              <a:latin typeface="微软雅黑" panose="020B0503020204020204" pitchFamily="34" charset="-122"/>
              <a:ea typeface="微软雅黑" panose="020B0503020204020204" pitchFamily="34" charset="-122"/>
            </a:endParaRPr>
          </a:p>
          <a:p>
            <a:pPr marL="712788"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完全不需要</a:t>
            </a:r>
            <a:r>
              <a:rPr lang="en-US" altLang="zh-CN" sz="2400" dirty="0">
                <a:latin typeface="微软雅黑" panose="020B0503020204020204" pitchFamily="34" charset="-122"/>
                <a:ea typeface="微软雅黑" panose="020B0503020204020204" pitchFamily="34" charset="-122"/>
              </a:rPr>
              <a:t> </a:t>
            </a:r>
            <a:r>
              <a:rPr lang="zh-CN" altLang="zh-CN" sz="2400" dirty="0">
                <a:solidFill>
                  <a:srgbClr val="7030A0"/>
                </a:solidFill>
                <a:latin typeface="微软雅黑" panose="020B0503020204020204" pitchFamily="34" charset="-122"/>
                <a:ea typeface="微软雅黑" panose="020B0503020204020204" pitchFamily="34" charset="-122"/>
              </a:rPr>
              <a:t>括号</a:t>
            </a:r>
            <a:endParaRPr lang="en-US" altLang="zh-CN" sz="2400" dirty="0">
              <a:solidFill>
                <a:srgbClr val="7030A0"/>
              </a:solidFill>
              <a:latin typeface="微软雅黑" panose="020B0503020204020204" pitchFamily="34" charset="-122"/>
              <a:ea typeface="微软雅黑" panose="020B0503020204020204" pitchFamily="34" charset="-122"/>
            </a:endParaRPr>
          </a:p>
          <a:p>
            <a:pPr>
              <a:lnSpc>
                <a:spcPct val="105000"/>
              </a:lnSpc>
              <a:spcBef>
                <a:spcPts val="600"/>
              </a:spcBef>
            </a:pPr>
            <a:endParaRPr lang="en-US" altLang="zh-CN" dirty="0">
              <a:latin typeface="微软雅黑" panose="020B0503020204020204" pitchFamily="34" charset="-122"/>
              <a:ea typeface="微软雅黑" panose="020B0503020204020204" pitchFamily="34" charset="-122"/>
            </a:endParaRPr>
          </a:p>
          <a:p>
            <a:pPr>
              <a:lnSpc>
                <a:spcPct val="105000"/>
              </a:lnSpc>
              <a:spcBef>
                <a:spcPts val="600"/>
              </a:spcBef>
            </a:pPr>
            <a:endParaRPr lang="en-US" altLang="zh-CN" dirty="0"/>
          </a:p>
          <a:p>
            <a:pPr marL="0" indent="0">
              <a:lnSpc>
                <a:spcPct val="105000"/>
              </a:lnSpc>
              <a:spcBef>
                <a:spcPts val="600"/>
              </a:spcBef>
              <a:buNone/>
            </a:pPr>
            <a:r>
              <a:rPr lang="pt-BR" altLang="zh-CN" dirty="0"/>
              <a:t>               4  x  *  2  x  * a +  * c –</a:t>
            </a:r>
            <a:endParaRPr lang="en-US" altLang="zh-CN" dirty="0"/>
          </a:p>
          <a:p>
            <a:pPr>
              <a:lnSpc>
                <a:spcPct val="105000"/>
              </a:lnSpc>
              <a:spcBef>
                <a:spcPts val="600"/>
              </a:spcBef>
            </a:pPr>
            <a:endParaRPr lang="en-US" altLang="zh-CN" dirty="0">
              <a:latin typeface="微软雅黑" panose="020B0503020204020204" pitchFamily="34" charset="-122"/>
              <a:ea typeface="微软雅黑" panose="020B0503020204020204" pitchFamily="34" charset="-122"/>
            </a:endParaRPr>
          </a:p>
        </p:txBody>
      </p:sp>
      <p:grpSp>
        <p:nvGrpSpPr>
          <p:cNvPr id="74757" name="组合 6">
            <a:extLst>
              <a:ext uri="{FF2B5EF4-FFF2-40B4-BE49-F238E27FC236}">
                <a16:creationId xmlns:a16="http://schemas.microsoft.com/office/drawing/2014/main" id="{4C9983CC-CA66-474A-91B3-028B4B6CDE1E}"/>
              </a:ext>
            </a:extLst>
          </p:cNvPr>
          <p:cNvGrpSpPr>
            <a:grpSpLocks/>
          </p:cNvGrpSpPr>
          <p:nvPr/>
        </p:nvGrpSpPr>
        <p:grpSpPr bwMode="auto">
          <a:xfrm>
            <a:off x="6975475" y="1866106"/>
            <a:ext cx="3708400" cy="3125788"/>
            <a:chOff x="6071433" y="1953875"/>
            <a:chExt cx="4992566" cy="4319555"/>
          </a:xfrm>
        </p:grpSpPr>
        <p:grpSp>
          <p:nvGrpSpPr>
            <p:cNvPr id="74758" name="Group 4">
              <a:extLst>
                <a:ext uri="{FF2B5EF4-FFF2-40B4-BE49-F238E27FC236}">
                  <a16:creationId xmlns:a16="http://schemas.microsoft.com/office/drawing/2014/main" id="{14A1B512-CEEB-4B52-85B3-4ADCAFD2F70E}"/>
                </a:ext>
              </a:extLst>
            </p:cNvPr>
            <p:cNvGrpSpPr>
              <a:grpSpLocks/>
            </p:cNvGrpSpPr>
            <p:nvPr/>
          </p:nvGrpSpPr>
          <p:grpSpPr bwMode="auto">
            <a:xfrm>
              <a:off x="8471421" y="1953875"/>
              <a:ext cx="1441262" cy="383067"/>
              <a:chOff x="3651" y="1344"/>
              <a:chExt cx="681" cy="181"/>
            </a:xfrm>
          </p:grpSpPr>
          <p:sp>
            <p:nvSpPr>
              <p:cNvPr id="44" name="Rectangle 5">
                <a:extLst>
                  <a:ext uri="{FF2B5EF4-FFF2-40B4-BE49-F238E27FC236}">
                    <a16:creationId xmlns:a16="http://schemas.microsoft.com/office/drawing/2014/main" id="{1C00A2CE-33AE-4B33-8BD6-94AFD7A34039}"/>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45" name="Rectangle 6">
                <a:extLst>
                  <a:ext uri="{FF2B5EF4-FFF2-40B4-BE49-F238E27FC236}">
                    <a16:creationId xmlns:a16="http://schemas.microsoft.com/office/drawing/2014/main" id="{72FD0DE3-2EE4-42E0-9E48-EE89B8839F22}"/>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a:solidFill>
                      <a:srgbClr val="1F497D"/>
                    </a:solidFill>
                    <a:latin typeface="微软雅黑" pitchFamily="34" charset="-122"/>
                    <a:ea typeface="微软雅黑" pitchFamily="34" charset="-122"/>
                  </a:rPr>
                  <a:t>-</a:t>
                </a:r>
              </a:p>
            </p:txBody>
          </p:sp>
          <p:sp>
            <p:nvSpPr>
              <p:cNvPr id="46" name="Rectangle 7">
                <a:extLst>
                  <a:ext uri="{FF2B5EF4-FFF2-40B4-BE49-F238E27FC236}">
                    <a16:creationId xmlns:a16="http://schemas.microsoft.com/office/drawing/2014/main" id="{FD26AC33-2255-44F9-B37E-437C63E94964}"/>
                  </a:ext>
                </a:extLst>
              </p:cNvPr>
              <p:cNvSpPr>
                <a:spLocks noChangeArrowheads="1"/>
              </p:cNvSpPr>
              <p:nvPr/>
            </p:nvSpPr>
            <p:spPr bwMode="auto">
              <a:xfrm>
                <a:off x="4088" y="1344"/>
                <a:ext cx="205"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59" name="Group 8">
              <a:extLst>
                <a:ext uri="{FF2B5EF4-FFF2-40B4-BE49-F238E27FC236}">
                  <a16:creationId xmlns:a16="http://schemas.microsoft.com/office/drawing/2014/main" id="{B68D1FD4-5C47-48CA-84CE-6062AE31A17F}"/>
                </a:ext>
              </a:extLst>
            </p:cNvPr>
            <p:cNvGrpSpPr>
              <a:grpSpLocks/>
            </p:cNvGrpSpPr>
            <p:nvPr/>
          </p:nvGrpSpPr>
          <p:grpSpPr bwMode="auto">
            <a:xfrm>
              <a:off x="7127512" y="2817363"/>
              <a:ext cx="1441263" cy="383067"/>
              <a:chOff x="3651" y="1344"/>
              <a:chExt cx="681" cy="181"/>
            </a:xfrm>
          </p:grpSpPr>
          <p:sp>
            <p:nvSpPr>
              <p:cNvPr id="41" name="Rectangle 9">
                <a:extLst>
                  <a:ext uri="{FF2B5EF4-FFF2-40B4-BE49-F238E27FC236}">
                    <a16:creationId xmlns:a16="http://schemas.microsoft.com/office/drawing/2014/main" id="{DD0FE70D-C9FF-4023-BE7D-0B3AC85E59AA}"/>
                  </a:ext>
                </a:extLst>
              </p:cNvPr>
              <p:cNvSpPr>
                <a:spLocks noChangeArrowheads="1"/>
              </p:cNvSpPr>
              <p:nvPr/>
            </p:nvSpPr>
            <p:spPr bwMode="auto">
              <a:xfrm>
                <a:off x="3651" y="1344"/>
                <a:ext cx="227" cy="168"/>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42" name="Rectangle 10">
                <a:extLst>
                  <a:ext uri="{FF2B5EF4-FFF2-40B4-BE49-F238E27FC236}">
                    <a16:creationId xmlns:a16="http://schemas.microsoft.com/office/drawing/2014/main" id="{8BCD0B36-E152-443C-91E9-79FFFCFD67FB}"/>
                  </a:ext>
                </a:extLst>
              </p:cNvPr>
              <p:cNvSpPr>
                <a:spLocks noChangeArrowheads="1"/>
              </p:cNvSpPr>
              <p:nvPr/>
            </p:nvSpPr>
            <p:spPr bwMode="auto">
              <a:xfrm>
                <a:off x="3878" y="1344"/>
                <a:ext cx="210" cy="168"/>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43" name="Rectangle 11">
                <a:extLst>
                  <a:ext uri="{FF2B5EF4-FFF2-40B4-BE49-F238E27FC236}">
                    <a16:creationId xmlns:a16="http://schemas.microsoft.com/office/drawing/2014/main" id="{C65AB28E-9A2C-413E-BF24-674737025999}"/>
                  </a:ext>
                </a:extLst>
              </p:cNvPr>
              <p:cNvSpPr>
                <a:spLocks noChangeArrowheads="1"/>
              </p:cNvSpPr>
              <p:nvPr/>
            </p:nvSpPr>
            <p:spPr bwMode="auto">
              <a:xfrm>
                <a:off x="4088" y="1344"/>
                <a:ext cx="205" cy="168"/>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0" name="Group 12">
              <a:extLst>
                <a:ext uri="{FF2B5EF4-FFF2-40B4-BE49-F238E27FC236}">
                  <a16:creationId xmlns:a16="http://schemas.microsoft.com/office/drawing/2014/main" id="{04FCC0D7-27F0-45CB-948B-39642655BD2E}"/>
                </a:ext>
              </a:extLst>
            </p:cNvPr>
            <p:cNvGrpSpPr>
              <a:grpSpLocks/>
            </p:cNvGrpSpPr>
            <p:nvPr/>
          </p:nvGrpSpPr>
          <p:grpSpPr bwMode="auto">
            <a:xfrm>
              <a:off x="6071434" y="3873443"/>
              <a:ext cx="1441262" cy="383066"/>
              <a:chOff x="3651" y="1344"/>
              <a:chExt cx="681" cy="181"/>
            </a:xfrm>
          </p:grpSpPr>
          <p:sp>
            <p:nvSpPr>
              <p:cNvPr id="38" name="Rectangle 13">
                <a:extLst>
                  <a:ext uri="{FF2B5EF4-FFF2-40B4-BE49-F238E27FC236}">
                    <a16:creationId xmlns:a16="http://schemas.microsoft.com/office/drawing/2014/main" id="{1DC374C1-2A48-4794-B044-10D650D7DD05}"/>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9" name="Rectangle 14">
                <a:extLst>
                  <a:ext uri="{FF2B5EF4-FFF2-40B4-BE49-F238E27FC236}">
                    <a16:creationId xmlns:a16="http://schemas.microsoft.com/office/drawing/2014/main" id="{43D28E17-B67E-412B-8DB1-264CC5841B69}"/>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40" name="Rectangle 15">
                <a:extLst>
                  <a:ext uri="{FF2B5EF4-FFF2-40B4-BE49-F238E27FC236}">
                    <a16:creationId xmlns:a16="http://schemas.microsoft.com/office/drawing/2014/main" id="{792C334B-2BF7-409E-8F4D-F4D1772DE67F}"/>
                  </a:ext>
                </a:extLst>
              </p:cNvPr>
              <p:cNvSpPr>
                <a:spLocks noChangeArrowheads="1"/>
              </p:cNvSpPr>
              <p:nvPr/>
            </p:nvSpPr>
            <p:spPr bwMode="auto">
              <a:xfrm>
                <a:off x="4088" y="1344"/>
                <a:ext cx="205"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1" name="Group 16">
              <a:extLst>
                <a:ext uri="{FF2B5EF4-FFF2-40B4-BE49-F238E27FC236}">
                  <a16:creationId xmlns:a16="http://schemas.microsoft.com/office/drawing/2014/main" id="{C9AC8AA1-79F8-46F1-8E82-ECA4935E7F37}"/>
                </a:ext>
              </a:extLst>
            </p:cNvPr>
            <p:cNvGrpSpPr>
              <a:grpSpLocks/>
            </p:cNvGrpSpPr>
            <p:nvPr/>
          </p:nvGrpSpPr>
          <p:grpSpPr bwMode="auto">
            <a:xfrm>
              <a:off x="8854487" y="3873443"/>
              <a:ext cx="1441263" cy="383066"/>
              <a:chOff x="3651" y="1344"/>
              <a:chExt cx="681" cy="181"/>
            </a:xfrm>
          </p:grpSpPr>
          <p:sp>
            <p:nvSpPr>
              <p:cNvPr id="35" name="Rectangle 17">
                <a:extLst>
                  <a:ext uri="{FF2B5EF4-FFF2-40B4-BE49-F238E27FC236}">
                    <a16:creationId xmlns:a16="http://schemas.microsoft.com/office/drawing/2014/main" id="{EC07BF8D-9B9A-4022-8EB7-C6E7D26BE8FD}"/>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6" name="Rectangle 18">
                <a:extLst>
                  <a:ext uri="{FF2B5EF4-FFF2-40B4-BE49-F238E27FC236}">
                    <a16:creationId xmlns:a16="http://schemas.microsoft.com/office/drawing/2014/main" id="{69D9CF04-93A5-4DF5-BCF6-17D16F0987DC}"/>
                  </a:ext>
                </a:extLst>
              </p:cNvPr>
              <p:cNvSpPr>
                <a:spLocks noChangeArrowheads="1"/>
              </p:cNvSpPr>
              <p:nvPr/>
            </p:nvSpPr>
            <p:spPr bwMode="auto">
              <a:xfrm>
                <a:off x="3878"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dirty="0">
                    <a:solidFill>
                      <a:srgbClr val="1F497D"/>
                    </a:solidFill>
                    <a:latin typeface="微软雅黑" pitchFamily="34" charset="-122"/>
                    <a:ea typeface="微软雅黑" pitchFamily="34" charset="-122"/>
                  </a:rPr>
                  <a:t>+</a:t>
                </a:r>
              </a:p>
            </p:txBody>
          </p:sp>
          <p:sp>
            <p:nvSpPr>
              <p:cNvPr id="37" name="Rectangle 19">
                <a:extLst>
                  <a:ext uri="{FF2B5EF4-FFF2-40B4-BE49-F238E27FC236}">
                    <a16:creationId xmlns:a16="http://schemas.microsoft.com/office/drawing/2014/main" id="{46345DCA-81D8-4740-A657-7BD2B324386A}"/>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2" name="Group 20">
              <a:extLst>
                <a:ext uri="{FF2B5EF4-FFF2-40B4-BE49-F238E27FC236}">
                  <a16:creationId xmlns:a16="http://schemas.microsoft.com/office/drawing/2014/main" id="{F87FC1B5-4403-47B5-A445-54BEEBF54857}"/>
                </a:ext>
              </a:extLst>
            </p:cNvPr>
            <p:cNvGrpSpPr>
              <a:grpSpLocks/>
            </p:cNvGrpSpPr>
            <p:nvPr/>
          </p:nvGrpSpPr>
          <p:grpSpPr bwMode="auto">
            <a:xfrm>
              <a:off x="8086238" y="4832167"/>
              <a:ext cx="1441262" cy="383067"/>
              <a:chOff x="3651" y="1344"/>
              <a:chExt cx="681" cy="181"/>
            </a:xfrm>
          </p:grpSpPr>
          <p:sp>
            <p:nvSpPr>
              <p:cNvPr id="32" name="Rectangle 21">
                <a:extLst>
                  <a:ext uri="{FF2B5EF4-FFF2-40B4-BE49-F238E27FC236}">
                    <a16:creationId xmlns:a16="http://schemas.microsoft.com/office/drawing/2014/main" id="{2218F4D4-F0EB-489B-B095-37B36072E225}"/>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3" name="Rectangle 22">
                <a:extLst>
                  <a:ext uri="{FF2B5EF4-FFF2-40B4-BE49-F238E27FC236}">
                    <a16:creationId xmlns:a16="http://schemas.microsoft.com/office/drawing/2014/main" id="{B65C9E94-E661-43EE-A4B3-1DC846D0C031}"/>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34" name="Rectangle 23">
                <a:extLst>
                  <a:ext uri="{FF2B5EF4-FFF2-40B4-BE49-F238E27FC236}">
                    <a16:creationId xmlns:a16="http://schemas.microsoft.com/office/drawing/2014/main" id="{0A4C8330-D4F7-4946-98EF-170039D5F0D6}"/>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sp>
          <p:nvSpPr>
            <p:cNvPr id="13" name="Oval 24">
              <a:extLst>
                <a:ext uri="{FF2B5EF4-FFF2-40B4-BE49-F238E27FC236}">
                  <a16:creationId xmlns:a16="http://schemas.microsoft.com/office/drawing/2014/main" id="{422EB662-45D6-4FEA-819F-11E0AD81D75D}"/>
                </a:ext>
              </a:extLst>
            </p:cNvPr>
            <p:cNvSpPr>
              <a:spLocks noChangeArrowheads="1"/>
            </p:cNvSpPr>
            <p:nvPr/>
          </p:nvSpPr>
          <p:spPr bwMode="auto">
            <a:xfrm>
              <a:off x="10198422" y="2625172"/>
              <a:ext cx="480876"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srgbClr val="1F497D"/>
                  </a:solidFill>
                  <a:latin typeface="微软雅黑" pitchFamily="34" charset="-122"/>
                  <a:ea typeface="微软雅黑" pitchFamily="34" charset="-122"/>
                </a:rPr>
                <a:t>c</a:t>
              </a:r>
            </a:p>
          </p:txBody>
        </p:sp>
        <p:sp>
          <p:nvSpPr>
            <p:cNvPr id="14" name="Oval 25">
              <a:extLst>
                <a:ext uri="{FF2B5EF4-FFF2-40B4-BE49-F238E27FC236}">
                  <a16:creationId xmlns:a16="http://schemas.microsoft.com/office/drawing/2014/main" id="{A8DEE989-5737-42CD-9C3E-54E9E9451234}"/>
                </a:ext>
              </a:extLst>
            </p:cNvPr>
            <p:cNvSpPr>
              <a:spLocks noChangeArrowheads="1"/>
            </p:cNvSpPr>
            <p:nvPr/>
          </p:nvSpPr>
          <p:spPr bwMode="auto">
            <a:xfrm>
              <a:off x="6071433" y="4882573"/>
              <a:ext cx="480877" cy="429981"/>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4</a:t>
              </a:r>
            </a:p>
          </p:txBody>
        </p:sp>
        <p:sp>
          <p:nvSpPr>
            <p:cNvPr id="15" name="Oval 26">
              <a:extLst>
                <a:ext uri="{FF2B5EF4-FFF2-40B4-BE49-F238E27FC236}">
                  <a16:creationId xmlns:a16="http://schemas.microsoft.com/office/drawing/2014/main" id="{2E61503B-2D5E-4B8B-99CA-37B94B547E08}"/>
                </a:ext>
              </a:extLst>
            </p:cNvPr>
            <p:cNvSpPr>
              <a:spLocks noChangeArrowheads="1"/>
            </p:cNvSpPr>
            <p:nvPr/>
          </p:nvSpPr>
          <p:spPr bwMode="auto">
            <a:xfrm>
              <a:off x="7031049" y="4832115"/>
              <a:ext cx="478739"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6" name="Oval 27">
              <a:extLst>
                <a:ext uri="{FF2B5EF4-FFF2-40B4-BE49-F238E27FC236}">
                  <a16:creationId xmlns:a16="http://schemas.microsoft.com/office/drawing/2014/main" id="{6460C554-F9F1-4C9C-9DFC-981E6AD71E19}"/>
                </a:ext>
              </a:extLst>
            </p:cNvPr>
            <p:cNvSpPr>
              <a:spLocks noChangeArrowheads="1"/>
            </p:cNvSpPr>
            <p:nvPr/>
          </p:nvSpPr>
          <p:spPr bwMode="auto">
            <a:xfrm>
              <a:off x="10583123" y="4737783"/>
              <a:ext cx="480876" cy="480437"/>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a</a:t>
              </a:r>
            </a:p>
          </p:txBody>
        </p:sp>
        <p:sp>
          <p:nvSpPr>
            <p:cNvPr id="17" name="Oval 28">
              <a:extLst>
                <a:ext uri="{FF2B5EF4-FFF2-40B4-BE49-F238E27FC236}">
                  <a16:creationId xmlns:a16="http://schemas.microsoft.com/office/drawing/2014/main" id="{917E9ABF-83C3-4EF8-929B-62C7C55D89A4}"/>
                </a:ext>
              </a:extLst>
            </p:cNvPr>
            <p:cNvSpPr>
              <a:spLocks noChangeArrowheads="1"/>
            </p:cNvSpPr>
            <p:nvPr/>
          </p:nvSpPr>
          <p:spPr bwMode="auto">
            <a:xfrm>
              <a:off x="7990664" y="5792991"/>
              <a:ext cx="480877"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spcBef>
                  <a:spcPts val="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2</a:t>
              </a:r>
            </a:p>
          </p:txBody>
        </p:sp>
        <p:sp>
          <p:nvSpPr>
            <p:cNvPr id="18" name="Oval 29">
              <a:extLst>
                <a:ext uri="{FF2B5EF4-FFF2-40B4-BE49-F238E27FC236}">
                  <a16:creationId xmlns:a16="http://schemas.microsoft.com/office/drawing/2014/main" id="{7D0BF11B-889C-44E1-AC55-2AE1A655CC52}"/>
                </a:ext>
              </a:extLst>
            </p:cNvPr>
            <p:cNvSpPr>
              <a:spLocks noChangeArrowheads="1"/>
            </p:cNvSpPr>
            <p:nvPr/>
          </p:nvSpPr>
          <p:spPr bwMode="auto">
            <a:xfrm>
              <a:off x="9142631" y="5792991"/>
              <a:ext cx="480876"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x</a:t>
              </a:r>
            </a:p>
          </p:txBody>
        </p:sp>
        <p:sp>
          <p:nvSpPr>
            <p:cNvPr id="19" name="Line 30">
              <a:extLst>
                <a:ext uri="{FF2B5EF4-FFF2-40B4-BE49-F238E27FC236}">
                  <a16:creationId xmlns:a16="http://schemas.microsoft.com/office/drawing/2014/main" id="{A1F9477A-1BB5-4E30-8508-F31108B40329}"/>
                </a:ext>
              </a:extLst>
            </p:cNvPr>
            <p:cNvSpPr>
              <a:spLocks noChangeShapeType="1"/>
            </p:cNvSpPr>
            <p:nvPr/>
          </p:nvSpPr>
          <p:spPr bwMode="auto">
            <a:xfrm flipH="1">
              <a:off x="7896626" y="2144735"/>
              <a:ext cx="863440" cy="673490"/>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0" name="Line 31">
              <a:extLst>
                <a:ext uri="{FF2B5EF4-FFF2-40B4-BE49-F238E27FC236}">
                  <a16:creationId xmlns:a16="http://schemas.microsoft.com/office/drawing/2014/main" id="{203002C6-0F19-4175-8030-04183DBDFDD8}"/>
                </a:ext>
              </a:extLst>
            </p:cNvPr>
            <p:cNvSpPr>
              <a:spLocks noChangeShapeType="1"/>
            </p:cNvSpPr>
            <p:nvPr/>
          </p:nvSpPr>
          <p:spPr bwMode="auto">
            <a:xfrm>
              <a:off x="9717545" y="2144735"/>
              <a:ext cx="673228" cy="48043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1" name="Line 32">
              <a:extLst>
                <a:ext uri="{FF2B5EF4-FFF2-40B4-BE49-F238E27FC236}">
                  <a16:creationId xmlns:a16="http://schemas.microsoft.com/office/drawing/2014/main" id="{75FE7A13-F6DA-456A-8196-38A73FE977D5}"/>
                </a:ext>
              </a:extLst>
            </p:cNvPr>
            <p:cNvSpPr>
              <a:spLocks noChangeShapeType="1"/>
            </p:cNvSpPr>
            <p:nvPr/>
          </p:nvSpPr>
          <p:spPr bwMode="auto">
            <a:xfrm flipH="1">
              <a:off x="6742523" y="3006890"/>
              <a:ext cx="673228" cy="8665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2" name="Line 33">
              <a:extLst>
                <a:ext uri="{FF2B5EF4-FFF2-40B4-BE49-F238E27FC236}">
                  <a16:creationId xmlns:a16="http://schemas.microsoft.com/office/drawing/2014/main" id="{4D6FF507-6158-4977-B043-D6619AF6E5B1}"/>
                </a:ext>
              </a:extLst>
            </p:cNvPr>
            <p:cNvSpPr>
              <a:spLocks noChangeShapeType="1"/>
            </p:cNvSpPr>
            <p:nvPr/>
          </p:nvSpPr>
          <p:spPr bwMode="auto">
            <a:xfrm>
              <a:off x="8373229" y="3006890"/>
              <a:ext cx="1250278" cy="8665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3" name="Line 34">
              <a:extLst>
                <a:ext uri="{FF2B5EF4-FFF2-40B4-BE49-F238E27FC236}">
                  <a16:creationId xmlns:a16="http://schemas.microsoft.com/office/drawing/2014/main" id="{5B1B9A01-C335-495A-A937-10B0C3B188C0}"/>
                </a:ext>
              </a:extLst>
            </p:cNvPr>
            <p:cNvSpPr>
              <a:spLocks noChangeShapeType="1"/>
            </p:cNvSpPr>
            <p:nvPr/>
          </p:nvSpPr>
          <p:spPr bwMode="auto">
            <a:xfrm>
              <a:off x="6263784" y="4160818"/>
              <a:ext cx="0" cy="67129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4" name="Line 35">
              <a:extLst>
                <a:ext uri="{FF2B5EF4-FFF2-40B4-BE49-F238E27FC236}">
                  <a16:creationId xmlns:a16="http://schemas.microsoft.com/office/drawing/2014/main" id="{08BE0D6F-99FC-44E9-827F-1786DB9D7ECD}"/>
                </a:ext>
              </a:extLst>
            </p:cNvPr>
            <p:cNvSpPr>
              <a:spLocks noChangeShapeType="1"/>
            </p:cNvSpPr>
            <p:nvPr/>
          </p:nvSpPr>
          <p:spPr bwMode="auto">
            <a:xfrm>
              <a:off x="7317438" y="4064292"/>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5" name="Line 36">
              <a:extLst>
                <a:ext uri="{FF2B5EF4-FFF2-40B4-BE49-F238E27FC236}">
                  <a16:creationId xmlns:a16="http://schemas.microsoft.com/office/drawing/2014/main" id="{80A749F2-4D96-400D-B86C-85589DE3423F}"/>
                </a:ext>
              </a:extLst>
            </p:cNvPr>
            <p:cNvSpPr>
              <a:spLocks noChangeShapeType="1"/>
            </p:cNvSpPr>
            <p:nvPr/>
          </p:nvSpPr>
          <p:spPr bwMode="auto">
            <a:xfrm flipH="1">
              <a:off x="8854105" y="4064292"/>
              <a:ext cx="192351"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6" name="Line 37">
              <a:extLst>
                <a:ext uri="{FF2B5EF4-FFF2-40B4-BE49-F238E27FC236}">
                  <a16:creationId xmlns:a16="http://schemas.microsoft.com/office/drawing/2014/main" id="{39897839-4D22-4596-855B-91F36E02F617}"/>
                </a:ext>
              </a:extLst>
            </p:cNvPr>
            <p:cNvSpPr>
              <a:spLocks noChangeShapeType="1"/>
            </p:cNvSpPr>
            <p:nvPr/>
          </p:nvSpPr>
          <p:spPr bwMode="auto">
            <a:xfrm>
              <a:off x="10102246" y="4064292"/>
              <a:ext cx="671090" cy="673491"/>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7" name="Line 38">
              <a:extLst>
                <a:ext uri="{FF2B5EF4-FFF2-40B4-BE49-F238E27FC236}">
                  <a16:creationId xmlns:a16="http://schemas.microsoft.com/office/drawing/2014/main" id="{C02082A3-B254-46D2-B8A8-540ACE0F161F}"/>
                </a:ext>
              </a:extLst>
            </p:cNvPr>
            <p:cNvSpPr>
              <a:spLocks noChangeShapeType="1"/>
            </p:cNvSpPr>
            <p:nvPr/>
          </p:nvSpPr>
          <p:spPr bwMode="auto">
            <a:xfrm>
              <a:off x="8279191" y="5025168"/>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8" name="Line 39">
              <a:extLst>
                <a:ext uri="{FF2B5EF4-FFF2-40B4-BE49-F238E27FC236}">
                  <a16:creationId xmlns:a16="http://schemas.microsoft.com/office/drawing/2014/main" id="{27675505-914E-4C52-A295-158421F0BFE6}"/>
                </a:ext>
              </a:extLst>
            </p:cNvPr>
            <p:cNvSpPr>
              <a:spLocks noChangeShapeType="1"/>
            </p:cNvSpPr>
            <p:nvPr/>
          </p:nvSpPr>
          <p:spPr bwMode="auto">
            <a:xfrm>
              <a:off x="9334982" y="5025168"/>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74779" name="矩形 28">
              <a:extLst>
                <a:ext uri="{FF2B5EF4-FFF2-40B4-BE49-F238E27FC236}">
                  <a16:creationId xmlns:a16="http://schemas.microsoft.com/office/drawing/2014/main" id="{4CB823A8-4B20-41BF-8A3F-DA09D93265E5}"/>
                </a:ext>
              </a:extLst>
            </p:cNvPr>
            <p:cNvSpPr>
              <a:spLocks noChangeArrowheads="1"/>
            </p:cNvSpPr>
            <p:nvPr/>
          </p:nvSpPr>
          <p:spPr bwMode="auto">
            <a:xfrm>
              <a:off x="6552696" y="3954098"/>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4780" name="矩形 29">
              <a:extLst>
                <a:ext uri="{FF2B5EF4-FFF2-40B4-BE49-F238E27FC236}">
                  <a16:creationId xmlns:a16="http://schemas.microsoft.com/office/drawing/2014/main" id="{55FAAC76-D9D1-4997-A38D-20E17203BB21}"/>
                </a:ext>
              </a:extLst>
            </p:cNvPr>
            <p:cNvSpPr>
              <a:spLocks noChangeArrowheads="1"/>
            </p:cNvSpPr>
            <p:nvPr/>
          </p:nvSpPr>
          <p:spPr bwMode="auto">
            <a:xfrm>
              <a:off x="8575876" y="4920804"/>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4781" name="矩形 30">
              <a:extLst>
                <a:ext uri="{FF2B5EF4-FFF2-40B4-BE49-F238E27FC236}">
                  <a16:creationId xmlns:a16="http://schemas.microsoft.com/office/drawing/2014/main" id="{02D6FC1D-B874-4851-9507-27EC437C97F4}"/>
                </a:ext>
              </a:extLst>
            </p:cNvPr>
            <p:cNvSpPr>
              <a:spLocks noChangeArrowheads="1"/>
            </p:cNvSpPr>
            <p:nvPr/>
          </p:nvSpPr>
          <p:spPr bwMode="auto">
            <a:xfrm>
              <a:off x="7631392" y="2910572"/>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grpSp>
      <p:sp>
        <p:nvSpPr>
          <p:cNvPr id="47" name="任意多边形: 形状 69">
            <a:extLst>
              <a:ext uri="{FF2B5EF4-FFF2-40B4-BE49-F238E27FC236}">
                <a16:creationId xmlns:a16="http://schemas.microsoft.com/office/drawing/2014/main" id="{47E8E7E4-B00E-45F5-B37B-FA6EE410856A}"/>
              </a:ext>
            </a:extLst>
          </p:cNvPr>
          <p:cNvSpPr/>
          <p:nvPr/>
        </p:nvSpPr>
        <p:spPr>
          <a:xfrm>
            <a:off x="7866063" y="5321956"/>
            <a:ext cx="2499006"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表达式树</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48" name="任意多边形: 形状 69">
            <a:extLst>
              <a:ext uri="{FF2B5EF4-FFF2-40B4-BE49-F238E27FC236}">
                <a16:creationId xmlns:a16="http://schemas.microsoft.com/office/drawing/2014/main" id="{B52C6680-347E-441F-816D-AD83E7DC0D70}"/>
              </a:ext>
            </a:extLst>
          </p:cNvPr>
          <p:cNvSpPr/>
          <p:nvPr/>
        </p:nvSpPr>
        <p:spPr>
          <a:xfrm>
            <a:off x="657225" y="4818062"/>
            <a:ext cx="5080561"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后缀表达式的逻辑结构具有</a:t>
            </a:r>
            <a:r>
              <a:rPr lang="zh-CN" altLang="en-US" sz="2000" dirty="0">
                <a:solidFill>
                  <a:srgbClr val="FFFF00"/>
                </a:solidFill>
                <a:latin typeface="Microsoft YaHei" panose="020B0503020204020204" pitchFamily="34" charset="-122"/>
                <a:ea typeface="Microsoft YaHei" panose="020B0503020204020204" pitchFamily="34" charset="-122"/>
              </a:rPr>
              <a:t>线性</a:t>
            </a:r>
            <a:r>
              <a:rPr lang="zh-CN" altLang="en-US" sz="2000" dirty="0">
                <a:solidFill>
                  <a:schemeClr val="bg1"/>
                </a:solidFill>
                <a:latin typeface="Microsoft YaHei" panose="020B0503020204020204" pitchFamily="34" charset="-122"/>
                <a:ea typeface="Microsoft YaHei" panose="020B0503020204020204" pitchFamily="34" charset="-122"/>
              </a:rPr>
              <a:t>的特征</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6008A0F-FA53-479B-9460-7954101B855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 </a:t>
            </a:r>
          </a:p>
        </p:txBody>
      </p:sp>
      <p:sp>
        <p:nvSpPr>
          <p:cNvPr id="3" name="文本占位符 2">
            <a:extLst>
              <a:ext uri="{FF2B5EF4-FFF2-40B4-BE49-F238E27FC236}">
                <a16:creationId xmlns:a16="http://schemas.microsoft.com/office/drawing/2014/main" id="{290E2CD8-3DEA-4858-8822-AB1A4C7EE791}"/>
              </a:ext>
            </a:extLst>
          </p:cNvPr>
          <p:cNvSpPr>
            <a:spLocks noGrp="1"/>
          </p:cNvSpPr>
          <p:nvPr>
            <p:ph type="body" idx="10"/>
          </p:nvPr>
        </p:nvSpPr>
        <p:spPr/>
        <p:txBody>
          <a:bodyPr/>
          <a:lstStyle/>
          <a:p>
            <a:endParaRPr lang="zh-CN" altLang="en-US"/>
          </a:p>
        </p:txBody>
      </p:sp>
      <p:sp>
        <p:nvSpPr>
          <p:cNvPr id="75779" name="Rectangle 3">
            <a:extLst>
              <a:ext uri="{FF2B5EF4-FFF2-40B4-BE49-F238E27FC236}">
                <a16:creationId xmlns:a16="http://schemas.microsoft.com/office/drawing/2014/main" id="{2C2558B6-5AEC-4B87-B512-5DA45AC66C64}"/>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indent="-44608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sz="2400" dirty="0">
                <a:latin typeface="微软雅黑" panose="020B0503020204020204" pitchFamily="34" charset="-122"/>
                <a:ea typeface="微软雅黑" panose="020B0503020204020204" pitchFamily="34" charset="-122"/>
              </a:rPr>
              <a:t>循环：</a:t>
            </a:r>
            <a:r>
              <a:rPr kumimoji="0" lang="zh-CN" altLang="zh-CN" sz="2400" dirty="0">
                <a:solidFill>
                  <a:srgbClr val="0070C0"/>
                </a:solidFill>
                <a:latin typeface="微软雅黑" panose="020B0503020204020204" pitchFamily="34" charset="-122"/>
                <a:ea typeface="微软雅黑" panose="020B0503020204020204" pitchFamily="34" charset="-122"/>
              </a:rPr>
              <a:t>依序读入</a:t>
            </a:r>
            <a:r>
              <a:rPr kumimoji="0" lang="zh-CN" altLang="zh-CN" sz="2400" dirty="0">
                <a:latin typeface="微软雅黑" panose="020B0503020204020204" pitchFamily="34" charset="-122"/>
                <a:ea typeface="微软雅黑" panose="020B0503020204020204" pitchFamily="34" charset="-122"/>
              </a:rPr>
              <a:t>表达式的符号序列（以</a:t>
            </a:r>
            <a:r>
              <a:rPr kumimoji="0" lang="zh-CN" altLang="zh-CN" sz="2400" dirty="0">
                <a:solidFill>
                  <a:srgbClr val="C00000"/>
                </a:solidFill>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作为输入序列的结束），根据读入元素符号逐一分析</a:t>
            </a:r>
            <a:r>
              <a:rPr kumimoji="0" lang="zh-CN" altLang="en-US" sz="2400" dirty="0">
                <a:latin typeface="微软雅黑" panose="020B0503020204020204" pitchFamily="34" charset="-122"/>
                <a:ea typeface="微软雅黑" panose="020B0503020204020204" pitchFamily="34" charset="-122"/>
              </a:rPr>
              <a:t>处理</a:t>
            </a:r>
            <a:r>
              <a:rPr kumimoji="0" lang="zh-CN" altLang="zh-CN" sz="2400" dirty="0">
                <a:latin typeface="微软雅黑" panose="020B0503020204020204" pitchFamily="34" charset="-122"/>
                <a:ea typeface="微软雅黑" panose="020B0503020204020204" pitchFamily="34" charset="-122"/>
              </a:rPr>
              <a:t>：</a:t>
            </a:r>
          </a:p>
          <a:p>
            <a:pPr lvl="1" indent="-322263">
              <a:lnSpc>
                <a:spcPct val="110000"/>
              </a:lnSpc>
              <a:spcBef>
                <a:spcPts val="600"/>
              </a:spcBef>
            </a:pPr>
            <a:r>
              <a:rPr lang="zh-CN" altLang="zh-CN" dirty="0">
                <a:solidFill>
                  <a:srgbClr val="0000FF"/>
                </a:solidFill>
                <a:latin typeface="微软雅黑" panose="020B0503020204020204" pitchFamily="34" charset="-122"/>
                <a:ea typeface="微软雅黑" panose="020B0503020204020204" pitchFamily="34" charset="-122"/>
              </a:rPr>
              <a:t>操作数</a:t>
            </a:r>
            <a:r>
              <a:rPr lang="zh-CN" altLang="zh-CN" dirty="0">
                <a:latin typeface="微软雅黑" panose="020B0503020204020204" pitchFamily="34" charset="-122"/>
                <a:ea typeface="微软雅黑" panose="020B0503020204020204" pitchFamily="34" charset="-122"/>
              </a:rPr>
              <a:t>，将其压入栈</a:t>
            </a:r>
            <a:r>
              <a:rPr lang="zh-CN" altLang="en-US" dirty="0">
                <a:latin typeface="微软雅黑" panose="020B0503020204020204" pitchFamily="34" charset="-122"/>
                <a:ea typeface="微软雅黑" panose="020B0503020204020204" pitchFamily="34" charset="-122"/>
              </a:rPr>
              <a:t>中</a:t>
            </a:r>
            <a:r>
              <a:rPr lang="zh-CN" altLang="zh-CN" dirty="0">
                <a:latin typeface="微软雅黑" panose="020B0503020204020204" pitchFamily="34" charset="-122"/>
                <a:ea typeface="微软雅黑" panose="020B0503020204020204" pitchFamily="34" charset="-122"/>
              </a:rPr>
              <a:t>；</a:t>
            </a:r>
          </a:p>
          <a:p>
            <a:pPr lvl="1" indent="-322263">
              <a:lnSpc>
                <a:spcPct val="110000"/>
              </a:lnSpc>
              <a:spcBef>
                <a:spcPts val="600"/>
              </a:spcBef>
            </a:pPr>
            <a:r>
              <a:rPr lang="zh-CN" altLang="zh-CN" dirty="0">
                <a:solidFill>
                  <a:srgbClr val="C00000"/>
                </a:solidFill>
                <a:latin typeface="微软雅黑" panose="020B0503020204020204" pitchFamily="34" charset="-122"/>
                <a:ea typeface="微软雅黑" panose="020B0503020204020204" pitchFamily="34" charset="-122"/>
              </a:rPr>
              <a:t>运算符</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从栈中两次取出栈顶，按照运算符对这两个操作数进行</a:t>
            </a:r>
            <a:r>
              <a:rPr lang="zh-CN" altLang="en-US" dirty="0">
                <a:latin typeface="微软雅黑" panose="020B0503020204020204" pitchFamily="34" charset="-122"/>
                <a:ea typeface="微软雅黑" panose="020B0503020204020204" pitchFamily="34" charset="-122"/>
              </a:rPr>
              <a:t>相应</a:t>
            </a:r>
            <a:r>
              <a:rPr lang="zh-CN" altLang="zh-CN" dirty="0">
                <a:latin typeface="微软雅黑" panose="020B0503020204020204" pitchFamily="34" charset="-122"/>
                <a:ea typeface="微软雅黑" panose="020B0503020204020204" pitchFamily="34" charset="-122"/>
              </a:rPr>
              <a:t>计算</a:t>
            </a:r>
            <a:r>
              <a:rPr lang="zh-CN" altLang="en-US" dirty="0">
                <a:latin typeface="微软雅黑" panose="020B0503020204020204" pitchFamily="34" charset="-122"/>
                <a:ea typeface="微软雅黑" panose="020B0503020204020204" pitchFamily="34" charset="-122"/>
              </a:rPr>
              <a:t>，并</a:t>
            </a:r>
            <a:r>
              <a:rPr lang="zh-CN" altLang="zh-CN" dirty="0">
                <a:latin typeface="微软雅黑" panose="020B0503020204020204" pitchFamily="34" charset="-122"/>
                <a:ea typeface="微软雅黑" panose="020B0503020204020204" pitchFamily="34" charset="-122"/>
              </a:rPr>
              <a:t>将计算结果压</a:t>
            </a:r>
            <a:r>
              <a:rPr lang="zh-CN" altLang="en-US" dirty="0">
                <a:latin typeface="微软雅黑" panose="020B0503020204020204" pitchFamily="34" charset="-122"/>
                <a:ea typeface="微软雅黑" panose="020B0503020204020204" pitchFamily="34" charset="-122"/>
              </a:rPr>
              <a:t>回栈；</a:t>
            </a:r>
            <a:endParaRPr lang="zh-CN" altLang="zh-CN" dirty="0">
              <a:latin typeface="微软雅黑" panose="020B0503020204020204" pitchFamily="34" charset="-122"/>
              <a:ea typeface="微软雅黑" panose="020B0503020204020204" pitchFamily="34" charset="-122"/>
            </a:endParaRPr>
          </a:p>
          <a:p>
            <a:pPr marL="446088" indent="-446088" eaLnBrk="1" hangingPunct="1">
              <a:lnSpc>
                <a:spcPct val="110000"/>
              </a:lnSpc>
              <a:spcBef>
                <a:spcPts val="600"/>
              </a:spcBef>
              <a:buClr>
                <a:schemeClr val="tx1"/>
              </a:buClr>
              <a:buSzPct val="85000"/>
              <a:buFont typeface="Wingdings" panose="05000000000000000000" pitchFamily="2" charset="2"/>
              <a:buAutoNum type="arabicPeriod"/>
            </a:pPr>
            <a:endParaRPr kumimoji="0" lang="en-US" altLang="zh-CN" sz="1400" dirty="0">
              <a:latin typeface="微软雅黑" panose="020B0503020204020204" pitchFamily="34" charset="-122"/>
              <a:ea typeface="微软雅黑" panose="020B0503020204020204" pitchFamily="34" charset="-122"/>
            </a:endParaRPr>
          </a:p>
          <a:p>
            <a:pPr marL="446088" indent="-44608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sz="2400" dirty="0">
                <a:latin typeface="微软雅黑" panose="020B0503020204020204" pitchFamily="34" charset="-122"/>
                <a:ea typeface="微软雅黑" panose="020B0503020204020204" pitchFamily="34" charset="-122"/>
              </a:rPr>
              <a:t>如此继续，直到遇到符号</a:t>
            </a:r>
            <a:r>
              <a:rPr kumimoji="0" lang="zh-CN" altLang="zh-CN" sz="2400" dirty="0">
                <a:solidFill>
                  <a:srgbClr val="C0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a:t>
            </a:r>
            <a:r>
              <a:rPr kumimoji="0" lang="zh-CN" altLang="zh-CN" sz="2400" dirty="0">
                <a:latin typeface="微软雅黑" panose="020B0503020204020204" pitchFamily="34" charset="-122"/>
                <a:ea typeface="微软雅黑" panose="020B0503020204020204" pitchFamily="34" charset="-122"/>
              </a:rPr>
              <a:t>此时栈顶</a:t>
            </a:r>
            <a:r>
              <a:rPr kumimoji="0" lang="zh-CN" altLang="en-US" sz="2400" dirty="0">
                <a:latin typeface="微软雅黑" panose="020B0503020204020204" pitchFamily="34" charset="-122"/>
                <a:ea typeface="微软雅黑" panose="020B0503020204020204" pitchFamily="34" charset="-122"/>
              </a:rPr>
              <a:t>元素</a:t>
            </a:r>
            <a:r>
              <a:rPr kumimoji="0" lang="zh-CN" altLang="zh-CN" sz="2400" dirty="0">
                <a:latin typeface="微软雅黑" panose="020B0503020204020204" pitchFamily="34" charset="-122"/>
                <a:ea typeface="微软雅黑" panose="020B0503020204020204" pitchFamily="34" charset="-122"/>
              </a:rPr>
              <a:t>即为输入表达式的值 </a:t>
            </a:r>
            <a:endParaRPr kumimoji="0" lang="en-US" altLang="zh-CN" sz="2400" dirty="0">
              <a:latin typeface="微软雅黑" panose="020B0503020204020204" pitchFamily="34" charset="-122"/>
              <a:ea typeface="微软雅黑" panose="020B0503020204020204" pitchFamily="34" charset="-122"/>
            </a:endParaRPr>
          </a:p>
          <a:p>
            <a:pPr marL="0" indent="0" eaLnBrk="1" hangingPunct="1">
              <a:lnSpc>
                <a:spcPct val="105000"/>
              </a:lnSpc>
              <a:spcBef>
                <a:spcPts val="600"/>
              </a:spcBef>
              <a:buClr>
                <a:schemeClr val="tx1"/>
              </a:buClr>
              <a:buSzPct val="85000"/>
              <a:buNone/>
            </a:pPr>
            <a:endParaRPr kumimoji="0" lang="en-US" altLang="zh-CN" sz="2400" dirty="0">
              <a:latin typeface="微软雅黑" panose="020B0503020204020204" pitchFamily="34" charset="-122"/>
              <a:ea typeface="微软雅黑" panose="020B0503020204020204" pitchFamily="34" charset="-122"/>
            </a:endParaRPr>
          </a:p>
          <a:p>
            <a:pPr marL="0" indent="0" algn="ctr">
              <a:lnSpc>
                <a:spcPct val="105000"/>
              </a:lnSpc>
              <a:spcBef>
                <a:spcPts val="600"/>
              </a:spcBef>
              <a:buClr>
                <a:schemeClr val="tx1"/>
              </a:buClr>
              <a:buSzPct val="85000"/>
              <a:buNone/>
            </a:pPr>
            <a:r>
              <a:rPr lang="en-US" altLang="zh-CN" dirty="0"/>
              <a:t>23 34 45 * 5 6 + 7 + / +  =</a:t>
            </a:r>
            <a:r>
              <a:rPr lang="zh-CN" altLang="zh-CN" dirty="0"/>
              <a:t>？</a:t>
            </a:r>
            <a:endParaRPr kumimoji="0" lang="zh-CN" altLang="zh-CN" sz="2400" dirty="0">
              <a:latin typeface="微软雅黑" panose="020B0503020204020204" pitchFamily="34" charset="-122"/>
              <a:ea typeface="微软雅黑" panose="020B0503020204020204" pitchFamily="34" charset="-122"/>
            </a:endParaRPr>
          </a:p>
        </p:txBody>
      </p:sp>
      <p:sp>
        <p:nvSpPr>
          <p:cNvPr id="8" name="Text Box 4">
            <a:extLst>
              <a:ext uri="{FF2B5EF4-FFF2-40B4-BE49-F238E27FC236}">
                <a16:creationId xmlns:a16="http://schemas.microsoft.com/office/drawing/2014/main" id="{DE466DAD-2B3C-4F96-A79E-1F0C776B738C}"/>
              </a:ext>
            </a:extLst>
          </p:cNvPr>
          <p:cNvSpPr txBox="1">
            <a:spLocks noChangeArrowheads="1"/>
          </p:cNvSpPr>
          <p:nvPr/>
        </p:nvSpPr>
        <p:spPr bwMode="auto">
          <a:xfrm>
            <a:off x="1749437" y="5433827"/>
            <a:ext cx="87249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zh-CN" altLang="en-US" sz="2800" b="1" dirty="0">
                <a:solidFill>
                  <a:srgbClr val="0000FF"/>
                </a:solidFill>
                <a:latin typeface="微软雅黑" panose="020B0503020204020204" pitchFamily="34" charset="-122"/>
                <a:ea typeface="微软雅黑" panose="020B0503020204020204" pitchFamily="34" charset="-122"/>
              </a:rPr>
              <a:t>计算特点？</a:t>
            </a:r>
            <a:endParaRPr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5" name="副标题 4">
            <a:extLst>
              <a:ext uri="{FF2B5EF4-FFF2-40B4-BE49-F238E27FC236}">
                <a16:creationId xmlns:a16="http://schemas.microsoft.com/office/drawing/2014/main" id="{C04E34E0-5AEA-4EE3-AC72-9D995F6CD5E9}"/>
              </a:ext>
            </a:extLst>
          </p:cNvPr>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a:extLst>
              <a:ext uri="{FF2B5EF4-FFF2-40B4-BE49-F238E27FC236}">
                <a16:creationId xmlns:a16="http://schemas.microsoft.com/office/drawing/2014/main" id="{0B05ADFE-8469-4571-82E6-1C3AAE9E4DE8}"/>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a:t>
            </a:r>
          </a:p>
        </p:txBody>
      </p:sp>
      <p:sp>
        <p:nvSpPr>
          <p:cNvPr id="2" name="副标题 1">
            <a:extLst>
              <a:ext uri="{FF2B5EF4-FFF2-40B4-BE49-F238E27FC236}">
                <a16:creationId xmlns:a16="http://schemas.microsoft.com/office/drawing/2014/main" id="{D7FB9285-E8D7-4551-B711-472ACA5B7B84}"/>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F23A3BC4-A77E-41D2-B5F7-93E321788956}"/>
              </a:ext>
            </a:extLst>
          </p:cNvPr>
          <p:cNvSpPr>
            <a:spLocks noGrp="1"/>
          </p:cNvSpPr>
          <p:nvPr>
            <p:ph type="body" idx="10"/>
          </p:nvPr>
        </p:nvSpPr>
        <p:spPr/>
        <p:txBody>
          <a:bodyPr/>
          <a:lstStyle/>
          <a:p>
            <a:endParaRPr lang="zh-CN" altLang="en-US"/>
          </a:p>
        </p:txBody>
      </p:sp>
      <p:sp>
        <p:nvSpPr>
          <p:cNvPr id="76803" name="内容占位符 2">
            <a:extLst>
              <a:ext uri="{FF2B5EF4-FFF2-40B4-BE49-F238E27FC236}">
                <a16:creationId xmlns:a16="http://schemas.microsoft.com/office/drawing/2014/main" id="{940C7087-6FF2-47B5-8142-BB186935B5D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zh-CN" dirty="0">
                <a:latin typeface="微软雅黑" panose="020B0503020204020204" pitchFamily="34" charset="-122"/>
                <a:ea typeface="微软雅黑" panose="020B0503020204020204" pitchFamily="34" charset="-122"/>
              </a:rPr>
              <a:t>待处理的后缀表达式</a:t>
            </a:r>
          </a:p>
        </p:txBody>
      </p:sp>
      <p:graphicFrame>
        <p:nvGraphicFramePr>
          <p:cNvPr id="7" name="Group 35">
            <a:extLst>
              <a:ext uri="{FF2B5EF4-FFF2-40B4-BE49-F238E27FC236}">
                <a16:creationId xmlns:a16="http://schemas.microsoft.com/office/drawing/2014/main" id="{C0A2B3B3-1F92-4302-BB46-F39AF5400BC0}"/>
              </a:ext>
            </a:extLst>
          </p:cNvPr>
          <p:cNvGraphicFramePr>
            <a:graphicFrameLocks/>
          </p:cNvGraphicFramePr>
          <p:nvPr/>
        </p:nvGraphicFramePr>
        <p:xfrm>
          <a:off x="4860925" y="3141663"/>
          <a:ext cx="1104900" cy="2998786"/>
        </p:xfrm>
        <a:graphic>
          <a:graphicData uri="http://schemas.openxmlformats.org/drawingml/2006/table">
            <a:tbl>
              <a:tblPr/>
              <a:tblGrid>
                <a:gridCol w="1104900">
                  <a:extLst>
                    <a:ext uri="{9D8B030D-6E8A-4147-A177-3AD203B41FA5}">
                      <a16:colId xmlns:a16="http://schemas.microsoft.com/office/drawing/2014/main" val="20000"/>
                    </a:ext>
                  </a:extLst>
                </a:gridCol>
              </a:tblGrid>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349">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059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r>
                        <a:rPr kumimoji="0" lang="en-US" altLang="zh-CN" sz="2900" b="0" i="0" u="none" strike="noStrike" cap="none" normalizeH="0" baseline="0" dirty="0">
                          <a:ln>
                            <a:noFill/>
                          </a:ln>
                          <a:solidFill>
                            <a:schemeClr val="tx1"/>
                          </a:solidFill>
                          <a:effectLst/>
                          <a:latin typeface="Comic Sans MS" pitchFamily="66" charset="0"/>
                          <a:ea typeface="宋体" pitchFamily="2" charset="-122"/>
                        </a:rPr>
                        <a:t> </a:t>
                      </a: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4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Rectangle 4">
            <a:extLst>
              <a:ext uri="{FF2B5EF4-FFF2-40B4-BE49-F238E27FC236}">
                <a16:creationId xmlns:a16="http://schemas.microsoft.com/office/drawing/2014/main" id="{8E74A75C-C00B-4E0C-AE59-54C688057D95}"/>
              </a:ext>
            </a:extLst>
          </p:cNvPr>
          <p:cNvSpPr>
            <a:spLocks noChangeArrowheads="1"/>
          </p:cNvSpPr>
          <p:nvPr/>
        </p:nvSpPr>
        <p:spPr bwMode="auto">
          <a:xfrm>
            <a:off x="284638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23</a:t>
            </a:r>
          </a:p>
        </p:txBody>
      </p:sp>
      <p:sp>
        <p:nvSpPr>
          <p:cNvPr id="9" name="Rectangle 5">
            <a:extLst>
              <a:ext uri="{FF2B5EF4-FFF2-40B4-BE49-F238E27FC236}">
                <a16:creationId xmlns:a16="http://schemas.microsoft.com/office/drawing/2014/main" id="{A302FD5D-6C45-40BA-BF4E-949FF6DDBB2E}"/>
              </a:ext>
            </a:extLst>
          </p:cNvPr>
          <p:cNvSpPr>
            <a:spLocks noChangeArrowheads="1"/>
          </p:cNvSpPr>
          <p:nvPr/>
        </p:nvSpPr>
        <p:spPr bwMode="auto">
          <a:xfrm>
            <a:off x="8801100" y="2444750"/>
            <a:ext cx="6238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solidFill>
                  <a:srgbClr val="FF0000"/>
                </a:solidFill>
                <a:latin typeface="微软雅黑" panose="020B0503020204020204" pitchFamily="34" charset="-122"/>
                <a:ea typeface="微软雅黑" panose="020B0503020204020204" pitchFamily="34" charset="-122"/>
              </a:rPr>
              <a:t>/</a:t>
            </a:r>
          </a:p>
        </p:txBody>
      </p:sp>
      <p:sp>
        <p:nvSpPr>
          <p:cNvPr id="10" name="Rectangle 6">
            <a:extLst>
              <a:ext uri="{FF2B5EF4-FFF2-40B4-BE49-F238E27FC236}">
                <a16:creationId xmlns:a16="http://schemas.microsoft.com/office/drawing/2014/main" id="{10330ADE-0A41-4D6A-9AD6-06C21823DFA6}"/>
              </a:ext>
            </a:extLst>
          </p:cNvPr>
          <p:cNvSpPr>
            <a:spLocks noChangeArrowheads="1"/>
          </p:cNvSpPr>
          <p:nvPr/>
        </p:nvSpPr>
        <p:spPr bwMode="auto">
          <a:xfrm>
            <a:off x="4191000" y="2443163"/>
            <a:ext cx="62388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45</a:t>
            </a:r>
          </a:p>
        </p:txBody>
      </p:sp>
      <p:sp>
        <p:nvSpPr>
          <p:cNvPr id="11" name="Rectangle 7">
            <a:extLst>
              <a:ext uri="{FF2B5EF4-FFF2-40B4-BE49-F238E27FC236}">
                <a16:creationId xmlns:a16="http://schemas.microsoft.com/office/drawing/2014/main" id="{5D551DB9-9377-43D6-BF26-FD9D377E9FB4}"/>
              </a:ext>
            </a:extLst>
          </p:cNvPr>
          <p:cNvSpPr>
            <a:spLocks noChangeArrowheads="1"/>
          </p:cNvSpPr>
          <p:nvPr/>
        </p:nvSpPr>
        <p:spPr bwMode="auto">
          <a:xfrm>
            <a:off x="5535613"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5</a:t>
            </a:r>
          </a:p>
        </p:txBody>
      </p:sp>
      <p:sp>
        <p:nvSpPr>
          <p:cNvPr id="12" name="Rectangle 8">
            <a:extLst>
              <a:ext uri="{FF2B5EF4-FFF2-40B4-BE49-F238E27FC236}">
                <a16:creationId xmlns:a16="http://schemas.microsoft.com/office/drawing/2014/main" id="{87DCB9C5-BF23-4B87-9FC3-BB052DCACAD6}"/>
              </a:ext>
            </a:extLst>
          </p:cNvPr>
          <p:cNvSpPr>
            <a:spLocks noChangeArrowheads="1"/>
          </p:cNvSpPr>
          <p:nvPr/>
        </p:nvSpPr>
        <p:spPr bwMode="auto">
          <a:xfrm>
            <a:off x="6208713"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6</a:t>
            </a:r>
          </a:p>
        </p:txBody>
      </p:sp>
      <p:sp>
        <p:nvSpPr>
          <p:cNvPr id="13" name="Rectangle 9">
            <a:extLst>
              <a:ext uri="{FF2B5EF4-FFF2-40B4-BE49-F238E27FC236}">
                <a16:creationId xmlns:a16="http://schemas.microsoft.com/office/drawing/2014/main" id="{954DC6C0-5170-4464-91DB-846C5F1B6BEA}"/>
              </a:ext>
            </a:extLst>
          </p:cNvPr>
          <p:cNvSpPr>
            <a:spLocks noChangeArrowheads="1"/>
          </p:cNvSpPr>
          <p:nvPr/>
        </p:nvSpPr>
        <p:spPr bwMode="auto">
          <a:xfrm>
            <a:off x="7454900" y="2444750"/>
            <a:ext cx="6238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7</a:t>
            </a:r>
          </a:p>
        </p:txBody>
      </p:sp>
      <p:sp>
        <p:nvSpPr>
          <p:cNvPr id="14" name="Rectangle 10">
            <a:extLst>
              <a:ext uri="{FF2B5EF4-FFF2-40B4-BE49-F238E27FC236}">
                <a16:creationId xmlns:a16="http://schemas.microsoft.com/office/drawing/2014/main" id="{7C8C8B86-B598-4065-8F3A-E84459EBB8AB}"/>
              </a:ext>
            </a:extLst>
          </p:cNvPr>
          <p:cNvSpPr>
            <a:spLocks noChangeArrowheads="1"/>
          </p:cNvSpPr>
          <p:nvPr/>
        </p:nvSpPr>
        <p:spPr bwMode="auto">
          <a:xfrm>
            <a:off x="491013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solidFill>
                  <a:srgbClr val="FF0000"/>
                </a:solidFill>
                <a:latin typeface="微软雅黑" panose="020B0503020204020204" pitchFamily="34" charset="-122"/>
                <a:ea typeface="微软雅黑" panose="020B0503020204020204" pitchFamily="34" charset="-122"/>
              </a:rPr>
              <a:t>*</a:t>
            </a:r>
          </a:p>
        </p:txBody>
      </p:sp>
      <p:sp>
        <p:nvSpPr>
          <p:cNvPr id="15" name="Rectangle 11">
            <a:extLst>
              <a:ext uri="{FF2B5EF4-FFF2-40B4-BE49-F238E27FC236}">
                <a16:creationId xmlns:a16="http://schemas.microsoft.com/office/drawing/2014/main" id="{7C21E78F-8F95-4B13-A550-AD7244BACD3C}"/>
              </a:ext>
            </a:extLst>
          </p:cNvPr>
          <p:cNvSpPr>
            <a:spLocks noChangeArrowheads="1"/>
          </p:cNvSpPr>
          <p:nvPr/>
        </p:nvSpPr>
        <p:spPr bwMode="auto">
          <a:xfrm>
            <a:off x="8128000" y="2443163"/>
            <a:ext cx="62388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6" name="Rectangle 12">
            <a:extLst>
              <a:ext uri="{FF2B5EF4-FFF2-40B4-BE49-F238E27FC236}">
                <a16:creationId xmlns:a16="http://schemas.microsoft.com/office/drawing/2014/main" id="{3EB86B61-94D2-4881-8132-56EFE9EED3DF}"/>
              </a:ext>
            </a:extLst>
          </p:cNvPr>
          <p:cNvSpPr>
            <a:spLocks noChangeArrowheads="1"/>
          </p:cNvSpPr>
          <p:nvPr/>
        </p:nvSpPr>
        <p:spPr bwMode="auto">
          <a:xfrm>
            <a:off x="9471025" y="2444750"/>
            <a:ext cx="625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7" name="Rectangle 13">
            <a:extLst>
              <a:ext uri="{FF2B5EF4-FFF2-40B4-BE49-F238E27FC236}">
                <a16:creationId xmlns:a16="http://schemas.microsoft.com/office/drawing/2014/main" id="{0D66D810-8B62-4B4F-A318-51DA50B34A11}"/>
              </a:ext>
            </a:extLst>
          </p:cNvPr>
          <p:cNvSpPr>
            <a:spLocks noChangeArrowheads="1"/>
          </p:cNvSpPr>
          <p:nvPr/>
        </p:nvSpPr>
        <p:spPr bwMode="auto">
          <a:xfrm>
            <a:off x="6878638"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8" name="Rectangle 18">
            <a:extLst>
              <a:ext uri="{FF2B5EF4-FFF2-40B4-BE49-F238E27FC236}">
                <a16:creationId xmlns:a16="http://schemas.microsoft.com/office/drawing/2014/main" id="{B704AD3D-1BCA-473A-925A-0C77B809A3D8}"/>
              </a:ext>
            </a:extLst>
          </p:cNvPr>
          <p:cNvSpPr>
            <a:spLocks noChangeArrowheads="1"/>
          </p:cNvSpPr>
          <p:nvPr/>
        </p:nvSpPr>
        <p:spPr bwMode="auto">
          <a:xfrm>
            <a:off x="351948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34</a:t>
            </a:r>
          </a:p>
        </p:txBody>
      </p:sp>
      <p:sp>
        <p:nvSpPr>
          <p:cNvPr id="76828" name="Rectangle 53">
            <a:extLst>
              <a:ext uri="{FF2B5EF4-FFF2-40B4-BE49-F238E27FC236}">
                <a16:creationId xmlns:a16="http://schemas.microsoft.com/office/drawing/2014/main" id="{EB562D98-6A4D-4829-845D-4D62E3FFC30F}"/>
              </a:ext>
            </a:extLst>
          </p:cNvPr>
          <p:cNvSpPr>
            <a:spLocks noChangeArrowheads="1"/>
          </p:cNvSpPr>
          <p:nvPr/>
        </p:nvSpPr>
        <p:spPr bwMode="auto">
          <a:xfrm>
            <a:off x="1558925" y="3968750"/>
            <a:ext cx="27368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C0000"/>
              </a:buClr>
              <a:buSzPct val="80000"/>
            </a:pPr>
            <a:r>
              <a:rPr lang="zh-CN" altLang="en-US" sz="2400" b="1" dirty="0">
                <a:latin typeface="微软雅黑" panose="020B0503020204020204" pitchFamily="34" charset="-122"/>
                <a:ea typeface="微软雅黑" panose="020B0503020204020204" pitchFamily="34" charset="-122"/>
              </a:rPr>
              <a:t>栈状态的变化</a:t>
            </a:r>
          </a:p>
        </p:txBody>
      </p:sp>
      <p:sp>
        <p:nvSpPr>
          <p:cNvPr id="20" name="Rectangle 55">
            <a:extLst>
              <a:ext uri="{FF2B5EF4-FFF2-40B4-BE49-F238E27FC236}">
                <a16:creationId xmlns:a16="http://schemas.microsoft.com/office/drawing/2014/main" id="{FE85A656-A720-4863-8C13-064613AD362C}"/>
              </a:ext>
            </a:extLst>
          </p:cNvPr>
          <p:cNvSpPr>
            <a:spLocks noChangeArrowheads="1"/>
          </p:cNvSpPr>
          <p:nvPr/>
        </p:nvSpPr>
        <p:spPr bwMode="auto">
          <a:xfrm>
            <a:off x="9772650" y="36766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1530</a:t>
            </a:r>
          </a:p>
        </p:txBody>
      </p:sp>
      <p:sp>
        <p:nvSpPr>
          <p:cNvPr id="21" name="Rectangle 56">
            <a:extLst>
              <a:ext uri="{FF2B5EF4-FFF2-40B4-BE49-F238E27FC236}">
                <a16:creationId xmlns:a16="http://schemas.microsoft.com/office/drawing/2014/main" id="{508F5FD9-2C80-4320-8FE3-92411E41B091}"/>
              </a:ext>
            </a:extLst>
          </p:cNvPr>
          <p:cNvSpPr>
            <a:spLocks noChangeArrowheads="1"/>
          </p:cNvSpPr>
          <p:nvPr/>
        </p:nvSpPr>
        <p:spPr bwMode="auto">
          <a:xfrm>
            <a:off x="9772650" y="3675063"/>
            <a:ext cx="623888"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11</a:t>
            </a:r>
          </a:p>
        </p:txBody>
      </p:sp>
      <p:sp>
        <p:nvSpPr>
          <p:cNvPr id="22" name="Rectangle 57">
            <a:extLst>
              <a:ext uri="{FF2B5EF4-FFF2-40B4-BE49-F238E27FC236}">
                <a16:creationId xmlns:a16="http://schemas.microsoft.com/office/drawing/2014/main" id="{FCE79484-3608-4CE8-A87F-1A1F816B4BF8}"/>
              </a:ext>
            </a:extLst>
          </p:cNvPr>
          <p:cNvSpPr>
            <a:spLocks noChangeArrowheads="1"/>
          </p:cNvSpPr>
          <p:nvPr/>
        </p:nvSpPr>
        <p:spPr bwMode="auto">
          <a:xfrm>
            <a:off x="9907588" y="3649663"/>
            <a:ext cx="623887"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18</a:t>
            </a:r>
          </a:p>
        </p:txBody>
      </p:sp>
      <p:sp>
        <p:nvSpPr>
          <p:cNvPr id="23" name="Rectangle 58">
            <a:extLst>
              <a:ext uri="{FF2B5EF4-FFF2-40B4-BE49-F238E27FC236}">
                <a16:creationId xmlns:a16="http://schemas.microsoft.com/office/drawing/2014/main" id="{2E501A9F-589C-4E5D-A6B0-66FC85A790A0}"/>
              </a:ext>
            </a:extLst>
          </p:cNvPr>
          <p:cNvSpPr>
            <a:spLocks noChangeArrowheads="1"/>
          </p:cNvSpPr>
          <p:nvPr/>
        </p:nvSpPr>
        <p:spPr bwMode="auto">
          <a:xfrm>
            <a:off x="9772650" y="36766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85</a:t>
            </a:r>
          </a:p>
        </p:txBody>
      </p:sp>
      <p:sp>
        <p:nvSpPr>
          <p:cNvPr id="24" name="Rectangle 59">
            <a:extLst>
              <a:ext uri="{FF2B5EF4-FFF2-40B4-BE49-F238E27FC236}">
                <a16:creationId xmlns:a16="http://schemas.microsoft.com/office/drawing/2014/main" id="{875A8053-B944-49AC-95B5-EC7436273236}"/>
              </a:ext>
            </a:extLst>
          </p:cNvPr>
          <p:cNvSpPr>
            <a:spLocks noChangeArrowheads="1"/>
          </p:cNvSpPr>
          <p:nvPr/>
        </p:nvSpPr>
        <p:spPr bwMode="auto">
          <a:xfrm>
            <a:off x="9769475" y="37020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108</a:t>
            </a:r>
          </a:p>
        </p:txBody>
      </p:sp>
      <p:sp>
        <p:nvSpPr>
          <p:cNvPr id="76834" name="Rectangle 53">
            <a:extLst>
              <a:ext uri="{FF2B5EF4-FFF2-40B4-BE49-F238E27FC236}">
                <a16:creationId xmlns:a16="http://schemas.microsoft.com/office/drawing/2014/main" id="{9474746D-1829-439A-8A9A-7D3054B41B36}"/>
              </a:ext>
            </a:extLst>
          </p:cNvPr>
          <p:cNvSpPr>
            <a:spLocks noChangeArrowheads="1"/>
          </p:cNvSpPr>
          <p:nvPr/>
        </p:nvSpPr>
        <p:spPr bwMode="auto">
          <a:xfrm>
            <a:off x="7910514" y="4486275"/>
            <a:ext cx="10922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CC0000"/>
              </a:buClr>
              <a:buSzPct val="80000"/>
            </a:pPr>
            <a:r>
              <a:rPr lang="zh-CN" altLang="en-US" sz="2400" b="1" dirty="0">
                <a:latin typeface="微软雅黑" panose="020B0503020204020204" pitchFamily="34" charset="-122"/>
                <a:ea typeface="微软雅黑" panose="020B0503020204020204" pitchFamily="34" charset="-122"/>
              </a:rPr>
              <a:t>计算</a:t>
            </a:r>
          </a:p>
        </p:txBody>
      </p:sp>
      <p:sp>
        <p:nvSpPr>
          <p:cNvPr id="76835" name="Rectangle 53">
            <a:extLst>
              <a:ext uri="{FF2B5EF4-FFF2-40B4-BE49-F238E27FC236}">
                <a16:creationId xmlns:a16="http://schemas.microsoft.com/office/drawing/2014/main" id="{6952A6BB-CE8C-4010-9A01-8D051CA14233}"/>
              </a:ext>
            </a:extLst>
          </p:cNvPr>
          <p:cNvSpPr>
            <a:spLocks noChangeArrowheads="1"/>
          </p:cNvSpPr>
          <p:nvPr/>
        </p:nvSpPr>
        <p:spPr bwMode="auto">
          <a:xfrm>
            <a:off x="9577388" y="4486275"/>
            <a:ext cx="9540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CC0000"/>
              </a:buClr>
              <a:buSzPct val="80000"/>
            </a:pPr>
            <a:r>
              <a:rPr lang="zh-CN" altLang="en-US" sz="2400" b="1">
                <a:latin typeface="微软雅黑" panose="020B0503020204020204" pitchFamily="34" charset="-122"/>
                <a:ea typeface="微软雅黑" panose="020B0503020204020204" pitchFamily="34" charset="-122"/>
              </a:rPr>
              <a:t>结果</a:t>
            </a:r>
          </a:p>
        </p:txBody>
      </p:sp>
      <p:sp>
        <p:nvSpPr>
          <p:cNvPr id="76836" name="矩形 26">
            <a:extLst>
              <a:ext uri="{FF2B5EF4-FFF2-40B4-BE49-F238E27FC236}">
                <a16:creationId xmlns:a16="http://schemas.microsoft.com/office/drawing/2014/main" id="{AD6239BD-35E7-4E80-AFCC-6A6E2061E1F8}"/>
              </a:ext>
            </a:extLst>
          </p:cNvPr>
          <p:cNvSpPr>
            <a:spLocks noChangeArrowheads="1"/>
          </p:cNvSpPr>
          <p:nvPr/>
        </p:nvSpPr>
        <p:spPr bwMode="auto">
          <a:xfrm>
            <a:off x="7634288" y="3676650"/>
            <a:ext cx="2000250" cy="503238"/>
          </a:xfrm>
          <a:prstGeom prst="rect">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Verdana" panose="020B0604030504040204" pitchFamily="34" charset="0"/>
            </a:endParaRPr>
          </a:p>
        </p:txBody>
      </p:sp>
      <p:sp>
        <p:nvSpPr>
          <p:cNvPr id="76837" name="矩形 27">
            <a:extLst>
              <a:ext uri="{FF2B5EF4-FFF2-40B4-BE49-F238E27FC236}">
                <a16:creationId xmlns:a16="http://schemas.microsoft.com/office/drawing/2014/main" id="{3ECC6715-7CF0-4025-82EC-AFA1D925CE1E}"/>
              </a:ext>
            </a:extLst>
          </p:cNvPr>
          <p:cNvSpPr>
            <a:spLocks noChangeArrowheads="1"/>
          </p:cNvSpPr>
          <p:nvPr/>
        </p:nvSpPr>
        <p:spPr bwMode="auto">
          <a:xfrm>
            <a:off x="9637713" y="3676650"/>
            <a:ext cx="896937" cy="503238"/>
          </a:xfrm>
          <a:prstGeom prst="rect">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58333E-6 -2.22222E-6 L 0.18724 0.45532 " pathEditMode="relative" rAng="0" ptsTypes="AA">
                                      <p:cBhvr>
                                        <p:cTn id="6" dur="2000" fill="hold"/>
                                        <p:tgtEl>
                                          <p:spTgt spid="8"/>
                                        </p:tgtEl>
                                        <p:attrNameLst>
                                          <p:attrName>ppt_x</p:attrName>
                                          <p:attrName>ppt_y</p:attrName>
                                        </p:attrNameLst>
                                      </p:cBhvr>
                                      <p:rCtr x="9180" y="23819"/>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3.125E-6 1.11111E-6 L 0.12826 0.39213 " pathEditMode="relative" rAng="0" ptsTypes="AA">
                                      <p:cBhvr>
                                        <p:cTn id="10" dur="2000" fill="hold"/>
                                        <p:tgtEl>
                                          <p:spTgt spid="18"/>
                                        </p:tgtEl>
                                        <p:attrNameLst>
                                          <p:attrName>ppt_x</p:attrName>
                                          <p:attrName>ppt_y</p:attrName>
                                        </p:attrNameLst>
                                      </p:cBhvr>
                                      <p:rCtr x="6406" y="19606"/>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8.33333E-7 -2.22222E-6 L 0.06237 0.29931 " pathEditMode="relative" rAng="0" ptsTypes="AA">
                                      <p:cBhvr>
                                        <p:cTn id="14" dur="2000" fill="hold"/>
                                        <p:tgtEl>
                                          <p:spTgt spid="10"/>
                                        </p:tgtEl>
                                        <p:attrNameLst>
                                          <p:attrName>ppt_x</p:attrName>
                                          <p:attrName>ppt_y</p:attrName>
                                        </p:attrNameLst>
                                      </p:cBhvr>
                                      <p:rCtr x="3646" y="14884"/>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nodeType="clickEffect">
                                  <p:stCondLst>
                                    <p:cond delay="0"/>
                                  </p:stCondLst>
                                  <p:childTnLst>
                                    <p:animMotion origin="layout" path="M 0.06237 0.29931 L 0.36107 0.18773 " pathEditMode="relative" rAng="0" ptsTypes="AA">
                                      <p:cBhvr>
                                        <p:cTn id="18" dur="2000" fill="hold"/>
                                        <p:tgtEl>
                                          <p:spTgt spid="10"/>
                                        </p:tgtEl>
                                        <p:attrNameLst>
                                          <p:attrName>ppt_x</p:attrName>
                                          <p:attrName>ppt_y</p:attrName>
                                        </p:attrNameLst>
                                      </p:cBhvr>
                                      <p:rCtr x="14935" y="-5579"/>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nodeType="clickEffect">
                                  <p:stCondLst>
                                    <p:cond delay="0"/>
                                  </p:stCondLst>
                                  <p:childTnLst>
                                    <p:animMotion origin="layout" path="M 0.12826 0.39213 L 0.34831 0.18773 " pathEditMode="relative" rAng="0" ptsTypes="AA">
                                      <p:cBhvr>
                                        <p:cTn id="22" dur="2000" fill="hold"/>
                                        <p:tgtEl>
                                          <p:spTgt spid="18"/>
                                        </p:tgtEl>
                                        <p:attrNameLst>
                                          <p:attrName>ppt_x</p:attrName>
                                          <p:attrName>ppt_y</p:attrName>
                                        </p:attrNameLst>
                                      </p:cBhvr>
                                      <p:rCtr x="11003" y="-10231"/>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4.58333E-6 -2.22222E-6 L 0.33684 0.18773 " pathEditMode="relative" rAng="0" ptsTypes="AA">
                                      <p:cBhvr>
                                        <p:cTn id="26" dur="2000" fill="hold"/>
                                        <p:tgtEl>
                                          <p:spTgt spid="14"/>
                                        </p:tgtEl>
                                        <p:attrNameLst>
                                          <p:attrName>ppt_x</p:attrName>
                                          <p:attrName>ppt_y</p:attrName>
                                        </p:attrNameLst>
                                      </p:cBhvr>
                                      <p:rCtr x="16836" y="9375"/>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18"/>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nodeType="clickEffect">
                                  <p:stCondLst>
                                    <p:cond delay="0"/>
                                  </p:stCondLst>
                                  <p:childTnLst>
                                    <p:animMotion origin="layout" path="M 0.00795 -3.33333E-6 L -0.3845 0.21227 " pathEditMode="relative" rAng="0" ptsTypes="AA">
                                      <p:cBhvr>
                                        <p:cTn id="41" dur="2000" fill="hold"/>
                                        <p:tgtEl>
                                          <p:spTgt spid="20"/>
                                        </p:tgtEl>
                                        <p:attrNameLst>
                                          <p:attrName>ppt_x</p:attrName>
                                          <p:attrName>ppt_y</p:attrName>
                                        </p:attrNameLst>
                                      </p:cBhvr>
                                      <p:rCtr x="-19414" y="10093"/>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0" presetClass="path" presetSubtype="0" accel="50000" decel="50000" fill="hold" nodeType="clickEffect">
                                  <p:stCondLst>
                                    <p:cond delay="0"/>
                                  </p:stCondLst>
                                  <p:childTnLst>
                                    <p:animMotion origin="layout" path="M 6.25E-7 -1.11111E-6 L -0.04792 0.29931 " pathEditMode="relative" rAng="0" ptsTypes="AA">
                                      <p:cBhvr>
                                        <p:cTn id="45" dur="2000" fill="hold"/>
                                        <p:tgtEl>
                                          <p:spTgt spid="11"/>
                                        </p:tgtEl>
                                        <p:attrNameLst>
                                          <p:attrName>ppt_x</p:attrName>
                                          <p:attrName>ppt_y</p:attrName>
                                        </p:attrNameLst>
                                      </p:cBhvr>
                                      <p:rCtr x="-2396" y="14954"/>
                                    </p:animMotion>
                                  </p:childTnLst>
                                </p:cTn>
                              </p:par>
                            </p:childTnLst>
                          </p:cTn>
                        </p:par>
                      </p:childTnLst>
                    </p:cTn>
                  </p:par>
                  <p:par>
                    <p:cTn id="46" fill="hold" nodeType="clickPar">
                      <p:stCondLst>
                        <p:cond delay="indefinite"/>
                      </p:stCondLst>
                      <p:childTnLst>
                        <p:par>
                          <p:cTn id="47" fill="hold" nodeType="withGroup">
                            <p:stCondLst>
                              <p:cond delay="0"/>
                            </p:stCondLst>
                            <p:childTnLst>
                              <p:par>
                                <p:cTn id="48" presetID="0" presetClass="path" presetSubtype="0" accel="50000" decel="50000" fill="hold" nodeType="clickEffect">
                                  <p:stCondLst>
                                    <p:cond delay="0"/>
                                  </p:stCondLst>
                                  <p:childTnLst>
                                    <p:animMotion origin="layout" path="M 4.375E-6 -2.22222E-6 L -0.08881 0.21482 " pathEditMode="relative" rAng="0" ptsTypes="AA">
                                      <p:cBhvr>
                                        <p:cTn id="49" dur="2000" fill="hold"/>
                                        <p:tgtEl>
                                          <p:spTgt spid="12"/>
                                        </p:tgtEl>
                                        <p:attrNameLst>
                                          <p:attrName>ppt_x</p:attrName>
                                          <p:attrName>ppt_y</p:attrName>
                                        </p:attrNameLst>
                                      </p:cBhvr>
                                      <p:rCtr x="-4440" y="10741"/>
                                    </p:animMotion>
                                  </p:childTnLst>
                                </p:cTn>
                              </p:par>
                            </p:childTnLst>
                          </p:cTn>
                        </p:par>
                      </p:childTnLst>
                    </p:cTn>
                  </p:par>
                  <p:par>
                    <p:cTn id="50" fill="hold" nodeType="clickPar">
                      <p:stCondLst>
                        <p:cond delay="indefinite"/>
                      </p:stCondLst>
                      <p:childTnLst>
                        <p:par>
                          <p:cTn id="51" fill="hold" nodeType="withGroup">
                            <p:stCondLst>
                              <p:cond delay="0"/>
                            </p:stCondLst>
                            <p:childTnLst>
                              <p:par>
                                <p:cTn id="52" presetID="0" presetClass="path" presetSubtype="0" accel="50000" decel="50000" fill="hold" nodeType="clickEffect">
                                  <p:stCondLst>
                                    <p:cond delay="0"/>
                                  </p:stCondLst>
                                  <p:childTnLst>
                                    <p:animMotion origin="layout" path="M -0.08881 0.21482 L 0.19557 0.18773 " pathEditMode="relative" rAng="0" ptsTypes="AA">
                                      <p:cBhvr>
                                        <p:cTn id="53" dur="2000" fill="hold"/>
                                        <p:tgtEl>
                                          <p:spTgt spid="12"/>
                                        </p:tgtEl>
                                        <p:attrNameLst>
                                          <p:attrName>ppt_x</p:attrName>
                                          <p:attrName>ppt_y</p:attrName>
                                        </p:attrNameLst>
                                      </p:cBhvr>
                                      <p:rCtr x="14219" y="-1366"/>
                                    </p:animMotion>
                                  </p:childTnLst>
                                </p:cTn>
                              </p:par>
                            </p:childTnLst>
                          </p:cTn>
                        </p:par>
                      </p:childTnLst>
                    </p:cTn>
                  </p:par>
                  <p:par>
                    <p:cTn id="54" fill="hold" nodeType="clickPar">
                      <p:stCondLst>
                        <p:cond delay="indefinite"/>
                      </p:stCondLst>
                      <p:childTnLst>
                        <p:par>
                          <p:cTn id="55" fill="hold" nodeType="withGroup">
                            <p:stCondLst>
                              <p:cond delay="0"/>
                            </p:stCondLst>
                            <p:childTnLst>
                              <p:par>
                                <p:cTn id="56" presetID="0" presetClass="path" presetSubtype="0" accel="50000" decel="50000" fill="hold" nodeType="clickEffect">
                                  <p:stCondLst>
                                    <p:cond delay="0"/>
                                  </p:stCondLst>
                                  <p:childTnLst>
                                    <p:animMotion origin="layout" path="M -0.04791 0.2993 L 0.16901 0.18773 " pathEditMode="relative" rAng="0" ptsTypes="AA">
                                      <p:cBhvr>
                                        <p:cTn id="57" dur="2000" fill="hold"/>
                                        <p:tgtEl>
                                          <p:spTgt spid="11"/>
                                        </p:tgtEl>
                                        <p:attrNameLst>
                                          <p:attrName>ppt_x</p:attrName>
                                          <p:attrName>ppt_y</p:attrName>
                                        </p:attrNameLst>
                                      </p:cBhvr>
                                      <p:rCtr x="10078" y="-5000"/>
                                    </p:animMotion>
                                  </p:childTnLst>
                                </p:cTn>
                              </p:par>
                            </p:childTnLst>
                          </p:cTn>
                        </p:par>
                      </p:childTnLst>
                    </p:cTn>
                  </p:par>
                  <p:par>
                    <p:cTn id="58" fill="hold" nodeType="clickPar">
                      <p:stCondLst>
                        <p:cond delay="indefinite"/>
                      </p:stCondLst>
                      <p:childTnLst>
                        <p:par>
                          <p:cTn id="59" fill="hold" nodeType="withGroup">
                            <p:stCondLst>
                              <p:cond delay="0"/>
                            </p:stCondLst>
                            <p:childTnLst>
                              <p:par>
                                <p:cTn id="60" presetID="0" presetClass="path" presetSubtype="0" accel="50000" decel="50000" fill="hold" nodeType="clickEffect">
                                  <p:stCondLst>
                                    <p:cond delay="0"/>
                                  </p:stCondLst>
                                  <p:childTnLst>
                                    <p:animMotion origin="layout" path="M 2.29167E-6 2.59259E-6 L 0.17578 0.18773 " pathEditMode="relative" rAng="0" ptsTypes="AA">
                                      <p:cBhvr>
                                        <p:cTn id="61" dur="2000" fill="hold"/>
                                        <p:tgtEl>
                                          <p:spTgt spid="17"/>
                                        </p:tgtEl>
                                        <p:attrNameLst>
                                          <p:attrName>ppt_x</p:attrName>
                                          <p:attrName>ppt_y</p:attrName>
                                        </p:attrNameLst>
                                      </p:cBhvr>
                                      <p:rCtr x="8659" y="9190"/>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presetSubtype="0" fill="hold" nodeType="clickEffect">
                                  <p:stCondLst>
                                    <p:cond delay="0"/>
                                  </p:stCondLst>
                                  <p:childTnLst>
                                    <p:set>
                                      <p:cBhvr>
                                        <p:cTn id="65" dur="1" fill="hold">
                                          <p:stCondLst>
                                            <p:cond delay="0"/>
                                          </p:stCondLst>
                                        </p:cTn>
                                        <p:tgtEl>
                                          <p:spTgt spid="11"/>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12"/>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7"/>
                                        </p:tgtEl>
                                        <p:attrNameLst>
                                          <p:attrName>style.visibility</p:attrName>
                                        </p:attrNameLst>
                                      </p:cBhvr>
                                      <p:to>
                                        <p:strVal val="hidden"/>
                                      </p:to>
                                    </p:set>
                                  </p:childTnLst>
                                </p:cTn>
                              </p:par>
                              <p:par>
                                <p:cTn id="70" presetID="10" presetClass="entr" presetSubtype="0"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0" presetClass="path" presetSubtype="0" accel="50000" decel="50000" fill="hold" nodeType="clickEffect">
                                  <p:stCondLst>
                                    <p:cond delay="0"/>
                                  </p:stCondLst>
                                  <p:childTnLst>
                                    <p:animMotion origin="layout" path="M 5E-6 -3.7037E-6 L -0.39544 0.11945 " pathEditMode="relative" rAng="0" ptsTypes="AA">
                                      <p:cBhvr>
                                        <p:cTn id="76" dur="2000" fill="hold"/>
                                        <p:tgtEl>
                                          <p:spTgt spid="21"/>
                                        </p:tgtEl>
                                        <p:attrNameLst>
                                          <p:attrName>ppt_x</p:attrName>
                                          <p:attrName>ppt_y</p:attrName>
                                        </p:attrNameLst>
                                      </p:cBhvr>
                                      <p:rCtr x="-19831" y="5579"/>
                                    </p:animMotion>
                                  </p:childTnLst>
                                </p:cTn>
                              </p:par>
                            </p:childTnLst>
                          </p:cTn>
                        </p:par>
                      </p:childTnLst>
                    </p:cTn>
                  </p:par>
                  <p:par>
                    <p:cTn id="77" fill="hold" nodeType="clickPar">
                      <p:stCondLst>
                        <p:cond delay="indefinite"/>
                      </p:stCondLst>
                      <p:childTnLst>
                        <p:par>
                          <p:cTn id="78" fill="hold" nodeType="withGroup">
                            <p:stCondLst>
                              <p:cond delay="0"/>
                            </p:stCondLst>
                            <p:childTnLst>
                              <p:par>
                                <p:cTn id="79" presetID="0" presetClass="path" presetSubtype="0" accel="50000" decel="50000" fill="hold" nodeType="clickEffect">
                                  <p:stCondLst>
                                    <p:cond delay="0"/>
                                  </p:stCondLst>
                                  <p:childTnLst>
                                    <p:animMotion origin="layout" path="M 2.70833E-6 2.59259E-6 L -0.19102 0.21435 " pathEditMode="relative" rAng="0" ptsTypes="AA">
                                      <p:cBhvr>
                                        <p:cTn id="80" dur="2000" fill="hold"/>
                                        <p:tgtEl>
                                          <p:spTgt spid="13"/>
                                        </p:tgtEl>
                                        <p:attrNameLst>
                                          <p:attrName>ppt_x</p:attrName>
                                          <p:attrName>ppt_y</p:attrName>
                                        </p:attrNameLst>
                                      </p:cBhvr>
                                      <p:rCtr x="-9492" y="10532"/>
                                    </p:animMotion>
                                  </p:childTnLst>
                                </p:cTn>
                              </p:par>
                            </p:childTnLst>
                          </p:cTn>
                        </p:par>
                      </p:childTnLst>
                    </p:cTn>
                  </p:par>
                  <p:par>
                    <p:cTn id="81" fill="hold" nodeType="clickPar">
                      <p:stCondLst>
                        <p:cond delay="indefinite"/>
                      </p:stCondLst>
                      <p:childTnLst>
                        <p:par>
                          <p:cTn id="82" fill="hold" nodeType="withGroup">
                            <p:stCondLst>
                              <p:cond delay="0"/>
                            </p:stCondLst>
                            <p:childTnLst>
                              <p:par>
                                <p:cTn id="83" presetID="0" presetClass="path" presetSubtype="0" accel="50000" decel="50000" fill="hold" nodeType="clickEffect">
                                  <p:stCondLst>
                                    <p:cond delay="0"/>
                                  </p:stCondLst>
                                  <p:childTnLst>
                                    <p:animMotion origin="layout" path="M -0.19102 0.21435 L 0.08802 0.18726 " pathEditMode="relative" rAng="0" ptsTypes="AA">
                                      <p:cBhvr>
                                        <p:cTn id="84" dur="2000" fill="hold"/>
                                        <p:tgtEl>
                                          <p:spTgt spid="13"/>
                                        </p:tgtEl>
                                        <p:attrNameLst>
                                          <p:attrName>ppt_x</p:attrName>
                                          <p:attrName>ppt_y</p:attrName>
                                        </p:attrNameLst>
                                      </p:cBhvr>
                                      <p:rCtr x="13945" y="-1366"/>
                                    </p:animMotion>
                                  </p:childTnLst>
                                </p:cTn>
                              </p:par>
                            </p:childTnLst>
                          </p:cTn>
                        </p:par>
                      </p:childTnLst>
                    </p:cTn>
                  </p:par>
                  <p:par>
                    <p:cTn id="85" fill="hold" nodeType="clickPar">
                      <p:stCondLst>
                        <p:cond delay="indefinite"/>
                      </p:stCondLst>
                      <p:childTnLst>
                        <p:par>
                          <p:cTn id="86" fill="hold" nodeType="withGroup">
                            <p:stCondLst>
                              <p:cond delay="0"/>
                            </p:stCondLst>
                            <p:childTnLst>
                              <p:par>
                                <p:cTn id="87" presetID="0" presetClass="path" presetSubtype="0" accel="50000" decel="50000" fill="hold" nodeType="clickEffect">
                                  <p:stCondLst>
                                    <p:cond delay="0"/>
                                  </p:stCondLst>
                                  <p:childTnLst>
                                    <p:animMotion origin="layout" path="M -0.39544 0.11945 L -0.16041 0.00787 " pathEditMode="relative" rAng="0" ptsTypes="AA">
                                      <p:cBhvr>
                                        <p:cTn id="88" dur="2000" fill="hold"/>
                                        <p:tgtEl>
                                          <p:spTgt spid="21"/>
                                        </p:tgtEl>
                                        <p:attrNameLst>
                                          <p:attrName>ppt_x</p:attrName>
                                          <p:attrName>ppt_y</p:attrName>
                                        </p:attrNameLst>
                                      </p:cBhvr>
                                      <p:rCtr x="11745" y="-5579"/>
                                    </p:animMotion>
                                  </p:childTnLst>
                                </p:cTn>
                              </p:par>
                            </p:childTnLst>
                          </p:cTn>
                        </p:par>
                      </p:childTnLst>
                    </p:cTn>
                  </p:par>
                  <p:par>
                    <p:cTn id="89" fill="hold" nodeType="clickPar">
                      <p:stCondLst>
                        <p:cond delay="indefinite"/>
                      </p:stCondLst>
                      <p:childTnLst>
                        <p:par>
                          <p:cTn id="90" fill="hold" nodeType="withGroup">
                            <p:stCondLst>
                              <p:cond delay="0"/>
                            </p:stCondLst>
                            <p:childTnLst>
                              <p:par>
                                <p:cTn id="91" presetID="0" presetClass="path" presetSubtype="0" accel="50000" decel="50000" fill="hold" nodeType="clickEffect">
                                  <p:stCondLst>
                                    <p:cond delay="0"/>
                                  </p:stCondLst>
                                  <p:childTnLst>
                                    <p:animMotion origin="layout" path="M 2.5E-6 -2.22222E-6 L 0.06745 0.18773 " pathEditMode="relative" rAng="0" ptsTypes="AA">
                                      <p:cBhvr>
                                        <p:cTn id="92" dur="2000" fill="hold"/>
                                        <p:tgtEl>
                                          <p:spTgt spid="15"/>
                                        </p:tgtEl>
                                        <p:attrNameLst>
                                          <p:attrName>ppt_x</p:attrName>
                                          <p:attrName>ppt_y</p:attrName>
                                        </p:attrNameLst>
                                      </p:cBhvr>
                                      <p:rCtr x="3372" y="9375"/>
                                    </p:animMotion>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xit" presetSubtype="0" fill="hold" nodeType="clickEffect">
                                  <p:stCondLst>
                                    <p:cond delay="0"/>
                                  </p:stCondLst>
                                  <p:childTnLst>
                                    <p:set>
                                      <p:cBhvr>
                                        <p:cTn id="96" dur="1" fill="hold">
                                          <p:stCondLst>
                                            <p:cond delay="0"/>
                                          </p:stCondLst>
                                        </p:cTn>
                                        <p:tgtEl>
                                          <p:spTgt spid="13"/>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5"/>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1"/>
                                        </p:tgtEl>
                                        <p:attrNameLst>
                                          <p:attrName>style.visibility</p:attrName>
                                        </p:attrNameLst>
                                      </p:cBhvr>
                                      <p:to>
                                        <p:strVal val="hidden"/>
                                      </p:to>
                                    </p:set>
                                  </p:childTnLst>
                                </p:cTn>
                              </p:par>
                              <p:par>
                                <p:cTn id="101" presetID="10" presetClass="entr" presetSubtype="0" fill="hold"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500"/>
                                        <p:tgtEl>
                                          <p:spTgt spid="22"/>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0" presetClass="path" presetSubtype="0" accel="50000" decel="50000" fill="hold" nodeType="clickEffect">
                                  <p:stCondLst>
                                    <p:cond delay="0"/>
                                  </p:stCondLst>
                                  <p:childTnLst>
                                    <p:animMotion origin="layout" path="M -1.04167E-6 3.7037E-7 L -0.40651 0.12315 " pathEditMode="relative" rAng="0" ptsTypes="AA">
                                      <p:cBhvr>
                                        <p:cTn id="107" dur="2000" fill="hold"/>
                                        <p:tgtEl>
                                          <p:spTgt spid="22"/>
                                        </p:tgtEl>
                                        <p:attrNameLst>
                                          <p:attrName>ppt_x</p:attrName>
                                          <p:attrName>ppt_y</p:attrName>
                                        </p:attrNameLst>
                                      </p:cBhvr>
                                      <p:rCtr x="-20156" y="5556"/>
                                    </p:animMotion>
                                  </p:childTnLst>
                                </p:cTn>
                              </p:par>
                            </p:childTnLst>
                          </p:cTn>
                        </p:par>
                      </p:childTnLst>
                    </p:cTn>
                  </p:par>
                  <p:par>
                    <p:cTn id="108" fill="hold" nodeType="clickPar">
                      <p:stCondLst>
                        <p:cond delay="indefinite"/>
                      </p:stCondLst>
                      <p:childTnLst>
                        <p:par>
                          <p:cTn id="109" fill="hold" nodeType="withGroup">
                            <p:stCondLst>
                              <p:cond delay="0"/>
                            </p:stCondLst>
                            <p:childTnLst>
                              <p:par>
                                <p:cTn id="110" presetID="0" presetClass="path" presetSubtype="0" accel="50000" decel="50000" fill="hold" nodeType="clickEffect">
                                  <p:stCondLst>
                                    <p:cond delay="0"/>
                                  </p:stCondLst>
                                  <p:childTnLst>
                                    <p:animMotion origin="layout" path="M -0.40651 0.12315 L -0.12031 0.01157 " pathEditMode="relative" rAng="0" ptsTypes="AA">
                                      <p:cBhvr>
                                        <p:cTn id="111" dur="2000" fill="hold"/>
                                        <p:tgtEl>
                                          <p:spTgt spid="22"/>
                                        </p:tgtEl>
                                        <p:attrNameLst>
                                          <p:attrName>ppt_x</p:attrName>
                                          <p:attrName>ppt_y</p:attrName>
                                        </p:attrNameLst>
                                      </p:cBhvr>
                                      <p:rCtr x="14310" y="-5579"/>
                                    </p:animMotion>
                                  </p:childTnLst>
                                </p:cTn>
                              </p:par>
                            </p:childTnLst>
                          </p:cTn>
                        </p:par>
                      </p:childTnLst>
                    </p:cTn>
                  </p:par>
                  <p:par>
                    <p:cTn id="112" fill="hold" nodeType="clickPar">
                      <p:stCondLst>
                        <p:cond delay="indefinite"/>
                      </p:stCondLst>
                      <p:childTnLst>
                        <p:par>
                          <p:cTn id="113" fill="hold" nodeType="withGroup">
                            <p:stCondLst>
                              <p:cond delay="0"/>
                            </p:stCondLst>
                            <p:childTnLst>
                              <p:par>
                                <p:cTn id="114" presetID="0" presetClass="path" presetSubtype="0" accel="50000" decel="50000" fill="hold" nodeType="clickEffect">
                                  <p:stCondLst>
                                    <p:cond delay="0"/>
                                  </p:stCondLst>
                                  <p:childTnLst>
                                    <p:animMotion origin="layout" path="M -0.3845 0.21227 L -0.16445 0.00787 " pathEditMode="relative" rAng="0" ptsTypes="AA">
                                      <p:cBhvr>
                                        <p:cTn id="115" dur="2000" fill="hold"/>
                                        <p:tgtEl>
                                          <p:spTgt spid="20"/>
                                        </p:tgtEl>
                                        <p:attrNameLst>
                                          <p:attrName>ppt_x</p:attrName>
                                          <p:attrName>ppt_y</p:attrName>
                                        </p:attrNameLst>
                                      </p:cBhvr>
                                      <p:rCtr x="11003" y="-10231"/>
                                    </p:animMotion>
                                  </p:childTnLst>
                                </p:cTn>
                              </p:par>
                            </p:childTnLst>
                          </p:cTn>
                        </p:par>
                      </p:childTnLst>
                    </p:cTn>
                  </p:par>
                  <p:par>
                    <p:cTn id="116" fill="hold" nodeType="clickPar">
                      <p:stCondLst>
                        <p:cond delay="indefinite"/>
                      </p:stCondLst>
                      <p:childTnLst>
                        <p:par>
                          <p:cTn id="117" fill="hold" nodeType="withGroup">
                            <p:stCondLst>
                              <p:cond delay="0"/>
                            </p:stCondLst>
                            <p:childTnLst>
                              <p:par>
                                <p:cTn id="118" presetID="0" presetClass="path" presetSubtype="0" accel="50000" decel="50000" fill="hold" nodeType="clickEffect">
                                  <p:stCondLst>
                                    <p:cond delay="0"/>
                                  </p:stCondLst>
                                  <p:childTnLst>
                                    <p:animMotion origin="layout" path="M 3.125E-6 2.59259E-6 L 0.01119 0.18842 " pathEditMode="relative" rAng="0" ptsTypes="AA">
                                      <p:cBhvr>
                                        <p:cTn id="119" dur="2000" fill="hold"/>
                                        <p:tgtEl>
                                          <p:spTgt spid="9"/>
                                        </p:tgtEl>
                                        <p:attrNameLst>
                                          <p:attrName>ppt_x</p:attrName>
                                          <p:attrName>ppt_y</p:attrName>
                                        </p:attrNameLst>
                                      </p:cBhvr>
                                      <p:rCtr x="521" y="9236"/>
                                    </p:animMotion>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xit" presetSubtype="0" fill="hold" nodeType="clickEffect">
                                  <p:stCondLst>
                                    <p:cond delay="0"/>
                                  </p:stCondLst>
                                  <p:childTnLst>
                                    <p:set>
                                      <p:cBhvr>
                                        <p:cTn id="123" dur="1" fill="hold">
                                          <p:stCondLst>
                                            <p:cond delay="0"/>
                                          </p:stCondLst>
                                        </p:cTn>
                                        <p:tgtEl>
                                          <p:spTgt spid="22"/>
                                        </p:tgtEl>
                                        <p:attrNameLst>
                                          <p:attrName>style.visibility</p:attrName>
                                        </p:attrNameLst>
                                      </p:cBhvr>
                                      <p:to>
                                        <p:strVal val="hidden"/>
                                      </p:to>
                                    </p:set>
                                  </p:childTnLst>
                                </p:cTn>
                              </p:par>
                              <p:par>
                                <p:cTn id="124" presetID="1" presetClass="exit" presetSubtype="0" fill="hold" nodeType="withEffect">
                                  <p:stCondLst>
                                    <p:cond delay="0"/>
                                  </p:stCondLst>
                                  <p:childTnLst>
                                    <p:set>
                                      <p:cBhvr>
                                        <p:cTn id="125" dur="1" fill="hold">
                                          <p:stCondLst>
                                            <p:cond delay="0"/>
                                          </p:stCondLst>
                                        </p:cTn>
                                        <p:tgtEl>
                                          <p:spTgt spid="9"/>
                                        </p:tgtEl>
                                        <p:attrNameLst>
                                          <p:attrName>style.visibility</p:attrName>
                                        </p:attrNameLst>
                                      </p:cBhvr>
                                      <p:to>
                                        <p:strVal val="hidden"/>
                                      </p:to>
                                    </p:set>
                                  </p:childTnLst>
                                </p:cTn>
                              </p:par>
                              <p:par>
                                <p:cTn id="126" presetID="1" presetClass="exit" presetSubtype="0" fill="hold" nodeType="withEffect">
                                  <p:stCondLst>
                                    <p:cond delay="0"/>
                                  </p:stCondLst>
                                  <p:childTnLst>
                                    <p:set>
                                      <p:cBhvr>
                                        <p:cTn id="127" dur="1" fill="hold">
                                          <p:stCondLst>
                                            <p:cond delay="0"/>
                                          </p:stCondLst>
                                        </p:cTn>
                                        <p:tgtEl>
                                          <p:spTgt spid="20"/>
                                        </p:tgtEl>
                                        <p:attrNameLst>
                                          <p:attrName>style.visibility</p:attrName>
                                        </p:attrNameLst>
                                      </p:cBhvr>
                                      <p:to>
                                        <p:strVal val="hidden"/>
                                      </p:to>
                                    </p:set>
                                  </p:childTnLst>
                                </p:cTn>
                              </p:par>
                              <p:par>
                                <p:cTn id="128" presetID="10" presetClass="entr" presetSubtype="0" fill="hold" nodeType="withEffect">
                                  <p:stCondLst>
                                    <p:cond delay="0"/>
                                  </p:stCondLst>
                                  <p:childTnLst>
                                    <p:set>
                                      <p:cBhvr>
                                        <p:cTn id="129" dur="1" fill="hold">
                                          <p:stCondLst>
                                            <p:cond delay="0"/>
                                          </p:stCondLst>
                                        </p:cTn>
                                        <p:tgtEl>
                                          <p:spTgt spid="23"/>
                                        </p:tgtEl>
                                        <p:attrNameLst>
                                          <p:attrName>style.visibility</p:attrName>
                                        </p:attrNameLst>
                                      </p:cBhvr>
                                      <p:to>
                                        <p:strVal val="visible"/>
                                      </p:to>
                                    </p:set>
                                    <p:animEffect transition="in" filter="fade">
                                      <p:cBhvr>
                                        <p:cTn id="130" dur="500"/>
                                        <p:tgtEl>
                                          <p:spTgt spid="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0" presetClass="path" presetSubtype="0" accel="50000" decel="50000" fill="hold" nodeType="clickEffect">
                                  <p:stCondLst>
                                    <p:cond delay="0"/>
                                  </p:stCondLst>
                                  <p:childTnLst>
                                    <p:animMotion origin="layout" path="M 0.00795 -3.33333E-6 L -0.3845 0.21226 " pathEditMode="relative" rAng="0" ptsTypes="AA">
                                      <p:cBhvr>
                                        <p:cTn id="134" dur="2000" fill="hold"/>
                                        <p:tgtEl>
                                          <p:spTgt spid="23"/>
                                        </p:tgtEl>
                                        <p:attrNameLst>
                                          <p:attrName>ppt_x</p:attrName>
                                          <p:attrName>ppt_y</p:attrName>
                                        </p:attrNameLst>
                                      </p:cBhvr>
                                      <p:rCtr x="-19714" y="10625"/>
                                    </p:animMotion>
                                  </p:childTnLst>
                                </p:cTn>
                              </p:par>
                            </p:childTnLst>
                          </p:cTn>
                        </p:par>
                      </p:childTnLst>
                    </p:cTn>
                  </p:par>
                  <p:par>
                    <p:cTn id="135" fill="hold" nodeType="clickPar">
                      <p:stCondLst>
                        <p:cond delay="indefinite"/>
                      </p:stCondLst>
                      <p:childTnLst>
                        <p:par>
                          <p:cTn id="136" fill="hold" nodeType="withGroup">
                            <p:stCondLst>
                              <p:cond delay="0"/>
                            </p:stCondLst>
                            <p:childTnLst>
                              <p:par>
                                <p:cTn id="137" presetID="0" presetClass="path" presetSubtype="0" accel="50000" decel="50000" fill="hold" nodeType="clickEffect">
                                  <p:stCondLst>
                                    <p:cond delay="0"/>
                                  </p:stCondLst>
                                  <p:childTnLst>
                                    <p:animMotion origin="layout" path="M -0.3845 0.21227 L -0.12031 0.00787 " pathEditMode="relative" rAng="0" ptsTypes="AA">
                                      <p:cBhvr>
                                        <p:cTn id="138" dur="2000" fill="hold"/>
                                        <p:tgtEl>
                                          <p:spTgt spid="23"/>
                                        </p:tgtEl>
                                        <p:attrNameLst>
                                          <p:attrName>ppt_x</p:attrName>
                                          <p:attrName>ppt_y</p:attrName>
                                        </p:attrNameLst>
                                      </p:cBhvr>
                                      <p:rCtr x="13203" y="-10231"/>
                                    </p:animMotion>
                                  </p:childTnLst>
                                </p:cTn>
                              </p:par>
                            </p:childTnLst>
                          </p:cTn>
                        </p:par>
                      </p:childTnLst>
                    </p:cTn>
                  </p:par>
                  <p:par>
                    <p:cTn id="139" fill="hold" nodeType="clickPar">
                      <p:stCondLst>
                        <p:cond delay="indefinite"/>
                      </p:stCondLst>
                      <p:childTnLst>
                        <p:par>
                          <p:cTn id="140" fill="hold" nodeType="withGroup">
                            <p:stCondLst>
                              <p:cond delay="0"/>
                            </p:stCondLst>
                            <p:childTnLst>
                              <p:par>
                                <p:cTn id="141" presetID="0" presetClass="path" presetSubtype="0" accel="50000" decel="50000" fill="hold" nodeType="clickEffect">
                                  <p:stCondLst>
                                    <p:cond delay="0"/>
                                  </p:stCondLst>
                                  <p:childTnLst>
                                    <p:animMotion origin="layout" path="M 0.18724 0.45532 L 0.40352 0.18773 " pathEditMode="relative" rAng="0" ptsTypes="AA">
                                      <p:cBhvr>
                                        <p:cTn id="142" dur="2000" fill="hold"/>
                                        <p:tgtEl>
                                          <p:spTgt spid="8"/>
                                        </p:tgtEl>
                                        <p:attrNameLst>
                                          <p:attrName>ppt_x</p:attrName>
                                          <p:attrName>ppt_y</p:attrName>
                                        </p:attrNameLst>
                                      </p:cBhvr>
                                      <p:rCtr x="10781" y="-15301"/>
                                    </p:animMotion>
                                  </p:childTnLst>
                                </p:cTn>
                              </p:par>
                            </p:childTnLst>
                          </p:cTn>
                        </p:par>
                      </p:childTnLst>
                    </p:cTn>
                  </p:par>
                  <p:par>
                    <p:cTn id="143" fill="hold" nodeType="clickPar">
                      <p:stCondLst>
                        <p:cond delay="indefinite"/>
                      </p:stCondLst>
                      <p:childTnLst>
                        <p:par>
                          <p:cTn id="144" fill="hold" nodeType="withGroup">
                            <p:stCondLst>
                              <p:cond delay="0"/>
                            </p:stCondLst>
                            <p:childTnLst>
                              <p:par>
                                <p:cTn id="145" presetID="0" presetClass="path" presetSubtype="0" accel="50000" decel="50000" fill="hold" nodeType="clickEffect">
                                  <p:stCondLst>
                                    <p:cond delay="0"/>
                                  </p:stCondLst>
                                  <p:childTnLst>
                                    <p:animMotion origin="layout" path="M -1.45833E-6 2.59259E-6 L -0.04283 0.17152 " pathEditMode="relative" rAng="0" ptsTypes="AA">
                                      <p:cBhvr>
                                        <p:cTn id="146" dur="2000" fill="hold"/>
                                        <p:tgtEl>
                                          <p:spTgt spid="16"/>
                                        </p:tgtEl>
                                        <p:attrNameLst>
                                          <p:attrName>ppt_x</p:attrName>
                                          <p:attrName>ppt_y</p:attrName>
                                        </p:attrNameLst>
                                      </p:cBhvr>
                                      <p:rCtr x="-2070" y="8403"/>
                                    </p:animMotion>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xit" presetSubtype="0" fill="hold" nodeType="clickEffect">
                                  <p:stCondLst>
                                    <p:cond delay="0"/>
                                  </p:stCondLst>
                                  <p:childTnLst>
                                    <p:set>
                                      <p:cBhvr>
                                        <p:cTn id="150" dur="1" fill="hold">
                                          <p:stCondLst>
                                            <p:cond delay="0"/>
                                          </p:stCondLst>
                                        </p:cTn>
                                        <p:tgtEl>
                                          <p:spTgt spid="23"/>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8"/>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16"/>
                                        </p:tgtEl>
                                        <p:attrNameLst>
                                          <p:attrName>style.visibility</p:attrName>
                                        </p:attrNameLst>
                                      </p:cBhvr>
                                      <p:to>
                                        <p:strVal val="hidden"/>
                                      </p:to>
                                    </p:set>
                                  </p:childTnLst>
                                </p:cTn>
                              </p:par>
                              <p:par>
                                <p:cTn id="155" presetID="10" presetClass="entr" presetSubtype="0" fill="hold" nodeType="withEffect">
                                  <p:stCondLst>
                                    <p:cond delay="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500"/>
                                        <p:tgtEl>
                                          <p:spTgt spid="24"/>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0" presetClass="path" presetSubtype="0" accel="50000" decel="50000" fill="hold" nodeType="clickEffect">
                                  <p:stCondLst>
                                    <p:cond delay="0"/>
                                  </p:stCondLst>
                                  <p:childTnLst>
                                    <p:animMotion origin="layout" path="M 1.0365E-16 -1.48148E-6 L -0.38047 0.27176 " pathEditMode="relative" rAng="0" ptsTypes="AA">
                                      <p:cBhvr>
                                        <p:cTn id="161" dur="2000" fill="hold"/>
                                        <p:tgtEl>
                                          <p:spTgt spid="24"/>
                                        </p:tgtEl>
                                        <p:attrNameLst>
                                          <p:attrName>ppt_x</p:attrName>
                                          <p:attrName>ppt_y</p:attrName>
                                        </p:attrNameLst>
                                      </p:cBhvr>
                                      <p:rCtr x="-19023" y="135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8" grpId="2"/>
      <p:bldP spid="9" grpId="0"/>
      <p:bldP spid="9" grpId="1"/>
      <p:bldP spid="10" grpId="0"/>
      <p:bldP spid="10" grpId="1"/>
      <p:bldP spid="10" grpId="2"/>
      <p:bldP spid="11" grpId="0"/>
      <p:bldP spid="11" grpId="1"/>
      <p:bldP spid="11" grpId="2"/>
      <p:bldP spid="12" grpId="0"/>
      <p:bldP spid="12" grpId="1"/>
      <p:bldP spid="12" grpId="2"/>
      <p:bldP spid="13" grpId="0"/>
      <p:bldP spid="13" grpId="1"/>
      <p:bldP spid="13" grpId="2"/>
      <p:bldP spid="14" grpId="0"/>
      <p:bldP spid="14" grpId="1"/>
      <p:bldP spid="15" grpId="0"/>
      <p:bldP spid="15" grpId="1"/>
      <p:bldP spid="16" grpId="0"/>
      <p:bldP spid="16" grpId="1"/>
      <p:bldP spid="17" grpId="0"/>
      <p:bldP spid="17" grpId="1"/>
      <p:bldP spid="18" grpId="0"/>
      <p:bldP spid="18" grpId="1"/>
      <p:bldP spid="18" grpId="2"/>
      <p:bldP spid="20" grpId="0"/>
      <p:bldP spid="20" grpId="1"/>
      <p:bldP spid="20" grpId="2"/>
      <p:bldP spid="20" grpId="3"/>
      <p:bldP spid="21" grpId="0"/>
      <p:bldP spid="21" grpId="1"/>
      <p:bldP spid="21" grpId="2"/>
      <p:bldP spid="21" grpId="3"/>
      <p:bldP spid="22" grpId="0"/>
      <p:bldP spid="22" grpId="1"/>
      <p:bldP spid="22" grpId="2"/>
      <p:bldP spid="22" grpId="3"/>
      <p:bldP spid="23" grpId="0"/>
      <p:bldP spid="23" grpId="1"/>
      <p:bldP spid="23" grpId="2"/>
      <p:bldP spid="23" grpId="3"/>
      <p:bldP spid="24" grpId="0"/>
      <p:bldP spid="24" grpId="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B5E1D496-28C0-48B1-ACD9-B1FC34313CE8}"/>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后缀表达式求值算法</a:t>
            </a:r>
          </a:p>
        </p:txBody>
      </p:sp>
      <p:sp>
        <p:nvSpPr>
          <p:cNvPr id="2" name="副标题 1">
            <a:extLst>
              <a:ext uri="{FF2B5EF4-FFF2-40B4-BE49-F238E27FC236}">
                <a16:creationId xmlns:a16="http://schemas.microsoft.com/office/drawing/2014/main" id="{2898794D-C51A-45DC-9B2F-615AA03774B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3D4C5A9-9A16-49F5-A13C-6EB2ECC3A1C1}"/>
              </a:ext>
            </a:extLst>
          </p:cNvPr>
          <p:cNvSpPr>
            <a:spLocks noGrp="1"/>
          </p:cNvSpPr>
          <p:nvPr>
            <p:ph type="body" idx="10"/>
          </p:nvPr>
        </p:nvSpPr>
        <p:spPr/>
        <p:txBody>
          <a:bodyPr/>
          <a:lstStyle/>
          <a:p>
            <a:endParaRPr lang="zh-CN" altLang="en-US"/>
          </a:p>
        </p:txBody>
      </p:sp>
      <p:sp>
        <p:nvSpPr>
          <p:cNvPr id="6" name="Rectangle 2">
            <a:extLst>
              <a:ext uri="{FF2B5EF4-FFF2-40B4-BE49-F238E27FC236}">
                <a16:creationId xmlns:a16="http://schemas.microsoft.com/office/drawing/2014/main" id="{705BB417-9FFD-44A5-BEEF-E4536AD2363F}"/>
              </a:ext>
            </a:extLst>
          </p:cNvPr>
          <p:cNvSpPr>
            <a:spLocks noChangeArrowheads="1"/>
          </p:cNvSpPr>
          <p:nvPr/>
        </p:nvSpPr>
        <p:spPr bwMode="auto">
          <a:xfrm>
            <a:off x="384112" y="1034584"/>
            <a:ext cx="10803841"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3-13</a:t>
            </a: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后缀表达式求值</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PostFixEval(</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一个后缀表达式</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后缀表达式</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的值。若表达式不规范，则输出错误码（</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ErrorCode</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GetToken(</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从表达式中取出一个元素</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while</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表达式结尾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IsOperand(</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如果该元素是操作数</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  |  Push(</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则入栈</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如果该元素是操作符</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 |  |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 |  |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10.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Calculate(</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计算</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的值</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11. |  |  Push(</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result</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计算结果入栈</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13.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GetToken(</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从表达式中取下一个元素</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14. 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15. 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16.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17. if</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IsEmpty(</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false then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表达式不规范</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3663" algn="l"/>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18.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ErrorCode</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19. 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 DestroyStack(</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21. return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10" name="直接连接符 9">
            <a:extLst>
              <a:ext uri="{FF2B5EF4-FFF2-40B4-BE49-F238E27FC236}">
                <a16:creationId xmlns:a16="http://schemas.microsoft.com/office/drawing/2014/main" id="{6AB84D65-8C53-4A1C-AAA5-2ADD2E775E84}"/>
              </a:ext>
            </a:extLst>
          </p:cNvPr>
          <p:cNvCxnSpPr>
            <a:cxnSpLocks/>
          </p:cNvCxnSpPr>
          <p:nvPr/>
        </p:nvCxnSpPr>
        <p:spPr>
          <a:xfrm>
            <a:off x="409414" y="103266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8ED1A2D-C663-40B7-8ED9-A557DD0ED97C}"/>
              </a:ext>
            </a:extLst>
          </p:cNvPr>
          <p:cNvCxnSpPr>
            <a:cxnSpLocks/>
          </p:cNvCxnSpPr>
          <p:nvPr/>
        </p:nvCxnSpPr>
        <p:spPr>
          <a:xfrm>
            <a:off x="409414" y="134725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ED947F-24A1-46D1-9D52-4184A8E36CD5}"/>
              </a:ext>
            </a:extLst>
          </p:cNvPr>
          <p:cNvCxnSpPr>
            <a:cxnSpLocks/>
          </p:cNvCxnSpPr>
          <p:nvPr/>
        </p:nvCxnSpPr>
        <p:spPr>
          <a:xfrm>
            <a:off x="422861" y="186272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713FE10-4E58-40E5-A686-0539F4D6128A}"/>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中缀表达式</a:t>
            </a:r>
            <a:r>
              <a:rPr kumimoji="0" sz="2800" dirty="0"/>
              <a:t> </a:t>
            </a:r>
            <a:r>
              <a:rPr kumimoji="0" lang="en-US" altLang="zh-CN" sz="2800" dirty="0">
                <a:solidFill>
                  <a:srgbClr val="0432FF"/>
                </a:solidFill>
              </a:rPr>
              <a:t>vs</a:t>
            </a:r>
            <a:r>
              <a:rPr kumimoji="0" lang="en-US" altLang="zh-CN" sz="2800" dirty="0"/>
              <a:t> </a:t>
            </a:r>
            <a:r>
              <a:rPr kumimoji="0" sz="2800" dirty="0" err="1"/>
              <a:t>后缀表达式</a:t>
            </a:r>
            <a:endParaRPr kumimoji="0" sz="2800" dirty="0"/>
          </a:p>
        </p:txBody>
      </p:sp>
      <p:sp>
        <p:nvSpPr>
          <p:cNvPr id="2" name="副标题 1">
            <a:extLst>
              <a:ext uri="{FF2B5EF4-FFF2-40B4-BE49-F238E27FC236}">
                <a16:creationId xmlns:a16="http://schemas.microsoft.com/office/drawing/2014/main" id="{821E2559-BECE-45A5-8618-7E941BEC387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42296FC-675C-4E33-8498-2200F344DDF2}"/>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8E8E021D-A614-479F-90A2-A69598D3AD38}"/>
              </a:ext>
            </a:extLst>
          </p:cNvPr>
          <p:cNvSpPr>
            <a:spLocks noGrp="1"/>
          </p:cNvSpPr>
          <p:nvPr>
            <p:ph idx="11"/>
          </p:nvPr>
        </p:nvSpPr>
        <p:spPr/>
        <p:txBody>
          <a:bodyPr/>
          <a:lstStyle/>
          <a:p>
            <a:pPr>
              <a:spcBef>
                <a:spcPct val="20000"/>
              </a:spcBef>
              <a:buClr>
                <a:schemeClr val="accent1"/>
              </a:buClr>
              <a:buSzPct val="65000"/>
            </a:pPr>
            <a:r>
              <a:rPr lang="zh-CN" altLang="en-US" sz="2800" b="1" dirty="0">
                <a:latin typeface="Microsoft YaHei Light" panose="020B0502040204020203" pitchFamily="34" charset="-122"/>
                <a:ea typeface="Microsoft YaHei Light" panose="020B0502040204020203" pitchFamily="34" charset="-122"/>
              </a:rPr>
              <a:t>中缀和后缀表达式的主要</a:t>
            </a:r>
            <a:r>
              <a:rPr lang="zh-CN" altLang="en-US" sz="2800" b="1" dirty="0">
                <a:solidFill>
                  <a:srgbClr val="0000FF"/>
                </a:solidFill>
                <a:latin typeface="Microsoft YaHei Light" panose="020B0502040204020203" pitchFamily="34" charset="-122"/>
                <a:ea typeface="Microsoft YaHei Light" panose="020B0502040204020203" pitchFamily="34" charset="-122"/>
              </a:rPr>
              <a:t>异同</a:t>
            </a:r>
            <a:r>
              <a:rPr lang="zh-CN" altLang="en-US" sz="2800" b="1" dirty="0">
                <a:latin typeface="Microsoft YaHei Light" panose="020B0502040204020203" pitchFamily="34" charset="-122"/>
                <a:ea typeface="Microsoft YaHei Light" panose="020B0502040204020203" pitchFamily="34" charset="-122"/>
              </a:rPr>
              <a:t>？</a:t>
            </a:r>
          </a:p>
          <a:p>
            <a:pPr lvl="1">
              <a:spcBef>
                <a:spcPct val="20000"/>
              </a:spcBef>
              <a:buClr>
                <a:schemeClr val="accent1"/>
              </a:buClr>
              <a:buSzPct val="65000"/>
              <a:buNone/>
            </a:pPr>
            <a:endParaRPr lang="en-US" altLang="zh-CN" b="1"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r>
              <a:rPr lang="en-US" altLang="zh-CN" dirty="0">
                <a:latin typeface="Microsoft YaHei Light" panose="020B0502040204020203" pitchFamily="34" charset="-122"/>
                <a:ea typeface="Microsoft YaHei Light" panose="020B0502040204020203" pitchFamily="34" charset="-122"/>
              </a:rPr>
              <a:t>23 + (34 *45) / (5 + 6 + 7)  = </a:t>
            </a:r>
            <a:r>
              <a:rPr lang="zh-CN" altLang="en-US" dirty="0">
                <a:latin typeface="Microsoft YaHei Light" panose="020B0502040204020203" pitchFamily="34" charset="-122"/>
                <a:ea typeface="Microsoft YaHei Light" panose="020B0502040204020203" pitchFamily="34" charset="-122"/>
              </a:rPr>
              <a:t>？</a:t>
            </a:r>
            <a:endParaRPr lang="en-US" altLang="zh-CN"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endParaRPr lang="en-US" altLang="zh-CN"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r>
              <a:rPr lang="en-US" altLang="zh-CN" dirty="0">
                <a:latin typeface="Microsoft YaHei Light" panose="020B0502040204020203" pitchFamily="34" charset="-122"/>
                <a:ea typeface="Microsoft YaHei Light" panose="020B0502040204020203" pitchFamily="34" charset="-122"/>
              </a:rPr>
              <a:t>23 34 45 * 5  6 + 7 + / +  = </a:t>
            </a:r>
            <a:r>
              <a:rPr lang="zh-CN" altLang="en-US" dirty="0">
                <a:latin typeface="Microsoft YaHei Light" panose="020B0502040204020203" pitchFamily="34" charset="-122"/>
                <a:ea typeface="Microsoft YaHei Light" panose="020B0502040204020203" pitchFamily="34" charset="-122"/>
              </a:rPr>
              <a:t>？</a:t>
            </a:r>
            <a:r>
              <a:rPr lang="zh-CN" altLang="en-US" dirty="0">
                <a:solidFill>
                  <a:schemeClr val="bg1"/>
                </a:solidFill>
                <a:latin typeface="Microsoft YaHei" panose="020B0503020204020204" pitchFamily="34" charset="-122"/>
                <a:ea typeface="Microsoft YaHei" panose="020B0503020204020204" pitchFamily="34" charset="-122"/>
              </a:rPr>
              <a:t>运算符出现的次序与其优先级</a:t>
            </a:r>
            <a:endParaRPr lang="zh-CN" altLang="en-US" dirty="0">
              <a:latin typeface="Microsoft YaHei Light" panose="020B0502040204020203" pitchFamily="34" charset="-122"/>
              <a:ea typeface="Microsoft YaHei Light" panose="020B0502040204020203" pitchFamily="34" charset="-122"/>
            </a:endParaRPr>
          </a:p>
        </p:txBody>
      </p:sp>
      <p:sp>
        <p:nvSpPr>
          <p:cNvPr id="10" name="Text Box 5">
            <a:extLst>
              <a:ext uri="{FF2B5EF4-FFF2-40B4-BE49-F238E27FC236}">
                <a16:creationId xmlns:a16="http://schemas.microsoft.com/office/drawing/2014/main" id="{203FCCED-4F1A-46FA-8635-2628BF4313F5}"/>
              </a:ext>
            </a:extLst>
          </p:cNvPr>
          <p:cNvSpPr txBox="1">
            <a:spLocks noChangeArrowheads="1"/>
          </p:cNvSpPr>
          <p:nvPr/>
        </p:nvSpPr>
        <p:spPr bwMode="auto">
          <a:xfrm>
            <a:off x="5648944" y="3869564"/>
            <a:ext cx="245121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accent1"/>
              </a:buClr>
              <a:buSzPct val="65000"/>
              <a:buFont typeface="Wingdings" panose="05000000000000000000" pitchFamily="2" charset="2"/>
              <a:buNone/>
            </a:pPr>
            <a:r>
              <a:rPr lang="zh-CN" altLang="en-US" sz="2800" b="1" dirty="0">
                <a:latin typeface="微软雅黑" panose="020B0503020204020204" pitchFamily="34" charset="-122"/>
                <a:ea typeface="微软雅黑" panose="020B0503020204020204" pitchFamily="34" charset="-122"/>
              </a:rPr>
              <a:t>用 </a:t>
            </a:r>
            <a:r>
              <a:rPr lang="zh-CN" altLang="en-US" sz="2800" b="1" dirty="0">
                <a:solidFill>
                  <a:srgbClr val="0000FF"/>
                </a:solidFill>
                <a:latin typeface="微软雅黑" panose="020B0503020204020204" pitchFamily="34" charset="-122"/>
                <a:ea typeface="微软雅黑" panose="020B0503020204020204" pitchFamily="34" charset="-122"/>
              </a:rPr>
              <a:t>同 </a:t>
            </a:r>
            <a:r>
              <a:rPr lang="zh-CN" altLang="en-US" sz="2800" b="1" dirty="0">
                <a:latin typeface="微软雅黑" panose="020B0503020204020204" pitchFamily="34" charset="-122"/>
                <a:ea typeface="微软雅黑" panose="020B0503020204020204" pitchFamily="34" charset="-122"/>
              </a:rPr>
              <a:t>化 </a:t>
            </a:r>
            <a:r>
              <a:rPr lang="zh-CN" altLang="en-US" sz="2800" b="1" dirty="0">
                <a:solidFill>
                  <a:srgbClr val="0000FF"/>
                </a:solidFill>
                <a:latin typeface="微软雅黑" panose="020B0503020204020204" pitchFamily="34" charset="-122"/>
                <a:ea typeface="微软雅黑" panose="020B0503020204020204" pitchFamily="34" charset="-122"/>
              </a:rPr>
              <a:t>异 </a:t>
            </a:r>
            <a:r>
              <a:rPr lang="zh-CN" altLang="en-US" sz="2800" b="1" dirty="0">
                <a:latin typeface="微软雅黑" panose="020B0503020204020204" pitchFamily="34" charset="-122"/>
                <a:ea typeface="微软雅黑" panose="020B0503020204020204" pitchFamily="34" charset="-122"/>
              </a:rPr>
              <a:t>？</a:t>
            </a:r>
          </a:p>
        </p:txBody>
      </p:sp>
      <p:sp>
        <p:nvSpPr>
          <p:cNvPr id="7" name="任意多边形: 形状 69">
            <a:extLst>
              <a:ext uri="{FF2B5EF4-FFF2-40B4-BE49-F238E27FC236}">
                <a16:creationId xmlns:a16="http://schemas.microsoft.com/office/drawing/2014/main" id="{BAFDDA92-1472-4C28-A5F4-D652D1E6B28B}"/>
              </a:ext>
            </a:extLst>
          </p:cNvPr>
          <p:cNvSpPr/>
          <p:nvPr/>
        </p:nvSpPr>
        <p:spPr>
          <a:xfrm>
            <a:off x="6096000" y="1776425"/>
            <a:ext cx="3009900" cy="159306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dirty="0">
                <a:solidFill>
                  <a:schemeClr val="bg1"/>
                </a:solidFill>
                <a:latin typeface="Microsoft YaHei" panose="020B0503020204020204" pitchFamily="34" charset="-122"/>
                <a:ea typeface="Microsoft YaHei" panose="020B0503020204020204" pitchFamily="34" charset="-122"/>
              </a:rPr>
              <a:t>中缀表达式的</a:t>
            </a:r>
            <a:r>
              <a:rPr lang="zh-CN" altLang="en-US" sz="2400" b="1" dirty="0">
                <a:solidFill>
                  <a:schemeClr val="bg1"/>
                </a:solidFill>
                <a:latin typeface="Microsoft YaHei" panose="020B0503020204020204" pitchFamily="34" charset="-122"/>
                <a:ea typeface="Microsoft YaHei" panose="020B0503020204020204" pitchFamily="34" charset="-122"/>
              </a:rPr>
              <a:t>异：</a:t>
            </a:r>
            <a:r>
              <a:rPr lang="zh-CN" altLang="en-US" sz="2000" dirty="0">
                <a:solidFill>
                  <a:schemeClr val="bg1"/>
                </a:solidFill>
                <a:latin typeface="Microsoft YaHei" panose="020B0503020204020204" pitchFamily="34" charset="-122"/>
                <a:ea typeface="Microsoft YaHei" panose="020B0503020204020204" pitchFamily="34" charset="-122"/>
              </a:rPr>
              <a:t>不同运算符的优先级有差异，括号的使用可改变运算符的优先次序！</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5" name="箭头: 上 4">
            <a:extLst>
              <a:ext uri="{FF2B5EF4-FFF2-40B4-BE49-F238E27FC236}">
                <a16:creationId xmlns:a16="http://schemas.microsoft.com/office/drawing/2014/main" id="{C75AAFB6-9ADC-44F8-A89F-80AA078D867E}"/>
              </a:ext>
            </a:extLst>
          </p:cNvPr>
          <p:cNvSpPr/>
          <p:nvPr/>
        </p:nvSpPr>
        <p:spPr>
          <a:xfrm>
            <a:off x="7061936" y="3455400"/>
            <a:ext cx="476250" cy="371756"/>
          </a:xfrm>
          <a:prstGeom prst="upArrow">
            <a:avLst/>
          </a:prstGeom>
          <a:solidFill>
            <a:srgbClr val="51ADB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69">
            <a:extLst>
              <a:ext uri="{FF2B5EF4-FFF2-40B4-BE49-F238E27FC236}">
                <a16:creationId xmlns:a16="http://schemas.microsoft.com/office/drawing/2014/main" id="{AAA4AA75-667C-41FD-B884-CFE8482536C3}"/>
              </a:ext>
            </a:extLst>
          </p:cNvPr>
          <p:cNvSpPr/>
          <p:nvPr/>
        </p:nvSpPr>
        <p:spPr>
          <a:xfrm>
            <a:off x="9793472" y="1776425"/>
            <a:ext cx="2162668" cy="159306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dirty="0">
                <a:solidFill>
                  <a:schemeClr val="bg1"/>
                </a:solidFill>
                <a:latin typeface="Microsoft YaHei" panose="020B0503020204020204" pitchFamily="34" charset="-122"/>
                <a:ea typeface="Microsoft YaHei" panose="020B0503020204020204" pitchFamily="34" charset="-122"/>
              </a:rPr>
              <a:t>运算符的计算次序与符号在表达式中出现的</a:t>
            </a:r>
            <a:r>
              <a:rPr lang="zh-CN" altLang="en-US" sz="2000" dirty="0">
                <a:solidFill>
                  <a:srgbClr val="FFFF00"/>
                </a:solidFill>
                <a:latin typeface="Microsoft YaHei" panose="020B0503020204020204" pitchFamily="34" charset="-122"/>
                <a:ea typeface="Microsoft YaHei" panose="020B0503020204020204" pitchFamily="34" charset="-122"/>
              </a:rPr>
              <a:t>先后顺序</a:t>
            </a:r>
            <a:r>
              <a:rPr lang="zh-CN" altLang="en-US" sz="2000" dirty="0">
                <a:solidFill>
                  <a:schemeClr val="bg1"/>
                </a:solidFill>
                <a:latin typeface="Microsoft YaHei" panose="020B0503020204020204" pitchFamily="34" charset="-122"/>
                <a:ea typeface="Microsoft YaHei" panose="020B0503020204020204" pitchFamily="34" charset="-122"/>
              </a:rPr>
              <a:t>可能无关（非线性）</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6" name="箭头: 右 5">
            <a:extLst>
              <a:ext uri="{FF2B5EF4-FFF2-40B4-BE49-F238E27FC236}">
                <a16:creationId xmlns:a16="http://schemas.microsoft.com/office/drawing/2014/main" id="{0EBC804B-E5C7-4298-88A5-F5D3BBFEDECB}"/>
              </a:ext>
            </a:extLst>
          </p:cNvPr>
          <p:cNvSpPr/>
          <p:nvPr/>
        </p:nvSpPr>
        <p:spPr>
          <a:xfrm>
            <a:off x="9258300" y="2295525"/>
            <a:ext cx="381000" cy="66675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69">
            <a:extLst>
              <a:ext uri="{FF2B5EF4-FFF2-40B4-BE49-F238E27FC236}">
                <a16:creationId xmlns:a16="http://schemas.microsoft.com/office/drawing/2014/main" id="{2DC6E740-0C7F-439C-BCCD-37382F744941}"/>
              </a:ext>
            </a:extLst>
          </p:cNvPr>
          <p:cNvSpPr/>
          <p:nvPr/>
        </p:nvSpPr>
        <p:spPr>
          <a:xfrm>
            <a:off x="4011673" y="4781509"/>
            <a:ext cx="3000375" cy="159306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dirty="0">
                <a:solidFill>
                  <a:schemeClr val="bg1"/>
                </a:solidFill>
                <a:latin typeface="Microsoft YaHei" panose="020B0503020204020204" pitchFamily="34" charset="-122"/>
                <a:ea typeface="Microsoft YaHei" panose="020B0503020204020204" pitchFamily="34" charset="-122"/>
              </a:rPr>
              <a:t>后缀表达式的</a:t>
            </a:r>
            <a:r>
              <a:rPr lang="zh-CN" altLang="en-US" sz="2400" b="1" dirty="0">
                <a:solidFill>
                  <a:schemeClr val="bg1"/>
                </a:solidFill>
                <a:latin typeface="Microsoft YaHei" panose="020B0503020204020204" pitchFamily="34" charset="-122"/>
                <a:ea typeface="Microsoft YaHei" panose="020B0503020204020204" pitchFamily="34" charset="-122"/>
              </a:rPr>
              <a:t>同：</a:t>
            </a:r>
            <a:r>
              <a:rPr lang="zh-CN" altLang="en-US" sz="2000" dirty="0">
                <a:solidFill>
                  <a:schemeClr val="bg1"/>
                </a:solidFill>
                <a:latin typeface="Microsoft YaHei" panose="020B0503020204020204" pitchFamily="34" charset="-122"/>
                <a:ea typeface="Microsoft YaHei" panose="020B0503020204020204" pitchFamily="34" charset="-122"/>
              </a:rPr>
              <a:t>所有运算符的</a:t>
            </a:r>
            <a:r>
              <a:rPr lang="zh-CN" altLang="en-US" sz="2000" dirty="0">
                <a:solidFill>
                  <a:srgbClr val="FFFF00"/>
                </a:solidFill>
                <a:latin typeface="Microsoft YaHei" panose="020B0503020204020204" pitchFamily="34" charset="-122"/>
                <a:ea typeface="Microsoft YaHei" panose="020B0503020204020204" pitchFamily="34" charset="-122"/>
              </a:rPr>
              <a:t>优先级相同</a:t>
            </a:r>
            <a:r>
              <a:rPr lang="zh-CN" altLang="en-US" sz="2000" dirty="0">
                <a:solidFill>
                  <a:schemeClr val="bg1"/>
                </a:solidFill>
                <a:latin typeface="Microsoft YaHei" panose="020B0503020204020204" pitchFamily="34" charset="-122"/>
                <a:ea typeface="Microsoft YaHei" panose="020B0503020204020204" pitchFamily="34" charset="-122"/>
              </a:rPr>
              <a:t>，没有括号！</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12" name="任意多边形: 形状 69">
            <a:extLst>
              <a:ext uri="{FF2B5EF4-FFF2-40B4-BE49-F238E27FC236}">
                <a16:creationId xmlns:a16="http://schemas.microsoft.com/office/drawing/2014/main" id="{FD3055B5-3D76-47B1-B471-7DEB031DAF8A}"/>
              </a:ext>
            </a:extLst>
          </p:cNvPr>
          <p:cNvSpPr/>
          <p:nvPr/>
        </p:nvSpPr>
        <p:spPr>
          <a:xfrm>
            <a:off x="7895670" y="4742448"/>
            <a:ext cx="2162668" cy="159306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dirty="0">
                <a:solidFill>
                  <a:schemeClr val="bg1"/>
                </a:solidFill>
                <a:latin typeface="Microsoft YaHei" panose="020B0503020204020204" pitchFamily="34" charset="-122"/>
                <a:ea typeface="Microsoft YaHei" panose="020B0503020204020204" pitchFamily="34" charset="-122"/>
              </a:rPr>
              <a:t>运算符的计算次序与符号在表达式中出现的先后顺序</a:t>
            </a:r>
            <a:r>
              <a:rPr lang="zh-CN" altLang="en-US" sz="2000" dirty="0">
                <a:solidFill>
                  <a:srgbClr val="FFFF00"/>
                </a:solidFill>
                <a:latin typeface="Microsoft YaHei" panose="020B0503020204020204" pitchFamily="34" charset="-122"/>
                <a:ea typeface="Microsoft YaHei" panose="020B0503020204020204" pitchFamily="34" charset="-122"/>
              </a:rPr>
              <a:t>一致 </a:t>
            </a:r>
            <a:r>
              <a:rPr lang="zh-CN" altLang="en-US" sz="2000" dirty="0">
                <a:solidFill>
                  <a:schemeClr val="bg1"/>
                </a:solidFill>
                <a:latin typeface="Microsoft YaHei" panose="020B0503020204020204" pitchFamily="34" charset="-122"/>
                <a:ea typeface="Microsoft YaHei" panose="020B0503020204020204" pitchFamily="34" charset="-122"/>
              </a:rPr>
              <a:t>（线性）</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13" name="箭头: 右 12">
            <a:extLst>
              <a:ext uri="{FF2B5EF4-FFF2-40B4-BE49-F238E27FC236}">
                <a16:creationId xmlns:a16="http://schemas.microsoft.com/office/drawing/2014/main" id="{368B25A1-13A4-4795-AEAD-391813BD1DF9}"/>
              </a:ext>
            </a:extLst>
          </p:cNvPr>
          <p:cNvSpPr/>
          <p:nvPr/>
        </p:nvSpPr>
        <p:spPr>
          <a:xfrm>
            <a:off x="7263359" y="5244666"/>
            <a:ext cx="381000" cy="666750"/>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上 13">
            <a:extLst>
              <a:ext uri="{FF2B5EF4-FFF2-40B4-BE49-F238E27FC236}">
                <a16:creationId xmlns:a16="http://schemas.microsoft.com/office/drawing/2014/main" id="{414E9EFA-19AB-468C-B5CA-F299E4262E9E}"/>
              </a:ext>
            </a:extLst>
          </p:cNvPr>
          <p:cNvSpPr/>
          <p:nvPr/>
        </p:nvSpPr>
        <p:spPr>
          <a:xfrm rot="10800000">
            <a:off x="6100799" y="4351763"/>
            <a:ext cx="476250" cy="371756"/>
          </a:xfrm>
          <a:prstGeom prst="upArrow">
            <a:avLst/>
          </a:prstGeom>
          <a:solidFill>
            <a:srgbClr val="51ADB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animBg="1"/>
      <p:bldP spid="5" grpId="0" animBg="1"/>
      <p:bldP spid="9" grpId="0" animBg="1"/>
      <p:bldP spid="6" grpId="0" animBg="1"/>
      <p:bldP spid="11" grpId="0" animBg="1"/>
      <p:bldP spid="12" grpId="0" animBg="1"/>
      <p:bldP spid="13" grpId="0" animBg="1"/>
      <p:bldP spid="1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a:extLst>
              <a:ext uri="{FF2B5EF4-FFF2-40B4-BE49-F238E27FC236}">
                <a16:creationId xmlns:a16="http://schemas.microsoft.com/office/drawing/2014/main" id="{66FBE75F-5E3F-4798-A5B6-D34FEAC09C3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t> 后缀表达式</a:t>
            </a:r>
          </a:p>
        </p:txBody>
      </p:sp>
      <p:sp>
        <p:nvSpPr>
          <p:cNvPr id="2" name="副标题 1">
            <a:extLst>
              <a:ext uri="{FF2B5EF4-FFF2-40B4-BE49-F238E27FC236}">
                <a16:creationId xmlns:a16="http://schemas.microsoft.com/office/drawing/2014/main" id="{A81502D7-45D4-4B8B-A5DC-B2C37192036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5C96784-5F50-4F94-8655-85B35667A848}"/>
              </a:ext>
            </a:extLst>
          </p:cNvPr>
          <p:cNvSpPr>
            <a:spLocks noGrp="1"/>
          </p:cNvSpPr>
          <p:nvPr>
            <p:ph type="body" idx="10"/>
          </p:nvPr>
        </p:nvSpPr>
        <p:spPr/>
        <p:txBody>
          <a:bodyPr/>
          <a:lstStyle/>
          <a:p>
            <a:endParaRPr lang="zh-CN" altLang="en-US"/>
          </a:p>
        </p:txBody>
      </p:sp>
      <p:sp>
        <p:nvSpPr>
          <p:cNvPr id="879618" name="Rectangle 2">
            <a:extLst>
              <a:ext uri="{FF2B5EF4-FFF2-40B4-BE49-F238E27FC236}">
                <a16:creationId xmlns:a16="http://schemas.microsoft.com/office/drawing/2014/main" id="{DC414D5D-4249-43D3-95A8-21439DEA2CB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dirty="0">
                <a:solidFill>
                  <a:srgbClr val="0000FF"/>
                </a:solidFill>
                <a:latin typeface="微软雅黑" panose="020B0503020204020204" pitchFamily="34" charset="-122"/>
                <a:ea typeface="微软雅黑" panose="020B0503020204020204" pitchFamily="34" charset="-122"/>
              </a:rPr>
              <a:t>从左到右</a:t>
            </a:r>
            <a:r>
              <a:rPr kumimoji="0" lang="zh-CN" altLang="zh-CN" sz="2800" b="1" dirty="0">
                <a:latin typeface="微软雅黑" panose="020B0503020204020204" pitchFamily="34" charset="-122"/>
                <a:ea typeface="微软雅黑" panose="020B0503020204020204" pitchFamily="34" charset="-122"/>
              </a:rPr>
              <a:t>扫描中缀表达式</a:t>
            </a:r>
            <a:r>
              <a:rPr kumimoji="0" lang="zh-CN" altLang="en-US" sz="2800" b="1" dirty="0">
                <a:latin typeface="微软雅黑" panose="020B0503020204020204" pitchFamily="34" charset="-122"/>
                <a:ea typeface="微软雅黑" panose="020B0503020204020204" pitchFamily="34" charset="-122"/>
              </a:rPr>
              <a:t>：</a:t>
            </a:r>
            <a:r>
              <a:rPr kumimoji="0" lang="zh-CN" altLang="zh-CN" sz="2800" dirty="0">
                <a:latin typeface="微软雅黑" panose="020B0503020204020204" pitchFamily="34" charset="-122"/>
                <a:ea typeface="微软雅黑" panose="020B0503020204020204" pitchFamily="34" charset="-122"/>
              </a:rPr>
              <a:t>用</a:t>
            </a:r>
            <a:r>
              <a:rPr kumimoji="0" lang="en-US" altLang="zh-CN" sz="2800" dirty="0">
                <a:latin typeface="微软雅黑" panose="020B0503020204020204" pitchFamily="34" charset="-122"/>
                <a:ea typeface="微软雅黑" panose="020B0503020204020204" pitchFamily="34" charset="-122"/>
              </a:rPr>
              <a:t> </a:t>
            </a:r>
            <a:r>
              <a:rPr kumimoji="0" lang="zh-CN" altLang="zh-CN" sz="2800" b="1" dirty="0">
                <a:latin typeface="微软雅黑" panose="020B0503020204020204" pitchFamily="34" charset="-122"/>
                <a:ea typeface="微软雅黑" panose="020B0503020204020204" pitchFamily="34" charset="-122"/>
              </a:rPr>
              <a:t>栈</a:t>
            </a:r>
            <a:r>
              <a:rPr kumimoji="0" lang="en-US" altLang="zh-CN" sz="2800" b="1" dirty="0">
                <a:latin typeface="微软雅黑" panose="020B0503020204020204" pitchFamily="34" charset="-122"/>
                <a:ea typeface="微软雅黑" panose="020B0503020204020204" pitchFamily="34" charset="-122"/>
              </a:rPr>
              <a:t> </a:t>
            </a:r>
            <a:r>
              <a:rPr kumimoji="0" lang="zh-CN" altLang="zh-CN" sz="2800" dirty="0">
                <a:latin typeface="微软雅黑" panose="020B0503020204020204" pitchFamily="34" charset="-122"/>
                <a:ea typeface="微软雅黑" panose="020B0503020204020204" pitchFamily="34" charset="-122"/>
              </a:rPr>
              <a:t>存放</a:t>
            </a:r>
            <a:r>
              <a:rPr kumimoji="0" lang="en-US" altLang="zh-CN" sz="2800" dirty="0">
                <a:latin typeface="微软雅黑" panose="020B0503020204020204" pitchFamily="34" charset="-122"/>
                <a:ea typeface="微软雅黑" panose="020B0503020204020204" pitchFamily="34" charset="-122"/>
              </a:rPr>
              <a:t> </a:t>
            </a:r>
            <a:r>
              <a:rPr kumimoji="0" lang="zh-CN" altLang="zh-CN" sz="2800" dirty="0">
                <a:latin typeface="微软雅黑" panose="020B0503020204020204" pitchFamily="34" charset="-122"/>
                <a:ea typeface="微软雅黑" panose="020B0503020204020204" pitchFamily="34" charset="-122"/>
              </a:rPr>
              <a:t>表达式中的</a:t>
            </a:r>
            <a:r>
              <a:rPr kumimoji="0" lang="zh-CN" altLang="zh-CN" sz="2800" dirty="0">
                <a:solidFill>
                  <a:srgbClr val="3366FF"/>
                </a:solidFill>
                <a:latin typeface="微软雅黑" panose="020B0503020204020204" pitchFamily="34" charset="-122"/>
                <a:ea typeface="微软雅黑" panose="020B0503020204020204" pitchFamily="34" charset="-122"/>
              </a:rPr>
              <a:t>操作符</a:t>
            </a:r>
            <a:r>
              <a:rPr kumimoji="0" lang="zh-CN" altLang="zh-CN" sz="2800" dirty="0">
                <a:latin typeface="微软雅黑" panose="020B0503020204020204" pitchFamily="34" charset="-122"/>
                <a:ea typeface="微软雅黑" panose="020B0503020204020204" pitchFamily="34" charset="-122"/>
              </a:rPr>
              <a:t> 、</a:t>
            </a:r>
            <a:r>
              <a:rPr kumimoji="0" lang="zh-CN" altLang="zh-CN" sz="2800" dirty="0">
                <a:solidFill>
                  <a:srgbClr val="3366FF"/>
                </a:solidFill>
                <a:latin typeface="微软雅黑" panose="020B0503020204020204" pitchFamily="34" charset="-122"/>
                <a:ea typeface="微软雅黑" panose="020B0503020204020204" pitchFamily="34" charset="-122"/>
              </a:rPr>
              <a:t>开括号</a:t>
            </a:r>
            <a:r>
              <a:rPr kumimoji="0" lang="zh-CN" altLang="zh-CN" sz="2800" dirty="0">
                <a:latin typeface="微软雅黑" panose="020B0503020204020204" pitchFamily="34" charset="-122"/>
                <a:ea typeface="微软雅黑" panose="020B0503020204020204" pitchFamily="34" charset="-122"/>
              </a:rPr>
              <a:t>以及</a:t>
            </a:r>
            <a:r>
              <a:rPr kumimoji="0" lang="zh-CN" altLang="zh-CN" sz="2800" dirty="0">
                <a:solidFill>
                  <a:srgbClr val="3366FF"/>
                </a:solidFill>
                <a:latin typeface="微软雅黑" panose="020B0503020204020204" pitchFamily="34" charset="-122"/>
                <a:ea typeface="微软雅黑" panose="020B0503020204020204" pitchFamily="34" charset="-122"/>
              </a:rPr>
              <a:t>开括号</a:t>
            </a:r>
            <a:r>
              <a:rPr kumimoji="0" lang="zh-CN" altLang="zh-CN" sz="2800" dirty="0">
                <a:latin typeface="微软雅黑" panose="020B0503020204020204" pitchFamily="34" charset="-122"/>
                <a:ea typeface="微软雅黑" panose="020B0503020204020204" pitchFamily="34" charset="-122"/>
              </a:rPr>
              <a:t>后</a:t>
            </a:r>
            <a:r>
              <a:rPr kumimoji="0" lang="en-US" altLang="zh-CN" sz="2800" dirty="0">
                <a:latin typeface="微软雅黑" panose="020B0503020204020204" pitchFamily="34" charset="-122"/>
                <a:ea typeface="微软雅黑" panose="020B0503020204020204" pitchFamily="34" charset="-122"/>
              </a:rPr>
              <a:t> </a:t>
            </a:r>
            <a:r>
              <a:rPr kumimoji="0" lang="zh-CN" altLang="zh-CN" sz="2800" b="1" dirty="0">
                <a:solidFill>
                  <a:srgbClr val="C00000"/>
                </a:solidFill>
                <a:latin typeface="微软雅黑" panose="020B0503020204020204" pitchFamily="34" charset="-122"/>
                <a:ea typeface="微软雅黑" panose="020B0503020204020204" pitchFamily="34" charset="-122"/>
              </a:rPr>
              <a:t>暂不确定计算次序</a:t>
            </a:r>
            <a:r>
              <a:rPr kumimoji="0" lang="en-US" altLang="zh-CN" sz="2800" b="1" dirty="0">
                <a:solidFill>
                  <a:srgbClr val="C00000"/>
                </a:solidFill>
                <a:latin typeface="微软雅黑" panose="020B0503020204020204" pitchFamily="34" charset="-122"/>
                <a:ea typeface="微软雅黑" panose="020B0503020204020204" pitchFamily="34" charset="-122"/>
              </a:rPr>
              <a:t> </a:t>
            </a:r>
            <a:r>
              <a:rPr kumimoji="0" lang="zh-CN" altLang="zh-CN" sz="2800" dirty="0">
                <a:solidFill>
                  <a:srgbClr val="3366FF"/>
                </a:solidFill>
                <a:latin typeface="微软雅黑" panose="020B0503020204020204" pitchFamily="34" charset="-122"/>
                <a:ea typeface="微软雅黑" panose="020B0503020204020204" pitchFamily="34" charset="-122"/>
              </a:rPr>
              <a:t>其他符号</a:t>
            </a:r>
            <a:endParaRPr kumimoji="0" lang="en-US" altLang="zh-CN" sz="2800" dirty="0">
              <a:solidFill>
                <a:srgbClr val="3366FF"/>
              </a:solidFill>
              <a:latin typeface="微软雅黑" panose="020B0503020204020204" pitchFamily="34" charset="-122"/>
              <a:ea typeface="微软雅黑" panose="020B0503020204020204" pitchFamily="34" charset="-122"/>
            </a:endParaRP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(1) </a:t>
            </a:r>
            <a:r>
              <a:rPr kumimoji="0" lang="zh-CN" altLang="zh-CN" sz="2400" b="1" dirty="0">
                <a:solidFill>
                  <a:srgbClr val="0000FF"/>
                </a:solidFill>
                <a:latin typeface="微软雅黑" panose="020B0503020204020204" pitchFamily="34" charset="-122"/>
                <a:ea typeface="微软雅黑" panose="020B0503020204020204" pitchFamily="34" charset="-122"/>
              </a:rPr>
              <a:t>操作数</a:t>
            </a:r>
            <a:r>
              <a:rPr kumimoji="0" lang="zh-CN" altLang="zh-CN" sz="2400" dirty="0">
                <a:latin typeface="微软雅黑" panose="020B0503020204020204" pitchFamily="34" charset="-122"/>
                <a:ea typeface="微软雅黑" panose="020B0503020204020204" pitchFamily="34" charset="-122"/>
              </a:rPr>
              <a:t>，直接输出到后缀表达式序列；</a:t>
            </a: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(2) </a:t>
            </a:r>
            <a:r>
              <a:rPr kumimoji="0" lang="zh-CN" altLang="en-US" sz="2400" b="1" dirty="0">
                <a:solidFill>
                  <a:srgbClr val="0000FF"/>
                </a:solidFill>
                <a:latin typeface="微软雅黑" panose="020B0503020204020204" pitchFamily="34" charset="-122"/>
                <a:ea typeface="微软雅黑" panose="020B0503020204020204" pitchFamily="34" charset="-122"/>
              </a:rPr>
              <a:t>开括号</a:t>
            </a:r>
            <a:r>
              <a:rPr kumimoji="0" lang="zh-CN" altLang="zh-CN" sz="2400" dirty="0">
                <a:latin typeface="微软雅黑" panose="020B0503020204020204" pitchFamily="34" charset="-122"/>
                <a:ea typeface="微软雅黑" panose="020B0503020204020204" pitchFamily="34" charset="-122"/>
              </a:rPr>
              <a:t>，将其入栈；</a:t>
            </a:r>
            <a:endParaRPr kumimoji="0" lang="en-US" altLang="zh-CN" sz="2400" dirty="0">
              <a:latin typeface="微软雅黑" panose="020B0503020204020204" pitchFamily="34" charset="-122"/>
              <a:ea typeface="微软雅黑" panose="020B0503020204020204" pitchFamily="34" charset="-122"/>
            </a:endParaRP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(3) </a:t>
            </a:r>
            <a:r>
              <a:rPr kumimoji="0" lang="zh-CN" altLang="en-US" sz="2400" b="1" dirty="0">
                <a:solidFill>
                  <a:srgbClr val="0000FF"/>
                </a:solidFill>
                <a:latin typeface="微软雅黑" panose="020B0503020204020204" pitchFamily="34" charset="-122"/>
                <a:ea typeface="微软雅黑" panose="020B0503020204020204" pitchFamily="34" charset="-122"/>
              </a:rPr>
              <a:t>闭括号</a:t>
            </a:r>
            <a:r>
              <a:rPr kumimoji="0" lang="zh-CN" altLang="zh-CN" sz="2400" dirty="0">
                <a:latin typeface="微软雅黑" panose="020B0503020204020204" pitchFamily="34" charset="-122"/>
                <a:ea typeface="微软雅黑" panose="020B0503020204020204" pitchFamily="34" charset="-122"/>
              </a:rPr>
              <a:t>时，先判断栈是否为空，</a:t>
            </a:r>
            <a:r>
              <a:rPr kumimoji="0" lang="zh-CN" altLang="zh-CN" sz="2400" dirty="0">
                <a:solidFill>
                  <a:srgbClr val="CC0000"/>
                </a:solidFill>
                <a:latin typeface="微软雅黑" panose="020B0503020204020204" pitchFamily="34" charset="-122"/>
                <a:ea typeface="微软雅黑" panose="020B0503020204020204" pitchFamily="34" charset="-122"/>
              </a:rPr>
              <a:t>若为空</a:t>
            </a:r>
            <a:r>
              <a:rPr kumimoji="0" lang="zh-CN" altLang="zh-CN" sz="2400" dirty="0">
                <a:latin typeface="微软雅黑" panose="020B0503020204020204" pitchFamily="34" charset="-122"/>
                <a:ea typeface="微软雅黑" panose="020B0503020204020204" pitchFamily="34" charset="-122"/>
              </a:rPr>
              <a:t>（</a:t>
            </a:r>
            <a:r>
              <a:rPr kumimoji="0" lang="zh-CN" altLang="zh-CN" sz="2400" dirty="0">
                <a:solidFill>
                  <a:srgbClr val="C00000"/>
                </a:solidFill>
                <a:latin typeface="微软雅黑" panose="020B0503020204020204" pitchFamily="34" charset="-122"/>
                <a:ea typeface="微软雅黑" panose="020B0503020204020204" pitchFamily="34" charset="-122"/>
              </a:rPr>
              <a:t>括号不匹配</a:t>
            </a:r>
            <a:r>
              <a:rPr kumimoji="0" lang="zh-CN" altLang="zh-CN" sz="2400" dirty="0">
                <a:latin typeface="微软雅黑" panose="020B0503020204020204" pitchFamily="34" charset="-122"/>
                <a:ea typeface="微软雅黑" panose="020B0503020204020204" pitchFamily="34" charset="-122"/>
              </a:rPr>
              <a:t>），应作为错误</a:t>
            </a:r>
            <a:r>
              <a:rPr kumimoji="0" lang="zh-CN" altLang="en-US" sz="2400" dirty="0">
                <a:latin typeface="微软雅黑" panose="020B0503020204020204" pitchFamily="34" charset="-122"/>
                <a:ea typeface="微软雅黑" panose="020B0503020204020204" pitchFamily="34" charset="-122"/>
              </a:rPr>
              <a:t>进行</a:t>
            </a:r>
            <a:r>
              <a:rPr kumimoji="0" lang="zh-CN" altLang="zh-CN" sz="2400" dirty="0">
                <a:latin typeface="微软雅黑" panose="020B0503020204020204" pitchFamily="34" charset="-122"/>
                <a:ea typeface="微软雅黑" panose="020B0503020204020204" pitchFamily="34" charset="-122"/>
              </a:rPr>
              <a:t>异常处理，清栈退出</a:t>
            </a:r>
            <a:r>
              <a:rPr kumimoji="0" lang="zh-CN" altLang="en-US" sz="2400" dirty="0">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 </a:t>
            </a:r>
            <a:r>
              <a:rPr kumimoji="0" lang="zh-CN" altLang="zh-CN" sz="2400" dirty="0">
                <a:solidFill>
                  <a:srgbClr val="CC0000"/>
                </a:solidFill>
                <a:latin typeface="微软雅黑" panose="020B0503020204020204" pitchFamily="34" charset="-122"/>
                <a:ea typeface="微软雅黑" panose="020B0503020204020204" pitchFamily="34" charset="-122"/>
              </a:rPr>
              <a:t>若非空</a:t>
            </a:r>
            <a:r>
              <a:rPr kumimoji="0" lang="zh-CN" altLang="zh-CN" sz="2400" dirty="0">
                <a:latin typeface="微软雅黑" panose="020B0503020204020204" pitchFamily="34" charset="-122"/>
                <a:ea typeface="微软雅黑" panose="020B0503020204020204" pitchFamily="34" charset="-122"/>
              </a:rPr>
              <a:t>，依次弹出栈中元素，</a:t>
            </a:r>
            <a:r>
              <a:rPr kumimoji="0" lang="zh-CN" altLang="en-US" sz="2400" dirty="0">
                <a:latin typeface="微软雅黑" panose="020B0503020204020204" pitchFamily="34" charset="-122"/>
                <a:ea typeface="微软雅黑" panose="020B0503020204020204" pitchFamily="34" charset="-122"/>
              </a:rPr>
              <a:t>并</a:t>
            </a:r>
            <a:r>
              <a:rPr kumimoji="0" lang="zh-CN" altLang="zh-CN" sz="2400" dirty="0">
                <a:latin typeface="微软雅黑" panose="020B0503020204020204" pitchFamily="34" charset="-122"/>
                <a:ea typeface="微软雅黑" panose="020B0503020204020204" pitchFamily="34" charset="-122"/>
              </a:rPr>
              <a:t>输出到后缀表达式序列中</a:t>
            </a:r>
            <a:r>
              <a:rPr kumimoji="0" lang="zh-CN" altLang="en-US" sz="2400" dirty="0">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直到遇到</a:t>
            </a:r>
            <a:r>
              <a:rPr kumimoji="0" lang="zh-CN" altLang="zh-CN" sz="2400" b="1" dirty="0">
                <a:solidFill>
                  <a:srgbClr val="CC0000"/>
                </a:solidFill>
                <a:latin typeface="微软雅黑" panose="020B0503020204020204" pitchFamily="34" charset="-122"/>
                <a:ea typeface="微软雅黑" panose="020B0503020204020204" pitchFamily="34" charset="-122"/>
              </a:rPr>
              <a:t>一个开括号</a:t>
            </a:r>
            <a:r>
              <a:rPr kumimoji="0" lang="zh-CN" altLang="zh-CN" sz="2400" dirty="0">
                <a:latin typeface="微软雅黑" panose="020B0503020204020204" pitchFamily="34" charset="-122"/>
                <a:ea typeface="微软雅黑" panose="020B0503020204020204" pitchFamily="34" charset="-122"/>
              </a:rPr>
              <a:t>为止，若没有遇到开括号，说明</a:t>
            </a:r>
            <a:r>
              <a:rPr kumimoji="0" lang="zh-CN" altLang="zh-CN" sz="2400" dirty="0">
                <a:solidFill>
                  <a:srgbClr val="C00000"/>
                </a:solidFill>
                <a:latin typeface="微软雅黑" panose="020B0503020204020204" pitchFamily="34" charset="-122"/>
                <a:ea typeface="微软雅黑" panose="020B0503020204020204" pitchFamily="34" charset="-122"/>
              </a:rPr>
              <a:t>括号不配对</a:t>
            </a:r>
            <a:r>
              <a:rPr kumimoji="0" lang="zh-CN" altLang="zh-CN" sz="2400" dirty="0">
                <a:latin typeface="微软雅黑" panose="020B0503020204020204" pitchFamily="34" charset="-122"/>
                <a:ea typeface="微软雅黑" panose="020B0503020204020204" pitchFamily="34" charset="-122"/>
              </a:rPr>
              <a:t>，做异常处理，清栈退出；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79618">
                                            <p:txEl>
                                              <p:pRg st="1" end="1"/>
                                            </p:txEl>
                                          </p:spTgt>
                                        </p:tgtEl>
                                        <p:attrNameLst>
                                          <p:attrName>style.visibility</p:attrName>
                                        </p:attrNameLst>
                                      </p:cBhvr>
                                      <p:to>
                                        <p:strVal val="visible"/>
                                      </p:to>
                                    </p:set>
                                    <p:animEffect transition="in" filter="fade">
                                      <p:cBhvr>
                                        <p:cTn id="7" dur="2000"/>
                                        <p:tgtEl>
                                          <p:spTgt spid="87961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79618">
                                            <p:txEl>
                                              <p:pRg st="2" end="2"/>
                                            </p:txEl>
                                          </p:spTgt>
                                        </p:tgtEl>
                                        <p:attrNameLst>
                                          <p:attrName>style.visibility</p:attrName>
                                        </p:attrNameLst>
                                      </p:cBhvr>
                                      <p:to>
                                        <p:strVal val="visible"/>
                                      </p:to>
                                    </p:set>
                                    <p:animEffect transition="in" filter="fade">
                                      <p:cBhvr>
                                        <p:cTn id="12" dur="2000"/>
                                        <p:tgtEl>
                                          <p:spTgt spid="87961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79618">
                                            <p:txEl>
                                              <p:pRg st="3" end="3"/>
                                            </p:txEl>
                                          </p:spTgt>
                                        </p:tgtEl>
                                        <p:attrNameLst>
                                          <p:attrName>style.visibility</p:attrName>
                                        </p:attrNameLst>
                                      </p:cBhvr>
                                      <p:to>
                                        <p:strVal val="visible"/>
                                      </p:to>
                                    </p:set>
                                    <p:animEffect transition="in" filter="fade">
                                      <p:cBhvr>
                                        <p:cTn id="17" dur="2000"/>
                                        <p:tgtEl>
                                          <p:spTgt spid="8796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C2E985EB-2236-4C01-A50E-9E8E8BF18C8F}"/>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t> 后缀表达式</a:t>
            </a:r>
          </a:p>
        </p:txBody>
      </p:sp>
      <p:sp>
        <p:nvSpPr>
          <p:cNvPr id="2" name="副标题 1">
            <a:extLst>
              <a:ext uri="{FF2B5EF4-FFF2-40B4-BE49-F238E27FC236}">
                <a16:creationId xmlns:a16="http://schemas.microsoft.com/office/drawing/2014/main" id="{6F0F92BF-AED2-4E97-B56F-CFC10019F02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A8253B5-76A8-469D-80D4-F192178A8922}"/>
              </a:ext>
            </a:extLst>
          </p:cNvPr>
          <p:cNvSpPr>
            <a:spLocks noGrp="1"/>
          </p:cNvSpPr>
          <p:nvPr>
            <p:ph type="body" idx="10"/>
          </p:nvPr>
        </p:nvSpPr>
        <p:spPr/>
        <p:txBody>
          <a:bodyPr/>
          <a:lstStyle/>
          <a:p>
            <a:endParaRPr lang="zh-CN" altLang="en-US"/>
          </a:p>
        </p:txBody>
      </p:sp>
      <p:sp>
        <p:nvSpPr>
          <p:cNvPr id="880643" name="Rectangle 3">
            <a:extLst>
              <a:ext uri="{FF2B5EF4-FFF2-40B4-BE49-F238E27FC236}">
                <a16:creationId xmlns:a16="http://schemas.microsoft.com/office/drawing/2014/main" id="{53C0AEB8-3D58-4221-A267-A9DF36CE3E6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4375" lvl="1" indent="-444500" eaLnBrk="1" hangingPunct="1">
              <a:lnSpc>
                <a:spcPct val="110000"/>
              </a:lnSpc>
              <a:spcBef>
                <a:spcPts val="600"/>
              </a:spcBef>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(4) </a:t>
            </a:r>
            <a:r>
              <a:rPr kumimoji="0" lang="zh-CN" altLang="zh-CN" sz="2400" b="1" dirty="0">
                <a:solidFill>
                  <a:srgbClr val="0000FF"/>
                </a:solidFill>
                <a:latin typeface="微软雅黑" panose="020B0503020204020204" pitchFamily="34" charset="-122"/>
                <a:ea typeface="微软雅黑" panose="020B0503020204020204" pitchFamily="34" charset="-122"/>
              </a:rPr>
              <a:t>运算符</a:t>
            </a:r>
            <a:r>
              <a:rPr kumimoji="0" lang="en-US" altLang="zh-CN" sz="2400" dirty="0">
                <a:latin typeface="微软雅黑" panose="020B0503020204020204" pitchFamily="34" charset="-122"/>
                <a:ea typeface="微软雅黑" panose="020B0503020204020204" pitchFamily="34" charset="-122"/>
              </a:rPr>
              <a:t>op</a:t>
            </a:r>
            <a:r>
              <a:rPr kumimoji="0" lang="zh-CN" altLang="zh-CN" sz="2400" dirty="0">
                <a:latin typeface="微软雅黑" panose="020B0503020204020204" pitchFamily="34" charset="-122"/>
                <a:ea typeface="微软雅黑" panose="020B0503020204020204" pitchFamily="34" charset="-122"/>
              </a:rPr>
              <a:t>（ 四则运算 </a:t>
            </a:r>
            <a:r>
              <a:rPr kumimoji="0" lang="en-US" altLang="zh-CN" sz="2400" dirty="0">
                <a:latin typeface="微软雅黑" panose="020B0503020204020204" pitchFamily="34" charset="-122"/>
                <a:ea typeface="微软雅黑" panose="020B0503020204020204" pitchFamily="34" charset="-122"/>
              </a:rPr>
              <a:t>+ - * /  </a:t>
            </a:r>
            <a:r>
              <a:rPr kumimoji="0" lang="zh-CN" altLang="zh-CN" sz="2400" dirty="0">
                <a:latin typeface="微软雅黑" panose="020B0503020204020204" pitchFamily="34" charset="-122"/>
                <a:ea typeface="微软雅黑" panose="020B0503020204020204" pitchFamily="34" charset="-122"/>
              </a:rPr>
              <a:t>之一）时</a:t>
            </a:r>
          </a:p>
          <a:p>
            <a:pPr marL="1349375" lvl="2" indent="-727075" eaLnBrk="1" hangingPunct="1">
              <a:lnSpc>
                <a:spcPct val="110000"/>
              </a:lnSpc>
              <a:spcBef>
                <a:spcPts val="600"/>
              </a:spcBef>
              <a:buFont typeface="Wingdings" panose="05000000000000000000" pitchFamily="2" charset="2"/>
              <a:buNone/>
            </a:pPr>
            <a:r>
              <a:rPr kumimoji="0" lang="en-US" altLang="zh-CN" sz="28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 </a:t>
            </a:r>
            <a:r>
              <a:rPr kumimoji="0" lang="zh-CN" altLang="zh-CN" sz="2400" dirty="0">
                <a:latin typeface="微软雅黑" panose="020B0503020204020204" pitchFamily="34" charset="-122"/>
                <a:ea typeface="微软雅黑" panose="020B0503020204020204" pitchFamily="34" charset="-122"/>
              </a:rPr>
              <a:t>循环  当（</a:t>
            </a:r>
            <a:r>
              <a:rPr kumimoji="0" lang="zh-CN" altLang="zh-CN" sz="2400" dirty="0">
                <a:solidFill>
                  <a:srgbClr val="C00000"/>
                </a:solidFill>
                <a:latin typeface="微软雅黑" panose="020B0503020204020204" pitchFamily="34" charset="-122"/>
                <a:ea typeface="微软雅黑" panose="020B0503020204020204" pitchFamily="34" charset="-122"/>
              </a:rPr>
              <a:t>栈非空</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and </a:t>
            </a:r>
            <a:r>
              <a:rPr kumimoji="0" lang="zh-CN" altLang="zh-CN" sz="2400" dirty="0">
                <a:solidFill>
                  <a:srgbClr val="C00000"/>
                </a:solidFill>
                <a:latin typeface="微软雅黑" panose="020B0503020204020204" pitchFamily="34" charset="-122"/>
                <a:ea typeface="微软雅黑" panose="020B0503020204020204" pitchFamily="34" charset="-122"/>
              </a:rPr>
              <a:t>栈顶不是开括号</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and </a:t>
            </a:r>
            <a:r>
              <a:rPr kumimoji="0" lang="zh-CN" altLang="en-US" sz="2400" dirty="0">
                <a:solidFill>
                  <a:srgbClr val="C00000"/>
                </a:solidFill>
                <a:latin typeface="微软雅黑" panose="020B0503020204020204" pitchFamily="34" charset="-122"/>
                <a:ea typeface="微软雅黑" panose="020B0503020204020204" pitchFamily="34" charset="-122"/>
              </a:rPr>
              <a:t>栈顶运算符的优先级不低于输入的运算符的优先级</a:t>
            </a:r>
            <a:r>
              <a:rPr kumimoji="0" lang="zh-CN" altLang="zh-CN" sz="2400" dirty="0">
                <a:latin typeface="微软雅黑" panose="020B0503020204020204" pitchFamily="34" charset="-122"/>
                <a:ea typeface="微软雅黑" panose="020B0503020204020204" pitchFamily="34" charset="-122"/>
              </a:rPr>
              <a:t>）时，反复</a:t>
            </a:r>
          </a:p>
          <a:p>
            <a:pPr marL="1282700" lvl="4" indent="0" eaLnBrk="1" hangingPunct="1">
              <a:lnSpc>
                <a:spcPct val="110000"/>
              </a:lnSpc>
              <a:spcBef>
                <a:spcPts val="600"/>
              </a:spcBef>
              <a:buFont typeface="Wingdings" panose="05000000000000000000" pitchFamily="2" charset="2"/>
              <a:buNone/>
            </a:pPr>
            <a:r>
              <a:rPr kumimoji="0" lang="zh-CN" altLang="zh-CN" sz="2400" dirty="0">
                <a:solidFill>
                  <a:srgbClr val="0000FF"/>
                </a:solidFill>
                <a:latin typeface="微软雅黑" panose="020B0503020204020204" pitchFamily="34" charset="-122"/>
                <a:ea typeface="微软雅黑" panose="020B0503020204020204" pitchFamily="34" charset="-122"/>
              </a:rPr>
              <a:t>      将栈顶元素弹出，放到后缀表达式序列</a:t>
            </a:r>
            <a:r>
              <a:rPr kumimoji="0" lang="zh-CN" altLang="zh-CN" sz="2400" dirty="0">
                <a:latin typeface="微软雅黑" panose="020B0503020204020204" pitchFamily="34" charset="-122"/>
                <a:ea typeface="微软雅黑" panose="020B0503020204020204" pitchFamily="34" charset="-122"/>
              </a:rPr>
              <a:t>中；</a:t>
            </a:r>
          </a:p>
          <a:p>
            <a:pPr marL="1349375" lvl="2" indent="-72707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(b) </a:t>
            </a:r>
            <a:r>
              <a:rPr kumimoji="0" lang="zh-CN" altLang="zh-CN" sz="2400" dirty="0">
                <a:latin typeface="微软雅黑" panose="020B0503020204020204" pitchFamily="34" charset="-122"/>
                <a:ea typeface="微软雅黑" panose="020B0503020204020204" pitchFamily="34" charset="-122"/>
              </a:rPr>
              <a:t>将输入的</a:t>
            </a:r>
            <a:r>
              <a:rPr kumimoji="0" lang="zh-CN" altLang="zh-CN" sz="2400" dirty="0">
                <a:solidFill>
                  <a:srgbClr val="0000FF"/>
                </a:solidFill>
                <a:latin typeface="微软雅黑" panose="020B0503020204020204" pitchFamily="34" charset="-122"/>
                <a:ea typeface="微软雅黑" panose="020B0503020204020204" pitchFamily="34" charset="-122"/>
              </a:rPr>
              <a:t>运算符</a:t>
            </a:r>
            <a:r>
              <a:rPr kumimoji="0" lang="zh-CN" altLang="zh-CN" sz="2400" dirty="0">
                <a:latin typeface="微软雅黑" panose="020B0503020204020204" pitchFamily="34" charset="-122"/>
                <a:ea typeface="微软雅黑" panose="020B0503020204020204" pitchFamily="34" charset="-122"/>
              </a:rPr>
              <a:t>压入栈内；</a:t>
            </a:r>
          </a:p>
          <a:p>
            <a:pPr marL="714375" lvl="1" indent="-444500" eaLnBrk="1" hangingPunct="1">
              <a:lnSpc>
                <a:spcPct val="110000"/>
              </a:lnSpc>
              <a:spcBef>
                <a:spcPts val="600"/>
              </a:spcBef>
              <a:buFont typeface="Wingdings" panose="05000000000000000000" pitchFamily="2" charset="2"/>
              <a:buNone/>
            </a:pPr>
            <a:r>
              <a:rPr kumimoji="0" lang="en-US" altLang="zh-CN" sz="2000" dirty="0">
                <a:latin typeface="微软雅黑" panose="020B0503020204020204" pitchFamily="34" charset="-122"/>
                <a:ea typeface="微软雅黑" panose="020B0503020204020204" pitchFamily="34" charset="-122"/>
              </a:rPr>
              <a:t>(5) </a:t>
            </a:r>
            <a:r>
              <a:rPr kumimoji="0" lang="zh-CN" altLang="en-US" sz="2400" dirty="0">
                <a:latin typeface="微软雅黑" panose="020B0503020204020204" pitchFamily="34" charset="-122"/>
                <a:ea typeface="微软雅黑" panose="020B0503020204020204" pitchFamily="34" charset="-122"/>
              </a:rPr>
              <a:t>读完</a:t>
            </a:r>
            <a:r>
              <a:rPr kumimoji="0" lang="zh-CN" altLang="zh-CN" sz="2400" dirty="0">
                <a:latin typeface="微软雅黑" panose="020B0503020204020204" pitchFamily="34" charset="-122"/>
                <a:ea typeface="微软雅黑" panose="020B0503020204020204" pitchFamily="34" charset="-122"/>
              </a:rPr>
              <a:t>全部</a:t>
            </a:r>
            <a:r>
              <a:rPr kumimoji="0" lang="zh-CN" altLang="en-US" sz="2400" dirty="0">
                <a:latin typeface="微软雅黑" panose="020B0503020204020204" pitchFamily="34" charset="-122"/>
                <a:ea typeface="微软雅黑" panose="020B0503020204020204" pitchFamily="34" charset="-122"/>
              </a:rPr>
              <a:t>输入</a:t>
            </a:r>
            <a:r>
              <a:rPr kumimoji="0" lang="zh-CN" altLang="zh-CN" sz="2400" dirty="0">
                <a:latin typeface="微软雅黑" panose="020B0503020204020204" pitchFamily="34" charset="-122"/>
                <a:ea typeface="微软雅黑" panose="020B0503020204020204" pitchFamily="34" charset="-122"/>
              </a:rPr>
              <a:t>符号，若栈内仍有元素，</a:t>
            </a:r>
            <a:r>
              <a:rPr kumimoji="0" lang="zh-CN" altLang="en-US" sz="2400" dirty="0">
                <a:latin typeface="微软雅黑" panose="020B0503020204020204" pitchFamily="34" charset="-122"/>
                <a:ea typeface="微软雅黑" panose="020B0503020204020204" pitchFamily="34" charset="-122"/>
              </a:rPr>
              <a:t>将其</a:t>
            </a:r>
            <a:r>
              <a:rPr kumimoji="0" lang="zh-CN" altLang="zh-CN" sz="2400" dirty="0">
                <a:latin typeface="微软雅黑" panose="020B0503020204020204" pitchFamily="34" charset="-122"/>
                <a:ea typeface="微软雅黑" panose="020B0503020204020204" pitchFamily="34" charset="-122"/>
              </a:rPr>
              <a:t>全部依次弹出，</a:t>
            </a:r>
            <a:r>
              <a:rPr kumimoji="0" lang="zh-CN" altLang="en-US" sz="2400" dirty="0">
                <a:latin typeface="微软雅黑" panose="020B0503020204020204" pitchFamily="34" charset="-122"/>
                <a:ea typeface="微软雅黑" panose="020B0503020204020204" pitchFamily="34" charset="-122"/>
              </a:rPr>
              <a:t>置于</a:t>
            </a:r>
            <a:r>
              <a:rPr kumimoji="0" lang="zh-CN" altLang="zh-CN" sz="2400" dirty="0">
                <a:latin typeface="微软雅黑" panose="020B0503020204020204" pitchFamily="34" charset="-122"/>
                <a:ea typeface="微软雅黑" panose="020B0503020204020204" pitchFamily="34" charset="-122"/>
              </a:rPr>
              <a:t>后缀表达式序列的尾部。若弹出元素</a:t>
            </a:r>
            <a:r>
              <a:rPr kumimoji="0" lang="zh-CN" altLang="en-US" sz="2400" dirty="0">
                <a:latin typeface="微软雅黑" panose="020B0503020204020204" pitchFamily="34" charset="-122"/>
                <a:ea typeface="微软雅黑" panose="020B0503020204020204" pitchFamily="34" charset="-122"/>
              </a:rPr>
              <a:t>中有</a:t>
            </a:r>
            <a:r>
              <a:rPr kumimoji="0" lang="zh-CN" altLang="zh-CN" sz="2400" dirty="0">
                <a:latin typeface="微软雅黑" panose="020B0503020204020204" pitchFamily="34" charset="-122"/>
                <a:ea typeface="微软雅黑" panose="020B0503020204020204" pitchFamily="34" charset="-122"/>
              </a:rPr>
              <a:t>开括号</a:t>
            </a:r>
            <a:r>
              <a:rPr kumimoji="0" lang="zh-CN" altLang="en-US" sz="2400" dirty="0">
                <a:latin typeface="微软雅黑" panose="020B0503020204020204" pitchFamily="34" charset="-122"/>
                <a:ea typeface="微软雅黑" panose="020B0503020204020204" pitchFamily="34" charset="-122"/>
              </a:rPr>
              <a:t>出现</a:t>
            </a:r>
            <a:r>
              <a:rPr kumimoji="0" lang="zh-CN" altLang="zh-CN" sz="2400" dirty="0">
                <a:latin typeface="微软雅黑" panose="020B0503020204020204" pitchFamily="34" charset="-122"/>
                <a:ea typeface="微软雅黑" panose="020B0503020204020204" pitchFamily="34" charset="-122"/>
              </a:rPr>
              <a:t>，则说明</a:t>
            </a:r>
            <a:r>
              <a:rPr kumimoji="0" lang="zh-CN" altLang="zh-CN" sz="2400" dirty="0">
                <a:solidFill>
                  <a:srgbClr val="C00000"/>
                </a:solidFill>
                <a:latin typeface="微软雅黑" panose="020B0503020204020204" pitchFamily="34" charset="-122"/>
                <a:ea typeface="微软雅黑" panose="020B0503020204020204" pitchFamily="34" charset="-122"/>
              </a:rPr>
              <a:t>括号不匹配</a:t>
            </a:r>
            <a:r>
              <a:rPr kumimoji="0" lang="zh-CN" altLang="zh-CN" sz="2400" dirty="0">
                <a:latin typeface="微软雅黑" panose="020B0503020204020204" pitchFamily="34" charset="-122"/>
                <a:ea typeface="微软雅黑" panose="020B0503020204020204" pitchFamily="34" charset="-122"/>
              </a:rPr>
              <a:t>，做异常处理，清栈退出</a:t>
            </a:r>
            <a:endParaRPr kumimoji="0" lang="zh-CN"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80643">
                                            <p:txEl>
                                              <p:pRg st="0" end="0"/>
                                            </p:txEl>
                                          </p:spTgt>
                                        </p:tgtEl>
                                        <p:attrNameLst>
                                          <p:attrName>style.visibility</p:attrName>
                                        </p:attrNameLst>
                                      </p:cBhvr>
                                      <p:to>
                                        <p:strVal val="visible"/>
                                      </p:to>
                                    </p:set>
                                    <p:animEffect transition="in" filter="fade">
                                      <p:cBhvr>
                                        <p:cTn id="7" dur="2000"/>
                                        <p:tgtEl>
                                          <p:spTgt spid="880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80643">
                                            <p:txEl>
                                              <p:pRg st="1" end="1"/>
                                            </p:txEl>
                                          </p:spTgt>
                                        </p:tgtEl>
                                        <p:attrNameLst>
                                          <p:attrName>style.visibility</p:attrName>
                                        </p:attrNameLst>
                                      </p:cBhvr>
                                      <p:to>
                                        <p:strVal val="visible"/>
                                      </p:to>
                                    </p:set>
                                    <p:animEffect transition="in" filter="fade">
                                      <p:cBhvr>
                                        <p:cTn id="12" dur="2000"/>
                                        <p:tgtEl>
                                          <p:spTgt spid="8806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80643">
                                            <p:txEl>
                                              <p:pRg st="2" end="2"/>
                                            </p:txEl>
                                          </p:spTgt>
                                        </p:tgtEl>
                                        <p:attrNameLst>
                                          <p:attrName>style.visibility</p:attrName>
                                        </p:attrNameLst>
                                      </p:cBhvr>
                                      <p:to>
                                        <p:strVal val="visible"/>
                                      </p:to>
                                    </p:set>
                                    <p:animEffect transition="in" filter="fade">
                                      <p:cBhvr>
                                        <p:cTn id="17" dur="2000"/>
                                        <p:tgtEl>
                                          <p:spTgt spid="8806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80643">
                                            <p:txEl>
                                              <p:pRg st="3" end="3"/>
                                            </p:txEl>
                                          </p:spTgt>
                                        </p:tgtEl>
                                        <p:attrNameLst>
                                          <p:attrName>style.visibility</p:attrName>
                                        </p:attrNameLst>
                                      </p:cBhvr>
                                      <p:to>
                                        <p:strVal val="visible"/>
                                      </p:to>
                                    </p:set>
                                    <p:animEffect transition="in" filter="fade">
                                      <p:cBhvr>
                                        <p:cTn id="22" dur="2000"/>
                                        <p:tgtEl>
                                          <p:spTgt spid="8806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880643">
                                            <p:txEl>
                                              <p:pRg st="4" end="4"/>
                                            </p:txEl>
                                          </p:spTgt>
                                        </p:tgtEl>
                                        <p:attrNameLst>
                                          <p:attrName>style.visibility</p:attrName>
                                        </p:attrNameLst>
                                      </p:cBhvr>
                                      <p:to>
                                        <p:strVal val="visible"/>
                                      </p:to>
                                    </p:set>
                                    <p:animEffect transition="in" filter="fade">
                                      <p:cBhvr>
                                        <p:cTn id="27" dur="2000"/>
                                        <p:tgtEl>
                                          <p:spTgt spid="8806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solidFill>
                  <a:srgbClr val="7030A0"/>
                </a:solidFill>
              </a:rPr>
              <a:t> </a:t>
            </a:r>
            <a:r>
              <a:rPr kumimoji="0"/>
              <a:t>后缀表达式</a:t>
            </a:r>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zh-CN" sz="2400">
                <a:latin typeface="微软雅黑" panose="020B0503020204020204" pitchFamily="34" charset="-122"/>
                <a:ea typeface="微软雅黑" panose="020B0503020204020204" pitchFamily="34" charset="-122"/>
              </a:rPr>
              <a:t>待处理中缀表达式</a:t>
            </a:r>
          </a:p>
        </p:txBody>
      </p:sp>
      <p:graphicFrame>
        <p:nvGraphicFramePr>
          <p:cNvPr id="7" name="Group 35">
            <a:extLst>
              <a:ext uri="{FF2B5EF4-FFF2-40B4-BE49-F238E27FC236}">
                <a16:creationId xmlns:a16="http://schemas.microsoft.com/office/drawing/2014/main" id="{DE59EC6E-2D83-4154-BE73-35330B0D37E4}"/>
              </a:ext>
            </a:extLst>
          </p:cNvPr>
          <p:cNvGraphicFramePr>
            <a:graphicFrameLocks/>
          </p:cNvGraphicFramePr>
          <p:nvPr/>
        </p:nvGraphicFramePr>
        <p:xfrm>
          <a:off x="4224338" y="2482850"/>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5009" name="Rectangle 53">
            <a:extLst>
              <a:ext uri="{FF2B5EF4-FFF2-40B4-BE49-F238E27FC236}">
                <a16:creationId xmlns:a16="http://schemas.microsoft.com/office/drawing/2014/main" id="{3874E427-E7E7-46BA-AD57-4904B8DAA0CB}"/>
              </a:ext>
            </a:extLst>
          </p:cNvPr>
          <p:cNvSpPr>
            <a:spLocks noChangeArrowheads="1"/>
          </p:cNvSpPr>
          <p:nvPr/>
        </p:nvSpPr>
        <p:spPr bwMode="auto">
          <a:xfrm>
            <a:off x="484188" y="3500438"/>
            <a:ext cx="272573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C0000"/>
              </a:buClr>
              <a:buSzPct val="80000"/>
            </a:pPr>
            <a:r>
              <a:rPr lang="zh-CN" altLang="en-US" sz="2400">
                <a:latin typeface="微软雅黑" panose="020B0503020204020204" pitchFamily="34" charset="-122"/>
                <a:ea typeface="微软雅黑" panose="020B0503020204020204" pitchFamily="34" charset="-122"/>
              </a:rPr>
              <a:t>栈状态的变化</a:t>
            </a:r>
          </a:p>
        </p:txBody>
      </p:sp>
      <p:sp>
        <p:nvSpPr>
          <p:cNvPr id="85010" name="Rectangle 4">
            <a:extLst>
              <a:ext uri="{FF2B5EF4-FFF2-40B4-BE49-F238E27FC236}">
                <a16:creationId xmlns:a16="http://schemas.microsoft.com/office/drawing/2014/main" id="{3261D5EB-C0FB-4BA8-9B19-B14BCF1D4AA2}"/>
              </a:ext>
            </a:extLst>
          </p:cNvPr>
          <p:cNvSpPr>
            <a:spLocks noChangeArrowheads="1"/>
          </p:cNvSpPr>
          <p:nvPr/>
        </p:nvSpPr>
        <p:spPr bwMode="auto">
          <a:xfrm>
            <a:off x="484188" y="5459413"/>
            <a:ext cx="2846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accent1"/>
              </a:buClr>
              <a:buSzPct val="65000"/>
              <a:buFont typeface="Wingdings" panose="05000000000000000000" pitchFamily="2" charset="2"/>
              <a:buNone/>
            </a:pPr>
            <a:r>
              <a:rPr kumimoji="1" lang="zh-CN" altLang="en-US" sz="2400">
                <a:latin typeface="微软雅黑" panose="020B0503020204020204" pitchFamily="34" charset="-122"/>
                <a:ea typeface="微软雅黑" panose="020B0503020204020204" pitchFamily="34" charset="-122"/>
              </a:rPr>
              <a:t>输出的后缀表达式</a:t>
            </a:r>
            <a:endParaRPr lang="zh-CN" altLang="en-US" sz="2400">
              <a:latin typeface="微软雅黑" panose="020B0503020204020204" pitchFamily="34" charset="-122"/>
              <a:ea typeface="微软雅黑" panose="020B0503020204020204" pitchFamily="34" charset="-122"/>
            </a:endParaRPr>
          </a:p>
        </p:txBody>
      </p:sp>
      <p:sp>
        <p:nvSpPr>
          <p:cNvPr id="11" name="Rectangle 6">
            <a:extLst>
              <a:ext uri="{FF2B5EF4-FFF2-40B4-BE49-F238E27FC236}">
                <a16:creationId xmlns:a16="http://schemas.microsoft.com/office/drawing/2014/main" id="{0177A3B3-8E39-432C-9492-59C8E1DDE8C3}"/>
              </a:ext>
            </a:extLst>
          </p:cNvPr>
          <p:cNvSpPr>
            <a:spLocks noChangeArrowheads="1"/>
          </p:cNvSpPr>
          <p:nvPr/>
        </p:nvSpPr>
        <p:spPr bwMode="auto">
          <a:xfrm>
            <a:off x="5446713"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23</a:t>
            </a:r>
          </a:p>
        </p:txBody>
      </p:sp>
      <p:sp>
        <p:nvSpPr>
          <p:cNvPr id="12" name="Rectangle 7">
            <a:extLst>
              <a:ext uri="{FF2B5EF4-FFF2-40B4-BE49-F238E27FC236}">
                <a16:creationId xmlns:a16="http://schemas.microsoft.com/office/drawing/2014/main" id="{3C18B4E2-0056-42B7-804E-9D222151A752}"/>
              </a:ext>
            </a:extLst>
          </p:cNvPr>
          <p:cNvSpPr>
            <a:spLocks noChangeArrowheads="1"/>
          </p:cNvSpPr>
          <p:nvPr/>
        </p:nvSpPr>
        <p:spPr bwMode="auto">
          <a:xfrm>
            <a:off x="84010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13" name="Rectangle 8">
            <a:extLst>
              <a:ext uri="{FF2B5EF4-FFF2-40B4-BE49-F238E27FC236}">
                <a16:creationId xmlns:a16="http://schemas.microsoft.com/office/drawing/2014/main" id="{D44F5AE9-E551-403A-942D-91D8AD02DCDA}"/>
              </a:ext>
            </a:extLst>
          </p:cNvPr>
          <p:cNvSpPr>
            <a:spLocks noChangeArrowheads="1"/>
          </p:cNvSpPr>
          <p:nvPr/>
        </p:nvSpPr>
        <p:spPr bwMode="auto">
          <a:xfrm>
            <a:off x="758983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45</a:t>
            </a:r>
          </a:p>
        </p:txBody>
      </p:sp>
      <p:sp>
        <p:nvSpPr>
          <p:cNvPr id="14" name="Rectangle 9">
            <a:extLst>
              <a:ext uri="{FF2B5EF4-FFF2-40B4-BE49-F238E27FC236}">
                <a16:creationId xmlns:a16="http://schemas.microsoft.com/office/drawing/2014/main" id="{BE05FD6F-E738-483E-A424-5D5E9B658729}"/>
              </a:ext>
            </a:extLst>
          </p:cNvPr>
          <p:cNvSpPr>
            <a:spLocks noChangeArrowheads="1"/>
          </p:cNvSpPr>
          <p:nvPr/>
        </p:nvSpPr>
        <p:spPr bwMode="auto">
          <a:xfrm>
            <a:off x="897572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5</a:t>
            </a:r>
          </a:p>
        </p:txBody>
      </p:sp>
      <p:sp>
        <p:nvSpPr>
          <p:cNvPr id="15" name="Rectangle 10">
            <a:extLst>
              <a:ext uri="{FF2B5EF4-FFF2-40B4-BE49-F238E27FC236}">
                <a16:creationId xmlns:a16="http://schemas.microsoft.com/office/drawing/2014/main" id="{364E1692-E56C-4958-AE01-860C592A62C5}"/>
              </a:ext>
            </a:extLst>
          </p:cNvPr>
          <p:cNvSpPr>
            <a:spLocks noChangeArrowheads="1"/>
          </p:cNvSpPr>
          <p:nvPr/>
        </p:nvSpPr>
        <p:spPr bwMode="auto">
          <a:xfrm>
            <a:off x="96964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6</a:t>
            </a:r>
          </a:p>
        </p:txBody>
      </p:sp>
      <p:sp>
        <p:nvSpPr>
          <p:cNvPr id="16" name="Rectangle 11">
            <a:extLst>
              <a:ext uri="{FF2B5EF4-FFF2-40B4-BE49-F238E27FC236}">
                <a16:creationId xmlns:a16="http://schemas.microsoft.com/office/drawing/2014/main" id="{C69EC076-84ED-4B22-881C-589F11888923}"/>
              </a:ext>
            </a:extLst>
          </p:cNvPr>
          <p:cNvSpPr>
            <a:spLocks noChangeArrowheads="1"/>
          </p:cNvSpPr>
          <p:nvPr/>
        </p:nvSpPr>
        <p:spPr bwMode="auto">
          <a:xfrm>
            <a:off x="103441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7</a:t>
            </a:r>
          </a:p>
        </p:txBody>
      </p:sp>
      <p:sp>
        <p:nvSpPr>
          <p:cNvPr id="17" name="Rectangle 12">
            <a:extLst>
              <a:ext uri="{FF2B5EF4-FFF2-40B4-BE49-F238E27FC236}">
                <a16:creationId xmlns:a16="http://schemas.microsoft.com/office/drawing/2014/main" id="{CA4EBAC1-6314-4D9D-A1C1-784E74F85BBC}"/>
              </a:ext>
            </a:extLst>
          </p:cNvPr>
          <p:cNvSpPr>
            <a:spLocks noChangeArrowheads="1"/>
          </p:cNvSpPr>
          <p:nvPr/>
        </p:nvSpPr>
        <p:spPr bwMode="auto">
          <a:xfrm>
            <a:off x="717550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18" name="Rectangle 13">
            <a:extLst>
              <a:ext uri="{FF2B5EF4-FFF2-40B4-BE49-F238E27FC236}">
                <a16:creationId xmlns:a16="http://schemas.microsoft.com/office/drawing/2014/main" id="{178AC9BC-C09C-4840-A489-26C83A91C770}"/>
              </a:ext>
            </a:extLst>
          </p:cNvPr>
          <p:cNvSpPr>
            <a:spLocks noChangeArrowheads="1"/>
          </p:cNvSpPr>
          <p:nvPr/>
        </p:nvSpPr>
        <p:spPr bwMode="auto">
          <a:xfrm>
            <a:off x="99837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19" name="Rectangle 14">
            <a:extLst>
              <a:ext uri="{FF2B5EF4-FFF2-40B4-BE49-F238E27FC236}">
                <a16:creationId xmlns:a16="http://schemas.microsoft.com/office/drawing/2014/main" id="{6C390DA0-EE2C-47AD-9554-8CCE2FEDB833}"/>
              </a:ext>
            </a:extLst>
          </p:cNvPr>
          <p:cNvSpPr>
            <a:spLocks noChangeArrowheads="1"/>
          </p:cNvSpPr>
          <p:nvPr/>
        </p:nvSpPr>
        <p:spPr bwMode="auto">
          <a:xfrm>
            <a:off x="595153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20" name="Rectangle 15">
            <a:extLst>
              <a:ext uri="{FF2B5EF4-FFF2-40B4-BE49-F238E27FC236}">
                <a16:creationId xmlns:a16="http://schemas.microsoft.com/office/drawing/2014/main" id="{596390EF-BA2A-4AA8-B057-8D2FA820CF20}"/>
              </a:ext>
            </a:extLst>
          </p:cNvPr>
          <p:cNvSpPr>
            <a:spLocks noChangeArrowheads="1"/>
          </p:cNvSpPr>
          <p:nvPr/>
        </p:nvSpPr>
        <p:spPr bwMode="auto">
          <a:xfrm>
            <a:off x="93360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21" name="Rectangle 16">
            <a:extLst>
              <a:ext uri="{FF2B5EF4-FFF2-40B4-BE49-F238E27FC236}">
                <a16:creationId xmlns:a16="http://schemas.microsoft.com/office/drawing/2014/main" id="{72B7B5D4-D297-4FAB-8542-1B1378738D20}"/>
              </a:ext>
            </a:extLst>
          </p:cNvPr>
          <p:cNvSpPr>
            <a:spLocks noChangeArrowheads="1"/>
          </p:cNvSpPr>
          <p:nvPr/>
        </p:nvSpPr>
        <p:spPr bwMode="auto">
          <a:xfrm>
            <a:off x="86883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2" name="Rectangle 17">
            <a:extLst>
              <a:ext uri="{FF2B5EF4-FFF2-40B4-BE49-F238E27FC236}">
                <a16:creationId xmlns:a16="http://schemas.microsoft.com/office/drawing/2014/main" id="{D36068B5-57D4-4474-98B5-57DFA00C50FA}"/>
              </a:ext>
            </a:extLst>
          </p:cNvPr>
          <p:cNvSpPr>
            <a:spLocks noChangeArrowheads="1"/>
          </p:cNvSpPr>
          <p:nvPr/>
        </p:nvSpPr>
        <p:spPr bwMode="auto">
          <a:xfrm>
            <a:off x="1070292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3" name="Rectangle 18">
            <a:extLst>
              <a:ext uri="{FF2B5EF4-FFF2-40B4-BE49-F238E27FC236}">
                <a16:creationId xmlns:a16="http://schemas.microsoft.com/office/drawing/2014/main" id="{3DE1B271-6D8B-4BDD-92A5-50E22B7BC90E}"/>
              </a:ext>
            </a:extLst>
          </p:cNvPr>
          <p:cNvSpPr>
            <a:spLocks noChangeArrowheads="1"/>
          </p:cNvSpPr>
          <p:nvPr/>
        </p:nvSpPr>
        <p:spPr bwMode="auto">
          <a:xfrm>
            <a:off x="6418263"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4" name="Rectangle 19">
            <a:extLst>
              <a:ext uri="{FF2B5EF4-FFF2-40B4-BE49-F238E27FC236}">
                <a16:creationId xmlns:a16="http://schemas.microsoft.com/office/drawing/2014/main" id="{65D41F6B-05E2-4E69-B56D-BBBB479D23FE}"/>
              </a:ext>
            </a:extLst>
          </p:cNvPr>
          <p:cNvSpPr>
            <a:spLocks noChangeArrowheads="1"/>
          </p:cNvSpPr>
          <p:nvPr/>
        </p:nvSpPr>
        <p:spPr bwMode="auto">
          <a:xfrm>
            <a:off x="80406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5" name="Rectangle 20">
            <a:extLst>
              <a:ext uri="{FF2B5EF4-FFF2-40B4-BE49-F238E27FC236}">
                <a16:creationId xmlns:a16="http://schemas.microsoft.com/office/drawing/2014/main" id="{296F54BA-CF9D-4008-BB68-149C6A605CC3}"/>
              </a:ext>
            </a:extLst>
          </p:cNvPr>
          <p:cNvSpPr>
            <a:spLocks noChangeArrowheads="1"/>
          </p:cNvSpPr>
          <p:nvPr/>
        </p:nvSpPr>
        <p:spPr bwMode="auto">
          <a:xfrm>
            <a:off x="688657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58333E-6 4.44444E-6 L 0.02799 0.49699 " pathEditMode="relative" rAng="0" ptsTypes="AA">
                                      <p:cBhvr>
                                        <p:cTn id="6" dur="2000" fill="hold"/>
                                        <p:tgtEl>
                                          <p:spTgt spid="11"/>
                                        </p:tgtEl>
                                        <p:attrNameLst>
                                          <p:attrName>ppt_x</p:attrName>
                                          <p:attrName>ppt_y</p:attrName>
                                        </p:attrNameLst>
                                      </p:cBhvr>
                                      <p:rCtr x="1393" y="24838"/>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1.66667E-6 4.44444E-6 L -0.11081 0.42523 " pathEditMode="relative" rAng="0" ptsTypes="AA">
                                      <p:cBhvr>
                                        <p:cTn id="10" dur="2000" fill="hold"/>
                                        <p:tgtEl>
                                          <p:spTgt spid="19"/>
                                        </p:tgtEl>
                                        <p:attrNameLst>
                                          <p:attrName>ppt_x</p:attrName>
                                          <p:attrName>ppt_y</p:attrName>
                                        </p:attrNameLst>
                                      </p:cBhvr>
                                      <p:rCtr x="-5547" y="21250"/>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0.00209 0.04722 L -0.14909 0.35185 " pathEditMode="relative" rAng="0" ptsTypes="AA">
                                      <p:cBhvr>
                                        <p:cTn id="14" dur="2000" fill="hold"/>
                                        <p:tgtEl>
                                          <p:spTgt spid="23"/>
                                        </p:tgtEl>
                                        <p:attrNameLst>
                                          <p:attrName>ppt_x</p:attrName>
                                          <p:attrName>ppt_y</p:attrName>
                                        </p:attrNameLst>
                                      </p:cBhvr>
                                      <p:rCtr x="-7565" y="15231"/>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nodeType="clickEffect">
                                  <p:stCondLst>
                                    <p:cond delay="0"/>
                                  </p:stCondLst>
                                  <p:childTnLst>
                                    <p:animMotion origin="layout" path="M -4.375E-6 4.44444E-6 L -0.03984 0.50925 " pathEditMode="relative" rAng="0" ptsTypes="AA">
                                      <p:cBhvr>
                                        <p:cTn id="18" dur="2000" fill="hold"/>
                                        <p:tgtEl>
                                          <p:spTgt spid="25"/>
                                        </p:tgtEl>
                                        <p:attrNameLst>
                                          <p:attrName>ppt_x</p:attrName>
                                          <p:attrName>ppt_y</p:attrName>
                                        </p:attrNameLst>
                                      </p:cBhvr>
                                      <p:rCtr x="-1992" y="25463"/>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nodeType="clickEffect">
                                  <p:stCondLst>
                                    <p:cond delay="0"/>
                                  </p:stCondLst>
                                  <p:childTnLst>
                                    <p:animMotion origin="layout" path="M -2.29167E-6 4.44444E-6 L -0.21393 0.26597 " pathEditMode="relative" rAng="0" ptsTypes="AA">
                                      <p:cBhvr>
                                        <p:cTn id="22" dur="2000" fill="hold"/>
                                        <p:tgtEl>
                                          <p:spTgt spid="17"/>
                                        </p:tgtEl>
                                        <p:attrNameLst>
                                          <p:attrName>ppt_x</p:attrName>
                                          <p:attrName>ppt_y</p:attrName>
                                        </p:attrNameLst>
                                      </p:cBhvr>
                                      <p:rCtr x="-10703" y="13287"/>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3.33333E-6 4.44444E-6 L -0.05625 0.50925 " pathEditMode="relative" rAng="0" ptsTypes="AA">
                                      <p:cBhvr>
                                        <p:cTn id="26" dur="2000" fill="hold"/>
                                        <p:tgtEl>
                                          <p:spTgt spid="13"/>
                                        </p:tgtEl>
                                        <p:attrNameLst>
                                          <p:attrName>ppt_x</p:attrName>
                                          <p:attrName>ppt_y</p:attrName>
                                        </p:attrNameLst>
                                      </p:cBhvr>
                                      <p:rCtr x="-2812" y="25463"/>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xit" presetSubtype="4" fill="hold" nodeType="clickEffect">
                                  <p:stCondLst>
                                    <p:cond delay="0"/>
                                  </p:stCondLst>
                                  <p:childTnLst>
                                    <p:anim calcmode="lin" valueType="num">
                                      <p:cBhvr additive="base">
                                        <p:cTn id="30" dur="500"/>
                                        <p:tgtEl>
                                          <p:spTgt spid="24"/>
                                        </p:tgtEl>
                                        <p:attrNameLst>
                                          <p:attrName>ppt_x</p:attrName>
                                        </p:attrNameLst>
                                      </p:cBhvr>
                                      <p:tavLst>
                                        <p:tav tm="0">
                                          <p:val>
                                            <p:strVal val="ppt_x"/>
                                          </p:val>
                                        </p:tav>
                                        <p:tav tm="100000">
                                          <p:val>
                                            <p:strVal val="ppt_x"/>
                                          </p:val>
                                        </p:tav>
                                      </p:tavLst>
                                    </p:anim>
                                    <p:anim calcmode="lin" valueType="num">
                                      <p:cBhvr additive="base">
                                        <p:cTn id="31" dur="500"/>
                                        <p:tgtEl>
                                          <p:spTgt spid="24"/>
                                        </p:tgtEl>
                                        <p:attrNameLst>
                                          <p:attrName>ppt_y</p:attrName>
                                        </p:attrNameLst>
                                      </p:cBhvr>
                                      <p:tavLst>
                                        <p:tav tm="0">
                                          <p:val>
                                            <p:strVal val="ppt_y"/>
                                          </p:val>
                                        </p:tav>
                                        <p:tav tm="100000">
                                          <p:val>
                                            <p:strVal val="1+ppt_h/2"/>
                                          </p:val>
                                        </p:tav>
                                      </p:tavLst>
                                    </p:anim>
                                    <p:set>
                                      <p:cBhvr>
                                        <p:cTn id="32" dur="1" fill="hold">
                                          <p:stCondLst>
                                            <p:cond delay="499"/>
                                          </p:stCondLst>
                                        </p:cTn>
                                        <p:tgtEl>
                                          <p:spTgt spid="24"/>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0" presetClass="path" presetSubtype="0" accel="50000" decel="50000" fill="hold" nodeType="clickEffect">
                                  <p:stCondLst>
                                    <p:cond delay="0"/>
                                  </p:stCondLst>
                                  <p:childTnLst>
                                    <p:animMotion origin="layout" path="M -2.29167E-6 4.44444E-6 L 0.01029 0.50925 " pathEditMode="relative" rAng="0" ptsTypes="AA">
                                      <p:cBhvr>
                                        <p:cTn id="36" dur="2000" fill="hold"/>
                                        <p:tgtEl>
                                          <p:spTgt spid="17"/>
                                        </p:tgtEl>
                                        <p:attrNameLst>
                                          <p:attrName>ppt_x</p:attrName>
                                          <p:attrName>ppt_y</p:attrName>
                                        </p:attrNameLst>
                                      </p:cBhvr>
                                      <p:rCtr x="508" y="25463"/>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xit" presetSubtype="4" fill="hold" nodeType="clickEffect">
                                  <p:stCondLst>
                                    <p:cond delay="0"/>
                                  </p:stCondLst>
                                  <p:childTnLst>
                                    <p:anim calcmode="lin" valueType="num">
                                      <p:cBhvr additive="base">
                                        <p:cTn id="40" dur="500"/>
                                        <p:tgtEl>
                                          <p:spTgt spid="23"/>
                                        </p:tgtEl>
                                        <p:attrNameLst>
                                          <p:attrName>ppt_x</p:attrName>
                                        </p:attrNameLst>
                                      </p:cBhvr>
                                      <p:tavLst>
                                        <p:tav tm="0">
                                          <p:val>
                                            <p:strVal val="ppt_x"/>
                                          </p:val>
                                        </p:tav>
                                        <p:tav tm="100000">
                                          <p:val>
                                            <p:strVal val="ppt_x"/>
                                          </p:val>
                                        </p:tav>
                                      </p:tavLst>
                                    </p:anim>
                                    <p:anim calcmode="lin" valueType="num">
                                      <p:cBhvr additive="base">
                                        <p:cTn id="41" dur="500"/>
                                        <p:tgtEl>
                                          <p:spTgt spid="23"/>
                                        </p:tgtEl>
                                        <p:attrNameLst>
                                          <p:attrName>ppt_y</p:attrName>
                                        </p:attrNameLst>
                                      </p:cBhvr>
                                      <p:tavLst>
                                        <p:tav tm="0">
                                          <p:val>
                                            <p:strVal val="ppt_y"/>
                                          </p:val>
                                        </p:tav>
                                        <p:tav tm="100000">
                                          <p:val>
                                            <p:strVal val="1+ppt_h/2"/>
                                          </p:val>
                                        </p:tav>
                                      </p:tavLst>
                                    </p:anim>
                                    <p:set>
                                      <p:cBhvr>
                                        <p:cTn id="42" dur="1" fill="hold">
                                          <p:stCondLst>
                                            <p:cond delay="499"/>
                                          </p:stCondLst>
                                        </p:cTn>
                                        <p:tgtEl>
                                          <p:spTgt spid="23"/>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0" presetClass="path" presetSubtype="0" accel="50000" decel="50000" fill="hold" nodeType="clickEffect">
                                  <p:stCondLst>
                                    <p:cond delay="0"/>
                                  </p:stCondLst>
                                  <p:childTnLst>
                                    <p:animMotion origin="layout" path="M -3.125E-6 4.44444E-6 L -0.31172 0.3412 " pathEditMode="relative" rAng="0" ptsTypes="AA">
                                      <p:cBhvr>
                                        <p:cTn id="46" dur="2000" fill="hold"/>
                                        <p:tgtEl>
                                          <p:spTgt spid="12"/>
                                        </p:tgtEl>
                                        <p:attrNameLst>
                                          <p:attrName>ppt_x</p:attrName>
                                          <p:attrName>ppt_y</p:attrName>
                                        </p:attrNameLst>
                                      </p:cBhvr>
                                      <p:rCtr x="-15586" y="17060"/>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nodeType="clickEffect">
                                  <p:stCondLst>
                                    <p:cond delay="0"/>
                                  </p:stCondLst>
                                  <p:childTnLst>
                                    <p:animMotion origin="layout" path="M -8.33333E-7 4.44444E-6 L -0.33802 0.26597 " pathEditMode="relative" rAng="0" ptsTypes="AA">
                                      <p:cBhvr>
                                        <p:cTn id="50" dur="2000" fill="hold"/>
                                        <p:tgtEl>
                                          <p:spTgt spid="21"/>
                                        </p:tgtEl>
                                        <p:attrNameLst>
                                          <p:attrName>ppt_x</p:attrName>
                                          <p:attrName>ppt_y</p:attrName>
                                        </p:attrNameLst>
                                      </p:cBhvr>
                                      <p:rCtr x="-16901" y="13287"/>
                                    </p:animMotion>
                                  </p:childTnLst>
                                </p:cTn>
                              </p:par>
                            </p:childTnLst>
                          </p:cTn>
                        </p:par>
                      </p:childTnLst>
                    </p:cTn>
                  </p:par>
                  <p:par>
                    <p:cTn id="51" fill="hold" nodeType="clickPar">
                      <p:stCondLst>
                        <p:cond delay="indefinite"/>
                      </p:stCondLst>
                      <p:childTnLst>
                        <p:par>
                          <p:cTn id="52" fill="hold" nodeType="withGroup">
                            <p:stCondLst>
                              <p:cond delay="0"/>
                            </p:stCondLst>
                            <p:childTnLst>
                              <p:par>
                                <p:cTn id="53" presetID="0" presetClass="path" presetSubtype="0" accel="50000" decel="50000" fill="hold" nodeType="clickEffect">
                                  <p:stCondLst>
                                    <p:cond delay="0"/>
                                  </p:stCondLst>
                                  <p:childTnLst>
                                    <p:animMotion origin="layout" path="M 1.45833E-6 4.44444E-6 L -0.10469 0.50925 " pathEditMode="relative" rAng="0" ptsTypes="AA">
                                      <p:cBhvr>
                                        <p:cTn id="54" dur="2000" fill="hold"/>
                                        <p:tgtEl>
                                          <p:spTgt spid="14"/>
                                        </p:tgtEl>
                                        <p:attrNameLst>
                                          <p:attrName>ppt_x</p:attrName>
                                          <p:attrName>ppt_y</p:attrName>
                                        </p:attrNameLst>
                                      </p:cBhvr>
                                      <p:rCtr x="-5234" y="25463"/>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0" presetClass="path" presetSubtype="0" accel="50000" decel="50000" fill="hold" nodeType="clickEffect">
                                  <p:stCondLst>
                                    <p:cond delay="0"/>
                                  </p:stCondLst>
                                  <p:childTnLst>
                                    <p:animMotion origin="layout" path="M 0.01367 0.00532 L -0.39115 0.17152 " pathEditMode="relative" rAng="0" ptsTypes="AA">
                                      <p:cBhvr>
                                        <p:cTn id="58" dur="2000" fill="hold"/>
                                        <p:tgtEl>
                                          <p:spTgt spid="20"/>
                                        </p:tgtEl>
                                        <p:attrNameLst>
                                          <p:attrName>ppt_x</p:attrName>
                                          <p:attrName>ppt_y</p:attrName>
                                        </p:attrNameLst>
                                      </p:cBhvr>
                                      <p:rCtr x="-20247" y="8310"/>
                                    </p:animMotion>
                                  </p:childTnLst>
                                </p:cTn>
                              </p:par>
                            </p:childTnLst>
                          </p:cTn>
                        </p:par>
                      </p:childTnLst>
                    </p:cTn>
                  </p:par>
                  <p:par>
                    <p:cTn id="59" fill="hold" nodeType="clickPar">
                      <p:stCondLst>
                        <p:cond delay="indefinite"/>
                      </p:stCondLst>
                      <p:childTnLst>
                        <p:par>
                          <p:cTn id="60" fill="hold" nodeType="withGroup">
                            <p:stCondLst>
                              <p:cond delay="0"/>
                            </p:stCondLst>
                            <p:childTnLst>
                              <p:par>
                                <p:cTn id="61" presetID="0" presetClass="path" presetSubtype="0" accel="50000" decel="50000" fill="hold" nodeType="clickEffect">
                                  <p:stCondLst>
                                    <p:cond delay="0"/>
                                  </p:stCondLst>
                                  <p:childTnLst>
                                    <p:animMotion origin="layout" path="M -3.125E-6 4.44444E-6 L -0.13424 0.50925 " pathEditMode="relative" rAng="0" ptsTypes="AA">
                                      <p:cBhvr>
                                        <p:cTn id="62" dur="2000" fill="hold"/>
                                        <p:tgtEl>
                                          <p:spTgt spid="15"/>
                                        </p:tgtEl>
                                        <p:attrNameLst>
                                          <p:attrName>ppt_x</p:attrName>
                                          <p:attrName>ppt_y</p:attrName>
                                        </p:attrNameLst>
                                      </p:cBhvr>
                                      <p:rCtr x="-6719" y="25463"/>
                                    </p:animMotion>
                                  </p:childTnLst>
                                </p:cTn>
                              </p:par>
                            </p:childTnLst>
                          </p:cTn>
                        </p:par>
                      </p:childTnLst>
                    </p:cTn>
                  </p:par>
                  <p:par>
                    <p:cTn id="63" fill="hold" nodeType="clickPar">
                      <p:stCondLst>
                        <p:cond delay="indefinite"/>
                      </p:stCondLst>
                      <p:childTnLst>
                        <p:par>
                          <p:cTn id="64" fill="hold" nodeType="withGroup">
                            <p:stCondLst>
                              <p:cond delay="0"/>
                            </p:stCondLst>
                            <p:childTnLst>
                              <p:par>
                                <p:cTn id="65" presetID="0" presetClass="path" presetSubtype="0" accel="50000" decel="50000" fill="hold" nodeType="clickEffect">
                                  <p:stCondLst>
                                    <p:cond delay="0"/>
                                  </p:stCondLst>
                                  <p:childTnLst>
                                    <p:animMotion origin="layout" path="M 4.16667E-6 4.44444E-6 L -0.07227 0.50925 " pathEditMode="relative" rAng="0" ptsTypes="AA">
                                      <p:cBhvr>
                                        <p:cTn id="66" dur="2000" fill="hold"/>
                                        <p:tgtEl>
                                          <p:spTgt spid="20"/>
                                        </p:tgtEl>
                                        <p:attrNameLst>
                                          <p:attrName>ppt_x</p:attrName>
                                          <p:attrName>ppt_y</p:attrName>
                                        </p:attrNameLst>
                                      </p:cBhvr>
                                      <p:rCtr x="-3620" y="25463"/>
                                    </p:animMotion>
                                  </p:childTnLst>
                                </p:cTn>
                              </p:par>
                            </p:childTnLst>
                          </p:cTn>
                        </p:par>
                      </p:childTnLst>
                    </p:cTn>
                  </p:par>
                  <p:par>
                    <p:cTn id="67" fill="hold" nodeType="clickPar">
                      <p:stCondLst>
                        <p:cond delay="indefinite"/>
                      </p:stCondLst>
                      <p:childTnLst>
                        <p:par>
                          <p:cTn id="68" fill="hold" nodeType="withGroup">
                            <p:stCondLst>
                              <p:cond delay="0"/>
                            </p:stCondLst>
                            <p:childTnLst>
                              <p:par>
                                <p:cTn id="69" presetID="0" presetClass="path" presetSubtype="0" accel="50000" decel="50000" fill="hold" nodeType="clickEffect">
                                  <p:stCondLst>
                                    <p:cond delay="0"/>
                                  </p:stCondLst>
                                  <p:childTnLst>
                                    <p:animMotion origin="layout" path="M 0.00313 -0.00625 L -0.44427 0.17152 " pathEditMode="relative" rAng="0" ptsTypes="AA">
                                      <p:cBhvr>
                                        <p:cTn id="70" dur="2000" fill="hold"/>
                                        <p:tgtEl>
                                          <p:spTgt spid="18"/>
                                        </p:tgtEl>
                                        <p:attrNameLst>
                                          <p:attrName>ppt_x</p:attrName>
                                          <p:attrName>ppt_y</p:attrName>
                                        </p:attrNameLst>
                                      </p:cBhvr>
                                      <p:rCtr x="-22370" y="8889"/>
                                    </p:animMotion>
                                  </p:childTnLst>
                                </p:cTn>
                              </p:par>
                            </p:childTnLst>
                          </p:cTn>
                        </p:par>
                      </p:childTnLst>
                    </p:cTn>
                  </p:par>
                  <p:par>
                    <p:cTn id="71" fill="hold" nodeType="clickPar">
                      <p:stCondLst>
                        <p:cond delay="indefinite"/>
                      </p:stCondLst>
                      <p:childTnLst>
                        <p:par>
                          <p:cTn id="72" fill="hold" nodeType="withGroup">
                            <p:stCondLst>
                              <p:cond delay="0"/>
                            </p:stCondLst>
                            <p:childTnLst>
                              <p:par>
                                <p:cTn id="73" presetID="0" presetClass="path" presetSubtype="0" accel="50000" decel="50000" fill="hold" nodeType="clickEffect">
                                  <p:stCondLst>
                                    <p:cond delay="0"/>
                                  </p:stCondLst>
                                  <p:childTnLst>
                                    <p:animMotion origin="layout" path="M 1.875E-6 4.44444E-6 L -0.11198 0.50925 " pathEditMode="relative" rAng="0" ptsTypes="AA">
                                      <p:cBhvr>
                                        <p:cTn id="74" dur="2000" fill="hold"/>
                                        <p:tgtEl>
                                          <p:spTgt spid="16"/>
                                        </p:tgtEl>
                                        <p:attrNameLst>
                                          <p:attrName>ppt_x</p:attrName>
                                          <p:attrName>ppt_y</p:attrName>
                                        </p:attrNameLst>
                                      </p:cBhvr>
                                      <p:rCtr x="-5599" y="25463"/>
                                    </p:animMotion>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xit" presetSubtype="4" fill="hold" nodeType="clickEffect">
                                  <p:stCondLst>
                                    <p:cond delay="0"/>
                                  </p:stCondLst>
                                  <p:childTnLst>
                                    <p:anim calcmode="lin" valueType="num">
                                      <p:cBhvr additive="base">
                                        <p:cTn id="78" dur="500"/>
                                        <p:tgtEl>
                                          <p:spTgt spid="22"/>
                                        </p:tgtEl>
                                        <p:attrNameLst>
                                          <p:attrName>ppt_x</p:attrName>
                                        </p:attrNameLst>
                                      </p:cBhvr>
                                      <p:tavLst>
                                        <p:tav tm="0">
                                          <p:val>
                                            <p:strVal val="ppt_x"/>
                                          </p:val>
                                        </p:tav>
                                        <p:tav tm="100000">
                                          <p:val>
                                            <p:strVal val="ppt_x"/>
                                          </p:val>
                                        </p:tav>
                                      </p:tavLst>
                                    </p:anim>
                                    <p:anim calcmode="lin" valueType="num">
                                      <p:cBhvr additive="base">
                                        <p:cTn id="79" dur="500"/>
                                        <p:tgtEl>
                                          <p:spTgt spid="22"/>
                                        </p:tgtEl>
                                        <p:attrNameLst>
                                          <p:attrName>ppt_y</p:attrName>
                                        </p:attrNameLst>
                                      </p:cBhvr>
                                      <p:tavLst>
                                        <p:tav tm="0">
                                          <p:val>
                                            <p:strVal val="ppt_y"/>
                                          </p:val>
                                        </p:tav>
                                        <p:tav tm="100000">
                                          <p:val>
                                            <p:strVal val="1+ppt_h/2"/>
                                          </p:val>
                                        </p:tav>
                                      </p:tavLst>
                                    </p:anim>
                                    <p:set>
                                      <p:cBhvr>
                                        <p:cTn id="80" dur="1" fill="hold">
                                          <p:stCondLst>
                                            <p:cond delay="499"/>
                                          </p:stCondLst>
                                        </p:cTn>
                                        <p:tgtEl>
                                          <p:spTgt spid="22"/>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0" presetClass="path" presetSubtype="0" accel="50000" decel="50000" fill="hold" nodeType="clickEffect">
                                  <p:stCondLst>
                                    <p:cond delay="0"/>
                                  </p:stCondLst>
                                  <p:childTnLst>
                                    <p:animMotion origin="layout" path="M -8.33333E-7 4.44444E-6 L -0.04284 0.50925 " pathEditMode="relative" rAng="0" ptsTypes="AA">
                                      <p:cBhvr>
                                        <p:cTn id="84" dur="2000" fill="hold"/>
                                        <p:tgtEl>
                                          <p:spTgt spid="18"/>
                                        </p:tgtEl>
                                        <p:attrNameLst>
                                          <p:attrName>ppt_x</p:attrName>
                                          <p:attrName>ppt_y</p:attrName>
                                        </p:attrNameLst>
                                      </p:cBhvr>
                                      <p:rCtr x="-2148" y="25463"/>
                                    </p:animMotion>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xit" presetSubtype="0" fill="hold" nodeType="clickEffect">
                                  <p:stCondLst>
                                    <p:cond delay="0"/>
                                  </p:stCondLst>
                                  <p:childTnLst>
                                    <p:set>
                                      <p:cBhvr>
                                        <p:cTn id="88" dur="1" fill="hold">
                                          <p:stCondLst>
                                            <p:cond delay="0"/>
                                          </p:stCondLst>
                                        </p:cTn>
                                        <p:tgtEl>
                                          <p:spTgt spid="21"/>
                                        </p:tgtEl>
                                        <p:attrNameLst>
                                          <p:attrName>style.visibility</p:attrName>
                                        </p:attrNameLst>
                                      </p:cBhvr>
                                      <p:to>
                                        <p:strVal val="hidden"/>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0" presetClass="path" presetSubtype="0" accel="50000" decel="50000" fill="hold" nodeType="clickEffect">
                                  <p:stCondLst>
                                    <p:cond delay="0"/>
                                  </p:stCondLst>
                                  <p:childTnLst>
                                    <p:animMotion origin="layout" path="M -3.125E-6 4.44444E-6 L 0.12552 0.49884 " pathEditMode="relative" rAng="0" ptsTypes="AA">
                                      <p:cBhvr>
                                        <p:cTn id="92" dur="2000" fill="hold"/>
                                        <p:tgtEl>
                                          <p:spTgt spid="12"/>
                                        </p:tgtEl>
                                        <p:attrNameLst>
                                          <p:attrName>ppt_x</p:attrName>
                                          <p:attrName>ppt_y</p:attrName>
                                        </p:attrNameLst>
                                      </p:cBhvr>
                                      <p:rCtr x="6276" y="24931"/>
                                    </p:animMotion>
                                  </p:childTnLst>
                                </p:cTn>
                              </p:par>
                            </p:childTnLst>
                          </p:cTn>
                        </p:par>
                      </p:childTnLst>
                    </p:cTn>
                  </p:par>
                  <p:par>
                    <p:cTn id="93" fill="hold" nodeType="clickPar">
                      <p:stCondLst>
                        <p:cond delay="indefinite"/>
                      </p:stCondLst>
                      <p:childTnLst>
                        <p:par>
                          <p:cTn id="94" fill="hold" nodeType="withGroup">
                            <p:stCondLst>
                              <p:cond delay="0"/>
                            </p:stCondLst>
                            <p:childTnLst>
                              <p:par>
                                <p:cTn id="95" presetID="0" presetClass="path" presetSubtype="0" accel="50000" decel="50000" fill="hold" nodeType="clickEffect">
                                  <p:stCondLst>
                                    <p:cond delay="0"/>
                                  </p:stCondLst>
                                  <p:childTnLst>
                                    <p:animMotion origin="layout" path="M -1.66667E-6 4.44444E-6 L 0.37057 0.49884 " pathEditMode="relative" rAng="0" ptsTypes="AA">
                                      <p:cBhvr>
                                        <p:cTn id="96" dur="2000" fill="hold"/>
                                        <p:tgtEl>
                                          <p:spTgt spid="19"/>
                                        </p:tgtEl>
                                        <p:attrNameLst>
                                          <p:attrName>ppt_x</p:attrName>
                                          <p:attrName>ppt_y</p:attrName>
                                        </p:attrNameLst>
                                      </p:cBhvr>
                                      <p:rCtr x="18529" y="24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animBg="1"/>
      <p:bldP spid="14" grpId="0" animBg="1"/>
      <p:bldP spid="15" grpId="0" animBg="1"/>
      <p:bldP spid="16" grpId="0"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3" grpId="0" animBg="1"/>
      <p:bldP spid="23" grpId="1" animBg="1"/>
      <p:bldP spid="24" grpId="0" animBg="1"/>
      <p:bldP spid="2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D1B218F-CA67-40BE-8BC9-85B124ACF108}"/>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与中缀表达式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1+2/(3+4*5)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等价的后缀表达式是</a:t>
            </a:r>
          </a:p>
        </p:txBody>
      </p:sp>
      <p:sp>
        <p:nvSpPr>
          <p:cNvPr id="9" name="文本框 8">
            <a:extLst>
              <a:ext uri="{FF2B5EF4-FFF2-40B4-BE49-F238E27FC236}">
                <a16:creationId xmlns:a16="http://schemas.microsoft.com/office/drawing/2014/main" id="{39D3689B-71B9-4E9A-8415-D28B535BA5F9}"/>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+ 3 4 + 5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7B98C313-4BB0-4210-B818-CD4EAEDC92C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3 / 4 5 * +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4FDC268A-1D4E-480D-B111-3DEAAA6877B8}"/>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3 4 + 5 *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22001877-117D-4161-AF33-AA4BFFB43908}"/>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3 4 5 * +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A9757554-8CEE-4490-95F3-5F231B0C139F}"/>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54950D5D-62F9-418F-B454-848E47BA9B08}"/>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D4027B31-DD6D-44FE-A0A0-5F6DACBFE3A4}"/>
              </a:ext>
            </a:extLst>
          </p:cNvPr>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BF09DB3E-C7FB-4F33-ACDA-2EF1C49DDD26}"/>
              </a:ext>
            </a:extLst>
          </p:cNvPr>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EC751958-33B7-4BC5-B00D-BD744C7C39B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2" name="组合 21">
            <a:extLst>
              <a:ext uri="{FF2B5EF4-FFF2-40B4-BE49-F238E27FC236}">
                <a16:creationId xmlns:a16="http://schemas.microsoft.com/office/drawing/2014/main" id="{8A0E2E11-2256-4B31-A264-C807D5CB396E}"/>
              </a:ext>
            </a:extLst>
          </p:cNvPr>
          <p:cNvGrpSpPr/>
          <p:nvPr>
            <p:custDataLst>
              <p:tags r:id="rId12"/>
            </p:custDataLst>
          </p:nvPr>
        </p:nvGrpSpPr>
        <p:grpSpPr>
          <a:xfrm>
            <a:off x="0" y="0"/>
            <a:ext cx="12192000" cy="635000"/>
            <a:chOff x="0" y="0"/>
            <a:chExt cx="12192000" cy="635000"/>
          </a:xfrm>
        </p:grpSpPr>
        <p:sp>
          <p:nvSpPr>
            <p:cNvPr id="18" name="TitleBackground">
              <a:extLst>
                <a:ext uri="{FF2B5EF4-FFF2-40B4-BE49-F238E27FC236}">
                  <a16:creationId xmlns:a16="http://schemas.microsoft.com/office/drawing/2014/main" id="{CDB05E89-49E6-464C-AD75-73E0151C40A0}"/>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25473FC5-AA5A-4DF9-8285-ADE3906984C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656147CE-E90A-4263-84D8-97D4524D60B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E561B1DC-DB82-4DC8-92CA-B3C620D4AC3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62A27CD2-D8FB-4EA6-8422-8B5C3D87DAD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8311052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D1B218F-CA67-40BE-8BC9-85B124ACF108}"/>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与后缀表达式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ab+c</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ab+e</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等价的中缀表达式是</a:t>
            </a:r>
          </a:p>
        </p:txBody>
      </p:sp>
      <p:sp>
        <p:nvSpPr>
          <p:cNvPr id="9" name="文本框 8">
            <a:extLst>
              <a:ext uri="{FF2B5EF4-FFF2-40B4-BE49-F238E27FC236}">
                <a16:creationId xmlns:a16="http://schemas.microsoft.com/office/drawing/2014/main" id="{39D3689B-71B9-4E9A-8415-D28B535BA5F9}"/>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7B98C313-4BB0-4210-B818-CD4EAEDC92C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a+b-e</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4FDC268A-1D4E-480D-B111-3DEAAA6877B8}"/>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22001877-117D-4161-AF33-AA4BFFB43908}"/>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A9757554-8CEE-4490-95F3-5F231B0C139F}"/>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54950D5D-62F9-418F-B454-848E47BA9B08}"/>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D4027B31-DD6D-44FE-A0A0-5F6DACBFE3A4}"/>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BF09DB3E-C7FB-4F33-ACDA-2EF1C49DDD26}"/>
              </a:ext>
            </a:extLst>
          </p:cNvPr>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矩形: 圆角 16">
            <a:extLst>
              <a:ext uri="{FF2B5EF4-FFF2-40B4-BE49-F238E27FC236}">
                <a16:creationId xmlns:a16="http://schemas.microsoft.com/office/drawing/2014/main" id="{EC751958-33B7-4BC5-B00D-BD744C7C39B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2" name="组合 21">
            <a:extLst>
              <a:ext uri="{FF2B5EF4-FFF2-40B4-BE49-F238E27FC236}">
                <a16:creationId xmlns:a16="http://schemas.microsoft.com/office/drawing/2014/main" id="{8A0E2E11-2256-4B31-A264-C807D5CB396E}"/>
              </a:ext>
            </a:extLst>
          </p:cNvPr>
          <p:cNvGrpSpPr/>
          <p:nvPr>
            <p:custDataLst>
              <p:tags r:id="rId12"/>
            </p:custDataLst>
          </p:nvPr>
        </p:nvGrpSpPr>
        <p:grpSpPr>
          <a:xfrm>
            <a:off x="0" y="0"/>
            <a:ext cx="12192000" cy="635000"/>
            <a:chOff x="0" y="0"/>
            <a:chExt cx="12192000" cy="635000"/>
          </a:xfrm>
        </p:grpSpPr>
        <p:sp>
          <p:nvSpPr>
            <p:cNvPr id="18" name="TitleBackground">
              <a:extLst>
                <a:ext uri="{FF2B5EF4-FFF2-40B4-BE49-F238E27FC236}">
                  <a16:creationId xmlns:a16="http://schemas.microsoft.com/office/drawing/2014/main" id="{CDB05E89-49E6-464C-AD75-73E0151C40A0}"/>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25473FC5-AA5A-4DF9-8285-ADE3906984C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656147CE-E90A-4263-84D8-97D4524D60B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1" name="TipText">
              <a:extLst>
                <a:ext uri="{FF2B5EF4-FFF2-40B4-BE49-F238E27FC236}">
                  <a16:creationId xmlns:a16="http://schemas.microsoft.com/office/drawing/2014/main" id="{E561B1DC-DB82-4DC8-92CA-B3C620D4AC3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62A27CD2-D8FB-4EA6-8422-8B5C3D87DAD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215570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lang="en-US" dirty="0"/>
              <a:t>*</a:t>
            </a:r>
            <a:r>
              <a:rPr lang="zh-CN" altLang="en-US" dirty="0"/>
              <a:t>后缀</a:t>
            </a:r>
            <a:r>
              <a:rPr kumimoji="0" dirty="0" err="1"/>
              <a:t>表达式</a:t>
            </a:r>
            <a:r>
              <a:rPr kumimoji="0" dirty="0"/>
              <a:t> </a:t>
            </a:r>
            <a:r>
              <a:rPr kumimoji="0" lang="en-US" altLang="zh-CN" dirty="0">
                <a:solidFill>
                  <a:srgbClr val="7030A0"/>
                </a:solidFill>
              </a:rPr>
              <a:t>to</a:t>
            </a:r>
            <a:r>
              <a:rPr kumimoji="0" dirty="0">
                <a:solidFill>
                  <a:srgbClr val="7030A0"/>
                </a:solidFill>
              </a:rPr>
              <a:t> </a:t>
            </a:r>
            <a:r>
              <a:rPr lang="zh-CN" altLang="en-US" dirty="0"/>
              <a:t>中缀</a:t>
            </a:r>
            <a:r>
              <a:rPr kumimoji="0" dirty="0" err="1"/>
              <a:t>表达式</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zh-CN" sz="2400" dirty="0">
                <a:latin typeface="微软雅黑" panose="020B0503020204020204" pitchFamily="34" charset="-122"/>
                <a:ea typeface="微软雅黑" panose="020B0503020204020204" pitchFamily="34" charset="-122"/>
              </a:rPr>
              <a:t>待处理</a:t>
            </a:r>
            <a:r>
              <a:rPr lang="zh-CN" altLang="en-US" sz="2400" dirty="0">
                <a:latin typeface="微软雅黑" panose="020B0503020204020204" pitchFamily="34" charset="-122"/>
                <a:ea typeface="微软雅黑" panose="020B0503020204020204" pitchFamily="34" charset="-122"/>
              </a:rPr>
              <a:t>后缀</a:t>
            </a:r>
            <a:r>
              <a:rPr lang="zh-CN" altLang="zh-CN" sz="2400" dirty="0">
                <a:latin typeface="微软雅黑" panose="020B0503020204020204" pitchFamily="34" charset="-122"/>
                <a:ea typeface="微软雅黑" panose="020B0503020204020204" pitchFamily="34" charset="-122"/>
              </a:rPr>
              <a:t>表达式</a:t>
            </a:r>
          </a:p>
        </p:txBody>
      </p:sp>
      <p:graphicFrame>
        <p:nvGraphicFramePr>
          <p:cNvPr id="7" name="Group 35">
            <a:extLst>
              <a:ext uri="{FF2B5EF4-FFF2-40B4-BE49-F238E27FC236}">
                <a16:creationId xmlns:a16="http://schemas.microsoft.com/office/drawing/2014/main" id="{DE59EC6E-2D83-4154-BE73-35330B0D37E4}"/>
              </a:ext>
            </a:extLst>
          </p:cNvPr>
          <p:cNvGraphicFramePr>
            <a:graphicFrameLocks/>
          </p:cNvGraphicFramePr>
          <p:nvPr>
            <p:extLst>
              <p:ext uri="{D42A27DB-BD31-4B8C-83A1-F6EECF244321}">
                <p14:modId xmlns:p14="http://schemas.microsoft.com/office/powerpoint/2010/main" val="4118392690"/>
              </p:ext>
            </p:extLst>
          </p:nvPr>
        </p:nvGraphicFramePr>
        <p:xfrm>
          <a:off x="3527426" y="3112791"/>
          <a:ext cx="3940172" cy="2900362"/>
        </p:xfrm>
        <a:graphic>
          <a:graphicData uri="http://schemas.openxmlformats.org/drawingml/2006/table">
            <a:tbl>
              <a:tblPr/>
              <a:tblGrid>
                <a:gridCol w="3940172">
                  <a:extLst>
                    <a:ext uri="{9D8B030D-6E8A-4147-A177-3AD203B41FA5}">
                      <a16:colId xmlns:a16="http://schemas.microsoft.com/office/drawing/2014/main" val="20000"/>
                    </a:ext>
                  </a:extLst>
                </a:gridCol>
              </a:tblGrid>
              <a:tr h="5712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5009" name="Rectangle 53">
            <a:extLst>
              <a:ext uri="{FF2B5EF4-FFF2-40B4-BE49-F238E27FC236}">
                <a16:creationId xmlns:a16="http://schemas.microsoft.com/office/drawing/2014/main" id="{3874E427-E7E7-46BA-AD57-4904B8DAA0CB}"/>
              </a:ext>
            </a:extLst>
          </p:cNvPr>
          <p:cNvSpPr>
            <a:spLocks noChangeArrowheads="1"/>
          </p:cNvSpPr>
          <p:nvPr/>
        </p:nvSpPr>
        <p:spPr bwMode="auto">
          <a:xfrm>
            <a:off x="484188" y="3500438"/>
            <a:ext cx="272573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C0000"/>
              </a:buClr>
              <a:buSzPct val="80000"/>
            </a:pPr>
            <a:r>
              <a:rPr lang="zh-CN" altLang="en-US" sz="2400">
                <a:latin typeface="微软雅黑" panose="020B0503020204020204" pitchFamily="34" charset="-122"/>
                <a:ea typeface="微软雅黑" panose="020B0503020204020204" pitchFamily="34" charset="-122"/>
              </a:rPr>
              <a:t>栈状态的变化</a:t>
            </a:r>
          </a:p>
        </p:txBody>
      </p:sp>
      <p:sp>
        <p:nvSpPr>
          <p:cNvPr id="11" name="Rectangle 6">
            <a:extLst>
              <a:ext uri="{FF2B5EF4-FFF2-40B4-BE49-F238E27FC236}">
                <a16:creationId xmlns:a16="http://schemas.microsoft.com/office/drawing/2014/main" id="{0177A3B3-8E39-432C-9492-59C8E1DDE8C3}"/>
              </a:ext>
            </a:extLst>
          </p:cNvPr>
          <p:cNvSpPr>
            <a:spLocks noChangeArrowheads="1"/>
          </p:cNvSpPr>
          <p:nvPr/>
        </p:nvSpPr>
        <p:spPr bwMode="auto">
          <a:xfrm>
            <a:off x="6798353" y="15822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23</a:t>
            </a:r>
          </a:p>
        </p:txBody>
      </p:sp>
      <p:sp>
        <p:nvSpPr>
          <p:cNvPr id="12" name="Rectangle 7">
            <a:extLst>
              <a:ext uri="{FF2B5EF4-FFF2-40B4-BE49-F238E27FC236}">
                <a16:creationId xmlns:a16="http://schemas.microsoft.com/office/drawing/2014/main" id="{3C18B4E2-0056-42B7-804E-9D222151A752}"/>
              </a:ext>
            </a:extLst>
          </p:cNvPr>
          <p:cNvSpPr>
            <a:spLocks noChangeArrowheads="1"/>
          </p:cNvSpPr>
          <p:nvPr/>
        </p:nvSpPr>
        <p:spPr bwMode="auto">
          <a:xfrm>
            <a:off x="10224061"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a:t>
            </a:r>
          </a:p>
        </p:txBody>
      </p:sp>
      <p:sp>
        <p:nvSpPr>
          <p:cNvPr id="13" name="Rectangle 8">
            <a:extLst>
              <a:ext uri="{FF2B5EF4-FFF2-40B4-BE49-F238E27FC236}">
                <a16:creationId xmlns:a16="http://schemas.microsoft.com/office/drawing/2014/main" id="{D44F5AE9-E551-403A-942D-91D8AD02DCDA}"/>
              </a:ext>
            </a:extLst>
          </p:cNvPr>
          <p:cNvSpPr>
            <a:spLocks noChangeArrowheads="1"/>
          </p:cNvSpPr>
          <p:nvPr/>
        </p:nvSpPr>
        <p:spPr bwMode="auto">
          <a:xfrm>
            <a:off x="7701639" y="15822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45</a:t>
            </a:r>
          </a:p>
        </p:txBody>
      </p:sp>
      <p:sp>
        <p:nvSpPr>
          <p:cNvPr id="14" name="Rectangle 9">
            <a:extLst>
              <a:ext uri="{FF2B5EF4-FFF2-40B4-BE49-F238E27FC236}">
                <a16:creationId xmlns:a16="http://schemas.microsoft.com/office/drawing/2014/main" id="{BE05FD6F-E738-483E-A424-5D5E9B658729}"/>
              </a:ext>
            </a:extLst>
          </p:cNvPr>
          <p:cNvSpPr>
            <a:spLocks noChangeArrowheads="1"/>
          </p:cNvSpPr>
          <p:nvPr/>
        </p:nvSpPr>
        <p:spPr bwMode="auto">
          <a:xfrm>
            <a:off x="8391410"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5</a:t>
            </a:r>
          </a:p>
        </p:txBody>
      </p:sp>
      <p:sp>
        <p:nvSpPr>
          <p:cNvPr id="15" name="Rectangle 10">
            <a:extLst>
              <a:ext uri="{FF2B5EF4-FFF2-40B4-BE49-F238E27FC236}">
                <a16:creationId xmlns:a16="http://schemas.microsoft.com/office/drawing/2014/main" id="{364E1692-E56C-4958-AE01-860C592A62C5}"/>
              </a:ext>
            </a:extLst>
          </p:cNvPr>
          <p:cNvSpPr>
            <a:spLocks noChangeArrowheads="1"/>
          </p:cNvSpPr>
          <p:nvPr/>
        </p:nvSpPr>
        <p:spPr bwMode="auto">
          <a:xfrm>
            <a:off x="8718433"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6</a:t>
            </a:r>
          </a:p>
        </p:txBody>
      </p:sp>
      <p:sp>
        <p:nvSpPr>
          <p:cNvPr id="16" name="Rectangle 11">
            <a:extLst>
              <a:ext uri="{FF2B5EF4-FFF2-40B4-BE49-F238E27FC236}">
                <a16:creationId xmlns:a16="http://schemas.microsoft.com/office/drawing/2014/main" id="{C69EC076-84ED-4B22-881C-589F11888923}"/>
              </a:ext>
            </a:extLst>
          </p:cNvPr>
          <p:cNvSpPr>
            <a:spLocks noChangeArrowheads="1"/>
          </p:cNvSpPr>
          <p:nvPr/>
        </p:nvSpPr>
        <p:spPr bwMode="auto">
          <a:xfrm>
            <a:off x="9510481"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7</a:t>
            </a:r>
          </a:p>
        </p:txBody>
      </p:sp>
      <p:sp>
        <p:nvSpPr>
          <p:cNvPr id="17" name="Rectangle 12">
            <a:extLst>
              <a:ext uri="{FF2B5EF4-FFF2-40B4-BE49-F238E27FC236}">
                <a16:creationId xmlns:a16="http://schemas.microsoft.com/office/drawing/2014/main" id="{CA4EBAC1-6314-4D9D-A1C1-784E74F85BBC}"/>
              </a:ext>
            </a:extLst>
          </p:cNvPr>
          <p:cNvSpPr>
            <a:spLocks noChangeArrowheads="1"/>
          </p:cNvSpPr>
          <p:nvPr/>
        </p:nvSpPr>
        <p:spPr bwMode="auto">
          <a:xfrm>
            <a:off x="8065973"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a:t>
            </a:r>
          </a:p>
        </p:txBody>
      </p:sp>
      <p:sp>
        <p:nvSpPr>
          <p:cNvPr id="18" name="Rectangle 13">
            <a:extLst>
              <a:ext uri="{FF2B5EF4-FFF2-40B4-BE49-F238E27FC236}">
                <a16:creationId xmlns:a16="http://schemas.microsoft.com/office/drawing/2014/main" id="{178AC9BC-C09C-4840-A489-26C83A91C770}"/>
              </a:ext>
            </a:extLst>
          </p:cNvPr>
          <p:cNvSpPr>
            <a:spLocks noChangeArrowheads="1"/>
          </p:cNvSpPr>
          <p:nvPr/>
        </p:nvSpPr>
        <p:spPr bwMode="auto">
          <a:xfrm>
            <a:off x="10624574" y="15822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19" name="Rectangle 14">
            <a:extLst>
              <a:ext uri="{FF2B5EF4-FFF2-40B4-BE49-F238E27FC236}">
                <a16:creationId xmlns:a16="http://schemas.microsoft.com/office/drawing/2014/main" id="{6C390DA0-EE2C-47AD-9554-8CCE2FEDB833}"/>
              </a:ext>
            </a:extLst>
          </p:cNvPr>
          <p:cNvSpPr>
            <a:spLocks noChangeArrowheads="1"/>
          </p:cNvSpPr>
          <p:nvPr/>
        </p:nvSpPr>
        <p:spPr bwMode="auto">
          <a:xfrm>
            <a:off x="9872895" y="15822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latin typeface="微软雅黑" panose="020B0503020204020204" pitchFamily="34" charset="-122"/>
                <a:ea typeface="微软雅黑" panose="020B0503020204020204" pitchFamily="34" charset="-122"/>
              </a:rPr>
              <a:t>＋</a:t>
            </a:r>
          </a:p>
        </p:txBody>
      </p:sp>
      <p:sp>
        <p:nvSpPr>
          <p:cNvPr id="20" name="Rectangle 15">
            <a:extLst>
              <a:ext uri="{FF2B5EF4-FFF2-40B4-BE49-F238E27FC236}">
                <a16:creationId xmlns:a16="http://schemas.microsoft.com/office/drawing/2014/main" id="{596390EF-BA2A-4AA8-B057-8D2FA820CF20}"/>
              </a:ext>
            </a:extLst>
          </p:cNvPr>
          <p:cNvSpPr>
            <a:spLocks noChangeArrowheads="1"/>
          </p:cNvSpPr>
          <p:nvPr/>
        </p:nvSpPr>
        <p:spPr bwMode="auto">
          <a:xfrm>
            <a:off x="9104991" y="15822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latin typeface="微软雅黑" panose="020B0503020204020204" pitchFamily="34" charset="-122"/>
                <a:ea typeface="微软雅黑" panose="020B0503020204020204" pitchFamily="34" charset="-122"/>
              </a:rPr>
              <a:t>＋</a:t>
            </a:r>
          </a:p>
        </p:txBody>
      </p:sp>
      <p:sp>
        <p:nvSpPr>
          <p:cNvPr id="25" name="Rectangle 20">
            <a:extLst>
              <a:ext uri="{FF2B5EF4-FFF2-40B4-BE49-F238E27FC236}">
                <a16:creationId xmlns:a16="http://schemas.microsoft.com/office/drawing/2014/main" id="{296F54BA-CF9D-4008-BB68-149C6A605CC3}"/>
              </a:ext>
            </a:extLst>
          </p:cNvPr>
          <p:cNvSpPr>
            <a:spLocks noChangeArrowheads="1"/>
          </p:cNvSpPr>
          <p:nvPr/>
        </p:nvSpPr>
        <p:spPr bwMode="auto">
          <a:xfrm>
            <a:off x="7292065" y="1582243"/>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34</a:t>
            </a:r>
          </a:p>
        </p:txBody>
      </p:sp>
      <p:sp>
        <p:nvSpPr>
          <p:cNvPr id="26" name="任意多边形: 形状 69">
            <a:extLst>
              <a:ext uri="{FF2B5EF4-FFF2-40B4-BE49-F238E27FC236}">
                <a16:creationId xmlns:a16="http://schemas.microsoft.com/office/drawing/2014/main" id="{532D1581-344C-428D-B29C-70BD946E955F}"/>
              </a:ext>
            </a:extLst>
          </p:cNvPr>
          <p:cNvSpPr/>
          <p:nvPr/>
        </p:nvSpPr>
        <p:spPr>
          <a:xfrm>
            <a:off x="388003" y="4393362"/>
            <a:ext cx="2326622"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kern="1200" dirty="0">
                <a:solidFill>
                  <a:schemeClr val="bg1"/>
                </a:solidFill>
                <a:latin typeface="Microsoft YaHei" panose="020B0503020204020204" pitchFamily="34" charset="-122"/>
                <a:ea typeface="Microsoft YaHei" panose="020B0503020204020204" pitchFamily="34" charset="-122"/>
              </a:rPr>
              <a:t>存放项</a:t>
            </a:r>
            <a:r>
              <a:rPr lang="en-US" altLang="zh-CN" sz="2000" kern="1200" dirty="0">
                <a:solidFill>
                  <a:schemeClr val="bg1"/>
                </a:solidFill>
                <a:latin typeface="Microsoft YaHei" panose="020B0503020204020204" pitchFamily="34" charset="-122"/>
                <a:ea typeface="Microsoft YaHei" panose="020B0503020204020204" pitchFamily="34" charset="-122"/>
              </a:rPr>
              <a:t>(term)</a:t>
            </a:r>
            <a:r>
              <a:rPr lang="zh-CN" altLang="en-US" sz="2000" kern="1200" dirty="0">
                <a:solidFill>
                  <a:schemeClr val="bg1"/>
                </a:solidFill>
                <a:latin typeface="Microsoft YaHei" panose="020B0503020204020204" pitchFamily="34" charset="-122"/>
                <a:ea typeface="Microsoft YaHei" panose="020B0503020204020204" pitchFamily="34" charset="-122"/>
              </a:rPr>
              <a:t>的栈</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cxnSp>
        <p:nvCxnSpPr>
          <p:cNvPr id="27" name="直线箭头连接符 12">
            <a:extLst>
              <a:ext uri="{FF2B5EF4-FFF2-40B4-BE49-F238E27FC236}">
                <a16:creationId xmlns:a16="http://schemas.microsoft.com/office/drawing/2014/main" id="{4FC05FBB-9DC3-4621-83F8-7335CEA71744}"/>
              </a:ext>
            </a:extLst>
          </p:cNvPr>
          <p:cNvCxnSpPr>
            <a:cxnSpLocks/>
          </p:cNvCxnSpPr>
          <p:nvPr/>
        </p:nvCxnSpPr>
        <p:spPr>
          <a:xfrm flipV="1">
            <a:off x="6570677" y="1941018"/>
            <a:ext cx="0" cy="4547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6">
            <a:extLst>
              <a:ext uri="{FF2B5EF4-FFF2-40B4-BE49-F238E27FC236}">
                <a16:creationId xmlns:a16="http://schemas.microsoft.com/office/drawing/2014/main" id="{8482FD67-C68A-41C5-953E-C048B3D072FD}"/>
              </a:ext>
            </a:extLst>
          </p:cNvPr>
          <p:cNvSpPr>
            <a:spLocks noChangeArrowheads="1"/>
          </p:cNvSpPr>
          <p:nvPr/>
        </p:nvSpPr>
        <p:spPr bwMode="auto">
          <a:xfrm>
            <a:off x="5278438" y="5563095"/>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23</a:t>
            </a:r>
          </a:p>
        </p:txBody>
      </p:sp>
      <p:sp>
        <p:nvSpPr>
          <p:cNvPr id="60" name="Rectangle 20">
            <a:extLst>
              <a:ext uri="{FF2B5EF4-FFF2-40B4-BE49-F238E27FC236}">
                <a16:creationId xmlns:a16="http://schemas.microsoft.com/office/drawing/2014/main" id="{74C4E623-3ABB-4805-8208-AB5643D54E71}"/>
              </a:ext>
            </a:extLst>
          </p:cNvPr>
          <p:cNvSpPr>
            <a:spLocks noChangeArrowheads="1"/>
          </p:cNvSpPr>
          <p:nvPr/>
        </p:nvSpPr>
        <p:spPr bwMode="auto">
          <a:xfrm>
            <a:off x="5269594" y="4984219"/>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34</a:t>
            </a:r>
          </a:p>
        </p:txBody>
      </p:sp>
      <p:sp>
        <p:nvSpPr>
          <p:cNvPr id="66" name="Rectangle 8">
            <a:extLst>
              <a:ext uri="{FF2B5EF4-FFF2-40B4-BE49-F238E27FC236}">
                <a16:creationId xmlns:a16="http://schemas.microsoft.com/office/drawing/2014/main" id="{9EE10EA0-A577-45D2-B4FD-F752EA544B9C}"/>
              </a:ext>
            </a:extLst>
          </p:cNvPr>
          <p:cNvSpPr>
            <a:spLocks noChangeArrowheads="1"/>
          </p:cNvSpPr>
          <p:nvPr/>
        </p:nvSpPr>
        <p:spPr bwMode="auto">
          <a:xfrm>
            <a:off x="5275151" y="4405343"/>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45</a:t>
            </a:r>
          </a:p>
        </p:txBody>
      </p:sp>
      <p:sp>
        <p:nvSpPr>
          <p:cNvPr id="71" name="Rectangle 12">
            <a:extLst>
              <a:ext uri="{FF2B5EF4-FFF2-40B4-BE49-F238E27FC236}">
                <a16:creationId xmlns:a16="http://schemas.microsoft.com/office/drawing/2014/main" id="{12AF5608-4B79-4DF3-9381-5BEA852FC485}"/>
              </a:ext>
            </a:extLst>
          </p:cNvPr>
          <p:cNvSpPr>
            <a:spLocks noChangeArrowheads="1"/>
          </p:cNvSpPr>
          <p:nvPr/>
        </p:nvSpPr>
        <p:spPr bwMode="auto">
          <a:xfrm>
            <a:off x="5053693" y="4993744"/>
            <a:ext cx="9001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34 * 45</a:t>
            </a:r>
          </a:p>
        </p:txBody>
      </p:sp>
      <p:sp>
        <p:nvSpPr>
          <p:cNvPr id="76" name="Rectangle 9">
            <a:extLst>
              <a:ext uri="{FF2B5EF4-FFF2-40B4-BE49-F238E27FC236}">
                <a16:creationId xmlns:a16="http://schemas.microsoft.com/office/drawing/2014/main" id="{A8AEF1AF-D95E-4C98-B210-D39CDE6C5418}"/>
              </a:ext>
            </a:extLst>
          </p:cNvPr>
          <p:cNvSpPr>
            <a:spLocks noChangeArrowheads="1"/>
          </p:cNvSpPr>
          <p:nvPr/>
        </p:nvSpPr>
        <p:spPr bwMode="auto">
          <a:xfrm>
            <a:off x="5278438" y="4423030"/>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5</a:t>
            </a:r>
          </a:p>
        </p:txBody>
      </p:sp>
      <p:sp>
        <p:nvSpPr>
          <p:cNvPr id="87" name="Rectangle 10">
            <a:extLst>
              <a:ext uri="{FF2B5EF4-FFF2-40B4-BE49-F238E27FC236}">
                <a16:creationId xmlns:a16="http://schemas.microsoft.com/office/drawing/2014/main" id="{E93B2102-891D-4A26-A330-2713579A4FEE}"/>
              </a:ext>
            </a:extLst>
          </p:cNvPr>
          <p:cNvSpPr>
            <a:spLocks noChangeArrowheads="1"/>
          </p:cNvSpPr>
          <p:nvPr/>
        </p:nvSpPr>
        <p:spPr bwMode="auto">
          <a:xfrm>
            <a:off x="5278438" y="3815855"/>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6</a:t>
            </a:r>
          </a:p>
        </p:txBody>
      </p:sp>
      <p:sp>
        <p:nvSpPr>
          <p:cNvPr id="92" name="Rectangle 15">
            <a:extLst>
              <a:ext uri="{FF2B5EF4-FFF2-40B4-BE49-F238E27FC236}">
                <a16:creationId xmlns:a16="http://schemas.microsoft.com/office/drawing/2014/main" id="{BAA460CD-9AB3-451F-8244-D9F6BBF27945}"/>
              </a:ext>
            </a:extLst>
          </p:cNvPr>
          <p:cNvSpPr>
            <a:spLocks noChangeArrowheads="1"/>
          </p:cNvSpPr>
          <p:nvPr/>
        </p:nvSpPr>
        <p:spPr bwMode="auto">
          <a:xfrm>
            <a:off x="5283085" y="4403990"/>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p:txBody>
      </p:sp>
      <p:sp>
        <p:nvSpPr>
          <p:cNvPr id="97" name="Rectangle 11">
            <a:extLst>
              <a:ext uri="{FF2B5EF4-FFF2-40B4-BE49-F238E27FC236}">
                <a16:creationId xmlns:a16="http://schemas.microsoft.com/office/drawing/2014/main" id="{5B821D42-E7C2-4892-BD98-D4A650CCD048}"/>
              </a:ext>
            </a:extLst>
          </p:cNvPr>
          <p:cNvSpPr>
            <a:spLocks noChangeArrowheads="1"/>
          </p:cNvSpPr>
          <p:nvPr/>
        </p:nvSpPr>
        <p:spPr bwMode="auto">
          <a:xfrm>
            <a:off x="5269592" y="3825631"/>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7</a:t>
            </a:r>
          </a:p>
        </p:txBody>
      </p:sp>
      <p:sp>
        <p:nvSpPr>
          <p:cNvPr id="102" name="Rectangle 14">
            <a:extLst>
              <a:ext uri="{FF2B5EF4-FFF2-40B4-BE49-F238E27FC236}">
                <a16:creationId xmlns:a16="http://schemas.microsoft.com/office/drawing/2014/main" id="{3E14B9EB-17AF-4C59-80B1-14BA5DDCCC8F}"/>
              </a:ext>
            </a:extLst>
          </p:cNvPr>
          <p:cNvSpPr>
            <a:spLocks noChangeArrowheads="1"/>
          </p:cNvSpPr>
          <p:nvPr/>
        </p:nvSpPr>
        <p:spPr bwMode="auto">
          <a:xfrm>
            <a:off x="4685066" y="4395997"/>
            <a:ext cx="1527035"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5+6</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p:txBody>
      </p:sp>
      <p:sp>
        <p:nvSpPr>
          <p:cNvPr id="109" name="Rectangle 7">
            <a:extLst>
              <a:ext uri="{FF2B5EF4-FFF2-40B4-BE49-F238E27FC236}">
                <a16:creationId xmlns:a16="http://schemas.microsoft.com/office/drawing/2014/main" id="{595F8131-BC55-4A5E-B75E-A2962B3DDB8B}"/>
              </a:ext>
            </a:extLst>
          </p:cNvPr>
          <p:cNvSpPr>
            <a:spLocks noChangeArrowheads="1"/>
          </p:cNvSpPr>
          <p:nvPr/>
        </p:nvSpPr>
        <p:spPr bwMode="auto">
          <a:xfrm>
            <a:off x="4313066" y="4964076"/>
            <a:ext cx="2381364"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34 * 45) / ((5 + 6) + 7)</a:t>
            </a:r>
          </a:p>
        </p:txBody>
      </p:sp>
      <p:sp>
        <p:nvSpPr>
          <p:cNvPr id="126" name="Rectangle 7">
            <a:extLst>
              <a:ext uri="{FF2B5EF4-FFF2-40B4-BE49-F238E27FC236}">
                <a16:creationId xmlns:a16="http://schemas.microsoft.com/office/drawing/2014/main" id="{80B07CE9-3301-496D-9F2D-FA6154E07D75}"/>
              </a:ext>
            </a:extLst>
          </p:cNvPr>
          <p:cNvSpPr>
            <a:spLocks noChangeArrowheads="1"/>
          </p:cNvSpPr>
          <p:nvPr/>
        </p:nvSpPr>
        <p:spPr bwMode="auto">
          <a:xfrm>
            <a:off x="3661454" y="5545596"/>
            <a:ext cx="3684587"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dirty="0">
                <a:solidFill>
                  <a:srgbClr val="C00000"/>
                </a:solidFill>
                <a:latin typeface="微软雅黑" panose="020B0503020204020204" pitchFamily="34" charset="-122"/>
                <a:ea typeface="微软雅黑" panose="020B0503020204020204" pitchFamily="34" charset="-122"/>
              </a:rPr>
              <a:t>23 + (34 * 45) / ((5 + 6) + 7))</a:t>
            </a:r>
          </a:p>
        </p:txBody>
      </p:sp>
      <p:sp>
        <p:nvSpPr>
          <p:cNvPr id="127" name="任意多边形: 形状 69">
            <a:extLst>
              <a:ext uri="{FF2B5EF4-FFF2-40B4-BE49-F238E27FC236}">
                <a16:creationId xmlns:a16="http://schemas.microsoft.com/office/drawing/2014/main" id="{5119A977-BECE-4F50-82FD-4BBE5B832CC8}"/>
              </a:ext>
            </a:extLst>
          </p:cNvPr>
          <p:cNvSpPr/>
          <p:nvPr/>
        </p:nvSpPr>
        <p:spPr>
          <a:xfrm>
            <a:off x="8023434" y="5342994"/>
            <a:ext cx="2601139" cy="734583"/>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生成的</a:t>
            </a:r>
            <a:r>
              <a:rPr lang="zh-CN" altLang="en-US" sz="2000" kern="1200" dirty="0">
                <a:solidFill>
                  <a:schemeClr val="bg1"/>
                </a:solidFill>
                <a:latin typeface="Microsoft YaHei" panose="020B0503020204020204" pitchFamily="34" charset="-122"/>
                <a:ea typeface="Microsoft YaHei" panose="020B0503020204020204" pitchFamily="34" charset="-122"/>
              </a:rPr>
              <a:t>中缀表达式</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a:p>
            <a:pPr algn="ctr"/>
            <a:r>
              <a:rPr lang="zh-CN" altLang="en-US" sz="2000" kern="1200" dirty="0">
                <a:solidFill>
                  <a:schemeClr val="bg1"/>
                </a:solidFill>
                <a:latin typeface="Microsoft YaHei" panose="020B0503020204020204" pitchFamily="34" charset="-122"/>
                <a:ea typeface="Microsoft YaHei" panose="020B0503020204020204" pitchFamily="34" charset="-122"/>
              </a:rPr>
              <a:t>（含冗余括号）</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122" name="箭头: 左 121">
            <a:extLst>
              <a:ext uri="{FF2B5EF4-FFF2-40B4-BE49-F238E27FC236}">
                <a16:creationId xmlns:a16="http://schemas.microsoft.com/office/drawing/2014/main" id="{AE3FDE2E-CCEC-439F-AE3D-0E1FBB72D62D}"/>
              </a:ext>
            </a:extLst>
          </p:cNvPr>
          <p:cNvSpPr/>
          <p:nvPr/>
        </p:nvSpPr>
        <p:spPr>
          <a:xfrm>
            <a:off x="7562923" y="5517453"/>
            <a:ext cx="371575" cy="450058"/>
          </a:xfrm>
          <a:prstGeom prst="leftArrow">
            <a:avLst/>
          </a:prstGeom>
          <a:solidFill>
            <a:srgbClr val="51ADB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BE242F3D-BBCD-45A3-BDD6-D7E805AF7289}"/>
              </a:ext>
            </a:extLst>
          </p:cNvPr>
          <p:cNvSpPr txBox="1"/>
          <p:nvPr/>
        </p:nvSpPr>
        <p:spPr>
          <a:xfrm>
            <a:off x="7934498" y="3983861"/>
            <a:ext cx="2952864" cy="369332"/>
          </a:xfrm>
          <a:prstGeom prst="rect">
            <a:avLst/>
          </a:prstGeom>
          <a:noFill/>
        </p:spPr>
        <p:txBody>
          <a:bodyPr wrap="squar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思考：时间和空间复杂度？</a:t>
            </a:r>
          </a:p>
        </p:txBody>
      </p:sp>
    </p:spTree>
    <p:extLst>
      <p:ext uri="{BB962C8B-B14F-4D97-AF65-F5344CB8AC3E}">
        <p14:creationId xmlns:p14="http://schemas.microsoft.com/office/powerpoint/2010/main" val="310588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29167E-6 -3.7037E-6 L 0.03841 -0.00509 " pathEditMode="relative" rAng="0" ptsTypes="AA">
                                      <p:cBhvr>
                                        <p:cTn id="6" dur="2000" fill="hold"/>
                                        <p:tgtEl>
                                          <p:spTgt spid="27"/>
                                        </p:tgtEl>
                                        <p:attrNameLst>
                                          <p:attrName>ppt_x</p:attrName>
                                          <p:attrName>ppt_y</p:attrName>
                                        </p:attrNameLst>
                                      </p:cBhvr>
                                      <p:rCtr x="1914" y="-255"/>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03841 -0.00509 L 0.07683 -0.00509 " pathEditMode="relative" rAng="0" ptsTypes="AA">
                                      <p:cBhvr>
                                        <p:cTn id="14" dur="2000" fill="hold"/>
                                        <p:tgtEl>
                                          <p:spTgt spid="27"/>
                                        </p:tgtEl>
                                        <p:attrNameLst>
                                          <p:attrName>ppt_x</p:attrName>
                                          <p:attrName>ppt_y</p:attrName>
                                        </p:attrNameLst>
                                      </p:cBhvr>
                                      <p:rCtr x="1914" y="0"/>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nodeType="clickEffect">
                                  <p:stCondLst>
                                    <p:cond delay="0"/>
                                  </p:stCondLst>
                                  <p:childTnLst>
                                    <p:animMotion origin="layout" path="M 0.07683 -0.00509 L 0.11524 -0.00509 " pathEditMode="relative" rAng="0" ptsTypes="AA">
                                      <p:cBhvr>
                                        <p:cTn id="22" dur="2000" fill="hold"/>
                                        <p:tgtEl>
                                          <p:spTgt spid="27"/>
                                        </p:tgtEl>
                                        <p:attrNameLst>
                                          <p:attrName>ppt_x</p:attrName>
                                          <p:attrName>ppt_y</p:attrName>
                                        </p:attrNameLst>
                                      </p:cBhvr>
                                      <p:rCtr x="1914" y="0"/>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nodeType="clickEffect">
                                  <p:stCondLst>
                                    <p:cond delay="0"/>
                                  </p:stCondLst>
                                  <p:childTnLst>
                                    <p:animMotion origin="layout" path="M 0.11524 -0.00509 L 0.14232 -0.00509 " pathEditMode="relative" rAng="0" ptsTypes="AA">
                                      <p:cBhvr>
                                        <p:cTn id="30" dur="2000" fill="hold"/>
                                        <p:tgtEl>
                                          <p:spTgt spid="27"/>
                                        </p:tgtEl>
                                        <p:attrNameLst>
                                          <p:attrName>ppt_x</p:attrName>
                                          <p:attrName>ppt_y</p:attrName>
                                        </p:attrNameLst>
                                      </p:cBhvr>
                                      <p:rCtr x="1354" y="0"/>
                                    </p:animMotion>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2" nodeType="clickEffect">
                                  <p:stCondLst>
                                    <p:cond delay="0"/>
                                  </p:stCondLst>
                                  <p:childTnLst>
                                    <p:set>
                                      <p:cBhvr>
                                        <p:cTn id="34" dur="1" fill="hold">
                                          <p:stCondLst>
                                            <p:cond delay="0"/>
                                          </p:stCondLst>
                                        </p:cTn>
                                        <p:tgtEl>
                                          <p:spTgt spid="6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2" nodeType="clickEffect">
                                  <p:stCondLst>
                                    <p:cond delay="0"/>
                                  </p:stCondLst>
                                  <p:childTnLst>
                                    <p:set>
                                      <p:cBhvr>
                                        <p:cTn id="38" dur="1" fill="hold">
                                          <p:stCondLst>
                                            <p:cond delay="0"/>
                                          </p:stCondLst>
                                        </p:cTn>
                                        <p:tgtEl>
                                          <p:spTgt spid="6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2" nodeType="click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nodeType="clickEffect">
                                  <p:stCondLst>
                                    <p:cond delay="0"/>
                                  </p:stCondLst>
                                  <p:childTnLst>
                                    <p:animMotion origin="layout" path="M 0.14232 -0.00509 L 0.16654 -0.00509 " pathEditMode="relative" rAng="0" ptsTypes="AA">
                                      <p:cBhvr>
                                        <p:cTn id="46" dur="2000" fill="hold"/>
                                        <p:tgtEl>
                                          <p:spTgt spid="27"/>
                                        </p:tgtEl>
                                        <p:attrNameLst>
                                          <p:attrName>ppt_x</p:attrName>
                                          <p:attrName>ppt_y</p:attrName>
                                        </p:attrNameLst>
                                      </p:cBhvr>
                                      <p:rCtr x="1211" y="0"/>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nodeType="clickEffect">
                                  <p:stCondLst>
                                    <p:cond delay="0"/>
                                  </p:stCondLst>
                                  <p:childTnLst>
                                    <p:animMotion origin="layout" path="M 0.16654 -0.00509 L 0.19466 -0.00509 " pathEditMode="relative" rAng="0" ptsTypes="AA">
                                      <p:cBhvr>
                                        <p:cTn id="54" dur="2000" fill="hold"/>
                                        <p:tgtEl>
                                          <p:spTgt spid="27"/>
                                        </p:tgtEl>
                                        <p:attrNameLst>
                                          <p:attrName>ppt_x</p:attrName>
                                          <p:attrName>ppt_y</p:attrName>
                                        </p:attrNameLst>
                                      </p:cBhvr>
                                      <p:rCtr x="1406" y="0"/>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8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nodeType="clickEffect">
                                  <p:stCondLst>
                                    <p:cond delay="0"/>
                                  </p:stCondLst>
                                  <p:childTnLst>
                                    <p:animMotion origin="layout" path="M 0.19466 -0.00509 L 0.22748 -0.00509 " pathEditMode="relative" rAng="0" ptsTypes="AA">
                                      <p:cBhvr>
                                        <p:cTn id="62" dur="2000" fill="hold"/>
                                        <p:tgtEl>
                                          <p:spTgt spid="27"/>
                                        </p:tgtEl>
                                        <p:attrNameLst>
                                          <p:attrName>ppt_x</p:attrName>
                                          <p:attrName>ppt_y</p:attrName>
                                        </p:attrNameLst>
                                      </p:cBhvr>
                                      <p:rCtr x="1641" y="0"/>
                                    </p:animMotion>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2" nodeType="clickEffect">
                                  <p:stCondLst>
                                    <p:cond delay="0"/>
                                  </p:stCondLst>
                                  <p:childTnLst>
                                    <p:set>
                                      <p:cBhvr>
                                        <p:cTn id="66" dur="1" fill="hold">
                                          <p:stCondLst>
                                            <p:cond delay="0"/>
                                          </p:stCondLst>
                                        </p:cTn>
                                        <p:tgtEl>
                                          <p:spTgt spid="87"/>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2" nodeType="clickEffect">
                                  <p:stCondLst>
                                    <p:cond delay="0"/>
                                  </p:stCondLst>
                                  <p:childTnLst>
                                    <p:set>
                                      <p:cBhvr>
                                        <p:cTn id="70" dur="1" fill="hold">
                                          <p:stCondLst>
                                            <p:cond delay="0"/>
                                          </p:stCondLst>
                                        </p:cTn>
                                        <p:tgtEl>
                                          <p:spTgt spid="7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2" nodeType="clickEffect">
                                  <p:stCondLst>
                                    <p:cond delay="0"/>
                                  </p:stCondLst>
                                  <p:childTnLst>
                                    <p:set>
                                      <p:cBhvr>
                                        <p:cTn id="74" dur="1" fill="hold">
                                          <p:stCondLst>
                                            <p:cond delay="0"/>
                                          </p:stCondLst>
                                        </p:cTn>
                                        <p:tgtEl>
                                          <p:spTgt spid="9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2" presetClass="path" presetSubtype="0" accel="50000" decel="50000" fill="hold" nodeType="clickEffect">
                                  <p:stCondLst>
                                    <p:cond delay="0"/>
                                  </p:stCondLst>
                                  <p:childTnLst>
                                    <p:animMotion origin="layout" path="M 0.22748 -0.00509 L 0.26029 -0.00509 " pathEditMode="relative" rAng="0" ptsTypes="AA">
                                      <p:cBhvr>
                                        <p:cTn id="78" dur="2000" fill="hold"/>
                                        <p:tgtEl>
                                          <p:spTgt spid="27"/>
                                        </p:tgtEl>
                                        <p:attrNameLst>
                                          <p:attrName>ppt_x</p:attrName>
                                          <p:attrName>ppt_y</p:attrName>
                                        </p:attrNameLst>
                                      </p:cBhvr>
                                      <p:rCtr x="1641" y="0"/>
                                    </p:animMotion>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9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nodeType="clickEffect">
                                  <p:stCondLst>
                                    <p:cond delay="0"/>
                                  </p:stCondLst>
                                  <p:childTnLst>
                                    <p:animMotion origin="layout" path="M 0.26029 -0.00509 L 0.29232 -0.00509 " pathEditMode="relative" rAng="0" ptsTypes="AA">
                                      <p:cBhvr>
                                        <p:cTn id="86" dur="2000" fill="hold"/>
                                        <p:tgtEl>
                                          <p:spTgt spid="27"/>
                                        </p:tgtEl>
                                        <p:attrNameLst>
                                          <p:attrName>ppt_x</p:attrName>
                                          <p:attrName>ppt_y</p:attrName>
                                        </p:attrNameLst>
                                      </p:cBhvr>
                                      <p:rCtr x="1602" y="0"/>
                                    </p:animMotion>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2" nodeType="clickEffect">
                                  <p:stCondLst>
                                    <p:cond delay="0"/>
                                  </p:stCondLst>
                                  <p:childTnLst>
                                    <p:set>
                                      <p:cBhvr>
                                        <p:cTn id="90" dur="1" fill="hold">
                                          <p:stCondLst>
                                            <p:cond delay="0"/>
                                          </p:stCondLst>
                                        </p:cTn>
                                        <p:tgtEl>
                                          <p:spTgt spid="97"/>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3" nodeType="clickEffect">
                                  <p:stCondLst>
                                    <p:cond delay="0"/>
                                  </p:stCondLst>
                                  <p:childTnLst>
                                    <p:set>
                                      <p:cBhvr>
                                        <p:cTn id="94" dur="1" fill="hold">
                                          <p:stCondLst>
                                            <p:cond delay="0"/>
                                          </p:stCondLst>
                                        </p:cTn>
                                        <p:tgtEl>
                                          <p:spTgt spid="92"/>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2" nodeType="click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42" presetClass="path" presetSubtype="0" accel="50000" decel="50000" fill="hold" nodeType="clickEffect">
                                  <p:stCondLst>
                                    <p:cond delay="0"/>
                                  </p:stCondLst>
                                  <p:childTnLst>
                                    <p:animMotion origin="layout" path="M 0.29232 -0.00509 L 0.31576 -0.00509 " pathEditMode="relative" rAng="0" ptsTypes="AA">
                                      <p:cBhvr>
                                        <p:cTn id="102" dur="2000" fill="hold"/>
                                        <p:tgtEl>
                                          <p:spTgt spid="27"/>
                                        </p:tgtEl>
                                        <p:attrNameLst>
                                          <p:attrName>ppt_x</p:attrName>
                                          <p:attrName>ppt_y</p:attrName>
                                        </p:attrNameLst>
                                      </p:cBhvr>
                                      <p:rCtr x="1172" y="0"/>
                                    </p:animMotion>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3" nodeType="clickEffect">
                                  <p:stCondLst>
                                    <p:cond delay="0"/>
                                  </p:stCondLst>
                                  <p:childTnLst>
                                    <p:set>
                                      <p:cBhvr>
                                        <p:cTn id="106" dur="1" fill="hold">
                                          <p:stCondLst>
                                            <p:cond delay="0"/>
                                          </p:stCondLst>
                                        </p:cTn>
                                        <p:tgtEl>
                                          <p:spTgt spid="10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3" nodeType="clickEffect">
                                  <p:stCondLst>
                                    <p:cond delay="0"/>
                                  </p:stCondLst>
                                  <p:childTnLst>
                                    <p:set>
                                      <p:cBhvr>
                                        <p:cTn id="110" dur="1" fill="hold">
                                          <p:stCondLst>
                                            <p:cond delay="0"/>
                                          </p:stCondLst>
                                        </p:cTn>
                                        <p:tgtEl>
                                          <p:spTgt spid="7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2" nodeType="clickEffect">
                                  <p:stCondLst>
                                    <p:cond delay="0"/>
                                  </p:stCondLst>
                                  <p:childTnLst>
                                    <p:set>
                                      <p:cBhvr>
                                        <p:cTn id="114" dur="1" fill="hold">
                                          <p:stCondLst>
                                            <p:cond delay="0"/>
                                          </p:stCondLst>
                                        </p:cTn>
                                        <p:tgtEl>
                                          <p:spTgt spid="10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42" presetClass="path" presetSubtype="0" accel="50000" decel="50000" fill="hold" nodeType="clickEffect">
                                  <p:stCondLst>
                                    <p:cond delay="0"/>
                                  </p:stCondLst>
                                  <p:childTnLst>
                                    <p:animMotion origin="layout" path="M 0.31575 -0.00509 L 0.35091 -0.00509 " pathEditMode="relative" rAng="0" ptsTypes="AA">
                                      <p:cBhvr>
                                        <p:cTn id="118" dur="2000" fill="hold"/>
                                        <p:tgtEl>
                                          <p:spTgt spid="27"/>
                                        </p:tgtEl>
                                        <p:attrNameLst>
                                          <p:attrName>ppt_x</p:attrName>
                                          <p:attrName>ppt_y</p:attrName>
                                        </p:attrNameLst>
                                      </p:cBhvr>
                                      <p:rCtr x="1602" y="0"/>
                                    </p:animMotion>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3" nodeType="clickEffect">
                                  <p:stCondLst>
                                    <p:cond delay="0"/>
                                  </p:stCondLst>
                                  <p:childTnLst>
                                    <p:set>
                                      <p:cBhvr>
                                        <p:cTn id="122" dur="1" fill="hold">
                                          <p:stCondLst>
                                            <p:cond delay="0"/>
                                          </p:stCondLst>
                                        </p:cTn>
                                        <p:tgtEl>
                                          <p:spTgt spid="109"/>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2" nodeType="clickEffect">
                                  <p:stCondLst>
                                    <p:cond delay="0"/>
                                  </p:stCondLst>
                                  <p:childTnLst>
                                    <p:set>
                                      <p:cBhvr>
                                        <p:cTn id="126" dur="1" fill="hold">
                                          <p:stCondLst>
                                            <p:cond delay="0"/>
                                          </p:stCondLst>
                                        </p:cTn>
                                        <p:tgtEl>
                                          <p:spTgt spid="51"/>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2" nodeType="clickEffect">
                                  <p:stCondLst>
                                    <p:cond delay="0"/>
                                  </p:stCondLst>
                                  <p:childTnLst>
                                    <p:set>
                                      <p:cBhvr>
                                        <p:cTn id="130" dur="1" fill="hold">
                                          <p:stCondLst>
                                            <p:cond delay="0"/>
                                          </p:stCondLst>
                                        </p:cTn>
                                        <p:tgtEl>
                                          <p:spTgt spid="12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127"/>
                                        </p:tgtEl>
                                        <p:attrNameLst>
                                          <p:attrName>style.visibility</p:attrName>
                                        </p:attrNameLst>
                                      </p:cBhvr>
                                      <p:to>
                                        <p:strVal val="visible"/>
                                      </p:to>
                                    </p:set>
                                    <p:animEffect transition="in" filter="fade">
                                      <p:cBhvr>
                                        <p:cTn id="135" dur="500"/>
                                        <p:tgtEl>
                                          <p:spTgt spid="12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22"/>
                                        </p:tgtEl>
                                        <p:attrNameLst>
                                          <p:attrName>style.visibility</p:attrName>
                                        </p:attrNameLst>
                                      </p:cBhvr>
                                      <p:to>
                                        <p:strVal val="visible"/>
                                      </p:to>
                                    </p:set>
                                    <p:animEffect transition="in" filter="fade">
                                      <p:cBhvr>
                                        <p:cTn id="138" dur="500"/>
                                        <p:tgtEl>
                                          <p:spTgt spid="122"/>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animBg="1"/>
      <p:bldP spid="14" grpId="0" animBg="1"/>
      <p:bldP spid="15" grpId="0" animBg="1"/>
      <p:bldP spid="16" grpId="0" animBg="1"/>
      <p:bldP spid="17" grpId="0" animBg="1"/>
      <p:bldP spid="17" grpId="1" animBg="1"/>
      <p:bldP spid="18" grpId="0" animBg="1"/>
      <p:bldP spid="18" grpId="1" animBg="1"/>
      <p:bldP spid="19" grpId="0" animBg="1"/>
      <p:bldP spid="19" grpId="1" animBg="1"/>
      <p:bldP spid="20" grpId="0" animBg="1"/>
      <p:bldP spid="20" grpId="1" animBg="1"/>
      <p:bldP spid="25" grpId="0" animBg="1"/>
      <p:bldP spid="51" grpId="0" animBg="1"/>
      <p:bldP spid="51" grpId="1" animBg="1"/>
      <p:bldP spid="51" grpId="2" animBg="1"/>
      <p:bldP spid="60" grpId="0" animBg="1"/>
      <p:bldP spid="60" grpId="1" animBg="1"/>
      <p:bldP spid="60" grpId="2" animBg="1"/>
      <p:bldP spid="66" grpId="0" animBg="1"/>
      <p:bldP spid="66" grpId="1" animBg="1"/>
      <p:bldP spid="66" grpId="2" animBg="1"/>
      <p:bldP spid="71" grpId="0" animBg="1"/>
      <p:bldP spid="71" grpId="1" animBg="1"/>
      <p:bldP spid="71" grpId="2" animBg="1"/>
      <p:bldP spid="71" grpId="3" animBg="1"/>
      <p:bldP spid="76" grpId="0" animBg="1"/>
      <p:bldP spid="76" grpId="1" animBg="1"/>
      <p:bldP spid="76" grpId="2" animBg="1"/>
      <p:bldP spid="87" grpId="0" animBg="1"/>
      <p:bldP spid="87" grpId="1" animBg="1"/>
      <p:bldP spid="87" grpId="2" animBg="1"/>
      <p:bldP spid="92" grpId="0" animBg="1"/>
      <p:bldP spid="92" grpId="1" animBg="1"/>
      <p:bldP spid="92" grpId="2" animBg="1"/>
      <p:bldP spid="92" grpId="3" animBg="1"/>
      <p:bldP spid="97" grpId="0" animBg="1"/>
      <p:bldP spid="97" grpId="1" animBg="1"/>
      <p:bldP spid="97" grpId="2" animBg="1"/>
      <p:bldP spid="102" grpId="0" animBg="1"/>
      <p:bldP spid="102" grpId="1" animBg="1"/>
      <p:bldP spid="102" grpId="2" animBg="1"/>
      <p:bldP spid="102" grpId="3" animBg="1"/>
      <p:bldP spid="109" grpId="0" animBg="1"/>
      <p:bldP spid="109" grpId="1" animBg="1"/>
      <p:bldP spid="109" grpId="2" animBg="1"/>
      <p:bldP spid="109" grpId="3" animBg="1"/>
      <p:bldP spid="126" grpId="0" animBg="1"/>
      <p:bldP spid="126" grpId="1" animBg="1"/>
      <p:bldP spid="126" grpId="2" animBg="1"/>
      <p:bldP spid="127" grpId="0" animBg="1"/>
      <p:bldP spid="122" grpId="0" animBg="1"/>
      <p:bldP spid="12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a:extLst>
              <a:ext uri="{FF2B5EF4-FFF2-40B4-BE49-F238E27FC236}">
                <a16:creationId xmlns:a16="http://schemas.microsoft.com/office/drawing/2014/main" id="{AA25DD58-AD8F-48FF-B68F-A6D130DDFD5B}"/>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中缀表达式求值</a:t>
            </a:r>
          </a:p>
        </p:txBody>
      </p:sp>
      <p:sp>
        <p:nvSpPr>
          <p:cNvPr id="2" name="副标题 1">
            <a:extLst>
              <a:ext uri="{FF2B5EF4-FFF2-40B4-BE49-F238E27FC236}">
                <a16:creationId xmlns:a16="http://schemas.microsoft.com/office/drawing/2014/main" id="{159D6451-F8E4-457B-B418-1CBE05BC3ADF}"/>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2F6D8347-8D7A-45D2-A265-4A07278FE059}"/>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28A443BA-D462-4B43-B9A1-55198EA68EE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中缀表达式  </a:t>
            </a:r>
            <a:r>
              <a:rPr kumimoji="0"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kumimoji="0" lang="zh-CN" altLang="zh-CN" sz="2800" dirty="0">
                <a:latin typeface="微软雅黑" panose="020B0503020204020204" pitchFamily="34" charset="-122"/>
                <a:ea typeface="微软雅黑" panose="020B0503020204020204" pitchFamily="34" charset="-122"/>
              </a:rPr>
              <a:t>后缀表达式</a:t>
            </a:r>
            <a:endParaRPr kumimoji="0" lang="en-US" altLang="zh-CN" sz="2800" dirty="0">
              <a:latin typeface="微软雅黑" panose="020B0503020204020204" pitchFamily="34" charset="-122"/>
              <a:ea typeface="微软雅黑" panose="020B0503020204020204" pitchFamily="34" charset="-122"/>
            </a:endParaRPr>
          </a:p>
          <a:p>
            <a:pPr marL="357188" indent="-357188">
              <a:buSzPct val="80000"/>
              <a:buFont typeface="Wingdings" panose="05000000000000000000" pitchFamily="2" charset="2"/>
              <a:buChar char="l"/>
            </a:pPr>
            <a:endParaRPr kumimoji="0" lang="en-US" altLang="zh-CN" sz="2800" dirty="0">
              <a:latin typeface="微软雅黑" panose="020B0503020204020204" pitchFamily="34" charset="-122"/>
              <a:ea typeface="微软雅黑" panose="020B0503020204020204" pitchFamily="34" charset="-122"/>
            </a:endParaRPr>
          </a:p>
          <a:p>
            <a:pPr marL="357188" indent="-357188">
              <a:buSzPct val="80000"/>
              <a:buFont typeface="Wingdings" panose="05000000000000000000" pitchFamily="2" charset="2"/>
              <a:buChar char="l"/>
            </a:pPr>
            <a:r>
              <a:rPr kumimoji="0" lang="zh-CN" altLang="zh-CN" sz="2800" dirty="0">
                <a:solidFill>
                  <a:srgbClr val="0000FF"/>
                </a:solidFill>
                <a:latin typeface="微软雅黑" panose="020B0503020204020204" pitchFamily="34" charset="-122"/>
                <a:ea typeface="微软雅黑" panose="020B0503020204020204" pitchFamily="34" charset="-122"/>
              </a:rPr>
              <a:t>直接计算   </a:t>
            </a:r>
            <a:r>
              <a:rPr kumimoji="0" lang="en-US" altLang="zh-CN" sz="2800" dirty="0">
                <a:latin typeface="微软雅黑" panose="020B0503020204020204" pitchFamily="34" charset="-122"/>
                <a:ea typeface="微软雅黑" panose="020B0503020204020204" pitchFamily="34" charset="-122"/>
              </a:rPr>
              <a:t>how to </a:t>
            </a:r>
            <a:r>
              <a:rPr kumimoji="0" lang="zh-CN" altLang="zh-CN" sz="28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150000"/>
              </a:lnSpc>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dirty="0"/>
              <a:t>设计</a:t>
            </a:r>
            <a:r>
              <a:rPr lang="zh-CN" altLang="en-US" sz="2400" dirty="0">
                <a:latin typeface="微软雅黑" panose="020B0503020204020204" pitchFamily="34" charset="-122"/>
                <a:ea typeface="微软雅黑" panose="020B0503020204020204" pitchFamily="34" charset="-122"/>
              </a:rPr>
              <a:t>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graphicFrame>
        <p:nvGraphicFramePr>
          <p:cNvPr id="35" name="Group 35">
            <a:extLst>
              <a:ext uri="{FF2B5EF4-FFF2-40B4-BE49-F238E27FC236}">
                <a16:creationId xmlns:a16="http://schemas.microsoft.com/office/drawing/2014/main" id="{FAC7701D-5BBC-46C7-9532-52042CA3F47E}"/>
              </a:ext>
            </a:extLst>
          </p:cNvPr>
          <p:cNvGraphicFramePr>
            <a:graphicFrameLocks/>
          </p:cNvGraphicFramePr>
          <p:nvPr>
            <p:extLst>
              <p:ext uri="{D42A27DB-BD31-4B8C-83A1-F6EECF244321}">
                <p14:modId xmlns:p14="http://schemas.microsoft.com/office/powerpoint/2010/main" val="2380778014"/>
              </p:ext>
            </p:extLst>
          </p:nvPr>
        </p:nvGraphicFramePr>
        <p:xfrm>
          <a:off x="1383166" y="2505657"/>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文本框 3">
            <a:extLst>
              <a:ext uri="{FF2B5EF4-FFF2-40B4-BE49-F238E27FC236}">
                <a16:creationId xmlns:a16="http://schemas.microsoft.com/office/drawing/2014/main" id="{89861448-CECF-4DE1-B53C-BD573E2E0CAA}"/>
              </a:ext>
            </a:extLst>
          </p:cNvPr>
          <p:cNvSpPr txBox="1"/>
          <p:nvPr/>
        </p:nvSpPr>
        <p:spPr>
          <a:xfrm>
            <a:off x="1805202" y="4863550"/>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7" name="文本框 36">
            <a:extLst>
              <a:ext uri="{FF2B5EF4-FFF2-40B4-BE49-F238E27FC236}">
                <a16:creationId xmlns:a16="http://schemas.microsoft.com/office/drawing/2014/main" id="{2D6A5EAC-FCA8-4836-BBF2-2BA53B70280F}"/>
              </a:ext>
            </a:extLst>
          </p:cNvPr>
          <p:cNvSpPr txBox="1"/>
          <p:nvPr/>
        </p:nvSpPr>
        <p:spPr>
          <a:xfrm>
            <a:off x="1805202" y="4308381"/>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8" name="文本框 37">
            <a:extLst>
              <a:ext uri="{FF2B5EF4-FFF2-40B4-BE49-F238E27FC236}">
                <a16:creationId xmlns:a16="http://schemas.microsoft.com/office/drawing/2014/main" id="{261CA0F7-8A52-424C-8F0C-F88E608956E7}"/>
              </a:ext>
            </a:extLst>
          </p:cNvPr>
          <p:cNvSpPr txBox="1"/>
          <p:nvPr/>
        </p:nvSpPr>
        <p:spPr>
          <a:xfrm>
            <a:off x="1727457" y="3731355"/>
            <a:ext cx="495649" cy="461665"/>
          </a:xfrm>
          <a:prstGeom prst="rect">
            <a:avLst/>
          </a:prstGeom>
          <a:noFill/>
        </p:spPr>
        <p:txBody>
          <a:bodyPr wrap="none" rtlCol="0">
            <a:spAutoFit/>
          </a:bodyPr>
          <a:lstStyle/>
          <a:p>
            <a:r>
              <a:rPr lang="en-US" altLang="zh-CN" sz="2400" dirty="0">
                <a:solidFill>
                  <a:srgbClr val="C00000"/>
                </a:solidFill>
              </a:rPr>
              <a:t>10</a:t>
            </a:r>
            <a:endParaRPr lang="zh-CN" altLang="en-US" sz="2400" dirty="0">
              <a:solidFill>
                <a:srgbClr val="C00000"/>
              </a:solidFill>
            </a:endParaRPr>
          </a:p>
        </p:txBody>
      </p:sp>
      <p:sp>
        <p:nvSpPr>
          <p:cNvPr id="39" name="文本框 38">
            <a:extLst>
              <a:ext uri="{FF2B5EF4-FFF2-40B4-BE49-F238E27FC236}">
                <a16:creationId xmlns:a16="http://schemas.microsoft.com/office/drawing/2014/main" id="{0A6CF40C-3146-467F-90E1-CBDBA41D2EC4}"/>
              </a:ext>
            </a:extLst>
          </p:cNvPr>
          <p:cNvSpPr txBox="1"/>
          <p:nvPr/>
        </p:nvSpPr>
        <p:spPr>
          <a:xfrm>
            <a:off x="1805202" y="3176187"/>
            <a:ext cx="340158" cy="461665"/>
          </a:xfrm>
          <a:prstGeom prst="rect">
            <a:avLst/>
          </a:prstGeom>
          <a:noFill/>
        </p:spPr>
        <p:txBody>
          <a:bodyPr wrap="none" rtlCol="0">
            <a:spAutoFit/>
          </a:bodyPr>
          <a:lstStyle/>
          <a:p>
            <a:r>
              <a:rPr lang="en-US" altLang="zh-CN" sz="2400" dirty="0"/>
              <a:t>8</a:t>
            </a:r>
            <a:endParaRPr lang="zh-CN" altLang="en-US" sz="2400" dirty="0"/>
          </a:p>
        </p:txBody>
      </p:sp>
      <p:sp>
        <p:nvSpPr>
          <p:cNvPr id="5" name="文本框 4">
            <a:extLst>
              <a:ext uri="{FF2B5EF4-FFF2-40B4-BE49-F238E27FC236}">
                <a16:creationId xmlns:a16="http://schemas.microsoft.com/office/drawing/2014/main" id="{04BFFED9-7F49-457E-BBA0-33832BF2FCB1}"/>
              </a:ext>
            </a:extLst>
          </p:cNvPr>
          <p:cNvSpPr txBox="1"/>
          <p:nvPr/>
        </p:nvSpPr>
        <p:spPr>
          <a:xfrm>
            <a:off x="428351" y="5662236"/>
            <a:ext cx="3093860" cy="369332"/>
          </a:xfrm>
          <a:prstGeom prst="rect">
            <a:avLst/>
          </a:prstGeom>
          <a:solidFill>
            <a:srgbClr val="009999"/>
          </a:solid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执行</a:t>
            </a:r>
            <a:r>
              <a:rPr lang="en-US" altLang="zh-CN" dirty="0" err="1">
                <a:solidFill>
                  <a:schemeClr val="bg1"/>
                </a:solidFill>
                <a:latin typeface="微软雅黑" panose="020B0503020204020204" pitchFamily="34" charset="-122"/>
                <a:ea typeface="微软雅黑" panose="020B0503020204020204" pitchFamily="34" charset="-122"/>
              </a:rPr>
              <a:t>getMaxValue</a:t>
            </a: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返回</a:t>
            </a:r>
            <a:r>
              <a:rPr lang="en-US" altLang="zh-CN" dirty="0">
                <a:solidFill>
                  <a:schemeClr val="bg1"/>
                </a:solidFill>
                <a:latin typeface="微软雅黑" panose="020B0503020204020204" pitchFamily="34" charset="-122"/>
                <a:ea typeface="微软雅黑" panose="020B0503020204020204" pitchFamily="34" charset="-122"/>
              </a:rPr>
              <a:t>10</a:t>
            </a:r>
            <a:endParaRPr lang="zh-CN" altLang="en-US" dirty="0">
              <a:solidFill>
                <a:schemeClr val="bg1"/>
              </a:solidFill>
              <a:latin typeface="微软雅黑" panose="020B0503020204020204" pitchFamily="34" charset="-122"/>
              <a:ea typeface="微软雅黑" panose="020B0503020204020204" pitchFamily="34" charset="-122"/>
            </a:endParaRPr>
          </a:p>
        </p:txBody>
      </p:sp>
      <p:graphicFrame>
        <p:nvGraphicFramePr>
          <p:cNvPr id="42" name="Group 35">
            <a:extLst>
              <a:ext uri="{FF2B5EF4-FFF2-40B4-BE49-F238E27FC236}">
                <a16:creationId xmlns:a16="http://schemas.microsoft.com/office/drawing/2014/main" id="{3AB66BA9-A57D-44A5-8B3E-F239282F4504}"/>
              </a:ext>
            </a:extLst>
          </p:cNvPr>
          <p:cNvGraphicFramePr>
            <a:graphicFrameLocks/>
          </p:cNvGraphicFramePr>
          <p:nvPr>
            <p:extLst>
              <p:ext uri="{D42A27DB-BD31-4B8C-83A1-F6EECF244321}">
                <p14:modId xmlns:p14="http://schemas.microsoft.com/office/powerpoint/2010/main" val="1239610867"/>
              </p:ext>
            </p:extLst>
          </p:nvPr>
        </p:nvGraphicFramePr>
        <p:xfrm>
          <a:off x="5387043" y="2505657"/>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3" name="文本框 42">
            <a:extLst>
              <a:ext uri="{FF2B5EF4-FFF2-40B4-BE49-F238E27FC236}">
                <a16:creationId xmlns:a16="http://schemas.microsoft.com/office/drawing/2014/main" id="{E45A357F-7AF8-4750-A398-4F948C4AEAF7}"/>
              </a:ext>
            </a:extLst>
          </p:cNvPr>
          <p:cNvSpPr txBox="1"/>
          <p:nvPr/>
        </p:nvSpPr>
        <p:spPr>
          <a:xfrm>
            <a:off x="5809079" y="4863550"/>
            <a:ext cx="340158" cy="461665"/>
          </a:xfrm>
          <a:prstGeom prst="rect">
            <a:avLst/>
          </a:prstGeom>
          <a:noFill/>
        </p:spPr>
        <p:txBody>
          <a:bodyPr wrap="none" rtlCol="0">
            <a:spAutoFit/>
          </a:bodyPr>
          <a:lstStyle/>
          <a:p>
            <a:r>
              <a:rPr lang="en-US" altLang="zh-CN" sz="2400" dirty="0">
                <a:solidFill>
                  <a:srgbClr val="C00000"/>
                </a:solidFill>
              </a:rPr>
              <a:t>5</a:t>
            </a:r>
            <a:endParaRPr lang="zh-CN" altLang="en-US" sz="2400" dirty="0">
              <a:solidFill>
                <a:srgbClr val="C00000"/>
              </a:solidFill>
            </a:endParaRPr>
          </a:p>
        </p:txBody>
      </p:sp>
      <p:sp>
        <p:nvSpPr>
          <p:cNvPr id="44" name="文本框 43">
            <a:extLst>
              <a:ext uri="{FF2B5EF4-FFF2-40B4-BE49-F238E27FC236}">
                <a16:creationId xmlns:a16="http://schemas.microsoft.com/office/drawing/2014/main" id="{A9460520-7BCF-4E7F-A336-5814A3DCBC0C}"/>
              </a:ext>
            </a:extLst>
          </p:cNvPr>
          <p:cNvSpPr txBox="1"/>
          <p:nvPr/>
        </p:nvSpPr>
        <p:spPr>
          <a:xfrm>
            <a:off x="5809079" y="4308381"/>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47" name="文本框 46">
            <a:extLst>
              <a:ext uri="{FF2B5EF4-FFF2-40B4-BE49-F238E27FC236}">
                <a16:creationId xmlns:a16="http://schemas.microsoft.com/office/drawing/2014/main" id="{2B14E161-57D6-4233-956F-057F9D402B9B}"/>
              </a:ext>
            </a:extLst>
          </p:cNvPr>
          <p:cNvSpPr txBox="1"/>
          <p:nvPr/>
        </p:nvSpPr>
        <p:spPr>
          <a:xfrm>
            <a:off x="4432228" y="5662236"/>
            <a:ext cx="2959208" cy="369332"/>
          </a:xfrm>
          <a:prstGeom prst="rect">
            <a:avLst/>
          </a:prstGeom>
          <a:solidFill>
            <a:srgbClr val="009999"/>
          </a:solid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执行</a:t>
            </a:r>
            <a:r>
              <a:rPr lang="en-US" altLang="zh-CN" dirty="0" err="1">
                <a:solidFill>
                  <a:schemeClr val="bg1"/>
                </a:solidFill>
                <a:latin typeface="微软雅黑" panose="020B0503020204020204" pitchFamily="34" charset="-122"/>
                <a:ea typeface="微软雅黑" panose="020B0503020204020204" pitchFamily="34" charset="-122"/>
              </a:rPr>
              <a:t>getMaxValue</a:t>
            </a: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返回</a:t>
            </a:r>
            <a:r>
              <a:rPr lang="en-US" altLang="zh-CN" dirty="0">
                <a:solidFill>
                  <a:schemeClr val="bg1"/>
                </a:solidFill>
                <a:latin typeface="微软雅黑" panose="020B0503020204020204" pitchFamily="34" charset="-122"/>
                <a:ea typeface="微软雅黑" panose="020B0503020204020204" pitchFamily="34" charset="-122"/>
              </a:rPr>
              <a:t>5</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6" name="箭头: 右 5">
            <a:extLst>
              <a:ext uri="{FF2B5EF4-FFF2-40B4-BE49-F238E27FC236}">
                <a16:creationId xmlns:a16="http://schemas.microsoft.com/office/drawing/2014/main" id="{79DBB271-8780-4C9A-AF00-36383C227D1F}"/>
              </a:ext>
            </a:extLst>
          </p:cNvPr>
          <p:cNvSpPr/>
          <p:nvPr/>
        </p:nvSpPr>
        <p:spPr>
          <a:xfrm>
            <a:off x="3292383" y="3731355"/>
            <a:ext cx="1060378" cy="670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E12C7DD-C46B-42D8-9426-7B613C61CB9C}"/>
              </a:ext>
            </a:extLst>
          </p:cNvPr>
          <p:cNvSpPr txBox="1"/>
          <p:nvPr/>
        </p:nvSpPr>
        <p:spPr>
          <a:xfrm>
            <a:off x="7406224" y="3232043"/>
            <a:ext cx="894797" cy="369332"/>
          </a:xfrm>
          <a:prstGeom prst="rect">
            <a:avLst/>
          </a:prstGeom>
          <a:noFill/>
        </p:spPr>
        <p:txBody>
          <a:bodyPr wrap="none" rtlCol="0">
            <a:spAutoFit/>
          </a:bodyPr>
          <a:lstStyle/>
          <a:p>
            <a:r>
              <a:rPr lang="en-US" altLang="zh-CN" dirty="0"/>
              <a:t>Push(7)</a:t>
            </a:r>
          </a:p>
        </p:txBody>
      </p:sp>
      <p:sp>
        <p:nvSpPr>
          <p:cNvPr id="50" name="箭头: 右 49">
            <a:extLst>
              <a:ext uri="{FF2B5EF4-FFF2-40B4-BE49-F238E27FC236}">
                <a16:creationId xmlns:a16="http://schemas.microsoft.com/office/drawing/2014/main" id="{D62AC308-946B-4005-93E7-DC5CA560086F}"/>
              </a:ext>
            </a:extLst>
          </p:cNvPr>
          <p:cNvSpPr/>
          <p:nvPr/>
        </p:nvSpPr>
        <p:spPr>
          <a:xfrm>
            <a:off x="7509960" y="3732160"/>
            <a:ext cx="1060378" cy="670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2" name="Group 35">
            <a:extLst>
              <a:ext uri="{FF2B5EF4-FFF2-40B4-BE49-F238E27FC236}">
                <a16:creationId xmlns:a16="http://schemas.microsoft.com/office/drawing/2014/main" id="{0598E579-AA44-439B-8B96-7B2BE2C07EB9}"/>
              </a:ext>
            </a:extLst>
          </p:cNvPr>
          <p:cNvGraphicFramePr>
            <a:graphicFrameLocks/>
          </p:cNvGraphicFramePr>
          <p:nvPr>
            <p:extLst>
              <p:ext uri="{D42A27DB-BD31-4B8C-83A1-F6EECF244321}">
                <p14:modId xmlns:p14="http://schemas.microsoft.com/office/powerpoint/2010/main" val="363654612"/>
              </p:ext>
            </p:extLst>
          </p:nvPr>
        </p:nvGraphicFramePr>
        <p:xfrm>
          <a:off x="9483032" y="2505657"/>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3" name="文本框 52">
            <a:extLst>
              <a:ext uri="{FF2B5EF4-FFF2-40B4-BE49-F238E27FC236}">
                <a16:creationId xmlns:a16="http://schemas.microsoft.com/office/drawing/2014/main" id="{85CF4796-63B4-4A0E-99F4-7FE92B6147FE}"/>
              </a:ext>
            </a:extLst>
          </p:cNvPr>
          <p:cNvSpPr txBox="1"/>
          <p:nvPr/>
        </p:nvSpPr>
        <p:spPr>
          <a:xfrm>
            <a:off x="9905068" y="4863550"/>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54" name="文本框 53">
            <a:extLst>
              <a:ext uri="{FF2B5EF4-FFF2-40B4-BE49-F238E27FC236}">
                <a16:creationId xmlns:a16="http://schemas.microsoft.com/office/drawing/2014/main" id="{06705E4D-E855-4EA9-AA3D-9A5951ED760A}"/>
              </a:ext>
            </a:extLst>
          </p:cNvPr>
          <p:cNvSpPr txBox="1"/>
          <p:nvPr/>
        </p:nvSpPr>
        <p:spPr>
          <a:xfrm>
            <a:off x="9905068" y="4308381"/>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55" name="文本框 54">
            <a:extLst>
              <a:ext uri="{FF2B5EF4-FFF2-40B4-BE49-F238E27FC236}">
                <a16:creationId xmlns:a16="http://schemas.microsoft.com/office/drawing/2014/main" id="{DD24E336-BA1B-4709-964B-F8376475FD5A}"/>
              </a:ext>
            </a:extLst>
          </p:cNvPr>
          <p:cNvSpPr txBox="1"/>
          <p:nvPr/>
        </p:nvSpPr>
        <p:spPr>
          <a:xfrm>
            <a:off x="8528217" y="5662236"/>
            <a:ext cx="2959208" cy="369332"/>
          </a:xfrm>
          <a:prstGeom prst="rect">
            <a:avLst/>
          </a:prstGeom>
          <a:solidFill>
            <a:srgbClr val="009999"/>
          </a:solid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执行</a:t>
            </a:r>
            <a:r>
              <a:rPr lang="en-US" altLang="zh-CN" dirty="0" err="1">
                <a:solidFill>
                  <a:schemeClr val="bg1"/>
                </a:solidFill>
                <a:latin typeface="微软雅黑" panose="020B0503020204020204" pitchFamily="34" charset="-122"/>
                <a:ea typeface="微软雅黑" panose="020B0503020204020204" pitchFamily="34" charset="-122"/>
              </a:rPr>
              <a:t>getMaxValue</a:t>
            </a: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返回</a:t>
            </a:r>
            <a:r>
              <a:rPr lang="en-US" altLang="zh-CN" dirty="0">
                <a:solidFill>
                  <a:schemeClr val="bg1"/>
                </a:solidFill>
                <a:latin typeface="微软雅黑" panose="020B0503020204020204" pitchFamily="34" charset="-122"/>
                <a:ea typeface="微软雅黑" panose="020B0503020204020204" pitchFamily="34" charset="-122"/>
              </a:rPr>
              <a:t>7</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AA54FB47-DEC0-4F48-AB1A-981EACBB9E2B}"/>
              </a:ext>
            </a:extLst>
          </p:cNvPr>
          <p:cNvSpPr txBox="1"/>
          <p:nvPr/>
        </p:nvSpPr>
        <p:spPr>
          <a:xfrm>
            <a:off x="3376161" y="3126645"/>
            <a:ext cx="683392" cy="646331"/>
          </a:xfrm>
          <a:prstGeom prst="rect">
            <a:avLst/>
          </a:prstGeom>
          <a:noFill/>
        </p:spPr>
        <p:txBody>
          <a:bodyPr wrap="none" rtlCol="0">
            <a:spAutoFit/>
          </a:bodyPr>
          <a:lstStyle/>
          <a:p>
            <a:r>
              <a:rPr lang="en-US" altLang="zh-CN" dirty="0"/>
              <a:t>Pop()</a:t>
            </a:r>
          </a:p>
          <a:p>
            <a:r>
              <a:rPr lang="en-US" altLang="zh-CN" dirty="0"/>
              <a:t>Pop()</a:t>
            </a:r>
            <a:endParaRPr lang="zh-CN" altLang="en-US" dirty="0"/>
          </a:p>
        </p:txBody>
      </p:sp>
      <p:sp>
        <p:nvSpPr>
          <p:cNvPr id="57" name="文本框 56">
            <a:extLst>
              <a:ext uri="{FF2B5EF4-FFF2-40B4-BE49-F238E27FC236}">
                <a16:creationId xmlns:a16="http://schemas.microsoft.com/office/drawing/2014/main" id="{AA4F0338-832B-449A-AC86-77550C2CBC7B}"/>
              </a:ext>
            </a:extLst>
          </p:cNvPr>
          <p:cNvSpPr txBox="1"/>
          <p:nvPr/>
        </p:nvSpPr>
        <p:spPr>
          <a:xfrm>
            <a:off x="9905068" y="3750494"/>
            <a:ext cx="340158" cy="461665"/>
          </a:xfrm>
          <a:prstGeom prst="rect">
            <a:avLst/>
          </a:prstGeom>
          <a:noFill/>
        </p:spPr>
        <p:txBody>
          <a:bodyPr wrap="none" rtlCol="0">
            <a:spAutoFit/>
          </a:bodyPr>
          <a:lstStyle/>
          <a:p>
            <a:r>
              <a:rPr lang="en-US" altLang="zh-CN" sz="2400" dirty="0">
                <a:solidFill>
                  <a:srgbClr val="C00000"/>
                </a:solidFill>
              </a:rPr>
              <a:t>7</a:t>
            </a:r>
            <a:endParaRPr lang="zh-CN" altLang="en-US" sz="2400" dirty="0">
              <a:solidFill>
                <a:srgbClr val="C00000"/>
              </a:solidFill>
            </a:endParaRPr>
          </a:p>
        </p:txBody>
      </p:sp>
    </p:spTree>
    <p:extLst>
      <p:ext uri="{BB962C8B-B14F-4D97-AF65-F5344CB8AC3E}">
        <p14:creationId xmlns:p14="http://schemas.microsoft.com/office/powerpoint/2010/main" val="9626733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sz="2400" dirty="0">
                <a:latin typeface="微软雅黑" panose="020B0503020204020204" pitchFamily="34" charset="-122"/>
                <a:ea typeface="微软雅黑" panose="020B0503020204020204" pitchFamily="34" charset="-122"/>
              </a:rPr>
              <a:t>设计一个（成员）函数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2B03533-3CBC-4C1A-BA53-0FC118C4FE8D}"/>
              </a:ext>
            </a:extLst>
          </p:cNvPr>
          <p:cNvSpPr txBox="1"/>
          <p:nvPr/>
        </p:nvSpPr>
        <p:spPr>
          <a:xfrm>
            <a:off x="926906" y="2702608"/>
            <a:ext cx="2582758"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算法一：顺序查找</a:t>
            </a:r>
          </a:p>
        </p:txBody>
      </p:sp>
      <p:sp>
        <p:nvSpPr>
          <p:cNvPr id="26" name="任意多边形: 形状 69">
            <a:extLst>
              <a:ext uri="{FF2B5EF4-FFF2-40B4-BE49-F238E27FC236}">
                <a16:creationId xmlns:a16="http://schemas.microsoft.com/office/drawing/2014/main" id="{8DA195F7-112F-4B51-95D1-9D3AF8889FC5}"/>
              </a:ext>
            </a:extLst>
          </p:cNvPr>
          <p:cNvSpPr/>
          <p:nvPr/>
        </p:nvSpPr>
        <p:spPr>
          <a:xfrm>
            <a:off x="357115" y="3515131"/>
            <a:ext cx="4829993" cy="77684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每次调用函数</a:t>
            </a:r>
            <a:r>
              <a:rPr lang="en-US" altLang="zh-CN" sz="2000" dirty="0" err="1">
                <a:solidFill>
                  <a:schemeClr val="bg1"/>
                </a:solidFill>
                <a:latin typeface="Microsoft YaHei" panose="020B0503020204020204" pitchFamily="34" charset="-122"/>
                <a:ea typeface="Microsoft YaHei" panose="020B0503020204020204" pitchFamily="34" charset="-122"/>
              </a:rPr>
              <a:t>getMaxValue</a:t>
            </a:r>
            <a:r>
              <a:rPr lang="en-US" altLang="zh-CN" sz="2000" dirty="0">
                <a:solidFill>
                  <a:schemeClr val="bg1"/>
                </a:solidFill>
                <a:latin typeface="Microsoft YaHei" panose="020B0503020204020204" pitchFamily="34" charset="-122"/>
                <a:ea typeface="Microsoft YaHei" panose="020B0503020204020204" pitchFamily="34" charset="-122"/>
              </a:rPr>
              <a:t>()</a:t>
            </a:r>
            <a:r>
              <a:rPr lang="zh-CN" altLang="en-US" sz="2000" dirty="0">
                <a:solidFill>
                  <a:schemeClr val="bg1"/>
                </a:solidFill>
                <a:latin typeface="Microsoft YaHei" panose="020B0503020204020204" pitchFamily="34" charset="-122"/>
                <a:ea typeface="Microsoft YaHei" panose="020B0503020204020204" pitchFamily="34" charset="-122"/>
              </a:rPr>
              <a:t>时，查找当前栈中所有元素的最大值</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38E4B9AD-BFA5-48A9-BF3A-0E8BED600D57}"/>
              </a:ext>
            </a:extLst>
          </p:cNvPr>
          <p:cNvSpPr txBox="1"/>
          <p:nvPr/>
        </p:nvSpPr>
        <p:spPr>
          <a:xfrm>
            <a:off x="1057539" y="4646534"/>
            <a:ext cx="3429144"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时间</a:t>
            </a:r>
            <a:r>
              <a:rPr lang="en-US" altLang="zh-CN" dirty="0"/>
              <a:t>O(n), n</a:t>
            </a:r>
            <a:r>
              <a:rPr lang="zh-CN" altLang="en-US" dirty="0"/>
              <a:t>代表栈中元素数量</a:t>
            </a:r>
            <a:endParaRPr lang="en-US" altLang="zh-CN" dirty="0"/>
          </a:p>
          <a:p>
            <a:pPr marL="285750" indent="-285750">
              <a:buFont typeface="Arial" panose="020B0604020202020204" pitchFamily="34" charset="0"/>
              <a:buChar char="•"/>
            </a:pPr>
            <a:r>
              <a:rPr lang="zh-CN" altLang="en-US" dirty="0">
                <a:solidFill>
                  <a:srgbClr val="FF0000"/>
                </a:solidFill>
              </a:rPr>
              <a:t>空间</a:t>
            </a:r>
            <a:r>
              <a:rPr lang="en-US" altLang="zh-CN" dirty="0">
                <a:solidFill>
                  <a:srgbClr val="FF0000"/>
                </a:solidFill>
              </a:rPr>
              <a:t>O(1)</a:t>
            </a:r>
            <a:endParaRPr lang="zh-CN" altLang="en-US" dirty="0">
              <a:solidFill>
                <a:srgbClr val="FF0000"/>
              </a:solidFill>
            </a:endParaRPr>
          </a:p>
        </p:txBody>
      </p:sp>
      <p:sp>
        <p:nvSpPr>
          <p:cNvPr id="28" name="文本框 27">
            <a:extLst>
              <a:ext uri="{FF2B5EF4-FFF2-40B4-BE49-F238E27FC236}">
                <a16:creationId xmlns:a16="http://schemas.microsoft.com/office/drawing/2014/main" id="{D8649DC5-E052-48D2-94AF-A5DB2F3203AE}"/>
              </a:ext>
            </a:extLst>
          </p:cNvPr>
          <p:cNvSpPr txBox="1"/>
          <p:nvPr/>
        </p:nvSpPr>
        <p:spPr>
          <a:xfrm>
            <a:off x="7142917" y="2309604"/>
            <a:ext cx="4568879"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算法二：数据栈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辅助栈（</a:t>
            </a:r>
            <a:r>
              <a:rPr lang="zh-CN" altLang="en-US" sz="2000" dirty="0">
                <a:solidFill>
                  <a:srgbClr val="00B0F0"/>
                </a:solidFill>
                <a:latin typeface="微软雅黑" panose="020B0503020204020204" pitchFamily="34" charset="-122"/>
                <a:ea typeface="微软雅黑" panose="020B0503020204020204" pitchFamily="34" charset="-122"/>
              </a:rPr>
              <a:t>最大栈</a:t>
            </a:r>
            <a:r>
              <a:rPr lang="zh-CN" altLang="en-US" sz="2000" dirty="0">
                <a:latin typeface="微软雅黑" panose="020B0503020204020204" pitchFamily="34" charset="-122"/>
                <a:ea typeface="微软雅黑" panose="020B0503020204020204" pitchFamily="34" charset="-122"/>
              </a:rPr>
              <a:t>）</a:t>
            </a:r>
          </a:p>
        </p:txBody>
      </p:sp>
      <p:grpSp>
        <p:nvGrpSpPr>
          <p:cNvPr id="13" name="组合 12">
            <a:extLst>
              <a:ext uri="{FF2B5EF4-FFF2-40B4-BE49-F238E27FC236}">
                <a16:creationId xmlns:a16="http://schemas.microsoft.com/office/drawing/2014/main" id="{757EE75F-558C-4858-BCE4-00B331AEEA45}"/>
              </a:ext>
            </a:extLst>
          </p:cNvPr>
          <p:cNvGrpSpPr/>
          <p:nvPr/>
        </p:nvGrpSpPr>
        <p:grpSpPr>
          <a:xfrm>
            <a:off x="7860085" y="3102718"/>
            <a:ext cx="2708141" cy="3375000"/>
            <a:chOff x="7860085" y="3102718"/>
            <a:chExt cx="2708141" cy="3375000"/>
          </a:xfrm>
        </p:grpSpPr>
        <p:graphicFrame>
          <p:nvGraphicFramePr>
            <p:cNvPr id="29" name="Group 35">
              <a:extLst>
                <a:ext uri="{FF2B5EF4-FFF2-40B4-BE49-F238E27FC236}">
                  <a16:creationId xmlns:a16="http://schemas.microsoft.com/office/drawing/2014/main" id="{223754A4-9AB8-4F2E-B587-A1054DC2414B}"/>
                </a:ext>
              </a:extLst>
            </p:cNvPr>
            <p:cNvGraphicFramePr>
              <a:graphicFrameLocks/>
            </p:cNvGraphicFramePr>
            <p:nvPr>
              <p:extLst>
                <p:ext uri="{D42A27DB-BD31-4B8C-83A1-F6EECF244321}">
                  <p14:modId xmlns:p14="http://schemas.microsoft.com/office/powerpoint/2010/main" val="1398628820"/>
                </p:ext>
              </p:extLst>
            </p:nvPr>
          </p:nvGraphicFramePr>
          <p:xfrm>
            <a:off x="7860085" y="3102718"/>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CA5277B9-BDF6-4B40-8BD8-C2BB4857914B}"/>
                </a:ext>
              </a:extLst>
            </p:cNvPr>
            <p:cNvSpPr txBox="1"/>
            <p:nvPr/>
          </p:nvSpPr>
          <p:spPr>
            <a:xfrm>
              <a:off x="8282121" y="5460611"/>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1" name="文本框 30">
              <a:extLst>
                <a:ext uri="{FF2B5EF4-FFF2-40B4-BE49-F238E27FC236}">
                  <a16:creationId xmlns:a16="http://schemas.microsoft.com/office/drawing/2014/main" id="{1F0CF95C-1B14-4D8F-A6C1-C969D4514136}"/>
                </a:ext>
              </a:extLst>
            </p:cNvPr>
            <p:cNvSpPr txBox="1"/>
            <p:nvPr/>
          </p:nvSpPr>
          <p:spPr>
            <a:xfrm>
              <a:off x="8282121" y="4905442"/>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2" name="文本框 31">
              <a:extLst>
                <a:ext uri="{FF2B5EF4-FFF2-40B4-BE49-F238E27FC236}">
                  <a16:creationId xmlns:a16="http://schemas.microsoft.com/office/drawing/2014/main" id="{525FAA53-E5AA-4408-BBDB-43110A0D5B64}"/>
                </a:ext>
              </a:extLst>
            </p:cNvPr>
            <p:cNvSpPr txBox="1"/>
            <p:nvPr/>
          </p:nvSpPr>
          <p:spPr>
            <a:xfrm>
              <a:off x="8204376" y="4328416"/>
              <a:ext cx="495649" cy="461665"/>
            </a:xfrm>
            <a:prstGeom prst="rect">
              <a:avLst/>
            </a:prstGeom>
            <a:noFill/>
          </p:spPr>
          <p:txBody>
            <a:bodyPr wrap="none" rtlCol="0">
              <a:spAutoFit/>
            </a:bodyPr>
            <a:lstStyle/>
            <a:p>
              <a:r>
                <a:rPr lang="en-US" altLang="zh-CN" sz="2400" dirty="0"/>
                <a:t>10</a:t>
              </a:r>
              <a:endParaRPr lang="zh-CN" altLang="en-US" sz="2400" dirty="0"/>
            </a:p>
          </p:txBody>
        </p:sp>
        <p:graphicFrame>
          <p:nvGraphicFramePr>
            <p:cNvPr id="34" name="Group 35">
              <a:extLst>
                <a:ext uri="{FF2B5EF4-FFF2-40B4-BE49-F238E27FC236}">
                  <a16:creationId xmlns:a16="http://schemas.microsoft.com/office/drawing/2014/main" id="{930945EE-966E-4F46-8E07-60989037A7BA}"/>
                </a:ext>
              </a:extLst>
            </p:cNvPr>
            <p:cNvGraphicFramePr>
              <a:graphicFrameLocks/>
            </p:cNvGraphicFramePr>
            <p:nvPr>
              <p:extLst>
                <p:ext uri="{D42A27DB-BD31-4B8C-83A1-F6EECF244321}">
                  <p14:modId xmlns:p14="http://schemas.microsoft.com/office/powerpoint/2010/main" val="814384011"/>
                </p:ext>
              </p:extLst>
            </p:nvPr>
          </p:nvGraphicFramePr>
          <p:xfrm>
            <a:off x="9691062" y="3102718"/>
            <a:ext cx="877164" cy="2913062"/>
          </p:xfrm>
          <a:graphic>
            <a:graphicData uri="http://schemas.openxmlformats.org/drawingml/2006/table">
              <a:tbl>
                <a:tblPr/>
                <a:tblGrid>
                  <a:gridCol w="877164">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文本框 35">
              <a:extLst>
                <a:ext uri="{FF2B5EF4-FFF2-40B4-BE49-F238E27FC236}">
                  <a16:creationId xmlns:a16="http://schemas.microsoft.com/office/drawing/2014/main" id="{4C677E9F-C61E-42E5-9AA2-ABB62177385D}"/>
                </a:ext>
              </a:extLst>
            </p:cNvPr>
            <p:cNvSpPr txBox="1"/>
            <p:nvPr/>
          </p:nvSpPr>
          <p:spPr>
            <a:xfrm>
              <a:off x="9959565" y="5460611"/>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0" name="文本框 39">
              <a:extLst>
                <a:ext uri="{FF2B5EF4-FFF2-40B4-BE49-F238E27FC236}">
                  <a16:creationId xmlns:a16="http://schemas.microsoft.com/office/drawing/2014/main" id="{FA21912C-049C-47B5-AB69-4DE87EB10633}"/>
                </a:ext>
              </a:extLst>
            </p:cNvPr>
            <p:cNvSpPr txBox="1"/>
            <p:nvPr/>
          </p:nvSpPr>
          <p:spPr>
            <a:xfrm>
              <a:off x="9959565" y="4905442"/>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1" name="文本框 40">
              <a:extLst>
                <a:ext uri="{FF2B5EF4-FFF2-40B4-BE49-F238E27FC236}">
                  <a16:creationId xmlns:a16="http://schemas.microsoft.com/office/drawing/2014/main" id="{F820E423-F76C-465E-9F77-DF1153C3E78A}"/>
                </a:ext>
              </a:extLst>
            </p:cNvPr>
            <p:cNvSpPr txBox="1"/>
            <p:nvPr/>
          </p:nvSpPr>
          <p:spPr>
            <a:xfrm>
              <a:off x="9881820" y="4328416"/>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12" name="文本框 11">
              <a:extLst>
                <a:ext uri="{FF2B5EF4-FFF2-40B4-BE49-F238E27FC236}">
                  <a16:creationId xmlns:a16="http://schemas.microsoft.com/office/drawing/2014/main" id="{AAF0D0F7-8525-4EBE-841B-A942AD4DD9B9}"/>
                </a:ext>
              </a:extLst>
            </p:cNvPr>
            <p:cNvSpPr txBox="1"/>
            <p:nvPr/>
          </p:nvSpPr>
          <p:spPr>
            <a:xfrm>
              <a:off x="8013618" y="6108386"/>
              <a:ext cx="877163" cy="369332"/>
            </a:xfrm>
            <a:prstGeom prst="rect">
              <a:avLst/>
            </a:prstGeom>
            <a:noFill/>
          </p:spPr>
          <p:txBody>
            <a:bodyPr wrap="none" rtlCol="0">
              <a:spAutoFit/>
            </a:bodyPr>
            <a:lstStyle/>
            <a:p>
              <a:r>
                <a:rPr lang="zh-CN" altLang="en-US" dirty="0"/>
                <a:t>数据栈</a:t>
              </a:r>
            </a:p>
          </p:txBody>
        </p:sp>
        <p:sp>
          <p:nvSpPr>
            <p:cNvPr id="46" name="文本框 45">
              <a:extLst>
                <a:ext uri="{FF2B5EF4-FFF2-40B4-BE49-F238E27FC236}">
                  <a16:creationId xmlns:a16="http://schemas.microsoft.com/office/drawing/2014/main" id="{11E3FDD4-4843-4EA5-9B52-FF0024AAB889}"/>
                </a:ext>
              </a:extLst>
            </p:cNvPr>
            <p:cNvSpPr txBox="1"/>
            <p:nvPr/>
          </p:nvSpPr>
          <p:spPr>
            <a:xfrm>
              <a:off x="9691062" y="6108386"/>
              <a:ext cx="877163" cy="369332"/>
            </a:xfrm>
            <a:prstGeom prst="rect">
              <a:avLst/>
            </a:prstGeom>
            <a:noFill/>
          </p:spPr>
          <p:txBody>
            <a:bodyPr wrap="none" rtlCol="0">
              <a:spAutoFit/>
            </a:bodyPr>
            <a:lstStyle/>
            <a:p>
              <a:r>
                <a:rPr lang="zh-CN" altLang="en-US" dirty="0">
                  <a:solidFill>
                    <a:srgbClr val="00B0F0"/>
                  </a:solidFill>
                </a:rPr>
                <a:t>辅助栈</a:t>
              </a:r>
            </a:p>
          </p:txBody>
        </p:sp>
      </p:grpSp>
    </p:spTree>
    <p:extLst>
      <p:ext uri="{BB962C8B-B14F-4D97-AF65-F5344CB8AC3E}">
        <p14:creationId xmlns:p14="http://schemas.microsoft.com/office/powerpoint/2010/main" val="132627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xfrm>
            <a:off x="584225" y="1276350"/>
            <a:ext cx="1137191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dirty="0"/>
              <a:t>设计</a:t>
            </a:r>
            <a:r>
              <a:rPr lang="zh-CN" altLang="en-US" sz="2400" dirty="0">
                <a:latin typeface="微软雅黑" panose="020B0503020204020204" pitchFamily="34" charset="-122"/>
                <a:ea typeface="微软雅黑" panose="020B0503020204020204" pitchFamily="34" charset="-122"/>
              </a:rPr>
              <a:t>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D8649DC5-E052-48D2-94AF-A5DB2F3203AE}"/>
              </a:ext>
            </a:extLst>
          </p:cNvPr>
          <p:cNvSpPr txBox="1"/>
          <p:nvPr/>
        </p:nvSpPr>
        <p:spPr>
          <a:xfrm>
            <a:off x="0" y="2418682"/>
            <a:ext cx="4568879"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算法二：数据栈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辅助栈（</a:t>
            </a:r>
            <a:r>
              <a:rPr lang="zh-CN" altLang="en-US" sz="2000" dirty="0">
                <a:solidFill>
                  <a:srgbClr val="00B0F0"/>
                </a:solidFill>
                <a:latin typeface="微软雅黑" panose="020B0503020204020204" pitchFamily="34" charset="-122"/>
                <a:ea typeface="微软雅黑" panose="020B0503020204020204" pitchFamily="34" charset="-122"/>
              </a:rPr>
              <a:t>最大栈</a:t>
            </a:r>
            <a:r>
              <a:rPr lang="zh-CN" altLang="en-US" sz="2000" dirty="0">
                <a:latin typeface="微软雅黑" panose="020B0503020204020204" pitchFamily="34" charset="-122"/>
                <a:ea typeface="微软雅黑" panose="020B0503020204020204" pitchFamily="34" charset="-122"/>
              </a:rPr>
              <a:t>）</a:t>
            </a:r>
          </a:p>
        </p:txBody>
      </p:sp>
      <p:graphicFrame>
        <p:nvGraphicFramePr>
          <p:cNvPr id="29" name="Group 35">
            <a:extLst>
              <a:ext uri="{FF2B5EF4-FFF2-40B4-BE49-F238E27FC236}">
                <a16:creationId xmlns:a16="http://schemas.microsoft.com/office/drawing/2014/main" id="{223754A4-9AB8-4F2E-B587-A1054DC2414B}"/>
              </a:ext>
            </a:extLst>
          </p:cNvPr>
          <p:cNvGraphicFramePr>
            <a:graphicFrameLocks/>
          </p:cNvGraphicFramePr>
          <p:nvPr>
            <p:extLst>
              <p:ext uri="{D42A27DB-BD31-4B8C-83A1-F6EECF244321}">
                <p14:modId xmlns:p14="http://schemas.microsoft.com/office/powerpoint/2010/main" val="3490094013"/>
              </p:ext>
            </p:extLst>
          </p:nvPr>
        </p:nvGraphicFramePr>
        <p:xfrm>
          <a:off x="900539" y="3526986"/>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CA5277B9-BDF6-4B40-8BD8-C2BB4857914B}"/>
              </a:ext>
            </a:extLst>
          </p:cNvPr>
          <p:cNvSpPr txBox="1"/>
          <p:nvPr/>
        </p:nvSpPr>
        <p:spPr>
          <a:xfrm>
            <a:off x="1322575" y="5884879"/>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1" name="文本框 30">
            <a:extLst>
              <a:ext uri="{FF2B5EF4-FFF2-40B4-BE49-F238E27FC236}">
                <a16:creationId xmlns:a16="http://schemas.microsoft.com/office/drawing/2014/main" id="{1F0CF95C-1B14-4D8F-A6C1-C969D4514136}"/>
              </a:ext>
            </a:extLst>
          </p:cNvPr>
          <p:cNvSpPr txBox="1"/>
          <p:nvPr/>
        </p:nvSpPr>
        <p:spPr>
          <a:xfrm>
            <a:off x="1322575" y="5329710"/>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2" name="文本框 31">
            <a:extLst>
              <a:ext uri="{FF2B5EF4-FFF2-40B4-BE49-F238E27FC236}">
                <a16:creationId xmlns:a16="http://schemas.microsoft.com/office/drawing/2014/main" id="{525FAA53-E5AA-4408-BBDB-43110A0D5B64}"/>
              </a:ext>
            </a:extLst>
          </p:cNvPr>
          <p:cNvSpPr txBox="1"/>
          <p:nvPr/>
        </p:nvSpPr>
        <p:spPr>
          <a:xfrm>
            <a:off x="1244830" y="4752684"/>
            <a:ext cx="495649" cy="461665"/>
          </a:xfrm>
          <a:prstGeom prst="rect">
            <a:avLst/>
          </a:prstGeom>
          <a:noFill/>
        </p:spPr>
        <p:txBody>
          <a:bodyPr wrap="none" rtlCol="0">
            <a:spAutoFit/>
          </a:bodyPr>
          <a:lstStyle/>
          <a:p>
            <a:r>
              <a:rPr lang="en-US" altLang="zh-CN" sz="2400" dirty="0"/>
              <a:t>10</a:t>
            </a:r>
            <a:endParaRPr lang="zh-CN" altLang="en-US" sz="2400" dirty="0"/>
          </a:p>
        </p:txBody>
      </p:sp>
      <p:graphicFrame>
        <p:nvGraphicFramePr>
          <p:cNvPr id="34" name="Group 35">
            <a:extLst>
              <a:ext uri="{FF2B5EF4-FFF2-40B4-BE49-F238E27FC236}">
                <a16:creationId xmlns:a16="http://schemas.microsoft.com/office/drawing/2014/main" id="{930945EE-966E-4F46-8E07-60989037A7BA}"/>
              </a:ext>
            </a:extLst>
          </p:cNvPr>
          <p:cNvGraphicFramePr>
            <a:graphicFrameLocks/>
          </p:cNvGraphicFramePr>
          <p:nvPr>
            <p:extLst>
              <p:ext uri="{D42A27DB-BD31-4B8C-83A1-F6EECF244321}">
                <p14:modId xmlns:p14="http://schemas.microsoft.com/office/powerpoint/2010/main" val="4250902123"/>
              </p:ext>
            </p:extLst>
          </p:nvPr>
        </p:nvGraphicFramePr>
        <p:xfrm>
          <a:off x="2731516" y="3526986"/>
          <a:ext cx="877164" cy="2913062"/>
        </p:xfrm>
        <a:graphic>
          <a:graphicData uri="http://schemas.openxmlformats.org/drawingml/2006/table">
            <a:tbl>
              <a:tblPr/>
              <a:tblGrid>
                <a:gridCol w="877164">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文本框 35">
            <a:extLst>
              <a:ext uri="{FF2B5EF4-FFF2-40B4-BE49-F238E27FC236}">
                <a16:creationId xmlns:a16="http://schemas.microsoft.com/office/drawing/2014/main" id="{4C677E9F-C61E-42E5-9AA2-ABB62177385D}"/>
              </a:ext>
            </a:extLst>
          </p:cNvPr>
          <p:cNvSpPr txBox="1"/>
          <p:nvPr/>
        </p:nvSpPr>
        <p:spPr>
          <a:xfrm>
            <a:off x="3000019" y="5884879"/>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0" name="文本框 39">
            <a:extLst>
              <a:ext uri="{FF2B5EF4-FFF2-40B4-BE49-F238E27FC236}">
                <a16:creationId xmlns:a16="http://schemas.microsoft.com/office/drawing/2014/main" id="{FA21912C-049C-47B5-AB69-4DE87EB10633}"/>
              </a:ext>
            </a:extLst>
          </p:cNvPr>
          <p:cNvSpPr txBox="1"/>
          <p:nvPr/>
        </p:nvSpPr>
        <p:spPr>
          <a:xfrm>
            <a:off x="3000019" y="5329710"/>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1" name="文本框 40">
            <a:extLst>
              <a:ext uri="{FF2B5EF4-FFF2-40B4-BE49-F238E27FC236}">
                <a16:creationId xmlns:a16="http://schemas.microsoft.com/office/drawing/2014/main" id="{F820E423-F76C-465E-9F77-DF1153C3E78A}"/>
              </a:ext>
            </a:extLst>
          </p:cNvPr>
          <p:cNvSpPr txBox="1"/>
          <p:nvPr/>
        </p:nvSpPr>
        <p:spPr>
          <a:xfrm>
            <a:off x="2922274" y="4752684"/>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12" name="文本框 11">
            <a:extLst>
              <a:ext uri="{FF2B5EF4-FFF2-40B4-BE49-F238E27FC236}">
                <a16:creationId xmlns:a16="http://schemas.microsoft.com/office/drawing/2014/main" id="{AAF0D0F7-8525-4EBE-841B-A942AD4DD9B9}"/>
              </a:ext>
            </a:extLst>
          </p:cNvPr>
          <p:cNvSpPr txBox="1"/>
          <p:nvPr/>
        </p:nvSpPr>
        <p:spPr>
          <a:xfrm>
            <a:off x="1064706" y="6458760"/>
            <a:ext cx="877163" cy="369332"/>
          </a:xfrm>
          <a:prstGeom prst="rect">
            <a:avLst/>
          </a:prstGeom>
          <a:noFill/>
        </p:spPr>
        <p:txBody>
          <a:bodyPr wrap="none" rtlCol="0">
            <a:spAutoFit/>
          </a:bodyPr>
          <a:lstStyle/>
          <a:p>
            <a:r>
              <a:rPr lang="zh-CN" altLang="en-US" dirty="0"/>
              <a:t>数据栈</a:t>
            </a:r>
          </a:p>
        </p:txBody>
      </p:sp>
      <p:sp>
        <p:nvSpPr>
          <p:cNvPr id="46" name="文本框 45">
            <a:extLst>
              <a:ext uri="{FF2B5EF4-FFF2-40B4-BE49-F238E27FC236}">
                <a16:creationId xmlns:a16="http://schemas.microsoft.com/office/drawing/2014/main" id="{11E3FDD4-4843-4EA5-9B52-FF0024AAB889}"/>
              </a:ext>
            </a:extLst>
          </p:cNvPr>
          <p:cNvSpPr txBox="1"/>
          <p:nvPr/>
        </p:nvSpPr>
        <p:spPr>
          <a:xfrm>
            <a:off x="2764471" y="6489453"/>
            <a:ext cx="877163" cy="369332"/>
          </a:xfrm>
          <a:prstGeom prst="rect">
            <a:avLst/>
          </a:prstGeom>
          <a:noFill/>
        </p:spPr>
        <p:txBody>
          <a:bodyPr wrap="none" rtlCol="0">
            <a:spAutoFit/>
          </a:bodyPr>
          <a:lstStyle/>
          <a:p>
            <a:r>
              <a:rPr lang="zh-CN" altLang="en-US" dirty="0">
                <a:solidFill>
                  <a:srgbClr val="00B0F0"/>
                </a:solidFill>
              </a:rPr>
              <a:t>辅助栈</a:t>
            </a:r>
          </a:p>
        </p:txBody>
      </p:sp>
      <p:sp>
        <p:nvSpPr>
          <p:cNvPr id="4" name="文本框 3">
            <a:extLst>
              <a:ext uri="{FF2B5EF4-FFF2-40B4-BE49-F238E27FC236}">
                <a16:creationId xmlns:a16="http://schemas.microsoft.com/office/drawing/2014/main" id="{236F6167-B681-4984-BC0A-1412C43C4329}"/>
              </a:ext>
            </a:extLst>
          </p:cNvPr>
          <p:cNvSpPr txBox="1"/>
          <p:nvPr/>
        </p:nvSpPr>
        <p:spPr>
          <a:xfrm>
            <a:off x="512269" y="2971548"/>
            <a:ext cx="2028825"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新元素入数据栈</a:t>
            </a:r>
          </a:p>
        </p:txBody>
      </p:sp>
      <p:sp>
        <p:nvSpPr>
          <p:cNvPr id="21" name="文本框 20">
            <a:extLst>
              <a:ext uri="{FF2B5EF4-FFF2-40B4-BE49-F238E27FC236}">
                <a16:creationId xmlns:a16="http://schemas.microsoft.com/office/drawing/2014/main" id="{F66212B4-C8F1-464A-9413-5B110E245011}"/>
              </a:ext>
            </a:extLst>
          </p:cNvPr>
          <p:cNvSpPr txBox="1"/>
          <p:nvPr/>
        </p:nvSpPr>
        <p:spPr>
          <a:xfrm>
            <a:off x="1315950" y="4194797"/>
            <a:ext cx="340158" cy="461665"/>
          </a:xfrm>
          <a:prstGeom prst="rect">
            <a:avLst/>
          </a:prstGeom>
          <a:noFill/>
        </p:spPr>
        <p:txBody>
          <a:bodyPr wrap="none" rtlCol="0">
            <a:spAutoFit/>
          </a:bodyPr>
          <a:lstStyle/>
          <a:p>
            <a:r>
              <a:rPr lang="en-US" altLang="zh-CN" sz="2400" dirty="0"/>
              <a:t>8</a:t>
            </a:r>
            <a:endParaRPr lang="zh-CN" altLang="en-US" sz="2400" dirty="0"/>
          </a:p>
        </p:txBody>
      </p:sp>
      <p:sp>
        <p:nvSpPr>
          <p:cNvPr id="22" name="文本框 21">
            <a:extLst>
              <a:ext uri="{FF2B5EF4-FFF2-40B4-BE49-F238E27FC236}">
                <a16:creationId xmlns:a16="http://schemas.microsoft.com/office/drawing/2014/main" id="{00EC0DBD-783D-42BC-B531-FBF34FEE4653}"/>
              </a:ext>
            </a:extLst>
          </p:cNvPr>
          <p:cNvSpPr txBox="1"/>
          <p:nvPr/>
        </p:nvSpPr>
        <p:spPr>
          <a:xfrm>
            <a:off x="2922272" y="4175658"/>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5" name="文本框 4">
            <a:extLst>
              <a:ext uri="{FF2B5EF4-FFF2-40B4-BE49-F238E27FC236}">
                <a16:creationId xmlns:a16="http://schemas.microsoft.com/office/drawing/2014/main" id="{E844200F-FFD5-4F4A-840F-3AC599BB24D6}"/>
              </a:ext>
            </a:extLst>
          </p:cNvPr>
          <p:cNvSpPr txBox="1"/>
          <p:nvPr/>
        </p:nvSpPr>
        <p:spPr>
          <a:xfrm>
            <a:off x="1904844" y="3397952"/>
            <a:ext cx="578847" cy="1200329"/>
          </a:xfrm>
          <a:prstGeom prst="rect">
            <a:avLst/>
          </a:prstGeom>
          <a:noFill/>
        </p:spPr>
        <p:txBody>
          <a:bodyPr wrap="square" rtlCol="0">
            <a:spAutoFit/>
          </a:bodyPr>
          <a:lstStyle/>
          <a:p>
            <a:pPr algn="ctr"/>
            <a:r>
              <a:rPr lang="zh-CN" altLang="en-US" dirty="0">
                <a:solidFill>
                  <a:srgbClr val="00B0F0"/>
                </a:solidFill>
                <a:latin typeface="微软雅黑" panose="020B0503020204020204" pitchFamily="34" charset="-122"/>
                <a:ea typeface="微软雅黑" panose="020B0503020204020204" pitchFamily="34" charset="-122"/>
              </a:rPr>
              <a:t>取较大值</a:t>
            </a:r>
          </a:p>
        </p:txBody>
      </p:sp>
      <p:cxnSp>
        <p:nvCxnSpPr>
          <p:cNvPr id="8" name="直接连接符 7">
            <a:extLst>
              <a:ext uri="{FF2B5EF4-FFF2-40B4-BE49-F238E27FC236}">
                <a16:creationId xmlns:a16="http://schemas.microsoft.com/office/drawing/2014/main" id="{A7112082-22F7-42BD-AB08-565E024B3B2B}"/>
              </a:ext>
            </a:extLst>
          </p:cNvPr>
          <p:cNvCxnSpPr/>
          <p:nvPr/>
        </p:nvCxnSpPr>
        <p:spPr>
          <a:xfrm>
            <a:off x="1740479" y="4399280"/>
            <a:ext cx="1181793" cy="54864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箭头: 右 9">
            <a:extLst>
              <a:ext uri="{FF2B5EF4-FFF2-40B4-BE49-F238E27FC236}">
                <a16:creationId xmlns:a16="http://schemas.microsoft.com/office/drawing/2014/main" id="{A2F537C9-206B-4123-A53C-8B2C7353D941}"/>
              </a:ext>
            </a:extLst>
          </p:cNvPr>
          <p:cNvSpPr/>
          <p:nvPr/>
        </p:nvSpPr>
        <p:spPr>
          <a:xfrm>
            <a:off x="2391515" y="4300888"/>
            <a:ext cx="299158" cy="21120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7" name="内容占位符 6">
                <a:extLst>
                  <a:ext uri="{FF2B5EF4-FFF2-40B4-BE49-F238E27FC236}">
                    <a16:creationId xmlns:a16="http://schemas.microsoft.com/office/drawing/2014/main" id="{AD39C330-20D0-499D-B24C-D6BF0BCD9E28}"/>
                  </a:ext>
                </a:extLst>
              </p:cNvPr>
              <p:cNvSpPr txBox="1">
                <a:spLocks/>
              </p:cNvSpPr>
              <p:nvPr/>
            </p:nvSpPr>
            <p:spPr>
              <a:xfrm>
                <a:off x="5187972" y="1818982"/>
                <a:ext cx="6313865" cy="4767814"/>
              </a:xfrm>
              <a:prstGeom prst="rect">
                <a:avLst/>
              </a:prstGeom>
              <a:solidFill>
                <a:srgbClr val="009999"/>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Tx/>
                  <a:buNone/>
                </a:pPr>
                <a:r>
                  <a:rPr lang="zh-CN" altLang="en-US" sz="2000" b="1" dirty="0">
                    <a:solidFill>
                      <a:schemeClr val="bg1"/>
                    </a:solidFill>
                    <a:cs typeface="Times New Roman" panose="02020603050405020304" pitchFamily="18" charset="0"/>
                  </a:rPr>
                  <a:t>算法：</a:t>
                </a:r>
                <a:r>
                  <a:rPr lang="zh-CN" altLang="en-US" sz="2000" dirty="0">
                    <a:solidFill>
                      <a:schemeClr val="bg1"/>
                    </a:solidFill>
                    <a:cs typeface="Times New Roman" panose="02020603050405020304" pitchFamily="18" charset="0"/>
                  </a:rPr>
                  <a:t>入栈操作 </a:t>
                </a:r>
                <a:r>
                  <a:rPr lang="en-US" altLang="zh-CN" sz="2000" dirty="0">
                    <a:solidFill>
                      <a:srgbClr val="FFFF00"/>
                    </a:solidFill>
                    <a:cs typeface="Times New Roman" panose="02020603050405020304" pitchFamily="18" charset="0"/>
                  </a:rPr>
                  <a:t>Push (</a:t>
                </a:r>
                <a:r>
                  <a:rPr lang="en-US" altLang="zh-CN" sz="2000" i="1" dirty="0">
                    <a:solidFill>
                      <a:srgbClr val="FFFF00"/>
                    </a:solidFill>
                    <a:cs typeface="Times New Roman" panose="02020603050405020304" pitchFamily="18" charset="0"/>
                  </a:rPr>
                  <a:t>stack, x, </a:t>
                </a:r>
                <a:r>
                  <a:rPr lang="en-US" altLang="zh-CN" sz="2000" i="1" dirty="0" err="1">
                    <a:solidFill>
                      <a:srgbClr val="FFFF00"/>
                    </a:solidFill>
                    <a:cs typeface="Times New Roman" panose="02020603050405020304" pitchFamily="18" charset="0"/>
                  </a:rPr>
                  <a:t>max_stack</a:t>
                </a:r>
                <a:r>
                  <a:rPr lang="en-US" altLang="zh-CN" sz="2000" dirty="0">
                    <a:solidFill>
                      <a:srgbClr val="FFFF00"/>
                    </a:solidFill>
                    <a:cs typeface="Times New Roman" panose="02020603050405020304" pitchFamily="18" charset="0"/>
                  </a:rPr>
                  <a:t>) </a:t>
                </a:r>
                <a:endParaRPr lang="en-US" altLang="zh-CN" sz="2000" dirty="0">
                  <a:solidFill>
                    <a:srgbClr val="FFFF00"/>
                  </a:solidFill>
                </a:endParaRPr>
              </a:p>
              <a:p>
                <a:pPr marL="0" indent="0">
                  <a:lnSpc>
                    <a:spcPct val="100000"/>
                  </a:lnSpc>
                  <a:buFontTx/>
                  <a:buNone/>
                </a:pPr>
                <a:r>
                  <a:rPr lang="en-US" altLang="zh-CN" sz="2000" b="1" dirty="0">
                    <a:solidFill>
                      <a:schemeClr val="bg1"/>
                    </a:solidFill>
                    <a:cs typeface="Times New Roman" panose="02020603050405020304" pitchFamily="18" charset="0"/>
                  </a:rPr>
                  <a:t>1.   if </a:t>
                </a:r>
                <a:r>
                  <a:rPr lang="en-US" altLang="zh-CN" sz="2000" dirty="0" err="1">
                    <a:solidFill>
                      <a:schemeClr val="bg1"/>
                    </a:solidFill>
                    <a:cs typeface="Times New Roman" panose="02020603050405020304" pitchFamily="18" charset="0"/>
                  </a:rPr>
                  <a:t>IsFull</a:t>
                </a:r>
                <a:r>
                  <a:rPr lang="en-US" altLang="zh-CN" sz="2000" dirty="0">
                    <a:solidFill>
                      <a:schemeClr val="bg1"/>
                    </a:solidFill>
                    <a:cs typeface="Times New Roman" panose="02020603050405020304" pitchFamily="18" charset="0"/>
                  </a:rPr>
                  <a:t>(</a:t>
                </a:r>
                <a:r>
                  <a:rPr lang="en-US" altLang="zh-CN" sz="2000" i="1" dirty="0">
                    <a:solidFill>
                      <a:schemeClr val="bg1"/>
                    </a:solidFill>
                    <a:cs typeface="Times New Roman" panose="02020603050405020304" pitchFamily="18" charset="0"/>
                  </a:rPr>
                  <a:t>stack</a:t>
                </a:r>
                <a:r>
                  <a:rPr lang="en-US" altLang="zh-CN" sz="2000" dirty="0">
                    <a:solidFill>
                      <a:schemeClr val="bg1"/>
                    </a:solidFill>
                    <a:cs typeface="Times New Roman" panose="02020603050405020304" pitchFamily="18" charset="0"/>
                  </a:rPr>
                  <a:t>)=</a:t>
                </a:r>
                <a:r>
                  <a:rPr lang="en-US" altLang="zh-CN" sz="2000" b="1" dirty="0">
                    <a:solidFill>
                      <a:schemeClr val="bg1"/>
                    </a:solidFill>
                    <a:cs typeface="Times New Roman" panose="02020603050405020304" pitchFamily="18" charset="0"/>
                  </a:rPr>
                  <a:t>true</a:t>
                </a:r>
                <a:r>
                  <a:rPr lang="en-US" altLang="zh-CN" sz="2000" dirty="0">
                    <a:solidFill>
                      <a:schemeClr val="bg1"/>
                    </a:solidFill>
                    <a:cs typeface="Times New Roman" panose="02020603050405020304" pitchFamily="18" charset="0"/>
                  </a:rPr>
                  <a:t> </a:t>
                </a:r>
                <a:r>
                  <a:rPr lang="en-US" altLang="zh-CN" sz="2000" b="1" dirty="0">
                    <a:solidFill>
                      <a:schemeClr val="bg1"/>
                    </a:solidFill>
                    <a:cs typeface="Times New Roman" panose="02020603050405020304" pitchFamily="18" charset="0"/>
                  </a:rPr>
                  <a:t>then</a:t>
                </a:r>
                <a:endParaRPr lang="en-US" altLang="zh-CN" sz="2000" dirty="0">
                  <a:solidFill>
                    <a:schemeClr val="bg1"/>
                  </a:solidFill>
                </a:endParaRPr>
              </a:p>
              <a:p>
                <a:pPr marL="0" indent="0">
                  <a:lnSpc>
                    <a:spcPct val="100000"/>
                  </a:lnSpc>
                  <a:buFontTx/>
                  <a:buNone/>
                </a:pPr>
                <a:r>
                  <a:rPr lang="en-US" altLang="zh-CN" sz="2000" dirty="0">
                    <a:solidFill>
                      <a:schemeClr val="bg1"/>
                    </a:solidFill>
                    <a:cs typeface="Times New Roman" panose="02020603050405020304" pitchFamily="18" charset="0"/>
                  </a:rPr>
                  <a:t>2.   |  </a:t>
                </a:r>
                <a:r>
                  <a:rPr lang="zh-CN" altLang="en-US" sz="2000" dirty="0">
                    <a:solidFill>
                      <a:schemeClr val="bg1"/>
                    </a:solidFill>
                    <a:cs typeface="Times New Roman" panose="02020603050405020304" pitchFamily="18" charset="0"/>
                  </a:rPr>
                  <a:t>栈满，退出</a:t>
                </a:r>
                <a:endParaRPr lang="zh-CN" altLang="en-US"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3.   else</a:t>
                </a:r>
                <a:endParaRPr lang="en-US" altLang="zh-CN"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4.   |  </a:t>
                </a:r>
                <a:r>
                  <a:rPr lang="en-US" altLang="zh-CN" sz="2000" i="1" dirty="0" err="1">
                    <a:solidFill>
                      <a:schemeClr val="bg1"/>
                    </a:solidFill>
                    <a:cs typeface="Times New Roman" panose="02020603050405020304" pitchFamily="18" charset="0"/>
                  </a:rPr>
                  <a:t>max_val</a:t>
                </a:r>
                <a:r>
                  <a:rPr lang="en-US" altLang="zh-CN" sz="2000" i="1" dirty="0">
                    <a:solidFill>
                      <a:schemeClr val="bg1"/>
                    </a:solidFill>
                    <a:cs typeface="Times New Roman" panose="02020603050405020304" pitchFamily="18" charset="0"/>
                  </a:rPr>
                  <a:t> </a:t>
                </a:r>
                <a:r>
                  <a:rPr lang="en-US" altLang="zh-CN" sz="2000" dirty="0">
                    <a:solidFill>
                      <a:schemeClr val="bg1"/>
                    </a:solidFill>
                    <a:latin typeface="Microsoft YaHei Light" panose="020B0502040204020203" pitchFamily="34" charset="-122"/>
                    <a:ea typeface="Microsoft YaHei Light" panose="020B0502040204020203" pitchFamily="34" charset="-122"/>
                    <a:sym typeface="Symbol" panose="05050102010706020507" pitchFamily="18" charset="2"/>
                  </a:rPr>
                  <a:t> x                </a:t>
                </a:r>
                <a:r>
                  <a:rPr lang="en-US" altLang="zh-CN" sz="2100" dirty="0">
                    <a:solidFill>
                      <a:schemeClr val="bg1"/>
                    </a:solidFill>
                    <a:cs typeface="Times New Roman" panose="02020603050405020304" pitchFamily="18" charset="0"/>
                    <a:sym typeface="Symbol" panose="05050102010706020507" pitchFamily="18" charset="2"/>
                  </a:rPr>
                  <a:t>//</a:t>
                </a:r>
                <a:r>
                  <a:rPr lang="zh-CN" altLang="en-US" sz="2100" dirty="0">
                    <a:solidFill>
                      <a:schemeClr val="bg1"/>
                    </a:solidFill>
                    <a:cs typeface="Times New Roman" panose="02020603050405020304" pitchFamily="18" charset="0"/>
                    <a:sym typeface="Symbol" panose="05050102010706020507" pitchFamily="18" charset="2"/>
                  </a:rPr>
                  <a:t>辅助栈入栈元素初始值</a:t>
                </a:r>
                <a:endParaRPr lang="en-US" altLang="zh-CN" sz="2100" dirty="0">
                  <a:solidFill>
                    <a:schemeClr val="bg1"/>
                  </a:solidFill>
                  <a:cs typeface="Times New Roman" panose="02020603050405020304" pitchFamily="18" charset="0"/>
                  <a:sym typeface="Symbol" panose="05050102010706020507" pitchFamily="18" charset="2"/>
                </a:endParaRPr>
              </a:p>
              <a:p>
                <a:pPr marL="0" indent="0">
                  <a:lnSpc>
                    <a:spcPct val="100000"/>
                  </a:lnSpc>
                  <a:buFontTx/>
                  <a:buNone/>
                </a:pPr>
                <a:r>
                  <a:rPr lang="en-US" altLang="zh-CN" sz="2000" b="1" dirty="0">
                    <a:solidFill>
                      <a:schemeClr val="bg1"/>
                    </a:solidFill>
                    <a:cs typeface="Times New Roman" panose="02020603050405020304" pitchFamily="18" charset="0"/>
                    <a:sym typeface="Symbol" panose="05050102010706020507" pitchFamily="18" charset="2"/>
                  </a:rPr>
                  <a:t>5.   |  if </a:t>
                </a:r>
                <a:r>
                  <a:rPr lang="en-US" altLang="zh-CN" sz="2000" i="1" dirty="0" err="1">
                    <a:solidFill>
                      <a:schemeClr val="bg1"/>
                    </a:solidFill>
                    <a:cs typeface="Times New Roman" panose="02020603050405020304" pitchFamily="18" charset="0"/>
                    <a:sym typeface="Symbol" panose="05050102010706020507" pitchFamily="18" charset="2"/>
                  </a:rPr>
                  <a:t>stack.top</a:t>
                </a:r>
                <a:r>
                  <a:rPr lang="en-US" altLang="zh-CN" sz="2000" i="1" dirty="0">
                    <a:solidFill>
                      <a:schemeClr val="bg1"/>
                    </a:solidFill>
                    <a:cs typeface="Times New Roman" panose="02020603050405020304" pitchFamily="18" charset="0"/>
                    <a:sym typeface="Symbol" panose="05050102010706020507" pitchFamily="18" charset="2"/>
                  </a:rPr>
                  <a:t> </a:t>
                </a:r>
                <a14:m>
                  <m:oMath xmlns:m="http://schemas.openxmlformats.org/officeDocument/2006/math">
                    <m:r>
                      <a:rPr lang="en-US" altLang="zh-CN" sz="2000" b="0" i="1" smtClean="0">
                        <a:solidFill>
                          <a:schemeClr val="bg1"/>
                        </a:solidFill>
                        <a:latin typeface="Cambria Math" panose="02040503050406030204" pitchFamily="18" charset="0"/>
                        <a:cs typeface="Times New Roman" panose="02020603050405020304" pitchFamily="18" charset="0"/>
                        <a:sym typeface="Symbol" panose="05050102010706020507" pitchFamily="18" charset="2"/>
                      </a:rPr>
                      <m:t>≥</m:t>
                    </m:r>
                  </m:oMath>
                </a14:m>
                <a:r>
                  <a:rPr lang="en-US" altLang="zh-CN" sz="2000" i="1" dirty="0">
                    <a:solidFill>
                      <a:schemeClr val="bg1"/>
                    </a:solidFill>
                    <a:cs typeface="Times New Roman" panose="02020603050405020304" pitchFamily="18" charset="0"/>
                  </a:rPr>
                  <a:t> 0 </a:t>
                </a:r>
                <a:r>
                  <a:rPr lang="en-US" altLang="zh-CN" sz="2000" b="1" dirty="0">
                    <a:solidFill>
                      <a:schemeClr val="bg1"/>
                    </a:solidFill>
                    <a:cs typeface="Times New Roman" panose="02020603050405020304" pitchFamily="18" charset="0"/>
                  </a:rPr>
                  <a:t>then    </a:t>
                </a:r>
                <a:r>
                  <a:rPr lang="en-US" altLang="zh-CN" sz="2000" dirty="0">
                    <a:solidFill>
                      <a:schemeClr val="bg1"/>
                    </a:solidFill>
                    <a:cs typeface="Times New Roman" panose="02020603050405020304" pitchFamily="18" charset="0"/>
                  </a:rPr>
                  <a:t>//</a:t>
                </a:r>
                <a:r>
                  <a:rPr lang="zh-CN" altLang="en-US" sz="2000" dirty="0">
                    <a:solidFill>
                      <a:schemeClr val="bg1"/>
                    </a:solidFill>
                    <a:cs typeface="Times New Roman" panose="02020603050405020304" pitchFamily="18" charset="0"/>
                  </a:rPr>
                  <a:t>原栈非空</a:t>
                </a:r>
                <a:endParaRPr lang="en-US" altLang="zh-CN" sz="2000" dirty="0">
                  <a:solidFill>
                    <a:schemeClr val="bg1"/>
                  </a:solidFill>
                  <a:cs typeface="Times New Roman" panose="02020603050405020304" pitchFamily="18" charset="0"/>
                </a:endParaRPr>
              </a:p>
              <a:p>
                <a:pPr marL="0" indent="0">
                  <a:lnSpc>
                    <a:spcPct val="100000"/>
                  </a:lnSpc>
                  <a:buFontTx/>
                  <a:buNone/>
                </a:pPr>
                <a:r>
                  <a:rPr lang="en-US" altLang="zh-CN" sz="2000" b="1" dirty="0">
                    <a:solidFill>
                      <a:schemeClr val="bg1"/>
                    </a:solidFill>
                    <a:cs typeface="Times New Roman" panose="02020603050405020304" pitchFamily="18" charset="0"/>
                  </a:rPr>
                  <a:t>6.   |  |   </a:t>
                </a:r>
                <a:r>
                  <a:rPr lang="en-US" altLang="zh-CN" sz="2000" i="1" dirty="0" err="1">
                    <a:solidFill>
                      <a:srgbClr val="FFFF00"/>
                    </a:solidFill>
                    <a:cs typeface="Times New Roman" panose="02020603050405020304" pitchFamily="18" charset="0"/>
                  </a:rPr>
                  <a:t>max_val</a:t>
                </a:r>
                <a:r>
                  <a:rPr lang="en-US" altLang="zh-CN" sz="2000" i="1" dirty="0">
                    <a:solidFill>
                      <a:srgbClr val="FFFF00"/>
                    </a:solidFill>
                    <a:cs typeface="Times New Roman" panose="02020603050405020304" pitchFamily="18" charset="0"/>
                  </a:rPr>
                  <a:t> </a:t>
                </a:r>
                <a:r>
                  <a:rPr lang="en-US" altLang="zh-CN" sz="2000" dirty="0">
                    <a:solidFill>
                      <a:srgbClr val="FFFF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en-US" altLang="zh-CN" sz="2000" b="1" dirty="0">
                    <a:solidFill>
                      <a:srgbClr val="FFFF00"/>
                    </a:solidFill>
                    <a:cs typeface="Times New Roman" panose="02020603050405020304" pitchFamily="18" charset="0"/>
                  </a:rPr>
                  <a:t> Max</a:t>
                </a:r>
                <a:r>
                  <a:rPr lang="en-US" altLang="zh-CN" sz="2000" dirty="0">
                    <a:solidFill>
                      <a:srgbClr val="FFFF00"/>
                    </a:solidFill>
                    <a:cs typeface="Times New Roman" panose="02020603050405020304" pitchFamily="18" charset="0"/>
                  </a:rPr>
                  <a:t>(</a:t>
                </a:r>
                <a:r>
                  <a:rPr lang="en-US" altLang="zh-CN" sz="2000" i="1" dirty="0">
                    <a:solidFill>
                      <a:srgbClr val="FFFF00"/>
                    </a:solidFill>
                    <a:cs typeface="Times New Roman" panose="02020603050405020304" pitchFamily="18" charset="0"/>
                  </a:rPr>
                  <a:t>x</a:t>
                </a:r>
                <a:r>
                  <a:rPr lang="en-US" altLang="zh-CN" sz="2000" b="1" dirty="0">
                    <a:solidFill>
                      <a:srgbClr val="FFFF00"/>
                    </a:solidFill>
                    <a:cs typeface="Times New Roman" panose="02020603050405020304" pitchFamily="18" charset="0"/>
                  </a:rPr>
                  <a:t>, </a:t>
                </a:r>
                <a:r>
                  <a:rPr lang="en-US" altLang="zh-CN" sz="2000" i="1" dirty="0" err="1">
                    <a:solidFill>
                      <a:srgbClr val="FFFF00"/>
                    </a:solidFill>
                    <a:cs typeface="Times New Roman" panose="02020603050405020304" pitchFamily="18" charset="0"/>
                  </a:rPr>
                  <a:t>stack.data</a:t>
                </a:r>
                <a:r>
                  <a:rPr lang="en-US" altLang="zh-CN" sz="2000" i="1" dirty="0">
                    <a:solidFill>
                      <a:srgbClr val="FFFF00"/>
                    </a:solidFill>
                    <a:cs typeface="Times New Roman" panose="02020603050405020304" pitchFamily="18" charset="0"/>
                  </a:rPr>
                  <a:t> </a:t>
                </a:r>
                <a:r>
                  <a:rPr lang="en-US" altLang="zh-CN" sz="2000" dirty="0">
                    <a:solidFill>
                      <a:srgbClr val="FFFF00"/>
                    </a:solidFill>
                    <a:cs typeface="Times New Roman" panose="02020603050405020304" pitchFamily="18" charset="0"/>
                  </a:rPr>
                  <a:t>[</a:t>
                </a:r>
                <a:r>
                  <a:rPr lang="en-US" altLang="zh-CN" sz="2000" i="1" dirty="0" err="1">
                    <a:solidFill>
                      <a:srgbClr val="FFFF00"/>
                    </a:solidFill>
                    <a:cs typeface="Times New Roman" panose="02020603050405020304" pitchFamily="18" charset="0"/>
                  </a:rPr>
                  <a:t>stack.top</a:t>
                </a:r>
                <a:r>
                  <a:rPr lang="en-US" altLang="zh-CN" sz="2000" dirty="0">
                    <a:solidFill>
                      <a:srgbClr val="FFFF00"/>
                    </a:solidFill>
                    <a:cs typeface="Times New Roman" panose="02020603050405020304" pitchFamily="18" charset="0"/>
                  </a:rPr>
                  <a:t>]) </a:t>
                </a:r>
                <a:endParaRPr lang="en-US" altLang="zh-CN" sz="2000" b="1" dirty="0">
                  <a:solidFill>
                    <a:srgbClr val="FFFF00"/>
                  </a:solidFill>
                  <a:cs typeface="Times New Roman" panose="02020603050405020304" pitchFamily="18" charset="0"/>
                </a:endParaRPr>
              </a:p>
              <a:p>
                <a:pPr marL="0" indent="0">
                  <a:lnSpc>
                    <a:spcPct val="100000"/>
                  </a:lnSpc>
                  <a:buFontTx/>
                  <a:buNone/>
                </a:pPr>
                <a:r>
                  <a:rPr lang="en-US" altLang="zh-CN" sz="2000" b="1" dirty="0">
                    <a:solidFill>
                      <a:schemeClr val="bg1"/>
                    </a:solidFill>
                    <a:cs typeface="Times New Roman" panose="02020603050405020304" pitchFamily="18" charset="0"/>
                  </a:rPr>
                  <a:t>7.   |  end</a:t>
                </a:r>
              </a:p>
              <a:p>
                <a:pPr marL="0" indent="0">
                  <a:lnSpc>
                    <a:spcPct val="100000"/>
                  </a:lnSpc>
                  <a:buFontTx/>
                  <a:buNone/>
                </a:pPr>
                <a:r>
                  <a:rPr lang="en-US" altLang="zh-CN" sz="2000" b="1" dirty="0">
                    <a:solidFill>
                      <a:schemeClr val="bg1"/>
                    </a:solidFill>
                  </a:rPr>
                  <a:t>8.   |  </a:t>
                </a:r>
                <a:r>
                  <a:rPr lang="en-US" altLang="zh-CN" sz="2000" i="1" dirty="0" err="1">
                    <a:solidFill>
                      <a:schemeClr val="bg1"/>
                    </a:solidFill>
                    <a:cs typeface="Times New Roman" panose="02020603050405020304" pitchFamily="18" charset="0"/>
                  </a:rPr>
                  <a:t>stack.top</a:t>
                </a:r>
                <a:r>
                  <a:rPr lang="en-US" altLang="zh-CN" sz="2000" dirty="0">
                    <a:solidFill>
                      <a:schemeClr val="bg1"/>
                    </a:solidFill>
                    <a:cs typeface="Times New Roman" panose="02020603050405020304" pitchFamily="18" charset="0"/>
                  </a:rPr>
                  <a:t> </a:t>
                </a:r>
                <a:r>
                  <a:rPr lang="en-US" altLang="zh-CN" sz="2000" dirty="0">
                    <a:solidFill>
                      <a:schemeClr val="bg1"/>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i="1" dirty="0" err="1">
                    <a:solidFill>
                      <a:schemeClr val="bg1"/>
                    </a:solidFill>
                    <a:cs typeface="Times New Roman" panose="02020603050405020304" pitchFamily="18" charset="0"/>
                  </a:rPr>
                  <a:t>stack.top</a:t>
                </a:r>
                <a:r>
                  <a:rPr lang="en-US" altLang="zh-CN" sz="2000" i="1" dirty="0">
                    <a:solidFill>
                      <a:schemeClr val="bg1"/>
                    </a:solidFill>
                    <a:cs typeface="Times New Roman" panose="02020603050405020304" pitchFamily="18" charset="0"/>
                  </a:rPr>
                  <a:t> </a:t>
                </a:r>
                <a:r>
                  <a:rPr lang="en-US" altLang="zh-CN" sz="2000" dirty="0">
                    <a:solidFill>
                      <a:schemeClr val="bg1"/>
                    </a:solidFill>
                    <a:cs typeface="Times New Roman" panose="02020603050405020304" pitchFamily="18" charset="0"/>
                  </a:rPr>
                  <a:t>+ 1</a:t>
                </a:r>
                <a:endParaRPr lang="en-US" altLang="zh-CN" sz="2000" b="1"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9.   | </a:t>
                </a:r>
                <a:r>
                  <a:rPr lang="en-US" altLang="zh-CN" sz="2000" dirty="0">
                    <a:solidFill>
                      <a:schemeClr val="bg1"/>
                    </a:solidFill>
                    <a:cs typeface="Times New Roman" panose="02020603050405020304" pitchFamily="18" charset="0"/>
                  </a:rPr>
                  <a:t> </a:t>
                </a:r>
                <a:r>
                  <a:rPr lang="en-US" altLang="zh-CN" sz="2000" i="1" dirty="0" err="1">
                    <a:solidFill>
                      <a:schemeClr val="bg1"/>
                    </a:solidFill>
                    <a:cs typeface="Times New Roman" panose="02020603050405020304" pitchFamily="18" charset="0"/>
                  </a:rPr>
                  <a:t>stack.data</a:t>
                </a:r>
                <a:r>
                  <a:rPr lang="en-US" altLang="zh-CN" sz="2000" i="1" dirty="0">
                    <a:solidFill>
                      <a:schemeClr val="bg1"/>
                    </a:solidFill>
                    <a:cs typeface="Times New Roman" panose="02020603050405020304" pitchFamily="18" charset="0"/>
                  </a:rPr>
                  <a:t> </a:t>
                </a:r>
                <a:r>
                  <a:rPr lang="en-US" altLang="zh-CN" sz="2000" dirty="0">
                    <a:solidFill>
                      <a:schemeClr val="bg1"/>
                    </a:solidFill>
                    <a:cs typeface="Times New Roman" panose="02020603050405020304" pitchFamily="18" charset="0"/>
                  </a:rPr>
                  <a:t>[</a:t>
                </a:r>
                <a:r>
                  <a:rPr lang="en-US" altLang="zh-CN" sz="2000" i="1" dirty="0" err="1">
                    <a:solidFill>
                      <a:schemeClr val="bg1"/>
                    </a:solidFill>
                    <a:cs typeface="Times New Roman" panose="02020603050405020304" pitchFamily="18" charset="0"/>
                  </a:rPr>
                  <a:t>stack.top</a:t>
                </a:r>
                <a:r>
                  <a:rPr lang="en-US" altLang="zh-CN" sz="2000" dirty="0">
                    <a:solidFill>
                      <a:schemeClr val="bg1"/>
                    </a:solidFill>
                    <a:cs typeface="Times New Roman" panose="02020603050405020304" pitchFamily="18" charset="0"/>
                  </a:rPr>
                  <a:t>] </a:t>
                </a:r>
                <a:r>
                  <a:rPr lang="en-US" sz="2000" dirty="0">
                    <a:solidFill>
                      <a:schemeClr val="bg1"/>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dirty="0">
                    <a:solidFill>
                      <a:schemeClr val="bg1"/>
                    </a:solidFill>
                    <a:cs typeface="Times New Roman" panose="02020603050405020304" pitchFamily="18" charset="0"/>
                  </a:rPr>
                  <a:t> </a:t>
                </a:r>
                <a:r>
                  <a:rPr lang="en-US" altLang="zh-CN" sz="2000" i="1" dirty="0">
                    <a:solidFill>
                      <a:schemeClr val="bg1"/>
                    </a:solidFill>
                    <a:cs typeface="Times New Roman" panose="02020603050405020304" pitchFamily="18" charset="0"/>
                  </a:rPr>
                  <a:t>x</a:t>
                </a:r>
              </a:p>
              <a:p>
                <a:pPr marL="0" indent="0">
                  <a:lnSpc>
                    <a:spcPct val="100000"/>
                  </a:lnSpc>
                  <a:buFontTx/>
                  <a:buNone/>
                </a:pPr>
                <a:r>
                  <a:rPr lang="en-US" altLang="zh-CN" sz="2000" b="1" dirty="0">
                    <a:solidFill>
                      <a:schemeClr val="bg1"/>
                    </a:solidFill>
                  </a:rPr>
                  <a:t>10. |  </a:t>
                </a:r>
                <a:r>
                  <a:rPr lang="en-US" altLang="zh-CN" sz="2000" i="1" dirty="0" err="1">
                    <a:solidFill>
                      <a:srgbClr val="FFFF00"/>
                    </a:solidFill>
                  </a:rPr>
                  <a:t>max_stack.data</a:t>
                </a:r>
                <a:r>
                  <a:rPr lang="en-US" altLang="zh-CN" sz="2000" dirty="0">
                    <a:solidFill>
                      <a:srgbClr val="FFFF00"/>
                    </a:solidFill>
                  </a:rPr>
                  <a:t>[</a:t>
                </a:r>
                <a:r>
                  <a:rPr lang="en-US" altLang="zh-CN" sz="2000" i="1" dirty="0" err="1">
                    <a:solidFill>
                      <a:srgbClr val="FFFF00"/>
                    </a:solidFill>
                  </a:rPr>
                  <a:t>stack.top</a:t>
                </a:r>
                <a:r>
                  <a:rPr lang="en-US" altLang="zh-CN" sz="2000" dirty="0">
                    <a:solidFill>
                      <a:srgbClr val="FFFF00"/>
                    </a:solidFill>
                  </a:rPr>
                  <a:t>] </a:t>
                </a:r>
                <a:r>
                  <a:rPr lang="en-US" altLang="zh-CN" sz="2000" dirty="0">
                    <a:solidFill>
                      <a:srgbClr val="FFFF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i="1" dirty="0" err="1">
                    <a:solidFill>
                      <a:srgbClr val="FFFF00"/>
                    </a:solidFill>
                    <a:sym typeface="Symbol" panose="05050102010706020507" pitchFamily="18" charset="2"/>
                  </a:rPr>
                  <a:t>max_val</a:t>
                </a:r>
                <a:endParaRPr lang="en-US" altLang="zh-CN" sz="2000" i="1" dirty="0">
                  <a:solidFill>
                    <a:srgbClr val="FFFF00"/>
                  </a:solidFill>
                </a:endParaRPr>
              </a:p>
              <a:p>
                <a:pPr marL="0" indent="0">
                  <a:lnSpc>
                    <a:spcPct val="100000"/>
                  </a:lnSpc>
                  <a:buFontTx/>
                  <a:buNone/>
                </a:pPr>
                <a:r>
                  <a:rPr lang="en-US" altLang="zh-CN" sz="2000" b="1" dirty="0">
                    <a:solidFill>
                      <a:schemeClr val="bg1"/>
                    </a:solidFill>
                    <a:cs typeface="Times New Roman" panose="02020603050405020304" pitchFamily="18" charset="0"/>
                  </a:rPr>
                  <a:t>11. end</a:t>
                </a:r>
                <a:endParaRPr lang="en-US" sz="2000" dirty="0">
                  <a:solidFill>
                    <a:schemeClr val="bg1"/>
                  </a:solidFill>
                </a:endParaRPr>
              </a:p>
            </p:txBody>
          </p:sp>
        </mc:Choice>
        <mc:Fallback>
          <p:sp>
            <p:nvSpPr>
              <p:cNvPr id="27" name="内容占位符 6">
                <a:extLst>
                  <a:ext uri="{FF2B5EF4-FFF2-40B4-BE49-F238E27FC236}">
                    <a16:creationId xmlns:a16="http://schemas.microsoft.com/office/drawing/2014/main" id="{AD39C330-20D0-499D-B24C-D6BF0BCD9E28}"/>
                  </a:ext>
                </a:extLst>
              </p:cNvPr>
              <p:cNvSpPr txBox="1">
                <a:spLocks noRot="1" noChangeAspect="1" noMove="1" noResize="1" noEditPoints="1" noAdjustHandles="1" noChangeArrowheads="1" noChangeShapeType="1" noTextEdit="1"/>
              </p:cNvSpPr>
              <p:nvPr/>
            </p:nvSpPr>
            <p:spPr>
              <a:xfrm>
                <a:off x="5187972" y="1818982"/>
                <a:ext cx="6313865" cy="4767814"/>
              </a:xfrm>
              <a:prstGeom prst="rect">
                <a:avLst/>
              </a:prstGeom>
              <a:blipFill>
                <a:blip r:embed="rId2"/>
                <a:stretch>
                  <a:fillRect l="-869" t="-14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181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2" grpId="0"/>
      <p:bldP spid="5" grpId="0"/>
      <p:bldP spid="10" grpId="0" animBg="1"/>
      <p:bldP spid="2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xfrm>
            <a:off x="584225" y="1276350"/>
            <a:ext cx="1137191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dirty="0"/>
              <a:t>设计</a:t>
            </a:r>
            <a:r>
              <a:rPr lang="zh-CN" altLang="en-US" sz="2400" dirty="0">
                <a:latin typeface="微软雅黑" panose="020B0503020204020204" pitchFamily="34" charset="-122"/>
                <a:ea typeface="微软雅黑" panose="020B0503020204020204" pitchFamily="34" charset="-122"/>
              </a:rPr>
              <a:t>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D8649DC5-E052-48D2-94AF-A5DB2F3203AE}"/>
              </a:ext>
            </a:extLst>
          </p:cNvPr>
          <p:cNvSpPr txBox="1"/>
          <p:nvPr/>
        </p:nvSpPr>
        <p:spPr>
          <a:xfrm>
            <a:off x="0" y="2418682"/>
            <a:ext cx="4568879"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算法二：数据栈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辅助栈（</a:t>
            </a:r>
            <a:r>
              <a:rPr lang="zh-CN" altLang="en-US" sz="2000" dirty="0">
                <a:solidFill>
                  <a:srgbClr val="00B0F0"/>
                </a:solidFill>
                <a:latin typeface="微软雅黑" panose="020B0503020204020204" pitchFamily="34" charset="-122"/>
                <a:ea typeface="微软雅黑" panose="020B0503020204020204" pitchFamily="34" charset="-122"/>
              </a:rPr>
              <a:t>最大栈</a:t>
            </a:r>
            <a:r>
              <a:rPr lang="zh-CN" altLang="en-US" sz="2000" dirty="0">
                <a:latin typeface="微软雅黑" panose="020B0503020204020204" pitchFamily="34" charset="-122"/>
                <a:ea typeface="微软雅黑" panose="020B0503020204020204" pitchFamily="34" charset="-122"/>
              </a:rPr>
              <a:t>）</a:t>
            </a:r>
          </a:p>
        </p:txBody>
      </p:sp>
      <p:graphicFrame>
        <p:nvGraphicFramePr>
          <p:cNvPr id="29" name="Group 35">
            <a:extLst>
              <a:ext uri="{FF2B5EF4-FFF2-40B4-BE49-F238E27FC236}">
                <a16:creationId xmlns:a16="http://schemas.microsoft.com/office/drawing/2014/main" id="{223754A4-9AB8-4F2E-B587-A1054DC2414B}"/>
              </a:ext>
            </a:extLst>
          </p:cNvPr>
          <p:cNvGraphicFramePr>
            <a:graphicFrameLocks/>
          </p:cNvGraphicFramePr>
          <p:nvPr>
            <p:extLst/>
          </p:nvPr>
        </p:nvGraphicFramePr>
        <p:xfrm>
          <a:off x="900539" y="3526986"/>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CA5277B9-BDF6-4B40-8BD8-C2BB4857914B}"/>
              </a:ext>
            </a:extLst>
          </p:cNvPr>
          <p:cNvSpPr txBox="1"/>
          <p:nvPr/>
        </p:nvSpPr>
        <p:spPr>
          <a:xfrm>
            <a:off x="1322575" y="5884879"/>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1" name="文本框 30">
            <a:extLst>
              <a:ext uri="{FF2B5EF4-FFF2-40B4-BE49-F238E27FC236}">
                <a16:creationId xmlns:a16="http://schemas.microsoft.com/office/drawing/2014/main" id="{1F0CF95C-1B14-4D8F-A6C1-C969D4514136}"/>
              </a:ext>
            </a:extLst>
          </p:cNvPr>
          <p:cNvSpPr txBox="1"/>
          <p:nvPr/>
        </p:nvSpPr>
        <p:spPr>
          <a:xfrm>
            <a:off x="1322575" y="5329710"/>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2" name="文本框 31">
            <a:extLst>
              <a:ext uri="{FF2B5EF4-FFF2-40B4-BE49-F238E27FC236}">
                <a16:creationId xmlns:a16="http://schemas.microsoft.com/office/drawing/2014/main" id="{525FAA53-E5AA-4408-BBDB-43110A0D5B64}"/>
              </a:ext>
            </a:extLst>
          </p:cNvPr>
          <p:cNvSpPr txBox="1"/>
          <p:nvPr/>
        </p:nvSpPr>
        <p:spPr>
          <a:xfrm>
            <a:off x="1244830" y="4752684"/>
            <a:ext cx="495649" cy="461665"/>
          </a:xfrm>
          <a:prstGeom prst="rect">
            <a:avLst/>
          </a:prstGeom>
          <a:noFill/>
        </p:spPr>
        <p:txBody>
          <a:bodyPr wrap="none" rtlCol="0">
            <a:spAutoFit/>
          </a:bodyPr>
          <a:lstStyle/>
          <a:p>
            <a:r>
              <a:rPr lang="en-US" altLang="zh-CN" sz="2400" dirty="0"/>
              <a:t>10</a:t>
            </a:r>
            <a:endParaRPr lang="zh-CN" altLang="en-US" sz="2400" dirty="0"/>
          </a:p>
        </p:txBody>
      </p:sp>
      <p:graphicFrame>
        <p:nvGraphicFramePr>
          <p:cNvPr id="34" name="Group 35">
            <a:extLst>
              <a:ext uri="{FF2B5EF4-FFF2-40B4-BE49-F238E27FC236}">
                <a16:creationId xmlns:a16="http://schemas.microsoft.com/office/drawing/2014/main" id="{930945EE-966E-4F46-8E07-60989037A7BA}"/>
              </a:ext>
            </a:extLst>
          </p:cNvPr>
          <p:cNvGraphicFramePr>
            <a:graphicFrameLocks/>
          </p:cNvGraphicFramePr>
          <p:nvPr>
            <p:extLst/>
          </p:nvPr>
        </p:nvGraphicFramePr>
        <p:xfrm>
          <a:off x="2731516" y="3526986"/>
          <a:ext cx="877164" cy="2913062"/>
        </p:xfrm>
        <a:graphic>
          <a:graphicData uri="http://schemas.openxmlformats.org/drawingml/2006/table">
            <a:tbl>
              <a:tblPr/>
              <a:tblGrid>
                <a:gridCol w="877164">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文本框 35">
            <a:extLst>
              <a:ext uri="{FF2B5EF4-FFF2-40B4-BE49-F238E27FC236}">
                <a16:creationId xmlns:a16="http://schemas.microsoft.com/office/drawing/2014/main" id="{4C677E9F-C61E-42E5-9AA2-ABB62177385D}"/>
              </a:ext>
            </a:extLst>
          </p:cNvPr>
          <p:cNvSpPr txBox="1"/>
          <p:nvPr/>
        </p:nvSpPr>
        <p:spPr>
          <a:xfrm>
            <a:off x="3000019" y="5884879"/>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0" name="文本框 39">
            <a:extLst>
              <a:ext uri="{FF2B5EF4-FFF2-40B4-BE49-F238E27FC236}">
                <a16:creationId xmlns:a16="http://schemas.microsoft.com/office/drawing/2014/main" id="{FA21912C-049C-47B5-AB69-4DE87EB10633}"/>
              </a:ext>
            </a:extLst>
          </p:cNvPr>
          <p:cNvSpPr txBox="1"/>
          <p:nvPr/>
        </p:nvSpPr>
        <p:spPr>
          <a:xfrm>
            <a:off x="3000019" y="5329710"/>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1" name="文本框 40">
            <a:extLst>
              <a:ext uri="{FF2B5EF4-FFF2-40B4-BE49-F238E27FC236}">
                <a16:creationId xmlns:a16="http://schemas.microsoft.com/office/drawing/2014/main" id="{F820E423-F76C-465E-9F77-DF1153C3E78A}"/>
              </a:ext>
            </a:extLst>
          </p:cNvPr>
          <p:cNvSpPr txBox="1"/>
          <p:nvPr/>
        </p:nvSpPr>
        <p:spPr>
          <a:xfrm>
            <a:off x="2922274" y="4752684"/>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12" name="文本框 11">
            <a:extLst>
              <a:ext uri="{FF2B5EF4-FFF2-40B4-BE49-F238E27FC236}">
                <a16:creationId xmlns:a16="http://schemas.microsoft.com/office/drawing/2014/main" id="{AAF0D0F7-8525-4EBE-841B-A942AD4DD9B9}"/>
              </a:ext>
            </a:extLst>
          </p:cNvPr>
          <p:cNvSpPr txBox="1"/>
          <p:nvPr/>
        </p:nvSpPr>
        <p:spPr>
          <a:xfrm>
            <a:off x="1169488" y="6532654"/>
            <a:ext cx="877163" cy="369332"/>
          </a:xfrm>
          <a:prstGeom prst="rect">
            <a:avLst/>
          </a:prstGeom>
          <a:noFill/>
        </p:spPr>
        <p:txBody>
          <a:bodyPr wrap="none" rtlCol="0">
            <a:spAutoFit/>
          </a:bodyPr>
          <a:lstStyle/>
          <a:p>
            <a:r>
              <a:rPr lang="zh-CN" altLang="en-US" dirty="0"/>
              <a:t>数据栈</a:t>
            </a:r>
          </a:p>
        </p:txBody>
      </p:sp>
      <p:sp>
        <p:nvSpPr>
          <p:cNvPr id="46" name="文本框 45">
            <a:extLst>
              <a:ext uri="{FF2B5EF4-FFF2-40B4-BE49-F238E27FC236}">
                <a16:creationId xmlns:a16="http://schemas.microsoft.com/office/drawing/2014/main" id="{11E3FDD4-4843-4EA5-9B52-FF0024AAB889}"/>
              </a:ext>
            </a:extLst>
          </p:cNvPr>
          <p:cNvSpPr txBox="1"/>
          <p:nvPr/>
        </p:nvSpPr>
        <p:spPr>
          <a:xfrm>
            <a:off x="2731516" y="6532654"/>
            <a:ext cx="877163" cy="369332"/>
          </a:xfrm>
          <a:prstGeom prst="rect">
            <a:avLst/>
          </a:prstGeom>
          <a:noFill/>
        </p:spPr>
        <p:txBody>
          <a:bodyPr wrap="none" rtlCol="0">
            <a:spAutoFit/>
          </a:bodyPr>
          <a:lstStyle/>
          <a:p>
            <a:r>
              <a:rPr lang="zh-CN" altLang="en-US" dirty="0">
                <a:solidFill>
                  <a:srgbClr val="00B0F0"/>
                </a:solidFill>
              </a:rPr>
              <a:t>辅助栈</a:t>
            </a:r>
          </a:p>
        </p:txBody>
      </p:sp>
      <p:sp>
        <p:nvSpPr>
          <p:cNvPr id="4" name="文本框 3">
            <a:extLst>
              <a:ext uri="{FF2B5EF4-FFF2-40B4-BE49-F238E27FC236}">
                <a16:creationId xmlns:a16="http://schemas.microsoft.com/office/drawing/2014/main" id="{236F6167-B681-4984-BC0A-1412C43C4329}"/>
              </a:ext>
            </a:extLst>
          </p:cNvPr>
          <p:cNvSpPr txBox="1"/>
          <p:nvPr/>
        </p:nvSpPr>
        <p:spPr>
          <a:xfrm>
            <a:off x="887360" y="2978570"/>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出数据栈</a:t>
            </a:r>
          </a:p>
        </p:txBody>
      </p:sp>
      <p:sp>
        <p:nvSpPr>
          <p:cNvPr id="27" name="内容占位符 6">
            <a:extLst>
              <a:ext uri="{FF2B5EF4-FFF2-40B4-BE49-F238E27FC236}">
                <a16:creationId xmlns:a16="http://schemas.microsoft.com/office/drawing/2014/main" id="{AD39C330-20D0-499D-B24C-D6BF0BCD9E28}"/>
              </a:ext>
            </a:extLst>
          </p:cNvPr>
          <p:cNvSpPr txBox="1">
            <a:spLocks/>
          </p:cNvSpPr>
          <p:nvPr/>
        </p:nvSpPr>
        <p:spPr>
          <a:xfrm>
            <a:off x="5039935" y="3190757"/>
            <a:ext cx="6313865" cy="2600618"/>
          </a:xfrm>
          <a:prstGeom prst="rect">
            <a:avLst/>
          </a:prstGeom>
          <a:solidFill>
            <a:srgbClr val="00999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Tx/>
              <a:buNone/>
            </a:pPr>
            <a:r>
              <a:rPr lang="zh-CN" altLang="en-US" sz="2000" b="1" dirty="0">
                <a:solidFill>
                  <a:schemeClr val="bg1"/>
                </a:solidFill>
                <a:cs typeface="Times New Roman" panose="02020603050405020304" pitchFamily="18" charset="0"/>
              </a:rPr>
              <a:t>算法：</a:t>
            </a:r>
            <a:r>
              <a:rPr lang="zh-CN" altLang="en-US" sz="2000" dirty="0">
                <a:solidFill>
                  <a:schemeClr val="bg1"/>
                </a:solidFill>
                <a:cs typeface="Times New Roman" panose="02020603050405020304" pitchFamily="18" charset="0"/>
              </a:rPr>
              <a:t>出栈操作 </a:t>
            </a:r>
            <a:r>
              <a:rPr lang="en-US" altLang="zh-CN" sz="2000" dirty="0">
                <a:solidFill>
                  <a:srgbClr val="FFFF00"/>
                </a:solidFill>
                <a:cs typeface="Times New Roman" panose="02020603050405020304" pitchFamily="18" charset="0"/>
              </a:rPr>
              <a:t>Pop (</a:t>
            </a:r>
            <a:r>
              <a:rPr lang="en-US" altLang="zh-CN" sz="2000" i="1" dirty="0">
                <a:solidFill>
                  <a:srgbClr val="FFFF00"/>
                </a:solidFill>
                <a:cs typeface="Times New Roman" panose="02020603050405020304" pitchFamily="18" charset="0"/>
              </a:rPr>
              <a:t>stack, </a:t>
            </a:r>
            <a:r>
              <a:rPr lang="en-US" altLang="zh-CN" sz="2000" i="1" dirty="0" err="1">
                <a:solidFill>
                  <a:srgbClr val="FFFF00"/>
                </a:solidFill>
                <a:cs typeface="Times New Roman" panose="02020603050405020304" pitchFamily="18" charset="0"/>
              </a:rPr>
              <a:t>max_stack</a:t>
            </a:r>
            <a:r>
              <a:rPr lang="en-US" altLang="zh-CN" sz="2000" dirty="0">
                <a:solidFill>
                  <a:srgbClr val="FFFF00"/>
                </a:solidFill>
                <a:cs typeface="Times New Roman" panose="02020603050405020304" pitchFamily="18" charset="0"/>
              </a:rPr>
              <a:t>) </a:t>
            </a:r>
            <a:endParaRPr lang="en-US" altLang="zh-CN" sz="2000" dirty="0">
              <a:solidFill>
                <a:srgbClr val="FFFF00"/>
              </a:solidFill>
            </a:endParaRPr>
          </a:p>
          <a:p>
            <a:pPr marL="0" indent="0">
              <a:lnSpc>
                <a:spcPct val="100000"/>
              </a:lnSpc>
              <a:buFontTx/>
              <a:buNone/>
            </a:pPr>
            <a:r>
              <a:rPr lang="en-US" altLang="zh-CN" sz="2000" b="1" dirty="0">
                <a:solidFill>
                  <a:schemeClr val="bg1"/>
                </a:solidFill>
                <a:cs typeface="Times New Roman" panose="02020603050405020304" pitchFamily="18" charset="0"/>
              </a:rPr>
              <a:t>1.   if </a:t>
            </a:r>
            <a:r>
              <a:rPr lang="en-US" altLang="zh-CN" sz="2000" dirty="0" err="1">
                <a:solidFill>
                  <a:schemeClr val="bg1"/>
                </a:solidFill>
                <a:cs typeface="Times New Roman" panose="02020603050405020304" pitchFamily="18" charset="0"/>
              </a:rPr>
              <a:t>IsEmpty</a:t>
            </a:r>
            <a:r>
              <a:rPr lang="en-US" altLang="zh-CN" sz="2000" dirty="0">
                <a:solidFill>
                  <a:schemeClr val="bg1"/>
                </a:solidFill>
                <a:cs typeface="Times New Roman" panose="02020603050405020304" pitchFamily="18" charset="0"/>
              </a:rPr>
              <a:t>(</a:t>
            </a:r>
            <a:r>
              <a:rPr lang="en-US" altLang="zh-CN" sz="2000" i="1" dirty="0">
                <a:solidFill>
                  <a:schemeClr val="bg1"/>
                </a:solidFill>
                <a:cs typeface="Times New Roman" panose="02020603050405020304" pitchFamily="18" charset="0"/>
              </a:rPr>
              <a:t>stack</a:t>
            </a:r>
            <a:r>
              <a:rPr lang="en-US" altLang="zh-CN" sz="2000" dirty="0">
                <a:solidFill>
                  <a:schemeClr val="bg1"/>
                </a:solidFill>
                <a:cs typeface="Times New Roman" panose="02020603050405020304" pitchFamily="18" charset="0"/>
              </a:rPr>
              <a:t>)=</a:t>
            </a:r>
            <a:r>
              <a:rPr lang="en-US" altLang="zh-CN" sz="2000" b="1" dirty="0">
                <a:solidFill>
                  <a:schemeClr val="bg1"/>
                </a:solidFill>
                <a:cs typeface="Times New Roman" panose="02020603050405020304" pitchFamily="18" charset="0"/>
              </a:rPr>
              <a:t>true</a:t>
            </a:r>
            <a:r>
              <a:rPr lang="en-US" altLang="zh-CN" sz="2000" dirty="0">
                <a:solidFill>
                  <a:schemeClr val="bg1"/>
                </a:solidFill>
                <a:cs typeface="Times New Roman" panose="02020603050405020304" pitchFamily="18" charset="0"/>
              </a:rPr>
              <a:t> </a:t>
            </a:r>
            <a:r>
              <a:rPr lang="en-US" altLang="zh-CN" sz="2000" b="1" dirty="0">
                <a:solidFill>
                  <a:schemeClr val="bg1"/>
                </a:solidFill>
                <a:cs typeface="Times New Roman" panose="02020603050405020304" pitchFamily="18" charset="0"/>
              </a:rPr>
              <a:t>then</a:t>
            </a:r>
            <a:endParaRPr lang="en-US" altLang="zh-CN" sz="2000" dirty="0">
              <a:solidFill>
                <a:schemeClr val="bg1"/>
              </a:solidFill>
            </a:endParaRPr>
          </a:p>
          <a:p>
            <a:pPr marL="0" indent="0">
              <a:lnSpc>
                <a:spcPct val="100000"/>
              </a:lnSpc>
              <a:buFontTx/>
              <a:buNone/>
            </a:pPr>
            <a:r>
              <a:rPr lang="en-US" altLang="zh-CN" sz="2000" dirty="0">
                <a:solidFill>
                  <a:schemeClr val="bg1"/>
                </a:solidFill>
                <a:cs typeface="Times New Roman" panose="02020603050405020304" pitchFamily="18" charset="0"/>
              </a:rPr>
              <a:t>2.   |  </a:t>
            </a:r>
            <a:r>
              <a:rPr lang="zh-CN" altLang="en-US" sz="2000" dirty="0">
                <a:solidFill>
                  <a:schemeClr val="bg1"/>
                </a:solidFill>
                <a:cs typeface="Times New Roman" panose="02020603050405020304" pitchFamily="18" charset="0"/>
              </a:rPr>
              <a:t>栈空，退出</a:t>
            </a:r>
            <a:endParaRPr lang="zh-CN" altLang="en-US"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3.   else</a:t>
            </a:r>
            <a:endParaRPr lang="en-US" altLang="zh-CN"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4.   |  </a:t>
            </a:r>
            <a:r>
              <a:rPr lang="en-US" altLang="zh-CN" sz="2000" i="1" dirty="0" err="1">
                <a:solidFill>
                  <a:schemeClr val="bg1"/>
                </a:solidFill>
                <a:cs typeface="Times New Roman" panose="02020603050405020304" pitchFamily="18" charset="0"/>
              </a:rPr>
              <a:t>stack.top</a:t>
            </a:r>
            <a:r>
              <a:rPr lang="en-US" altLang="zh-CN" sz="2000" dirty="0">
                <a:solidFill>
                  <a:schemeClr val="bg1"/>
                </a:solidFill>
                <a:cs typeface="Times New Roman" panose="02020603050405020304" pitchFamily="18" charset="0"/>
              </a:rPr>
              <a:t> </a:t>
            </a:r>
            <a:r>
              <a:rPr lang="en-US" altLang="zh-CN" sz="2000" dirty="0">
                <a:solidFill>
                  <a:schemeClr val="bg1"/>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i="1" dirty="0" err="1">
                <a:solidFill>
                  <a:schemeClr val="bg1"/>
                </a:solidFill>
                <a:cs typeface="Times New Roman" panose="02020603050405020304" pitchFamily="18" charset="0"/>
              </a:rPr>
              <a:t>stack.top</a:t>
            </a:r>
            <a:r>
              <a:rPr lang="en-US" altLang="zh-CN" sz="2000" i="1" dirty="0">
                <a:solidFill>
                  <a:schemeClr val="bg1"/>
                </a:solidFill>
                <a:cs typeface="Times New Roman" panose="02020603050405020304" pitchFamily="18" charset="0"/>
              </a:rPr>
              <a:t> -</a:t>
            </a:r>
            <a:r>
              <a:rPr lang="en-US" altLang="zh-CN" sz="2000" dirty="0">
                <a:solidFill>
                  <a:schemeClr val="bg1"/>
                </a:solidFill>
                <a:cs typeface="Times New Roman" panose="02020603050405020304" pitchFamily="18" charset="0"/>
              </a:rPr>
              <a:t> 1</a:t>
            </a:r>
            <a:endParaRPr lang="en-US" altLang="zh-CN" sz="2000" b="1"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5.   end</a:t>
            </a:r>
            <a:endParaRPr lang="en-US" sz="2000" dirty="0">
              <a:solidFill>
                <a:schemeClr val="bg1"/>
              </a:solidFill>
            </a:endParaRPr>
          </a:p>
        </p:txBody>
      </p:sp>
    </p:spTree>
    <p:extLst>
      <p:ext uri="{BB962C8B-B14F-4D97-AF65-F5344CB8AC3E}">
        <p14:creationId xmlns:p14="http://schemas.microsoft.com/office/powerpoint/2010/main" val="379147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grpId="0" nodeType="clickEffect">
                                  <p:stCondLst>
                                    <p:cond delay="0"/>
                                  </p:stCondLst>
                                  <p:childTnLst>
                                    <p:animEffect transition="out" filter="wipe(down)">
                                      <p:cBhvr>
                                        <p:cTn id="10" dur="500"/>
                                        <p:tgtEl>
                                          <p:spTgt spid="41"/>
                                        </p:tgtEl>
                                      </p:cBhvr>
                                    </p:animEffect>
                                    <p:set>
                                      <p:cBhvr>
                                        <p:cTn id="11" dur="1" fill="hold">
                                          <p:stCondLst>
                                            <p:cond delay="499"/>
                                          </p:stCondLst>
                                        </p:cTn>
                                        <p:tgtEl>
                                          <p:spTgt spid="4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1" grpId="0"/>
      <p:bldP spid="2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xfrm>
            <a:off x="584225" y="1276350"/>
            <a:ext cx="1137191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dirty="0"/>
              <a:t>设计</a:t>
            </a:r>
            <a:r>
              <a:rPr lang="zh-CN" altLang="en-US" sz="2400" dirty="0">
                <a:latin typeface="微软雅黑" panose="020B0503020204020204" pitchFamily="34" charset="-122"/>
                <a:ea typeface="微软雅黑" panose="020B0503020204020204" pitchFamily="34" charset="-122"/>
              </a:rPr>
              <a:t>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D8649DC5-E052-48D2-94AF-A5DB2F3203AE}"/>
              </a:ext>
            </a:extLst>
          </p:cNvPr>
          <p:cNvSpPr txBox="1"/>
          <p:nvPr/>
        </p:nvSpPr>
        <p:spPr>
          <a:xfrm>
            <a:off x="0" y="2418682"/>
            <a:ext cx="4568879"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算法二：数据栈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辅助栈（</a:t>
            </a:r>
            <a:r>
              <a:rPr lang="zh-CN" altLang="en-US" sz="2000" dirty="0">
                <a:solidFill>
                  <a:srgbClr val="00B0F0"/>
                </a:solidFill>
                <a:latin typeface="微软雅黑" panose="020B0503020204020204" pitchFamily="34" charset="-122"/>
                <a:ea typeface="微软雅黑" panose="020B0503020204020204" pitchFamily="34" charset="-122"/>
              </a:rPr>
              <a:t>最大栈</a:t>
            </a:r>
            <a:r>
              <a:rPr lang="zh-CN" altLang="en-US" sz="2000" dirty="0">
                <a:latin typeface="微软雅黑" panose="020B0503020204020204" pitchFamily="34" charset="-122"/>
                <a:ea typeface="微软雅黑" panose="020B0503020204020204" pitchFamily="34" charset="-122"/>
              </a:rPr>
              <a:t>）</a:t>
            </a:r>
          </a:p>
        </p:txBody>
      </p:sp>
      <p:graphicFrame>
        <p:nvGraphicFramePr>
          <p:cNvPr id="29" name="Group 35">
            <a:extLst>
              <a:ext uri="{FF2B5EF4-FFF2-40B4-BE49-F238E27FC236}">
                <a16:creationId xmlns:a16="http://schemas.microsoft.com/office/drawing/2014/main" id="{223754A4-9AB8-4F2E-B587-A1054DC2414B}"/>
              </a:ext>
            </a:extLst>
          </p:cNvPr>
          <p:cNvGraphicFramePr>
            <a:graphicFrameLocks/>
          </p:cNvGraphicFramePr>
          <p:nvPr>
            <p:extLst/>
          </p:nvPr>
        </p:nvGraphicFramePr>
        <p:xfrm>
          <a:off x="900539" y="3526986"/>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CA5277B9-BDF6-4B40-8BD8-C2BB4857914B}"/>
              </a:ext>
            </a:extLst>
          </p:cNvPr>
          <p:cNvSpPr txBox="1"/>
          <p:nvPr/>
        </p:nvSpPr>
        <p:spPr>
          <a:xfrm>
            <a:off x="1322575" y="5884879"/>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1" name="文本框 30">
            <a:extLst>
              <a:ext uri="{FF2B5EF4-FFF2-40B4-BE49-F238E27FC236}">
                <a16:creationId xmlns:a16="http://schemas.microsoft.com/office/drawing/2014/main" id="{1F0CF95C-1B14-4D8F-A6C1-C969D4514136}"/>
              </a:ext>
            </a:extLst>
          </p:cNvPr>
          <p:cNvSpPr txBox="1"/>
          <p:nvPr/>
        </p:nvSpPr>
        <p:spPr>
          <a:xfrm>
            <a:off x="1322575" y="5329710"/>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2" name="文本框 31">
            <a:extLst>
              <a:ext uri="{FF2B5EF4-FFF2-40B4-BE49-F238E27FC236}">
                <a16:creationId xmlns:a16="http://schemas.microsoft.com/office/drawing/2014/main" id="{525FAA53-E5AA-4408-BBDB-43110A0D5B64}"/>
              </a:ext>
            </a:extLst>
          </p:cNvPr>
          <p:cNvSpPr txBox="1"/>
          <p:nvPr/>
        </p:nvSpPr>
        <p:spPr>
          <a:xfrm>
            <a:off x="1244830" y="4752684"/>
            <a:ext cx="495649" cy="461665"/>
          </a:xfrm>
          <a:prstGeom prst="rect">
            <a:avLst/>
          </a:prstGeom>
          <a:noFill/>
        </p:spPr>
        <p:txBody>
          <a:bodyPr wrap="none" rtlCol="0">
            <a:spAutoFit/>
          </a:bodyPr>
          <a:lstStyle/>
          <a:p>
            <a:r>
              <a:rPr lang="en-US" altLang="zh-CN" sz="2400" dirty="0"/>
              <a:t>10</a:t>
            </a:r>
            <a:endParaRPr lang="zh-CN" altLang="en-US" sz="2400" dirty="0"/>
          </a:p>
        </p:txBody>
      </p:sp>
      <p:graphicFrame>
        <p:nvGraphicFramePr>
          <p:cNvPr id="34" name="Group 35">
            <a:extLst>
              <a:ext uri="{FF2B5EF4-FFF2-40B4-BE49-F238E27FC236}">
                <a16:creationId xmlns:a16="http://schemas.microsoft.com/office/drawing/2014/main" id="{930945EE-966E-4F46-8E07-60989037A7BA}"/>
              </a:ext>
            </a:extLst>
          </p:cNvPr>
          <p:cNvGraphicFramePr>
            <a:graphicFrameLocks/>
          </p:cNvGraphicFramePr>
          <p:nvPr>
            <p:extLst/>
          </p:nvPr>
        </p:nvGraphicFramePr>
        <p:xfrm>
          <a:off x="2731516" y="3526986"/>
          <a:ext cx="877164" cy="2913062"/>
        </p:xfrm>
        <a:graphic>
          <a:graphicData uri="http://schemas.openxmlformats.org/drawingml/2006/table">
            <a:tbl>
              <a:tblPr/>
              <a:tblGrid>
                <a:gridCol w="877164">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文本框 35">
            <a:extLst>
              <a:ext uri="{FF2B5EF4-FFF2-40B4-BE49-F238E27FC236}">
                <a16:creationId xmlns:a16="http://schemas.microsoft.com/office/drawing/2014/main" id="{4C677E9F-C61E-42E5-9AA2-ABB62177385D}"/>
              </a:ext>
            </a:extLst>
          </p:cNvPr>
          <p:cNvSpPr txBox="1"/>
          <p:nvPr/>
        </p:nvSpPr>
        <p:spPr>
          <a:xfrm>
            <a:off x="3000019" y="5884879"/>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0" name="文本框 39">
            <a:extLst>
              <a:ext uri="{FF2B5EF4-FFF2-40B4-BE49-F238E27FC236}">
                <a16:creationId xmlns:a16="http://schemas.microsoft.com/office/drawing/2014/main" id="{FA21912C-049C-47B5-AB69-4DE87EB10633}"/>
              </a:ext>
            </a:extLst>
          </p:cNvPr>
          <p:cNvSpPr txBox="1"/>
          <p:nvPr/>
        </p:nvSpPr>
        <p:spPr>
          <a:xfrm>
            <a:off x="3000019" y="5329710"/>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1" name="文本框 40">
            <a:extLst>
              <a:ext uri="{FF2B5EF4-FFF2-40B4-BE49-F238E27FC236}">
                <a16:creationId xmlns:a16="http://schemas.microsoft.com/office/drawing/2014/main" id="{F820E423-F76C-465E-9F77-DF1153C3E78A}"/>
              </a:ext>
            </a:extLst>
          </p:cNvPr>
          <p:cNvSpPr txBox="1"/>
          <p:nvPr/>
        </p:nvSpPr>
        <p:spPr>
          <a:xfrm>
            <a:off x="2922274" y="4752684"/>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12" name="文本框 11">
            <a:extLst>
              <a:ext uri="{FF2B5EF4-FFF2-40B4-BE49-F238E27FC236}">
                <a16:creationId xmlns:a16="http://schemas.microsoft.com/office/drawing/2014/main" id="{AAF0D0F7-8525-4EBE-841B-A942AD4DD9B9}"/>
              </a:ext>
            </a:extLst>
          </p:cNvPr>
          <p:cNvSpPr txBox="1"/>
          <p:nvPr/>
        </p:nvSpPr>
        <p:spPr>
          <a:xfrm>
            <a:off x="1169488" y="6532654"/>
            <a:ext cx="877163" cy="369332"/>
          </a:xfrm>
          <a:prstGeom prst="rect">
            <a:avLst/>
          </a:prstGeom>
          <a:noFill/>
        </p:spPr>
        <p:txBody>
          <a:bodyPr wrap="none" rtlCol="0">
            <a:spAutoFit/>
          </a:bodyPr>
          <a:lstStyle/>
          <a:p>
            <a:r>
              <a:rPr lang="zh-CN" altLang="en-US" dirty="0"/>
              <a:t>数据栈</a:t>
            </a:r>
          </a:p>
        </p:txBody>
      </p:sp>
      <p:sp>
        <p:nvSpPr>
          <p:cNvPr id="46" name="文本框 45">
            <a:extLst>
              <a:ext uri="{FF2B5EF4-FFF2-40B4-BE49-F238E27FC236}">
                <a16:creationId xmlns:a16="http://schemas.microsoft.com/office/drawing/2014/main" id="{11E3FDD4-4843-4EA5-9B52-FF0024AAB889}"/>
              </a:ext>
            </a:extLst>
          </p:cNvPr>
          <p:cNvSpPr txBox="1"/>
          <p:nvPr/>
        </p:nvSpPr>
        <p:spPr>
          <a:xfrm>
            <a:off x="2731516" y="6532654"/>
            <a:ext cx="877163" cy="369332"/>
          </a:xfrm>
          <a:prstGeom prst="rect">
            <a:avLst/>
          </a:prstGeom>
          <a:noFill/>
        </p:spPr>
        <p:txBody>
          <a:bodyPr wrap="none" rtlCol="0">
            <a:spAutoFit/>
          </a:bodyPr>
          <a:lstStyle/>
          <a:p>
            <a:r>
              <a:rPr lang="zh-CN" altLang="en-US" dirty="0">
                <a:solidFill>
                  <a:srgbClr val="00B0F0"/>
                </a:solidFill>
              </a:rPr>
              <a:t>辅助栈</a:t>
            </a:r>
          </a:p>
        </p:txBody>
      </p:sp>
      <p:sp>
        <p:nvSpPr>
          <p:cNvPr id="4" name="文本框 3">
            <a:extLst>
              <a:ext uri="{FF2B5EF4-FFF2-40B4-BE49-F238E27FC236}">
                <a16:creationId xmlns:a16="http://schemas.microsoft.com/office/drawing/2014/main" id="{236F6167-B681-4984-BC0A-1412C43C4329}"/>
              </a:ext>
            </a:extLst>
          </p:cNvPr>
          <p:cNvSpPr txBox="1"/>
          <p:nvPr/>
        </p:nvSpPr>
        <p:spPr>
          <a:xfrm>
            <a:off x="416238" y="2972186"/>
            <a:ext cx="2492990"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询问数据栈中最大值</a:t>
            </a:r>
          </a:p>
        </p:txBody>
      </p:sp>
      <p:sp>
        <p:nvSpPr>
          <p:cNvPr id="27" name="内容占位符 6">
            <a:extLst>
              <a:ext uri="{FF2B5EF4-FFF2-40B4-BE49-F238E27FC236}">
                <a16:creationId xmlns:a16="http://schemas.microsoft.com/office/drawing/2014/main" id="{AD39C330-20D0-499D-B24C-D6BF0BCD9E28}"/>
              </a:ext>
            </a:extLst>
          </p:cNvPr>
          <p:cNvSpPr txBox="1">
            <a:spLocks/>
          </p:cNvSpPr>
          <p:nvPr/>
        </p:nvSpPr>
        <p:spPr>
          <a:xfrm>
            <a:off x="5039935" y="3190757"/>
            <a:ext cx="6313865" cy="2600618"/>
          </a:xfrm>
          <a:prstGeom prst="rect">
            <a:avLst/>
          </a:prstGeom>
          <a:solidFill>
            <a:srgbClr val="00999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Tx/>
              <a:buNone/>
            </a:pPr>
            <a:r>
              <a:rPr lang="zh-CN" altLang="en-US" sz="2000" b="1" dirty="0">
                <a:solidFill>
                  <a:schemeClr val="bg1"/>
                </a:solidFill>
                <a:cs typeface="Times New Roman" panose="02020603050405020304" pitchFamily="18" charset="0"/>
              </a:rPr>
              <a:t>算法：</a:t>
            </a:r>
            <a:r>
              <a:rPr lang="en-US" altLang="zh-CN" sz="2000" dirty="0" err="1">
                <a:solidFill>
                  <a:srgbClr val="FFFF00"/>
                </a:solidFill>
                <a:cs typeface="Times New Roman" panose="02020603050405020304" pitchFamily="18" charset="0"/>
              </a:rPr>
              <a:t>getMaxValue</a:t>
            </a:r>
            <a:r>
              <a:rPr lang="en-US" altLang="zh-CN" sz="2000" dirty="0">
                <a:solidFill>
                  <a:srgbClr val="FFFF00"/>
                </a:solidFill>
                <a:cs typeface="Times New Roman" panose="02020603050405020304" pitchFamily="18" charset="0"/>
              </a:rPr>
              <a:t>(</a:t>
            </a:r>
            <a:r>
              <a:rPr lang="en-US" altLang="zh-CN" sz="2000" i="1" dirty="0">
                <a:solidFill>
                  <a:srgbClr val="FFFF00"/>
                </a:solidFill>
                <a:cs typeface="Times New Roman" panose="02020603050405020304" pitchFamily="18" charset="0"/>
              </a:rPr>
              <a:t>stack, </a:t>
            </a:r>
            <a:r>
              <a:rPr lang="en-US" altLang="zh-CN" sz="2000" i="1" dirty="0" err="1">
                <a:solidFill>
                  <a:srgbClr val="FFFF00"/>
                </a:solidFill>
                <a:cs typeface="Times New Roman" panose="02020603050405020304" pitchFamily="18" charset="0"/>
              </a:rPr>
              <a:t>max_stack</a:t>
            </a:r>
            <a:r>
              <a:rPr lang="en-US" altLang="zh-CN" sz="2000" dirty="0">
                <a:solidFill>
                  <a:srgbClr val="FFFF00"/>
                </a:solidFill>
                <a:cs typeface="Times New Roman" panose="02020603050405020304" pitchFamily="18" charset="0"/>
              </a:rPr>
              <a:t>) </a:t>
            </a:r>
            <a:endParaRPr lang="en-US" altLang="zh-CN" sz="2000" dirty="0">
              <a:solidFill>
                <a:srgbClr val="FFFF00"/>
              </a:solidFill>
            </a:endParaRPr>
          </a:p>
          <a:p>
            <a:pPr marL="0" indent="0">
              <a:lnSpc>
                <a:spcPct val="100000"/>
              </a:lnSpc>
              <a:buFontTx/>
              <a:buNone/>
            </a:pPr>
            <a:r>
              <a:rPr lang="en-US" altLang="zh-CN" sz="2000" b="1" dirty="0">
                <a:solidFill>
                  <a:schemeClr val="bg1"/>
                </a:solidFill>
                <a:cs typeface="Times New Roman" panose="02020603050405020304" pitchFamily="18" charset="0"/>
              </a:rPr>
              <a:t>1.   if </a:t>
            </a:r>
            <a:r>
              <a:rPr lang="en-US" altLang="zh-CN" sz="2000" dirty="0" err="1">
                <a:solidFill>
                  <a:schemeClr val="bg1"/>
                </a:solidFill>
                <a:cs typeface="Times New Roman" panose="02020603050405020304" pitchFamily="18" charset="0"/>
              </a:rPr>
              <a:t>IsEmpty</a:t>
            </a:r>
            <a:r>
              <a:rPr lang="en-US" altLang="zh-CN" sz="2000" dirty="0">
                <a:solidFill>
                  <a:schemeClr val="bg1"/>
                </a:solidFill>
                <a:cs typeface="Times New Roman" panose="02020603050405020304" pitchFamily="18" charset="0"/>
              </a:rPr>
              <a:t>(</a:t>
            </a:r>
            <a:r>
              <a:rPr lang="en-US" altLang="zh-CN" sz="2000" i="1" dirty="0">
                <a:solidFill>
                  <a:schemeClr val="bg1"/>
                </a:solidFill>
                <a:cs typeface="Times New Roman" panose="02020603050405020304" pitchFamily="18" charset="0"/>
              </a:rPr>
              <a:t>stack</a:t>
            </a:r>
            <a:r>
              <a:rPr lang="en-US" altLang="zh-CN" sz="2000" dirty="0">
                <a:solidFill>
                  <a:schemeClr val="bg1"/>
                </a:solidFill>
                <a:cs typeface="Times New Roman" panose="02020603050405020304" pitchFamily="18" charset="0"/>
              </a:rPr>
              <a:t>)=</a:t>
            </a:r>
            <a:r>
              <a:rPr lang="en-US" altLang="zh-CN" sz="2000" b="1" dirty="0">
                <a:solidFill>
                  <a:schemeClr val="bg1"/>
                </a:solidFill>
                <a:cs typeface="Times New Roman" panose="02020603050405020304" pitchFamily="18" charset="0"/>
              </a:rPr>
              <a:t>true</a:t>
            </a:r>
            <a:r>
              <a:rPr lang="en-US" altLang="zh-CN" sz="2000" dirty="0">
                <a:solidFill>
                  <a:schemeClr val="bg1"/>
                </a:solidFill>
                <a:cs typeface="Times New Roman" panose="02020603050405020304" pitchFamily="18" charset="0"/>
              </a:rPr>
              <a:t> </a:t>
            </a:r>
            <a:r>
              <a:rPr lang="en-US" altLang="zh-CN" sz="2000" b="1" dirty="0">
                <a:solidFill>
                  <a:schemeClr val="bg1"/>
                </a:solidFill>
                <a:cs typeface="Times New Roman" panose="02020603050405020304" pitchFamily="18" charset="0"/>
              </a:rPr>
              <a:t>then</a:t>
            </a:r>
            <a:endParaRPr lang="en-US" altLang="zh-CN" sz="2000" dirty="0">
              <a:solidFill>
                <a:schemeClr val="bg1"/>
              </a:solidFill>
            </a:endParaRPr>
          </a:p>
          <a:p>
            <a:pPr marL="0" indent="0">
              <a:lnSpc>
                <a:spcPct val="100000"/>
              </a:lnSpc>
              <a:buFontTx/>
              <a:buNone/>
            </a:pPr>
            <a:r>
              <a:rPr lang="en-US" altLang="zh-CN" sz="2000" dirty="0">
                <a:solidFill>
                  <a:schemeClr val="bg1"/>
                </a:solidFill>
                <a:cs typeface="Times New Roman" panose="02020603050405020304" pitchFamily="18" charset="0"/>
              </a:rPr>
              <a:t>2.   |  </a:t>
            </a:r>
            <a:r>
              <a:rPr lang="en-US" altLang="zh-CN" sz="2000" b="1" dirty="0">
                <a:solidFill>
                  <a:schemeClr val="bg1"/>
                </a:solidFill>
                <a:cs typeface="Times New Roman" panose="02020603050405020304" pitchFamily="18" charset="0"/>
              </a:rPr>
              <a:t>return </a:t>
            </a:r>
            <a:r>
              <a:rPr lang="en-US" altLang="zh-CN" sz="2000" dirty="0">
                <a:solidFill>
                  <a:schemeClr val="bg1"/>
                </a:solidFill>
                <a:cs typeface="Times New Roman" panose="02020603050405020304" pitchFamily="18" charset="0"/>
              </a:rPr>
              <a:t>NIL</a:t>
            </a:r>
            <a:endParaRPr lang="zh-CN" altLang="en-US"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3.   else</a:t>
            </a:r>
            <a:endParaRPr lang="en-US" altLang="zh-CN" sz="2000" dirty="0">
              <a:solidFill>
                <a:schemeClr val="bg1"/>
              </a:solidFill>
            </a:endParaRPr>
          </a:p>
          <a:p>
            <a:pPr marL="0" indent="0">
              <a:lnSpc>
                <a:spcPct val="100000"/>
              </a:lnSpc>
              <a:buFontTx/>
              <a:buNone/>
            </a:pPr>
            <a:r>
              <a:rPr lang="en-US" altLang="zh-CN" sz="2000" b="1" dirty="0">
                <a:solidFill>
                  <a:schemeClr val="bg1"/>
                </a:solidFill>
                <a:cs typeface="Times New Roman" panose="02020603050405020304" pitchFamily="18" charset="0"/>
              </a:rPr>
              <a:t>4.   |  return </a:t>
            </a:r>
            <a:r>
              <a:rPr lang="en-US" altLang="zh-CN" sz="2000" i="1" dirty="0" err="1">
                <a:solidFill>
                  <a:srgbClr val="FFFF00"/>
                </a:solidFill>
                <a:cs typeface="Times New Roman" panose="02020603050405020304" pitchFamily="18" charset="0"/>
              </a:rPr>
              <a:t>max_stack.data</a:t>
            </a:r>
            <a:r>
              <a:rPr lang="en-US" altLang="zh-CN" sz="2000" dirty="0">
                <a:solidFill>
                  <a:srgbClr val="FFFF00"/>
                </a:solidFill>
                <a:cs typeface="Times New Roman" panose="02020603050405020304" pitchFamily="18" charset="0"/>
              </a:rPr>
              <a:t>[</a:t>
            </a:r>
            <a:r>
              <a:rPr lang="en-US" altLang="zh-CN" sz="2000" i="1" dirty="0" err="1">
                <a:solidFill>
                  <a:srgbClr val="FFFF00"/>
                </a:solidFill>
                <a:cs typeface="Times New Roman" panose="02020603050405020304" pitchFamily="18" charset="0"/>
              </a:rPr>
              <a:t>stack.top</a:t>
            </a:r>
            <a:r>
              <a:rPr lang="en-US" altLang="zh-CN" sz="2000" dirty="0">
                <a:solidFill>
                  <a:srgbClr val="FFFF00"/>
                </a:solidFill>
                <a:cs typeface="Times New Roman" panose="02020603050405020304" pitchFamily="18" charset="0"/>
              </a:rPr>
              <a:t>]</a:t>
            </a:r>
            <a:endParaRPr lang="en-US" altLang="zh-CN" sz="2000" b="1" dirty="0">
              <a:solidFill>
                <a:srgbClr val="FFFF00"/>
              </a:solidFill>
            </a:endParaRPr>
          </a:p>
          <a:p>
            <a:pPr marL="0" indent="0">
              <a:lnSpc>
                <a:spcPct val="100000"/>
              </a:lnSpc>
              <a:buFontTx/>
              <a:buNone/>
            </a:pPr>
            <a:r>
              <a:rPr lang="en-US" altLang="zh-CN" sz="2000" b="1" dirty="0">
                <a:solidFill>
                  <a:schemeClr val="bg1"/>
                </a:solidFill>
                <a:cs typeface="Times New Roman" panose="02020603050405020304" pitchFamily="18" charset="0"/>
              </a:rPr>
              <a:t>5.   end           </a:t>
            </a:r>
            <a:r>
              <a:rPr lang="en-US" altLang="zh-CN" sz="2000" dirty="0">
                <a:solidFill>
                  <a:srgbClr val="FFFF00"/>
                </a:solidFill>
                <a:cs typeface="Times New Roman" panose="02020603050405020304" pitchFamily="18" charset="0"/>
              </a:rPr>
              <a:t>//</a:t>
            </a:r>
            <a:r>
              <a:rPr lang="zh-CN" altLang="en-US" sz="2000" dirty="0">
                <a:solidFill>
                  <a:srgbClr val="FFFF00"/>
                </a:solidFill>
                <a:cs typeface="Times New Roman" panose="02020603050405020304" pitchFamily="18" charset="0"/>
              </a:rPr>
              <a:t>返回最大栈栈顶元素</a:t>
            </a:r>
            <a:endParaRPr lang="en-US" sz="2000" dirty="0">
              <a:solidFill>
                <a:srgbClr val="FFFF00"/>
              </a:solidFill>
            </a:endParaRPr>
          </a:p>
        </p:txBody>
      </p:sp>
    </p:spTree>
    <p:extLst>
      <p:ext uri="{BB962C8B-B14F-4D97-AF65-F5344CB8AC3E}">
        <p14:creationId xmlns:p14="http://schemas.microsoft.com/office/powerpoint/2010/main" val="161805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a:defRPr/>
            </a:pPr>
            <a:r>
              <a:rPr kumimoji="0" lang="en-US" dirty="0"/>
              <a:t>*</a:t>
            </a:r>
            <a:r>
              <a:rPr lang="zh-CN" altLang="en-US" dirty="0"/>
              <a:t>经典面试题：最大栈</a:t>
            </a:r>
            <a:endParaRPr kumimoji="0" dirty="0"/>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问题</a:t>
            </a:r>
            <a:r>
              <a:rPr lang="zh-CN" altLang="en-US" sz="2400" dirty="0">
                <a:latin typeface="微软雅黑" panose="020B0503020204020204" pitchFamily="34" charset="-122"/>
                <a:ea typeface="微软雅黑" panose="020B0503020204020204" pitchFamily="34" charset="-122"/>
              </a:rPr>
              <a:t>：对栈</a:t>
            </a:r>
            <a:r>
              <a:rPr lang="en-US" altLang="zh-CN" sz="2400" dirty="0">
                <a:latin typeface="微软雅黑" panose="020B0503020204020204" pitchFamily="34" charset="-122"/>
                <a:ea typeface="微软雅黑" panose="020B0503020204020204" pitchFamily="34" charset="-122"/>
              </a:rPr>
              <a:t>stack</a:t>
            </a:r>
            <a:r>
              <a:rPr lang="zh-CN" altLang="en-US" dirty="0"/>
              <a:t>设计</a:t>
            </a:r>
            <a:r>
              <a:rPr lang="zh-CN" altLang="en-US" sz="2400" dirty="0">
                <a:latin typeface="微软雅黑" panose="020B0503020204020204" pitchFamily="34" charset="-122"/>
                <a:ea typeface="微软雅黑" panose="020B0503020204020204" pitchFamily="34" charset="-122"/>
              </a:rPr>
              <a:t>一个（成员）函数</a:t>
            </a:r>
            <a:r>
              <a:rPr lang="en-US" altLang="zh-CN" sz="2400" dirty="0" err="1">
                <a:latin typeface="微软雅黑" panose="020B0503020204020204" pitchFamily="34" charset="-122"/>
                <a:ea typeface="微软雅黑" panose="020B0503020204020204" pitchFamily="34" charset="-122"/>
              </a:rPr>
              <a:t>getMaxValue</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zh-CN" altLang="en-US" dirty="0"/>
              <a:t>当栈非空时，返回栈中值最大的元素。</a:t>
            </a:r>
            <a:endParaRPr lang="zh-CN" altLang="zh-CN" sz="2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2B03533-3CBC-4C1A-BA53-0FC118C4FE8D}"/>
              </a:ext>
            </a:extLst>
          </p:cNvPr>
          <p:cNvSpPr txBox="1"/>
          <p:nvPr/>
        </p:nvSpPr>
        <p:spPr>
          <a:xfrm>
            <a:off x="926906" y="2702608"/>
            <a:ext cx="2582758"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算法一：顺序查找</a:t>
            </a:r>
          </a:p>
        </p:txBody>
      </p:sp>
      <p:sp>
        <p:nvSpPr>
          <p:cNvPr id="26" name="任意多边形: 形状 69">
            <a:extLst>
              <a:ext uri="{FF2B5EF4-FFF2-40B4-BE49-F238E27FC236}">
                <a16:creationId xmlns:a16="http://schemas.microsoft.com/office/drawing/2014/main" id="{8DA195F7-112F-4B51-95D1-9D3AF8889FC5}"/>
              </a:ext>
            </a:extLst>
          </p:cNvPr>
          <p:cNvSpPr/>
          <p:nvPr/>
        </p:nvSpPr>
        <p:spPr>
          <a:xfrm>
            <a:off x="357115" y="3515131"/>
            <a:ext cx="4829993" cy="77684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每次调用函数</a:t>
            </a:r>
            <a:r>
              <a:rPr lang="en-US" altLang="zh-CN" sz="2000" dirty="0" err="1">
                <a:solidFill>
                  <a:schemeClr val="bg1"/>
                </a:solidFill>
                <a:latin typeface="Microsoft YaHei" panose="020B0503020204020204" pitchFamily="34" charset="-122"/>
                <a:ea typeface="Microsoft YaHei" panose="020B0503020204020204" pitchFamily="34" charset="-122"/>
              </a:rPr>
              <a:t>getMaxValue</a:t>
            </a:r>
            <a:r>
              <a:rPr lang="en-US" altLang="zh-CN" sz="2000" dirty="0">
                <a:solidFill>
                  <a:schemeClr val="bg1"/>
                </a:solidFill>
                <a:latin typeface="Microsoft YaHei" panose="020B0503020204020204" pitchFamily="34" charset="-122"/>
                <a:ea typeface="Microsoft YaHei" panose="020B0503020204020204" pitchFamily="34" charset="-122"/>
              </a:rPr>
              <a:t>()</a:t>
            </a:r>
            <a:r>
              <a:rPr lang="zh-CN" altLang="en-US" sz="2000" dirty="0">
                <a:solidFill>
                  <a:schemeClr val="bg1"/>
                </a:solidFill>
                <a:latin typeface="Microsoft YaHei" panose="020B0503020204020204" pitchFamily="34" charset="-122"/>
                <a:ea typeface="Microsoft YaHei" panose="020B0503020204020204" pitchFamily="34" charset="-122"/>
              </a:rPr>
              <a:t>时，查找当前栈中所有元素的最大值</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38E4B9AD-BFA5-48A9-BF3A-0E8BED600D57}"/>
              </a:ext>
            </a:extLst>
          </p:cNvPr>
          <p:cNvSpPr txBox="1"/>
          <p:nvPr/>
        </p:nvSpPr>
        <p:spPr>
          <a:xfrm>
            <a:off x="1057539" y="4646534"/>
            <a:ext cx="3429144"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时间</a:t>
            </a:r>
            <a:r>
              <a:rPr lang="en-US" altLang="zh-CN" dirty="0"/>
              <a:t>O(n), n</a:t>
            </a:r>
            <a:r>
              <a:rPr lang="zh-CN" altLang="en-US" dirty="0"/>
              <a:t>代表栈中元素数量</a:t>
            </a:r>
            <a:endParaRPr lang="en-US" altLang="zh-CN" dirty="0"/>
          </a:p>
          <a:p>
            <a:pPr marL="285750" indent="-285750">
              <a:buFont typeface="Arial" panose="020B0604020202020204" pitchFamily="34" charset="0"/>
              <a:buChar char="•"/>
            </a:pPr>
            <a:r>
              <a:rPr lang="zh-CN" altLang="en-US" dirty="0">
                <a:solidFill>
                  <a:srgbClr val="FF0000"/>
                </a:solidFill>
              </a:rPr>
              <a:t>空间</a:t>
            </a:r>
            <a:r>
              <a:rPr lang="en-US" altLang="zh-CN" dirty="0">
                <a:solidFill>
                  <a:srgbClr val="FF0000"/>
                </a:solidFill>
              </a:rPr>
              <a:t>O(1)</a:t>
            </a:r>
            <a:endParaRPr lang="zh-CN" altLang="en-US" dirty="0">
              <a:solidFill>
                <a:srgbClr val="FF0000"/>
              </a:solidFill>
            </a:endParaRPr>
          </a:p>
        </p:txBody>
      </p:sp>
      <p:sp>
        <p:nvSpPr>
          <p:cNvPr id="28" name="文本框 27">
            <a:extLst>
              <a:ext uri="{FF2B5EF4-FFF2-40B4-BE49-F238E27FC236}">
                <a16:creationId xmlns:a16="http://schemas.microsoft.com/office/drawing/2014/main" id="{D8649DC5-E052-48D2-94AF-A5DB2F3203AE}"/>
              </a:ext>
            </a:extLst>
          </p:cNvPr>
          <p:cNvSpPr txBox="1"/>
          <p:nvPr/>
        </p:nvSpPr>
        <p:spPr>
          <a:xfrm>
            <a:off x="7162232" y="1993293"/>
            <a:ext cx="4568879"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算法二：数据栈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辅助栈（</a:t>
            </a:r>
            <a:r>
              <a:rPr lang="zh-CN" altLang="en-US" sz="2000" dirty="0">
                <a:solidFill>
                  <a:srgbClr val="00B0F0"/>
                </a:solidFill>
                <a:latin typeface="微软雅黑" panose="020B0503020204020204" pitchFamily="34" charset="-122"/>
                <a:ea typeface="微软雅黑" panose="020B0503020204020204" pitchFamily="34" charset="-122"/>
              </a:rPr>
              <a:t>最大栈</a:t>
            </a:r>
            <a:r>
              <a:rPr lang="zh-CN" altLang="en-US" sz="2000" dirty="0">
                <a:latin typeface="微软雅黑" panose="020B0503020204020204" pitchFamily="34" charset="-122"/>
                <a:ea typeface="微软雅黑" panose="020B0503020204020204" pitchFamily="34" charset="-122"/>
              </a:rPr>
              <a:t>）</a:t>
            </a:r>
          </a:p>
        </p:txBody>
      </p:sp>
      <p:grpSp>
        <p:nvGrpSpPr>
          <p:cNvPr id="13" name="组合 12">
            <a:extLst>
              <a:ext uri="{FF2B5EF4-FFF2-40B4-BE49-F238E27FC236}">
                <a16:creationId xmlns:a16="http://schemas.microsoft.com/office/drawing/2014/main" id="{757EE75F-558C-4858-BCE4-00B331AEEA45}"/>
              </a:ext>
            </a:extLst>
          </p:cNvPr>
          <p:cNvGrpSpPr/>
          <p:nvPr/>
        </p:nvGrpSpPr>
        <p:grpSpPr>
          <a:xfrm>
            <a:off x="7897980" y="2604475"/>
            <a:ext cx="2708141" cy="3375000"/>
            <a:chOff x="7860085" y="3102718"/>
            <a:chExt cx="2708141" cy="3375000"/>
          </a:xfrm>
        </p:grpSpPr>
        <p:graphicFrame>
          <p:nvGraphicFramePr>
            <p:cNvPr id="29" name="Group 35">
              <a:extLst>
                <a:ext uri="{FF2B5EF4-FFF2-40B4-BE49-F238E27FC236}">
                  <a16:creationId xmlns:a16="http://schemas.microsoft.com/office/drawing/2014/main" id="{223754A4-9AB8-4F2E-B587-A1054DC2414B}"/>
                </a:ext>
              </a:extLst>
            </p:cNvPr>
            <p:cNvGraphicFramePr>
              <a:graphicFrameLocks/>
            </p:cNvGraphicFramePr>
            <p:nvPr>
              <p:extLst/>
            </p:nvPr>
          </p:nvGraphicFramePr>
          <p:xfrm>
            <a:off x="7860085" y="3102718"/>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CA5277B9-BDF6-4B40-8BD8-C2BB4857914B}"/>
                </a:ext>
              </a:extLst>
            </p:cNvPr>
            <p:cNvSpPr txBox="1"/>
            <p:nvPr/>
          </p:nvSpPr>
          <p:spPr>
            <a:xfrm>
              <a:off x="8282121" y="5460611"/>
              <a:ext cx="340158" cy="461665"/>
            </a:xfrm>
            <a:prstGeom prst="rect">
              <a:avLst/>
            </a:prstGeom>
            <a:noFill/>
          </p:spPr>
          <p:txBody>
            <a:bodyPr wrap="none" rtlCol="0">
              <a:spAutoFit/>
            </a:bodyPr>
            <a:lstStyle/>
            <a:p>
              <a:r>
                <a:rPr lang="en-US" altLang="zh-CN" sz="2400" dirty="0"/>
                <a:t>5</a:t>
              </a:r>
              <a:endParaRPr lang="zh-CN" altLang="en-US" sz="2400" dirty="0"/>
            </a:p>
          </p:txBody>
        </p:sp>
        <p:sp>
          <p:nvSpPr>
            <p:cNvPr id="31" name="文本框 30">
              <a:extLst>
                <a:ext uri="{FF2B5EF4-FFF2-40B4-BE49-F238E27FC236}">
                  <a16:creationId xmlns:a16="http://schemas.microsoft.com/office/drawing/2014/main" id="{1F0CF95C-1B14-4D8F-A6C1-C969D4514136}"/>
                </a:ext>
              </a:extLst>
            </p:cNvPr>
            <p:cNvSpPr txBox="1"/>
            <p:nvPr/>
          </p:nvSpPr>
          <p:spPr>
            <a:xfrm>
              <a:off x="8282121" y="4905442"/>
              <a:ext cx="340158" cy="461665"/>
            </a:xfrm>
            <a:prstGeom prst="rect">
              <a:avLst/>
            </a:prstGeom>
            <a:noFill/>
          </p:spPr>
          <p:txBody>
            <a:bodyPr wrap="none" rtlCol="0">
              <a:spAutoFit/>
            </a:bodyPr>
            <a:lstStyle/>
            <a:p>
              <a:r>
                <a:rPr lang="en-US" altLang="zh-CN" sz="2400" dirty="0"/>
                <a:t>2</a:t>
              </a:r>
              <a:endParaRPr lang="zh-CN" altLang="en-US" sz="2400" dirty="0"/>
            </a:p>
          </p:txBody>
        </p:sp>
        <p:sp>
          <p:nvSpPr>
            <p:cNvPr id="32" name="文本框 31">
              <a:extLst>
                <a:ext uri="{FF2B5EF4-FFF2-40B4-BE49-F238E27FC236}">
                  <a16:creationId xmlns:a16="http://schemas.microsoft.com/office/drawing/2014/main" id="{525FAA53-E5AA-4408-BBDB-43110A0D5B64}"/>
                </a:ext>
              </a:extLst>
            </p:cNvPr>
            <p:cNvSpPr txBox="1"/>
            <p:nvPr/>
          </p:nvSpPr>
          <p:spPr>
            <a:xfrm>
              <a:off x="8204376" y="4328416"/>
              <a:ext cx="495649" cy="461665"/>
            </a:xfrm>
            <a:prstGeom prst="rect">
              <a:avLst/>
            </a:prstGeom>
            <a:noFill/>
          </p:spPr>
          <p:txBody>
            <a:bodyPr wrap="none" rtlCol="0">
              <a:spAutoFit/>
            </a:bodyPr>
            <a:lstStyle/>
            <a:p>
              <a:r>
                <a:rPr lang="en-US" altLang="zh-CN" sz="2400" dirty="0"/>
                <a:t>10</a:t>
              </a:r>
              <a:endParaRPr lang="zh-CN" altLang="en-US" sz="2400" dirty="0"/>
            </a:p>
          </p:txBody>
        </p:sp>
        <p:graphicFrame>
          <p:nvGraphicFramePr>
            <p:cNvPr id="34" name="Group 35">
              <a:extLst>
                <a:ext uri="{FF2B5EF4-FFF2-40B4-BE49-F238E27FC236}">
                  <a16:creationId xmlns:a16="http://schemas.microsoft.com/office/drawing/2014/main" id="{930945EE-966E-4F46-8E07-60989037A7BA}"/>
                </a:ext>
              </a:extLst>
            </p:cNvPr>
            <p:cNvGraphicFramePr>
              <a:graphicFrameLocks/>
            </p:cNvGraphicFramePr>
            <p:nvPr>
              <p:extLst/>
            </p:nvPr>
          </p:nvGraphicFramePr>
          <p:xfrm>
            <a:off x="9691062" y="3102718"/>
            <a:ext cx="877164" cy="2913062"/>
          </p:xfrm>
          <a:graphic>
            <a:graphicData uri="http://schemas.openxmlformats.org/drawingml/2006/table">
              <a:tbl>
                <a:tblPr/>
                <a:tblGrid>
                  <a:gridCol w="877164">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文本框 35">
              <a:extLst>
                <a:ext uri="{FF2B5EF4-FFF2-40B4-BE49-F238E27FC236}">
                  <a16:creationId xmlns:a16="http://schemas.microsoft.com/office/drawing/2014/main" id="{4C677E9F-C61E-42E5-9AA2-ABB62177385D}"/>
                </a:ext>
              </a:extLst>
            </p:cNvPr>
            <p:cNvSpPr txBox="1"/>
            <p:nvPr/>
          </p:nvSpPr>
          <p:spPr>
            <a:xfrm>
              <a:off x="9959565" y="5460611"/>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0" name="文本框 39">
              <a:extLst>
                <a:ext uri="{FF2B5EF4-FFF2-40B4-BE49-F238E27FC236}">
                  <a16:creationId xmlns:a16="http://schemas.microsoft.com/office/drawing/2014/main" id="{FA21912C-049C-47B5-AB69-4DE87EB10633}"/>
                </a:ext>
              </a:extLst>
            </p:cNvPr>
            <p:cNvSpPr txBox="1"/>
            <p:nvPr/>
          </p:nvSpPr>
          <p:spPr>
            <a:xfrm>
              <a:off x="9959565" y="4905442"/>
              <a:ext cx="340158" cy="461665"/>
            </a:xfrm>
            <a:prstGeom prst="rect">
              <a:avLst/>
            </a:prstGeom>
            <a:noFill/>
          </p:spPr>
          <p:txBody>
            <a:bodyPr wrap="none" rtlCol="0">
              <a:spAutoFit/>
            </a:bodyPr>
            <a:lstStyle/>
            <a:p>
              <a:r>
                <a:rPr lang="en-US" altLang="zh-CN" sz="2400" dirty="0">
                  <a:solidFill>
                    <a:srgbClr val="00B0F0"/>
                  </a:solidFill>
                </a:rPr>
                <a:t>5</a:t>
              </a:r>
              <a:endParaRPr lang="zh-CN" altLang="en-US" sz="2400" dirty="0">
                <a:solidFill>
                  <a:srgbClr val="00B0F0"/>
                </a:solidFill>
              </a:endParaRPr>
            </a:p>
          </p:txBody>
        </p:sp>
        <p:sp>
          <p:nvSpPr>
            <p:cNvPr id="41" name="文本框 40">
              <a:extLst>
                <a:ext uri="{FF2B5EF4-FFF2-40B4-BE49-F238E27FC236}">
                  <a16:creationId xmlns:a16="http://schemas.microsoft.com/office/drawing/2014/main" id="{F820E423-F76C-465E-9F77-DF1153C3E78A}"/>
                </a:ext>
              </a:extLst>
            </p:cNvPr>
            <p:cNvSpPr txBox="1"/>
            <p:nvPr/>
          </p:nvSpPr>
          <p:spPr>
            <a:xfrm>
              <a:off x="9881820" y="4328416"/>
              <a:ext cx="495649" cy="461665"/>
            </a:xfrm>
            <a:prstGeom prst="rect">
              <a:avLst/>
            </a:prstGeom>
            <a:noFill/>
          </p:spPr>
          <p:txBody>
            <a:bodyPr wrap="none" rtlCol="0">
              <a:spAutoFit/>
            </a:bodyPr>
            <a:lstStyle/>
            <a:p>
              <a:r>
                <a:rPr lang="en-US" altLang="zh-CN" sz="2400" dirty="0">
                  <a:solidFill>
                    <a:srgbClr val="00B0F0"/>
                  </a:solidFill>
                </a:rPr>
                <a:t>10</a:t>
              </a:r>
              <a:endParaRPr lang="zh-CN" altLang="en-US" sz="2400" dirty="0">
                <a:solidFill>
                  <a:srgbClr val="00B0F0"/>
                </a:solidFill>
              </a:endParaRPr>
            </a:p>
          </p:txBody>
        </p:sp>
        <p:sp>
          <p:nvSpPr>
            <p:cNvPr id="12" name="文本框 11">
              <a:extLst>
                <a:ext uri="{FF2B5EF4-FFF2-40B4-BE49-F238E27FC236}">
                  <a16:creationId xmlns:a16="http://schemas.microsoft.com/office/drawing/2014/main" id="{AAF0D0F7-8525-4EBE-841B-A942AD4DD9B9}"/>
                </a:ext>
              </a:extLst>
            </p:cNvPr>
            <p:cNvSpPr txBox="1"/>
            <p:nvPr/>
          </p:nvSpPr>
          <p:spPr>
            <a:xfrm>
              <a:off x="8129034" y="6108386"/>
              <a:ext cx="877163" cy="369332"/>
            </a:xfrm>
            <a:prstGeom prst="rect">
              <a:avLst/>
            </a:prstGeom>
            <a:noFill/>
          </p:spPr>
          <p:txBody>
            <a:bodyPr wrap="none" rtlCol="0">
              <a:spAutoFit/>
            </a:bodyPr>
            <a:lstStyle/>
            <a:p>
              <a:r>
                <a:rPr lang="zh-CN" altLang="en-US" dirty="0"/>
                <a:t>数据栈</a:t>
              </a:r>
            </a:p>
          </p:txBody>
        </p:sp>
        <p:sp>
          <p:nvSpPr>
            <p:cNvPr id="46" name="文本框 45">
              <a:extLst>
                <a:ext uri="{FF2B5EF4-FFF2-40B4-BE49-F238E27FC236}">
                  <a16:creationId xmlns:a16="http://schemas.microsoft.com/office/drawing/2014/main" id="{11E3FDD4-4843-4EA5-9B52-FF0024AAB889}"/>
                </a:ext>
              </a:extLst>
            </p:cNvPr>
            <p:cNvSpPr txBox="1"/>
            <p:nvPr/>
          </p:nvSpPr>
          <p:spPr>
            <a:xfrm>
              <a:off x="9691062" y="6108386"/>
              <a:ext cx="877163" cy="369332"/>
            </a:xfrm>
            <a:prstGeom prst="rect">
              <a:avLst/>
            </a:prstGeom>
            <a:noFill/>
          </p:spPr>
          <p:txBody>
            <a:bodyPr wrap="none" rtlCol="0">
              <a:spAutoFit/>
            </a:bodyPr>
            <a:lstStyle/>
            <a:p>
              <a:r>
                <a:rPr lang="zh-CN" altLang="en-US" dirty="0">
                  <a:solidFill>
                    <a:srgbClr val="00B0F0"/>
                  </a:solidFill>
                </a:rPr>
                <a:t>辅助栈</a:t>
              </a:r>
            </a:p>
          </p:txBody>
        </p:sp>
      </p:grpSp>
      <p:sp>
        <p:nvSpPr>
          <p:cNvPr id="21" name="文本框 20">
            <a:extLst>
              <a:ext uri="{FF2B5EF4-FFF2-40B4-BE49-F238E27FC236}">
                <a16:creationId xmlns:a16="http://schemas.microsoft.com/office/drawing/2014/main" id="{6E10B354-10BD-4956-828D-7B0FEEE0DF75}"/>
              </a:ext>
            </a:extLst>
          </p:cNvPr>
          <p:cNvSpPr txBox="1"/>
          <p:nvPr/>
        </p:nvSpPr>
        <p:spPr>
          <a:xfrm>
            <a:off x="7252608" y="5966351"/>
            <a:ext cx="4703532"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rgbClr val="FF0000"/>
                </a:solidFill>
              </a:rPr>
              <a:t>时间</a:t>
            </a:r>
            <a:r>
              <a:rPr lang="en-US" altLang="zh-CN" dirty="0">
                <a:solidFill>
                  <a:srgbClr val="FF0000"/>
                </a:solidFill>
              </a:rPr>
              <a:t>O(1)</a:t>
            </a:r>
          </a:p>
          <a:p>
            <a:pPr marL="285750" indent="-285750">
              <a:buFont typeface="Arial" panose="020B0604020202020204" pitchFamily="34" charset="0"/>
              <a:buChar char="•"/>
            </a:pPr>
            <a:r>
              <a:rPr lang="zh-CN" altLang="en-US" dirty="0"/>
              <a:t>空间</a:t>
            </a:r>
            <a:r>
              <a:rPr lang="en-US" altLang="zh-CN" dirty="0"/>
              <a:t>O(n)</a:t>
            </a:r>
            <a:r>
              <a:rPr lang="zh-CN" altLang="en-US" dirty="0"/>
              <a:t>，</a:t>
            </a:r>
            <a:r>
              <a:rPr lang="en-US" altLang="zh-CN" dirty="0"/>
              <a:t>n</a:t>
            </a:r>
            <a:r>
              <a:rPr lang="zh-CN" altLang="en-US" dirty="0"/>
              <a:t>代表数据栈容量。</a:t>
            </a:r>
            <a:r>
              <a:rPr lang="zh-CN" altLang="en-US" dirty="0">
                <a:solidFill>
                  <a:srgbClr val="00B0F0"/>
                </a:solidFill>
              </a:rPr>
              <a:t>空间换时间</a:t>
            </a:r>
          </a:p>
        </p:txBody>
      </p:sp>
    </p:spTree>
    <p:extLst>
      <p:ext uri="{BB962C8B-B14F-4D97-AF65-F5344CB8AC3E}">
        <p14:creationId xmlns:p14="http://schemas.microsoft.com/office/powerpoint/2010/main" val="195980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36CE6BD-4F50-4F77-A00B-6ADB5DA138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sym typeface="Wingdings" panose="05000000000000000000" pitchFamily="2" charset="2"/>
              </a:rPr>
              <a:t>栈与递归</a:t>
            </a:r>
          </a:p>
        </p:txBody>
      </p:sp>
      <p:sp>
        <p:nvSpPr>
          <p:cNvPr id="2" name="副标题 1">
            <a:extLst>
              <a:ext uri="{FF2B5EF4-FFF2-40B4-BE49-F238E27FC236}">
                <a16:creationId xmlns:a16="http://schemas.microsoft.com/office/drawing/2014/main" id="{B75D8D99-CDF6-4FB5-B686-63C5FC9318A1}"/>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83BEB06-BC7B-47F1-9ECD-CFDA3FD74DD9}"/>
              </a:ext>
            </a:extLst>
          </p:cNvPr>
          <p:cNvSpPr>
            <a:spLocks noGrp="1"/>
          </p:cNvSpPr>
          <p:nvPr>
            <p:ph type="body" idx="10"/>
          </p:nvPr>
        </p:nvSpPr>
        <p:spPr/>
        <p:txBody>
          <a:bodyPr/>
          <a:lstStyle/>
          <a:p>
            <a:endParaRPr lang="zh-CN" altLang="en-US"/>
          </a:p>
        </p:txBody>
      </p:sp>
      <p:sp>
        <p:nvSpPr>
          <p:cNvPr id="90115" name="Rectangle 3">
            <a:extLst>
              <a:ext uri="{FF2B5EF4-FFF2-40B4-BE49-F238E27FC236}">
                <a16:creationId xmlns:a16="http://schemas.microsoft.com/office/drawing/2014/main" id="{8022084E-1EF4-4A1D-9226-B7CBD72F841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函数的递归定义 </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主程序和子程序的</a:t>
            </a:r>
            <a:r>
              <a:rPr kumimoji="0" lang="zh-CN" altLang="zh-CN" sz="2800">
                <a:solidFill>
                  <a:srgbClr val="0000FF"/>
                </a:solidFill>
                <a:latin typeface="微软雅黑" panose="020B0503020204020204" pitchFamily="34" charset="-122"/>
                <a:ea typeface="微软雅黑" panose="020B0503020204020204" pitchFamily="34" charset="-122"/>
              </a:rPr>
              <a:t>参数传递</a:t>
            </a:r>
            <a:r>
              <a:rPr kumimoji="0" lang="zh-CN" altLang="zh-CN" sz="2800">
                <a:latin typeface="微软雅黑" panose="020B0503020204020204" pitchFamily="34" charset="-122"/>
                <a:ea typeface="微软雅黑" panose="020B0503020204020204" pitchFamily="34" charset="-122"/>
              </a:rPr>
              <a:t> </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a:solidFill>
                  <a:srgbClr val="C00000"/>
                </a:solidFill>
                <a:latin typeface="微软雅黑" panose="020B0503020204020204" pitchFamily="34" charset="-122"/>
                <a:ea typeface="微软雅黑" panose="020B0503020204020204" pitchFamily="34" charset="-122"/>
              </a:rPr>
              <a:t>栈</a:t>
            </a:r>
            <a:r>
              <a:rPr kumimoji="0" lang="zh-CN" altLang="zh-CN" sz="2800">
                <a:latin typeface="微软雅黑" panose="020B0503020204020204" pitchFamily="34" charset="-122"/>
                <a:ea typeface="微软雅黑" panose="020B0503020204020204" pitchFamily="34" charset="-122"/>
              </a:rPr>
              <a:t>在实现函数</a:t>
            </a:r>
            <a:r>
              <a:rPr kumimoji="0" lang="zh-CN" altLang="zh-CN" sz="2800">
                <a:solidFill>
                  <a:srgbClr val="0000FF"/>
                </a:solidFill>
                <a:latin typeface="微软雅黑" panose="020B0503020204020204" pitchFamily="34" charset="-122"/>
                <a:ea typeface="微软雅黑" panose="020B0503020204020204" pitchFamily="34" charset="-122"/>
              </a:rPr>
              <a:t>递归调用</a:t>
            </a:r>
            <a:r>
              <a:rPr kumimoji="0" lang="zh-CN" altLang="zh-CN" sz="2800">
                <a:latin typeface="微软雅黑" panose="020B0503020204020204" pitchFamily="34" charset="-122"/>
                <a:ea typeface="微软雅黑" panose="020B0503020204020204" pitchFamily="34" charset="-122"/>
              </a:rPr>
              <a:t>中的作用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8CF6D72B-D5FA-4755-836E-E961F9111227}"/>
              </a:ext>
            </a:extLst>
          </p:cNvPr>
          <p:cNvSpPr>
            <a:spLocks noGrp="1" noChangeArrowheads="1"/>
          </p:cNvSpPr>
          <p:nvPr>
            <p:ph type="title"/>
          </p:nvPr>
        </p:nvSpPr>
        <p:spPr/>
        <p:txBody>
          <a:bodyPr>
            <a:normAutofit/>
          </a:bodyPr>
          <a:lstStyle/>
          <a:p>
            <a:pPr eaLnBrk="1" hangingPunct="1">
              <a:defRPr/>
            </a:pPr>
            <a:r>
              <a:rPr kumimoji="0" sz="2800" dirty="0" err="1">
                <a:sym typeface="Wingdings" panose="05000000000000000000" pitchFamily="2" charset="2"/>
              </a:rPr>
              <a:t>递归</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4EA67BCF-C668-43DC-B8A9-6D57B9B3ED9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38BD63F3-2B8B-4D0D-8154-E22693C3DCFE}"/>
              </a:ext>
            </a:extLst>
          </p:cNvPr>
          <p:cNvSpPr>
            <a:spLocks noGrp="1"/>
          </p:cNvSpPr>
          <p:nvPr>
            <p:ph type="body" idx="10"/>
          </p:nvPr>
        </p:nvSpPr>
        <p:spPr/>
        <p:txBody>
          <a:bodyPr/>
          <a:lstStyle/>
          <a:p>
            <a:endParaRPr lang="zh-CN" altLang="en-US"/>
          </a:p>
        </p:txBody>
      </p:sp>
      <p:sp>
        <p:nvSpPr>
          <p:cNvPr id="887811" name="Rectangle 3">
            <a:extLst>
              <a:ext uri="{FF2B5EF4-FFF2-40B4-BE49-F238E27FC236}">
                <a16:creationId xmlns:a16="http://schemas.microsoft.com/office/drawing/2014/main" id="{C8FC8836-64DB-4F8C-A071-A4F596C4CD5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01638" indent="-401638" eaLnBrk="1" hangingPunct="1">
              <a:lnSpc>
                <a:spcPct val="110000"/>
              </a:lnSpc>
              <a:spcBef>
                <a:spcPts val="600"/>
              </a:spcBef>
              <a:buSzPct val="80000"/>
              <a:buFont typeface="Wingdings" panose="05000000000000000000" pitchFamily="2" charset="2"/>
              <a:buChar char="l"/>
            </a:pPr>
            <a:r>
              <a:rPr kumimoji="0" lang="zh-CN" altLang="zh-CN" sz="2600" b="1" dirty="0">
                <a:latin typeface="微软雅黑" panose="020B0503020204020204" pitchFamily="34" charset="-122"/>
                <a:ea typeface="微软雅黑" panose="020B0503020204020204" pitchFamily="34" charset="-122"/>
              </a:rPr>
              <a:t>作为数学和计算机</a:t>
            </a:r>
            <a:r>
              <a:rPr kumimoji="0" lang="zh-CN" altLang="en-US" sz="2600" b="1" dirty="0">
                <a:latin typeface="微软雅黑" panose="020B0503020204020204" pitchFamily="34" charset="-122"/>
                <a:ea typeface="微软雅黑" panose="020B0503020204020204" pitchFamily="34" charset="-122"/>
              </a:rPr>
              <a:t>学</a:t>
            </a:r>
            <a:r>
              <a:rPr kumimoji="0" lang="zh-CN" altLang="zh-CN" sz="2600" b="1" dirty="0">
                <a:latin typeface="微软雅黑" panose="020B0503020204020204" pitchFamily="34" charset="-122"/>
                <a:ea typeface="微软雅黑" panose="020B0503020204020204" pitchFamily="34" charset="-122"/>
              </a:rPr>
              <a:t>科的</a:t>
            </a:r>
            <a:r>
              <a:rPr kumimoji="0" lang="zh-CN" altLang="en-US" sz="2600" b="1" dirty="0">
                <a:latin typeface="微软雅黑" panose="020B0503020204020204" pitchFamily="34" charset="-122"/>
                <a:ea typeface="微软雅黑" panose="020B0503020204020204" pitchFamily="34" charset="-122"/>
              </a:rPr>
              <a:t>基础</a:t>
            </a:r>
            <a:r>
              <a:rPr kumimoji="0" lang="zh-CN" altLang="zh-CN" sz="2600" b="1" dirty="0">
                <a:latin typeface="微软雅黑" panose="020B0503020204020204" pitchFamily="34" charset="-122"/>
                <a:ea typeface="微软雅黑" panose="020B0503020204020204" pitchFamily="34" charset="-122"/>
              </a:rPr>
              <a:t>，递归是解决</a:t>
            </a:r>
            <a:r>
              <a:rPr kumimoji="0" lang="zh-CN" altLang="zh-CN" sz="2600" b="1" dirty="0">
                <a:solidFill>
                  <a:srgbClr val="C00000"/>
                </a:solidFill>
                <a:latin typeface="微软雅黑" panose="020B0503020204020204" pitchFamily="34" charset="-122"/>
                <a:ea typeface="微软雅黑" panose="020B0503020204020204" pitchFamily="34" charset="-122"/>
              </a:rPr>
              <a:t>复杂问题</a:t>
            </a:r>
            <a:r>
              <a:rPr kumimoji="0" lang="zh-CN" altLang="zh-CN" sz="2600" b="1" dirty="0">
                <a:latin typeface="微软雅黑" panose="020B0503020204020204" pitchFamily="34" charset="-122"/>
                <a:ea typeface="微软雅黑" panose="020B0503020204020204" pitchFamily="34" charset="-122"/>
              </a:rPr>
              <a:t>的一个有力手段，可使问题的描述和求解变得    </a:t>
            </a:r>
            <a:r>
              <a:rPr kumimoji="0" lang="zh-CN" altLang="zh-CN" sz="2600" b="1" dirty="0">
                <a:solidFill>
                  <a:srgbClr val="0000FF"/>
                </a:solidFill>
                <a:latin typeface="微软雅黑" panose="020B0503020204020204" pitchFamily="34" charset="-122"/>
                <a:ea typeface="微软雅黑" panose="020B0503020204020204" pitchFamily="34" charset="-122"/>
              </a:rPr>
              <a:t>简洁</a:t>
            </a:r>
            <a:r>
              <a:rPr kumimoji="0" lang="zh-CN" altLang="zh-CN" sz="2600" b="1" dirty="0">
                <a:latin typeface="微软雅黑" panose="020B0503020204020204" pitchFamily="34" charset="-122"/>
                <a:ea typeface="微软雅黑" panose="020B0503020204020204" pitchFamily="34" charset="-122"/>
              </a:rPr>
              <a:t>、</a:t>
            </a:r>
            <a:r>
              <a:rPr kumimoji="0" lang="zh-CN" altLang="zh-CN" sz="2600" b="1" dirty="0">
                <a:solidFill>
                  <a:srgbClr val="0000FF"/>
                </a:solidFill>
                <a:latin typeface="微软雅黑" panose="020B0503020204020204" pitchFamily="34" charset="-122"/>
                <a:ea typeface="微软雅黑" panose="020B0503020204020204" pitchFamily="34" charset="-122"/>
              </a:rPr>
              <a:t>清晰</a:t>
            </a:r>
            <a:r>
              <a:rPr kumimoji="0" lang="zh-CN" altLang="zh-CN" sz="2600" b="1" dirty="0">
                <a:latin typeface="微软雅黑" panose="020B0503020204020204" pitchFamily="34" charset="-122"/>
                <a:ea typeface="微软雅黑" panose="020B0503020204020204" pitchFamily="34" charset="-122"/>
              </a:rPr>
              <a:t>、</a:t>
            </a:r>
            <a:r>
              <a:rPr kumimoji="0" lang="zh-CN" altLang="zh-CN" sz="2600" b="1" dirty="0">
                <a:solidFill>
                  <a:srgbClr val="0000FF"/>
                </a:solidFill>
                <a:latin typeface="微软雅黑" panose="020B0503020204020204" pitchFamily="34" charset="-122"/>
                <a:ea typeface="微软雅黑" panose="020B0503020204020204" pitchFamily="34" charset="-122"/>
              </a:rPr>
              <a:t>易懂</a:t>
            </a: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微软雅黑" panose="020B0503020204020204" pitchFamily="34" charset="-122"/>
                <a:ea typeface="微软雅黑" panose="020B0503020204020204" pitchFamily="34" charset="-122"/>
              </a:rPr>
              <a:t>符合人类解决问题的思维方式，能够描述和解决很多问题，许多程序设计语言提供支持机制</a:t>
            </a:r>
          </a:p>
          <a:p>
            <a:pPr marL="717550" lvl="1" indent="-355600" eaLnBrk="1" hangingPunct="1">
              <a:lnSpc>
                <a:spcPct val="110000"/>
              </a:lnSpc>
              <a:spcBef>
                <a:spcPts val="600"/>
              </a:spcBef>
              <a:buFont typeface="Wingdings" panose="05000000000000000000" pitchFamily="2" charset="2"/>
              <a:buChar char="ü"/>
            </a:pPr>
            <a:r>
              <a:rPr kumimoji="0" lang="zh-CN" altLang="en-US" sz="2400" dirty="0">
                <a:latin typeface="微软雅黑" panose="020B0503020204020204" pitchFamily="34" charset="-122"/>
                <a:ea typeface="微软雅黑" panose="020B0503020204020204" pitchFamily="34" charset="-122"/>
              </a:rPr>
              <a:t>往往</a:t>
            </a:r>
            <a:r>
              <a:rPr kumimoji="0" lang="zh-CN" altLang="zh-CN" sz="2400" dirty="0">
                <a:latin typeface="微软雅黑" panose="020B0503020204020204" pitchFamily="34" charset="-122"/>
                <a:ea typeface="微软雅黑" panose="020B0503020204020204" pitchFamily="34" charset="-122"/>
              </a:rPr>
              <a:t>比非递归算法更易设计，尤当问题本身或所涉及的数据结构就是递归定义时</a:t>
            </a:r>
          </a:p>
          <a:p>
            <a:pPr marL="401638" indent="-401638" eaLnBrk="1" hangingPunct="1">
              <a:lnSpc>
                <a:spcPct val="110000"/>
              </a:lnSpc>
              <a:spcBef>
                <a:spcPts val="600"/>
              </a:spcBef>
              <a:buSzPct val="80000"/>
              <a:buFont typeface="Wingdings" panose="05000000000000000000" pitchFamily="2" charset="2"/>
              <a:buChar char="l"/>
            </a:pPr>
            <a:r>
              <a:rPr kumimoji="0" lang="zh-CN" altLang="zh-CN" sz="2600" b="1" dirty="0">
                <a:latin typeface="微软雅黑" panose="020B0503020204020204" pitchFamily="34" charset="-122"/>
                <a:ea typeface="微软雅黑" panose="020B0503020204020204" pitchFamily="34" charset="-122"/>
              </a:rPr>
              <a:t>计算机（编译程序）是如何将程序设计中的便于人类理解的递归程序转换为计算机可处理的非递归程序的？</a:t>
            </a:r>
            <a:endParaRPr kumimoji="0" lang="en-US" altLang="zh-CN" sz="2600" b="1" dirty="0">
              <a:latin typeface="微软雅黑" panose="020B0503020204020204" pitchFamily="34" charset="-122"/>
              <a:ea typeface="微软雅黑" panose="020B0503020204020204"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微软雅黑" panose="020B0503020204020204" pitchFamily="34" charset="-122"/>
                <a:ea typeface="微软雅黑" panose="020B0503020204020204" pitchFamily="34" charset="-122"/>
              </a:rPr>
              <a:t>计算机只能按照指令集顺序执行</a:t>
            </a:r>
            <a:r>
              <a:rPr kumimoji="0" lang="en-US" altLang="zh-CN" sz="2400"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87811">
                                            <p:txEl>
                                              <p:pRg st="1" end="1"/>
                                            </p:txEl>
                                          </p:spTgt>
                                        </p:tgtEl>
                                        <p:attrNameLst>
                                          <p:attrName>style.visibility</p:attrName>
                                        </p:attrNameLst>
                                      </p:cBhvr>
                                      <p:to>
                                        <p:strVal val="visible"/>
                                      </p:to>
                                    </p:set>
                                    <p:animEffect transition="in" filter="fade">
                                      <p:cBhvr>
                                        <p:cTn id="7" dur="2000"/>
                                        <p:tgtEl>
                                          <p:spTgt spid="8878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87811">
                                            <p:txEl>
                                              <p:pRg st="2" end="2"/>
                                            </p:txEl>
                                          </p:spTgt>
                                        </p:tgtEl>
                                        <p:attrNameLst>
                                          <p:attrName>style.visibility</p:attrName>
                                        </p:attrNameLst>
                                      </p:cBhvr>
                                      <p:to>
                                        <p:strVal val="visible"/>
                                      </p:to>
                                    </p:set>
                                    <p:animEffect transition="in" filter="fade">
                                      <p:cBhvr>
                                        <p:cTn id="12" dur="2000"/>
                                        <p:tgtEl>
                                          <p:spTgt spid="8878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87811">
                                            <p:txEl>
                                              <p:pRg st="3" end="3"/>
                                            </p:txEl>
                                          </p:spTgt>
                                        </p:tgtEl>
                                        <p:attrNameLst>
                                          <p:attrName>style.visibility</p:attrName>
                                        </p:attrNameLst>
                                      </p:cBhvr>
                                      <p:to>
                                        <p:strVal val="visible"/>
                                      </p:to>
                                    </p:set>
                                    <p:animEffect transition="in" filter="fade">
                                      <p:cBhvr>
                                        <p:cTn id="17" dur="2000"/>
                                        <p:tgtEl>
                                          <p:spTgt spid="88781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87811">
                                            <p:txEl>
                                              <p:pRg st="4" end="4"/>
                                            </p:txEl>
                                          </p:spTgt>
                                        </p:tgtEl>
                                        <p:attrNameLst>
                                          <p:attrName>style.visibility</p:attrName>
                                        </p:attrNameLst>
                                      </p:cBhvr>
                                      <p:to>
                                        <p:strVal val="visible"/>
                                      </p:to>
                                    </p:set>
                                    <p:animEffect transition="in" filter="fade">
                                      <p:cBhvr>
                                        <p:cTn id="22" dur="2000"/>
                                        <p:tgtEl>
                                          <p:spTgt spid="887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B62B8A62-848A-4EF4-B2F8-358C4C6A2223}"/>
              </a:ext>
            </a:extLst>
          </p:cNvPr>
          <p:cNvSpPr>
            <a:spLocks noGrp="1" noChangeArrowheads="1"/>
          </p:cNvSpPr>
          <p:nvPr>
            <p:ph type="title"/>
          </p:nvPr>
        </p:nvSpPr>
        <p:spPr/>
        <p:txBody>
          <a:bodyPr/>
          <a:lstStyle/>
          <a:p>
            <a:pPr eaLnBrk="1" hangingPunct="1">
              <a:defRPr/>
            </a:pPr>
            <a:r>
              <a:rPr kumimoji="0">
                <a:sym typeface="Wingdings" panose="05000000000000000000" pitchFamily="2" charset="2"/>
              </a:rPr>
              <a:t>递归</a:t>
            </a:r>
          </a:p>
        </p:txBody>
      </p:sp>
      <p:sp>
        <p:nvSpPr>
          <p:cNvPr id="2" name="副标题 1">
            <a:extLst>
              <a:ext uri="{FF2B5EF4-FFF2-40B4-BE49-F238E27FC236}">
                <a16:creationId xmlns:a16="http://schemas.microsoft.com/office/drawing/2014/main" id="{FC00086B-AE94-49A7-8A85-214E1D0E31E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71E72CB-6E4D-4981-9A95-B33DFFDF8033}"/>
              </a:ext>
            </a:extLst>
          </p:cNvPr>
          <p:cNvSpPr>
            <a:spLocks noGrp="1"/>
          </p:cNvSpPr>
          <p:nvPr>
            <p:ph type="body" idx="10"/>
          </p:nvPr>
        </p:nvSpPr>
        <p:spPr/>
        <p:txBody>
          <a:bodyPr/>
          <a:lstStyle/>
          <a:p>
            <a:endParaRPr lang="zh-CN" altLang="en-US"/>
          </a:p>
        </p:txBody>
      </p:sp>
      <p:sp>
        <p:nvSpPr>
          <p:cNvPr id="58371" name="Rectangle 3">
            <a:extLst>
              <a:ext uri="{FF2B5EF4-FFF2-40B4-BE49-F238E27FC236}">
                <a16:creationId xmlns:a16="http://schemas.microsoft.com/office/drawing/2014/main" id="{C58112CF-7BBE-4E74-AEEA-18B56FF4EDE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600" b="1" dirty="0">
                <a:latin typeface="Microsoft YaHei Light" panose="020B0502040204020203" pitchFamily="34" charset="-122"/>
                <a:ea typeface="Microsoft YaHei Light" panose="020B0502040204020203" pitchFamily="34" charset="-122"/>
              </a:rPr>
              <a:t>直接或间接调用自己的函数或过程</a:t>
            </a:r>
            <a:endParaRPr kumimoji="0" lang="en-US" altLang="zh-CN" sz="2600" b="1"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递归步骤：将规模较大的原问题分解为一个或多个规模更小、但具有类似于原问题特性的子问题</a:t>
            </a:r>
          </a:p>
          <a:p>
            <a:pPr marL="1073150" lvl="2" indent="-357188">
              <a:lnSpc>
                <a:spcPct val="110000"/>
              </a:lnSpc>
              <a:spcBef>
                <a:spcPts val="600"/>
              </a:spcBef>
            </a:pPr>
            <a:r>
              <a:rPr lang="zh-CN" altLang="zh-CN" sz="2400" dirty="0">
                <a:latin typeface="Microsoft YaHei Light" panose="020B0502040204020203" pitchFamily="34" charset="-122"/>
                <a:ea typeface="Microsoft YaHei Light" panose="020B0502040204020203" pitchFamily="34" charset="-122"/>
              </a:rPr>
              <a:t>即，较大的问题递归地用较小的子问题来描述，解原问题的方法同样可用来解这些子问题</a:t>
            </a: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递归出口：确定一个或多个无须分解、可直接求解的最小子问题（称为递归的终止条件）</a:t>
            </a:r>
            <a:endParaRPr kumimoji="0" lang="en-US" altLang="zh-CN" sz="2400" dirty="0">
              <a:latin typeface="Microsoft YaHei Light" panose="020B0502040204020203" pitchFamily="34" charset="-122"/>
              <a:ea typeface="Microsoft YaHei Light" panose="020B0502040204020203" pitchFamily="34" charset="-122"/>
            </a:endParaRPr>
          </a:p>
          <a:p>
            <a:pPr marL="357188" indent="-357188" eaLnBrk="1" hangingPunct="1">
              <a:lnSpc>
                <a:spcPct val="110000"/>
              </a:lnSpc>
              <a:spcBef>
                <a:spcPts val="600"/>
              </a:spcBef>
              <a:buSzPct val="80000"/>
              <a:buFont typeface="Wingdings" panose="05000000000000000000" pitchFamily="2" charset="2"/>
              <a:buChar char="l"/>
            </a:pPr>
            <a:r>
              <a:rPr kumimoji="0" lang="zh-CN" altLang="zh-CN" sz="2600" b="1" dirty="0">
                <a:latin typeface="Microsoft YaHei Light" panose="020B0502040204020203" pitchFamily="34" charset="-122"/>
                <a:ea typeface="Microsoft YaHei Light" panose="020B0502040204020203" pitchFamily="34" charset="-122"/>
              </a:rPr>
              <a:t>相关概念</a:t>
            </a:r>
            <a:endParaRPr kumimoji="0" lang="en-US" altLang="zh-CN" sz="2600" b="1"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迭代</a:t>
            </a:r>
            <a:r>
              <a:rPr kumimoji="0" lang="en-US" altLang="zh-CN" sz="2400" dirty="0">
                <a:latin typeface="Microsoft YaHei Light" panose="020B0502040204020203" pitchFamily="34" charset="-122"/>
                <a:ea typeface="Microsoft YaHei Light" panose="020B0502040204020203" pitchFamily="34" charset="-122"/>
              </a:rPr>
              <a:t>/</a:t>
            </a:r>
            <a:r>
              <a:rPr kumimoji="0" lang="zh-CN" altLang="en-US" sz="2400" dirty="0">
                <a:latin typeface="Microsoft YaHei Light" panose="020B0502040204020203" pitchFamily="34" charset="-122"/>
                <a:ea typeface="Microsoft YaHei Light" panose="020B0502040204020203" pitchFamily="34" charset="-122"/>
              </a:rPr>
              <a:t>递推</a:t>
            </a:r>
            <a:endParaRPr kumimoji="0" lang="en-US" altLang="zh-CN" sz="2400"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归纳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58371">
                                            <p:txEl>
                                              <p:pRg st="4" end="4"/>
                                            </p:txEl>
                                          </p:spTgt>
                                        </p:tgtEl>
                                        <p:attrNameLst>
                                          <p:attrName>style.visibility</p:attrName>
                                        </p:attrNameLst>
                                      </p:cBhvr>
                                      <p:to>
                                        <p:strVal val="visible"/>
                                      </p:to>
                                    </p:set>
                                    <p:anim calcmode="lin" valueType="num">
                                      <p:cBhvr>
                                        <p:cTn id="7" dur="1000" fill="hold"/>
                                        <p:tgtEl>
                                          <p:spTgt spid="58371">
                                            <p:txEl>
                                              <p:pRg st="4" end="4"/>
                                            </p:txEl>
                                          </p:spTgt>
                                        </p:tgtEl>
                                        <p:attrNameLst>
                                          <p:attrName>ppt_x</p:attrName>
                                        </p:attrNameLst>
                                      </p:cBhvr>
                                      <p:tavLst>
                                        <p:tav tm="0">
                                          <p:val>
                                            <p:strVal val="#ppt_x-.2"/>
                                          </p:val>
                                        </p:tav>
                                        <p:tav tm="100000">
                                          <p:val>
                                            <p:strVal val="#ppt_x"/>
                                          </p:val>
                                        </p:tav>
                                      </p:tavLst>
                                    </p:anim>
                                    <p:anim calcmode="lin" valueType="num">
                                      <p:cBhvr>
                                        <p:cTn id="8" dur="1000" fill="hold"/>
                                        <p:tgtEl>
                                          <p:spTgt spid="58371">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8371">
                                            <p:txEl>
                                              <p:pRg st="4" end="4"/>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58371">
                                            <p:txEl>
                                              <p:pRg st="5" end="5"/>
                                            </p:txEl>
                                          </p:spTgt>
                                        </p:tgtEl>
                                        <p:attrNameLst>
                                          <p:attrName>style.visibility</p:attrName>
                                        </p:attrNameLst>
                                      </p:cBhvr>
                                      <p:to>
                                        <p:strVal val="visible"/>
                                      </p:to>
                                    </p:set>
                                    <p:anim calcmode="lin" valueType="num">
                                      <p:cBhvr>
                                        <p:cTn id="14" dur="1000" fill="hold"/>
                                        <p:tgtEl>
                                          <p:spTgt spid="58371">
                                            <p:txEl>
                                              <p:pRg st="5" end="5"/>
                                            </p:txEl>
                                          </p:spTgt>
                                        </p:tgtEl>
                                        <p:attrNameLst>
                                          <p:attrName>ppt_x</p:attrName>
                                        </p:attrNameLst>
                                      </p:cBhvr>
                                      <p:tavLst>
                                        <p:tav tm="0">
                                          <p:val>
                                            <p:strVal val="#ppt_x-.2"/>
                                          </p:val>
                                        </p:tav>
                                        <p:tav tm="100000">
                                          <p:val>
                                            <p:strVal val="#ppt_x"/>
                                          </p:val>
                                        </p:tav>
                                      </p:tavLst>
                                    </p:anim>
                                    <p:anim calcmode="lin" valueType="num">
                                      <p:cBhvr>
                                        <p:cTn id="15" dur="1000" fill="hold"/>
                                        <p:tgtEl>
                                          <p:spTgt spid="58371">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8371">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58371">
                                            <p:txEl>
                                              <p:pRg st="6" end="6"/>
                                            </p:txEl>
                                          </p:spTgt>
                                        </p:tgtEl>
                                        <p:attrNameLst>
                                          <p:attrName>style.visibility</p:attrName>
                                        </p:attrNameLst>
                                      </p:cBhvr>
                                      <p:to>
                                        <p:strVal val="visible"/>
                                      </p:to>
                                    </p:set>
                                    <p:anim calcmode="lin" valueType="num">
                                      <p:cBhvr>
                                        <p:cTn id="21" dur="1000" fill="hold"/>
                                        <p:tgtEl>
                                          <p:spTgt spid="58371">
                                            <p:txEl>
                                              <p:pRg st="6" end="6"/>
                                            </p:txEl>
                                          </p:spTgt>
                                        </p:tgtEl>
                                        <p:attrNameLst>
                                          <p:attrName>ppt_x</p:attrName>
                                        </p:attrNameLst>
                                      </p:cBhvr>
                                      <p:tavLst>
                                        <p:tav tm="0">
                                          <p:val>
                                            <p:strVal val="#ppt_x-.2"/>
                                          </p:val>
                                        </p:tav>
                                        <p:tav tm="100000">
                                          <p:val>
                                            <p:strVal val="#ppt_x"/>
                                          </p:val>
                                        </p:tav>
                                      </p:tavLst>
                                    </p:anim>
                                    <p:anim calcmode="lin" valueType="num">
                                      <p:cBhvr>
                                        <p:cTn id="22" dur="1000" fill="hold"/>
                                        <p:tgtEl>
                                          <p:spTgt spid="5837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58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a:extLst>
              <a:ext uri="{FF2B5EF4-FFF2-40B4-BE49-F238E27FC236}">
                <a16:creationId xmlns:a16="http://schemas.microsoft.com/office/drawing/2014/main" id="{3BAAD0B3-DC69-48EE-B2FA-34C3C2FC903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sym typeface="Wingdings" panose="05000000000000000000" pitchFamily="2" charset="2"/>
              </a:rPr>
              <a:t>递归示例</a:t>
            </a:r>
            <a:r>
              <a:rPr kumimoji="0" sz="2800" dirty="0">
                <a:sym typeface="Wingdings" panose="05000000000000000000" pitchFamily="2" charset="2"/>
              </a:rPr>
              <a:t>： </a:t>
            </a:r>
            <a:r>
              <a:rPr kumimoji="0" sz="2800" dirty="0" err="1">
                <a:sym typeface="Wingdings" panose="05000000000000000000" pitchFamily="2" charset="2"/>
              </a:rPr>
              <a:t>阶乘函数</a:t>
            </a:r>
            <a:endParaRPr kumimoji="0" sz="2800" dirty="0"/>
          </a:p>
        </p:txBody>
      </p:sp>
      <p:sp>
        <p:nvSpPr>
          <p:cNvPr id="2" name="副标题 1">
            <a:extLst>
              <a:ext uri="{FF2B5EF4-FFF2-40B4-BE49-F238E27FC236}">
                <a16:creationId xmlns:a16="http://schemas.microsoft.com/office/drawing/2014/main" id="{FB93FC31-F1B1-4F7C-AF35-616864383409}"/>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2E917ECF-CA3C-4EE9-9694-72C164558F10}"/>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1A5D2AA6-288B-4F40-8141-EB4403BD7652}"/>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阶乘</a:t>
            </a:r>
            <a:r>
              <a:rPr kumimoji="0" lang="en-US" altLang="zh-CN" sz="2800" dirty="0">
                <a:latin typeface="微软雅黑" panose="020B0503020204020204" pitchFamily="34" charset="-122"/>
                <a:ea typeface="微软雅黑" panose="020B0503020204020204" pitchFamily="34" charset="-122"/>
              </a:rPr>
              <a:t> n</a:t>
            </a:r>
            <a:r>
              <a:rPr kumimoji="0" lang="zh-CN" altLang="zh-CN" sz="2800" dirty="0">
                <a:latin typeface="微软雅黑" panose="020B0503020204020204" pitchFamily="34" charset="-122"/>
                <a:ea typeface="微软雅黑" panose="020B0503020204020204" pitchFamily="34" charset="-122"/>
              </a:rPr>
              <a:t>！的递归定义如下：</a:t>
            </a:r>
            <a:endParaRPr kumimoji="0" lang="en-US" altLang="zh-CN"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endParaRPr kumimoji="0" lang="en-US" altLang="zh-CN"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kumimoji="0" lang="en-US" altLang="zh-CN" sz="2600" b="1"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kumimoji="0" lang="en-US" altLang="zh-CN" sz="12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递归定义由两部分组成</a:t>
            </a:r>
          </a:p>
          <a:p>
            <a:pPr marL="717550" lvl="1" indent="-355600">
              <a:lnSpc>
                <a:spcPct val="105000"/>
              </a:lnSpc>
              <a:spcBef>
                <a:spcPts val="600"/>
              </a:spcBef>
              <a:buFont typeface="Wingdings" panose="05000000000000000000" pitchFamily="2" charset="2"/>
              <a:buChar char="ü"/>
            </a:pPr>
            <a:r>
              <a:rPr lang="zh-CN" altLang="zh-CN" sz="2400" dirty="0">
                <a:solidFill>
                  <a:srgbClr val="C00000"/>
                </a:solidFill>
                <a:latin typeface="微软雅黑" panose="020B0503020204020204" pitchFamily="34" charset="-122"/>
                <a:ea typeface="微软雅黑" panose="020B0503020204020204" pitchFamily="34" charset="-122"/>
              </a:rPr>
              <a:t>递归基础</a:t>
            </a:r>
            <a:r>
              <a:rPr lang="zh-CN" altLang="zh-CN" sz="2400" dirty="0">
                <a:latin typeface="微软雅黑" panose="020B0503020204020204" pitchFamily="34" charset="-122"/>
                <a:ea typeface="微软雅黑" panose="020B0503020204020204" pitchFamily="34" charset="-122"/>
              </a:rPr>
              <a:t>（递归出口）</a:t>
            </a:r>
          </a:p>
          <a:p>
            <a:pPr marL="717550" lvl="1" indent="-355600">
              <a:lnSpc>
                <a:spcPct val="105000"/>
              </a:lnSpc>
              <a:spcBef>
                <a:spcPts val="600"/>
              </a:spcBef>
              <a:buFont typeface="Wingdings" panose="05000000000000000000" pitchFamily="2" charset="2"/>
              <a:buChar char="ü"/>
            </a:pPr>
            <a:r>
              <a:rPr lang="zh-CN" altLang="zh-CN" sz="2400" dirty="0">
                <a:solidFill>
                  <a:srgbClr val="C00000"/>
                </a:solidFill>
                <a:latin typeface="微软雅黑" panose="020B0503020204020204" pitchFamily="34" charset="-122"/>
                <a:ea typeface="微软雅黑" panose="020B0503020204020204" pitchFamily="34" charset="-122"/>
              </a:rPr>
              <a:t>递归规则</a:t>
            </a:r>
            <a:r>
              <a:rPr lang="zh-CN"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lang="en-US" altLang="zh-CN" sz="12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正确性证明？  </a:t>
            </a:r>
          </a:p>
          <a:p>
            <a:pPr marL="357188" indent="-357188">
              <a:lnSpc>
                <a:spcPct val="105000"/>
              </a:lnSpc>
              <a:spcBef>
                <a:spcPts val="600"/>
              </a:spcBef>
            </a:pPr>
            <a:endParaRPr lang="zh-CN" altLang="zh-CN" dirty="0">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34C412FE-B6A6-440D-99F9-722A10A5F134}"/>
              </a:ext>
            </a:extLst>
          </p:cNvPr>
          <p:cNvGraphicFramePr>
            <a:graphicFrameLocks noGrp="1" noChangeAspect="1"/>
          </p:cNvGraphicFramePr>
          <p:nvPr>
            <p:extLst>
              <p:ext uri="{D42A27DB-BD31-4B8C-83A1-F6EECF244321}">
                <p14:modId xmlns:p14="http://schemas.microsoft.com/office/powerpoint/2010/main" val="2242223906"/>
              </p:ext>
            </p:extLst>
          </p:nvPr>
        </p:nvGraphicFramePr>
        <p:xfrm>
          <a:off x="2709863" y="1943100"/>
          <a:ext cx="5976937" cy="915988"/>
        </p:xfrm>
        <a:graphic>
          <a:graphicData uri="http://schemas.openxmlformats.org/presentationml/2006/ole">
            <mc:AlternateContent xmlns:mc="http://schemas.openxmlformats.org/markup-compatibility/2006">
              <mc:Choice xmlns:v="urn:schemas-microsoft-com:vml" Requires="v">
                <p:oleObj spid="_x0000_s1039" name="公式" r:id="rId3" imgW="48491775" imgH="7896225" progId="Equation.3">
                  <p:embed/>
                </p:oleObj>
              </mc:Choice>
              <mc:Fallback>
                <p:oleObj name="公式" r:id="rId3" imgW="48491775" imgH="7896225" progId="Equation.3">
                  <p:embed/>
                  <p:pic>
                    <p:nvPicPr>
                      <p:cNvPr id="7" name="对象 6">
                        <a:extLst>
                          <a:ext uri="{FF2B5EF4-FFF2-40B4-BE49-F238E27FC236}">
                            <a16:creationId xmlns:a16="http://schemas.microsoft.com/office/drawing/2014/main" id="{34C412FE-B6A6-440D-99F9-722A10A5F134}"/>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9863" y="1943100"/>
                        <a:ext cx="597693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65070F9D-09E5-4CDC-998B-17E10827EE39}"/>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sym typeface="Wingdings" panose="05000000000000000000" pitchFamily="2" charset="2"/>
              </a:rPr>
              <a:t>递归示例： 阶乘函数的程序实现</a:t>
            </a:r>
            <a:endParaRPr kumimoji="0"/>
          </a:p>
        </p:txBody>
      </p:sp>
      <p:sp>
        <p:nvSpPr>
          <p:cNvPr id="2" name="副标题 1">
            <a:extLst>
              <a:ext uri="{FF2B5EF4-FFF2-40B4-BE49-F238E27FC236}">
                <a16:creationId xmlns:a16="http://schemas.microsoft.com/office/drawing/2014/main" id="{6216BD3C-3DEB-4898-BC6B-5EB34E8732E9}"/>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E74C80E-978B-4021-8DA2-EED75256AB6F}"/>
              </a:ext>
            </a:extLst>
          </p:cNvPr>
          <p:cNvSpPr>
            <a:spLocks noGrp="1"/>
          </p:cNvSpPr>
          <p:nvPr>
            <p:ph type="body" idx="10"/>
          </p:nvPr>
        </p:nvSpPr>
        <p:spPr/>
        <p:txBody>
          <a:bodyPr/>
          <a:lstStyle/>
          <a:p>
            <a:endParaRPr lang="zh-CN" altLang="en-US"/>
          </a:p>
        </p:txBody>
      </p:sp>
      <p:sp>
        <p:nvSpPr>
          <p:cNvPr id="9" name="Rectangle 4">
            <a:extLst>
              <a:ext uri="{FF2B5EF4-FFF2-40B4-BE49-F238E27FC236}">
                <a16:creationId xmlns:a16="http://schemas.microsoft.com/office/drawing/2014/main" id="{7894CA7F-6290-45A7-9227-CC873C19FE1B}"/>
              </a:ext>
            </a:extLst>
          </p:cNvPr>
          <p:cNvSpPr>
            <a:spLocks noGrp="1" noChangeArrowheads="1"/>
          </p:cNvSpPr>
          <p:nvPr>
            <p:ph idx="11"/>
          </p:nvPr>
        </p:nvSpPr>
        <p:spPr bwMode="auto">
          <a:xfrm>
            <a:off x="736773" y="1916444"/>
            <a:ext cx="11042851"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阶乘的递归实现 Factorial(</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整数</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0</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整数</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en-US"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的阶乘</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 </a:t>
            </a: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return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return </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Factorial(</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12" name="直接连接符 11">
            <a:extLst>
              <a:ext uri="{FF2B5EF4-FFF2-40B4-BE49-F238E27FC236}">
                <a16:creationId xmlns:a16="http://schemas.microsoft.com/office/drawing/2014/main" id="{C2920406-C33B-41F3-9A36-905A66196304}"/>
              </a:ext>
            </a:extLst>
          </p:cNvPr>
          <p:cNvCxnSpPr>
            <a:cxnSpLocks/>
          </p:cNvCxnSpPr>
          <p:nvPr/>
        </p:nvCxnSpPr>
        <p:spPr>
          <a:xfrm>
            <a:off x="745589" y="190671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232EFBB-030D-4A59-86FD-A4733B8B0FB1}"/>
              </a:ext>
            </a:extLst>
          </p:cNvPr>
          <p:cNvCxnSpPr>
            <a:cxnSpLocks/>
          </p:cNvCxnSpPr>
          <p:nvPr/>
        </p:nvCxnSpPr>
        <p:spPr>
          <a:xfrm>
            <a:off x="745589" y="2301991"/>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CF670F6-BD82-4E5A-91B7-2FD922A5F769}"/>
              </a:ext>
            </a:extLst>
          </p:cNvPr>
          <p:cNvCxnSpPr>
            <a:cxnSpLocks/>
          </p:cNvCxnSpPr>
          <p:nvPr/>
        </p:nvCxnSpPr>
        <p:spPr>
          <a:xfrm>
            <a:off x="759036" y="297882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a:extLst>
              <a:ext uri="{FF2B5EF4-FFF2-40B4-BE49-F238E27FC236}">
                <a16:creationId xmlns:a16="http://schemas.microsoft.com/office/drawing/2014/main" id="{68DFEA43-C5AF-4BC6-97AA-57782E7A752D}"/>
              </a:ext>
            </a:extLst>
          </p:cNvPr>
          <p:cNvSpPr>
            <a:spLocks noGrp="1" noChangeArrowheads="1"/>
          </p:cNvSpPr>
          <p:nvPr>
            <p:ph type="title"/>
          </p:nvPr>
        </p:nvSpPr>
        <p:spPr>
          <a:xfrm>
            <a:off x="838200" y="730519"/>
            <a:ext cx="10515600" cy="518958"/>
          </a:xfrm>
        </p:spPr>
        <p:txBody>
          <a:bodyPr vert="horz" wrap="square" lIns="91440" tIns="45720" rIns="91440" bIns="45720" numCol="1" anchor="t" anchorCtr="0" compatLnSpc="1">
            <a:prstTxWarp prst="textNoShape">
              <a:avLst/>
            </a:prstTxWarp>
          </a:bodyPr>
          <a:lstStyle/>
          <a:p>
            <a:pPr eaLnBrk="1" hangingPunct="1">
              <a:defRPr/>
            </a:pPr>
            <a:r>
              <a:rPr kumimoji="0" dirty="0"/>
              <a:t>函数执行过程图解</a:t>
            </a:r>
            <a:r>
              <a:rPr kumimoji="0" dirty="0">
                <a:sym typeface="Wingdings" panose="05000000000000000000" pitchFamily="2" charset="2"/>
              </a:rPr>
              <a:t>：</a:t>
            </a:r>
            <a:r>
              <a:rPr kumimoji="0" lang="en-US" altLang="zh-CN" dirty="0">
                <a:sym typeface="Wingdings" panose="05000000000000000000" pitchFamily="2" charset="2"/>
              </a:rPr>
              <a:t>4</a:t>
            </a:r>
            <a:r>
              <a:rPr kumimoji="0" dirty="0">
                <a:sym typeface="Wingdings" panose="05000000000000000000" pitchFamily="2" charset="2"/>
              </a:rPr>
              <a:t>！</a:t>
            </a:r>
            <a:endParaRPr kumimoji="0" dirty="0"/>
          </a:p>
        </p:txBody>
      </p:sp>
      <p:sp>
        <p:nvSpPr>
          <p:cNvPr id="5" name="副标题 4">
            <a:extLst>
              <a:ext uri="{FF2B5EF4-FFF2-40B4-BE49-F238E27FC236}">
                <a16:creationId xmlns:a16="http://schemas.microsoft.com/office/drawing/2014/main" id="{5B1C5D41-45E6-4AE5-9ABF-5ACB3EE0E694}"/>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CC9886FA-89AB-486F-9454-86CA577F67A0}"/>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4E996F63-477B-4C89-86C5-A40AE5888F5F}"/>
              </a:ext>
            </a:extLst>
          </p:cNvPr>
          <p:cNvSpPr>
            <a:spLocks noGrp="1" noChangeArrowheads="1"/>
          </p:cNvSpPr>
          <p:nvPr>
            <p:ph idx="11"/>
          </p:nvPr>
        </p:nvSpPr>
        <p:spPr bwMode="auto">
          <a:xfrm>
            <a:off x="1025537" y="1800225"/>
            <a:ext cx="11055325" cy="5057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eaLnBrk="1" hangingPunct="1">
              <a:spcBef>
                <a:spcPct val="0"/>
              </a:spcBef>
              <a:buFont typeface="Wingdings" panose="05000000000000000000" pitchFamily="2" charset="2"/>
              <a:buNone/>
            </a:pPr>
            <a:r>
              <a:rPr lang="en-US" altLang="zh-CN" sz="2800" dirty="0">
                <a:latin typeface="Arial" panose="020B0604020202020204" pitchFamily="34" charset="0"/>
                <a:ea typeface="宋体" panose="02010600030101010101" pitchFamily="2" charset="-122"/>
              </a:rPr>
              <a:t> </a:t>
            </a:r>
            <a:r>
              <a:rPr lang="en-US" altLang="zh-CN" sz="2800" dirty="0">
                <a:latin typeface="Consolas" panose="020B0609020204030204" pitchFamily="49" charset="0"/>
                <a:ea typeface="宋体" panose="02010600030101010101" pitchFamily="2" charset="-122"/>
                <a:cs typeface="Consolas" panose="020B0609020204030204" pitchFamily="49" charset="0"/>
              </a:rPr>
              <a:t>call  </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fact(4)</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fact(3) </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fact(2)</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dirty="0">
                <a:latin typeface="Consolas" panose="020B0609020204030204" pitchFamily="49" charset="0"/>
                <a:ea typeface="宋体" panose="02010600030101010101" pitchFamily="2" charset="-122"/>
                <a:cs typeface="Consolas" panose="020B0609020204030204" pitchFamily="49" charset="0"/>
              </a:rPr>
              <a:t>			    fact(1)	</a:t>
            </a:r>
            <a:r>
              <a:rPr lang="en-US" altLang="zh-CN" sz="2800" dirty="0">
                <a:latin typeface="Arial" panose="020B0604020202020204" pitchFamily="34" charset="0"/>
                <a:ea typeface="宋体" panose="02010600030101010101" pitchFamily="2" charset="-122"/>
              </a:rPr>
              <a:t>	</a:t>
            </a:r>
            <a:endParaRPr kumimoji="0" lang="zh-CN" altLang="zh-CN" sz="2800" dirty="0">
              <a:latin typeface="Arial" panose="020B0604020202020204" pitchFamily="34" charset="0"/>
              <a:ea typeface="宋体" panose="02010600030101010101" pitchFamily="2" charset="-122"/>
            </a:endParaRPr>
          </a:p>
        </p:txBody>
      </p:sp>
      <p:sp>
        <p:nvSpPr>
          <p:cNvPr id="4" name="内容占位符 2">
            <a:extLst>
              <a:ext uri="{FF2B5EF4-FFF2-40B4-BE49-F238E27FC236}">
                <a16:creationId xmlns:a16="http://schemas.microsoft.com/office/drawing/2014/main" id="{4868FB95-1534-4648-89D4-E9A08B83BD28}"/>
              </a:ext>
            </a:extLst>
          </p:cNvPr>
          <p:cNvSpPr txBox="1">
            <a:spLocks/>
          </p:cNvSpPr>
          <p:nvPr/>
        </p:nvSpPr>
        <p:spPr bwMode="auto">
          <a:xfrm>
            <a:off x="5560221" y="833575"/>
            <a:ext cx="4859335"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41550" indent="-22415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1"/>
              </a:buClr>
              <a:buSzPct val="65000"/>
            </a:pPr>
            <a:r>
              <a:rPr kumimoji="1" lang="zh-CN" altLang="en-US" sz="2800" dirty="0">
                <a:latin typeface="Consolas" panose="020B0609020204030204" pitchFamily="49" charset="0"/>
              </a:rPr>
              <a:t>                 </a:t>
            </a:r>
            <a:endParaRPr kumimoji="1" lang="en-US" altLang="zh-CN" sz="2800" dirty="0">
              <a:latin typeface="Consolas" panose="020B0609020204030204" pitchFamily="49" charset="0"/>
            </a:endParaRPr>
          </a:p>
          <a:p>
            <a:pPr eaLnBrk="1" hangingPunct="1">
              <a:buClr>
                <a:schemeClr val="accent1"/>
              </a:buClr>
              <a:buSzPct val="65000"/>
            </a:pPr>
            <a:r>
              <a:rPr kumimoji="1" lang="en-US" altLang="zh-CN" sz="2800" dirty="0">
                <a:latin typeface="Consolas" panose="020B0609020204030204" pitchFamily="49" charset="0"/>
              </a:rPr>
              <a:t>              return 24</a:t>
            </a:r>
          </a:p>
          <a:p>
            <a:pPr eaLnBrk="1" hangingPunct="1">
              <a:buClr>
                <a:schemeClr val="accent1"/>
              </a:buClr>
              <a:buSzPct val="65000"/>
            </a:pPr>
            <a:r>
              <a:rPr kumimoji="1" lang="en-US" altLang="zh-CN" sz="2800" dirty="0">
                <a:latin typeface="Consolas" panose="020B0609020204030204" pitchFamily="49" charset="0"/>
              </a:rPr>
              <a:t>           fact(4)</a:t>
            </a:r>
          </a:p>
          <a:p>
            <a:pPr eaLnBrk="1" hangingPunct="1">
              <a:buClr>
                <a:schemeClr val="accent1"/>
              </a:buClr>
              <a:buSzPct val="65000"/>
            </a:pPr>
            <a:r>
              <a:rPr kumimoji="1" lang="en-US" altLang="zh-CN" sz="1200" dirty="0">
                <a:latin typeface="Consolas" panose="020B0609020204030204" pitchFamily="49" charset="0"/>
              </a:rPr>
              <a:t>   </a:t>
            </a:r>
          </a:p>
          <a:p>
            <a:pPr eaLnBrk="1" hangingPunct="1">
              <a:buClr>
                <a:schemeClr val="accent1"/>
              </a:buClr>
              <a:buSzPct val="65000"/>
            </a:pPr>
            <a:r>
              <a:rPr kumimoji="1" lang="en-US" altLang="zh-CN" sz="2800" dirty="0">
                <a:latin typeface="Consolas" panose="020B0609020204030204" pitchFamily="49" charset="0"/>
              </a:rPr>
              <a:t>          return 6</a:t>
            </a:r>
          </a:p>
          <a:p>
            <a:pPr eaLnBrk="1" hangingPunct="1">
              <a:buClr>
                <a:schemeClr val="accent1"/>
              </a:buClr>
              <a:buSzPct val="65000"/>
            </a:pPr>
            <a:r>
              <a:rPr kumimoji="1" lang="en-US" altLang="zh-CN" sz="2800" dirty="0">
                <a:latin typeface="Consolas" panose="020B0609020204030204" pitchFamily="49" charset="0"/>
              </a:rPr>
              <a:t>        fact(3)</a:t>
            </a:r>
          </a:p>
          <a:p>
            <a:pPr eaLnBrk="1" hangingPunct="1">
              <a:buClr>
                <a:schemeClr val="accent1"/>
              </a:buClr>
              <a:buSzPct val="65000"/>
            </a:pPr>
            <a:endParaRPr kumimoji="1" lang="en-US" altLang="zh-CN" sz="1200" dirty="0">
              <a:latin typeface="Consolas" panose="020B0609020204030204" pitchFamily="49" charset="0"/>
            </a:endParaRPr>
          </a:p>
          <a:p>
            <a:pPr eaLnBrk="1" hangingPunct="1">
              <a:buClr>
                <a:schemeClr val="accent1"/>
              </a:buClr>
              <a:buSzPct val="65000"/>
            </a:pPr>
            <a:r>
              <a:rPr kumimoji="1" lang="en-US" altLang="zh-CN" sz="2800" dirty="0">
                <a:latin typeface="Consolas" panose="020B0609020204030204" pitchFamily="49" charset="0"/>
              </a:rPr>
              <a:t>     return 2</a:t>
            </a:r>
          </a:p>
          <a:p>
            <a:pPr eaLnBrk="1" hangingPunct="1">
              <a:buClr>
                <a:schemeClr val="accent1"/>
              </a:buClr>
              <a:buSzPct val="65000"/>
            </a:pPr>
            <a:r>
              <a:rPr kumimoji="1" lang="en-US" altLang="zh-CN" sz="2800" dirty="0">
                <a:latin typeface="Consolas" panose="020B0609020204030204" pitchFamily="49" charset="0"/>
              </a:rPr>
              <a:t>   fact(2)</a:t>
            </a:r>
          </a:p>
          <a:p>
            <a:pPr eaLnBrk="1" hangingPunct="1">
              <a:buClr>
                <a:schemeClr val="accent1"/>
              </a:buClr>
              <a:buSzPct val="65000"/>
            </a:pPr>
            <a:r>
              <a:rPr kumimoji="1" lang="en-US" altLang="zh-CN" sz="1600" dirty="0">
                <a:latin typeface="Consolas" panose="020B0609020204030204" pitchFamily="49" charset="0"/>
              </a:rPr>
              <a:t> </a:t>
            </a:r>
            <a:endParaRPr kumimoji="1" lang="en-US" altLang="zh-CN" sz="1200" dirty="0">
              <a:latin typeface="Consolas" panose="020B0609020204030204" pitchFamily="49" charset="0"/>
            </a:endParaRPr>
          </a:p>
          <a:p>
            <a:pPr eaLnBrk="1" hangingPunct="1">
              <a:buClr>
                <a:schemeClr val="accent1"/>
              </a:buClr>
              <a:buSzPct val="65000"/>
            </a:pPr>
            <a:r>
              <a:rPr kumimoji="1" lang="en-US" altLang="zh-CN" sz="2800" dirty="0">
                <a:latin typeface="Consolas" panose="020B0609020204030204" pitchFamily="49" charset="0"/>
              </a:rPr>
              <a:t> return 1</a:t>
            </a:r>
            <a:endParaRPr kumimoji="1" lang="zh-CN" altLang="en-US" sz="2800" dirty="0">
              <a:latin typeface="Consolas" panose="020B0609020204030204" pitchFamily="49" charset="0"/>
            </a:endParaRPr>
          </a:p>
        </p:txBody>
      </p:sp>
      <p:cxnSp>
        <p:nvCxnSpPr>
          <p:cNvPr id="6" name="直接箭头连接符 5">
            <a:extLst>
              <a:ext uri="{FF2B5EF4-FFF2-40B4-BE49-F238E27FC236}">
                <a16:creationId xmlns:a16="http://schemas.microsoft.com/office/drawing/2014/main" id="{F408A798-C5DC-43FF-84D7-CD64F1728F9A}"/>
              </a:ext>
            </a:extLst>
          </p:cNvPr>
          <p:cNvCxnSpPr/>
          <p:nvPr/>
        </p:nvCxnSpPr>
        <p:spPr>
          <a:xfrm rot="5400000">
            <a:off x="3266435" y="2783818"/>
            <a:ext cx="357188"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45B204C-2D50-418F-AC56-6D04619915C6}"/>
              </a:ext>
            </a:extLst>
          </p:cNvPr>
          <p:cNvCxnSpPr/>
          <p:nvPr/>
        </p:nvCxnSpPr>
        <p:spPr>
          <a:xfrm rot="5400000">
            <a:off x="3951290" y="3530600"/>
            <a:ext cx="355600"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1FA11DB-C415-4E86-ACD0-9B58277B6CA5}"/>
              </a:ext>
            </a:extLst>
          </p:cNvPr>
          <p:cNvCxnSpPr/>
          <p:nvPr/>
        </p:nvCxnSpPr>
        <p:spPr>
          <a:xfrm rot="5400000">
            <a:off x="4645425" y="4329112"/>
            <a:ext cx="357187"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6E6B97E8-A2A3-45ED-A209-78CE5DA4CEE2}"/>
              </a:ext>
            </a:extLst>
          </p:cNvPr>
          <p:cNvCxnSpPr/>
          <p:nvPr/>
        </p:nvCxnSpPr>
        <p:spPr>
          <a:xfrm rot="5400000" flipH="1" flipV="1">
            <a:off x="6447631" y="4393406"/>
            <a:ext cx="357188" cy="0"/>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1D6979BA-F059-45A9-B51D-BD053FD7C164}"/>
              </a:ext>
            </a:extLst>
          </p:cNvPr>
          <p:cNvCxnSpPr/>
          <p:nvPr/>
        </p:nvCxnSpPr>
        <p:spPr>
          <a:xfrm rot="5400000" flipH="1" flipV="1">
            <a:off x="8136734" y="2284712"/>
            <a:ext cx="355600"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9E554AB-A796-4C5D-8513-1557B1F43E68}"/>
              </a:ext>
            </a:extLst>
          </p:cNvPr>
          <p:cNvCxnSpPr/>
          <p:nvPr/>
        </p:nvCxnSpPr>
        <p:spPr>
          <a:xfrm rot="5400000" flipH="1" flipV="1">
            <a:off x="7410287" y="3286127"/>
            <a:ext cx="357188"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BB839C2-3A42-4734-AA2F-34A162ACA112}"/>
              </a:ext>
            </a:extLst>
          </p:cNvPr>
          <p:cNvSpPr txBox="1"/>
          <p:nvPr/>
        </p:nvSpPr>
        <p:spPr>
          <a:xfrm>
            <a:off x="1412878" y="3530599"/>
            <a:ext cx="708025" cy="955675"/>
          </a:xfrm>
          <a:prstGeom prst="rect">
            <a:avLst/>
          </a:prstGeom>
          <a:noFill/>
        </p:spPr>
        <p:txBody>
          <a:bodyPr>
            <a:spAutoFit/>
          </a:bodyPr>
          <a:lstStyle/>
          <a:p>
            <a:pPr>
              <a:defRPr/>
            </a:pPr>
            <a:r>
              <a:rPr lang="zh-CN" altLang="en-US" sz="2800" dirty="0">
                <a:solidFill>
                  <a:schemeClr val="accent2">
                    <a:lumMod val="75000"/>
                  </a:schemeClr>
                </a:solidFill>
                <a:latin typeface="微软雅黑" panose="020B0503020204020204" pitchFamily="34" charset="-122"/>
                <a:ea typeface="微软雅黑" panose="020B0503020204020204" pitchFamily="34" charset="-122"/>
              </a:rPr>
              <a:t>递归</a:t>
            </a:r>
            <a:endParaRPr 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7" name="TextBox 16">
            <a:extLst>
              <a:ext uri="{FF2B5EF4-FFF2-40B4-BE49-F238E27FC236}">
                <a16:creationId xmlns:a16="http://schemas.microsoft.com/office/drawing/2014/main" id="{54FB62E2-FBE0-48C8-B644-DF2F9C8B0081}"/>
              </a:ext>
            </a:extLst>
          </p:cNvPr>
          <p:cNvSpPr txBox="1">
            <a:spLocks noChangeArrowheads="1"/>
          </p:cNvSpPr>
          <p:nvPr/>
        </p:nvSpPr>
        <p:spPr bwMode="auto">
          <a:xfrm>
            <a:off x="9126421" y="3530599"/>
            <a:ext cx="708025"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a:solidFill>
                  <a:srgbClr val="0070C0"/>
                </a:solidFill>
                <a:latin typeface="微软雅黑" panose="020B0503020204020204" pitchFamily="34" charset="-122"/>
                <a:ea typeface="微软雅黑" panose="020B0503020204020204" pitchFamily="34" charset="-122"/>
              </a:rPr>
              <a:t>回归</a:t>
            </a:r>
            <a:endParaRPr lang="en-US" altLang="zh-CN" sz="2800">
              <a:solidFill>
                <a:srgbClr val="0070C0"/>
              </a:solidFill>
              <a:latin typeface="微软雅黑" panose="020B0503020204020204" pitchFamily="34" charset="-122"/>
              <a:ea typeface="微软雅黑" panose="020B0503020204020204" pitchFamily="34" charset="-122"/>
            </a:endParaRPr>
          </a:p>
        </p:txBody>
      </p:sp>
      <p:cxnSp>
        <p:nvCxnSpPr>
          <p:cNvPr id="18" name="直接箭头连接符 17">
            <a:extLst>
              <a:ext uri="{FF2B5EF4-FFF2-40B4-BE49-F238E27FC236}">
                <a16:creationId xmlns:a16="http://schemas.microsoft.com/office/drawing/2014/main" id="{AD115671-F5C3-4800-830E-700ADCCBA996}"/>
              </a:ext>
            </a:extLst>
          </p:cNvPr>
          <p:cNvCxnSpPr/>
          <p:nvPr/>
        </p:nvCxnSpPr>
        <p:spPr>
          <a:xfrm rot="5400000" flipH="1" flipV="1">
            <a:off x="8909844" y="1216928"/>
            <a:ext cx="355600"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2" name="箭头: 环形 11">
            <a:extLst>
              <a:ext uri="{FF2B5EF4-FFF2-40B4-BE49-F238E27FC236}">
                <a16:creationId xmlns:a16="http://schemas.microsoft.com/office/drawing/2014/main" id="{EB4D40DA-B8B6-4557-BA07-D9C6F00AFF68}"/>
              </a:ext>
            </a:extLst>
          </p:cNvPr>
          <p:cNvSpPr/>
          <p:nvPr/>
        </p:nvSpPr>
        <p:spPr>
          <a:xfrm rot="10800000" flipH="1">
            <a:off x="5010434" y="4616449"/>
            <a:ext cx="895350" cy="866775"/>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par>
                          <p:cTn id="24" fill="hold">
                            <p:stCondLst>
                              <p:cond delay="1000"/>
                            </p:stCondLst>
                            <p:childTnLst>
                              <p:par>
                                <p:cTn id="25" presetID="5" presetClass="entr" presetSubtype="1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9"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p:cTn id="32"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4" dur="1000"/>
                                        <p:tgtEl>
                                          <p:spTgt spid="3">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9"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41" dur="1000"/>
                                        <p:tgtEl>
                                          <p:spTgt spid="3">
                                            <p:txEl>
                                              <p:pRg st="4" end="4"/>
                                            </p:txEl>
                                          </p:spTgt>
                                        </p:tgtEl>
                                      </p:cBhvr>
                                    </p:animEffect>
                                  </p:childTnLst>
                                </p:cTn>
                              </p:par>
                            </p:childTnLst>
                          </p:cTn>
                        </p:par>
                        <p:par>
                          <p:cTn id="42" fill="hold">
                            <p:stCondLst>
                              <p:cond delay="1000"/>
                            </p:stCondLst>
                            <p:childTnLst>
                              <p:par>
                                <p:cTn id="43" presetID="5" presetClass="entr" presetSubtype="10" fill="hold"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checkerboard(across)">
                                      <p:cBhvr>
                                        <p:cTn id="45" dur="500"/>
                                        <p:tgtEl>
                                          <p:spTgt spid="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9" presetClass="entr" presetSubtype="0" fill="hold"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 calcmode="lin" valueType="num">
                                      <p:cBhvr>
                                        <p:cTn id="50"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52" dur="1000"/>
                                        <p:tgtEl>
                                          <p:spTgt spid="3">
                                            <p:txEl>
                                              <p:pRg st="5" end="5"/>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9"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 calcmode="lin" valueType="num">
                                      <p:cBhvr>
                                        <p:cTn id="57"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9" dur="1000"/>
                                        <p:tgtEl>
                                          <p:spTgt spid="3">
                                            <p:txEl>
                                              <p:pRg st="6" end="6"/>
                                            </p:txEl>
                                          </p:spTgt>
                                        </p:tgtEl>
                                      </p:cBhvr>
                                    </p:animEffect>
                                  </p:childTnLst>
                                </p:cTn>
                              </p:par>
                            </p:childTnLst>
                          </p:cTn>
                        </p:par>
                        <p:par>
                          <p:cTn id="60" fill="hold">
                            <p:stCondLst>
                              <p:cond delay="1000"/>
                            </p:stCondLst>
                            <p:childTnLst>
                              <p:par>
                                <p:cTn id="61" presetID="5" presetClass="entr" presetSubtype="10" fill="hold" nodeType="after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checkerboard(across)">
                                      <p:cBhvr>
                                        <p:cTn id="63" dur="500"/>
                                        <p:tgtEl>
                                          <p:spTgt spid="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9" presetClass="entr" presetSubtype="0" fill="hold" nodeType="click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 calcmode="lin" valueType="num">
                                      <p:cBhvr>
                                        <p:cTn id="68"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69"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70" dur="1000"/>
                                        <p:tgtEl>
                                          <p:spTgt spid="3">
                                            <p:txEl>
                                              <p:pRg st="7" end="7"/>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ppt_x"/>
                                          </p:val>
                                        </p:tav>
                                        <p:tav tm="100000">
                                          <p:val>
                                            <p:strVal val="#ppt_x"/>
                                          </p:val>
                                        </p:tav>
                                      </p:tavLst>
                                    </p:anim>
                                    <p:anim calcmode="lin" valueType="num">
                                      <p:cBhvr additive="base">
                                        <p:cTn id="8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9" presetClass="entr" presetSubtype="0" fill="hold" nodeType="clickEffect">
                                  <p:stCondLst>
                                    <p:cond delay="0"/>
                                  </p:stCondLst>
                                  <p:childTnLst>
                                    <p:set>
                                      <p:cBhvr>
                                        <p:cTn id="84" dur="1" fill="hold">
                                          <p:stCondLst>
                                            <p:cond delay="0"/>
                                          </p:stCondLst>
                                        </p:cTn>
                                        <p:tgtEl>
                                          <p:spTgt spid="4">
                                            <p:txEl>
                                              <p:pRg st="9" end="9"/>
                                            </p:txEl>
                                          </p:spTgt>
                                        </p:tgtEl>
                                        <p:attrNameLst>
                                          <p:attrName>style.visibility</p:attrName>
                                        </p:attrNameLst>
                                      </p:cBhvr>
                                      <p:to>
                                        <p:strVal val="visible"/>
                                      </p:to>
                                    </p:set>
                                    <p:anim calcmode="lin" valueType="num">
                                      <p:cBhvr>
                                        <p:cTn id="85" dur="1000" fill="hold"/>
                                        <p:tgtEl>
                                          <p:spTgt spid="4">
                                            <p:txEl>
                                              <p:pRg st="9" end="9"/>
                                            </p:txEl>
                                          </p:spTgt>
                                        </p:tgtEl>
                                        <p:attrNameLst>
                                          <p:attrName>ppt_x</p:attrName>
                                        </p:attrNameLst>
                                      </p:cBhvr>
                                      <p:tavLst>
                                        <p:tav tm="0">
                                          <p:val>
                                            <p:strVal val="#ppt_x-.2"/>
                                          </p:val>
                                        </p:tav>
                                        <p:tav tm="100000">
                                          <p:val>
                                            <p:strVal val="#ppt_x"/>
                                          </p:val>
                                        </p:tav>
                                      </p:tavLst>
                                    </p:anim>
                                    <p:anim calcmode="lin" valueType="num">
                                      <p:cBhvr>
                                        <p:cTn id="86" dur="1000" fill="hold"/>
                                        <p:tgtEl>
                                          <p:spTgt spid="4">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87" dur="1000"/>
                                        <p:tgtEl>
                                          <p:spTgt spid="4">
                                            <p:txEl>
                                              <p:pRg st="9" end="9"/>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9" presetClass="entr" presetSubtype="0" fill="hold" nodeType="clickEffect">
                                  <p:stCondLst>
                                    <p:cond delay="0"/>
                                  </p:stCondLst>
                                  <p:childTnLst>
                                    <p:set>
                                      <p:cBhvr>
                                        <p:cTn id="91" dur="1" fill="hold">
                                          <p:stCondLst>
                                            <p:cond delay="0"/>
                                          </p:stCondLst>
                                        </p:cTn>
                                        <p:tgtEl>
                                          <p:spTgt spid="4">
                                            <p:txEl>
                                              <p:pRg st="10" end="10"/>
                                            </p:txEl>
                                          </p:spTgt>
                                        </p:tgtEl>
                                        <p:attrNameLst>
                                          <p:attrName>style.visibility</p:attrName>
                                        </p:attrNameLst>
                                      </p:cBhvr>
                                      <p:to>
                                        <p:strVal val="visible"/>
                                      </p:to>
                                    </p:set>
                                    <p:anim calcmode="lin" valueType="num">
                                      <p:cBhvr>
                                        <p:cTn id="92" dur="1000" fill="hold"/>
                                        <p:tgtEl>
                                          <p:spTgt spid="4">
                                            <p:txEl>
                                              <p:pRg st="10" end="10"/>
                                            </p:txEl>
                                          </p:spTgt>
                                        </p:tgtEl>
                                        <p:attrNameLst>
                                          <p:attrName>ppt_x</p:attrName>
                                        </p:attrNameLst>
                                      </p:cBhvr>
                                      <p:tavLst>
                                        <p:tav tm="0">
                                          <p:val>
                                            <p:strVal val="#ppt_x-.2"/>
                                          </p:val>
                                        </p:tav>
                                        <p:tav tm="100000">
                                          <p:val>
                                            <p:strVal val="#ppt_x"/>
                                          </p:val>
                                        </p:tav>
                                      </p:tavLst>
                                    </p:anim>
                                    <p:anim calcmode="lin" valueType="num">
                                      <p:cBhvr>
                                        <p:cTn id="93" dur="1000" fill="hold"/>
                                        <p:tgtEl>
                                          <p:spTgt spid="4">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94" dur="1000"/>
                                        <p:tgtEl>
                                          <p:spTgt spid="4">
                                            <p:txEl>
                                              <p:pRg st="10" end="1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12"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81AE2743-035F-4A4B-B8AF-FF1DA96173A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函数调用与递归的实现</a:t>
            </a:r>
          </a:p>
        </p:txBody>
      </p:sp>
      <p:sp>
        <p:nvSpPr>
          <p:cNvPr id="2" name="副标题 1">
            <a:extLst>
              <a:ext uri="{FF2B5EF4-FFF2-40B4-BE49-F238E27FC236}">
                <a16:creationId xmlns:a16="http://schemas.microsoft.com/office/drawing/2014/main" id="{E2C70040-80EA-409A-ACCC-379FA7F3323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B9E9AF-DC91-4921-ABF6-DFCF7118167D}"/>
              </a:ext>
            </a:extLst>
          </p:cNvPr>
          <p:cNvSpPr>
            <a:spLocks noGrp="1"/>
          </p:cNvSpPr>
          <p:nvPr>
            <p:ph type="body" idx="10"/>
          </p:nvPr>
        </p:nvSpPr>
        <p:spPr/>
        <p:txBody>
          <a:bodyPr/>
          <a:lstStyle/>
          <a:p>
            <a:endParaRPr lang="zh-CN" altLang="en-US"/>
          </a:p>
        </p:txBody>
      </p:sp>
      <p:sp>
        <p:nvSpPr>
          <p:cNvPr id="100354" name="Rectangle 3">
            <a:extLst>
              <a:ext uri="{FF2B5EF4-FFF2-40B4-BE49-F238E27FC236}">
                <a16:creationId xmlns:a16="http://schemas.microsoft.com/office/drawing/2014/main" id="{2651B2D5-5F88-42FA-A7D2-6527501AA467}"/>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tabLst>
                <a:tab pos="357188" algn="l"/>
              </a:tabLst>
            </a:pPr>
            <a:r>
              <a:rPr kumimoji="0" lang="zh-CN" altLang="zh-CN" sz="2800" b="1">
                <a:latin typeface="微软雅黑" panose="020B0503020204020204" pitchFamily="34" charset="-122"/>
                <a:ea typeface="微软雅黑" panose="020B0503020204020204" pitchFamily="34" charset="-122"/>
              </a:rPr>
              <a:t>函数调用</a:t>
            </a: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solidFill>
                  <a:srgbClr val="0000FF"/>
                </a:solidFill>
                <a:latin typeface="微软雅黑" panose="020B0503020204020204" pitchFamily="34" charset="-122"/>
                <a:ea typeface="微软雅黑" panose="020B0503020204020204" pitchFamily="34" charset="-122"/>
              </a:rPr>
              <a:t>静态分配</a:t>
            </a:r>
            <a:r>
              <a:rPr kumimoji="0" lang="zh-CN" altLang="zh-CN" sz="2400">
                <a:latin typeface="微软雅黑" panose="020B0503020204020204" pitchFamily="34" charset="-122"/>
                <a:ea typeface="微软雅黑" panose="020B0503020204020204" pitchFamily="34" charset="-122"/>
              </a:rPr>
              <a:t>：数据区的分配在程序</a:t>
            </a:r>
            <a:r>
              <a:rPr kumimoji="0" lang="zh-CN" altLang="zh-CN" sz="2400">
                <a:solidFill>
                  <a:srgbClr val="C00000"/>
                </a:solidFill>
                <a:latin typeface="微软雅黑" panose="020B0503020204020204" pitchFamily="34" charset="-122"/>
                <a:ea typeface="微软雅黑" panose="020B0503020204020204" pitchFamily="34" charset="-122"/>
              </a:rPr>
              <a:t>运行前</a:t>
            </a:r>
            <a:r>
              <a:rPr kumimoji="0" lang="zh-CN" altLang="zh-CN" sz="2400">
                <a:latin typeface="微软雅黑" panose="020B0503020204020204" pitchFamily="34" charset="-122"/>
                <a:ea typeface="微软雅黑" panose="020B0503020204020204" pitchFamily="34" charset="-122"/>
              </a:rPr>
              <a:t>进行，整个程序运行结束</a:t>
            </a:r>
            <a:r>
              <a:rPr kumimoji="0" lang="zh-CN" altLang="en-US" sz="2400">
                <a:latin typeface="微软雅黑" panose="020B0503020204020204" pitchFamily="34" charset="-122"/>
                <a:ea typeface="微软雅黑" panose="020B0503020204020204" pitchFamily="34" charset="-122"/>
              </a:rPr>
              <a:t>才</a:t>
            </a:r>
            <a:r>
              <a:rPr kumimoji="0" lang="zh-CN" altLang="zh-CN" sz="2400">
                <a:latin typeface="微软雅黑" panose="020B0503020204020204" pitchFamily="34" charset="-122"/>
                <a:ea typeface="微软雅黑" panose="020B0503020204020204" pitchFamily="34" charset="-122"/>
              </a:rPr>
              <a:t>释放。函数的调用和返回处理比较简单，不需每次分配和释放被调函数的数据区</a:t>
            </a: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solidFill>
                  <a:srgbClr val="0000FF"/>
                </a:solidFill>
                <a:latin typeface="微软雅黑" panose="020B0503020204020204" pitchFamily="34" charset="-122"/>
                <a:ea typeface="微软雅黑" panose="020B0503020204020204" pitchFamily="34" charset="-122"/>
              </a:rPr>
              <a:t>动态分配</a:t>
            </a:r>
            <a:r>
              <a:rPr kumimoji="0" lang="zh-CN" altLang="zh-CN" sz="2400">
                <a:latin typeface="微软雅黑" panose="020B0503020204020204" pitchFamily="34" charset="-122"/>
                <a:ea typeface="微软雅黑" panose="020B0503020204020204" pitchFamily="34" charset="-122"/>
              </a:rPr>
              <a:t>：递归调用时，被调函数的局部变量等</a:t>
            </a:r>
            <a:r>
              <a:rPr kumimoji="0" lang="zh-CN" altLang="en-US" sz="2400">
                <a:latin typeface="微软雅黑" panose="020B0503020204020204" pitchFamily="34" charset="-122"/>
                <a:ea typeface="微软雅黑" panose="020B0503020204020204" pitchFamily="34" charset="-122"/>
              </a:rPr>
              <a:t>数据</a:t>
            </a:r>
            <a:r>
              <a:rPr kumimoji="0" lang="zh-CN" altLang="zh-CN" sz="2400">
                <a:latin typeface="微软雅黑" panose="020B0503020204020204" pitchFamily="34" charset="-122"/>
                <a:ea typeface="微软雅黑" panose="020B0503020204020204" pitchFamily="34" charset="-122"/>
              </a:rPr>
              <a:t>不能</a:t>
            </a:r>
            <a:r>
              <a:rPr kumimoji="0" lang="zh-CN" altLang="en-US" sz="2400">
                <a:latin typeface="微软雅黑" panose="020B0503020204020204" pitchFamily="34" charset="-122"/>
                <a:ea typeface="微软雅黑" panose="020B0503020204020204" pitchFamily="34" charset="-122"/>
              </a:rPr>
              <a:t>预先</a:t>
            </a:r>
            <a:r>
              <a:rPr kumimoji="0" lang="zh-CN" altLang="zh-CN" sz="2400">
                <a:latin typeface="微软雅黑" panose="020B0503020204020204" pitchFamily="34" charset="-122"/>
                <a:ea typeface="微软雅黑" panose="020B0503020204020204" pitchFamily="34" charset="-122"/>
              </a:rPr>
              <a:t>分配到固定单元，而须</a:t>
            </a:r>
            <a:r>
              <a:rPr kumimoji="0" lang="zh-CN" altLang="zh-CN" sz="2400">
                <a:solidFill>
                  <a:srgbClr val="CC0000"/>
                </a:solidFill>
                <a:latin typeface="微软雅黑" panose="020B0503020204020204" pitchFamily="34" charset="-122"/>
                <a:ea typeface="微软雅黑" panose="020B0503020204020204" pitchFamily="34" charset="-122"/>
              </a:rPr>
              <a:t>每调用一次</a:t>
            </a:r>
            <a:r>
              <a:rPr kumimoji="0" lang="zh-CN" altLang="zh-CN" sz="2400">
                <a:latin typeface="微软雅黑" panose="020B0503020204020204" pitchFamily="34" charset="-122"/>
                <a:ea typeface="微软雅黑" panose="020B0503020204020204" pitchFamily="34" charset="-122"/>
              </a:rPr>
              <a:t>就</a:t>
            </a:r>
            <a:r>
              <a:rPr kumimoji="0" lang="zh-CN" altLang="zh-CN" sz="2400">
                <a:solidFill>
                  <a:srgbClr val="CC0000"/>
                </a:solidFill>
                <a:latin typeface="微软雅黑" panose="020B0503020204020204" pitchFamily="34" charset="-122"/>
                <a:ea typeface="微软雅黑" panose="020B0503020204020204" pitchFamily="34" charset="-122"/>
              </a:rPr>
              <a:t>分配一份</a:t>
            </a:r>
            <a:r>
              <a:rPr kumimoji="0" lang="zh-CN" altLang="zh-CN" sz="2400">
                <a:latin typeface="微软雅黑" panose="020B0503020204020204" pitchFamily="34" charset="-122"/>
                <a:ea typeface="微软雅黑" panose="020B0503020204020204" pitchFamily="34" charset="-122"/>
              </a:rPr>
              <a:t>，以存放</a:t>
            </a:r>
            <a:r>
              <a:rPr kumimoji="0" lang="zh-CN" altLang="en-US" sz="2400">
                <a:latin typeface="微软雅黑" panose="020B0503020204020204" pitchFamily="34" charset="-122"/>
                <a:ea typeface="微软雅黑" panose="020B0503020204020204" pitchFamily="34" charset="-122"/>
              </a:rPr>
              <a:t>运行</a:t>
            </a:r>
            <a:r>
              <a:rPr kumimoji="0" lang="zh-CN" altLang="zh-CN" sz="2400">
                <a:latin typeface="微软雅黑" panose="020B0503020204020204" pitchFamily="34" charset="-122"/>
                <a:ea typeface="微软雅黑" panose="020B0503020204020204" pitchFamily="34" charset="-122"/>
              </a:rPr>
              <a:t>当前所用的数据，当返回时随即释放。故其存储分配只能在执行调用时才能进行</a:t>
            </a:r>
            <a:endParaRPr kumimoji="0" lang="en-US" altLang="zh-CN" sz="2400">
              <a:latin typeface="微软雅黑" panose="020B0503020204020204" pitchFamily="34" charset="-122"/>
              <a:ea typeface="微软雅黑" panose="020B0503020204020204" pitchFamily="34" charset="-122"/>
            </a:endParaRPr>
          </a:p>
          <a:p>
            <a:pPr marL="357188" indent="-357188" eaLnBrk="1" hangingPunct="1">
              <a:lnSpc>
                <a:spcPct val="110000"/>
              </a:lnSpc>
              <a:spcBef>
                <a:spcPts val="600"/>
              </a:spcBef>
              <a:buSzPct val="80000"/>
              <a:buFont typeface="Wingdings" panose="05000000000000000000" pitchFamily="2" charset="2"/>
              <a:buChar char="l"/>
              <a:tabLst>
                <a:tab pos="357188" algn="l"/>
              </a:tabLst>
            </a:pPr>
            <a:r>
              <a:rPr kumimoji="0" lang="zh-CN" altLang="zh-CN" sz="2800" b="1">
                <a:latin typeface="微软雅黑" panose="020B0503020204020204" pitchFamily="34" charset="-122"/>
                <a:ea typeface="微软雅黑" panose="020B0503020204020204" pitchFamily="34" charset="-122"/>
              </a:rPr>
              <a:t>程序运行时环境 </a:t>
            </a:r>
            <a:endParaRPr kumimoji="0" lang="en-US" altLang="zh-CN" sz="2800" b="1">
              <a:latin typeface="微软雅黑" panose="020B0503020204020204" pitchFamily="34" charset="-122"/>
              <a:ea typeface="微软雅黑" panose="020B0503020204020204" pitchFamily="34" charset="-122"/>
            </a:endParaRP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latin typeface="微软雅黑" panose="020B0503020204020204" pitchFamily="34" charset="-122"/>
                <a:ea typeface="微软雅黑" panose="020B0503020204020204" pitchFamily="34" charset="-122"/>
              </a:rPr>
              <a:t>目标计算机上用来管理存储器并保存执行过程所需的信息的寄存器及存储器的结构</a:t>
            </a:r>
          </a:p>
          <a:p>
            <a:pPr marL="357188" indent="-357188" eaLnBrk="1" hangingPunct="1">
              <a:lnSpc>
                <a:spcPct val="90000"/>
              </a:lnSpc>
              <a:tabLst>
                <a:tab pos="357188" algn="l"/>
              </a:tabLst>
            </a:pPr>
            <a:endParaRPr kumimoji="0" lang="zh-CN" altLang="zh-CN" sz="3200">
              <a:latin typeface="微软雅黑" panose="020B0503020204020204" pitchFamily="34" charset="-122"/>
              <a:ea typeface="微软雅黑" panose="020B0503020204020204" pitchFamily="34"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a:extLst>
              <a:ext uri="{FF2B5EF4-FFF2-40B4-BE49-F238E27FC236}">
                <a16:creationId xmlns:a16="http://schemas.microsoft.com/office/drawing/2014/main" id="{E214E43A-B916-4873-B832-71FED9E69C4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函数调用及返回的步骤</a:t>
            </a:r>
          </a:p>
        </p:txBody>
      </p:sp>
      <p:sp>
        <p:nvSpPr>
          <p:cNvPr id="2" name="副标题 1">
            <a:extLst>
              <a:ext uri="{FF2B5EF4-FFF2-40B4-BE49-F238E27FC236}">
                <a16:creationId xmlns:a16="http://schemas.microsoft.com/office/drawing/2014/main" id="{30FB8B4F-2ADA-4491-946C-49C2B0ADBDD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F72AD65-DBBC-477C-B292-5AFE6EC2D9B2}"/>
              </a:ext>
            </a:extLst>
          </p:cNvPr>
          <p:cNvSpPr>
            <a:spLocks noGrp="1"/>
          </p:cNvSpPr>
          <p:nvPr>
            <p:ph type="body" idx="10"/>
          </p:nvPr>
        </p:nvSpPr>
        <p:spPr/>
        <p:txBody>
          <a:bodyPr/>
          <a:lstStyle/>
          <a:p>
            <a:endParaRPr lang="zh-CN" altLang="en-US"/>
          </a:p>
        </p:txBody>
      </p:sp>
      <p:sp>
        <p:nvSpPr>
          <p:cNvPr id="101379" name="内容占位符 2">
            <a:extLst>
              <a:ext uri="{FF2B5EF4-FFF2-40B4-BE49-F238E27FC236}">
                <a16:creationId xmlns:a16="http://schemas.microsoft.com/office/drawing/2014/main" id="{B70658A2-6D44-4E25-AFF9-90807E71804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zh-CN" sz="2800" b="1">
                <a:solidFill>
                  <a:srgbClr val="C00000"/>
                </a:solidFill>
                <a:latin typeface="微软雅黑" panose="020B0503020204020204" pitchFamily="34" charset="-122"/>
                <a:ea typeface="微软雅黑" panose="020B0503020204020204" pitchFamily="34" charset="-122"/>
              </a:rPr>
              <a:t>调用</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保存调用信息（参数，返回地址）</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分配数据区（局部变量）</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控制转移给被调函数的入口</a:t>
            </a:r>
          </a:p>
          <a:p>
            <a:pPr marL="357188" indent="-357188" eaLnBrk="1" hangingPunct="1">
              <a:lnSpc>
                <a:spcPct val="105000"/>
              </a:lnSpc>
              <a:spcBef>
                <a:spcPts val="600"/>
              </a:spcBef>
              <a:buSzPct val="80000"/>
              <a:buFont typeface="Wingdings" panose="05000000000000000000" pitchFamily="2" charset="2"/>
              <a:buChar char="l"/>
            </a:pPr>
            <a:r>
              <a:rPr kumimoji="0" lang="zh-CN" altLang="zh-CN" sz="2800" b="1">
                <a:solidFill>
                  <a:srgbClr val="3333CC"/>
                </a:solidFill>
                <a:latin typeface="微软雅黑" panose="020B0503020204020204" pitchFamily="34" charset="-122"/>
                <a:ea typeface="微软雅黑" panose="020B0503020204020204" pitchFamily="34" charset="-122"/>
              </a:rPr>
              <a:t>返回</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保存返回信息</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释放数据区</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控制转移到上级函数（主调用函数）</a:t>
            </a:r>
          </a:p>
          <a:p>
            <a:pPr marL="357188" indent="-357188" eaLnBrk="1" hangingPunct="1">
              <a:lnSpc>
                <a:spcPct val="105000"/>
              </a:lnSpc>
              <a:spcBef>
                <a:spcPts val="600"/>
              </a:spcBef>
            </a:pPr>
            <a:endParaRPr kumimoji="0" lang="zh-CN" altLang="zh-CN" sz="2800" b="1">
              <a:latin typeface="微软雅黑" panose="020B0503020204020204" pitchFamily="34" charset="-122"/>
              <a:ea typeface="微软雅黑" panose="020B0503020204020204" pitchFamily="34" charset="-122"/>
            </a:endParaRPr>
          </a:p>
        </p:txBody>
      </p:sp>
      <p:cxnSp>
        <p:nvCxnSpPr>
          <p:cNvPr id="101380" name="直接连接符 6">
            <a:extLst>
              <a:ext uri="{FF2B5EF4-FFF2-40B4-BE49-F238E27FC236}">
                <a16:creationId xmlns:a16="http://schemas.microsoft.com/office/drawing/2014/main" id="{BC4AFBD2-A8FE-40B2-9B28-ECEF174058D4}"/>
              </a:ext>
            </a:extLst>
          </p:cNvPr>
          <p:cNvCxnSpPr>
            <a:cxnSpLocks noChangeShapeType="1"/>
          </p:cNvCxnSpPr>
          <p:nvPr/>
        </p:nvCxnSpPr>
        <p:spPr bwMode="auto">
          <a:xfrm>
            <a:off x="9426575" y="1308100"/>
            <a:ext cx="0" cy="1184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1" name="直接箭头连接符 7">
            <a:extLst>
              <a:ext uri="{FF2B5EF4-FFF2-40B4-BE49-F238E27FC236}">
                <a16:creationId xmlns:a16="http://schemas.microsoft.com/office/drawing/2014/main" id="{35E6C6D6-E4AE-4AD4-B45D-DCB6881FC46E}"/>
              </a:ext>
            </a:extLst>
          </p:cNvPr>
          <p:cNvCxnSpPr>
            <a:cxnSpLocks noChangeShapeType="1"/>
          </p:cNvCxnSpPr>
          <p:nvPr/>
        </p:nvCxnSpPr>
        <p:spPr bwMode="auto">
          <a:xfrm>
            <a:off x="9436100" y="4362450"/>
            <a:ext cx="0" cy="1295400"/>
          </a:xfrm>
          <a:prstGeom prst="straightConnector1">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1382" name="圆角矩形 8">
            <a:extLst>
              <a:ext uri="{FF2B5EF4-FFF2-40B4-BE49-F238E27FC236}">
                <a16:creationId xmlns:a16="http://schemas.microsoft.com/office/drawing/2014/main" id="{3A41FD7B-019F-4623-B840-7120DC595A55}"/>
              </a:ext>
            </a:extLst>
          </p:cNvPr>
          <p:cNvSpPr>
            <a:spLocks noChangeArrowheads="1"/>
          </p:cNvSpPr>
          <p:nvPr/>
        </p:nvSpPr>
        <p:spPr bwMode="auto">
          <a:xfrm>
            <a:off x="9048750" y="1238250"/>
            <a:ext cx="755650" cy="4999038"/>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r>
              <a:rPr lang="zh-CN" altLang="en-US" sz="2000">
                <a:latin typeface="微软雅黑" panose="020B0503020204020204" pitchFamily="34" charset="-122"/>
                <a:ea typeface="微软雅黑" panose="020B0503020204020204" pitchFamily="34" charset="-122"/>
              </a:rPr>
              <a:t>主流程</a:t>
            </a:r>
          </a:p>
        </p:txBody>
      </p:sp>
      <p:cxnSp>
        <p:nvCxnSpPr>
          <p:cNvPr id="101383" name="直接连接符 9">
            <a:extLst>
              <a:ext uri="{FF2B5EF4-FFF2-40B4-BE49-F238E27FC236}">
                <a16:creationId xmlns:a16="http://schemas.microsoft.com/office/drawing/2014/main" id="{9983B878-0AAD-4E4E-88D0-377F6A3C9A97}"/>
              </a:ext>
            </a:extLst>
          </p:cNvPr>
          <p:cNvCxnSpPr>
            <a:cxnSpLocks noChangeShapeType="1"/>
          </p:cNvCxnSpPr>
          <p:nvPr/>
        </p:nvCxnSpPr>
        <p:spPr bwMode="auto">
          <a:xfrm>
            <a:off x="9426575" y="2824163"/>
            <a:ext cx="0" cy="1184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01384" name="圆角矩形 10">
            <a:extLst>
              <a:ext uri="{FF2B5EF4-FFF2-40B4-BE49-F238E27FC236}">
                <a16:creationId xmlns:a16="http://schemas.microsoft.com/office/drawing/2014/main" id="{7C92A3A8-BACF-41A3-A51A-DC59AB8B915F}"/>
              </a:ext>
            </a:extLst>
          </p:cNvPr>
          <p:cNvSpPr>
            <a:spLocks noChangeArrowheads="1"/>
          </p:cNvSpPr>
          <p:nvPr/>
        </p:nvSpPr>
        <p:spPr bwMode="auto">
          <a:xfrm>
            <a:off x="10275888" y="2425700"/>
            <a:ext cx="808037" cy="444500"/>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200">
                <a:latin typeface="微软雅黑" panose="020B0503020204020204" pitchFamily="34" charset="-122"/>
                <a:ea typeface="微软雅黑" panose="020B0503020204020204" pitchFamily="34" charset="-122"/>
              </a:rPr>
              <a:t>函  数</a:t>
            </a:r>
          </a:p>
        </p:txBody>
      </p:sp>
      <p:cxnSp>
        <p:nvCxnSpPr>
          <p:cNvPr id="101385" name="直接连接符 11">
            <a:extLst>
              <a:ext uri="{FF2B5EF4-FFF2-40B4-BE49-F238E27FC236}">
                <a16:creationId xmlns:a16="http://schemas.microsoft.com/office/drawing/2014/main" id="{61A0D5F9-E3A7-4441-AB0C-D1BF6C86A5A6}"/>
              </a:ext>
            </a:extLst>
          </p:cNvPr>
          <p:cNvCxnSpPr>
            <a:cxnSpLocks noChangeShapeType="1"/>
          </p:cNvCxnSpPr>
          <p:nvPr/>
        </p:nvCxnSpPr>
        <p:spPr bwMode="auto">
          <a:xfrm flipH="1" flipV="1">
            <a:off x="9426575" y="2852738"/>
            <a:ext cx="1241425" cy="3603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6" name="直接连接符 12">
            <a:extLst>
              <a:ext uri="{FF2B5EF4-FFF2-40B4-BE49-F238E27FC236}">
                <a16:creationId xmlns:a16="http://schemas.microsoft.com/office/drawing/2014/main" id="{31062695-8253-4F4D-82E2-5E6A13C91A64}"/>
              </a:ext>
            </a:extLst>
          </p:cNvPr>
          <p:cNvCxnSpPr>
            <a:cxnSpLocks noChangeShapeType="1"/>
          </p:cNvCxnSpPr>
          <p:nvPr/>
        </p:nvCxnSpPr>
        <p:spPr bwMode="auto">
          <a:xfrm flipH="1">
            <a:off x="9426575" y="1995488"/>
            <a:ext cx="1241425" cy="5048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7" name="直接连接符 13">
            <a:extLst>
              <a:ext uri="{FF2B5EF4-FFF2-40B4-BE49-F238E27FC236}">
                <a16:creationId xmlns:a16="http://schemas.microsoft.com/office/drawing/2014/main" id="{58CFDDE2-43FD-4148-8315-D108DD3A37FD}"/>
              </a:ext>
            </a:extLst>
          </p:cNvPr>
          <p:cNvCxnSpPr>
            <a:cxnSpLocks noChangeShapeType="1"/>
          </p:cNvCxnSpPr>
          <p:nvPr/>
        </p:nvCxnSpPr>
        <p:spPr bwMode="auto">
          <a:xfrm flipH="1">
            <a:off x="10668000" y="1995488"/>
            <a:ext cx="11113" cy="582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8" name="直接连接符 14">
            <a:extLst>
              <a:ext uri="{FF2B5EF4-FFF2-40B4-BE49-F238E27FC236}">
                <a16:creationId xmlns:a16="http://schemas.microsoft.com/office/drawing/2014/main" id="{2AD73D70-18E3-4449-ACB2-1C5B35EDAB8E}"/>
              </a:ext>
            </a:extLst>
          </p:cNvPr>
          <p:cNvCxnSpPr>
            <a:cxnSpLocks noChangeShapeType="1"/>
          </p:cNvCxnSpPr>
          <p:nvPr/>
        </p:nvCxnSpPr>
        <p:spPr bwMode="auto">
          <a:xfrm flipH="1">
            <a:off x="10671175" y="2206625"/>
            <a:ext cx="755650" cy="3714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9" name="直接连接符 15">
            <a:extLst>
              <a:ext uri="{FF2B5EF4-FFF2-40B4-BE49-F238E27FC236}">
                <a16:creationId xmlns:a16="http://schemas.microsoft.com/office/drawing/2014/main" id="{623A51CD-54AC-46B3-8313-21FAAB3940FC}"/>
              </a:ext>
            </a:extLst>
          </p:cNvPr>
          <p:cNvCxnSpPr>
            <a:cxnSpLocks noChangeShapeType="1"/>
          </p:cNvCxnSpPr>
          <p:nvPr/>
        </p:nvCxnSpPr>
        <p:spPr bwMode="auto">
          <a:xfrm>
            <a:off x="11426825" y="2225675"/>
            <a:ext cx="0" cy="846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0" name="直接连接符 16">
            <a:extLst>
              <a:ext uri="{FF2B5EF4-FFF2-40B4-BE49-F238E27FC236}">
                <a16:creationId xmlns:a16="http://schemas.microsoft.com/office/drawing/2014/main" id="{20B822DC-36CA-4232-90C7-F3C88E975773}"/>
              </a:ext>
            </a:extLst>
          </p:cNvPr>
          <p:cNvCxnSpPr>
            <a:cxnSpLocks noChangeShapeType="1"/>
          </p:cNvCxnSpPr>
          <p:nvPr/>
        </p:nvCxnSpPr>
        <p:spPr bwMode="auto">
          <a:xfrm flipH="1" flipV="1">
            <a:off x="10668000" y="2711450"/>
            <a:ext cx="758825"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1" name="直接连接符 17">
            <a:extLst>
              <a:ext uri="{FF2B5EF4-FFF2-40B4-BE49-F238E27FC236}">
                <a16:creationId xmlns:a16="http://schemas.microsoft.com/office/drawing/2014/main" id="{58566234-A3B4-44B7-A74A-443D11CA65CA}"/>
              </a:ext>
            </a:extLst>
          </p:cNvPr>
          <p:cNvCxnSpPr>
            <a:cxnSpLocks noChangeShapeType="1"/>
          </p:cNvCxnSpPr>
          <p:nvPr/>
        </p:nvCxnSpPr>
        <p:spPr bwMode="auto">
          <a:xfrm flipH="1">
            <a:off x="10668000" y="2719388"/>
            <a:ext cx="6350" cy="485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01392" name="圆角矩形 18">
            <a:extLst>
              <a:ext uri="{FF2B5EF4-FFF2-40B4-BE49-F238E27FC236}">
                <a16:creationId xmlns:a16="http://schemas.microsoft.com/office/drawing/2014/main" id="{E9944ABA-9217-492B-A39B-3D3CB63A282F}"/>
              </a:ext>
            </a:extLst>
          </p:cNvPr>
          <p:cNvSpPr>
            <a:spLocks noChangeArrowheads="1"/>
          </p:cNvSpPr>
          <p:nvPr/>
        </p:nvSpPr>
        <p:spPr bwMode="auto">
          <a:xfrm>
            <a:off x="11104563" y="2470150"/>
            <a:ext cx="647700" cy="357188"/>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函  数</a:t>
            </a:r>
          </a:p>
        </p:txBody>
      </p:sp>
      <p:sp>
        <p:nvSpPr>
          <p:cNvPr id="101393" name="圆角矩形 19">
            <a:extLst>
              <a:ext uri="{FF2B5EF4-FFF2-40B4-BE49-F238E27FC236}">
                <a16:creationId xmlns:a16="http://schemas.microsoft.com/office/drawing/2014/main" id="{A567BB3C-2DA7-44FA-962E-948A8E588AF9}"/>
              </a:ext>
            </a:extLst>
          </p:cNvPr>
          <p:cNvSpPr>
            <a:spLocks noChangeArrowheads="1"/>
          </p:cNvSpPr>
          <p:nvPr/>
        </p:nvSpPr>
        <p:spPr bwMode="auto">
          <a:xfrm>
            <a:off x="10136188" y="3854450"/>
            <a:ext cx="1065212" cy="588963"/>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200">
                <a:latin typeface="微软雅黑" panose="020B0503020204020204" pitchFamily="34" charset="-122"/>
                <a:ea typeface="微软雅黑" panose="020B0503020204020204" pitchFamily="34" charset="-122"/>
              </a:rPr>
              <a:t>函  数</a:t>
            </a:r>
          </a:p>
        </p:txBody>
      </p:sp>
      <p:cxnSp>
        <p:nvCxnSpPr>
          <p:cNvPr id="101394" name="直接连接符 20">
            <a:extLst>
              <a:ext uri="{FF2B5EF4-FFF2-40B4-BE49-F238E27FC236}">
                <a16:creationId xmlns:a16="http://schemas.microsoft.com/office/drawing/2014/main" id="{4F48F4D2-258E-4B21-8B2E-845CDEDA2ADA}"/>
              </a:ext>
            </a:extLst>
          </p:cNvPr>
          <p:cNvCxnSpPr>
            <a:cxnSpLocks noChangeShapeType="1"/>
          </p:cNvCxnSpPr>
          <p:nvPr/>
        </p:nvCxnSpPr>
        <p:spPr bwMode="auto">
          <a:xfrm flipH="1" flipV="1">
            <a:off x="9426575" y="4365625"/>
            <a:ext cx="1241425" cy="358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5" name="直接连接符 21">
            <a:extLst>
              <a:ext uri="{FF2B5EF4-FFF2-40B4-BE49-F238E27FC236}">
                <a16:creationId xmlns:a16="http://schemas.microsoft.com/office/drawing/2014/main" id="{EA360FC6-4622-46FC-905B-3A46EE678279}"/>
              </a:ext>
            </a:extLst>
          </p:cNvPr>
          <p:cNvCxnSpPr>
            <a:cxnSpLocks noChangeShapeType="1"/>
          </p:cNvCxnSpPr>
          <p:nvPr/>
        </p:nvCxnSpPr>
        <p:spPr bwMode="auto">
          <a:xfrm flipH="1">
            <a:off x="9426575" y="3508375"/>
            <a:ext cx="1241425" cy="5032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6" name="直接连接符 22">
            <a:extLst>
              <a:ext uri="{FF2B5EF4-FFF2-40B4-BE49-F238E27FC236}">
                <a16:creationId xmlns:a16="http://schemas.microsoft.com/office/drawing/2014/main" id="{C5F812B3-56F9-466D-84E3-11FC402864BA}"/>
              </a:ext>
            </a:extLst>
          </p:cNvPr>
          <p:cNvCxnSpPr>
            <a:cxnSpLocks noChangeShapeType="1"/>
          </p:cNvCxnSpPr>
          <p:nvPr/>
        </p:nvCxnSpPr>
        <p:spPr bwMode="auto">
          <a:xfrm>
            <a:off x="10658475" y="3508375"/>
            <a:ext cx="9525" cy="1216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14302E9C-89D7-4CC0-99FE-AA608864EAC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函数运行时的动态存储分配</a:t>
            </a:r>
          </a:p>
        </p:txBody>
      </p:sp>
      <p:sp>
        <p:nvSpPr>
          <p:cNvPr id="2" name="副标题 1">
            <a:extLst>
              <a:ext uri="{FF2B5EF4-FFF2-40B4-BE49-F238E27FC236}">
                <a16:creationId xmlns:a16="http://schemas.microsoft.com/office/drawing/2014/main" id="{372C6FDE-436A-4CFB-8B1D-E2F22DE5FFF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D583665-30DE-4A4F-A3D3-3BA0D98B4DBA}"/>
              </a:ext>
            </a:extLst>
          </p:cNvPr>
          <p:cNvSpPr>
            <a:spLocks noGrp="1"/>
          </p:cNvSpPr>
          <p:nvPr>
            <p:ph type="body" idx="10"/>
          </p:nvPr>
        </p:nvSpPr>
        <p:spPr/>
        <p:txBody>
          <a:bodyPr/>
          <a:lstStyle/>
          <a:p>
            <a:endParaRPr lang="zh-CN" altLang="en-US"/>
          </a:p>
        </p:txBody>
      </p:sp>
      <p:sp>
        <p:nvSpPr>
          <p:cNvPr id="102403" name="内容占位符 2">
            <a:extLst>
              <a:ext uri="{FF2B5EF4-FFF2-40B4-BE49-F238E27FC236}">
                <a16:creationId xmlns:a16="http://schemas.microsoft.com/office/drawing/2014/main" id="{CFD0424D-AFC8-4281-ABF3-03284DE1E63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lang="zh-CN" altLang="zh-CN" sz="2800" b="1">
                <a:solidFill>
                  <a:srgbClr val="0000FF"/>
                </a:solidFill>
                <a:latin typeface="微软雅黑" panose="020B0503020204020204" pitchFamily="34" charset="-122"/>
                <a:ea typeface="微软雅黑" panose="020B0503020204020204" pitchFamily="34" charset="-122"/>
              </a:rPr>
              <a:t>运行栈（</a:t>
            </a:r>
            <a:r>
              <a:rPr lang="en-US" altLang="zh-CN" sz="2800" b="1">
                <a:solidFill>
                  <a:srgbClr val="0000FF"/>
                </a:solidFill>
                <a:latin typeface="微软雅黑" panose="020B0503020204020204" pitchFamily="34" charset="-122"/>
                <a:ea typeface="微软雅黑" panose="020B0503020204020204" pitchFamily="34" charset="-122"/>
              </a:rPr>
              <a:t>stack</a:t>
            </a:r>
            <a:r>
              <a:rPr lang="zh-CN" altLang="zh-CN" sz="2800" b="1">
                <a:solidFill>
                  <a:srgbClr val="0000FF"/>
                </a:solidFill>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用于分配</a:t>
            </a:r>
            <a:r>
              <a:rPr lang="zh-CN" altLang="zh-CN" sz="2800">
                <a:solidFill>
                  <a:srgbClr val="C00000"/>
                </a:solidFill>
                <a:latin typeface="微软雅黑" panose="020B0503020204020204" pitchFamily="34" charset="-122"/>
                <a:ea typeface="微软雅黑" panose="020B0503020204020204" pitchFamily="34" charset="-122"/>
              </a:rPr>
              <a:t>后进先出</a:t>
            </a:r>
            <a:r>
              <a:rPr lang="en-US" altLang="zh-CN" sz="2800">
                <a:solidFill>
                  <a:srgbClr val="C00000"/>
                </a:solidFill>
                <a:latin typeface="微软雅黑" panose="020B0503020204020204" pitchFamily="34" charset="-122"/>
                <a:ea typeface="微软雅黑" panose="020B0503020204020204" pitchFamily="34" charset="-122"/>
              </a:rPr>
              <a:t>LIFO</a:t>
            </a:r>
            <a:r>
              <a:rPr lang="zh-CN" altLang="zh-CN" sz="2800">
                <a:latin typeface="微软雅黑" panose="020B0503020204020204" pitchFamily="34" charset="-122"/>
                <a:ea typeface="微软雅黑" panose="020B0503020204020204" pitchFamily="34" charset="-122"/>
              </a:rPr>
              <a:t>的数据</a:t>
            </a:r>
            <a:endParaRPr lang="en-US" altLang="zh-CN" sz="2800">
              <a:latin typeface="微软雅黑" panose="020B0503020204020204" pitchFamily="34" charset="-122"/>
              <a:ea typeface="微软雅黑" panose="020B0503020204020204" pitchFamily="34" charset="-122"/>
            </a:endParaRPr>
          </a:p>
          <a:p>
            <a:pPr marL="715963" lvl="1" indent="-358775" eaLnBrk="1" hangingPunct="1">
              <a:lnSpc>
                <a:spcPct val="105000"/>
              </a:lnSpc>
              <a:spcBef>
                <a:spcPts val="600"/>
              </a:spcBef>
              <a:buFont typeface="Wingdings" panose="05000000000000000000" pitchFamily="2" charset="2"/>
              <a:buChar char="ü"/>
            </a:pPr>
            <a:r>
              <a:rPr lang="en-US" altLang="zh-CN" sz="2400">
                <a:latin typeface="微软雅黑" panose="020B0503020204020204" pitchFamily="34" charset="-122"/>
                <a:ea typeface="微软雅黑" panose="020B0503020204020204" pitchFamily="34" charset="-122"/>
              </a:rPr>
              <a:t>e.g.</a:t>
            </a:r>
            <a:r>
              <a:rPr lang="zh-CN" altLang="zh-CN" sz="2400">
                <a:latin typeface="微软雅黑" panose="020B0503020204020204" pitchFamily="34" charset="-122"/>
                <a:ea typeface="微软雅黑" panose="020B0503020204020204" pitchFamily="34" charset="-122"/>
              </a:rPr>
              <a:t>， 函数调用</a:t>
            </a:r>
          </a:p>
          <a:p>
            <a:pPr marL="357188" indent="-357188" eaLnBrk="1" hangingPunct="1">
              <a:lnSpc>
                <a:spcPct val="105000"/>
              </a:lnSpc>
              <a:spcBef>
                <a:spcPts val="600"/>
              </a:spcBef>
              <a:buSzPct val="80000"/>
              <a:buFont typeface="Wingdings" panose="05000000000000000000" pitchFamily="2" charset="2"/>
              <a:buChar char="l"/>
            </a:pPr>
            <a:r>
              <a:rPr lang="zh-CN" altLang="zh-CN" sz="2800" b="1">
                <a:solidFill>
                  <a:srgbClr val="0000FF"/>
                </a:solidFill>
                <a:latin typeface="微软雅黑" panose="020B0503020204020204" pitchFamily="34" charset="-122"/>
                <a:ea typeface="微软雅黑" panose="020B0503020204020204" pitchFamily="34" charset="-122"/>
              </a:rPr>
              <a:t>堆（</a:t>
            </a:r>
            <a:r>
              <a:rPr lang="en-US" altLang="zh-CN" sz="2800" b="1">
                <a:solidFill>
                  <a:srgbClr val="0000FF"/>
                </a:solidFill>
                <a:latin typeface="微软雅黑" panose="020B0503020204020204" pitchFamily="34" charset="-122"/>
                <a:ea typeface="微软雅黑" panose="020B0503020204020204" pitchFamily="34" charset="-122"/>
              </a:rPr>
              <a:t>heap</a:t>
            </a:r>
            <a:r>
              <a:rPr lang="zh-CN" altLang="zh-CN" sz="2800" b="1">
                <a:solidFill>
                  <a:srgbClr val="0000FF"/>
                </a:solidFill>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用于不符合</a:t>
            </a:r>
            <a:r>
              <a:rPr lang="en-US" altLang="zh-CN" sz="2800">
                <a:latin typeface="微软雅黑" panose="020B0503020204020204" pitchFamily="34" charset="-122"/>
                <a:ea typeface="微软雅黑" panose="020B0503020204020204" pitchFamily="34" charset="-122"/>
              </a:rPr>
              <a:t>LIFO</a:t>
            </a:r>
            <a:r>
              <a:rPr lang="zh-CN" altLang="zh-CN" sz="2800">
                <a:latin typeface="微软雅黑" panose="020B0503020204020204" pitchFamily="34" charset="-122"/>
                <a:ea typeface="微软雅黑" panose="020B0503020204020204" pitchFamily="34" charset="-122"/>
              </a:rPr>
              <a:t>的</a:t>
            </a:r>
            <a:r>
              <a:rPr lang="zh-CN" altLang="en-US" sz="2800">
                <a:latin typeface="微软雅黑" panose="020B0503020204020204" pitchFamily="34" charset="-122"/>
                <a:ea typeface="微软雅黑" panose="020B0503020204020204" pitchFamily="34" charset="-122"/>
              </a:rPr>
              <a:t>数据</a:t>
            </a:r>
            <a:endParaRPr lang="en-US" altLang="zh-CN" sz="2800">
              <a:latin typeface="微软雅黑" panose="020B0503020204020204" pitchFamily="34" charset="-122"/>
              <a:ea typeface="微软雅黑" panose="020B0503020204020204" pitchFamily="34" charset="-122"/>
            </a:endParaRPr>
          </a:p>
          <a:p>
            <a:pPr marL="715963" lvl="1" indent="-358775" eaLnBrk="1" hangingPunct="1">
              <a:lnSpc>
                <a:spcPct val="105000"/>
              </a:lnSpc>
              <a:spcBef>
                <a:spcPts val="600"/>
              </a:spcBef>
              <a:buFont typeface="Wingdings" panose="05000000000000000000" pitchFamily="2" charset="2"/>
              <a:buChar char="ü"/>
            </a:pPr>
            <a:r>
              <a:rPr lang="en-US" altLang="zh-CN" sz="2400">
                <a:latin typeface="微软雅黑" panose="020B0503020204020204" pitchFamily="34" charset="-122"/>
                <a:ea typeface="微软雅黑" panose="020B0503020204020204" pitchFamily="34" charset="-122"/>
              </a:rPr>
              <a:t>e.g.</a:t>
            </a:r>
            <a:r>
              <a:rPr lang="zh-CN" altLang="zh-CN" sz="2400">
                <a:latin typeface="微软雅黑" panose="020B0503020204020204" pitchFamily="34" charset="-122"/>
                <a:ea typeface="微软雅黑" panose="020B0503020204020204" pitchFamily="34" charset="-122"/>
              </a:rPr>
              <a:t>，指针所指向空间的分配</a:t>
            </a:r>
          </a:p>
          <a:p>
            <a:pPr marL="357188" indent="-357188">
              <a:lnSpc>
                <a:spcPct val="105000"/>
              </a:lnSpc>
              <a:spcBef>
                <a:spcPts val="600"/>
              </a:spcBef>
              <a:buFont typeface="Wingdings" panose="05000000000000000000" pitchFamily="2" charset="2"/>
              <a:buNone/>
            </a:pPr>
            <a:endParaRPr lang="zh-CN" altLang="zh-CN">
              <a:latin typeface="微软雅黑" panose="020B0503020204020204" pitchFamily="34" charset="-122"/>
              <a:ea typeface="微软雅黑" panose="020B0503020204020204" pitchFamily="34" charset="-122"/>
            </a:endParaRPr>
          </a:p>
        </p:txBody>
      </p:sp>
      <p:grpSp>
        <p:nvGrpSpPr>
          <p:cNvPr id="102404" name="Group 4">
            <a:extLst>
              <a:ext uri="{FF2B5EF4-FFF2-40B4-BE49-F238E27FC236}">
                <a16:creationId xmlns:a16="http://schemas.microsoft.com/office/drawing/2014/main" id="{1C8B286F-6965-4923-B37D-F420D5D9AE4E}"/>
              </a:ext>
            </a:extLst>
          </p:cNvPr>
          <p:cNvGrpSpPr>
            <a:grpSpLocks noChangeAspect="1"/>
          </p:cNvGrpSpPr>
          <p:nvPr/>
        </p:nvGrpSpPr>
        <p:grpSpPr bwMode="auto">
          <a:xfrm>
            <a:off x="8399463" y="3384550"/>
            <a:ext cx="2338387" cy="2811463"/>
            <a:chOff x="2943" y="2115"/>
            <a:chExt cx="1417" cy="1771"/>
          </a:xfrm>
        </p:grpSpPr>
        <p:sp>
          <p:nvSpPr>
            <p:cNvPr id="102405" name="AutoShape 3">
              <a:extLst>
                <a:ext uri="{FF2B5EF4-FFF2-40B4-BE49-F238E27FC236}">
                  <a16:creationId xmlns:a16="http://schemas.microsoft.com/office/drawing/2014/main" id="{AA05B04E-9329-47D7-AD77-2893E8D75BF5}"/>
                </a:ext>
              </a:extLst>
            </p:cNvPr>
            <p:cNvSpPr>
              <a:spLocks noChangeAspect="1" noChangeArrowheads="1" noTextEdit="1"/>
            </p:cNvSpPr>
            <p:nvPr/>
          </p:nvSpPr>
          <p:spPr bwMode="auto">
            <a:xfrm>
              <a:off x="2943" y="2115"/>
              <a:ext cx="1417" cy="177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2406" name="Group 7">
              <a:extLst>
                <a:ext uri="{FF2B5EF4-FFF2-40B4-BE49-F238E27FC236}">
                  <a16:creationId xmlns:a16="http://schemas.microsoft.com/office/drawing/2014/main" id="{BA4B84AE-950D-44B3-9E74-3413C7DEDA8D}"/>
                </a:ext>
              </a:extLst>
            </p:cNvPr>
            <p:cNvGrpSpPr>
              <a:grpSpLocks/>
            </p:cNvGrpSpPr>
            <p:nvPr/>
          </p:nvGrpSpPr>
          <p:grpSpPr bwMode="auto">
            <a:xfrm>
              <a:off x="2947" y="3588"/>
              <a:ext cx="1396" cy="283"/>
              <a:chOff x="2947" y="3588"/>
              <a:chExt cx="1396" cy="283"/>
            </a:xfrm>
          </p:grpSpPr>
          <p:sp>
            <p:nvSpPr>
              <p:cNvPr id="102450" name="Rectangle 5">
                <a:extLst>
                  <a:ext uri="{FF2B5EF4-FFF2-40B4-BE49-F238E27FC236}">
                    <a16:creationId xmlns:a16="http://schemas.microsoft.com/office/drawing/2014/main" id="{543A1C4D-CFA1-4942-88EA-DFF8D3F3E97D}"/>
                  </a:ext>
                </a:extLst>
              </p:cNvPr>
              <p:cNvSpPr>
                <a:spLocks noChangeArrowheads="1"/>
              </p:cNvSpPr>
              <p:nvPr/>
            </p:nvSpPr>
            <p:spPr bwMode="auto">
              <a:xfrm>
                <a:off x="2947" y="3588"/>
                <a:ext cx="1396"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51" name="Rectangle 6">
                <a:extLst>
                  <a:ext uri="{FF2B5EF4-FFF2-40B4-BE49-F238E27FC236}">
                    <a16:creationId xmlns:a16="http://schemas.microsoft.com/office/drawing/2014/main" id="{E7C76410-910C-40F2-BF8A-E554670F1A50}"/>
                  </a:ext>
                </a:extLst>
              </p:cNvPr>
              <p:cNvSpPr>
                <a:spLocks noChangeArrowheads="1"/>
              </p:cNvSpPr>
              <p:nvPr/>
            </p:nvSpPr>
            <p:spPr bwMode="auto">
              <a:xfrm>
                <a:off x="2947" y="3588"/>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07" name="Rectangle 8">
              <a:extLst>
                <a:ext uri="{FF2B5EF4-FFF2-40B4-BE49-F238E27FC236}">
                  <a16:creationId xmlns:a16="http://schemas.microsoft.com/office/drawing/2014/main" id="{BE0095DE-0E69-415B-8FC7-8AEB15C71B6B}"/>
                </a:ext>
              </a:extLst>
            </p:cNvPr>
            <p:cNvSpPr>
              <a:spLocks noChangeArrowheads="1"/>
            </p:cNvSpPr>
            <p:nvPr/>
          </p:nvSpPr>
          <p:spPr bwMode="auto">
            <a:xfrm>
              <a:off x="3583" y="3682"/>
              <a:ext cx="109"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堆</a:t>
              </a:r>
              <a:endParaRPr lang="zh-CN" altLang="en-US" b="1"/>
            </a:p>
          </p:txBody>
        </p:sp>
        <p:grpSp>
          <p:nvGrpSpPr>
            <p:cNvPr id="102408" name="Group 11">
              <a:extLst>
                <a:ext uri="{FF2B5EF4-FFF2-40B4-BE49-F238E27FC236}">
                  <a16:creationId xmlns:a16="http://schemas.microsoft.com/office/drawing/2014/main" id="{DCBE3DE7-E11C-4A68-8595-EE6101EA53D6}"/>
                </a:ext>
              </a:extLst>
            </p:cNvPr>
            <p:cNvGrpSpPr>
              <a:grpSpLocks/>
            </p:cNvGrpSpPr>
            <p:nvPr/>
          </p:nvGrpSpPr>
          <p:grpSpPr bwMode="auto">
            <a:xfrm>
              <a:off x="2947" y="2972"/>
              <a:ext cx="1396" cy="616"/>
              <a:chOff x="2947" y="2972"/>
              <a:chExt cx="1396" cy="616"/>
            </a:xfrm>
          </p:grpSpPr>
          <p:sp>
            <p:nvSpPr>
              <p:cNvPr id="102448" name="Rectangle 9">
                <a:extLst>
                  <a:ext uri="{FF2B5EF4-FFF2-40B4-BE49-F238E27FC236}">
                    <a16:creationId xmlns:a16="http://schemas.microsoft.com/office/drawing/2014/main" id="{72BC784B-97BE-4221-9C5D-55D5BA2C5A85}"/>
                  </a:ext>
                </a:extLst>
              </p:cNvPr>
              <p:cNvSpPr>
                <a:spLocks noChangeArrowheads="1"/>
              </p:cNvSpPr>
              <p:nvPr/>
            </p:nvSpPr>
            <p:spPr bwMode="auto">
              <a:xfrm>
                <a:off x="2947" y="2972"/>
                <a:ext cx="1396" cy="616"/>
              </a:xfrm>
              <a:prstGeom prst="rect">
                <a:avLst/>
              </a:prstGeom>
              <a:solidFill>
                <a:srgbClr val="DDDDDD"/>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9" name="Rectangle 10">
                <a:extLst>
                  <a:ext uri="{FF2B5EF4-FFF2-40B4-BE49-F238E27FC236}">
                    <a16:creationId xmlns:a16="http://schemas.microsoft.com/office/drawing/2014/main" id="{13D8161C-BF1D-4EA3-B151-0D62FBFA59F0}"/>
                  </a:ext>
                </a:extLst>
              </p:cNvPr>
              <p:cNvSpPr>
                <a:spLocks noChangeArrowheads="1"/>
              </p:cNvSpPr>
              <p:nvPr/>
            </p:nvSpPr>
            <p:spPr bwMode="auto">
              <a:xfrm>
                <a:off x="2947" y="2972"/>
                <a:ext cx="1396" cy="616"/>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09" name="Rectangle 12">
              <a:extLst>
                <a:ext uri="{FF2B5EF4-FFF2-40B4-BE49-F238E27FC236}">
                  <a16:creationId xmlns:a16="http://schemas.microsoft.com/office/drawing/2014/main" id="{05DF5CD8-1A3E-4614-A24F-54E4894811A8}"/>
                </a:ext>
              </a:extLst>
            </p:cNvPr>
            <p:cNvSpPr>
              <a:spLocks noChangeArrowheads="1"/>
            </p:cNvSpPr>
            <p:nvPr/>
          </p:nvSpPr>
          <p:spPr bwMode="auto">
            <a:xfrm>
              <a:off x="3398" y="3234"/>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自由空间</a:t>
              </a:r>
              <a:endParaRPr lang="zh-CN" altLang="en-US" b="1"/>
            </a:p>
          </p:txBody>
        </p:sp>
        <p:grpSp>
          <p:nvGrpSpPr>
            <p:cNvPr id="102410" name="Group 15">
              <a:extLst>
                <a:ext uri="{FF2B5EF4-FFF2-40B4-BE49-F238E27FC236}">
                  <a16:creationId xmlns:a16="http://schemas.microsoft.com/office/drawing/2014/main" id="{734D96E0-B4EB-4057-B321-2DC9028B39EF}"/>
                </a:ext>
              </a:extLst>
            </p:cNvPr>
            <p:cNvGrpSpPr>
              <a:grpSpLocks/>
            </p:cNvGrpSpPr>
            <p:nvPr/>
          </p:nvGrpSpPr>
          <p:grpSpPr bwMode="auto">
            <a:xfrm>
              <a:off x="2947" y="2118"/>
              <a:ext cx="1396" cy="332"/>
              <a:chOff x="2947" y="2118"/>
              <a:chExt cx="1396" cy="332"/>
            </a:xfrm>
          </p:grpSpPr>
          <p:sp>
            <p:nvSpPr>
              <p:cNvPr id="102446" name="Rectangle 13">
                <a:extLst>
                  <a:ext uri="{FF2B5EF4-FFF2-40B4-BE49-F238E27FC236}">
                    <a16:creationId xmlns:a16="http://schemas.microsoft.com/office/drawing/2014/main" id="{33C2F6BE-F783-4E1E-A2F9-B688BDDD0082}"/>
                  </a:ext>
                </a:extLst>
              </p:cNvPr>
              <p:cNvSpPr>
                <a:spLocks noChangeArrowheads="1"/>
              </p:cNvSpPr>
              <p:nvPr/>
            </p:nvSpPr>
            <p:spPr bwMode="auto">
              <a:xfrm>
                <a:off x="2947" y="2118"/>
                <a:ext cx="1396" cy="33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7" name="Rectangle 14">
                <a:extLst>
                  <a:ext uri="{FF2B5EF4-FFF2-40B4-BE49-F238E27FC236}">
                    <a16:creationId xmlns:a16="http://schemas.microsoft.com/office/drawing/2014/main" id="{645498FB-CC95-4AEA-AAE4-088FC29352CC}"/>
                  </a:ext>
                </a:extLst>
              </p:cNvPr>
              <p:cNvSpPr>
                <a:spLocks noChangeArrowheads="1"/>
              </p:cNvSpPr>
              <p:nvPr/>
            </p:nvSpPr>
            <p:spPr bwMode="auto">
              <a:xfrm>
                <a:off x="2947" y="2118"/>
                <a:ext cx="1396" cy="33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1" name="Rectangle 16">
              <a:extLst>
                <a:ext uri="{FF2B5EF4-FFF2-40B4-BE49-F238E27FC236}">
                  <a16:creationId xmlns:a16="http://schemas.microsoft.com/office/drawing/2014/main" id="{CEFC1A72-E0E6-4F22-A6C7-6C3BF716577F}"/>
                </a:ext>
              </a:extLst>
            </p:cNvPr>
            <p:cNvSpPr>
              <a:spLocks noChangeArrowheads="1"/>
            </p:cNvSpPr>
            <p:nvPr/>
          </p:nvSpPr>
          <p:spPr bwMode="auto">
            <a:xfrm>
              <a:off x="3398" y="2238"/>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代码区域</a:t>
              </a:r>
              <a:endParaRPr lang="zh-CN" altLang="en-US" b="1"/>
            </a:p>
          </p:txBody>
        </p:sp>
        <p:grpSp>
          <p:nvGrpSpPr>
            <p:cNvPr id="102412" name="Group 19">
              <a:extLst>
                <a:ext uri="{FF2B5EF4-FFF2-40B4-BE49-F238E27FC236}">
                  <a16:creationId xmlns:a16="http://schemas.microsoft.com/office/drawing/2014/main" id="{16769D0A-D231-40D8-83A9-60A6FBCEE322}"/>
                </a:ext>
              </a:extLst>
            </p:cNvPr>
            <p:cNvGrpSpPr>
              <a:grpSpLocks/>
            </p:cNvGrpSpPr>
            <p:nvPr/>
          </p:nvGrpSpPr>
          <p:grpSpPr bwMode="auto">
            <a:xfrm>
              <a:off x="2947" y="2403"/>
              <a:ext cx="1396" cy="283"/>
              <a:chOff x="2947" y="2403"/>
              <a:chExt cx="1396" cy="283"/>
            </a:xfrm>
          </p:grpSpPr>
          <p:sp>
            <p:nvSpPr>
              <p:cNvPr id="102444" name="Rectangle 17">
                <a:extLst>
                  <a:ext uri="{FF2B5EF4-FFF2-40B4-BE49-F238E27FC236}">
                    <a16:creationId xmlns:a16="http://schemas.microsoft.com/office/drawing/2014/main" id="{16E842AC-FCBB-478F-B1DE-98E2438DAA55}"/>
                  </a:ext>
                </a:extLst>
              </p:cNvPr>
              <p:cNvSpPr>
                <a:spLocks noChangeArrowheads="1"/>
              </p:cNvSpPr>
              <p:nvPr/>
            </p:nvSpPr>
            <p:spPr bwMode="auto">
              <a:xfrm>
                <a:off x="2947" y="2403"/>
                <a:ext cx="1396"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5" name="Rectangle 18">
                <a:extLst>
                  <a:ext uri="{FF2B5EF4-FFF2-40B4-BE49-F238E27FC236}">
                    <a16:creationId xmlns:a16="http://schemas.microsoft.com/office/drawing/2014/main" id="{B397FD63-7098-400B-A7D1-1790FF01BDCD}"/>
                  </a:ext>
                </a:extLst>
              </p:cNvPr>
              <p:cNvSpPr>
                <a:spLocks noChangeArrowheads="1"/>
              </p:cNvSpPr>
              <p:nvPr/>
            </p:nvSpPr>
            <p:spPr bwMode="auto">
              <a:xfrm>
                <a:off x="2947" y="2403"/>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3" name="Rectangle 20">
              <a:extLst>
                <a:ext uri="{FF2B5EF4-FFF2-40B4-BE49-F238E27FC236}">
                  <a16:creationId xmlns:a16="http://schemas.microsoft.com/office/drawing/2014/main" id="{4FC85760-DEC7-420A-B06B-B75F01FDE6A4}"/>
                </a:ext>
              </a:extLst>
            </p:cNvPr>
            <p:cNvSpPr>
              <a:spLocks noChangeArrowheads="1"/>
            </p:cNvSpPr>
            <p:nvPr/>
          </p:nvSpPr>
          <p:spPr bwMode="auto">
            <a:xfrm>
              <a:off x="3259" y="2492"/>
              <a:ext cx="218"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全程</a:t>
              </a:r>
              <a:endParaRPr lang="zh-CN" altLang="en-US" b="1"/>
            </a:p>
          </p:txBody>
        </p:sp>
        <p:sp>
          <p:nvSpPr>
            <p:cNvPr id="102414" name="Rectangle 21">
              <a:extLst>
                <a:ext uri="{FF2B5EF4-FFF2-40B4-BE49-F238E27FC236}">
                  <a16:creationId xmlns:a16="http://schemas.microsoft.com/office/drawing/2014/main" id="{0391A084-460C-4E8B-96B0-001C91FE5FA7}"/>
                </a:ext>
              </a:extLst>
            </p:cNvPr>
            <p:cNvSpPr>
              <a:spLocks noChangeArrowheads="1"/>
            </p:cNvSpPr>
            <p:nvPr/>
          </p:nvSpPr>
          <p:spPr bwMode="auto">
            <a:xfrm>
              <a:off x="3504" y="2487"/>
              <a:ext cx="30"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1400" b="1">
                  <a:solidFill>
                    <a:srgbClr val="000000"/>
                  </a:solidFill>
                </a:rPr>
                <a:t>/</a:t>
              </a:r>
              <a:endParaRPr lang="zh-CN" altLang="zh-CN" b="1"/>
            </a:p>
          </p:txBody>
        </p:sp>
        <p:sp>
          <p:nvSpPr>
            <p:cNvPr id="102415" name="Rectangle 22">
              <a:extLst>
                <a:ext uri="{FF2B5EF4-FFF2-40B4-BE49-F238E27FC236}">
                  <a16:creationId xmlns:a16="http://schemas.microsoft.com/office/drawing/2014/main" id="{72379778-64E2-426B-8ED5-F90C6E5B59F4}"/>
                </a:ext>
              </a:extLst>
            </p:cNvPr>
            <p:cNvSpPr>
              <a:spLocks noChangeArrowheads="1"/>
            </p:cNvSpPr>
            <p:nvPr/>
          </p:nvSpPr>
          <p:spPr bwMode="auto">
            <a:xfrm>
              <a:off x="3538" y="2492"/>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静态区域</a:t>
              </a:r>
              <a:endParaRPr lang="zh-CN" altLang="en-US" b="1"/>
            </a:p>
          </p:txBody>
        </p:sp>
        <p:sp>
          <p:nvSpPr>
            <p:cNvPr id="102416" name="Freeform 23">
              <a:extLst>
                <a:ext uri="{FF2B5EF4-FFF2-40B4-BE49-F238E27FC236}">
                  <a16:creationId xmlns:a16="http://schemas.microsoft.com/office/drawing/2014/main" id="{273CBF86-533E-4EE0-9859-48AF1764DDB1}"/>
                </a:ext>
              </a:extLst>
            </p:cNvPr>
            <p:cNvSpPr>
              <a:spLocks noEditPoints="1"/>
            </p:cNvSpPr>
            <p:nvPr/>
          </p:nvSpPr>
          <p:spPr bwMode="auto">
            <a:xfrm>
              <a:off x="3607" y="3446"/>
              <a:ext cx="74" cy="147"/>
            </a:xfrm>
            <a:custGeom>
              <a:avLst/>
              <a:gdLst>
                <a:gd name="T0" fmla="*/ 0 w 400"/>
                <a:gd name="T1" fmla="*/ 0 h 892"/>
                <a:gd name="T2" fmla="*/ 0 w 400"/>
                <a:gd name="T3" fmla="*/ 0 h 892"/>
                <a:gd name="T4" fmla="*/ 0 w 400"/>
                <a:gd name="T5" fmla="*/ 0 h 892"/>
                <a:gd name="T6" fmla="*/ 0 w 400"/>
                <a:gd name="T7" fmla="*/ 0 h 892"/>
                <a:gd name="T8" fmla="*/ 0 w 400"/>
                <a:gd name="T9" fmla="*/ 0 h 892"/>
                <a:gd name="T10" fmla="*/ 0 w 400"/>
                <a:gd name="T11" fmla="*/ 0 h 892"/>
                <a:gd name="T12" fmla="*/ 0 w 400"/>
                <a:gd name="T13" fmla="*/ 0 h 892"/>
                <a:gd name="T14" fmla="*/ 0 w 400"/>
                <a:gd name="T15" fmla="*/ 0 h 892"/>
                <a:gd name="T16" fmla="*/ 0 w 400"/>
                <a:gd name="T17" fmla="*/ 0 h 892"/>
                <a:gd name="T18" fmla="*/ 0 w 400"/>
                <a:gd name="T19" fmla="*/ 0 h 892"/>
                <a:gd name="T20" fmla="*/ 0 w 400"/>
                <a:gd name="T21" fmla="*/ 0 h 8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2">
                  <a:moveTo>
                    <a:pt x="167" y="859"/>
                  </a:moveTo>
                  <a:lnTo>
                    <a:pt x="167" y="334"/>
                  </a:lnTo>
                  <a:cubicBezTo>
                    <a:pt x="167" y="315"/>
                    <a:pt x="182" y="300"/>
                    <a:pt x="200" y="300"/>
                  </a:cubicBezTo>
                  <a:cubicBezTo>
                    <a:pt x="219" y="300"/>
                    <a:pt x="233" y="315"/>
                    <a:pt x="233" y="334"/>
                  </a:cubicBezTo>
                  <a:lnTo>
                    <a:pt x="233" y="859"/>
                  </a:lnTo>
                  <a:cubicBezTo>
                    <a:pt x="233" y="877"/>
                    <a:pt x="219" y="892"/>
                    <a:pt x="200" y="892"/>
                  </a:cubicBezTo>
                  <a:cubicBezTo>
                    <a:pt x="182" y="892"/>
                    <a:pt x="167" y="877"/>
                    <a:pt x="167" y="859"/>
                  </a:cubicBezTo>
                  <a:close/>
                  <a:moveTo>
                    <a:pt x="0" y="400"/>
                  </a:moveTo>
                  <a:lnTo>
                    <a:pt x="200" y="0"/>
                  </a:lnTo>
                  <a:lnTo>
                    <a:pt x="400" y="400"/>
                  </a:lnTo>
                  <a:lnTo>
                    <a:pt x="0" y="400"/>
                  </a:lnTo>
                  <a:close/>
                </a:path>
              </a:pathLst>
            </a:custGeom>
            <a:solidFill>
              <a:srgbClr val="000000"/>
            </a:solidFill>
            <a:ln w="19050" cap="flat">
              <a:solidFill>
                <a:srgbClr val="000000"/>
              </a:solidFill>
              <a:prstDash val="solid"/>
              <a:bevel/>
              <a:headEnd/>
              <a:tailEnd/>
            </a:ln>
          </p:spPr>
          <p:txBody>
            <a:bodyPr/>
            <a:lstStyle/>
            <a:p>
              <a:endParaRPr lang="zh-CN" altLang="en-US"/>
            </a:p>
          </p:txBody>
        </p:sp>
        <p:sp>
          <p:nvSpPr>
            <p:cNvPr id="102417" name="Freeform 24">
              <a:extLst>
                <a:ext uri="{FF2B5EF4-FFF2-40B4-BE49-F238E27FC236}">
                  <a16:creationId xmlns:a16="http://schemas.microsoft.com/office/drawing/2014/main" id="{005AAC01-CB56-4B4E-B0B0-1AB71383E3B7}"/>
                </a:ext>
              </a:extLst>
            </p:cNvPr>
            <p:cNvSpPr>
              <a:spLocks noEditPoints="1"/>
            </p:cNvSpPr>
            <p:nvPr/>
          </p:nvSpPr>
          <p:spPr bwMode="auto">
            <a:xfrm>
              <a:off x="3607" y="3013"/>
              <a:ext cx="74" cy="147"/>
            </a:xfrm>
            <a:custGeom>
              <a:avLst/>
              <a:gdLst>
                <a:gd name="T0" fmla="*/ 0 w 400"/>
                <a:gd name="T1" fmla="*/ 0 h 891"/>
                <a:gd name="T2" fmla="*/ 0 w 400"/>
                <a:gd name="T3" fmla="*/ 0 h 891"/>
                <a:gd name="T4" fmla="*/ 0 w 400"/>
                <a:gd name="T5" fmla="*/ 0 h 891"/>
                <a:gd name="T6" fmla="*/ 0 w 400"/>
                <a:gd name="T7" fmla="*/ 0 h 891"/>
                <a:gd name="T8" fmla="*/ 0 w 400"/>
                <a:gd name="T9" fmla="*/ 0 h 891"/>
                <a:gd name="T10" fmla="*/ 0 w 400"/>
                <a:gd name="T11" fmla="*/ 0 h 891"/>
                <a:gd name="T12" fmla="*/ 0 w 400"/>
                <a:gd name="T13" fmla="*/ 0 h 891"/>
                <a:gd name="T14" fmla="*/ 0 w 400"/>
                <a:gd name="T15" fmla="*/ 0 h 891"/>
                <a:gd name="T16" fmla="*/ 0 w 400"/>
                <a:gd name="T17" fmla="*/ 0 h 891"/>
                <a:gd name="T18" fmla="*/ 0 w 400"/>
                <a:gd name="T19" fmla="*/ 0 h 891"/>
                <a:gd name="T20" fmla="*/ 0 w 400"/>
                <a:gd name="T21" fmla="*/ 0 h 8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1">
                  <a:moveTo>
                    <a:pt x="233" y="33"/>
                  </a:moveTo>
                  <a:lnTo>
                    <a:pt x="233" y="558"/>
                  </a:lnTo>
                  <a:cubicBezTo>
                    <a:pt x="233" y="577"/>
                    <a:pt x="219" y="591"/>
                    <a:pt x="200" y="591"/>
                  </a:cubicBezTo>
                  <a:cubicBezTo>
                    <a:pt x="182" y="591"/>
                    <a:pt x="167" y="577"/>
                    <a:pt x="167" y="558"/>
                  </a:cubicBezTo>
                  <a:lnTo>
                    <a:pt x="167" y="33"/>
                  </a:lnTo>
                  <a:cubicBezTo>
                    <a:pt x="167" y="15"/>
                    <a:pt x="182" y="0"/>
                    <a:pt x="200" y="0"/>
                  </a:cubicBezTo>
                  <a:cubicBezTo>
                    <a:pt x="219" y="0"/>
                    <a:pt x="233" y="15"/>
                    <a:pt x="233" y="33"/>
                  </a:cubicBezTo>
                  <a:close/>
                  <a:moveTo>
                    <a:pt x="400" y="491"/>
                  </a:moveTo>
                  <a:lnTo>
                    <a:pt x="200" y="891"/>
                  </a:lnTo>
                  <a:lnTo>
                    <a:pt x="0" y="491"/>
                  </a:lnTo>
                  <a:lnTo>
                    <a:pt x="400" y="491"/>
                  </a:lnTo>
                  <a:close/>
                </a:path>
              </a:pathLst>
            </a:custGeom>
            <a:solidFill>
              <a:srgbClr val="000000"/>
            </a:solidFill>
            <a:ln w="19050" cap="flat">
              <a:solidFill>
                <a:srgbClr val="000000"/>
              </a:solidFill>
              <a:prstDash val="solid"/>
              <a:bevel/>
              <a:headEnd/>
              <a:tailEnd/>
            </a:ln>
          </p:spPr>
          <p:txBody>
            <a:bodyPr/>
            <a:lstStyle/>
            <a:p>
              <a:endParaRPr lang="zh-CN" altLang="en-US"/>
            </a:p>
          </p:txBody>
        </p:sp>
        <p:grpSp>
          <p:nvGrpSpPr>
            <p:cNvPr id="102418" name="Group 27">
              <a:extLst>
                <a:ext uri="{FF2B5EF4-FFF2-40B4-BE49-F238E27FC236}">
                  <a16:creationId xmlns:a16="http://schemas.microsoft.com/office/drawing/2014/main" id="{9B7CA1C1-5052-4A8C-8633-932BDD834E29}"/>
                </a:ext>
              </a:extLst>
            </p:cNvPr>
            <p:cNvGrpSpPr>
              <a:grpSpLocks/>
            </p:cNvGrpSpPr>
            <p:nvPr/>
          </p:nvGrpSpPr>
          <p:grpSpPr bwMode="auto">
            <a:xfrm>
              <a:off x="2947" y="2688"/>
              <a:ext cx="1396" cy="282"/>
              <a:chOff x="2947" y="2688"/>
              <a:chExt cx="1396" cy="282"/>
            </a:xfrm>
          </p:grpSpPr>
          <p:sp>
            <p:nvSpPr>
              <p:cNvPr id="102442" name="Rectangle 25">
                <a:extLst>
                  <a:ext uri="{FF2B5EF4-FFF2-40B4-BE49-F238E27FC236}">
                    <a16:creationId xmlns:a16="http://schemas.microsoft.com/office/drawing/2014/main" id="{8BFFA371-C376-4C5D-A043-9122A0C2E73E}"/>
                  </a:ext>
                </a:extLst>
              </p:cNvPr>
              <p:cNvSpPr>
                <a:spLocks noChangeArrowheads="1"/>
              </p:cNvSpPr>
              <p:nvPr/>
            </p:nvSpPr>
            <p:spPr bwMode="auto">
              <a:xfrm>
                <a:off x="2947" y="2688"/>
                <a:ext cx="1396" cy="28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3" name="Rectangle 26">
                <a:extLst>
                  <a:ext uri="{FF2B5EF4-FFF2-40B4-BE49-F238E27FC236}">
                    <a16:creationId xmlns:a16="http://schemas.microsoft.com/office/drawing/2014/main" id="{14D105CB-6B94-4B76-859D-E1FBD1A7BA3B}"/>
                  </a:ext>
                </a:extLst>
              </p:cNvPr>
              <p:cNvSpPr>
                <a:spLocks noChangeArrowheads="1"/>
              </p:cNvSpPr>
              <p:nvPr/>
            </p:nvSpPr>
            <p:spPr bwMode="auto">
              <a:xfrm>
                <a:off x="2947" y="2688"/>
                <a:ext cx="1396" cy="28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9" name="Rectangle 28">
              <a:extLst>
                <a:ext uri="{FF2B5EF4-FFF2-40B4-BE49-F238E27FC236}">
                  <a16:creationId xmlns:a16="http://schemas.microsoft.com/office/drawing/2014/main" id="{E0CA6D67-92A6-456D-A1D5-32AA0954DE84}"/>
                </a:ext>
              </a:extLst>
            </p:cNvPr>
            <p:cNvSpPr>
              <a:spLocks noChangeArrowheads="1"/>
            </p:cNvSpPr>
            <p:nvPr/>
          </p:nvSpPr>
          <p:spPr bwMode="auto">
            <a:xfrm>
              <a:off x="3583" y="2782"/>
              <a:ext cx="109"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栈</a:t>
              </a:r>
              <a:endParaRPr lang="zh-CN" altLang="en-US" b="1"/>
            </a:p>
          </p:txBody>
        </p:sp>
        <p:grpSp>
          <p:nvGrpSpPr>
            <p:cNvPr id="102420" name="Group 31">
              <a:extLst>
                <a:ext uri="{FF2B5EF4-FFF2-40B4-BE49-F238E27FC236}">
                  <a16:creationId xmlns:a16="http://schemas.microsoft.com/office/drawing/2014/main" id="{C62BA1DB-C146-4BED-9AA8-81EAF2324298}"/>
                </a:ext>
              </a:extLst>
            </p:cNvPr>
            <p:cNvGrpSpPr>
              <a:grpSpLocks/>
            </p:cNvGrpSpPr>
            <p:nvPr/>
          </p:nvGrpSpPr>
          <p:grpSpPr bwMode="auto">
            <a:xfrm>
              <a:off x="2947" y="3588"/>
              <a:ext cx="1413" cy="283"/>
              <a:chOff x="2947" y="3588"/>
              <a:chExt cx="1413" cy="283"/>
            </a:xfrm>
          </p:grpSpPr>
          <p:sp>
            <p:nvSpPr>
              <p:cNvPr id="102440" name="Rectangle 29">
                <a:extLst>
                  <a:ext uri="{FF2B5EF4-FFF2-40B4-BE49-F238E27FC236}">
                    <a16:creationId xmlns:a16="http://schemas.microsoft.com/office/drawing/2014/main" id="{02D6E6BF-E884-458B-87CC-6B9E608418FC}"/>
                  </a:ext>
                </a:extLst>
              </p:cNvPr>
              <p:cNvSpPr>
                <a:spLocks noChangeArrowheads="1"/>
              </p:cNvSpPr>
              <p:nvPr/>
            </p:nvSpPr>
            <p:spPr bwMode="auto">
              <a:xfrm>
                <a:off x="2947" y="3588"/>
                <a:ext cx="1413"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1" name="Rectangle 30">
                <a:extLst>
                  <a:ext uri="{FF2B5EF4-FFF2-40B4-BE49-F238E27FC236}">
                    <a16:creationId xmlns:a16="http://schemas.microsoft.com/office/drawing/2014/main" id="{BAB23C56-44C2-47FF-8B4E-B761A8BAC020}"/>
                  </a:ext>
                </a:extLst>
              </p:cNvPr>
              <p:cNvSpPr>
                <a:spLocks noChangeArrowheads="1"/>
              </p:cNvSpPr>
              <p:nvPr/>
            </p:nvSpPr>
            <p:spPr bwMode="auto">
              <a:xfrm>
                <a:off x="2947" y="3588"/>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1" name="Rectangle 32">
              <a:extLst>
                <a:ext uri="{FF2B5EF4-FFF2-40B4-BE49-F238E27FC236}">
                  <a16:creationId xmlns:a16="http://schemas.microsoft.com/office/drawing/2014/main" id="{C16A322C-EA2F-4175-931A-4CE7324CCC1E}"/>
                </a:ext>
              </a:extLst>
            </p:cNvPr>
            <p:cNvSpPr>
              <a:spLocks noChangeArrowheads="1"/>
            </p:cNvSpPr>
            <p:nvPr/>
          </p:nvSpPr>
          <p:spPr bwMode="auto">
            <a:xfrm>
              <a:off x="3554" y="3644"/>
              <a:ext cx="15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堆</a:t>
              </a:r>
              <a:endParaRPr lang="zh-CN" altLang="en-US" b="1">
                <a:latin typeface="微软雅黑" panose="020B0503020204020204" pitchFamily="34" charset="-122"/>
                <a:ea typeface="微软雅黑" panose="020B0503020204020204" pitchFamily="34" charset="-122"/>
              </a:endParaRPr>
            </a:p>
          </p:txBody>
        </p:sp>
        <p:grpSp>
          <p:nvGrpSpPr>
            <p:cNvPr id="102422" name="Group 35">
              <a:extLst>
                <a:ext uri="{FF2B5EF4-FFF2-40B4-BE49-F238E27FC236}">
                  <a16:creationId xmlns:a16="http://schemas.microsoft.com/office/drawing/2014/main" id="{E63B5399-3F7F-4F43-BFE0-E8AFCC37776A}"/>
                </a:ext>
              </a:extLst>
            </p:cNvPr>
            <p:cNvGrpSpPr>
              <a:grpSpLocks/>
            </p:cNvGrpSpPr>
            <p:nvPr/>
          </p:nvGrpSpPr>
          <p:grpSpPr bwMode="auto">
            <a:xfrm>
              <a:off x="2947" y="2972"/>
              <a:ext cx="1413" cy="616"/>
              <a:chOff x="2947" y="2972"/>
              <a:chExt cx="1413" cy="616"/>
            </a:xfrm>
          </p:grpSpPr>
          <p:sp>
            <p:nvSpPr>
              <p:cNvPr id="102438" name="Rectangle 33">
                <a:extLst>
                  <a:ext uri="{FF2B5EF4-FFF2-40B4-BE49-F238E27FC236}">
                    <a16:creationId xmlns:a16="http://schemas.microsoft.com/office/drawing/2014/main" id="{3CAFFBFB-8631-4E7B-84BE-44D8EA50ACC6}"/>
                  </a:ext>
                </a:extLst>
              </p:cNvPr>
              <p:cNvSpPr>
                <a:spLocks noChangeArrowheads="1"/>
              </p:cNvSpPr>
              <p:nvPr/>
            </p:nvSpPr>
            <p:spPr bwMode="auto">
              <a:xfrm>
                <a:off x="2947" y="2972"/>
                <a:ext cx="1413" cy="616"/>
              </a:xfrm>
              <a:prstGeom prst="rect">
                <a:avLst/>
              </a:prstGeom>
              <a:solidFill>
                <a:srgbClr val="DDDDDD"/>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9" name="Rectangle 34">
                <a:extLst>
                  <a:ext uri="{FF2B5EF4-FFF2-40B4-BE49-F238E27FC236}">
                    <a16:creationId xmlns:a16="http://schemas.microsoft.com/office/drawing/2014/main" id="{8D7E512E-1D34-4184-BC5C-807D2025244A}"/>
                  </a:ext>
                </a:extLst>
              </p:cNvPr>
              <p:cNvSpPr>
                <a:spLocks noChangeArrowheads="1"/>
              </p:cNvSpPr>
              <p:nvPr/>
            </p:nvSpPr>
            <p:spPr bwMode="auto">
              <a:xfrm>
                <a:off x="2947" y="2972"/>
                <a:ext cx="1396" cy="616"/>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3" name="Rectangle 36">
              <a:extLst>
                <a:ext uri="{FF2B5EF4-FFF2-40B4-BE49-F238E27FC236}">
                  <a16:creationId xmlns:a16="http://schemas.microsoft.com/office/drawing/2014/main" id="{A9313C6E-97E8-4780-B843-9B6B55F1F15F}"/>
                </a:ext>
              </a:extLst>
            </p:cNvPr>
            <p:cNvSpPr>
              <a:spLocks noChangeArrowheads="1"/>
            </p:cNvSpPr>
            <p:nvPr/>
          </p:nvSpPr>
          <p:spPr bwMode="auto">
            <a:xfrm>
              <a:off x="3333" y="3160"/>
              <a:ext cx="62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自由空间</a:t>
              </a:r>
              <a:endParaRPr lang="zh-CN" altLang="en-US" sz="2800" b="1">
                <a:latin typeface="微软雅黑" panose="020B0503020204020204" pitchFamily="34" charset="-122"/>
                <a:ea typeface="微软雅黑" panose="020B0503020204020204" pitchFamily="34" charset="-122"/>
              </a:endParaRPr>
            </a:p>
          </p:txBody>
        </p:sp>
        <p:grpSp>
          <p:nvGrpSpPr>
            <p:cNvPr id="102424" name="Group 39">
              <a:extLst>
                <a:ext uri="{FF2B5EF4-FFF2-40B4-BE49-F238E27FC236}">
                  <a16:creationId xmlns:a16="http://schemas.microsoft.com/office/drawing/2014/main" id="{22B5AAC0-F428-426C-A5D6-76E375AE7464}"/>
                </a:ext>
              </a:extLst>
            </p:cNvPr>
            <p:cNvGrpSpPr>
              <a:grpSpLocks/>
            </p:cNvGrpSpPr>
            <p:nvPr/>
          </p:nvGrpSpPr>
          <p:grpSpPr bwMode="auto">
            <a:xfrm>
              <a:off x="2947" y="2118"/>
              <a:ext cx="1413" cy="332"/>
              <a:chOff x="2947" y="2118"/>
              <a:chExt cx="1413" cy="332"/>
            </a:xfrm>
          </p:grpSpPr>
          <p:sp>
            <p:nvSpPr>
              <p:cNvPr id="102436" name="Rectangle 37">
                <a:extLst>
                  <a:ext uri="{FF2B5EF4-FFF2-40B4-BE49-F238E27FC236}">
                    <a16:creationId xmlns:a16="http://schemas.microsoft.com/office/drawing/2014/main" id="{41C9BD21-1C16-4BB5-A829-D2A767E4D09A}"/>
                  </a:ext>
                </a:extLst>
              </p:cNvPr>
              <p:cNvSpPr>
                <a:spLocks noChangeArrowheads="1"/>
              </p:cNvSpPr>
              <p:nvPr/>
            </p:nvSpPr>
            <p:spPr bwMode="auto">
              <a:xfrm>
                <a:off x="2947" y="2118"/>
                <a:ext cx="1413" cy="33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7" name="Rectangle 38">
                <a:extLst>
                  <a:ext uri="{FF2B5EF4-FFF2-40B4-BE49-F238E27FC236}">
                    <a16:creationId xmlns:a16="http://schemas.microsoft.com/office/drawing/2014/main" id="{A430BC7C-0C62-41BC-8A36-F71495D94625}"/>
                  </a:ext>
                </a:extLst>
              </p:cNvPr>
              <p:cNvSpPr>
                <a:spLocks noChangeArrowheads="1"/>
              </p:cNvSpPr>
              <p:nvPr/>
            </p:nvSpPr>
            <p:spPr bwMode="auto">
              <a:xfrm>
                <a:off x="2947" y="2118"/>
                <a:ext cx="1396" cy="33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5" name="Rectangle 40">
              <a:extLst>
                <a:ext uri="{FF2B5EF4-FFF2-40B4-BE49-F238E27FC236}">
                  <a16:creationId xmlns:a16="http://schemas.microsoft.com/office/drawing/2014/main" id="{C664E5D3-A658-4AD2-BDB4-C0C7B7036376}"/>
                </a:ext>
              </a:extLst>
            </p:cNvPr>
            <p:cNvSpPr>
              <a:spLocks noChangeArrowheads="1"/>
            </p:cNvSpPr>
            <p:nvPr/>
          </p:nvSpPr>
          <p:spPr bwMode="auto">
            <a:xfrm>
              <a:off x="3341" y="2160"/>
              <a:ext cx="62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代码区域</a:t>
              </a:r>
              <a:endParaRPr lang="zh-CN" altLang="en-US" sz="2800" b="1">
                <a:latin typeface="微软雅黑" panose="020B0503020204020204" pitchFamily="34" charset="-122"/>
                <a:ea typeface="微软雅黑" panose="020B0503020204020204" pitchFamily="34" charset="-122"/>
              </a:endParaRPr>
            </a:p>
          </p:txBody>
        </p:sp>
        <p:grpSp>
          <p:nvGrpSpPr>
            <p:cNvPr id="102426" name="Group 43">
              <a:extLst>
                <a:ext uri="{FF2B5EF4-FFF2-40B4-BE49-F238E27FC236}">
                  <a16:creationId xmlns:a16="http://schemas.microsoft.com/office/drawing/2014/main" id="{BA374CBD-380D-4D2E-8AFF-9AE0EC75485D}"/>
                </a:ext>
              </a:extLst>
            </p:cNvPr>
            <p:cNvGrpSpPr>
              <a:grpSpLocks/>
            </p:cNvGrpSpPr>
            <p:nvPr/>
          </p:nvGrpSpPr>
          <p:grpSpPr bwMode="auto">
            <a:xfrm>
              <a:off x="2947" y="2403"/>
              <a:ext cx="1413" cy="283"/>
              <a:chOff x="2947" y="2403"/>
              <a:chExt cx="1413" cy="283"/>
            </a:xfrm>
          </p:grpSpPr>
          <p:sp>
            <p:nvSpPr>
              <p:cNvPr id="102434" name="Rectangle 41">
                <a:extLst>
                  <a:ext uri="{FF2B5EF4-FFF2-40B4-BE49-F238E27FC236}">
                    <a16:creationId xmlns:a16="http://schemas.microsoft.com/office/drawing/2014/main" id="{CAFBA35A-0687-4A07-B3C1-EC896CDDFF31}"/>
                  </a:ext>
                </a:extLst>
              </p:cNvPr>
              <p:cNvSpPr>
                <a:spLocks noChangeArrowheads="1"/>
              </p:cNvSpPr>
              <p:nvPr/>
            </p:nvSpPr>
            <p:spPr bwMode="auto">
              <a:xfrm>
                <a:off x="2947" y="2403"/>
                <a:ext cx="1413"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5" name="Rectangle 42">
                <a:extLst>
                  <a:ext uri="{FF2B5EF4-FFF2-40B4-BE49-F238E27FC236}">
                    <a16:creationId xmlns:a16="http://schemas.microsoft.com/office/drawing/2014/main" id="{31D5294B-AA04-469F-B294-227378A740DF}"/>
                  </a:ext>
                </a:extLst>
              </p:cNvPr>
              <p:cNvSpPr>
                <a:spLocks noChangeArrowheads="1"/>
              </p:cNvSpPr>
              <p:nvPr/>
            </p:nvSpPr>
            <p:spPr bwMode="auto">
              <a:xfrm>
                <a:off x="2947" y="2403"/>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7" name="Rectangle 46">
              <a:extLst>
                <a:ext uri="{FF2B5EF4-FFF2-40B4-BE49-F238E27FC236}">
                  <a16:creationId xmlns:a16="http://schemas.microsoft.com/office/drawing/2014/main" id="{59C100FB-44B9-4676-97AE-76B78F54BD87}"/>
                </a:ext>
              </a:extLst>
            </p:cNvPr>
            <p:cNvSpPr>
              <a:spLocks noChangeArrowheads="1"/>
            </p:cNvSpPr>
            <p:nvPr/>
          </p:nvSpPr>
          <p:spPr bwMode="auto">
            <a:xfrm>
              <a:off x="3185" y="2460"/>
              <a:ext cx="93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全程静态区域</a:t>
              </a:r>
              <a:endParaRPr lang="zh-CN" altLang="en-US" sz="2800" b="1">
                <a:latin typeface="微软雅黑" panose="020B0503020204020204" pitchFamily="34" charset="-122"/>
                <a:ea typeface="微软雅黑" panose="020B0503020204020204" pitchFamily="34" charset="-122"/>
              </a:endParaRPr>
            </a:p>
          </p:txBody>
        </p:sp>
        <p:sp>
          <p:nvSpPr>
            <p:cNvPr id="102428" name="Freeform 47">
              <a:extLst>
                <a:ext uri="{FF2B5EF4-FFF2-40B4-BE49-F238E27FC236}">
                  <a16:creationId xmlns:a16="http://schemas.microsoft.com/office/drawing/2014/main" id="{E5CD312B-2281-422D-9F8F-5D416B7CF4BB}"/>
                </a:ext>
              </a:extLst>
            </p:cNvPr>
            <p:cNvSpPr>
              <a:spLocks noEditPoints="1"/>
            </p:cNvSpPr>
            <p:nvPr/>
          </p:nvSpPr>
          <p:spPr bwMode="auto">
            <a:xfrm>
              <a:off x="3607" y="3446"/>
              <a:ext cx="74" cy="147"/>
            </a:xfrm>
            <a:custGeom>
              <a:avLst/>
              <a:gdLst>
                <a:gd name="T0" fmla="*/ 0 w 400"/>
                <a:gd name="T1" fmla="*/ 0 h 892"/>
                <a:gd name="T2" fmla="*/ 0 w 400"/>
                <a:gd name="T3" fmla="*/ 0 h 892"/>
                <a:gd name="T4" fmla="*/ 0 w 400"/>
                <a:gd name="T5" fmla="*/ 0 h 892"/>
                <a:gd name="T6" fmla="*/ 0 w 400"/>
                <a:gd name="T7" fmla="*/ 0 h 892"/>
                <a:gd name="T8" fmla="*/ 0 w 400"/>
                <a:gd name="T9" fmla="*/ 0 h 892"/>
                <a:gd name="T10" fmla="*/ 0 w 400"/>
                <a:gd name="T11" fmla="*/ 0 h 892"/>
                <a:gd name="T12" fmla="*/ 0 w 400"/>
                <a:gd name="T13" fmla="*/ 0 h 892"/>
                <a:gd name="T14" fmla="*/ 0 w 400"/>
                <a:gd name="T15" fmla="*/ 0 h 892"/>
                <a:gd name="T16" fmla="*/ 0 w 400"/>
                <a:gd name="T17" fmla="*/ 0 h 892"/>
                <a:gd name="T18" fmla="*/ 0 w 400"/>
                <a:gd name="T19" fmla="*/ 0 h 892"/>
                <a:gd name="T20" fmla="*/ 0 w 400"/>
                <a:gd name="T21" fmla="*/ 0 h 8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2">
                  <a:moveTo>
                    <a:pt x="167" y="859"/>
                  </a:moveTo>
                  <a:lnTo>
                    <a:pt x="167" y="334"/>
                  </a:lnTo>
                  <a:cubicBezTo>
                    <a:pt x="167" y="315"/>
                    <a:pt x="182" y="300"/>
                    <a:pt x="200" y="300"/>
                  </a:cubicBezTo>
                  <a:cubicBezTo>
                    <a:pt x="219" y="300"/>
                    <a:pt x="233" y="315"/>
                    <a:pt x="233" y="334"/>
                  </a:cubicBezTo>
                  <a:lnTo>
                    <a:pt x="233" y="859"/>
                  </a:lnTo>
                  <a:cubicBezTo>
                    <a:pt x="233" y="877"/>
                    <a:pt x="219" y="892"/>
                    <a:pt x="200" y="892"/>
                  </a:cubicBezTo>
                  <a:cubicBezTo>
                    <a:pt x="182" y="892"/>
                    <a:pt x="167" y="877"/>
                    <a:pt x="167" y="859"/>
                  </a:cubicBezTo>
                  <a:close/>
                  <a:moveTo>
                    <a:pt x="0" y="400"/>
                  </a:moveTo>
                  <a:lnTo>
                    <a:pt x="200" y="0"/>
                  </a:lnTo>
                  <a:lnTo>
                    <a:pt x="400" y="400"/>
                  </a:lnTo>
                  <a:lnTo>
                    <a:pt x="0" y="400"/>
                  </a:lnTo>
                  <a:close/>
                </a:path>
              </a:pathLst>
            </a:custGeom>
            <a:solidFill>
              <a:srgbClr val="000000"/>
            </a:solidFill>
            <a:ln w="19050" cap="flat">
              <a:solidFill>
                <a:srgbClr val="000000"/>
              </a:solidFill>
              <a:prstDash val="solid"/>
              <a:bevel/>
              <a:headEnd/>
              <a:tailEnd/>
            </a:ln>
          </p:spPr>
          <p:txBody>
            <a:bodyPr/>
            <a:lstStyle/>
            <a:p>
              <a:endParaRPr lang="zh-CN" altLang="en-US"/>
            </a:p>
          </p:txBody>
        </p:sp>
        <p:sp>
          <p:nvSpPr>
            <p:cNvPr id="102429" name="Freeform 48">
              <a:extLst>
                <a:ext uri="{FF2B5EF4-FFF2-40B4-BE49-F238E27FC236}">
                  <a16:creationId xmlns:a16="http://schemas.microsoft.com/office/drawing/2014/main" id="{02896EFE-AB0F-4B21-9F02-6F7A61B2DED6}"/>
                </a:ext>
              </a:extLst>
            </p:cNvPr>
            <p:cNvSpPr>
              <a:spLocks noEditPoints="1"/>
            </p:cNvSpPr>
            <p:nvPr/>
          </p:nvSpPr>
          <p:spPr bwMode="auto">
            <a:xfrm>
              <a:off x="3607" y="3013"/>
              <a:ext cx="74" cy="147"/>
            </a:xfrm>
            <a:custGeom>
              <a:avLst/>
              <a:gdLst>
                <a:gd name="T0" fmla="*/ 0 w 400"/>
                <a:gd name="T1" fmla="*/ 0 h 891"/>
                <a:gd name="T2" fmla="*/ 0 w 400"/>
                <a:gd name="T3" fmla="*/ 0 h 891"/>
                <a:gd name="T4" fmla="*/ 0 w 400"/>
                <a:gd name="T5" fmla="*/ 0 h 891"/>
                <a:gd name="T6" fmla="*/ 0 w 400"/>
                <a:gd name="T7" fmla="*/ 0 h 891"/>
                <a:gd name="T8" fmla="*/ 0 w 400"/>
                <a:gd name="T9" fmla="*/ 0 h 891"/>
                <a:gd name="T10" fmla="*/ 0 w 400"/>
                <a:gd name="T11" fmla="*/ 0 h 891"/>
                <a:gd name="T12" fmla="*/ 0 w 400"/>
                <a:gd name="T13" fmla="*/ 0 h 891"/>
                <a:gd name="T14" fmla="*/ 0 w 400"/>
                <a:gd name="T15" fmla="*/ 0 h 891"/>
                <a:gd name="T16" fmla="*/ 0 w 400"/>
                <a:gd name="T17" fmla="*/ 0 h 891"/>
                <a:gd name="T18" fmla="*/ 0 w 400"/>
                <a:gd name="T19" fmla="*/ 0 h 891"/>
                <a:gd name="T20" fmla="*/ 0 w 400"/>
                <a:gd name="T21" fmla="*/ 0 h 8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1">
                  <a:moveTo>
                    <a:pt x="233" y="33"/>
                  </a:moveTo>
                  <a:lnTo>
                    <a:pt x="233" y="558"/>
                  </a:lnTo>
                  <a:cubicBezTo>
                    <a:pt x="233" y="577"/>
                    <a:pt x="219" y="591"/>
                    <a:pt x="200" y="591"/>
                  </a:cubicBezTo>
                  <a:cubicBezTo>
                    <a:pt x="182" y="591"/>
                    <a:pt x="167" y="577"/>
                    <a:pt x="167" y="558"/>
                  </a:cubicBezTo>
                  <a:lnTo>
                    <a:pt x="167" y="33"/>
                  </a:lnTo>
                  <a:cubicBezTo>
                    <a:pt x="167" y="15"/>
                    <a:pt x="182" y="0"/>
                    <a:pt x="200" y="0"/>
                  </a:cubicBezTo>
                  <a:cubicBezTo>
                    <a:pt x="219" y="0"/>
                    <a:pt x="233" y="15"/>
                    <a:pt x="233" y="33"/>
                  </a:cubicBezTo>
                  <a:close/>
                  <a:moveTo>
                    <a:pt x="400" y="491"/>
                  </a:moveTo>
                  <a:lnTo>
                    <a:pt x="200" y="891"/>
                  </a:lnTo>
                  <a:lnTo>
                    <a:pt x="0" y="491"/>
                  </a:lnTo>
                  <a:lnTo>
                    <a:pt x="400" y="491"/>
                  </a:lnTo>
                  <a:close/>
                </a:path>
              </a:pathLst>
            </a:custGeom>
            <a:solidFill>
              <a:srgbClr val="000000"/>
            </a:solidFill>
            <a:ln w="19050" cap="flat">
              <a:solidFill>
                <a:srgbClr val="000000"/>
              </a:solidFill>
              <a:prstDash val="solid"/>
              <a:bevel/>
              <a:headEnd/>
              <a:tailEnd/>
            </a:ln>
          </p:spPr>
          <p:txBody>
            <a:bodyPr/>
            <a:lstStyle/>
            <a:p>
              <a:endParaRPr lang="zh-CN" altLang="en-US"/>
            </a:p>
          </p:txBody>
        </p:sp>
        <p:grpSp>
          <p:nvGrpSpPr>
            <p:cNvPr id="102430" name="Group 51">
              <a:extLst>
                <a:ext uri="{FF2B5EF4-FFF2-40B4-BE49-F238E27FC236}">
                  <a16:creationId xmlns:a16="http://schemas.microsoft.com/office/drawing/2014/main" id="{E7C7B00C-85C2-4C63-B57D-FC7F6BB979CE}"/>
                </a:ext>
              </a:extLst>
            </p:cNvPr>
            <p:cNvGrpSpPr>
              <a:grpSpLocks/>
            </p:cNvGrpSpPr>
            <p:nvPr/>
          </p:nvGrpSpPr>
          <p:grpSpPr bwMode="auto">
            <a:xfrm>
              <a:off x="2947" y="2688"/>
              <a:ext cx="1413" cy="282"/>
              <a:chOff x="2947" y="2688"/>
              <a:chExt cx="1413" cy="282"/>
            </a:xfrm>
          </p:grpSpPr>
          <p:sp>
            <p:nvSpPr>
              <p:cNvPr id="102432" name="Rectangle 49">
                <a:extLst>
                  <a:ext uri="{FF2B5EF4-FFF2-40B4-BE49-F238E27FC236}">
                    <a16:creationId xmlns:a16="http://schemas.microsoft.com/office/drawing/2014/main" id="{3D165E60-DEFC-4603-9838-556468BB8542}"/>
                  </a:ext>
                </a:extLst>
              </p:cNvPr>
              <p:cNvSpPr>
                <a:spLocks noChangeArrowheads="1"/>
              </p:cNvSpPr>
              <p:nvPr/>
            </p:nvSpPr>
            <p:spPr bwMode="auto">
              <a:xfrm>
                <a:off x="2947" y="2688"/>
                <a:ext cx="1396" cy="2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3" name="Rectangle 50">
                <a:extLst>
                  <a:ext uri="{FF2B5EF4-FFF2-40B4-BE49-F238E27FC236}">
                    <a16:creationId xmlns:a16="http://schemas.microsoft.com/office/drawing/2014/main" id="{E8C59B22-6B77-4980-B09C-03B3E7B2EB77}"/>
                  </a:ext>
                </a:extLst>
              </p:cNvPr>
              <p:cNvSpPr>
                <a:spLocks noChangeArrowheads="1"/>
              </p:cNvSpPr>
              <p:nvPr/>
            </p:nvSpPr>
            <p:spPr bwMode="auto">
              <a:xfrm>
                <a:off x="2947" y="2688"/>
                <a:ext cx="1413" cy="28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31" name="Rectangle 52">
              <a:extLst>
                <a:ext uri="{FF2B5EF4-FFF2-40B4-BE49-F238E27FC236}">
                  <a16:creationId xmlns:a16="http://schemas.microsoft.com/office/drawing/2014/main" id="{96DCDC04-E4CF-41A1-AE96-51CF9D82EC41}"/>
                </a:ext>
              </a:extLst>
            </p:cNvPr>
            <p:cNvSpPr>
              <a:spLocks noChangeArrowheads="1"/>
            </p:cNvSpPr>
            <p:nvPr/>
          </p:nvSpPr>
          <p:spPr bwMode="auto">
            <a:xfrm>
              <a:off x="3398" y="2744"/>
              <a:ext cx="4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FF"/>
                  </a:solidFill>
                  <a:latin typeface="微软雅黑" panose="020B0503020204020204" pitchFamily="34" charset="-122"/>
                  <a:ea typeface="微软雅黑" panose="020B0503020204020204" pitchFamily="34" charset="-122"/>
                </a:rPr>
                <a:t>栈</a:t>
              </a:r>
              <a:endParaRPr lang="zh-CN" altLang="en-US" sz="2800" b="1">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A3974338-E3CE-40F2-B6E0-16121C7D0924}"/>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运行栈中的活动记录</a:t>
            </a:r>
          </a:p>
        </p:txBody>
      </p:sp>
      <p:sp>
        <p:nvSpPr>
          <p:cNvPr id="3" name="副标题 2">
            <a:extLst>
              <a:ext uri="{FF2B5EF4-FFF2-40B4-BE49-F238E27FC236}">
                <a16:creationId xmlns:a16="http://schemas.microsoft.com/office/drawing/2014/main" id="{17DD92AE-DC8D-480E-9119-4C78E58A9293}"/>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E73AF15-526D-44D1-B99F-1DAA962C3B07}"/>
              </a:ext>
            </a:extLst>
          </p:cNvPr>
          <p:cNvSpPr>
            <a:spLocks noGrp="1"/>
          </p:cNvSpPr>
          <p:nvPr>
            <p:ph type="body" idx="10"/>
          </p:nvPr>
        </p:nvSpPr>
        <p:spPr/>
        <p:txBody>
          <a:bodyPr/>
          <a:lstStyle/>
          <a:p>
            <a:endParaRPr lang="zh-CN" altLang="en-US"/>
          </a:p>
        </p:txBody>
      </p:sp>
      <p:sp>
        <p:nvSpPr>
          <p:cNvPr id="103427" name="Rectangle 3">
            <a:extLst>
              <a:ext uri="{FF2B5EF4-FFF2-40B4-BE49-F238E27FC236}">
                <a16:creationId xmlns:a16="http://schemas.microsoft.com/office/drawing/2014/main" id="{940B6600-8910-4E41-B9E4-F20F1F8C0875}"/>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tabLst>
                <a:tab pos="357188" algn="l"/>
              </a:tabLst>
            </a:pPr>
            <a:r>
              <a:rPr kumimoji="0" lang="zh-CN" altLang="zh-CN" sz="2800" b="1">
                <a:solidFill>
                  <a:srgbClr val="C00000"/>
                </a:solidFill>
                <a:latin typeface="微软雅黑" panose="020B0503020204020204" pitchFamily="34" charset="-122"/>
                <a:ea typeface="微软雅黑" panose="020B0503020204020204" pitchFamily="34" charset="-122"/>
              </a:rPr>
              <a:t>函数活动记录</a:t>
            </a:r>
            <a:r>
              <a:rPr kumimoji="0" lang="zh-CN" altLang="zh-CN" sz="2800" b="1">
                <a:latin typeface="微软雅黑" panose="020B0503020204020204" pitchFamily="34" charset="-122"/>
                <a:ea typeface="微软雅黑" panose="020B0503020204020204" pitchFamily="34" charset="-122"/>
              </a:rPr>
              <a:t>（</a:t>
            </a:r>
            <a:r>
              <a:rPr kumimoji="0" lang="en-US" altLang="zh-CN" sz="2800" b="1">
                <a:latin typeface="微软雅黑" panose="020B0503020204020204" pitchFamily="34" charset="-122"/>
                <a:ea typeface="微软雅黑" panose="020B0503020204020204" pitchFamily="34" charset="-122"/>
              </a:rPr>
              <a:t>activation record</a:t>
            </a:r>
            <a:r>
              <a:rPr kumimoji="0" lang="zh-CN" altLang="zh-CN" sz="2800" b="1">
                <a:latin typeface="微软雅黑" panose="020B0503020204020204" pitchFamily="34" charset="-122"/>
                <a:ea typeface="微软雅黑" panose="020B0503020204020204" pitchFamily="34" charset="-122"/>
              </a:rPr>
              <a:t>）</a:t>
            </a:r>
            <a:r>
              <a:rPr kumimoji="0" lang="zh-CN" altLang="en-US" sz="2800" b="1">
                <a:latin typeface="微软雅黑" panose="020B0503020204020204" pitchFamily="34" charset="-122"/>
                <a:ea typeface="微软雅黑" panose="020B0503020204020204" pitchFamily="34" charset="-122"/>
              </a:rPr>
              <a:t>： </a:t>
            </a:r>
            <a:r>
              <a:rPr kumimoji="0" lang="zh-CN" altLang="zh-CN" sz="2800" b="1">
                <a:latin typeface="微软雅黑" panose="020B0503020204020204" pitchFamily="34" charset="-122"/>
                <a:ea typeface="微软雅黑" panose="020B0503020204020204" pitchFamily="34" charset="-122"/>
              </a:rPr>
              <a:t>动态存储分配</a:t>
            </a:r>
            <a:r>
              <a:rPr kumimoji="0" lang="zh-CN" altLang="en-US" sz="2800" b="1">
                <a:latin typeface="微软雅黑" panose="020B0503020204020204" pitchFamily="34" charset="-122"/>
                <a:ea typeface="微软雅黑" panose="020B0503020204020204" pitchFamily="34" charset="-122"/>
              </a:rPr>
              <a:t>机制中</a:t>
            </a:r>
            <a:r>
              <a:rPr kumimoji="0" lang="zh-CN" altLang="zh-CN" sz="2800" b="1">
                <a:latin typeface="微软雅黑" panose="020B0503020204020204" pitchFamily="34" charset="-122"/>
                <a:ea typeface="微软雅黑" panose="020B0503020204020204" pitchFamily="34" charset="-122"/>
              </a:rPr>
              <a:t>一个重要单元</a:t>
            </a:r>
          </a:p>
          <a:p>
            <a:pPr marL="715963" lvl="1" indent="-358775" eaLnBrk="1" hangingPunct="1">
              <a:lnSpc>
                <a:spcPct val="105000"/>
              </a:lnSpc>
              <a:spcBef>
                <a:spcPts val="600"/>
              </a:spcBef>
              <a:buFont typeface="Wingdings" panose="05000000000000000000" pitchFamily="2" charset="2"/>
              <a:buChar char="ü"/>
              <a:tabLst>
                <a:tab pos="357188" algn="l"/>
              </a:tabLst>
            </a:pPr>
            <a:r>
              <a:rPr kumimoji="0" lang="zh-CN" altLang="zh-CN" sz="2400">
                <a:latin typeface="微软雅黑" panose="020B0503020204020204" pitchFamily="34" charset="-122"/>
                <a:ea typeface="微软雅黑" panose="020B0503020204020204" pitchFamily="34" charset="-122"/>
              </a:rPr>
              <a:t>当</a:t>
            </a:r>
            <a:r>
              <a:rPr kumimoji="0" lang="zh-CN" altLang="zh-CN" sz="2400">
                <a:solidFill>
                  <a:srgbClr val="0000FF"/>
                </a:solidFill>
                <a:latin typeface="微软雅黑" panose="020B0503020204020204" pitchFamily="34" charset="-122"/>
                <a:ea typeface="微软雅黑" panose="020B0503020204020204" pitchFamily="34" charset="-122"/>
              </a:rPr>
              <a:t>调用或激活</a:t>
            </a:r>
            <a:r>
              <a:rPr kumimoji="0" lang="zh-CN" altLang="zh-CN" sz="2400">
                <a:latin typeface="微软雅黑" panose="020B0503020204020204" pitchFamily="34" charset="-122"/>
                <a:ea typeface="微软雅黑" panose="020B0503020204020204" pitchFamily="34" charset="-122"/>
              </a:rPr>
              <a:t>一个函数时，相应的</a:t>
            </a:r>
            <a:r>
              <a:rPr kumimoji="0" lang="zh-CN" altLang="zh-CN" sz="2400">
                <a:solidFill>
                  <a:srgbClr val="0000FF"/>
                </a:solidFill>
                <a:latin typeface="微软雅黑" panose="020B0503020204020204" pitchFamily="34" charset="-122"/>
                <a:ea typeface="微软雅黑" panose="020B0503020204020204" pitchFamily="34" charset="-122"/>
              </a:rPr>
              <a:t>活动记录</a:t>
            </a:r>
            <a:r>
              <a:rPr kumimoji="0" lang="zh-CN" altLang="zh-CN" sz="2400">
                <a:latin typeface="微软雅黑" panose="020B0503020204020204" pitchFamily="34" charset="-122"/>
                <a:ea typeface="微软雅黑" panose="020B0503020204020204" pitchFamily="34" charset="-122"/>
              </a:rPr>
              <a:t>包含了为其局部数据分配的存储空间 </a:t>
            </a:r>
          </a:p>
        </p:txBody>
      </p:sp>
      <p:sp>
        <p:nvSpPr>
          <p:cNvPr id="2" name="矩形 1">
            <a:extLst>
              <a:ext uri="{FF2B5EF4-FFF2-40B4-BE49-F238E27FC236}">
                <a16:creationId xmlns:a16="http://schemas.microsoft.com/office/drawing/2014/main" id="{88D82B3E-6E7B-42A2-B3E8-D8EF119C7745}"/>
              </a:ext>
            </a:extLst>
          </p:cNvPr>
          <p:cNvSpPr/>
          <p:nvPr/>
        </p:nvSpPr>
        <p:spPr>
          <a:xfrm>
            <a:off x="4224338" y="3644900"/>
            <a:ext cx="2952750" cy="649288"/>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自变量（参数）空间</a:t>
            </a:r>
          </a:p>
        </p:txBody>
      </p:sp>
      <p:sp>
        <p:nvSpPr>
          <p:cNvPr id="9" name="矩形 8">
            <a:extLst>
              <a:ext uri="{FF2B5EF4-FFF2-40B4-BE49-F238E27FC236}">
                <a16:creationId xmlns:a16="http://schemas.microsoft.com/office/drawing/2014/main" id="{3D771D6A-BF23-4650-96DD-B99AC55DBBE1}"/>
              </a:ext>
            </a:extLst>
          </p:cNvPr>
          <p:cNvSpPr/>
          <p:nvPr/>
        </p:nvSpPr>
        <p:spPr>
          <a:xfrm>
            <a:off x="4224338" y="42941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返回地址等 薄记信息空间</a:t>
            </a:r>
          </a:p>
        </p:txBody>
      </p:sp>
      <p:sp>
        <p:nvSpPr>
          <p:cNvPr id="10" name="矩形 9">
            <a:extLst>
              <a:ext uri="{FF2B5EF4-FFF2-40B4-BE49-F238E27FC236}">
                <a16:creationId xmlns:a16="http://schemas.microsoft.com/office/drawing/2014/main" id="{D9429402-5DEE-401F-87F9-D6E2FA0E985F}"/>
              </a:ext>
            </a:extLst>
          </p:cNvPr>
          <p:cNvSpPr/>
          <p:nvPr/>
        </p:nvSpPr>
        <p:spPr>
          <a:xfrm>
            <a:off x="4224338" y="49418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局部变量空间</a:t>
            </a:r>
          </a:p>
        </p:txBody>
      </p:sp>
      <p:sp>
        <p:nvSpPr>
          <p:cNvPr id="11" name="矩形 10">
            <a:extLst>
              <a:ext uri="{FF2B5EF4-FFF2-40B4-BE49-F238E27FC236}">
                <a16:creationId xmlns:a16="http://schemas.microsoft.com/office/drawing/2014/main" id="{C3C5873D-AD19-4073-BC9A-B1A4E4A0F2F7}"/>
              </a:ext>
            </a:extLst>
          </p:cNvPr>
          <p:cNvSpPr/>
          <p:nvPr/>
        </p:nvSpPr>
        <p:spPr>
          <a:xfrm>
            <a:off x="4224338" y="55895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局部</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临时变量空间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A2470365-FCC0-46A3-8935-D609187F2EBF}"/>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运行栈中的活动记录</a:t>
            </a:r>
          </a:p>
        </p:txBody>
      </p:sp>
      <p:sp>
        <p:nvSpPr>
          <p:cNvPr id="2" name="副标题 1">
            <a:extLst>
              <a:ext uri="{FF2B5EF4-FFF2-40B4-BE49-F238E27FC236}">
                <a16:creationId xmlns:a16="http://schemas.microsoft.com/office/drawing/2014/main" id="{5B6D72A5-6B69-499A-B875-EB2FBAFC4C4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2747392-7003-49DF-980E-FC9A0A68DAAD}"/>
              </a:ext>
            </a:extLst>
          </p:cNvPr>
          <p:cNvSpPr>
            <a:spLocks noGrp="1"/>
          </p:cNvSpPr>
          <p:nvPr>
            <p:ph type="body" idx="10"/>
          </p:nvPr>
        </p:nvSpPr>
        <p:spPr/>
        <p:txBody>
          <a:bodyPr/>
          <a:lstStyle/>
          <a:p>
            <a:endParaRPr lang="zh-CN" altLang="en-US"/>
          </a:p>
        </p:txBody>
      </p:sp>
      <p:sp>
        <p:nvSpPr>
          <p:cNvPr id="104450" name="Rectangle 3">
            <a:extLst>
              <a:ext uri="{FF2B5EF4-FFF2-40B4-BE49-F238E27FC236}">
                <a16:creationId xmlns:a16="http://schemas.microsoft.com/office/drawing/2014/main" id="{041E52C9-3AD7-4458-A276-83D8F2F9ABE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a:solidFill>
                  <a:srgbClr val="0000FF"/>
                </a:solidFill>
                <a:latin typeface="微软雅黑" panose="020B0503020204020204" pitchFamily="34" charset="-122"/>
                <a:ea typeface="微软雅黑" panose="020B0503020204020204" pitchFamily="34" charset="-122"/>
              </a:rPr>
              <a:t>运行栈</a:t>
            </a:r>
            <a:r>
              <a:rPr kumimoji="0" lang="zh-CN" altLang="zh-CN" sz="2800" b="1">
                <a:latin typeface="微软雅黑" panose="020B0503020204020204" pitchFamily="34" charset="-122"/>
                <a:ea typeface="微软雅黑" panose="020B0503020204020204" pitchFamily="34" charset="-122"/>
              </a:rPr>
              <a:t>随程序执行时的调用链而</a:t>
            </a:r>
            <a:r>
              <a:rPr kumimoji="0" lang="zh-CN" altLang="zh-CN" sz="2800" b="1">
                <a:solidFill>
                  <a:srgbClr val="0000FF"/>
                </a:solidFill>
                <a:latin typeface="微软雅黑" panose="020B0503020204020204" pitchFamily="34" charset="-122"/>
                <a:ea typeface="微软雅黑" panose="020B0503020204020204" pitchFamily="34" charset="-122"/>
              </a:rPr>
              <a:t>生长</a:t>
            </a:r>
            <a:r>
              <a:rPr kumimoji="0" lang="en-US" altLang="zh-CN" sz="2800" b="1">
                <a:solidFill>
                  <a:srgbClr val="0000FF"/>
                </a:solidFill>
                <a:latin typeface="微软雅黑" panose="020B0503020204020204" pitchFamily="34" charset="-122"/>
                <a:ea typeface="微软雅黑" panose="020B0503020204020204" pitchFamily="34" charset="-122"/>
              </a:rPr>
              <a:t>/</a:t>
            </a:r>
            <a:r>
              <a:rPr kumimoji="0" lang="zh-CN" altLang="zh-CN" sz="2800" b="1">
                <a:solidFill>
                  <a:srgbClr val="0000FF"/>
                </a:solidFill>
                <a:latin typeface="微软雅黑" panose="020B0503020204020204" pitchFamily="34" charset="-122"/>
                <a:ea typeface="微软雅黑" panose="020B0503020204020204" pitchFamily="34" charset="-122"/>
              </a:rPr>
              <a:t>缩小</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每</a:t>
            </a:r>
            <a:r>
              <a:rPr kumimoji="0" lang="zh-CN" altLang="zh-CN" sz="2400">
                <a:solidFill>
                  <a:srgbClr val="C00000"/>
                </a:solidFill>
                <a:latin typeface="微软雅黑" panose="020B0503020204020204" pitchFamily="34" charset="-122"/>
                <a:ea typeface="微软雅黑" panose="020B0503020204020204" pitchFamily="34" charset="-122"/>
              </a:rPr>
              <a:t>调用</a:t>
            </a:r>
            <a:r>
              <a:rPr kumimoji="0" lang="zh-CN" altLang="zh-CN" sz="2400">
                <a:latin typeface="微软雅黑" panose="020B0503020204020204" pitchFamily="34" charset="-122"/>
                <a:ea typeface="微软雅黑" panose="020B0503020204020204" pitchFamily="34" charset="-122"/>
              </a:rPr>
              <a:t>一个函数，执行一次</a:t>
            </a:r>
            <a:r>
              <a:rPr kumimoji="0" lang="zh-CN" altLang="zh-CN" sz="2400">
                <a:solidFill>
                  <a:srgbClr val="C00000"/>
                </a:solidFill>
                <a:latin typeface="微软雅黑" panose="020B0503020204020204" pitchFamily="34" charset="-122"/>
                <a:ea typeface="微软雅黑" panose="020B0503020204020204" pitchFamily="34" charset="-122"/>
              </a:rPr>
              <a:t>进栈</a:t>
            </a:r>
            <a:r>
              <a:rPr kumimoji="0" lang="zh-CN" altLang="zh-CN" sz="2400">
                <a:latin typeface="微软雅黑" panose="020B0503020204020204" pitchFamily="34" charset="-122"/>
                <a:ea typeface="微软雅黑" panose="020B0503020204020204" pitchFamily="34" charset="-122"/>
              </a:rPr>
              <a:t>操作，</a:t>
            </a:r>
            <a:r>
              <a:rPr kumimoji="0" lang="zh-CN" altLang="en-US" sz="2400">
                <a:latin typeface="微软雅黑" panose="020B0503020204020204" pitchFamily="34" charset="-122"/>
                <a:ea typeface="微软雅黑" panose="020B0503020204020204" pitchFamily="34" charset="-122"/>
              </a:rPr>
              <a:t>将</a:t>
            </a:r>
            <a:r>
              <a:rPr kumimoji="0" lang="zh-CN" altLang="zh-CN" sz="2400">
                <a:latin typeface="微软雅黑" panose="020B0503020204020204" pitchFamily="34" charset="-122"/>
                <a:ea typeface="微软雅黑" panose="020B0503020204020204" pitchFamily="34" charset="-122"/>
              </a:rPr>
              <a:t>被调函数的活动记录入栈，即每个新的活动记录都分配在栈的顶部</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每次从函数</a:t>
            </a:r>
            <a:r>
              <a:rPr kumimoji="0" lang="zh-CN" altLang="zh-CN" sz="2400">
                <a:solidFill>
                  <a:srgbClr val="0000FF"/>
                </a:solidFill>
                <a:latin typeface="微软雅黑" panose="020B0503020204020204" pitchFamily="34" charset="-122"/>
                <a:ea typeface="微软雅黑" panose="020B0503020204020204" pitchFamily="34" charset="-122"/>
              </a:rPr>
              <a:t>返回</a:t>
            </a:r>
            <a:r>
              <a:rPr kumimoji="0" lang="zh-CN" altLang="zh-CN" sz="2400">
                <a:latin typeface="微软雅黑" panose="020B0503020204020204" pitchFamily="34" charset="-122"/>
                <a:ea typeface="微软雅黑" panose="020B0503020204020204" pitchFamily="34" charset="-122"/>
              </a:rPr>
              <a:t>时，执行一次</a:t>
            </a:r>
            <a:r>
              <a:rPr kumimoji="0" lang="zh-CN" altLang="zh-CN" sz="2400">
                <a:solidFill>
                  <a:srgbClr val="0000FF"/>
                </a:solidFill>
                <a:latin typeface="微软雅黑" panose="020B0503020204020204" pitchFamily="34" charset="-122"/>
                <a:ea typeface="微软雅黑" panose="020B0503020204020204" pitchFamily="34" charset="-122"/>
              </a:rPr>
              <a:t>出栈</a:t>
            </a:r>
            <a:r>
              <a:rPr kumimoji="0" lang="zh-CN" altLang="zh-CN" sz="2400">
                <a:latin typeface="微软雅黑" panose="020B0503020204020204" pitchFamily="34" charset="-122"/>
                <a:ea typeface="微软雅黑" panose="020B0503020204020204" pitchFamily="34" charset="-122"/>
              </a:rPr>
              <a:t>操作，释放本次活动记录，恢复到上次调用所分配的数据区</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被调函数</a:t>
            </a:r>
            <a:r>
              <a:rPr kumimoji="0" lang="zh-CN" altLang="en-US" sz="2400">
                <a:latin typeface="微软雅黑" panose="020B0503020204020204" pitchFamily="34" charset="-122"/>
                <a:ea typeface="微软雅黑" panose="020B0503020204020204" pitchFamily="34" charset="-122"/>
              </a:rPr>
              <a:t>的</a:t>
            </a:r>
            <a:r>
              <a:rPr kumimoji="0" lang="zh-CN" altLang="zh-CN" sz="2400">
                <a:latin typeface="微软雅黑" panose="020B0503020204020204" pitchFamily="34" charset="-122"/>
                <a:ea typeface="微软雅黑" panose="020B0503020204020204" pitchFamily="34" charset="-122"/>
              </a:rPr>
              <a:t>变量地址全部采用相对于栈顶的相对地址来表示</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a:latin typeface="微软雅黑" panose="020B0503020204020204" pitchFamily="34" charset="-122"/>
                <a:ea typeface="微软雅黑" panose="020B0503020204020204" pitchFamily="34" charset="-122"/>
              </a:rPr>
              <a:t>一个函数可有</a:t>
            </a:r>
            <a:r>
              <a:rPr kumimoji="0" lang="zh-CN" altLang="zh-CN" sz="2800" b="1">
                <a:solidFill>
                  <a:srgbClr val="0000FF"/>
                </a:solidFill>
                <a:latin typeface="微软雅黑" panose="020B0503020204020204" pitchFamily="34" charset="-122"/>
                <a:ea typeface="微软雅黑" panose="020B0503020204020204" pitchFamily="34" charset="-122"/>
              </a:rPr>
              <a:t>多个不同的活动记录</a:t>
            </a:r>
            <a:r>
              <a:rPr kumimoji="0" lang="zh-CN" altLang="en-US" sz="2800" b="1">
                <a:solidFill>
                  <a:srgbClr val="0000FF"/>
                </a:solidFill>
                <a:latin typeface="微软雅黑" panose="020B0503020204020204" pitchFamily="34" charset="-122"/>
                <a:ea typeface="微软雅黑" panose="020B0503020204020204" pitchFamily="34" charset="-122"/>
              </a:rPr>
              <a:t>，</a:t>
            </a:r>
            <a:r>
              <a:rPr kumimoji="0" lang="zh-CN" altLang="zh-CN" sz="2800" b="1">
                <a:latin typeface="微软雅黑" panose="020B0503020204020204" pitchFamily="34" charset="-122"/>
                <a:ea typeface="微软雅黑" panose="020B0503020204020204" pitchFamily="34" charset="-122"/>
              </a:rPr>
              <a:t>各代表</a:t>
            </a:r>
            <a:r>
              <a:rPr kumimoji="0" lang="en-US" altLang="zh-CN" sz="2800" b="1">
                <a:latin typeface="微软雅黑" panose="020B0503020204020204" pitchFamily="34" charset="-122"/>
                <a:ea typeface="微软雅黑" panose="020B0503020204020204" pitchFamily="34" charset="-122"/>
              </a:rPr>
              <a:t> 1 </a:t>
            </a:r>
            <a:r>
              <a:rPr kumimoji="0" lang="zh-CN" altLang="zh-CN" sz="2800" b="1">
                <a:latin typeface="微软雅黑" panose="020B0503020204020204" pitchFamily="34" charset="-122"/>
                <a:ea typeface="微软雅黑" panose="020B0503020204020204" pitchFamily="34" charset="-122"/>
              </a:rPr>
              <a:t>次调用</a:t>
            </a:r>
          </a:p>
          <a:p>
            <a:pPr marL="715963" lvl="1" indent="-358775" eaLnBrk="1" hangingPunct="1">
              <a:lnSpc>
                <a:spcPct val="110000"/>
              </a:lnSpc>
              <a:spcBef>
                <a:spcPts val="600"/>
              </a:spcBef>
              <a:buFont typeface="Wingdings" panose="05000000000000000000" pitchFamily="2" charset="2"/>
              <a:buChar char="ü"/>
            </a:pPr>
            <a:r>
              <a:rPr kumimoji="0" lang="zh-CN" altLang="zh-CN" sz="2400">
                <a:solidFill>
                  <a:srgbClr val="C00000"/>
                </a:solidFill>
                <a:latin typeface="微软雅黑" panose="020B0503020204020204" pitchFamily="34" charset="-122"/>
                <a:ea typeface="微软雅黑" panose="020B0503020204020204" pitchFamily="34" charset="-122"/>
              </a:rPr>
              <a:t>递归的深度</a:t>
            </a:r>
            <a:r>
              <a:rPr kumimoji="0" lang="zh-CN" altLang="zh-CN" sz="2400">
                <a:latin typeface="微软雅黑" panose="020B0503020204020204" pitchFamily="34" charset="-122"/>
                <a:ea typeface="微软雅黑" panose="020B0503020204020204" pitchFamily="34" charset="-122"/>
              </a:rPr>
              <a:t>决定递归函数在运行栈中活动记录的数目</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递归函数中同一个局部变量，在不同的递归层次被分配不同的存储空间，放在内部栈的不同位置</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A1713ED-2E37-4344-9D07-4BFADB8C8ED3}"/>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递归算法的非递归实现</a:t>
            </a:r>
          </a:p>
        </p:txBody>
      </p:sp>
      <p:sp>
        <p:nvSpPr>
          <p:cNvPr id="2" name="副标题 1">
            <a:extLst>
              <a:ext uri="{FF2B5EF4-FFF2-40B4-BE49-F238E27FC236}">
                <a16:creationId xmlns:a16="http://schemas.microsoft.com/office/drawing/2014/main" id="{32132501-0CBF-41C5-845A-4161AEC3B2B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3924531-23BD-46D1-9E37-7049B2D81AB3}"/>
              </a:ext>
            </a:extLst>
          </p:cNvPr>
          <p:cNvSpPr>
            <a:spLocks noGrp="1"/>
          </p:cNvSpPr>
          <p:nvPr>
            <p:ph type="body" idx="10"/>
          </p:nvPr>
        </p:nvSpPr>
        <p:spPr/>
        <p:txBody>
          <a:bodyPr/>
          <a:lstStyle/>
          <a:p>
            <a:endParaRPr lang="zh-CN" altLang="en-US"/>
          </a:p>
        </p:txBody>
      </p:sp>
      <p:sp>
        <p:nvSpPr>
          <p:cNvPr id="40963" name="Rectangle 3">
            <a:extLst>
              <a:ext uri="{FF2B5EF4-FFF2-40B4-BE49-F238E27FC236}">
                <a16:creationId xmlns:a16="http://schemas.microsoft.com/office/drawing/2014/main" id="{F4AA1C98-0F1E-4AB7-9140-3CE80348841A}"/>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以阶乘为例，非递归方式</a:t>
            </a:r>
            <a:endParaRPr kumimoji="0" lang="en-US" altLang="zh-CN" sz="2800">
              <a:latin typeface="微软雅黑" panose="020B0503020204020204" pitchFamily="34" charset="-122"/>
              <a:ea typeface="微软雅黑" panose="020B0503020204020204" pitchFamily="34" charset="-122"/>
            </a:endParaRPr>
          </a:p>
          <a:p>
            <a:pPr marL="715963" lvl="1" indent="-358775">
              <a:lnSpc>
                <a:spcPct val="105000"/>
              </a:lnSpc>
              <a:spcBef>
                <a:spcPts val="600"/>
              </a:spcBef>
              <a:buFont typeface="Wingdings" panose="05000000000000000000" pitchFamily="2" charset="2"/>
              <a:buChar char="ü"/>
            </a:pPr>
            <a:r>
              <a:rPr lang="zh-CN" altLang="zh-CN" sz="2800">
                <a:solidFill>
                  <a:srgbClr val="7030A0"/>
                </a:solidFill>
                <a:latin typeface="微软雅黑" panose="020B0503020204020204" pitchFamily="34" charset="-122"/>
                <a:ea typeface="微软雅黑" panose="020B0503020204020204" pitchFamily="34" charset="-122"/>
              </a:rPr>
              <a:t>建立迭代</a:t>
            </a:r>
          </a:p>
          <a:p>
            <a:pPr marL="715963" lvl="1" indent="-358775">
              <a:lnSpc>
                <a:spcPct val="105000"/>
              </a:lnSpc>
              <a:spcBef>
                <a:spcPts val="600"/>
              </a:spcBef>
              <a:buFont typeface="Wingdings" panose="05000000000000000000" pitchFamily="2" charset="2"/>
              <a:buChar char="ü"/>
            </a:pPr>
            <a:r>
              <a:rPr lang="zh-CN" altLang="zh-CN" sz="2800">
                <a:latin typeface="微软雅黑" panose="020B0503020204020204" pitchFamily="34" charset="-122"/>
                <a:ea typeface="微软雅黑" panose="020B0503020204020204" pitchFamily="34" charset="-122"/>
              </a:rPr>
              <a:t>递归</a:t>
            </a:r>
            <a:r>
              <a:rPr lang="zh-CN" altLang="zh-CN" sz="2800">
                <a:solidFill>
                  <a:srgbClr val="0000FF"/>
                </a:solidFill>
                <a:latin typeface="微软雅黑" panose="020B0503020204020204" pitchFamily="34" charset="-122"/>
                <a:ea typeface="微软雅黑" panose="020B0503020204020204" pitchFamily="34" charset="-122"/>
              </a:rPr>
              <a:t>转换</a:t>
            </a:r>
            <a:r>
              <a:rPr lang="zh-CN" altLang="zh-CN" sz="2800">
                <a:latin typeface="微软雅黑" panose="020B0503020204020204" pitchFamily="34" charset="-122"/>
                <a:ea typeface="微软雅黑" panose="020B0503020204020204" pitchFamily="34" charset="-122"/>
              </a:rPr>
              <a:t>为非递归</a:t>
            </a:r>
            <a:endParaRPr kumimoji="0" lang="en-US" altLang="zh-CN" sz="3200">
              <a:latin typeface="微软雅黑" panose="020B0503020204020204" pitchFamily="34" charset="-122"/>
              <a:ea typeface="微软雅黑" panose="020B0503020204020204" pitchFamily="34" charset="-122"/>
            </a:endParaRPr>
          </a:p>
          <a:p>
            <a:pPr marL="357188" indent="-357188" eaLnBrk="1" hangingPunct="1"/>
            <a:endParaRPr kumimoji="0" lang="zh-CN" altLang="zh-CN" sz="3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D495212F-18F4-4400-AF53-7BA7E4ABB5F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阶乘的迭代实现 </a:t>
            </a:r>
          </a:p>
        </p:txBody>
      </p:sp>
      <p:sp>
        <p:nvSpPr>
          <p:cNvPr id="2" name="副标题 1">
            <a:extLst>
              <a:ext uri="{FF2B5EF4-FFF2-40B4-BE49-F238E27FC236}">
                <a16:creationId xmlns:a16="http://schemas.microsoft.com/office/drawing/2014/main" id="{716E8F98-C8AE-490A-B4A2-AF07AC6A5C5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CED7528-AE57-422E-B9F3-10897C4580A5}"/>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B3A09F3A-19F2-4AAF-9C88-D31805FB706D}"/>
              </a:ext>
            </a:extLst>
          </p:cNvPr>
          <p:cNvSpPr>
            <a:spLocks noGrp="1"/>
          </p:cNvSpPr>
          <p:nvPr>
            <p:ph idx="11"/>
          </p:nvPr>
        </p:nvSpPr>
        <p:spPr/>
        <p:txBody>
          <a:bodyPr/>
          <a:lstStyle/>
          <a:p>
            <a:endParaRPr lang="zh-CN" altLang="en-US"/>
          </a:p>
        </p:txBody>
      </p:sp>
      <p:sp>
        <p:nvSpPr>
          <p:cNvPr id="7" name="内容占位符 2">
            <a:extLst>
              <a:ext uri="{FF2B5EF4-FFF2-40B4-BE49-F238E27FC236}">
                <a16:creationId xmlns:a16="http://schemas.microsoft.com/office/drawing/2014/main" id="{AA17CCE7-8CF5-46A0-8FBF-BD1B8F0942E8}"/>
              </a:ext>
            </a:extLst>
          </p:cNvPr>
          <p:cNvSpPr txBox="1">
            <a:spLocks/>
          </p:cNvSpPr>
          <p:nvPr/>
        </p:nvSpPr>
        <p:spPr bwMode="auto">
          <a:xfrm>
            <a:off x="623888" y="1844675"/>
            <a:ext cx="10661650"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60000"/>
              </a:lnSpc>
              <a:spcBef>
                <a:spcPct val="50000"/>
              </a:spcBef>
            </a:pPr>
            <a:endParaRPr kumimoji="1" lang="en-US" altLang="zh-CN" sz="2400">
              <a:solidFill>
                <a:srgbClr val="808000"/>
              </a:solidFill>
              <a:latin typeface="微软雅黑" panose="020B0503020204020204" pitchFamily="34" charset="-122"/>
              <a:ea typeface="微软雅黑" panose="020B0503020204020204" pitchFamily="34" charset="-122"/>
            </a:endParaRPr>
          </a:p>
          <a:p>
            <a:pPr eaLnBrk="1" hangingPunct="1">
              <a:spcBef>
                <a:spcPts val="300"/>
              </a:spcBef>
              <a:buFont typeface="Wingdings" panose="05000000000000000000" pitchFamily="2" charset="2"/>
              <a:buNone/>
            </a:pPr>
            <a:r>
              <a:rPr kumimoji="1" lang="en-US" altLang="zh-CN"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a:t>
            </a:r>
            <a:r>
              <a:rPr kumimoji="1" lang="zh-CN" altLang="en-US"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 使用循环迭代方法，计算阶乘</a:t>
            </a:r>
            <a:r>
              <a:rPr kumimoji="1" lang="en-US" altLang="zh-CN"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n!</a:t>
            </a:r>
            <a:r>
              <a:rPr kumimoji="1" lang="zh-CN" altLang="en-US"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的一种程序</a:t>
            </a:r>
            <a:endParaRPr kumimoji="1" lang="en-US" altLang="zh-CN" sz="2800">
              <a:solidFill>
                <a:srgbClr val="28571F"/>
              </a:solidFill>
              <a:latin typeface="微软雅黑" panose="020B0503020204020204" pitchFamily="34" charset="-122"/>
              <a:ea typeface="微软雅黑" panose="020B0503020204020204" pitchFamily="34" charset="-122"/>
              <a:cs typeface="Consolas" panose="020B0609020204030204" pitchFamily="49" charset="0"/>
            </a:endParaRPr>
          </a:p>
          <a:p>
            <a:pPr eaLnBrk="1" hangingPunct="1">
              <a:spcBef>
                <a:spcPts val="300"/>
              </a:spcBef>
              <a:buFont typeface="Wingdings" panose="05000000000000000000" pitchFamily="2" charset="2"/>
              <a:buNone/>
            </a:pP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long</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fact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long</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n)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int</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 1;</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int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if</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(n</a:t>
            </a:r>
            <a:r>
              <a:rPr kumimoji="1" lang="zh-CN" altLang="en-US"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&gt;</a:t>
            </a:r>
            <a:r>
              <a:rPr kumimoji="1" lang="zh-CN" altLang="en-US"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1)</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for</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 i = 1;  i  &lt;= n;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 m *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return</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p>
          <a:p>
            <a:pPr eaLnBrk="1" hangingPunct="1">
              <a:buClr>
                <a:schemeClr val="accent1"/>
              </a:buClr>
              <a:buSzPct val="65000"/>
              <a:buFont typeface="Wingdings" panose="05000000000000000000" pitchFamily="2" charset="2"/>
              <a:buNone/>
            </a:pPr>
            <a:endParaRPr kumimoji="1" lang="en-US" altLang="zh-CN" sz="2400">
              <a:latin typeface="微软雅黑" panose="020B0503020204020204" pitchFamily="34" charset="-122"/>
              <a:ea typeface="微软雅黑" panose="020B0503020204020204" pitchFamily="34" charset="-122"/>
            </a:endParaRPr>
          </a:p>
          <a:p>
            <a:pPr eaLnBrk="1" hangingPunct="1">
              <a:lnSpc>
                <a:spcPct val="60000"/>
              </a:lnSpc>
              <a:spcBef>
                <a:spcPct val="50000"/>
              </a:spcBef>
            </a:pPr>
            <a:endParaRPr kumimoji="1" lang="en-US" altLang="zh-CN" sz="3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441CDB9B-1703-46F7-9BEA-29348DD7ED4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递归的再思考</a:t>
            </a:r>
          </a:p>
        </p:txBody>
      </p:sp>
      <p:sp>
        <p:nvSpPr>
          <p:cNvPr id="2" name="副标题 1">
            <a:extLst>
              <a:ext uri="{FF2B5EF4-FFF2-40B4-BE49-F238E27FC236}">
                <a16:creationId xmlns:a16="http://schemas.microsoft.com/office/drawing/2014/main" id="{4BBD1F6F-C2C3-4FB3-AC70-69570325B42C}"/>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F3655663-360E-4706-8A41-11DC93F53A7E}"/>
              </a:ext>
            </a:extLst>
          </p:cNvPr>
          <p:cNvSpPr>
            <a:spLocks noGrp="1"/>
          </p:cNvSpPr>
          <p:nvPr>
            <p:ph type="body" idx="10"/>
          </p:nvPr>
        </p:nvSpPr>
        <p:spPr/>
        <p:txBody>
          <a:bodyPr/>
          <a:lstStyle/>
          <a:p>
            <a:endParaRPr lang="zh-CN" altLang="en-US"/>
          </a:p>
        </p:txBody>
      </p:sp>
      <p:sp>
        <p:nvSpPr>
          <p:cNvPr id="109571" name="Rectangle 3">
            <a:extLst>
              <a:ext uri="{FF2B5EF4-FFF2-40B4-BE49-F238E27FC236}">
                <a16:creationId xmlns:a16="http://schemas.microsoft.com/office/drawing/2014/main" id="{B5F52CE3-1AEC-4F63-BA1C-A12107AFCE2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递归出口    </a:t>
            </a:r>
          </a:p>
          <a:p>
            <a:pPr marL="357188" indent="-357188" eaLnBrk="1" hangingPunct="1">
              <a:lnSpc>
                <a:spcPct val="105000"/>
              </a:lnSpc>
              <a:spcBef>
                <a:spcPts val="600"/>
              </a:spcBef>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递归规则</a:t>
            </a:r>
          </a:p>
        </p:txBody>
      </p:sp>
      <p:sp>
        <p:nvSpPr>
          <p:cNvPr id="109572" name="TextBox 1">
            <a:extLst>
              <a:ext uri="{FF2B5EF4-FFF2-40B4-BE49-F238E27FC236}">
                <a16:creationId xmlns:a16="http://schemas.microsoft.com/office/drawing/2014/main" id="{50992A46-D43F-4756-A475-5CF2BA829672}"/>
              </a:ext>
            </a:extLst>
          </p:cNvPr>
          <p:cNvSpPr txBox="1">
            <a:spLocks noChangeArrowheads="1"/>
          </p:cNvSpPr>
          <p:nvPr/>
        </p:nvSpPr>
        <p:spPr bwMode="auto">
          <a:xfrm>
            <a:off x="8040688" y="5013325"/>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p>
        </p:txBody>
      </p:sp>
      <p:sp>
        <p:nvSpPr>
          <p:cNvPr id="3" name="TextBox 2">
            <a:extLst>
              <a:ext uri="{FF2B5EF4-FFF2-40B4-BE49-F238E27FC236}">
                <a16:creationId xmlns:a16="http://schemas.microsoft.com/office/drawing/2014/main" id="{37C26BCA-9A9D-4BBB-8B25-DCE4D8EB6FFC}"/>
              </a:ext>
            </a:extLst>
          </p:cNvPr>
          <p:cNvSpPr txBox="1">
            <a:spLocks noChangeArrowheads="1"/>
          </p:cNvSpPr>
          <p:nvPr/>
        </p:nvSpPr>
        <p:spPr bwMode="auto">
          <a:xfrm>
            <a:off x="4079875" y="2062163"/>
            <a:ext cx="12969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Wingdings" panose="05000000000000000000" pitchFamily="2" charset="2"/>
              <a:buNone/>
            </a:pPr>
            <a:r>
              <a:rPr lang="zh-CN" altLang="en-US" sz="2800" b="1">
                <a:solidFill>
                  <a:srgbClr val="0000FF"/>
                </a:solidFill>
                <a:latin typeface="微软雅黑" panose="020B0503020204020204" pitchFamily="34" charset="-122"/>
                <a:ea typeface="微软雅黑" panose="020B0503020204020204" pitchFamily="34" charset="-122"/>
              </a:rPr>
              <a:t>意味？</a:t>
            </a:r>
            <a:r>
              <a:rPr lang="en-US" altLang="zh-CN" sz="2800" b="1">
                <a:latin typeface="微软雅黑" panose="020B0503020204020204" pitchFamily="34" charset="-122"/>
                <a:ea typeface="微软雅黑" panose="020B0503020204020204" pitchFamily="34" charset="-122"/>
              </a:rPr>
              <a:t> </a:t>
            </a:r>
          </a:p>
        </p:txBody>
      </p:sp>
      <p:sp>
        <p:nvSpPr>
          <p:cNvPr id="10" name="TextBox 9">
            <a:extLst>
              <a:ext uri="{FF2B5EF4-FFF2-40B4-BE49-F238E27FC236}">
                <a16:creationId xmlns:a16="http://schemas.microsoft.com/office/drawing/2014/main" id="{B7DE31D0-0063-4118-8CE5-915FF2927027}"/>
              </a:ext>
            </a:extLst>
          </p:cNvPr>
          <p:cNvSpPr txBox="1">
            <a:spLocks noChangeArrowheads="1"/>
          </p:cNvSpPr>
          <p:nvPr/>
        </p:nvSpPr>
        <p:spPr bwMode="auto">
          <a:xfrm>
            <a:off x="4079875" y="2635250"/>
            <a:ext cx="1296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Wingdings" panose="05000000000000000000" pitchFamily="2" charset="2"/>
              <a:buNone/>
            </a:pPr>
            <a:r>
              <a:rPr lang="zh-CN" altLang="en-US" sz="2800" b="1">
                <a:solidFill>
                  <a:srgbClr val="0000FF"/>
                </a:solidFill>
                <a:latin typeface="微软雅黑" panose="020B0503020204020204" pitchFamily="34" charset="-122"/>
                <a:ea typeface="微软雅黑" panose="020B0503020204020204" pitchFamily="34" charset="-122"/>
              </a:rPr>
              <a:t>意味？</a:t>
            </a:r>
            <a:r>
              <a:rPr lang="en-US" altLang="zh-CN" sz="2800" b="1">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7BC58FE9-3723-474E-A0B6-7D02C664050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阶乘的一种非递归实现</a:t>
            </a:r>
          </a:p>
        </p:txBody>
      </p:sp>
      <p:sp>
        <p:nvSpPr>
          <p:cNvPr id="2" name="副标题 1">
            <a:extLst>
              <a:ext uri="{FF2B5EF4-FFF2-40B4-BE49-F238E27FC236}">
                <a16:creationId xmlns:a16="http://schemas.microsoft.com/office/drawing/2014/main" id="{0A20237A-42F6-4203-B193-2D378C6727C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8E618B1-4DEF-45C6-B109-116373E011FD}"/>
              </a:ext>
            </a:extLst>
          </p:cNvPr>
          <p:cNvSpPr>
            <a:spLocks noGrp="1"/>
          </p:cNvSpPr>
          <p:nvPr>
            <p:ph type="body" idx="10"/>
          </p:nvPr>
        </p:nvSpPr>
        <p:spPr/>
        <p:txBody>
          <a:bodyPr/>
          <a:lstStyle/>
          <a:p>
            <a:endParaRPr lang="zh-CN" altLang="en-US"/>
          </a:p>
        </p:txBody>
      </p:sp>
      <p:sp>
        <p:nvSpPr>
          <p:cNvPr id="110595" name="Rectangle 3">
            <a:extLst>
              <a:ext uri="{FF2B5EF4-FFF2-40B4-BE49-F238E27FC236}">
                <a16:creationId xmlns:a16="http://schemas.microsoft.com/office/drawing/2014/main" id="{B96B5E74-4A25-447B-AFD9-955759F5F962}"/>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long </a:t>
            </a:r>
            <a:r>
              <a:rPr lang="en-US" altLang="zh-CN" sz="2400">
                <a:latin typeface="微软雅黑" panose="020B0503020204020204" pitchFamily="34" charset="-122"/>
                <a:ea typeface="微软雅黑" panose="020B0503020204020204" pitchFamily="34" charset="-122"/>
              </a:rPr>
              <a:t>fact(</a:t>
            </a:r>
            <a:r>
              <a:rPr lang="en-US" altLang="zh-CN" sz="2400">
                <a:solidFill>
                  <a:srgbClr val="808000"/>
                </a:solidFill>
                <a:latin typeface="微软雅黑" panose="020B0503020204020204" pitchFamily="34" charset="-122"/>
                <a:ea typeface="微软雅黑" panose="020B0503020204020204" pitchFamily="34" charset="-122"/>
              </a:rPr>
              <a:t>long </a:t>
            </a:r>
            <a:r>
              <a:rPr lang="en-US" altLang="zh-CN" sz="2400">
                <a:latin typeface="微软雅黑" panose="020B0503020204020204" pitchFamily="34" charset="-122"/>
                <a:ea typeface="微软雅黑" panose="020B0503020204020204" pitchFamily="34" charset="-122"/>
              </a:rPr>
              <a:t>n) {		</a:t>
            </a:r>
            <a:r>
              <a:rPr lang="en-US" altLang="zh-CN" sz="2400">
                <a:solidFill>
                  <a:srgbClr val="35742A"/>
                </a:solidFill>
                <a:latin typeface="微软雅黑" panose="020B0503020204020204" pitchFamily="34" charset="-122"/>
                <a:ea typeface="微软雅黑" panose="020B0503020204020204" pitchFamily="34" charset="-122"/>
              </a:rPr>
              <a:t>//</a:t>
            </a:r>
            <a:r>
              <a:rPr lang="zh-CN" altLang="zh-CN" sz="2400">
                <a:solidFill>
                  <a:srgbClr val="35742A"/>
                </a:solidFill>
                <a:latin typeface="微软雅黑" panose="020B0503020204020204" pitchFamily="34" charset="-122"/>
                <a:ea typeface="微软雅黑" panose="020B0503020204020204" pitchFamily="34" charset="-122"/>
              </a:rPr>
              <a:t> 使用栈方法，计算阶乘</a:t>
            </a:r>
            <a:r>
              <a:rPr lang="en-US" altLang="zh-CN" sz="2400">
                <a:solidFill>
                  <a:srgbClr val="35742A"/>
                </a:solidFill>
                <a:latin typeface="微软雅黑" panose="020B0503020204020204" pitchFamily="34" charset="-122"/>
                <a:ea typeface="微软雅黑" panose="020B0503020204020204" pitchFamily="34" charset="-122"/>
              </a:rPr>
              <a:t>n!</a:t>
            </a:r>
            <a:r>
              <a:rPr lang="zh-CN" altLang="zh-CN" sz="2400">
                <a:solidFill>
                  <a:srgbClr val="35742A"/>
                </a:solidFill>
                <a:latin typeface="微软雅黑" panose="020B0503020204020204" pitchFamily="34" charset="-122"/>
                <a:ea typeface="微软雅黑" panose="020B0503020204020204" pitchFamily="34" charset="-122"/>
              </a:rPr>
              <a:t>的程序</a:t>
            </a:r>
            <a:endParaRPr lang="en-US" altLang="zh-CN" sz="2400">
              <a:latin typeface="微软雅黑" panose="020B0503020204020204" pitchFamily="34" charset="-122"/>
              <a:ea typeface="微软雅黑" panose="020B0503020204020204" pitchFamily="34" charset="-122"/>
            </a:endParaRP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Stack </a:t>
            </a:r>
            <a:r>
              <a:rPr lang="en-US" altLang="zh-CN" sz="2400">
                <a:latin typeface="微软雅黑" panose="020B0503020204020204" pitchFamily="34" charset="-122"/>
                <a:ea typeface="微软雅黑" panose="020B0503020204020204" pitchFamily="34" charset="-122"/>
              </a:rPr>
              <a:t>s;</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int  </a:t>
            </a:r>
            <a:r>
              <a:rPr lang="en-US" altLang="zh-CN" sz="2400">
                <a:latin typeface="微软雅黑" panose="020B0503020204020204" pitchFamily="34" charset="-122"/>
                <a:ea typeface="微软雅黑" panose="020B0503020204020204" pitchFamily="34" charset="-122"/>
              </a:rPr>
              <a:t>m = 1;</a:t>
            </a:r>
          </a:p>
          <a:p>
            <a:pPr eaLnBrk="1" hangingPunct="1">
              <a:spcBef>
                <a:spcPct val="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endParaRPr lang="en-US" altLang="zh-CN" sz="1400">
              <a:solidFill>
                <a:srgbClr val="808000"/>
              </a:solidFill>
              <a:latin typeface="微软雅黑" panose="020B0503020204020204" pitchFamily="34" charset="-122"/>
              <a:ea typeface="微软雅黑" panose="020B0503020204020204" pitchFamily="34" charset="-122"/>
            </a:endParaRP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while </a:t>
            </a:r>
            <a:r>
              <a:rPr lang="en-US" altLang="zh-CN" sz="2400">
                <a:latin typeface="微软雅黑" panose="020B0503020204020204" pitchFamily="34" charset="-122"/>
                <a:ea typeface="微软雅黑" panose="020B0503020204020204" pitchFamily="34" charset="-122"/>
              </a:rPr>
              <a:t>(n&gt;1)</a:t>
            </a:r>
            <a:r>
              <a:rPr lang="en-US" altLang="zh-CN" sz="2400">
                <a:solidFill>
                  <a:srgbClr val="808000"/>
                </a:solidFill>
                <a:latin typeface="微软雅黑" panose="020B0503020204020204" pitchFamily="34" charset="-122"/>
                <a:ea typeface="微软雅黑" panose="020B0503020204020204" pitchFamily="34" charset="-122"/>
              </a:rPr>
              <a:t>                   	// ?</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s.push(n--);</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while </a:t>
            </a:r>
            <a:r>
              <a:rPr lang="en-US" altLang="zh-CN" sz="2400">
                <a:latin typeface="微软雅黑" panose="020B0503020204020204" pitchFamily="34" charset="-122"/>
                <a:ea typeface="微软雅黑" panose="020B0503020204020204" pitchFamily="34" charset="-122"/>
              </a:rPr>
              <a:t>(!isEmpty(s)) </a:t>
            </a:r>
            <a:r>
              <a:rPr lang="en-US" altLang="zh-CN" sz="2400">
                <a:solidFill>
                  <a:srgbClr val="808000"/>
                </a:solidFill>
                <a:latin typeface="微软雅黑" panose="020B0503020204020204" pitchFamily="34" charset="-122"/>
                <a:ea typeface="微软雅黑" panose="020B0503020204020204" pitchFamily="34" charset="-122"/>
              </a:rPr>
              <a:t>		// ?</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m *= s.pop(s);</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return </a:t>
            </a:r>
            <a:r>
              <a:rPr lang="en-US" altLang="zh-CN" sz="2400">
                <a:latin typeface="微软雅黑" panose="020B0503020204020204" pitchFamily="34" charset="-122"/>
                <a:ea typeface="微软雅黑" panose="020B0503020204020204" pitchFamily="34" charset="-122"/>
              </a:rPr>
              <a:t>m;</a:t>
            </a:r>
          </a:p>
          <a:p>
            <a:pPr eaLnBrk="1" hangingPunct="1">
              <a:spcBef>
                <a:spcPts val="600"/>
              </a:spcBef>
              <a:buClrTx/>
              <a:buSzTx/>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rPr>
              <a:t>}</a:t>
            </a:r>
            <a:r>
              <a:rPr lang="en-US" altLang="zh-CN" sz="2400">
                <a:solidFill>
                  <a:srgbClr val="808000"/>
                </a:solidFill>
                <a:latin typeface="微软雅黑" panose="020B0503020204020204" pitchFamily="34" charset="-122"/>
                <a:ea typeface="微软雅黑" panose="020B0503020204020204" pitchFamily="34" charset="-122"/>
              </a:rPr>
              <a: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CDA94821-22C5-46CE-98C2-836508637A9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非递归程序的实现原理</a:t>
            </a:r>
          </a:p>
        </p:txBody>
      </p:sp>
      <p:sp>
        <p:nvSpPr>
          <p:cNvPr id="2" name="副标题 1">
            <a:extLst>
              <a:ext uri="{FF2B5EF4-FFF2-40B4-BE49-F238E27FC236}">
                <a16:creationId xmlns:a16="http://schemas.microsoft.com/office/drawing/2014/main" id="{ABAF4CC5-4243-4FB6-8B61-A433294A55EC}"/>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2DBECF7-0437-4F0C-B50F-248A0FA1EB45}"/>
              </a:ext>
            </a:extLst>
          </p:cNvPr>
          <p:cNvSpPr>
            <a:spLocks noGrp="1"/>
          </p:cNvSpPr>
          <p:nvPr>
            <p:ph type="body" idx="10"/>
          </p:nvPr>
        </p:nvSpPr>
        <p:spPr/>
        <p:txBody>
          <a:bodyPr/>
          <a:lstStyle/>
          <a:p>
            <a:endParaRPr lang="zh-CN" altLang="en-US"/>
          </a:p>
        </p:txBody>
      </p:sp>
      <p:sp>
        <p:nvSpPr>
          <p:cNvPr id="73731" name="Rectangle 3">
            <a:extLst>
              <a:ext uri="{FF2B5EF4-FFF2-40B4-BE49-F238E27FC236}">
                <a16:creationId xmlns:a16="http://schemas.microsoft.com/office/drawing/2014/main" id="{FBA70BFA-9B77-43EE-8AB1-12410CABB010}"/>
              </a:ext>
            </a:extLst>
          </p:cNvPr>
          <p:cNvSpPr>
            <a:spLocks noGrp="1" noChangeArrowheads="1"/>
          </p:cNvSpPr>
          <p:nvPr>
            <p:ph idx="11"/>
          </p:nvPr>
        </p:nvSpPr>
        <p:spPr bwMode="auto">
          <a:xfrm>
            <a:off x="568337" y="1124682"/>
            <a:ext cx="11055325" cy="546211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en-US" sz="2800" dirty="0">
                <a:latin typeface="微软雅黑" panose="020B0503020204020204" pitchFamily="34" charset="-122"/>
                <a:ea typeface="微软雅黑" panose="020B0503020204020204" pitchFamily="34" charset="-122"/>
              </a:rPr>
              <a:t>与函数调用原理相同，只不过将由系统负责的保存工作信息变为由程序自己保存</a:t>
            </a:r>
          </a:p>
          <a:p>
            <a:pPr marL="712788" lvl="1" indent="-355600" eaLnBrk="1" hangingPunct="1">
              <a:lnSpc>
                <a:spcPct val="105000"/>
              </a:lnSpc>
              <a:spcBef>
                <a:spcPts val="600"/>
              </a:spcBef>
              <a:buFont typeface="Wingdings" panose="05000000000000000000" pitchFamily="2" charset="2"/>
              <a:buChar char="ü"/>
            </a:pPr>
            <a:r>
              <a:rPr kumimoji="0" lang="zh-CN" altLang="en-US" dirty="0">
                <a:latin typeface="微软雅黑" panose="020B0503020204020204" pitchFamily="34" charset="-122"/>
                <a:ea typeface="微软雅黑" panose="020B0503020204020204" pitchFamily="34" charset="-122"/>
              </a:rPr>
              <a:t>减少数据的冗余</a:t>
            </a:r>
            <a:r>
              <a:rPr kumimoji="0" lang="en-US" altLang="zh-CN"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节省局部变量的空间</a:t>
            </a:r>
            <a:r>
              <a:rPr kumimoji="0" lang="en-US" altLang="zh-CN"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，提高</a:t>
            </a:r>
            <a:r>
              <a:rPr kumimoji="0" lang="zh-CN" altLang="en-US" dirty="0">
                <a:solidFill>
                  <a:srgbClr val="0000FF"/>
                </a:solidFill>
                <a:latin typeface="微软雅黑" panose="020B0503020204020204" pitchFamily="34" charset="-122"/>
                <a:ea typeface="微软雅黑" panose="020B0503020204020204" pitchFamily="34" charset="-122"/>
              </a:rPr>
              <a:t>存储效率</a:t>
            </a:r>
          </a:p>
          <a:p>
            <a:pPr marL="712788" lvl="1" indent="-355600" eaLnBrk="1" hangingPunct="1">
              <a:lnSpc>
                <a:spcPct val="105000"/>
              </a:lnSpc>
              <a:spcBef>
                <a:spcPts val="600"/>
              </a:spcBef>
              <a:buFont typeface="Wingdings" panose="05000000000000000000" pitchFamily="2" charset="2"/>
              <a:buChar char="ü"/>
            </a:pPr>
            <a:r>
              <a:rPr kumimoji="0" lang="zh-CN" altLang="en-US" dirty="0">
                <a:latin typeface="微软雅黑" panose="020B0503020204020204" pitchFamily="34" charset="-122"/>
                <a:ea typeface="微软雅黑" panose="020B0503020204020204" pitchFamily="34" charset="-122"/>
              </a:rPr>
              <a:t>减少函数调用的处理以及冗余的重复计算，提高</a:t>
            </a:r>
            <a:r>
              <a:rPr kumimoji="0" lang="zh-CN" altLang="en-US" dirty="0">
                <a:solidFill>
                  <a:srgbClr val="0000FF"/>
                </a:solidFill>
                <a:latin typeface="微软雅黑" panose="020B0503020204020204" pitchFamily="34" charset="-122"/>
                <a:ea typeface="微软雅黑" panose="020B0503020204020204" pitchFamily="34" charset="-122"/>
              </a:rPr>
              <a:t>时间效率</a:t>
            </a:r>
            <a:endParaRPr kumimoji="0" lang="zh-CN" altLang="en-US" sz="2800" dirty="0">
              <a:solidFill>
                <a:srgbClr val="0000FF"/>
              </a:solidFill>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lang="zh-CN" altLang="en-US" sz="2800" dirty="0"/>
              <a:t>程序</a:t>
            </a:r>
            <a:r>
              <a:rPr lang="en-US" altLang="zh-CN" sz="2800" dirty="0"/>
              <a:t>/</a:t>
            </a:r>
            <a:r>
              <a:rPr lang="zh-CN" altLang="en-US" sz="2800" dirty="0"/>
              <a:t>进程要完成的工作分成</a:t>
            </a:r>
            <a:r>
              <a:rPr lang="zh-CN" altLang="en-US" sz="2800" b="1" dirty="0">
                <a:solidFill>
                  <a:srgbClr val="7030A0"/>
                </a:solidFill>
              </a:rPr>
              <a:t>两类</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0000FF"/>
                </a:solidFill>
                <a:latin typeface="微软雅黑" panose="020B0503020204020204" pitchFamily="34" charset="-122"/>
                <a:ea typeface="微软雅黑" panose="020B0503020204020204" pitchFamily="34" charset="-122"/>
              </a:rPr>
              <a:t>手头工作  </a:t>
            </a:r>
            <a:r>
              <a:rPr kumimoji="0" lang="zh-CN" altLang="en-US" dirty="0">
                <a:solidFill>
                  <a:srgbClr val="0000FF"/>
                </a:solidFill>
                <a:latin typeface="微软雅黑" panose="020B0503020204020204" pitchFamily="34" charset="-122"/>
                <a:ea typeface="微软雅黑" panose="020B0503020204020204" pitchFamily="34" charset="-122"/>
              </a:rPr>
              <a:t>   </a:t>
            </a:r>
            <a:r>
              <a:rPr kumimoji="0" lang="zh-CN" altLang="en-US" dirty="0">
                <a:latin typeface="微软雅黑" panose="020B0503020204020204" pitchFamily="34" charset="-122"/>
                <a:ea typeface="微软雅黑" panose="020B0503020204020204" pitchFamily="34" charset="-122"/>
              </a:rPr>
              <a:t>正在做的工作，须有其结束条件，不能永远做下去</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C00000"/>
                </a:solidFill>
                <a:latin typeface="微软雅黑" panose="020B0503020204020204" pitchFamily="34" charset="-122"/>
                <a:ea typeface="微软雅黑" panose="020B0503020204020204" pitchFamily="34" charset="-122"/>
              </a:rPr>
              <a:t>待完成工作  </a:t>
            </a:r>
            <a:r>
              <a:rPr kumimoji="0" lang="zh-CN" altLang="en-US" dirty="0">
                <a:latin typeface="微软雅黑" panose="020B0503020204020204" pitchFamily="34" charset="-122"/>
                <a:ea typeface="微软雅黑" panose="020B0503020204020204" pitchFamily="34" charset="-122"/>
              </a:rPr>
              <a:t>某些不能一步完成的工作，必须 </a:t>
            </a:r>
            <a:r>
              <a:rPr kumimoji="0" lang="zh-CN" altLang="en-US" dirty="0">
                <a:solidFill>
                  <a:srgbClr val="C00000"/>
                </a:solidFill>
                <a:latin typeface="微软雅黑" panose="020B0503020204020204" pitchFamily="34" charset="-122"/>
                <a:ea typeface="微软雅黑" panose="020B0503020204020204" pitchFamily="34" charset="-122"/>
              </a:rPr>
              <a:t>暂缓完成</a:t>
            </a:r>
            <a:r>
              <a:rPr kumimoji="0" lang="zh-CN" altLang="en-US" dirty="0">
                <a:latin typeface="微软雅黑" panose="020B0503020204020204" pitchFamily="34" charset="-122"/>
                <a:ea typeface="微软雅黑" panose="020B0503020204020204" pitchFamily="34" charset="-122"/>
              </a:rPr>
              <a:t>，</a:t>
            </a:r>
            <a:r>
              <a:rPr kumimoji="0" lang="zh-CN" altLang="en-US" dirty="0">
                <a:solidFill>
                  <a:srgbClr val="C00000"/>
                </a:solidFill>
                <a:latin typeface="微软雅黑" panose="020B0503020204020204" pitchFamily="34" charset="-122"/>
                <a:ea typeface="微软雅黑" panose="020B0503020204020204" pitchFamily="34" charset="-122"/>
              </a:rPr>
              <a:t>保存在栈等数据结构</a:t>
            </a:r>
            <a:r>
              <a:rPr kumimoji="0" lang="zh-CN" altLang="en-US" dirty="0">
                <a:latin typeface="微软雅黑" panose="020B0503020204020204" pitchFamily="34" charset="-122"/>
                <a:ea typeface="微软雅黑" panose="020B0503020204020204" pitchFamily="34" charset="-122"/>
              </a:rPr>
              <a:t>中，须含有完成该项工作的所有必要信息</a:t>
            </a:r>
            <a:endParaRPr kumimoji="0" lang="zh-CN" altLang="en-US"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lang="zh-CN" altLang="en-US" sz="2800" dirty="0"/>
              <a:t>程序</a:t>
            </a:r>
            <a:r>
              <a:rPr lang="en-US" altLang="zh-CN" sz="2800" dirty="0"/>
              <a:t>/</a:t>
            </a:r>
            <a:r>
              <a:rPr lang="zh-CN" altLang="en-US" sz="2800" dirty="0"/>
              <a:t>进程须</a:t>
            </a:r>
            <a:r>
              <a:rPr lang="zh-CN" altLang="en-US" sz="2800" b="1" dirty="0"/>
              <a:t>有序</a:t>
            </a:r>
            <a:r>
              <a:rPr lang="zh-CN" altLang="en-US" sz="2800" dirty="0"/>
              <a:t>地完成各项工作</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0000FF"/>
                </a:solidFill>
                <a:latin typeface="微软雅黑" panose="020B0503020204020204" pitchFamily="34" charset="-122"/>
                <a:ea typeface="微软雅黑" panose="020B0503020204020204" pitchFamily="34" charset="-122"/>
              </a:rPr>
              <a:t>手头工作</a:t>
            </a:r>
            <a:r>
              <a:rPr kumimoji="0" lang="zh-CN" altLang="en-US" dirty="0">
                <a:latin typeface="微软雅黑" panose="020B0503020204020204" pitchFamily="34" charset="-122"/>
                <a:ea typeface="微软雅黑" panose="020B0503020204020204" pitchFamily="34" charset="-122"/>
              </a:rPr>
              <a:t>和</a:t>
            </a:r>
            <a:r>
              <a:rPr kumimoji="0" lang="zh-CN" altLang="en-US" b="1" dirty="0">
                <a:solidFill>
                  <a:srgbClr val="C00000"/>
                </a:solidFill>
                <a:latin typeface="微软雅黑" panose="020B0503020204020204" pitchFamily="34" charset="-122"/>
                <a:ea typeface="微软雅黑" panose="020B0503020204020204" pitchFamily="34" charset="-122"/>
              </a:rPr>
              <a:t>待完成工作</a:t>
            </a:r>
            <a:r>
              <a:rPr kumimoji="0" lang="zh-CN" altLang="en-US" dirty="0">
                <a:latin typeface="微软雅黑" panose="020B0503020204020204" pitchFamily="34" charset="-122"/>
                <a:ea typeface="微软雅黑" panose="020B0503020204020204" pitchFamily="34" charset="-122"/>
              </a:rPr>
              <a:t>可</a:t>
            </a:r>
            <a:r>
              <a:rPr kumimoji="0" lang="zh-CN" altLang="en-US" dirty="0">
                <a:solidFill>
                  <a:srgbClr val="0000FF"/>
                </a:solidFill>
                <a:latin typeface="微软雅黑" panose="020B0503020204020204" pitchFamily="34" charset="-122"/>
                <a:ea typeface="微软雅黑" panose="020B0503020204020204" pitchFamily="34" charset="-122"/>
              </a:rPr>
              <a:t>互相切换</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C00000"/>
                </a:solidFill>
                <a:latin typeface="微软雅黑" panose="020B0503020204020204" pitchFamily="34" charset="-122"/>
                <a:ea typeface="微软雅黑" panose="020B0503020204020204" pitchFamily="34" charset="-122"/>
              </a:rPr>
              <a:t>待完成工作</a:t>
            </a:r>
            <a:r>
              <a:rPr kumimoji="0" lang="zh-CN" altLang="en-US" dirty="0">
                <a:latin typeface="微软雅黑" panose="020B0503020204020204" pitchFamily="34" charset="-122"/>
                <a:ea typeface="微软雅黑" panose="020B0503020204020204" pitchFamily="34" charset="-122"/>
              </a:rPr>
              <a:t>必须转换成</a:t>
            </a:r>
            <a:r>
              <a:rPr kumimoji="0" lang="zh-CN" altLang="en-US" dirty="0">
                <a:solidFill>
                  <a:srgbClr val="0000FF"/>
                </a:solidFill>
                <a:latin typeface="微软雅黑" panose="020B0503020204020204" pitchFamily="34" charset="-122"/>
                <a:ea typeface="微软雅黑" panose="020B0503020204020204" pitchFamily="34" charset="-122"/>
              </a:rPr>
              <a:t>手头工作</a:t>
            </a:r>
            <a:r>
              <a:rPr kumimoji="0" lang="zh-CN" altLang="en-US" dirty="0">
                <a:latin typeface="微软雅黑" panose="020B0503020204020204" pitchFamily="34" charset="-122"/>
                <a:ea typeface="微软雅黑" panose="020B0503020204020204" pitchFamily="34" charset="-122"/>
              </a:rPr>
              <a:t>才能处理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anim calcmode="lin" valueType="num">
                                      <p:cBhvr>
                                        <p:cTn id="7" dur="1000" fill="hold"/>
                                        <p:tgtEl>
                                          <p:spTgt spid="73731">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7373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7373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73731">
                                            <p:txEl>
                                              <p:pRg st="2" end="2"/>
                                            </p:txEl>
                                          </p:spTgt>
                                        </p:tgtEl>
                                        <p:attrNameLst>
                                          <p:attrName>style.visibility</p:attrName>
                                        </p:attrNameLst>
                                      </p:cBhvr>
                                      <p:to>
                                        <p:strVal val="visible"/>
                                      </p:to>
                                    </p:set>
                                    <p:anim calcmode="lin" valueType="num">
                                      <p:cBhvr>
                                        <p:cTn id="14" dur="1000" fill="hold"/>
                                        <p:tgtEl>
                                          <p:spTgt spid="73731">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73731">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7373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73731">
                                            <p:txEl>
                                              <p:pRg st="3" end="3"/>
                                            </p:txEl>
                                          </p:spTgt>
                                        </p:tgtEl>
                                        <p:attrNameLst>
                                          <p:attrName>style.visibility</p:attrName>
                                        </p:attrNameLst>
                                      </p:cBhvr>
                                      <p:to>
                                        <p:strVal val="visible"/>
                                      </p:to>
                                    </p:set>
                                    <p:anim calcmode="lin" valueType="num">
                                      <p:cBhvr>
                                        <p:cTn id="21" dur="1000" fill="hold"/>
                                        <p:tgtEl>
                                          <p:spTgt spid="73731">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73731">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73731">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73731">
                                            <p:txEl>
                                              <p:pRg st="4" end="4"/>
                                            </p:txEl>
                                          </p:spTgt>
                                        </p:tgtEl>
                                        <p:attrNameLst>
                                          <p:attrName>style.visibility</p:attrName>
                                        </p:attrNameLst>
                                      </p:cBhvr>
                                      <p:to>
                                        <p:strVal val="visible"/>
                                      </p:to>
                                    </p:set>
                                    <p:anim calcmode="lin" valueType="num">
                                      <p:cBhvr>
                                        <p:cTn id="28" dur="1000" fill="hold"/>
                                        <p:tgtEl>
                                          <p:spTgt spid="73731">
                                            <p:txEl>
                                              <p:pRg st="4" end="4"/>
                                            </p:txEl>
                                          </p:spTgt>
                                        </p:tgtEl>
                                        <p:attrNameLst>
                                          <p:attrName>ppt_x</p:attrName>
                                        </p:attrNameLst>
                                      </p:cBhvr>
                                      <p:tavLst>
                                        <p:tav tm="0">
                                          <p:val>
                                            <p:strVal val="#ppt_x-.2"/>
                                          </p:val>
                                        </p:tav>
                                        <p:tav tm="100000">
                                          <p:val>
                                            <p:strVal val="#ppt_x"/>
                                          </p:val>
                                        </p:tav>
                                      </p:tavLst>
                                    </p:anim>
                                    <p:anim calcmode="lin" valueType="num">
                                      <p:cBhvr>
                                        <p:cTn id="29" dur="1000" fill="hold"/>
                                        <p:tgtEl>
                                          <p:spTgt spid="73731">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73731">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73731">
                                            <p:txEl>
                                              <p:pRg st="5" end="5"/>
                                            </p:txEl>
                                          </p:spTgt>
                                        </p:tgtEl>
                                        <p:attrNameLst>
                                          <p:attrName>style.visibility</p:attrName>
                                        </p:attrNameLst>
                                      </p:cBhvr>
                                      <p:to>
                                        <p:strVal val="visible"/>
                                      </p:to>
                                    </p:set>
                                    <p:anim calcmode="lin" valueType="num">
                                      <p:cBhvr>
                                        <p:cTn id="35" dur="1000" fill="hold"/>
                                        <p:tgtEl>
                                          <p:spTgt spid="73731">
                                            <p:txEl>
                                              <p:pRg st="5" end="5"/>
                                            </p:txEl>
                                          </p:spTgt>
                                        </p:tgtEl>
                                        <p:attrNameLst>
                                          <p:attrName>ppt_x</p:attrName>
                                        </p:attrNameLst>
                                      </p:cBhvr>
                                      <p:tavLst>
                                        <p:tav tm="0">
                                          <p:val>
                                            <p:strVal val="#ppt_x-.2"/>
                                          </p:val>
                                        </p:tav>
                                        <p:tav tm="100000">
                                          <p:val>
                                            <p:strVal val="#ppt_x"/>
                                          </p:val>
                                        </p:tav>
                                      </p:tavLst>
                                    </p:anim>
                                    <p:anim calcmode="lin" valueType="num">
                                      <p:cBhvr>
                                        <p:cTn id="36" dur="1000" fill="hold"/>
                                        <p:tgtEl>
                                          <p:spTgt spid="73731">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7373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73731">
                                            <p:txEl>
                                              <p:pRg st="6" end="6"/>
                                            </p:txEl>
                                          </p:spTgt>
                                        </p:tgtEl>
                                        <p:attrNameLst>
                                          <p:attrName>style.visibility</p:attrName>
                                        </p:attrNameLst>
                                      </p:cBhvr>
                                      <p:to>
                                        <p:strVal val="visible"/>
                                      </p:to>
                                    </p:set>
                                    <p:anim calcmode="lin" valueType="num">
                                      <p:cBhvr>
                                        <p:cTn id="42" dur="1000" fill="hold"/>
                                        <p:tgtEl>
                                          <p:spTgt spid="73731">
                                            <p:txEl>
                                              <p:pRg st="6" end="6"/>
                                            </p:txEl>
                                          </p:spTgt>
                                        </p:tgtEl>
                                        <p:attrNameLst>
                                          <p:attrName>ppt_x</p:attrName>
                                        </p:attrNameLst>
                                      </p:cBhvr>
                                      <p:tavLst>
                                        <p:tav tm="0">
                                          <p:val>
                                            <p:strVal val="#ppt_x-.2"/>
                                          </p:val>
                                        </p:tav>
                                        <p:tav tm="100000">
                                          <p:val>
                                            <p:strVal val="#ppt_x"/>
                                          </p:val>
                                        </p:tav>
                                      </p:tavLst>
                                    </p:anim>
                                    <p:anim calcmode="lin" valueType="num">
                                      <p:cBhvr>
                                        <p:cTn id="43" dur="1000" fill="hold"/>
                                        <p:tgtEl>
                                          <p:spTgt spid="7373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73731">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9" presetClass="entr" presetSubtype="0" fill="hold" nodeType="clickEffect">
                                  <p:stCondLst>
                                    <p:cond delay="0"/>
                                  </p:stCondLst>
                                  <p:childTnLst>
                                    <p:set>
                                      <p:cBhvr>
                                        <p:cTn id="48" dur="1" fill="hold">
                                          <p:stCondLst>
                                            <p:cond delay="0"/>
                                          </p:stCondLst>
                                        </p:cTn>
                                        <p:tgtEl>
                                          <p:spTgt spid="73731">
                                            <p:txEl>
                                              <p:pRg st="7" end="7"/>
                                            </p:txEl>
                                          </p:spTgt>
                                        </p:tgtEl>
                                        <p:attrNameLst>
                                          <p:attrName>style.visibility</p:attrName>
                                        </p:attrNameLst>
                                      </p:cBhvr>
                                      <p:to>
                                        <p:strVal val="visible"/>
                                      </p:to>
                                    </p:set>
                                    <p:anim calcmode="lin" valueType="num">
                                      <p:cBhvr>
                                        <p:cTn id="49" dur="1000" fill="hold"/>
                                        <p:tgtEl>
                                          <p:spTgt spid="73731">
                                            <p:txEl>
                                              <p:pRg st="7" end="7"/>
                                            </p:txEl>
                                          </p:spTgt>
                                        </p:tgtEl>
                                        <p:attrNameLst>
                                          <p:attrName>ppt_x</p:attrName>
                                        </p:attrNameLst>
                                      </p:cBhvr>
                                      <p:tavLst>
                                        <p:tav tm="0">
                                          <p:val>
                                            <p:strVal val="#ppt_x-.2"/>
                                          </p:val>
                                        </p:tav>
                                        <p:tav tm="100000">
                                          <p:val>
                                            <p:strVal val="#ppt_x"/>
                                          </p:val>
                                        </p:tav>
                                      </p:tavLst>
                                    </p:anim>
                                    <p:anim calcmode="lin" valueType="num">
                                      <p:cBhvr>
                                        <p:cTn id="50" dur="1000" fill="hold"/>
                                        <p:tgtEl>
                                          <p:spTgt spid="73731">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73731">
                                            <p:txEl>
                                              <p:pRg st="7" end="7"/>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9" presetClass="entr" presetSubtype="0" fill="hold" nodeType="clickEffect">
                                  <p:stCondLst>
                                    <p:cond delay="0"/>
                                  </p:stCondLst>
                                  <p:childTnLst>
                                    <p:set>
                                      <p:cBhvr>
                                        <p:cTn id="55" dur="1" fill="hold">
                                          <p:stCondLst>
                                            <p:cond delay="0"/>
                                          </p:stCondLst>
                                        </p:cTn>
                                        <p:tgtEl>
                                          <p:spTgt spid="73731">
                                            <p:txEl>
                                              <p:pRg st="8" end="8"/>
                                            </p:txEl>
                                          </p:spTgt>
                                        </p:tgtEl>
                                        <p:attrNameLst>
                                          <p:attrName>style.visibility</p:attrName>
                                        </p:attrNameLst>
                                      </p:cBhvr>
                                      <p:to>
                                        <p:strVal val="visible"/>
                                      </p:to>
                                    </p:set>
                                    <p:anim calcmode="lin" valueType="num">
                                      <p:cBhvr>
                                        <p:cTn id="56" dur="1000" fill="hold"/>
                                        <p:tgtEl>
                                          <p:spTgt spid="73731">
                                            <p:txEl>
                                              <p:pRg st="8" end="8"/>
                                            </p:txEl>
                                          </p:spTgt>
                                        </p:tgtEl>
                                        <p:attrNameLst>
                                          <p:attrName>ppt_x</p:attrName>
                                        </p:attrNameLst>
                                      </p:cBhvr>
                                      <p:tavLst>
                                        <p:tav tm="0">
                                          <p:val>
                                            <p:strVal val="#ppt_x-.2"/>
                                          </p:val>
                                        </p:tav>
                                        <p:tav tm="100000">
                                          <p:val>
                                            <p:strVal val="#ppt_x"/>
                                          </p:val>
                                        </p:tav>
                                      </p:tavLst>
                                    </p:anim>
                                    <p:anim calcmode="lin" valueType="num">
                                      <p:cBhvr>
                                        <p:cTn id="57" dur="1000" fill="hold"/>
                                        <p:tgtEl>
                                          <p:spTgt spid="73731">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737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578C08F6-D463-4136-A905-6F2336368FA9}"/>
              </a:ext>
            </a:extLst>
          </p:cNvPr>
          <p:cNvSpPr>
            <a:spLocks noGrp="1" noChangeArrowheads="1"/>
          </p:cNvSpPr>
          <p:nvPr>
            <p:ph type="title"/>
          </p:nvPr>
        </p:nvSpPr>
        <p:spPr/>
        <p:txBody>
          <a:bodyPr>
            <a:normAutofit/>
          </a:bodyPr>
          <a:lstStyle/>
          <a:p>
            <a:pPr>
              <a:spcBef>
                <a:spcPct val="50000"/>
              </a:spcBef>
              <a:defRPr/>
            </a:pPr>
            <a:r>
              <a:rPr kumimoji="0"/>
              <a:t>队列的应用 </a:t>
            </a:r>
          </a:p>
        </p:txBody>
      </p:sp>
      <p:sp>
        <p:nvSpPr>
          <p:cNvPr id="2" name="副标题 1">
            <a:extLst>
              <a:ext uri="{FF2B5EF4-FFF2-40B4-BE49-F238E27FC236}">
                <a16:creationId xmlns:a16="http://schemas.microsoft.com/office/drawing/2014/main" id="{142966D7-172B-4A0F-B933-8C33BDF4DEA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5F225FF-8545-4355-BE66-BF8309D64F5F}"/>
              </a:ext>
            </a:extLst>
          </p:cNvPr>
          <p:cNvSpPr>
            <a:spLocks noGrp="1"/>
          </p:cNvSpPr>
          <p:nvPr>
            <p:ph type="body" idx="10"/>
          </p:nvPr>
        </p:nvSpPr>
        <p:spPr/>
        <p:txBody>
          <a:bodyPr/>
          <a:lstStyle/>
          <a:p>
            <a:endParaRPr lang="zh-CN" altLang="en-US"/>
          </a:p>
        </p:txBody>
      </p:sp>
      <p:sp>
        <p:nvSpPr>
          <p:cNvPr id="65539" name="Rectangle 3">
            <a:extLst>
              <a:ext uri="{FF2B5EF4-FFF2-40B4-BE49-F238E27FC236}">
                <a16:creationId xmlns:a16="http://schemas.microsoft.com/office/drawing/2014/main" id="{A77803F9-30B8-4B14-91EF-0819E73BD313}"/>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满足</a:t>
            </a:r>
            <a:r>
              <a:rPr lang="zh-CN" altLang="zh-CN" sz="2800" dirty="0">
                <a:solidFill>
                  <a:srgbClr val="0000FF"/>
                </a:solidFill>
                <a:latin typeface="Microsoft YaHei Light" panose="020B0502040204020203" pitchFamily="34" charset="-122"/>
                <a:ea typeface="Microsoft YaHei Light" panose="020B0502040204020203" pitchFamily="34" charset="-122"/>
              </a:rPr>
              <a:t>先来先服务特性</a:t>
            </a:r>
            <a:r>
              <a:rPr lang="zh-CN" altLang="zh-CN" sz="2800" dirty="0">
                <a:latin typeface="Microsoft YaHei Light" panose="020B0502040204020203" pitchFamily="34" charset="-122"/>
                <a:ea typeface="Microsoft YaHei Light" panose="020B0502040204020203" pitchFamily="34" charset="-122"/>
              </a:rPr>
              <a:t>的应用均可采用队列作为其数据组织方式或中间数据结构</a:t>
            </a:r>
            <a:endParaRPr lang="en-US" altLang="zh-CN" sz="2800"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sz="2800" b="1" dirty="0">
                <a:latin typeface="Microsoft YaHei Light" panose="020B0502040204020203" pitchFamily="34" charset="-122"/>
                <a:ea typeface="Microsoft YaHei Light" panose="020B0502040204020203" pitchFamily="34" charset="-122"/>
              </a:rPr>
              <a:t>调度或缓冲</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消息缓冲器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邮件缓冲器 </a:t>
            </a:r>
          </a:p>
          <a:p>
            <a:pPr marL="714375" lvl="1" indent="-369888">
              <a:lnSpc>
                <a:spcPct val="110000"/>
              </a:lnSpc>
              <a:spcBef>
                <a:spcPts val="600"/>
              </a:spcBef>
              <a:buClr>
                <a:srgbClr val="CC3300"/>
              </a:buClr>
            </a:pPr>
            <a:r>
              <a:rPr lang="zh-CN" altLang="en-US" sz="2800" dirty="0">
                <a:latin typeface="Microsoft YaHei Light" panose="020B0502040204020203" pitchFamily="34" charset="-122"/>
                <a:ea typeface="Microsoft YaHei Light" panose="020B0502040204020203" pitchFamily="34" charset="-122"/>
              </a:rPr>
              <a:t>数据缓冲</a:t>
            </a:r>
            <a:r>
              <a:rPr lang="zh-CN" altLang="zh-CN" sz="2800" dirty="0">
                <a:latin typeface="Microsoft YaHei Light" panose="020B0502040204020203" pitchFamily="34" charset="-122"/>
                <a:ea typeface="Microsoft YaHei Light" panose="020B0502040204020203" pitchFamily="34" charset="-122"/>
              </a:rPr>
              <a:t>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计算机的硬</a:t>
            </a:r>
            <a:r>
              <a:rPr lang="zh-CN" altLang="en-US" sz="2800" dirty="0">
                <a:latin typeface="Microsoft YaHei Light" panose="020B0502040204020203" pitchFamily="34" charset="-122"/>
                <a:ea typeface="Microsoft YaHei Light" panose="020B0502040204020203" pitchFamily="34" charset="-122"/>
              </a:rPr>
              <a:t>件</a:t>
            </a:r>
            <a:r>
              <a:rPr lang="zh-CN" altLang="zh-CN" sz="2800" dirty="0">
                <a:latin typeface="Microsoft YaHei Light" panose="020B0502040204020203" pitchFamily="34" charset="-122"/>
                <a:ea typeface="Microsoft YaHei Light" panose="020B0502040204020203" pitchFamily="34" charset="-122"/>
              </a:rPr>
              <a:t>设备间通信也需要队列作为数据缓冲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操作系统的资源管理</a:t>
            </a:r>
            <a:endParaRPr lang="en-US" altLang="zh-CN" sz="2800"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sz="2800" b="1" dirty="0">
                <a:latin typeface="Microsoft YaHei Light" panose="020B0502040204020203" pitchFamily="34" charset="-122"/>
                <a:ea typeface="Microsoft YaHei Light" panose="020B0502040204020203" pitchFamily="34" charset="-122"/>
              </a:rPr>
              <a:t>宽度优先搜索</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dirty="0" err="1"/>
              <a:t>队列应用</a:t>
            </a:r>
            <a:r>
              <a:rPr kumimoji="0" dirty="0"/>
              <a:t>：</a:t>
            </a:r>
            <a:r>
              <a:rPr kumimoji="0" lang="zh-CN" altLang="en-US" dirty="0"/>
              <a:t>约瑟夫环问题</a:t>
            </a:r>
            <a:endParaRPr dirty="0"/>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xfrm>
            <a:off x="584225" y="1276351"/>
            <a:ext cx="11055325" cy="2152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问题描述：</a:t>
            </a:r>
            <a:endParaRPr lang="en-US" altLang="zh-CN" sz="26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r>
              <a:rPr lang="en-US" altLang="zh-CN" sz="2600" dirty="0">
                <a:latin typeface="Microsoft YaHei Light" panose="020B0502040204020203" pitchFamily="34" charset="-122"/>
                <a:ea typeface="Microsoft YaHei Light" panose="020B0502040204020203" pitchFamily="34" charset="-122"/>
              </a:rPr>
              <a:t>       	</a:t>
            </a:r>
            <a:r>
              <a:rPr lang="zh-CN" altLang="en-US" dirty="0">
                <a:latin typeface="Microsoft YaHei Light" panose="020B0502040204020203" pitchFamily="34" charset="-122"/>
                <a:ea typeface="Microsoft YaHei Light" panose="020B0502040204020203" pitchFamily="34" charset="-122"/>
              </a:rPr>
              <a:t>编号为</a:t>
            </a:r>
            <a:r>
              <a:rPr lang="en-US" altLang="zh-CN" dirty="0">
                <a:latin typeface="Microsoft YaHei Light" panose="020B0502040204020203" pitchFamily="34" charset="-122"/>
                <a:ea typeface="Microsoft YaHei Light" panose="020B0502040204020203" pitchFamily="34" charset="-122"/>
              </a:rPr>
              <a:t>1, 2, …, n</a:t>
            </a:r>
            <a:r>
              <a:rPr lang="zh-CN" altLang="en-US" dirty="0">
                <a:latin typeface="Microsoft YaHei Light" panose="020B0502040204020203" pitchFamily="34" charset="-122"/>
                <a:ea typeface="Microsoft YaHei Light" panose="020B0502040204020203" pitchFamily="34" charset="-122"/>
              </a:rPr>
              <a:t>的</a:t>
            </a:r>
            <a:r>
              <a:rPr lang="en-US" altLang="zh-CN" dirty="0">
                <a:latin typeface="Microsoft YaHei Light" panose="020B0502040204020203" pitchFamily="34" charset="-122"/>
                <a:ea typeface="Microsoft YaHei Light" panose="020B0502040204020203" pitchFamily="34" charset="-122"/>
              </a:rPr>
              <a:t>n</a:t>
            </a:r>
            <a:r>
              <a:rPr lang="zh-CN" altLang="en-US" dirty="0">
                <a:latin typeface="Microsoft YaHei Light" panose="020B0502040204020203" pitchFamily="34" charset="-122"/>
                <a:ea typeface="Microsoft YaHei Light" panose="020B0502040204020203" pitchFamily="34" charset="-122"/>
              </a:rPr>
              <a:t>个人围成一圈，从编号</a:t>
            </a:r>
            <a:r>
              <a:rPr lang="en-US" altLang="zh-CN" dirty="0">
                <a:latin typeface="Microsoft YaHei Light" panose="020B0502040204020203" pitchFamily="34" charset="-122"/>
                <a:ea typeface="Microsoft YaHei Light" panose="020B0502040204020203" pitchFamily="34" charset="-122"/>
              </a:rPr>
              <a:t>1</a:t>
            </a:r>
            <a:r>
              <a:rPr lang="zh-CN" altLang="en-US" dirty="0">
                <a:latin typeface="Microsoft YaHei Light" panose="020B0502040204020203" pitchFamily="34" charset="-122"/>
                <a:ea typeface="Microsoft YaHei Light" panose="020B0502040204020203" pitchFamily="34" charset="-122"/>
              </a:rPr>
              <a:t>的人开始报数，数到</a:t>
            </a:r>
            <a:r>
              <a:rPr lang="en-US" altLang="zh-CN" dirty="0">
                <a:latin typeface="Microsoft YaHei Light" panose="020B0502040204020203" pitchFamily="34" charset="-122"/>
                <a:ea typeface="Microsoft YaHei Light" panose="020B0502040204020203" pitchFamily="34" charset="-122"/>
              </a:rPr>
              <a:t>m</a:t>
            </a:r>
            <a:r>
              <a:rPr lang="zh-CN" altLang="en-US" dirty="0">
                <a:latin typeface="Microsoft YaHei Light" panose="020B0502040204020203" pitchFamily="34" charset="-122"/>
                <a:ea typeface="Microsoft YaHei Light" panose="020B0502040204020203" pitchFamily="34" charset="-122"/>
              </a:rPr>
              <a:t>的人出圈，然后下一个人重新开始报数，直到所有人出圈为止，求依次出圈的人的编号。</a:t>
            </a:r>
            <a:endParaRPr lang="en-US" altLang="zh-CN" sz="2600" dirty="0">
              <a:latin typeface="Microsoft YaHei Light" panose="020B0502040204020203" pitchFamily="34" charset="-122"/>
              <a:ea typeface="Microsoft YaHei Light" panose="020B0502040204020203" pitchFamily="34" charset="-122"/>
            </a:endParaRPr>
          </a:p>
        </p:txBody>
      </p:sp>
      <p:grpSp>
        <p:nvGrpSpPr>
          <p:cNvPr id="13" name="组合 12">
            <a:extLst>
              <a:ext uri="{FF2B5EF4-FFF2-40B4-BE49-F238E27FC236}">
                <a16:creationId xmlns:a16="http://schemas.microsoft.com/office/drawing/2014/main" id="{F340BEA0-F720-4C47-94BA-FE55CE6CB739}"/>
              </a:ext>
            </a:extLst>
          </p:cNvPr>
          <p:cNvGrpSpPr/>
          <p:nvPr/>
        </p:nvGrpSpPr>
        <p:grpSpPr>
          <a:xfrm>
            <a:off x="671648" y="3446616"/>
            <a:ext cx="1620476" cy="1629528"/>
            <a:chOff x="1395928" y="3292712"/>
            <a:chExt cx="1620476" cy="1629528"/>
          </a:xfrm>
        </p:grpSpPr>
        <p:sp>
          <p:nvSpPr>
            <p:cNvPr id="6" name="椭圆 5">
              <a:extLst>
                <a:ext uri="{FF2B5EF4-FFF2-40B4-BE49-F238E27FC236}">
                  <a16:creationId xmlns:a16="http://schemas.microsoft.com/office/drawing/2014/main" id="{5A5EEC40-3B73-4BBA-95A8-C9FDE3A11331}"/>
                </a:ext>
              </a:extLst>
            </p:cNvPr>
            <p:cNvSpPr/>
            <p:nvPr/>
          </p:nvSpPr>
          <p:spPr>
            <a:xfrm>
              <a:off x="1482617" y="3429000"/>
              <a:ext cx="1493240" cy="149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234200AA-A6E0-461C-8EEE-A8F75C83F0BF}"/>
                </a:ext>
              </a:extLst>
            </p:cNvPr>
            <p:cNvSpPr/>
            <p:nvPr/>
          </p:nvSpPr>
          <p:spPr>
            <a:xfrm>
              <a:off x="2090818" y="3292712"/>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椭圆 6">
              <a:extLst>
                <a:ext uri="{FF2B5EF4-FFF2-40B4-BE49-F238E27FC236}">
                  <a16:creationId xmlns:a16="http://schemas.microsoft.com/office/drawing/2014/main" id="{76F33DCC-4786-456D-A615-8249BE9D638B}"/>
                </a:ext>
              </a:extLst>
            </p:cNvPr>
            <p:cNvSpPr/>
            <p:nvPr/>
          </p:nvSpPr>
          <p:spPr>
            <a:xfrm>
              <a:off x="2739567"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8" name="椭圆 7">
              <a:extLst>
                <a:ext uri="{FF2B5EF4-FFF2-40B4-BE49-F238E27FC236}">
                  <a16:creationId xmlns:a16="http://schemas.microsoft.com/office/drawing/2014/main" id="{720C3C5E-71AB-4448-950C-8998BCA42936}"/>
                </a:ext>
              </a:extLst>
            </p:cNvPr>
            <p:cNvSpPr/>
            <p:nvPr/>
          </p:nvSpPr>
          <p:spPr>
            <a:xfrm>
              <a:off x="2566260" y="4579772"/>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9" name="椭圆 8">
              <a:extLst>
                <a:ext uri="{FF2B5EF4-FFF2-40B4-BE49-F238E27FC236}">
                  <a16:creationId xmlns:a16="http://schemas.microsoft.com/office/drawing/2014/main" id="{BB54CAC7-A5BD-4D05-BC4F-074BC85A747A}"/>
                </a:ext>
              </a:extLst>
            </p:cNvPr>
            <p:cNvSpPr/>
            <p:nvPr/>
          </p:nvSpPr>
          <p:spPr>
            <a:xfrm>
              <a:off x="1607752" y="4562994"/>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10" name="椭圆 9">
              <a:extLst>
                <a:ext uri="{FF2B5EF4-FFF2-40B4-BE49-F238E27FC236}">
                  <a16:creationId xmlns:a16="http://schemas.microsoft.com/office/drawing/2014/main" id="{5F3697B2-74C6-41AA-8A01-061E0155C84A}"/>
                </a:ext>
              </a:extLst>
            </p:cNvPr>
            <p:cNvSpPr/>
            <p:nvPr/>
          </p:nvSpPr>
          <p:spPr>
            <a:xfrm>
              <a:off x="1395928"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grpSp>
      <p:sp>
        <p:nvSpPr>
          <p:cNvPr id="11" name="文本框 10">
            <a:extLst>
              <a:ext uri="{FF2B5EF4-FFF2-40B4-BE49-F238E27FC236}">
                <a16:creationId xmlns:a16="http://schemas.microsoft.com/office/drawing/2014/main" id="{95352550-FF32-41D2-B9AE-9A9CC9BC271F}"/>
              </a:ext>
            </a:extLst>
          </p:cNvPr>
          <p:cNvSpPr txBox="1"/>
          <p:nvPr/>
        </p:nvSpPr>
        <p:spPr>
          <a:xfrm>
            <a:off x="1021890" y="2994875"/>
            <a:ext cx="1066318" cy="369332"/>
          </a:xfrm>
          <a:prstGeom prst="rect">
            <a:avLst/>
          </a:prstGeom>
          <a:noFill/>
        </p:spPr>
        <p:txBody>
          <a:bodyPr wrap="none" rtlCol="0">
            <a:spAutoFit/>
          </a:bodyPr>
          <a:lstStyle/>
          <a:p>
            <a:r>
              <a:rPr lang="en-US" altLang="zh-CN" dirty="0">
                <a:solidFill>
                  <a:srgbClr val="FF0000"/>
                </a:solidFill>
              </a:rPr>
              <a:t>n=5,</a:t>
            </a:r>
            <a:r>
              <a:rPr lang="zh-CN" altLang="en-US" dirty="0">
                <a:solidFill>
                  <a:srgbClr val="FF0000"/>
                </a:solidFill>
              </a:rPr>
              <a:t> </a:t>
            </a:r>
            <a:r>
              <a:rPr lang="en-US" altLang="zh-CN" dirty="0">
                <a:solidFill>
                  <a:srgbClr val="FF0000"/>
                </a:solidFill>
              </a:rPr>
              <a:t>m=3</a:t>
            </a:r>
            <a:endParaRPr lang="zh-CN" altLang="en-US" dirty="0">
              <a:solidFill>
                <a:srgbClr val="FF0000"/>
              </a:solidFill>
            </a:endParaRPr>
          </a:p>
        </p:txBody>
      </p:sp>
      <p:sp>
        <p:nvSpPr>
          <p:cNvPr id="12" name="文本框 11">
            <a:extLst>
              <a:ext uri="{FF2B5EF4-FFF2-40B4-BE49-F238E27FC236}">
                <a16:creationId xmlns:a16="http://schemas.microsoft.com/office/drawing/2014/main" id="{AFFE22A7-32DE-416A-BCC1-476498060696}"/>
              </a:ext>
            </a:extLst>
          </p:cNvPr>
          <p:cNvSpPr txBox="1"/>
          <p:nvPr/>
        </p:nvSpPr>
        <p:spPr>
          <a:xfrm>
            <a:off x="1367337" y="3690830"/>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14" name="文本框 13">
            <a:extLst>
              <a:ext uri="{FF2B5EF4-FFF2-40B4-BE49-F238E27FC236}">
                <a16:creationId xmlns:a16="http://schemas.microsoft.com/office/drawing/2014/main" id="{4FA7F2A7-1DF8-43A1-A766-49029BFE843D}"/>
              </a:ext>
            </a:extLst>
          </p:cNvPr>
          <p:cNvSpPr txBox="1"/>
          <p:nvPr/>
        </p:nvSpPr>
        <p:spPr>
          <a:xfrm>
            <a:off x="1816929" y="4012029"/>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15" name="文本框 14">
            <a:extLst>
              <a:ext uri="{FF2B5EF4-FFF2-40B4-BE49-F238E27FC236}">
                <a16:creationId xmlns:a16="http://schemas.microsoft.com/office/drawing/2014/main" id="{75B688B7-B47E-4072-A7E6-7D8322C26FCA}"/>
              </a:ext>
            </a:extLst>
          </p:cNvPr>
          <p:cNvSpPr txBox="1"/>
          <p:nvPr/>
        </p:nvSpPr>
        <p:spPr>
          <a:xfrm>
            <a:off x="1678910" y="4531307"/>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17" name="椭圆 16">
            <a:extLst>
              <a:ext uri="{FF2B5EF4-FFF2-40B4-BE49-F238E27FC236}">
                <a16:creationId xmlns:a16="http://schemas.microsoft.com/office/drawing/2014/main" id="{B3F11D85-B791-4F88-8040-F9920C1188EE}"/>
              </a:ext>
            </a:extLst>
          </p:cNvPr>
          <p:cNvSpPr/>
          <p:nvPr/>
        </p:nvSpPr>
        <p:spPr>
          <a:xfrm>
            <a:off x="1841979" y="4736318"/>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3</a:t>
            </a:r>
            <a:endParaRPr lang="zh-CN" altLang="en-US" dirty="0"/>
          </a:p>
        </p:txBody>
      </p:sp>
      <p:grpSp>
        <p:nvGrpSpPr>
          <p:cNvPr id="18" name="组合 17">
            <a:extLst>
              <a:ext uri="{FF2B5EF4-FFF2-40B4-BE49-F238E27FC236}">
                <a16:creationId xmlns:a16="http://schemas.microsoft.com/office/drawing/2014/main" id="{DA11D1A8-D61A-4F13-A834-1A26E2EFC566}"/>
              </a:ext>
            </a:extLst>
          </p:cNvPr>
          <p:cNvGrpSpPr/>
          <p:nvPr/>
        </p:nvGrpSpPr>
        <p:grpSpPr>
          <a:xfrm>
            <a:off x="2934472" y="3467912"/>
            <a:ext cx="1620476" cy="1629528"/>
            <a:chOff x="1395928" y="3292712"/>
            <a:chExt cx="1620476" cy="1629528"/>
          </a:xfrm>
        </p:grpSpPr>
        <p:sp>
          <p:nvSpPr>
            <p:cNvPr id="19" name="椭圆 18">
              <a:extLst>
                <a:ext uri="{FF2B5EF4-FFF2-40B4-BE49-F238E27FC236}">
                  <a16:creationId xmlns:a16="http://schemas.microsoft.com/office/drawing/2014/main" id="{CF61E621-8A27-46E4-87B4-8C3BF90DBE9F}"/>
                </a:ext>
              </a:extLst>
            </p:cNvPr>
            <p:cNvSpPr/>
            <p:nvPr/>
          </p:nvSpPr>
          <p:spPr>
            <a:xfrm>
              <a:off x="1482617" y="3429000"/>
              <a:ext cx="1493240" cy="149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8AC3D0C-432B-4894-B640-FF0CE6BFFA9D}"/>
                </a:ext>
              </a:extLst>
            </p:cNvPr>
            <p:cNvSpPr/>
            <p:nvPr/>
          </p:nvSpPr>
          <p:spPr>
            <a:xfrm>
              <a:off x="2090818" y="3292712"/>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1" name="椭圆 20">
              <a:extLst>
                <a:ext uri="{FF2B5EF4-FFF2-40B4-BE49-F238E27FC236}">
                  <a16:creationId xmlns:a16="http://schemas.microsoft.com/office/drawing/2014/main" id="{4B67CD79-5458-4976-B0B9-DCBF7BC029AC}"/>
                </a:ext>
              </a:extLst>
            </p:cNvPr>
            <p:cNvSpPr/>
            <p:nvPr/>
          </p:nvSpPr>
          <p:spPr>
            <a:xfrm>
              <a:off x="2739567"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2" name="椭圆 21">
              <a:extLst>
                <a:ext uri="{FF2B5EF4-FFF2-40B4-BE49-F238E27FC236}">
                  <a16:creationId xmlns:a16="http://schemas.microsoft.com/office/drawing/2014/main" id="{261BA495-183B-4F6F-83ED-DE49D557C943}"/>
                </a:ext>
              </a:extLst>
            </p:cNvPr>
            <p:cNvSpPr/>
            <p:nvPr/>
          </p:nvSpPr>
          <p:spPr>
            <a:xfrm>
              <a:off x="2566260" y="457977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3</a:t>
              </a:r>
              <a:endParaRPr lang="zh-CN" altLang="en-US" dirty="0"/>
            </a:p>
          </p:txBody>
        </p:sp>
        <p:sp>
          <p:nvSpPr>
            <p:cNvPr id="23" name="椭圆 22">
              <a:extLst>
                <a:ext uri="{FF2B5EF4-FFF2-40B4-BE49-F238E27FC236}">
                  <a16:creationId xmlns:a16="http://schemas.microsoft.com/office/drawing/2014/main" id="{8E9F30A5-EEC9-4DC1-98EF-CAA5C4C5C355}"/>
                </a:ext>
              </a:extLst>
            </p:cNvPr>
            <p:cNvSpPr/>
            <p:nvPr/>
          </p:nvSpPr>
          <p:spPr>
            <a:xfrm>
              <a:off x="1607752" y="4562994"/>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椭圆 23">
              <a:extLst>
                <a:ext uri="{FF2B5EF4-FFF2-40B4-BE49-F238E27FC236}">
                  <a16:creationId xmlns:a16="http://schemas.microsoft.com/office/drawing/2014/main" id="{4E6C4F8C-CAFC-4320-A5DD-0C18B1CDFC59}"/>
                </a:ext>
              </a:extLst>
            </p:cNvPr>
            <p:cNvSpPr/>
            <p:nvPr/>
          </p:nvSpPr>
          <p:spPr>
            <a:xfrm>
              <a:off x="1395928"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grpSp>
      <p:sp>
        <p:nvSpPr>
          <p:cNvPr id="25" name="文本框 24">
            <a:extLst>
              <a:ext uri="{FF2B5EF4-FFF2-40B4-BE49-F238E27FC236}">
                <a16:creationId xmlns:a16="http://schemas.microsoft.com/office/drawing/2014/main" id="{E2B53090-F433-45E4-9D18-1EA8AB0055A6}"/>
              </a:ext>
            </a:extLst>
          </p:cNvPr>
          <p:cNvSpPr txBox="1"/>
          <p:nvPr/>
        </p:nvSpPr>
        <p:spPr>
          <a:xfrm>
            <a:off x="3305204" y="4546811"/>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26" name="文本框 25">
            <a:extLst>
              <a:ext uri="{FF2B5EF4-FFF2-40B4-BE49-F238E27FC236}">
                <a16:creationId xmlns:a16="http://schemas.microsoft.com/office/drawing/2014/main" id="{9C291C3A-0065-4376-AA31-148E85B934B1}"/>
              </a:ext>
            </a:extLst>
          </p:cNvPr>
          <p:cNvSpPr txBox="1"/>
          <p:nvPr/>
        </p:nvSpPr>
        <p:spPr>
          <a:xfrm>
            <a:off x="3179190" y="3996182"/>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27" name="文本框 26">
            <a:extLst>
              <a:ext uri="{FF2B5EF4-FFF2-40B4-BE49-F238E27FC236}">
                <a16:creationId xmlns:a16="http://schemas.microsoft.com/office/drawing/2014/main" id="{8EFE9B96-79E4-4F01-90A4-146EDBAAF9AE}"/>
              </a:ext>
            </a:extLst>
          </p:cNvPr>
          <p:cNvSpPr txBox="1"/>
          <p:nvPr/>
        </p:nvSpPr>
        <p:spPr>
          <a:xfrm>
            <a:off x="3650435" y="3703449"/>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29" name="椭圆 28">
            <a:extLst>
              <a:ext uri="{FF2B5EF4-FFF2-40B4-BE49-F238E27FC236}">
                <a16:creationId xmlns:a16="http://schemas.microsoft.com/office/drawing/2014/main" id="{CDB89991-DAE0-46C1-A0C0-00BA3856592A}"/>
              </a:ext>
            </a:extLst>
          </p:cNvPr>
          <p:cNvSpPr/>
          <p:nvPr/>
        </p:nvSpPr>
        <p:spPr>
          <a:xfrm>
            <a:off x="3631110" y="3469893"/>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1</a:t>
            </a:r>
            <a:endParaRPr lang="zh-CN" altLang="en-US" dirty="0"/>
          </a:p>
        </p:txBody>
      </p:sp>
      <p:grpSp>
        <p:nvGrpSpPr>
          <p:cNvPr id="30" name="组合 29">
            <a:extLst>
              <a:ext uri="{FF2B5EF4-FFF2-40B4-BE49-F238E27FC236}">
                <a16:creationId xmlns:a16="http://schemas.microsoft.com/office/drawing/2014/main" id="{4B7DB754-9CA9-473E-BE3C-3C54F5AEE31A}"/>
              </a:ext>
            </a:extLst>
          </p:cNvPr>
          <p:cNvGrpSpPr/>
          <p:nvPr/>
        </p:nvGrpSpPr>
        <p:grpSpPr>
          <a:xfrm>
            <a:off x="5231097" y="3520320"/>
            <a:ext cx="1620476" cy="1629528"/>
            <a:chOff x="1395928" y="3292712"/>
            <a:chExt cx="1620476" cy="1629528"/>
          </a:xfrm>
        </p:grpSpPr>
        <p:sp>
          <p:nvSpPr>
            <p:cNvPr id="31" name="椭圆 30">
              <a:extLst>
                <a:ext uri="{FF2B5EF4-FFF2-40B4-BE49-F238E27FC236}">
                  <a16:creationId xmlns:a16="http://schemas.microsoft.com/office/drawing/2014/main" id="{3F39EBD8-1243-432A-8742-A7718C06354C}"/>
                </a:ext>
              </a:extLst>
            </p:cNvPr>
            <p:cNvSpPr/>
            <p:nvPr/>
          </p:nvSpPr>
          <p:spPr>
            <a:xfrm>
              <a:off x="1482617" y="3429000"/>
              <a:ext cx="1493240" cy="149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B9F926E2-D0B0-4E16-AE72-978D32DB6411}"/>
                </a:ext>
              </a:extLst>
            </p:cNvPr>
            <p:cNvSpPr/>
            <p:nvPr/>
          </p:nvSpPr>
          <p:spPr>
            <a:xfrm>
              <a:off x="2090818" y="329271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1</a:t>
              </a:r>
              <a:endParaRPr lang="zh-CN" altLang="en-US" dirty="0"/>
            </a:p>
          </p:txBody>
        </p:sp>
        <p:sp>
          <p:nvSpPr>
            <p:cNvPr id="33" name="椭圆 32">
              <a:extLst>
                <a:ext uri="{FF2B5EF4-FFF2-40B4-BE49-F238E27FC236}">
                  <a16:creationId xmlns:a16="http://schemas.microsoft.com/office/drawing/2014/main" id="{24428090-F4F8-40F6-B7EE-E2C3DD47B28C}"/>
                </a:ext>
              </a:extLst>
            </p:cNvPr>
            <p:cNvSpPr/>
            <p:nvPr/>
          </p:nvSpPr>
          <p:spPr>
            <a:xfrm>
              <a:off x="2739567"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4" name="椭圆 33">
              <a:extLst>
                <a:ext uri="{FF2B5EF4-FFF2-40B4-BE49-F238E27FC236}">
                  <a16:creationId xmlns:a16="http://schemas.microsoft.com/office/drawing/2014/main" id="{0FCCD800-730C-472B-A1F6-327CDC71101B}"/>
                </a:ext>
              </a:extLst>
            </p:cNvPr>
            <p:cNvSpPr/>
            <p:nvPr/>
          </p:nvSpPr>
          <p:spPr>
            <a:xfrm>
              <a:off x="2566260" y="457977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3</a:t>
              </a:r>
              <a:endParaRPr lang="zh-CN" altLang="en-US" dirty="0"/>
            </a:p>
          </p:txBody>
        </p:sp>
        <p:sp>
          <p:nvSpPr>
            <p:cNvPr id="35" name="椭圆 34">
              <a:extLst>
                <a:ext uri="{FF2B5EF4-FFF2-40B4-BE49-F238E27FC236}">
                  <a16:creationId xmlns:a16="http://schemas.microsoft.com/office/drawing/2014/main" id="{3E180D3C-0C98-4CDC-8A35-D5AE71162153}"/>
                </a:ext>
              </a:extLst>
            </p:cNvPr>
            <p:cNvSpPr/>
            <p:nvPr/>
          </p:nvSpPr>
          <p:spPr>
            <a:xfrm>
              <a:off x="1607752" y="4562994"/>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36" name="椭圆 35">
              <a:extLst>
                <a:ext uri="{FF2B5EF4-FFF2-40B4-BE49-F238E27FC236}">
                  <a16:creationId xmlns:a16="http://schemas.microsoft.com/office/drawing/2014/main" id="{68C63199-C1D5-4C42-867D-E0ED061922B9}"/>
                </a:ext>
              </a:extLst>
            </p:cNvPr>
            <p:cNvSpPr/>
            <p:nvPr/>
          </p:nvSpPr>
          <p:spPr>
            <a:xfrm>
              <a:off x="1395928"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grpSp>
      <p:sp>
        <p:nvSpPr>
          <p:cNvPr id="37" name="文本框 36">
            <a:extLst>
              <a:ext uri="{FF2B5EF4-FFF2-40B4-BE49-F238E27FC236}">
                <a16:creationId xmlns:a16="http://schemas.microsoft.com/office/drawing/2014/main" id="{B28BD5B8-96B5-4E4E-892E-9FA6B19C9212}"/>
              </a:ext>
            </a:extLst>
          </p:cNvPr>
          <p:cNvSpPr txBox="1"/>
          <p:nvPr/>
        </p:nvSpPr>
        <p:spPr>
          <a:xfrm>
            <a:off x="6359937" y="4027307"/>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38" name="文本框 37">
            <a:extLst>
              <a:ext uri="{FF2B5EF4-FFF2-40B4-BE49-F238E27FC236}">
                <a16:creationId xmlns:a16="http://schemas.microsoft.com/office/drawing/2014/main" id="{CC6BF75D-8404-4036-AAC8-48EDA708B029}"/>
              </a:ext>
            </a:extLst>
          </p:cNvPr>
          <p:cNvSpPr txBox="1"/>
          <p:nvPr/>
        </p:nvSpPr>
        <p:spPr>
          <a:xfrm>
            <a:off x="5646536" y="4623177"/>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39" name="文本框 38">
            <a:extLst>
              <a:ext uri="{FF2B5EF4-FFF2-40B4-BE49-F238E27FC236}">
                <a16:creationId xmlns:a16="http://schemas.microsoft.com/office/drawing/2014/main" id="{0A718CCF-CBC2-4922-9FC0-64C39F7E6958}"/>
              </a:ext>
            </a:extLst>
          </p:cNvPr>
          <p:cNvSpPr txBox="1"/>
          <p:nvPr/>
        </p:nvSpPr>
        <p:spPr>
          <a:xfrm>
            <a:off x="5456604" y="4021529"/>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41" name="椭圆 40">
            <a:extLst>
              <a:ext uri="{FF2B5EF4-FFF2-40B4-BE49-F238E27FC236}">
                <a16:creationId xmlns:a16="http://schemas.microsoft.com/office/drawing/2014/main" id="{9195A9A4-22E2-47AB-A696-3373EC3FC7AF}"/>
              </a:ext>
            </a:extLst>
          </p:cNvPr>
          <p:cNvSpPr/>
          <p:nvPr/>
        </p:nvSpPr>
        <p:spPr>
          <a:xfrm>
            <a:off x="5233532" y="4011101"/>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5</a:t>
            </a:r>
            <a:endParaRPr lang="zh-CN" altLang="en-US" dirty="0"/>
          </a:p>
        </p:txBody>
      </p:sp>
      <p:grpSp>
        <p:nvGrpSpPr>
          <p:cNvPr id="53" name="组合 52">
            <a:extLst>
              <a:ext uri="{FF2B5EF4-FFF2-40B4-BE49-F238E27FC236}">
                <a16:creationId xmlns:a16="http://schemas.microsoft.com/office/drawing/2014/main" id="{BD006B64-A32F-45DA-90B7-460BB4AF76A6}"/>
              </a:ext>
            </a:extLst>
          </p:cNvPr>
          <p:cNvGrpSpPr/>
          <p:nvPr/>
        </p:nvGrpSpPr>
        <p:grpSpPr>
          <a:xfrm>
            <a:off x="7491065" y="3522526"/>
            <a:ext cx="1620476" cy="1629528"/>
            <a:chOff x="1395928" y="3292712"/>
            <a:chExt cx="1620476" cy="1629528"/>
          </a:xfrm>
        </p:grpSpPr>
        <p:sp>
          <p:nvSpPr>
            <p:cNvPr id="54" name="椭圆 53">
              <a:extLst>
                <a:ext uri="{FF2B5EF4-FFF2-40B4-BE49-F238E27FC236}">
                  <a16:creationId xmlns:a16="http://schemas.microsoft.com/office/drawing/2014/main" id="{1D0843F8-849C-4F98-B29D-92DAAE5EA6E9}"/>
                </a:ext>
              </a:extLst>
            </p:cNvPr>
            <p:cNvSpPr/>
            <p:nvPr/>
          </p:nvSpPr>
          <p:spPr>
            <a:xfrm>
              <a:off x="1482617" y="3429000"/>
              <a:ext cx="1493240" cy="149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8C0366F2-6EE4-4EB1-9961-842AAD338476}"/>
                </a:ext>
              </a:extLst>
            </p:cNvPr>
            <p:cNvSpPr/>
            <p:nvPr/>
          </p:nvSpPr>
          <p:spPr>
            <a:xfrm>
              <a:off x="2090818" y="329271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1</a:t>
              </a:r>
              <a:endParaRPr lang="zh-CN" altLang="en-US" dirty="0"/>
            </a:p>
          </p:txBody>
        </p:sp>
        <p:sp>
          <p:nvSpPr>
            <p:cNvPr id="56" name="椭圆 55">
              <a:extLst>
                <a:ext uri="{FF2B5EF4-FFF2-40B4-BE49-F238E27FC236}">
                  <a16:creationId xmlns:a16="http://schemas.microsoft.com/office/drawing/2014/main" id="{03FB5B9E-8DAD-4A57-83FD-57E338215D98}"/>
                </a:ext>
              </a:extLst>
            </p:cNvPr>
            <p:cNvSpPr/>
            <p:nvPr/>
          </p:nvSpPr>
          <p:spPr>
            <a:xfrm>
              <a:off x="2739567" y="3783657"/>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7" name="椭圆 56">
              <a:extLst>
                <a:ext uri="{FF2B5EF4-FFF2-40B4-BE49-F238E27FC236}">
                  <a16:creationId xmlns:a16="http://schemas.microsoft.com/office/drawing/2014/main" id="{252B4158-BF44-40F4-B567-651581DE9DF8}"/>
                </a:ext>
              </a:extLst>
            </p:cNvPr>
            <p:cNvSpPr/>
            <p:nvPr/>
          </p:nvSpPr>
          <p:spPr>
            <a:xfrm>
              <a:off x="2566260" y="457977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3</a:t>
              </a:r>
              <a:endParaRPr lang="zh-CN" altLang="en-US" dirty="0"/>
            </a:p>
          </p:txBody>
        </p:sp>
        <p:sp>
          <p:nvSpPr>
            <p:cNvPr id="58" name="椭圆 57">
              <a:extLst>
                <a:ext uri="{FF2B5EF4-FFF2-40B4-BE49-F238E27FC236}">
                  <a16:creationId xmlns:a16="http://schemas.microsoft.com/office/drawing/2014/main" id="{657805ED-34A7-4B7E-AC39-2581E7678612}"/>
                </a:ext>
              </a:extLst>
            </p:cNvPr>
            <p:cNvSpPr/>
            <p:nvPr/>
          </p:nvSpPr>
          <p:spPr>
            <a:xfrm>
              <a:off x="1607752" y="4562994"/>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59" name="椭圆 58">
              <a:extLst>
                <a:ext uri="{FF2B5EF4-FFF2-40B4-BE49-F238E27FC236}">
                  <a16:creationId xmlns:a16="http://schemas.microsoft.com/office/drawing/2014/main" id="{21ACE823-31B2-4D74-B30C-1E182E7D0DE1}"/>
                </a:ext>
              </a:extLst>
            </p:cNvPr>
            <p:cNvSpPr/>
            <p:nvPr/>
          </p:nvSpPr>
          <p:spPr>
            <a:xfrm>
              <a:off x="1395928" y="3783657"/>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5</a:t>
              </a:r>
              <a:endParaRPr lang="zh-CN" altLang="en-US" dirty="0"/>
            </a:p>
          </p:txBody>
        </p:sp>
      </p:grpSp>
      <p:sp>
        <p:nvSpPr>
          <p:cNvPr id="60" name="文本框 59">
            <a:extLst>
              <a:ext uri="{FF2B5EF4-FFF2-40B4-BE49-F238E27FC236}">
                <a16:creationId xmlns:a16="http://schemas.microsoft.com/office/drawing/2014/main" id="{EBD3AF21-2598-4B53-BAB1-FA18ABB15237}"/>
              </a:ext>
            </a:extLst>
          </p:cNvPr>
          <p:cNvSpPr txBox="1"/>
          <p:nvPr/>
        </p:nvSpPr>
        <p:spPr>
          <a:xfrm>
            <a:off x="8619905" y="4029513"/>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61" name="文本框 60">
            <a:extLst>
              <a:ext uri="{FF2B5EF4-FFF2-40B4-BE49-F238E27FC236}">
                <a16:creationId xmlns:a16="http://schemas.microsoft.com/office/drawing/2014/main" id="{4CBF10C6-8AF5-4199-873D-F92A10217C97}"/>
              </a:ext>
            </a:extLst>
          </p:cNvPr>
          <p:cNvSpPr txBox="1"/>
          <p:nvPr/>
        </p:nvSpPr>
        <p:spPr>
          <a:xfrm>
            <a:off x="7906504" y="4625383"/>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62" name="文本框 61">
            <a:extLst>
              <a:ext uri="{FF2B5EF4-FFF2-40B4-BE49-F238E27FC236}">
                <a16:creationId xmlns:a16="http://schemas.microsoft.com/office/drawing/2014/main" id="{69371D15-BA98-4D7C-B51C-E5AE0FBF3C1F}"/>
              </a:ext>
            </a:extLst>
          </p:cNvPr>
          <p:cNvSpPr txBox="1"/>
          <p:nvPr/>
        </p:nvSpPr>
        <p:spPr>
          <a:xfrm>
            <a:off x="8695749" y="4196931"/>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64" name="椭圆 63">
            <a:extLst>
              <a:ext uri="{FF2B5EF4-FFF2-40B4-BE49-F238E27FC236}">
                <a16:creationId xmlns:a16="http://schemas.microsoft.com/office/drawing/2014/main" id="{D8AB3261-5680-438B-8184-96A43447952C}"/>
              </a:ext>
            </a:extLst>
          </p:cNvPr>
          <p:cNvSpPr/>
          <p:nvPr/>
        </p:nvSpPr>
        <p:spPr>
          <a:xfrm>
            <a:off x="8833768" y="4013356"/>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2</a:t>
            </a:r>
            <a:endParaRPr lang="zh-CN" altLang="en-US" dirty="0"/>
          </a:p>
        </p:txBody>
      </p:sp>
      <p:grpSp>
        <p:nvGrpSpPr>
          <p:cNvPr id="65" name="组合 64">
            <a:extLst>
              <a:ext uri="{FF2B5EF4-FFF2-40B4-BE49-F238E27FC236}">
                <a16:creationId xmlns:a16="http://schemas.microsoft.com/office/drawing/2014/main" id="{EB9B77E8-2404-440F-8095-4C455634BF18}"/>
              </a:ext>
            </a:extLst>
          </p:cNvPr>
          <p:cNvGrpSpPr/>
          <p:nvPr/>
        </p:nvGrpSpPr>
        <p:grpSpPr>
          <a:xfrm>
            <a:off x="9676213" y="3425479"/>
            <a:ext cx="1620476" cy="1629528"/>
            <a:chOff x="1395928" y="3292712"/>
            <a:chExt cx="1620476" cy="1629528"/>
          </a:xfrm>
        </p:grpSpPr>
        <p:sp>
          <p:nvSpPr>
            <p:cNvPr id="66" name="椭圆 65">
              <a:extLst>
                <a:ext uri="{FF2B5EF4-FFF2-40B4-BE49-F238E27FC236}">
                  <a16:creationId xmlns:a16="http://schemas.microsoft.com/office/drawing/2014/main" id="{AB242989-E0A7-46D7-84A0-5CD95F18ACDB}"/>
                </a:ext>
              </a:extLst>
            </p:cNvPr>
            <p:cNvSpPr/>
            <p:nvPr/>
          </p:nvSpPr>
          <p:spPr>
            <a:xfrm>
              <a:off x="1482617" y="3429000"/>
              <a:ext cx="1493240" cy="149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9CBC0978-968A-4936-8100-1AADBD105025}"/>
                </a:ext>
              </a:extLst>
            </p:cNvPr>
            <p:cNvSpPr/>
            <p:nvPr/>
          </p:nvSpPr>
          <p:spPr>
            <a:xfrm>
              <a:off x="2090818" y="329271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1</a:t>
              </a:r>
              <a:endParaRPr lang="zh-CN" altLang="en-US" dirty="0"/>
            </a:p>
          </p:txBody>
        </p:sp>
        <p:sp>
          <p:nvSpPr>
            <p:cNvPr id="68" name="椭圆 67">
              <a:extLst>
                <a:ext uri="{FF2B5EF4-FFF2-40B4-BE49-F238E27FC236}">
                  <a16:creationId xmlns:a16="http://schemas.microsoft.com/office/drawing/2014/main" id="{13A78700-EB34-4B0D-BCB0-D2A8E41A5AD2}"/>
                </a:ext>
              </a:extLst>
            </p:cNvPr>
            <p:cNvSpPr/>
            <p:nvPr/>
          </p:nvSpPr>
          <p:spPr>
            <a:xfrm>
              <a:off x="2739567" y="3783657"/>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2</a:t>
              </a:r>
              <a:endParaRPr lang="zh-CN" altLang="en-US" dirty="0"/>
            </a:p>
          </p:txBody>
        </p:sp>
        <p:sp>
          <p:nvSpPr>
            <p:cNvPr id="69" name="椭圆 68">
              <a:extLst>
                <a:ext uri="{FF2B5EF4-FFF2-40B4-BE49-F238E27FC236}">
                  <a16:creationId xmlns:a16="http://schemas.microsoft.com/office/drawing/2014/main" id="{6AA15101-2BE3-4577-9B66-ADD3CB247C52}"/>
                </a:ext>
              </a:extLst>
            </p:cNvPr>
            <p:cNvSpPr/>
            <p:nvPr/>
          </p:nvSpPr>
          <p:spPr>
            <a:xfrm>
              <a:off x="2566260" y="4579772"/>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3</a:t>
              </a:r>
              <a:endParaRPr lang="zh-CN" altLang="en-US" dirty="0"/>
            </a:p>
          </p:txBody>
        </p:sp>
        <p:sp>
          <p:nvSpPr>
            <p:cNvPr id="70" name="椭圆 69">
              <a:extLst>
                <a:ext uri="{FF2B5EF4-FFF2-40B4-BE49-F238E27FC236}">
                  <a16:creationId xmlns:a16="http://schemas.microsoft.com/office/drawing/2014/main" id="{2332D1FC-6C4A-4D13-8336-D217E8C6015B}"/>
                </a:ext>
              </a:extLst>
            </p:cNvPr>
            <p:cNvSpPr/>
            <p:nvPr/>
          </p:nvSpPr>
          <p:spPr>
            <a:xfrm>
              <a:off x="1607752" y="4562994"/>
              <a:ext cx="276837" cy="276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71" name="椭圆 70">
              <a:extLst>
                <a:ext uri="{FF2B5EF4-FFF2-40B4-BE49-F238E27FC236}">
                  <a16:creationId xmlns:a16="http://schemas.microsoft.com/office/drawing/2014/main" id="{DB602545-7397-4EEF-90B7-F76AC2B8D3AA}"/>
                </a:ext>
              </a:extLst>
            </p:cNvPr>
            <p:cNvSpPr/>
            <p:nvPr/>
          </p:nvSpPr>
          <p:spPr>
            <a:xfrm>
              <a:off x="1395928" y="3783657"/>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5</a:t>
              </a:r>
              <a:endParaRPr lang="zh-CN" altLang="en-US" dirty="0"/>
            </a:p>
          </p:txBody>
        </p:sp>
      </p:grpSp>
      <p:sp>
        <p:nvSpPr>
          <p:cNvPr id="72" name="文本框 71">
            <a:extLst>
              <a:ext uri="{FF2B5EF4-FFF2-40B4-BE49-F238E27FC236}">
                <a16:creationId xmlns:a16="http://schemas.microsoft.com/office/drawing/2014/main" id="{B6F087DE-4F71-4E55-BFD6-0CE5CFB5A844}"/>
              </a:ext>
            </a:extLst>
          </p:cNvPr>
          <p:cNvSpPr txBox="1"/>
          <p:nvPr/>
        </p:nvSpPr>
        <p:spPr>
          <a:xfrm>
            <a:off x="10110532" y="4705333"/>
            <a:ext cx="276038" cy="307777"/>
          </a:xfrm>
          <a:prstGeom prst="rect">
            <a:avLst/>
          </a:prstGeom>
          <a:noFill/>
        </p:spPr>
        <p:txBody>
          <a:bodyPr wrap="none" rtlCol="0">
            <a:spAutoFit/>
          </a:bodyPr>
          <a:lstStyle/>
          <a:p>
            <a:r>
              <a:rPr lang="en-US" altLang="zh-CN" sz="1400" dirty="0"/>
              <a:t>1</a:t>
            </a:r>
            <a:endParaRPr lang="zh-CN" altLang="en-US" sz="1400" dirty="0"/>
          </a:p>
        </p:txBody>
      </p:sp>
      <p:sp>
        <p:nvSpPr>
          <p:cNvPr id="73" name="文本框 72">
            <a:extLst>
              <a:ext uri="{FF2B5EF4-FFF2-40B4-BE49-F238E27FC236}">
                <a16:creationId xmlns:a16="http://schemas.microsoft.com/office/drawing/2014/main" id="{F602A6BD-D58B-4424-8645-4D42027B6880}"/>
              </a:ext>
            </a:extLst>
          </p:cNvPr>
          <p:cNvSpPr txBox="1"/>
          <p:nvPr/>
        </p:nvSpPr>
        <p:spPr>
          <a:xfrm>
            <a:off x="10044152" y="4481698"/>
            <a:ext cx="276038" cy="307777"/>
          </a:xfrm>
          <a:prstGeom prst="rect">
            <a:avLst/>
          </a:prstGeom>
          <a:noFill/>
        </p:spPr>
        <p:txBody>
          <a:bodyPr wrap="none" rtlCol="0">
            <a:spAutoFit/>
          </a:bodyPr>
          <a:lstStyle/>
          <a:p>
            <a:r>
              <a:rPr lang="en-US" altLang="zh-CN" sz="1400" dirty="0"/>
              <a:t>2</a:t>
            </a:r>
            <a:endParaRPr lang="zh-CN" altLang="en-US" sz="1400" dirty="0"/>
          </a:p>
        </p:txBody>
      </p:sp>
      <p:sp>
        <p:nvSpPr>
          <p:cNvPr id="74" name="文本框 73">
            <a:extLst>
              <a:ext uri="{FF2B5EF4-FFF2-40B4-BE49-F238E27FC236}">
                <a16:creationId xmlns:a16="http://schemas.microsoft.com/office/drawing/2014/main" id="{179FFFBF-7FBC-4551-B850-C6133AA197EE}"/>
              </a:ext>
            </a:extLst>
          </p:cNvPr>
          <p:cNvSpPr txBox="1"/>
          <p:nvPr/>
        </p:nvSpPr>
        <p:spPr>
          <a:xfrm>
            <a:off x="9888836" y="4419414"/>
            <a:ext cx="276038" cy="307777"/>
          </a:xfrm>
          <a:prstGeom prst="rect">
            <a:avLst/>
          </a:prstGeom>
          <a:noFill/>
        </p:spPr>
        <p:txBody>
          <a:bodyPr wrap="none" rtlCol="0">
            <a:spAutoFit/>
          </a:bodyPr>
          <a:lstStyle/>
          <a:p>
            <a:r>
              <a:rPr lang="en-US" altLang="zh-CN" sz="1400" dirty="0"/>
              <a:t>3</a:t>
            </a:r>
            <a:endParaRPr lang="zh-CN" altLang="en-US" sz="1400" dirty="0"/>
          </a:p>
        </p:txBody>
      </p:sp>
      <p:sp>
        <p:nvSpPr>
          <p:cNvPr id="76" name="椭圆 75">
            <a:extLst>
              <a:ext uri="{FF2B5EF4-FFF2-40B4-BE49-F238E27FC236}">
                <a16:creationId xmlns:a16="http://schemas.microsoft.com/office/drawing/2014/main" id="{4824D9AC-2F9C-415B-9312-5555F6C3D636}"/>
              </a:ext>
            </a:extLst>
          </p:cNvPr>
          <p:cNvSpPr/>
          <p:nvPr/>
        </p:nvSpPr>
        <p:spPr>
          <a:xfrm>
            <a:off x="9889808" y="4692566"/>
            <a:ext cx="276837" cy="2768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4</a:t>
            </a:r>
            <a:endParaRPr lang="zh-CN" altLang="en-US" dirty="0"/>
          </a:p>
        </p:txBody>
      </p:sp>
      <p:sp>
        <p:nvSpPr>
          <p:cNvPr id="16" name="箭头: 右 15">
            <a:extLst>
              <a:ext uri="{FF2B5EF4-FFF2-40B4-BE49-F238E27FC236}">
                <a16:creationId xmlns:a16="http://schemas.microsoft.com/office/drawing/2014/main" id="{00D15FBE-00FE-4480-9715-D47B98A36F6F}"/>
              </a:ext>
            </a:extLst>
          </p:cNvPr>
          <p:cNvSpPr/>
          <p:nvPr/>
        </p:nvSpPr>
        <p:spPr>
          <a:xfrm>
            <a:off x="2497395" y="4097275"/>
            <a:ext cx="224649" cy="397292"/>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箭头: 右 77">
            <a:extLst>
              <a:ext uri="{FF2B5EF4-FFF2-40B4-BE49-F238E27FC236}">
                <a16:creationId xmlns:a16="http://schemas.microsoft.com/office/drawing/2014/main" id="{181CE3D9-41E0-4D10-B819-DB17471C163B}"/>
              </a:ext>
            </a:extLst>
          </p:cNvPr>
          <p:cNvSpPr/>
          <p:nvPr/>
        </p:nvSpPr>
        <p:spPr>
          <a:xfrm>
            <a:off x="4805953" y="4149519"/>
            <a:ext cx="224649" cy="397292"/>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箭头: 右 78">
            <a:extLst>
              <a:ext uri="{FF2B5EF4-FFF2-40B4-BE49-F238E27FC236}">
                <a16:creationId xmlns:a16="http://schemas.microsoft.com/office/drawing/2014/main" id="{72D5DA30-280E-4473-98AD-7E5A8856CC02}"/>
              </a:ext>
            </a:extLst>
          </p:cNvPr>
          <p:cNvSpPr/>
          <p:nvPr/>
        </p:nvSpPr>
        <p:spPr>
          <a:xfrm>
            <a:off x="7086206" y="4149519"/>
            <a:ext cx="224649" cy="397292"/>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箭头: 右 79">
            <a:extLst>
              <a:ext uri="{FF2B5EF4-FFF2-40B4-BE49-F238E27FC236}">
                <a16:creationId xmlns:a16="http://schemas.microsoft.com/office/drawing/2014/main" id="{63A0CE01-5E60-4BE8-AC0F-7AF94FD5BEA1}"/>
              </a:ext>
            </a:extLst>
          </p:cNvPr>
          <p:cNvSpPr/>
          <p:nvPr/>
        </p:nvSpPr>
        <p:spPr>
          <a:xfrm>
            <a:off x="9328832" y="4121160"/>
            <a:ext cx="224649" cy="397292"/>
          </a:xfrm>
          <a:prstGeom prst="rightArrow">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69">
            <a:extLst>
              <a:ext uri="{FF2B5EF4-FFF2-40B4-BE49-F238E27FC236}">
                <a16:creationId xmlns:a16="http://schemas.microsoft.com/office/drawing/2014/main" id="{299DFEB5-7BF4-4EC1-994C-B975BD4B10E8}"/>
              </a:ext>
            </a:extLst>
          </p:cNvPr>
          <p:cNvSpPr/>
          <p:nvPr/>
        </p:nvSpPr>
        <p:spPr>
          <a:xfrm>
            <a:off x="4114457" y="5729906"/>
            <a:ext cx="3616233"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出圈顺序：</a:t>
            </a:r>
            <a:r>
              <a:rPr lang="en-US" altLang="zh-CN" sz="2000" dirty="0">
                <a:solidFill>
                  <a:schemeClr val="bg1"/>
                </a:solidFill>
                <a:latin typeface="Microsoft YaHei" panose="020B0503020204020204" pitchFamily="34" charset="-122"/>
                <a:ea typeface="Microsoft YaHei" panose="020B0503020204020204" pitchFamily="34" charset="-122"/>
              </a:rPr>
              <a:t>3-&gt;1-&gt;5-&gt;2-&gt;4</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2773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81"/>
                                        </p:tgtEl>
                                        <p:attrNameLst>
                                          <p:attrName>style.visibility</p:attrName>
                                        </p:attrNameLst>
                                      </p:cBhvr>
                                      <p:to>
                                        <p:strVal val="visible"/>
                                      </p:to>
                                    </p:set>
                                    <p:animEffect transition="in" filter="fade">
                                      <p:cBhvr>
                                        <p:cTn id="127" dur="1000"/>
                                        <p:tgtEl>
                                          <p:spTgt spid="81"/>
                                        </p:tgtEl>
                                      </p:cBhvr>
                                    </p:animEffect>
                                    <p:anim calcmode="lin" valueType="num">
                                      <p:cBhvr>
                                        <p:cTn id="128" dur="1000" fill="hold"/>
                                        <p:tgtEl>
                                          <p:spTgt spid="81"/>
                                        </p:tgtEl>
                                        <p:attrNameLst>
                                          <p:attrName>ppt_x</p:attrName>
                                        </p:attrNameLst>
                                      </p:cBhvr>
                                      <p:tavLst>
                                        <p:tav tm="0">
                                          <p:val>
                                            <p:strVal val="#ppt_x"/>
                                          </p:val>
                                        </p:tav>
                                        <p:tav tm="100000">
                                          <p:val>
                                            <p:strVal val="#ppt_x"/>
                                          </p:val>
                                        </p:tav>
                                      </p:tavLst>
                                    </p:anim>
                                    <p:anim calcmode="lin" valueType="num">
                                      <p:cBhvr>
                                        <p:cTn id="129"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7" grpId="0" animBg="1"/>
      <p:bldP spid="25" grpId="0"/>
      <p:bldP spid="26" grpId="0"/>
      <p:bldP spid="27" grpId="0"/>
      <p:bldP spid="29" grpId="0" animBg="1"/>
      <p:bldP spid="37" grpId="0"/>
      <p:bldP spid="38" grpId="0"/>
      <p:bldP spid="39" grpId="0"/>
      <p:bldP spid="41" grpId="0" animBg="1"/>
      <p:bldP spid="60" grpId="0"/>
      <p:bldP spid="61" grpId="0"/>
      <p:bldP spid="62" grpId="0"/>
      <p:bldP spid="64" grpId="0" animBg="1"/>
      <p:bldP spid="72" grpId="0"/>
      <p:bldP spid="73" grpId="0"/>
      <p:bldP spid="74" grpId="0"/>
      <p:bldP spid="76" grpId="0" animBg="1"/>
      <p:bldP spid="16" grpId="0" animBg="1"/>
      <p:bldP spid="78" grpId="0" animBg="1"/>
      <p:bldP spid="79" grpId="0" animBg="1"/>
      <p:bldP spid="80" grpId="0" animBg="1"/>
      <p:bldP spid="81"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dirty="0" err="1"/>
              <a:t>队列应用</a:t>
            </a:r>
            <a:r>
              <a:rPr kumimoji="0" dirty="0"/>
              <a:t>：</a:t>
            </a:r>
            <a:r>
              <a:rPr kumimoji="0" lang="zh-CN" altLang="en-US" dirty="0"/>
              <a:t>约瑟夫环问题</a:t>
            </a:r>
            <a:endParaRPr dirty="0"/>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xfrm>
            <a:off x="584225" y="1276350"/>
            <a:ext cx="11055325" cy="44907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1313" indent="-341313">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问题描述：</a:t>
            </a:r>
            <a:endParaRPr lang="en-US" altLang="zh-CN" sz="26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r>
              <a:rPr lang="en-US" altLang="zh-CN" sz="2600" dirty="0">
                <a:latin typeface="Microsoft YaHei Light" panose="020B0502040204020203" pitchFamily="34" charset="-122"/>
                <a:ea typeface="Microsoft YaHei Light" panose="020B0502040204020203" pitchFamily="34" charset="-122"/>
              </a:rPr>
              <a:t>       	</a:t>
            </a:r>
            <a:r>
              <a:rPr lang="zh-CN" altLang="en-US" dirty="0">
                <a:latin typeface="Microsoft YaHei Light" panose="020B0502040204020203" pitchFamily="34" charset="-122"/>
                <a:ea typeface="Microsoft YaHei Light" panose="020B0502040204020203" pitchFamily="34" charset="-122"/>
              </a:rPr>
              <a:t>编号为</a:t>
            </a:r>
            <a:r>
              <a:rPr lang="en-US" altLang="zh-CN" dirty="0">
                <a:latin typeface="Microsoft YaHei Light" panose="020B0502040204020203" pitchFamily="34" charset="-122"/>
                <a:ea typeface="Microsoft YaHei Light" panose="020B0502040204020203" pitchFamily="34" charset="-122"/>
              </a:rPr>
              <a:t>1, 2, …, n</a:t>
            </a:r>
            <a:r>
              <a:rPr lang="zh-CN" altLang="en-US" dirty="0">
                <a:latin typeface="Microsoft YaHei Light" panose="020B0502040204020203" pitchFamily="34" charset="-122"/>
                <a:ea typeface="Microsoft YaHei Light" panose="020B0502040204020203" pitchFamily="34" charset="-122"/>
              </a:rPr>
              <a:t>的</a:t>
            </a:r>
            <a:r>
              <a:rPr lang="en-US" altLang="zh-CN" dirty="0">
                <a:latin typeface="Microsoft YaHei Light" panose="020B0502040204020203" pitchFamily="34" charset="-122"/>
                <a:ea typeface="Microsoft YaHei Light" panose="020B0502040204020203" pitchFamily="34" charset="-122"/>
              </a:rPr>
              <a:t>n</a:t>
            </a:r>
            <a:r>
              <a:rPr lang="zh-CN" altLang="en-US" dirty="0">
                <a:latin typeface="Microsoft YaHei Light" panose="020B0502040204020203" pitchFamily="34" charset="-122"/>
                <a:ea typeface="Microsoft YaHei Light" panose="020B0502040204020203" pitchFamily="34" charset="-122"/>
              </a:rPr>
              <a:t>个人围成一圈，从编号</a:t>
            </a:r>
            <a:r>
              <a:rPr lang="en-US" altLang="zh-CN" dirty="0">
                <a:latin typeface="Microsoft YaHei Light" panose="020B0502040204020203" pitchFamily="34" charset="-122"/>
                <a:ea typeface="Microsoft YaHei Light" panose="020B0502040204020203" pitchFamily="34" charset="-122"/>
              </a:rPr>
              <a:t>1</a:t>
            </a:r>
            <a:r>
              <a:rPr lang="zh-CN" altLang="en-US" dirty="0">
                <a:latin typeface="Microsoft YaHei Light" panose="020B0502040204020203" pitchFamily="34" charset="-122"/>
                <a:ea typeface="Microsoft YaHei Light" panose="020B0502040204020203" pitchFamily="34" charset="-122"/>
              </a:rPr>
              <a:t>的人开始报数，数到</a:t>
            </a:r>
            <a:r>
              <a:rPr lang="en-US" altLang="zh-CN" dirty="0">
                <a:latin typeface="Microsoft YaHei Light" panose="020B0502040204020203" pitchFamily="34" charset="-122"/>
                <a:ea typeface="Microsoft YaHei Light" panose="020B0502040204020203" pitchFamily="34" charset="-122"/>
              </a:rPr>
              <a:t>m</a:t>
            </a:r>
            <a:r>
              <a:rPr lang="zh-CN" altLang="en-US" dirty="0">
                <a:latin typeface="Microsoft YaHei Light" panose="020B0502040204020203" pitchFamily="34" charset="-122"/>
                <a:ea typeface="Microsoft YaHei Light" panose="020B0502040204020203" pitchFamily="34" charset="-122"/>
              </a:rPr>
              <a:t>的人出圈，然后下一个人重新开始报数，直到所有人出圈为止，求依次出圈的人的编号。</a:t>
            </a:r>
            <a:endParaRPr lang="en-US" altLang="zh-CN"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endParaRPr lang="en-US" altLang="zh-CN" sz="2600" dirty="0">
              <a:latin typeface="Microsoft YaHei Light" panose="020B0502040204020203" pitchFamily="34" charset="-122"/>
              <a:ea typeface="Microsoft YaHei Light" panose="020B0502040204020203" pitchFamily="34" charset="-122"/>
            </a:endParaRPr>
          </a:p>
          <a:p>
            <a:pPr>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算法</a:t>
            </a:r>
            <a:r>
              <a:rPr lang="en-US" altLang="zh-CN" sz="2600" dirty="0">
                <a:latin typeface="Microsoft YaHei Light" panose="020B0502040204020203" pitchFamily="34" charset="-122"/>
                <a:ea typeface="Microsoft YaHei Light" panose="020B0502040204020203" pitchFamily="34" charset="-122"/>
              </a:rPr>
              <a:t>1</a:t>
            </a:r>
            <a:r>
              <a:rPr lang="zh-CN" altLang="en-US" sz="2600" dirty="0">
                <a:latin typeface="Microsoft YaHei Light" panose="020B0502040204020203" pitchFamily="34" charset="-122"/>
                <a:ea typeface="Microsoft YaHei Light" panose="020B0502040204020203" pitchFamily="34" charset="-122"/>
              </a:rPr>
              <a:t>：直接模拟</a:t>
            </a:r>
            <a:endParaRPr lang="en-US" altLang="zh-CN" sz="2600" dirty="0">
              <a:latin typeface="Microsoft YaHei Light" panose="020B0502040204020203" pitchFamily="34" charset="-122"/>
              <a:ea typeface="Microsoft YaHei Light" panose="020B0502040204020203" pitchFamily="34" charset="-122"/>
            </a:endParaRPr>
          </a:p>
          <a:p>
            <a:pPr>
              <a:lnSpc>
                <a:spcPct val="104000"/>
              </a:lnSpc>
              <a:spcBef>
                <a:spcPts val="600"/>
              </a:spcBef>
            </a:pPr>
            <a:endParaRPr lang="en-US" altLang="zh-CN" sz="2600" dirty="0">
              <a:latin typeface="Microsoft YaHei Light" panose="020B0502040204020203" pitchFamily="34" charset="-122"/>
              <a:ea typeface="Microsoft YaHei Light" panose="020B0502040204020203" pitchFamily="34" charset="-122"/>
            </a:endParaRPr>
          </a:p>
          <a:p>
            <a:pPr>
              <a:lnSpc>
                <a:spcPct val="104000"/>
              </a:lnSpc>
              <a:spcBef>
                <a:spcPts val="600"/>
              </a:spcBef>
            </a:pPr>
            <a:endParaRPr lang="en-US" altLang="zh-CN" sz="2600" dirty="0">
              <a:latin typeface="Microsoft YaHei Light" panose="020B0502040204020203" pitchFamily="34" charset="-122"/>
              <a:ea typeface="Microsoft YaHei Light" panose="020B0502040204020203" pitchFamily="34" charset="-122"/>
            </a:endParaRPr>
          </a:p>
          <a:p>
            <a:pPr>
              <a:lnSpc>
                <a:spcPct val="104000"/>
              </a:lnSpc>
              <a:spcBef>
                <a:spcPts val="600"/>
              </a:spcBef>
            </a:pPr>
            <a:endParaRPr lang="en-US" altLang="zh-CN" sz="2600" dirty="0">
              <a:latin typeface="Microsoft YaHei Light" panose="020B0502040204020203" pitchFamily="34" charset="-122"/>
              <a:ea typeface="Microsoft YaHei Light" panose="020B0502040204020203" pitchFamily="34" charset="-122"/>
            </a:endParaRPr>
          </a:p>
          <a:p>
            <a:pPr>
              <a:lnSpc>
                <a:spcPct val="104000"/>
              </a:lnSpc>
              <a:spcBef>
                <a:spcPts val="600"/>
              </a:spcBef>
            </a:pPr>
            <a:r>
              <a:rPr lang="zh-CN" altLang="en-US" sz="2600" dirty="0">
                <a:solidFill>
                  <a:schemeClr val="accent4">
                    <a:lumMod val="75000"/>
                  </a:schemeClr>
                </a:solidFill>
                <a:latin typeface="Microsoft YaHei Light" panose="020B0502040204020203" pitchFamily="34" charset="-122"/>
                <a:ea typeface="Microsoft YaHei Light" panose="020B0502040204020203" pitchFamily="34" charset="-122"/>
              </a:rPr>
              <a:t>算法</a:t>
            </a:r>
            <a:r>
              <a:rPr lang="en-US" altLang="zh-CN" sz="2600" dirty="0">
                <a:solidFill>
                  <a:schemeClr val="accent4">
                    <a:lumMod val="75000"/>
                  </a:schemeClr>
                </a:solidFill>
                <a:latin typeface="Microsoft YaHei Light" panose="020B0502040204020203" pitchFamily="34" charset="-122"/>
                <a:ea typeface="Microsoft YaHei Light" panose="020B0502040204020203" pitchFamily="34" charset="-122"/>
              </a:rPr>
              <a:t>2</a:t>
            </a:r>
            <a:r>
              <a:rPr lang="zh-CN" altLang="en-US" sz="2600" dirty="0">
                <a:solidFill>
                  <a:schemeClr val="accent4">
                    <a:lumMod val="75000"/>
                  </a:schemeClr>
                </a:solidFill>
                <a:latin typeface="Microsoft YaHei Light" panose="020B0502040204020203" pitchFamily="34" charset="-122"/>
                <a:ea typeface="Microsoft YaHei Light" panose="020B0502040204020203" pitchFamily="34" charset="-122"/>
              </a:rPr>
              <a:t>：动态规划</a:t>
            </a:r>
            <a:r>
              <a:rPr lang="en-US" altLang="zh-CN" sz="2600" dirty="0">
                <a:solidFill>
                  <a:schemeClr val="accent4">
                    <a:lumMod val="75000"/>
                  </a:schemeClr>
                </a:solidFill>
                <a:latin typeface="Microsoft YaHei Light" panose="020B0502040204020203" pitchFamily="34" charset="-122"/>
                <a:ea typeface="Microsoft YaHei Light" panose="020B0502040204020203" pitchFamily="34" charset="-122"/>
              </a:rPr>
              <a:t>+</a:t>
            </a:r>
            <a:r>
              <a:rPr lang="zh-CN" altLang="en-US" sz="2600" dirty="0">
                <a:solidFill>
                  <a:schemeClr val="accent4">
                    <a:lumMod val="75000"/>
                  </a:schemeClr>
                </a:solidFill>
                <a:latin typeface="Microsoft YaHei Light" panose="020B0502040204020203" pitchFamily="34" charset="-122"/>
                <a:ea typeface="Microsoft YaHei Light" panose="020B0502040204020203" pitchFamily="34" charset="-122"/>
              </a:rPr>
              <a:t>数学分析（</a:t>
            </a:r>
            <a:r>
              <a:rPr lang="en-US" altLang="zh-CN" sz="2600" dirty="0">
                <a:solidFill>
                  <a:schemeClr val="accent4">
                    <a:lumMod val="75000"/>
                  </a:schemeClr>
                </a:solidFill>
                <a:latin typeface="Microsoft YaHei Light" panose="020B0502040204020203" pitchFamily="34" charset="-122"/>
                <a:ea typeface="Microsoft YaHei Light" panose="020B0502040204020203" pitchFamily="34" charset="-122"/>
              </a:rPr>
              <a:t>mod</a:t>
            </a:r>
            <a:r>
              <a:rPr lang="zh-CN" altLang="en-US" sz="2600" dirty="0">
                <a:solidFill>
                  <a:schemeClr val="accent4">
                    <a:lumMod val="75000"/>
                  </a:schemeClr>
                </a:solidFill>
                <a:latin typeface="Microsoft YaHei Light" panose="020B0502040204020203" pitchFamily="34" charset="-122"/>
                <a:ea typeface="Microsoft YaHei Light" panose="020B0502040204020203" pitchFamily="34" charset="-122"/>
              </a:rPr>
              <a:t>运算）</a:t>
            </a:r>
            <a:endParaRPr lang="en-US" altLang="zh-CN" sz="2600" dirty="0">
              <a:solidFill>
                <a:schemeClr val="accent4">
                  <a:lumMod val="75000"/>
                </a:schemeClr>
              </a:solidFill>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endParaRPr lang="en-US" altLang="zh-CN" sz="2600" dirty="0">
              <a:latin typeface="Microsoft YaHei Light" panose="020B0502040204020203" pitchFamily="34" charset="-122"/>
              <a:ea typeface="Microsoft YaHei Light" panose="020B0502040204020203" pitchFamily="34" charset="-122"/>
            </a:endParaRPr>
          </a:p>
        </p:txBody>
      </p:sp>
      <p:sp>
        <p:nvSpPr>
          <p:cNvPr id="75" name="任意多边形: 形状 69">
            <a:extLst>
              <a:ext uri="{FF2B5EF4-FFF2-40B4-BE49-F238E27FC236}">
                <a16:creationId xmlns:a16="http://schemas.microsoft.com/office/drawing/2014/main" id="{FFFAFE0C-AED3-4873-BD72-87593B668E88}"/>
              </a:ext>
            </a:extLst>
          </p:cNvPr>
          <p:cNvSpPr/>
          <p:nvPr/>
        </p:nvSpPr>
        <p:spPr>
          <a:xfrm>
            <a:off x="2644186" y="3849814"/>
            <a:ext cx="6418333"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关键数据结构：循环链表、</a:t>
            </a:r>
            <a:r>
              <a:rPr lang="en-US" altLang="zh-CN" sz="2000" dirty="0">
                <a:solidFill>
                  <a:srgbClr val="FFFF00"/>
                </a:solidFill>
                <a:latin typeface="Microsoft YaHei" panose="020B0503020204020204" pitchFamily="34" charset="-122"/>
                <a:ea typeface="Microsoft YaHei" panose="020B0503020204020204" pitchFamily="34" charset="-122"/>
              </a:rPr>
              <a:t>FIFO</a:t>
            </a:r>
            <a:r>
              <a:rPr lang="zh-CN" altLang="en-US" sz="2000" dirty="0">
                <a:solidFill>
                  <a:srgbClr val="FFFF00"/>
                </a:solidFill>
                <a:latin typeface="Microsoft YaHei" panose="020B0503020204020204" pitchFamily="34" charset="-122"/>
                <a:ea typeface="Microsoft YaHei" panose="020B0503020204020204" pitchFamily="34" charset="-122"/>
              </a:rPr>
              <a:t>队列</a:t>
            </a:r>
            <a:r>
              <a:rPr lang="zh-CN" altLang="en-US" sz="2000" dirty="0">
                <a:solidFill>
                  <a:schemeClr val="bg1"/>
                </a:solidFill>
                <a:latin typeface="Microsoft YaHei" panose="020B0503020204020204" pitchFamily="34" charset="-122"/>
                <a:ea typeface="Microsoft YaHei" panose="020B0503020204020204" pitchFamily="34" charset="-122"/>
              </a:rPr>
              <a:t>、并查集等</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8534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65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fade">
                                      <p:cBhvr>
                                        <p:cTn id="11" dur="1000"/>
                                        <p:tgtEl>
                                          <p:spTgt spid="75"/>
                                        </p:tgtEl>
                                      </p:cBhvr>
                                    </p:animEffect>
                                    <p:anim calcmode="lin" valueType="num">
                                      <p:cBhvr>
                                        <p:cTn id="12" dur="1000" fill="hold"/>
                                        <p:tgtEl>
                                          <p:spTgt spid="75"/>
                                        </p:tgtEl>
                                        <p:attrNameLst>
                                          <p:attrName>ppt_x</p:attrName>
                                        </p:attrNameLst>
                                      </p:cBhvr>
                                      <p:tavLst>
                                        <p:tav tm="0">
                                          <p:val>
                                            <p:strVal val="#ppt_x"/>
                                          </p:val>
                                        </p:tav>
                                        <p:tav tm="100000">
                                          <p:val>
                                            <p:strVal val="#ppt_x"/>
                                          </p:val>
                                        </p:tav>
                                      </p:tavLst>
                                    </p:anim>
                                    <p:anim calcmode="lin" valueType="num">
                                      <p:cBhvr>
                                        <p:cTn id="13"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55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dirty="0" err="1"/>
              <a:t>队列应用</a:t>
            </a:r>
            <a:r>
              <a:rPr kumimoji="0" dirty="0"/>
              <a:t>：</a:t>
            </a:r>
            <a:r>
              <a:rPr kumimoji="0" lang="zh-CN" altLang="en-US" dirty="0"/>
              <a:t>约瑟夫环问题</a:t>
            </a:r>
            <a:endParaRPr dirty="0"/>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xfrm>
            <a:off x="584225" y="1276350"/>
            <a:ext cx="4449502" cy="44907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1313" indent="-341313">
              <a:lnSpc>
                <a:spcPct val="104000"/>
              </a:lnSpc>
              <a:spcBef>
                <a:spcPts val="600"/>
              </a:spcBef>
            </a:pPr>
            <a:r>
              <a:rPr lang="zh-CN" altLang="en-US" sz="2000" dirty="0">
                <a:latin typeface="Microsoft YaHei Light" panose="020B0502040204020203" pitchFamily="34" charset="-122"/>
                <a:ea typeface="Microsoft YaHei Light" panose="020B0502040204020203" pitchFamily="34" charset="-122"/>
              </a:rPr>
              <a:t>问题描述：</a:t>
            </a:r>
            <a:endParaRPr lang="en-US" altLang="zh-CN" sz="20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r>
              <a:rPr lang="en-US" altLang="zh-CN" sz="2000" dirty="0">
                <a:latin typeface="Microsoft YaHei Light" panose="020B0502040204020203" pitchFamily="34" charset="-122"/>
                <a:ea typeface="Microsoft YaHei Light" panose="020B0502040204020203" pitchFamily="34" charset="-122"/>
              </a:rPr>
              <a:t>       	</a:t>
            </a:r>
            <a:r>
              <a:rPr lang="zh-CN" altLang="en-US" sz="1800" dirty="0">
                <a:latin typeface="Microsoft YaHei Light" panose="020B0502040204020203" pitchFamily="34" charset="-122"/>
                <a:ea typeface="Microsoft YaHei Light" panose="020B0502040204020203" pitchFamily="34" charset="-122"/>
              </a:rPr>
              <a:t>编号为</a:t>
            </a:r>
            <a:r>
              <a:rPr lang="en-US" altLang="zh-CN" sz="1800" dirty="0">
                <a:latin typeface="Microsoft YaHei Light" panose="020B0502040204020203" pitchFamily="34" charset="-122"/>
                <a:ea typeface="Microsoft YaHei Light" panose="020B0502040204020203" pitchFamily="34" charset="-122"/>
              </a:rPr>
              <a:t>1, 2, …, n</a:t>
            </a:r>
            <a:r>
              <a:rPr lang="zh-CN" altLang="en-US" sz="1800" dirty="0">
                <a:latin typeface="Microsoft YaHei Light" panose="020B0502040204020203" pitchFamily="34" charset="-122"/>
                <a:ea typeface="Microsoft YaHei Light" panose="020B0502040204020203" pitchFamily="34" charset="-122"/>
              </a:rPr>
              <a:t>的</a:t>
            </a:r>
            <a:r>
              <a:rPr lang="en-US" altLang="zh-CN" sz="1800" dirty="0">
                <a:latin typeface="Microsoft YaHei Light" panose="020B0502040204020203" pitchFamily="34" charset="-122"/>
                <a:ea typeface="Microsoft YaHei Light" panose="020B0502040204020203" pitchFamily="34" charset="-122"/>
              </a:rPr>
              <a:t>n</a:t>
            </a:r>
            <a:r>
              <a:rPr lang="zh-CN" altLang="en-US" sz="1800" dirty="0">
                <a:latin typeface="Microsoft YaHei Light" panose="020B0502040204020203" pitchFamily="34" charset="-122"/>
                <a:ea typeface="Microsoft YaHei Light" panose="020B0502040204020203" pitchFamily="34" charset="-122"/>
              </a:rPr>
              <a:t>个人围成一圈，从编号</a:t>
            </a:r>
            <a:r>
              <a:rPr lang="en-US" altLang="zh-CN" sz="1800" dirty="0">
                <a:latin typeface="Microsoft YaHei Light" panose="020B0502040204020203" pitchFamily="34" charset="-122"/>
                <a:ea typeface="Microsoft YaHei Light" panose="020B0502040204020203" pitchFamily="34" charset="-122"/>
              </a:rPr>
              <a:t>1</a:t>
            </a:r>
            <a:r>
              <a:rPr lang="zh-CN" altLang="en-US" sz="1800" dirty="0">
                <a:latin typeface="Microsoft YaHei Light" panose="020B0502040204020203" pitchFamily="34" charset="-122"/>
                <a:ea typeface="Microsoft YaHei Light" panose="020B0502040204020203" pitchFamily="34" charset="-122"/>
              </a:rPr>
              <a:t>的人开始报数，数到</a:t>
            </a:r>
            <a:r>
              <a:rPr lang="en-US" altLang="zh-CN" sz="1800" dirty="0">
                <a:latin typeface="Microsoft YaHei Light" panose="020B0502040204020203" pitchFamily="34" charset="-122"/>
                <a:ea typeface="Microsoft YaHei Light" panose="020B0502040204020203" pitchFamily="34" charset="-122"/>
              </a:rPr>
              <a:t>m</a:t>
            </a:r>
            <a:r>
              <a:rPr lang="zh-CN" altLang="en-US" sz="1800" dirty="0">
                <a:latin typeface="Microsoft YaHei Light" panose="020B0502040204020203" pitchFamily="34" charset="-122"/>
                <a:ea typeface="Microsoft YaHei Light" panose="020B0502040204020203" pitchFamily="34" charset="-122"/>
              </a:rPr>
              <a:t>的人出圈，然后下一个人重新开始报数，直到所有人出圈为止，求依次出圈的人的编号。</a:t>
            </a:r>
            <a:endParaRPr lang="en-US" altLang="zh-CN" sz="18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endParaRPr lang="en-US" altLang="zh-CN" sz="2000" dirty="0">
              <a:latin typeface="Microsoft YaHei Light" panose="020B0502040204020203" pitchFamily="34" charset="-122"/>
              <a:ea typeface="Microsoft YaHei Light" panose="020B0502040204020203" pitchFamily="34" charset="-122"/>
            </a:endParaRPr>
          </a:p>
          <a:p>
            <a:pPr>
              <a:lnSpc>
                <a:spcPct val="104000"/>
              </a:lnSpc>
              <a:spcBef>
                <a:spcPts val="600"/>
              </a:spcBef>
            </a:pPr>
            <a:r>
              <a:rPr lang="zh-CN" altLang="en-US" sz="2000" dirty="0">
                <a:latin typeface="Microsoft YaHei Light" panose="020B0502040204020203" pitchFamily="34" charset="-122"/>
                <a:ea typeface="Microsoft YaHei Light" panose="020B0502040204020203" pitchFamily="34" charset="-122"/>
              </a:rPr>
              <a:t>算法</a:t>
            </a:r>
            <a:r>
              <a:rPr lang="en-US" altLang="zh-CN" sz="2000" dirty="0">
                <a:latin typeface="Microsoft YaHei Light" panose="020B0502040204020203" pitchFamily="34" charset="-122"/>
                <a:ea typeface="Microsoft YaHei Light" panose="020B0502040204020203" pitchFamily="34" charset="-122"/>
              </a:rPr>
              <a:t>1</a:t>
            </a:r>
            <a:r>
              <a:rPr lang="zh-CN" altLang="en-US" sz="2000" dirty="0">
                <a:latin typeface="Microsoft YaHei Light" panose="020B0502040204020203" pitchFamily="34" charset="-122"/>
                <a:ea typeface="Microsoft YaHei Light" panose="020B0502040204020203" pitchFamily="34" charset="-122"/>
              </a:rPr>
              <a:t>：直接模拟</a:t>
            </a:r>
            <a:endParaRPr lang="en-US" altLang="zh-CN" sz="2000" dirty="0">
              <a:latin typeface="Microsoft YaHei Light" panose="020B0502040204020203" pitchFamily="34" charset="-122"/>
              <a:ea typeface="Microsoft YaHei Light" panose="020B0502040204020203" pitchFamily="34" charset="-122"/>
            </a:endParaRPr>
          </a:p>
          <a:p>
            <a:pPr>
              <a:lnSpc>
                <a:spcPct val="104000"/>
              </a:lnSpc>
              <a:spcBef>
                <a:spcPts val="600"/>
              </a:spcBef>
            </a:pPr>
            <a:endParaRPr lang="en-US" altLang="zh-CN" sz="2000" dirty="0">
              <a:latin typeface="Microsoft YaHei Light" panose="020B0502040204020203" pitchFamily="34" charset="-122"/>
              <a:ea typeface="Microsoft YaHei Light" panose="020B0502040204020203" pitchFamily="34" charset="-122"/>
            </a:endParaRPr>
          </a:p>
          <a:p>
            <a:pPr>
              <a:lnSpc>
                <a:spcPct val="104000"/>
              </a:lnSpc>
              <a:spcBef>
                <a:spcPts val="600"/>
              </a:spcBef>
            </a:pPr>
            <a:endParaRPr lang="en-US" altLang="zh-CN" sz="20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endParaRPr lang="en-US" altLang="zh-CN" sz="2000" dirty="0">
              <a:latin typeface="Microsoft YaHei Light" panose="020B0502040204020203" pitchFamily="34" charset="-122"/>
              <a:ea typeface="Microsoft YaHei Light" panose="020B0502040204020203" pitchFamily="34" charset="-122"/>
            </a:endParaRPr>
          </a:p>
        </p:txBody>
      </p:sp>
      <p:sp>
        <p:nvSpPr>
          <p:cNvPr id="7" name="任意多边形: 形状 6">
            <a:extLst>
              <a:ext uri="{FF2B5EF4-FFF2-40B4-BE49-F238E27FC236}">
                <a16:creationId xmlns:a16="http://schemas.microsoft.com/office/drawing/2014/main" id="{3B88632B-1A86-471A-B824-BC0B500F89E0}"/>
              </a:ext>
            </a:extLst>
          </p:cNvPr>
          <p:cNvSpPr/>
          <p:nvPr/>
        </p:nvSpPr>
        <p:spPr>
          <a:xfrm>
            <a:off x="5448584" y="1333906"/>
            <a:ext cx="6153308" cy="4640741"/>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lvl="0" eaLnBrk="0" fontAlgn="base" hangingPunct="0">
              <a:spcBef>
                <a:spcPct val="0"/>
              </a:spcBef>
              <a:spcAft>
                <a:spcPct val="0"/>
              </a:spcAft>
            </a:pPr>
            <a:r>
              <a:rPr lang="zh-CN" altLang="zh-CN" dirty="0">
                <a:latin typeface="微软雅黑" panose="020B0503020204020204" pitchFamily="34" charset="-122"/>
                <a:ea typeface="微软雅黑" panose="020B0503020204020204" pitchFamily="34" charset="-122"/>
              </a:rPr>
              <a:t>—————————————————————</a:t>
            </a:r>
          </a:p>
          <a:p>
            <a:pPr marL="360000" lvl="0" indent="-288000" eaLnBrk="0" fontAlgn="base" hangingPunct="0">
              <a:spcBef>
                <a:spcPct val="0"/>
              </a:spcBef>
              <a:spcAft>
                <a:spcPct val="0"/>
              </a:spcAft>
              <a:buFont typeface="+mj-lt"/>
              <a:buAutoNum type="arabicPeriod"/>
            </a:pPr>
            <a:r>
              <a:rPr lang="en-US" altLang="zh-CN" dirty="0" err="1">
                <a:latin typeface="微软雅黑" panose="020B0503020204020204" pitchFamily="34" charset="-122"/>
                <a:ea typeface="微软雅黑" panose="020B0503020204020204" pitchFamily="34" charset="-122"/>
              </a:rPr>
              <a:t>InitQueue</a:t>
            </a:r>
            <a:r>
              <a:rPr lang="en-US" altLang="zh-CN" dirty="0">
                <a:latin typeface="微软雅黑" panose="020B0503020204020204" pitchFamily="34" charset="-122"/>
                <a:ea typeface="微软雅黑" panose="020B0503020204020204" pitchFamily="34" charset="-122"/>
              </a:rPr>
              <a:t>(queue)</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队列的初始化</a:t>
            </a:r>
            <a:endParaRPr lang="en-US" altLang="zh-CN"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for</a:t>
            </a:r>
            <a:r>
              <a:rPr lang="en-US" altLang="zh-CN" dirty="0">
                <a:latin typeface="微软雅黑" panose="020B0503020204020204" pitchFamily="34" charset="-122"/>
                <a:ea typeface="微软雅黑" panose="020B0503020204020204" pitchFamily="34" charset="-122"/>
              </a:rPr>
              <a:t> k </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1 </a:t>
            </a:r>
            <a:r>
              <a:rPr lang="en-US" altLang="zh-CN" b="1" dirty="0">
                <a:latin typeface="微软雅黑" panose="020B0503020204020204" pitchFamily="34" charset="-122"/>
                <a:ea typeface="微软雅黑" panose="020B0503020204020204" pitchFamily="34" charset="-122"/>
              </a:rPr>
              <a:t>to</a:t>
            </a:r>
            <a:r>
              <a:rPr lang="en-US" altLang="zh-CN" dirty="0">
                <a:latin typeface="微软雅黑" panose="020B0503020204020204" pitchFamily="34" charset="-122"/>
                <a:ea typeface="微软雅黑" panose="020B0503020204020204" pitchFamily="34" charset="-122"/>
              </a:rPr>
              <a:t> n </a:t>
            </a:r>
            <a:r>
              <a:rPr lang="en-US" altLang="zh-CN" b="1" dirty="0">
                <a:latin typeface="微软雅黑" panose="020B0503020204020204" pitchFamily="34" charset="-122"/>
                <a:ea typeface="微软雅黑" panose="020B0503020204020204" pitchFamily="34" charset="-122"/>
              </a:rPr>
              <a:t>do</a:t>
            </a:r>
          </a:p>
          <a:p>
            <a:pPr marL="360000" lvl="0" indent="-288000" eaLnBrk="0" fontAlgn="base" hangingPunct="0">
              <a:spcBef>
                <a:spcPct val="0"/>
              </a:spcBef>
              <a:spcAft>
                <a:spcPct val="0"/>
              </a:spcAft>
              <a:buFont typeface="+mj-lt"/>
              <a:buAutoNum type="arabicPeriod"/>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EnQueue</a:t>
            </a: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数字</a:t>
            </a:r>
            <a:r>
              <a:rPr lang="en-US" altLang="zh-CN" dirty="0">
                <a:latin typeface="微软雅黑" panose="020B0503020204020204" pitchFamily="34" charset="-122"/>
                <a:ea typeface="微软雅黑" panose="020B0503020204020204" pitchFamily="34" charset="-122"/>
              </a:rPr>
              <a:t>1--n</a:t>
            </a:r>
            <a:r>
              <a:rPr lang="zh-CN" altLang="en-US" dirty="0">
                <a:latin typeface="微软雅黑" panose="020B0503020204020204" pitchFamily="34" charset="-122"/>
                <a:ea typeface="微软雅黑" panose="020B0503020204020204" pitchFamily="34" charset="-122"/>
              </a:rPr>
              <a:t>依次入队</a:t>
            </a:r>
            <a:endParaRPr lang="en-US" altLang="zh-CN"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end</a:t>
            </a: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while </a:t>
            </a:r>
            <a:r>
              <a:rPr lang="en-US" altLang="zh-CN" dirty="0">
                <a:latin typeface="微软雅黑" panose="020B0503020204020204" pitchFamily="34" charset="-122"/>
                <a:ea typeface="微软雅黑" panose="020B0503020204020204" pitchFamily="34" charset="-122"/>
              </a:rPr>
              <a:t>Length(queue) &gt; 0</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do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循环至队列为空</a:t>
            </a:r>
            <a:endParaRPr lang="en-US" altLang="zh-CN"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for</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1 </a:t>
            </a:r>
            <a:r>
              <a:rPr lang="en-US" altLang="zh-CN" b="1" dirty="0">
                <a:latin typeface="微软雅黑" panose="020B0503020204020204" pitchFamily="34" charset="-122"/>
                <a:ea typeface="微软雅黑" panose="020B0503020204020204" pitchFamily="34" charset="-122"/>
              </a:rPr>
              <a:t>to</a:t>
            </a:r>
            <a:r>
              <a:rPr lang="en-US" altLang="zh-CN" dirty="0">
                <a:latin typeface="微软雅黑" panose="020B0503020204020204" pitchFamily="34" charset="-122"/>
                <a:ea typeface="微软雅黑" panose="020B0503020204020204" pitchFamily="34" charset="-122"/>
              </a:rPr>
              <a:t> m-1 </a:t>
            </a:r>
            <a:r>
              <a:rPr lang="en-US" altLang="zh-CN" b="1" dirty="0">
                <a:latin typeface="微软雅黑" panose="020B0503020204020204" pitchFamily="34" charset="-122"/>
                <a:ea typeface="微软雅黑" panose="020B0503020204020204" pitchFamily="34" charset="-122"/>
              </a:rPr>
              <a:t>do    </a:t>
            </a:r>
            <a:r>
              <a:rPr lang="en-US" altLang="zh-CN" dirty="0">
                <a:latin typeface="微软雅黑" panose="020B0503020204020204" pitchFamily="34" charset="-122"/>
                <a:ea typeface="微软雅黑" panose="020B0503020204020204" pitchFamily="34" charset="-122"/>
              </a:rPr>
              <a:t>//</a:t>
            </a:r>
            <a:r>
              <a:rPr lang="zh-CN" altLang="en-US" dirty="0">
                <a:solidFill>
                  <a:srgbClr val="FFFF00"/>
                </a:solidFill>
                <a:latin typeface="微软雅黑" panose="020B0503020204020204" pitchFamily="34" charset="-122"/>
                <a:ea typeface="微软雅黑" panose="020B0503020204020204" pitchFamily="34" charset="-122"/>
              </a:rPr>
              <a:t>重复</a:t>
            </a:r>
            <a:r>
              <a:rPr lang="en-US" altLang="zh-CN" dirty="0">
                <a:solidFill>
                  <a:srgbClr val="FFFF00"/>
                </a:solidFill>
                <a:latin typeface="微软雅黑" panose="020B0503020204020204" pitchFamily="34" charset="-122"/>
                <a:ea typeface="微软雅黑" panose="020B0503020204020204" pitchFamily="34" charset="-122"/>
              </a:rPr>
              <a:t>m-1</a:t>
            </a:r>
            <a:r>
              <a:rPr lang="zh-CN" altLang="en-US" dirty="0">
                <a:solidFill>
                  <a:srgbClr val="FFFF00"/>
                </a:solidFill>
                <a:latin typeface="微软雅黑" panose="020B0503020204020204" pitchFamily="34" charset="-122"/>
                <a:ea typeface="微软雅黑" panose="020B0503020204020204" pitchFamily="34" charset="-122"/>
              </a:rPr>
              <a:t>次出队后入队</a:t>
            </a:r>
            <a:endParaRPr lang="en-US" altLang="zh-CN" dirty="0">
              <a:solidFill>
                <a:srgbClr val="FFFF00"/>
              </a:solidFill>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   data </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GetFront</a:t>
            </a:r>
            <a:r>
              <a:rPr lang="en-US" altLang="zh-CN" dirty="0">
                <a:latin typeface="微软雅黑" panose="020B0503020204020204" pitchFamily="34" charset="-122"/>
                <a:ea typeface="微软雅黑" panose="020B0503020204020204" pitchFamily="34" charset="-122"/>
              </a:rPr>
              <a:t>(queue)</a:t>
            </a: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DeQueue</a:t>
            </a:r>
            <a:r>
              <a:rPr lang="en-US" altLang="zh-CN" dirty="0">
                <a:latin typeface="微软雅黑" panose="020B0503020204020204" pitchFamily="34" charset="-122"/>
                <a:ea typeface="微软雅黑" panose="020B0503020204020204" pitchFamily="34" charset="-122"/>
              </a:rPr>
              <a:t>(queue)</a:t>
            </a: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EnQueue</a:t>
            </a:r>
            <a:r>
              <a:rPr lang="en-US" altLang="zh-CN" dirty="0">
                <a:latin typeface="微软雅黑" panose="020B0503020204020204" pitchFamily="34" charset="-122"/>
                <a:ea typeface="微软雅黑" panose="020B0503020204020204" pitchFamily="34" charset="-122"/>
              </a:rPr>
              <a:t>(data)</a:t>
            </a:r>
          </a:p>
          <a:p>
            <a:pPr marL="360000" lvl="0" indent="-288000" eaLnBrk="0" fontAlgn="base" hangingPunct="0">
              <a:spcBef>
                <a:spcPct val="0"/>
              </a:spcBef>
              <a:spcAft>
                <a:spcPct val="0"/>
              </a:spcAft>
              <a:buFont typeface="+mj-lt"/>
              <a:buAutoNum type="arabicPeriod"/>
            </a:pPr>
            <a:r>
              <a:rPr lang="en-US" altLang="zh-CN"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end</a:t>
            </a:r>
          </a:p>
          <a:p>
            <a:pPr marL="360000" indent="-288000" eaLnBrk="0" fontAlgn="base" hangingPunct="0">
              <a:spcBef>
                <a:spcPct val="0"/>
              </a:spcBef>
              <a:spcAft>
                <a:spcPct val="0"/>
              </a:spcAft>
              <a:buFont typeface="+mj-lt"/>
              <a:buAutoNum type="arabicPeriod"/>
            </a:pPr>
            <a:r>
              <a:rPr lang="en-US" altLang="zh-CN" dirty="0">
                <a:latin typeface="微软雅黑" panose="020B0503020204020204" pitchFamily="34" charset="-122"/>
                <a:ea typeface="微软雅黑" panose="020B0503020204020204" pitchFamily="34" charset="-122"/>
              </a:rPr>
              <a:t>|  data </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GetFront</a:t>
            </a:r>
            <a:r>
              <a:rPr lang="en-US" altLang="zh-CN" dirty="0">
                <a:latin typeface="微软雅黑" panose="020B0503020204020204" pitchFamily="34" charset="-122"/>
                <a:ea typeface="微软雅黑" panose="020B0503020204020204" pitchFamily="34" charset="-122"/>
              </a:rPr>
              <a:t>(queue)</a:t>
            </a:r>
          </a:p>
          <a:p>
            <a:pPr marL="360000" lvl="0" indent="-288000" eaLnBrk="0" fontAlgn="base" hangingPunct="0">
              <a:spcBef>
                <a:spcPct val="0"/>
              </a:spcBef>
              <a:spcAft>
                <a:spcPct val="0"/>
              </a:spcAft>
              <a:buFont typeface="+mj-lt"/>
              <a:buAutoNum type="arabicPeriod"/>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DeQueue</a:t>
            </a:r>
            <a:r>
              <a:rPr lang="en-US" altLang="zh-CN" dirty="0">
                <a:latin typeface="微软雅黑" panose="020B0503020204020204" pitchFamily="34" charset="-122"/>
                <a:ea typeface="微软雅黑" panose="020B0503020204020204" pitchFamily="34" charset="-122"/>
              </a:rPr>
              <a:t>(queue)  //</a:t>
            </a:r>
            <a:r>
              <a:rPr lang="zh-CN" altLang="en-US" dirty="0">
                <a:latin typeface="微软雅黑" panose="020B0503020204020204" pitchFamily="34" charset="-122"/>
                <a:ea typeface="微软雅黑" panose="020B0503020204020204" pitchFamily="34" charset="-122"/>
              </a:rPr>
              <a:t>去除第</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次出队元素</a:t>
            </a:r>
            <a:endParaRPr lang="en-US" altLang="zh-CN"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print</a:t>
            </a:r>
            <a:r>
              <a:rPr lang="en-US" altLang="zh-CN" dirty="0">
                <a:latin typeface="微软雅黑" panose="020B0503020204020204" pitchFamily="34" charset="-122"/>
                <a:ea typeface="微软雅黑" panose="020B0503020204020204" pitchFamily="34" charset="-122"/>
              </a:rPr>
              <a:t> data                  //</a:t>
            </a:r>
            <a:r>
              <a:rPr lang="zh-CN" altLang="en-US" dirty="0">
                <a:latin typeface="微软雅黑" panose="020B0503020204020204" pitchFamily="34" charset="-122"/>
                <a:ea typeface="微软雅黑" panose="020B0503020204020204" pitchFamily="34" charset="-122"/>
              </a:rPr>
              <a:t>输出第</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次出队元素</a:t>
            </a:r>
            <a:endParaRPr lang="en-US" altLang="zh-CN" dirty="0">
              <a:latin typeface="微软雅黑" panose="020B0503020204020204" pitchFamily="34" charset="-122"/>
              <a:ea typeface="微软雅黑" panose="020B0503020204020204" pitchFamily="34" charset="-122"/>
            </a:endParaRPr>
          </a:p>
          <a:p>
            <a:pPr marL="360000" lvl="0" indent="-288000" eaLnBrk="0" fontAlgn="base" hangingPunct="0">
              <a:spcBef>
                <a:spcPct val="0"/>
              </a:spcBef>
              <a:spcAft>
                <a:spcPct val="0"/>
              </a:spcAft>
              <a:buFont typeface="+mj-lt"/>
              <a:buAutoNum type="arabicPeriod"/>
            </a:pPr>
            <a:r>
              <a:rPr lang="en-US" altLang="zh-CN" b="1" dirty="0">
                <a:latin typeface="微软雅黑" panose="020B0503020204020204" pitchFamily="34" charset="-122"/>
                <a:ea typeface="微软雅黑" panose="020B0503020204020204" pitchFamily="34" charset="-122"/>
              </a:rPr>
              <a:t>end</a:t>
            </a:r>
          </a:p>
          <a:p>
            <a:pPr lvl="0" eaLnBrk="0" fontAlgn="base" hangingPunct="0">
              <a:spcBef>
                <a:spcPct val="0"/>
              </a:spcBef>
              <a:spcAft>
                <a:spcPct val="0"/>
              </a:spcAft>
            </a:pPr>
            <a:r>
              <a:rPr lang="zh-CN" altLang="zh-CN" dirty="0">
                <a:latin typeface="微软雅黑" panose="020B0503020204020204" pitchFamily="34" charset="-122"/>
                <a:ea typeface="微软雅黑" panose="020B0503020204020204" pitchFamily="34" charset="-122"/>
              </a:rPr>
              <a:t>——————————————————————</a:t>
            </a:r>
          </a:p>
        </p:txBody>
      </p:sp>
      <p:sp>
        <p:nvSpPr>
          <p:cNvPr id="5" name="文本框 4">
            <a:extLst>
              <a:ext uri="{FF2B5EF4-FFF2-40B4-BE49-F238E27FC236}">
                <a16:creationId xmlns:a16="http://schemas.microsoft.com/office/drawing/2014/main" id="{8274403D-BDFF-42E7-9377-F43A6749E2BA}"/>
              </a:ext>
            </a:extLst>
          </p:cNvPr>
          <p:cNvSpPr txBox="1"/>
          <p:nvPr/>
        </p:nvSpPr>
        <p:spPr>
          <a:xfrm>
            <a:off x="1222749" y="4517679"/>
            <a:ext cx="2678938" cy="707886"/>
          </a:xfrm>
          <a:prstGeom prst="rect">
            <a:avLst/>
          </a:prstGeom>
          <a:noFill/>
        </p:spPr>
        <p:txBody>
          <a:bodyPr wrap="none" rtlCol="0">
            <a:spAutoFit/>
          </a:bodyPr>
          <a:lstStyle/>
          <a:p>
            <a:pPr marL="285750" indent="-285750">
              <a:buFont typeface="Arial" panose="020B0604020202020204" pitchFamily="34" charset="0"/>
              <a:buChar char="•"/>
            </a:pPr>
            <a:r>
              <a:rPr lang="zh-CN" altLang="en-US" sz="2000" dirty="0">
                <a:solidFill>
                  <a:srgbClr val="009999"/>
                </a:solidFill>
              </a:rPr>
              <a:t>时间复杂度：</a:t>
            </a:r>
            <a:r>
              <a:rPr lang="en-US" altLang="zh-CN" sz="2000" dirty="0">
                <a:solidFill>
                  <a:srgbClr val="009999"/>
                </a:solidFill>
              </a:rPr>
              <a:t>O(nm)</a:t>
            </a:r>
          </a:p>
          <a:p>
            <a:pPr marL="285750" indent="-285750">
              <a:buFont typeface="Arial" panose="020B0604020202020204" pitchFamily="34" charset="0"/>
              <a:buChar char="•"/>
            </a:pPr>
            <a:r>
              <a:rPr lang="zh-CN" altLang="en-US" sz="2000" dirty="0">
                <a:solidFill>
                  <a:srgbClr val="009999"/>
                </a:solidFill>
              </a:rPr>
              <a:t>空间复杂度：</a:t>
            </a:r>
            <a:r>
              <a:rPr lang="en-US" altLang="zh-CN" sz="2000" dirty="0">
                <a:solidFill>
                  <a:srgbClr val="009999"/>
                </a:solidFill>
              </a:rPr>
              <a:t>O(n)</a:t>
            </a:r>
            <a:endParaRPr lang="zh-CN" altLang="en-US" sz="2000" dirty="0">
              <a:solidFill>
                <a:srgbClr val="009999"/>
              </a:solidFill>
            </a:endParaRPr>
          </a:p>
        </p:txBody>
      </p:sp>
    </p:spTree>
    <p:extLst>
      <p:ext uri="{BB962C8B-B14F-4D97-AF65-F5344CB8AC3E}">
        <p14:creationId xmlns:p14="http://schemas.microsoft.com/office/powerpoint/2010/main" val="90266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dirty="0" err="1"/>
              <a:t>队列应用</a:t>
            </a:r>
            <a:r>
              <a:rPr kumimoji="0" dirty="0"/>
              <a:t>：</a:t>
            </a:r>
            <a:r>
              <a:rPr kumimoji="0" lang="zh-CN" altLang="en-US" dirty="0"/>
              <a:t>约瑟夫环问题</a:t>
            </a:r>
            <a:endParaRPr dirty="0"/>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xfrm>
            <a:off x="584225" y="1276351"/>
            <a:ext cx="11055325" cy="45269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p>
            <a:pPr marL="341313" indent="-341313">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问题的来源：</a:t>
            </a:r>
            <a:endParaRPr lang="en-US" altLang="zh-CN" sz="2600"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r>
              <a:rPr lang="en-US" altLang="zh-CN" sz="2600" dirty="0">
                <a:latin typeface="Microsoft YaHei Light" panose="020B0502040204020203" pitchFamily="34" charset="-122"/>
                <a:ea typeface="Microsoft YaHei Light" panose="020B0502040204020203" pitchFamily="34" charset="-122"/>
              </a:rPr>
              <a:t>   </a:t>
            </a:r>
            <a:r>
              <a:rPr lang="en-US" altLang="zh-CN" sz="2200" dirty="0">
                <a:latin typeface="Microsoft YaHei Light" panose="020B0502040204020203" pitchFamily="34" charset="-122"/>
                <a:ea typeface="Microsoft YaHei Light" panose="020B0502040204020203" pitchFamily="34" charset="-122"/>
              </a:rPr>
              <a:t>1</a:t>
            </a:r>
            <a:r>
              <a:rPr lang="zh-CN" altLang="en-US" sz="2200" dirty="0">
                <a:latin typeface="Microsoft YaHei Light" panose="020B0502040204020203" pitchFamily="34" charset="-122"/>
                <a:ea typeface="Microsoft YaHei Light" panose="020B0502040204020203" pitchFamily="34" charset="-122"/>
              </a:rPr>
              <a:t>）</a:t>
            </a:r>
            <a:r>
              <a:rPr lang="zh-CN" altLang="en-US" sz="2000" dirty="0"/>
              <a:t>在罗马人占领乔塔帕特后，</a:t>
            </a:r>
            <a:r>
              <a:rPr lang="en-US" altLang="zh-CN" sz="2000" dirty="0"/>
              <a:t>39 </a:t>
            </a:r>
            <a:r>
              <a:rPr lang="zh-CN" altLang="en-US" sz="2000" dirty="0"/>
              <a:t>个犹太人与</a:t>
            </a:r>
            <a:r>
              <a:rPr lang="en-US" altLang="zh-CN" sz="2000" dirty="0"/>
              <a:t>Josephus</a:t>
            </a:r>
            <a:r>
              <a:rPr lang="zh-CN" altLang="en-US" sz="2000" dirty="0"/>
              <a:t>及他的朋友躲到一个洞中，</a:t>
            </a:r>
            <a:r>
              <a:rPr lang="en-US" altLang="zh-CN" sz="2000" dirty="0"/>
              <a:t>39</a:t>
            </a:r>
            <a:r>
              <a:rPr lang="zh-CN" altLang="en-US" sz="2000" dirty="0"/>
              <a:t>个犹太人决定宁愿死也不要被敌人抓到，于是决定了一个自杀方式，</a:t>
            </a:r>
            <a:r>
              <a:rPr lang="en-US" altLang="zh-CN" sz="2000" dirty="0"/>
              <a:t>41</a:t>
            </a:r>
            <a:r>
              <a:rPr lang="zh-CN" altLang="en-US" sz="2000" dirty="0"/>
              <a:t>个人排成一个圆圈，由第</a:t>
            </a:r>
            <a:r>
              <a:rPr lang="en-US" altLang="zh-CN" sz="2000" dirty="0"/>
              <a:t>1</a:t>
            </a:r>
            <a:r>
              <a:rPr lang="zh-CN" altLang="en-US" sz="2000" dirty="0"/>
              <a:t>个人开始报数，每报数到第</a:t>
            </a:r>
            <a:r>
              <a:rPr lang="en-US" altLang="zh-CN" sz="2000" dirty="0"/>
              <a:t>3</a:t>
            </a:r>
            <a:r>
              <a:rPr lang="zh-CN" altLang="en-US" sz="2000" dirty="0"/>
              <a:t>人该人就必须自杀，然后再由下一个重新报数，直到所有人都自杀身亡为止。然而</a:t>
            </a:r>
            <a:r>
              <a:rPr lang="en-US" altLang="zh-CN" sz="2000" dirty="0"/>
              <a:t>Josephus </a:t>
            </a:r>
            <a:r>
              <a:rPr lang="zh-CN" altLang="en-US" sz="2000" dirty="0"/>
              <a:t>和他的朋友并不想遵从，开始时要站在什么地方才能避免被处决（即</a:t>
            </a:r>
            <a:r>
              <a:rPr lang="en-US" altLang="zh-CN" sz="2000" dirty="0"/>
              <a:t>Josephus</a:t>
            </a:r>
            <a:r>
              <a:rPr lang="zh-CN" altLang="en-US" sz="2000" dirty="0"/>
              <a:t>和他盆友能留到最后）？</a:t>
            </a:r>
            <a:endParaRPr lang="en-US" altLang="zh-CN" sz="2000" dirty="0"/>
          </a:p>
          <a:p>
            <a:pPr marL="0" indent="0">
              <a:lnSpc>
                <a:spcPct val="104000"/>
              </a:lnSpc>
              <a:spcBef>
                <a:spcPts val="600"/>
              </a:spcBef>
              <a:buNone/>
            </a:pPr>
            <a:r>
              <a:rPr lang="en-US" altLang="zh-CN" sz="2000" dirty="0">
                <a:latin typeface="Microsoft YaHei Light" panose="020B0502040204020203" pitchFamily="34" charset="-122"/>
                <a:ea typeface="Microsoft YaHei Light" panose="020B0502040204020203" pitchFamily="34" charset="-122"/>
              </a:rPr>
              <a:t>    </a:t>
            </a:r>
          </a:p>
          <a:p>
            <a:pPr marL="0" indent="0">
              <a:lnSpc>
                <a:spcPct val="104000"/>
              </a:lnSpc>
              <a:spcBef>
                <a:spcPts val="600"/>
              </a:spcBef>
              <a:buNone/>
            </a:pPr>
            <a:r>
              <a:rPr lang="en-US" altLang="zh-CN" sz="2000" dirty="0">
                <a:latin typeface="Microsoft YaHei Light" panose="020B0502040204020203" pitchFamily="34" charset="-122"/>
                <a:ea typeface="Microsoft YaHei Light" panose="020B0502040204020203" pitchFamily="34" charset="-122"/>
              </a:rPr>
              <a:t>   2</a:t>
            </a:r>
            <a:r>
              <a:rPr lang="zh-CN" altLang="en-US" sz="2000" dirty="0">
                <a:latin typeface="Microsoft YaHei Light" panose="020B0502040204020203" pitchFamily="34" charset="-122"/>
                <a:ea typeface="Microsoft YaHei Light" panose="020B0502040204020203" pitchFamily="34" charset="-122"/>
              </a:rPr>
              <a:t>）</a:t>
            </a:r>
            <a:r>
              <a:rPr lang="zh-CN" altLang="en-US" dirty="0"/>
              <a:t> </a:t>
            </a:r>
            <a:r>
              <a:rPr lang="en-US" altLang="zh-CN" sz="2200" dirty="0"/>
              <a:t>17</a:t>
            </a:r>
            <a:r>
              <a:rPr lang="zh-CN" altLang="en-US" sz="2200" dirty="0"/>
              <a:t>世纪的法国数学家加斯帕在</a:t>
            </a:r>
            <a:r>
              <a:rPr lang="en-US" altLang="zh-CN" sz="2200" dirty="0"/>
              <a:t>《</a:t>
            </a:r>
            <a:r>
              <a:rPr lang="zh-CN" altLang="en-US" sz="2200" dirty="0"/>
              <a:t>数目的游戏问题</a:t>
            </a:r>
            <a:r>
              <a:rPr lang="en-US" altLang="zh-CN" sz="2200" dirty="0"/>
              <a:t>》</a:t>
            </a:r>
            <a:r>
              <a:rPr lang="zh-CN" altLang="en-US" sz="2200" dirty="0"/>
              <a:t>中讲了这样一个故事：</a:t>
            </a:r>
            <a:r>
              <a:rPr lang="en-US" altLang="zh-CN" sz="2200" dirty="0"/>
              <a:t>15</a:t>
            </a:r>
            <a:r>
              <a:rPr lang="zh-CN" altLang="en-US" sz="2200" dirty="0"/>
              <a:t>个教徒和</a:t>
            </a:r>
            <a:r>
              <a:rPr lang="en-US" altLang="zh-CN" sz="2200" dirty="0"/>
              <a:t>15 </a:t>
            </a:r>
            <a:r>
              <a:rPr lang="zh-CN" altLang="en-US" sz="2200" dirty="0"/>
              <a:t>个非教徒在深海上遇险，必须将一半的人投入海中，其余的人才能幸免于难，于是想了一个办法：</a:t>
            </a:r>
            <a:r>
              <a:rPr lang="en-US" altLang="zh-CN" sz="2200" dirty="0"/>
              <a:t>30</a:t>
            </a:r>
            <a:r>
              <a:rPr lang="zh-CN" altLang="en-US" sz="2200" dirty="0"/>
              <a:t>个人围成一圆圈，从第一个人开始依次报数，每数到第九个人就将他扔入大海，如此循环进行直到仅余</a:t>
            </a:r>
            <a:r>
              <a:rPr lang="en-US" altLang="zh-CN" sz="2200" dirty="0"/>
              <a:t>15</a:t>
            </a:r>
            <a:r>
              <a:rPr lang="zh-CN" altLang="en-US" sz="2200" dirty="0"/>
              <a:t>个人为止。问怎样排法，才能使每次投入大海的都是非教徒。</a:t>
            </a:r>
            <a:endParaRPr lang="en-US" altLang="zh-CN" dirty="0">
              <a:latin typeface="Microsoft YaHei Light" panose="020B0502040204020203" pitchFamily="34" charset="-122"/>
              <a:ea typeface="Microsoft YaHei Light" panose="020B0502040204020203" pitchFamily="34" charset="-122"/>
            </a:endParaRPr>
          </a:p>
          <a:p>
            <a:pPr marL="0" indent="0">
              <a:lnSpc>
                <a:spcPct val="104000"/>
              </a:lnSpc>
              <a:spcBef>
                <a:spcPts val="600"/>
              </a:spcBef>
              <a:buNone/>
            </a:pPr>
            <a:r>
              <a:rPr lang="en-US" altLang="zh-CN" sz="2600" dirty="0">
                <a:latin typeface="Microsoft YaHei Light" panose="020B0502040204020203" pitchFamily="34" charset="-122"/>
                <a:ea typeface="Microsoft YaHei Light" panose="020B0502040204020203" pitchFamily="34" charset="-122"/>
              </a:rPr>
              <a:t>       	</a:t>
            </a:r>
          </a:p>
        </p:txBody>
      </p:sp>
    </p:spTree>
    <p:extLst>
      <p:ext uri="{BB962C8B-B14F-4D97-AF65-F5344CB8AC3E}">
        <p14:creationId xmlns:p14="http://schemas.microsoft.com/office/powerpoint/2010/main" val="33235925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问题描述</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一列挂有</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节车厢的货运列车途径</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个车站，计划在行车途中将各节车厢停放在不同的车站。假设</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个车站的编号从</a:t>
            </a:r>
            <a:r>
              <a:rPr lang="en-US" altLang="zh-CN" sz="2600" i="1" dirty="0">
                <a:solidFill>
                  <a:srgbClr val="C00000"/>
                </a:solidFill>
                <a:latin typeface="Microsoft YaHei Light" panose="020B0502040204020203" pitchFamily="34" charset="-122"/>
                <a:ea typeface="Microsoft YaHei Light" panose="020B0502040204020203" pitchFamily="34" charset="-122"/>
              </a:rPr>
              <a:t>1</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到</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zh-CN" sz="2600" dirty="0">
                <a:latin typeface="Microsoft YaHei Light" panose="020B0502040204020203" pitchFamily="34" charset="-122"/>
                <a:ea typeface="Microsoft YaHei Light" panose="020B0502040204020203" pitchFamily="34" charset="-122"/>
              </a:rPr>
              <a:t>，货运列车按照从第</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站到第</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1</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站的顺序经过这些车站，且将与车站编号相同的车厢卸下</a:t>
            </a:r>
            <a:r>
              <a:rPr lang="zh-CN" altLang="en-US" sz="2600" dirty="0">
                <a:latin typeface="Microsoft YaHei Light" panose="020B0502040204020203" pitchFamily="34" charset="-122"/>
                <a:ea typeface="Microsoft YaHei Light" panose="020B0502040204020203" pitchFamily="34" charset="-122"/>
              </a:rPr>
              <a:t>。</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货运列车的各节车厢</a:t>
            </a:r>
            <a:r>
              <a:rPr lang="zh-CN" altLang="zh-CN" sz="2600" b="1" dirty="0">
                <a:solidFill>
                  <a:srgbClr val="FF0000"/>
                </a:solidFill>
                <a:latin typeface="Microsoft YaHei Light" panose="020B0502040204020203" pitchFamily="34" charset="-122"/>
                <a:ea typeface="Microsoft YaHei Light" panose="020B0502040204020203" pitchFamily="34" charset="-122"/>
              </a:rPr>
              <a:t>以随机顺序入轨</a:t>
            </a:r>
            <a:r>
              <a:rPr lang="zh-CN" altLang="zh-CN" sz="2600" dirty="0">
                <a:latin typeface="Microsoft YaHei Light" panose="020B0502040204020203" pitchFamily="34" charset="-122"/>
                <a:ea typeface="Microsoft YaHei Light" panose="020B0502040204020203" pitchFamily="34" charset="-122"/>
              </a:rPr>
              <a:t>，为方便列车在各个车站卸掉相应的车厢，则须重排这些车厢，使得各车厢</a:t>
            </a:r>
            <a:r>
              <a:rPr lang="zh-CN" altLang="zh-CN" sz="2600" dirty="0">
                <a:solidFill>
                  <a:srgbClr val="7030A0"/>
                </a:solidFill>
                <a:latin typeface="Microsoft YaHei Light" panose="020B0502040204020203" pitchFamily="34" charset="-122"/>
                <a:ea typeface="Microsoft YaHei Light" panose="020B0502040204020203" pitchFamily="34" charset="-122"/>
              </a:rPr>
              <a:t>从前往后</a:t>
            </a:r>
            <a:r>
              <a:rPr lang="zh-CN" altLang="zh-CN" sz="2600" dirty="0">
                <a:latin typeface="Microsoft YaHei Light" panose="020B0502040204020203" pitchFamily="34" charset="-122"/>
                <a:ea typeface="Microsoft YaHei Light" panose="020B0502040204020203" pitchFamily="34" charset="-122"/>
              </a:rPr>
              <a:t>依次编号为</a:t>
            </a:r>
            <a:r>
              <a:rPr lang="en-US" altLang="zh-CN" sz="2600" i="1" dirty="0">
                <a:solidFill>
                  <a:srgbClr val="311FB7"/>
                </a:solidFill>
                <a:latin typeface="Microsoft YaHei Light" panose="020B0502040204020203" pitchFamily="34" charset="-122"/>
                <a:ea typeface="Microsoft YaHei Light" panose="020B0502040204020203" pitchFamily="34" charset="-122"/>
              </a:rPr>
              <a:t>1 </a:t>
            </a:r>
            <a:r>
              <a:rPr lang="zh-CN" altLang="zh-CN" sz="2600" dirty="0">
                <a:latin typeface="Microsoft YaHei Light" panose="020B0502040204020203" pitchFamily="34" charset="-122"/>
                <a:ea typeface="Microsoft YaHei Light" panose="020B0502040204020203" pitchFamily="34" charset="-122"/>
              </a:rPr>
              <a:t>到</a:t>
            </a:r>
            <a:r>
              <a:rPr lang="en-US" altLang="zh-CN" sz="2600" i="1" dirty="0">
                <a:solidFill>
                  <a:srgbClr val="311FB7"/>
                </a:solidFill>
                <a:latin typeface="Microsoft YaHei Light" panose="020B0502040204020203" pitchFamily="34" charset="-122"/>
                <a:ea typeface="Microsoft YaHei Light" panose="020B0502040204020203" pitchFamily="34" charset="-122"/>
              </a:rPr>
              <a:t>n</a:t>
            </a:r>
            <a:r>
              <a:rPr lang="zh-CN" altLang="zh-CN" sz="2600" dirty="0">
                <a:latin typeface="Microsoft YaHei Light" panose="020B0502040204020203" pitchFamily="34" charset="-122"/>
                <a:ea typeface="Microsoft YaHei Light" panose="020B0502040204020203" pitchFamily="34" charset="-122"/>
              </a:rPr>
              <a:t>，这样在每个车站只需</a:t>
            </a:r>
            <a:r>
              <a:rPr lang="zh-CN" altLang="zh-CN" sz="2600" dirty="0">
                <a:solidFill>
                  <a:srgbClr val="7030A0"/>
                </a:solidFill>
                <a:latin typeface="Microsoft YaHei Light" panose="020B0502040204020203" pitchFamily="34" charset="-122"/>
                <a:ea typeface="Microsoft YaHei Light" panose="020B0502040204020203" pitchFamily="34" charset="-122"/>
              </a:rPr>
              <a:t>卸掉当前最后一节车厢</a:t>
            </a:r>
            <a:r>
              <a:rPr lang="zh-CN" altLang="zh-CN" sz="2600" dirty="0">
                <a:latin typeface="Microsoft YaHei Light" panose="020B0502040204020203" pitchFamily="34" charset="-122"/>
                <a:ea typeface="Microsoft YaHei Light" panose="020B0502040204020203" pitchFamily="34" charset="-122"/>
              </a:rPr>
              <a:t>即可。</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车厢重排可通过</a:t>
            </a:r>
            <a:r>
              <a:rPr lang="zh-CN" altLang="zh-CN" sz="2600" b="1" dirty="0">
                <a:solidFill>
                  <a:srgbClr val="4D7732"/>
                </a:solidFill>
                <a:latin typeface="Microsoft YaHei Light" panose="020B0502040204020203" pitchFamily="34" charset="-122"/>
                <a:ea typeface="Microsoft YaHei Light" panose="020B0502040204020203" pitchFamily="34" charset="-122"/>
              </a:rPr>
              <a:t>转轨站</a:t>
            </a:r>
            <a:r>
              <a:rPr lang="zh-CN" altLang="zh-CN" sz="2600" dirty="0">
                <a:latin typeface="Microsoft YaHei Light" panose="020B0502040204020203" pitchFamily="34" charset="-122"/>
                <a:ea typeface="Microsoft YaHei Light" panose="020B0502040204020203" pitchFamily="34" charset="-122"/>
              </a:rPr>
              <a:t>完成。一个转轨站包含</a:t>
            </a:r>
            <a:r>
              <a:rPr lang="zh-CN" altLang="en-US" sz="2600" dirty="0">
                <a:latin typeface="Microsoft YaHei Light" panose="020B0502040204020203" pitchFamily="34" charset="-122"/>
                <a:ea typeface="Microsoft YaHei Light" panose="020B0502040204020203" pitchFamily="34" charset="-122"/>
              </a:rPr>
              <a:t> </a:t>
            </a:r>
            <a:r>
              <a:rPr lang="en-US" altLang="zh-CN" sz="2600" b="1" i="1" dirty="0">
                <a:solidFill>
                  <a:srgbClr val="222268"/>
                </a:solidFill>
                <a:latin typeface="Microsoft YaHei Light" panose="020B0502040204020203" pitchFamily="34" charset="-122"/>
                <a:ea typeface="Microsoft YaHei Light" panose="020B0502040204020203" pitchFamily="34" charset="-122"/>
              </a:rPr>
              <a:t>1</a:t>
            </a:r>
            <a:r>
              <a:rPr lang="zh-CN" altLang="en-US" sz="2600" b="1" i="1" dirty="0">
                <a:solidFill>
                  <a:srgbClr val="222268"/>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个入轨</a:t>
            </a:r>
            <a:r>
              <a:rPr lang="zh-CN" altLang="en-US" sz="2600" dirty="0">
                <a:latin typeface="Microsoft YaHei Light" panose="020B0502040204020203" pitchFamily="34" charset="-122"/>
                <a:ea typeface="Microsoft YaHei Light" panose="020B0502040204020203" pitchFamily="34" charset="-122"/>
              </a:rPr>
              <a:t> （</a:t>
            </a:r>
            <a:r>
              <a:rPr lang="en-US" altLang="zh-CN" sz="2600" dirty="0">
                <a:latin typeface="Microsoft YaHei Light" panose="020B0502040204020203" pitchFamily="34" charset="-122"/>
                <a:ea typeface="Microsoft YaHei Light" panose="020B0502040204020203" pitchFamily="34" charset="-122"/>
              </a:rPr>
              <a:t>I</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a:t>
            </a:r>
            <a:r>
              <a:rPr lang="en-US" altLang="zh-CN" sz="2600" b="1" i="1" dirty="0">
                <a:solidFill>
                  <a:srgbClr val="222268"/>
                </a:solidFill>
                <a:latin typeface="Microsoft YaHei Light" panose="020B0502040204020203" pitchFamily="34" charset="-122"/>
                <a:ea typeface="Microsoft YaHei Light" panose="020B0502040204020203" pitchFamily="34" charset="-122"/>
              </a:rPr>
              <a:t> 1</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个出轨</a:t>
            </a:r>
            <a:r>
              <a:rPr lang="zh-CN" altLang="en-US" sz="2600" dirty="0">
                <a:latin typeface="Microsoft YaHei Light" panose="020B0502040204020203" pitchFamily="34" charset="-122"/>
                <a:ea typeface="Microsoft YaHei Light" panose="020B0502040204020203" pitchFamily="34" charset="-122"/>
              </a:rPr>
              <a:t>（</a:t>
            </a:r>
            <a:r>
              <a:rPr lang="en-US" altLang="zh-CN" sz="2600" dirty="0">
                <a:latin typeface="Microsoft YaHei Light" panose="020B0502040204020203" pitchFamily="34" charset="-122"/>
                <a:ea typeface="Microsoft YaHei Light" panose="020B0502040204020203" pitchFamily="34" charset="-122"/>
              </a:rPr>
              <a:t>O</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和</a:t>
            </a:r>
            <a:r>
              <a:rPr lang="zh-CN" altLang="en-US" sz="2600" dirty="0">
                <a:latin typeface="Microsoft YaHei Light" panose="020B0502040204020203" pitchFamily="34" charset="-122"/>
                <a:ea typeface="Microsoft YaHei Light" panose="020B0502040204020203" pitchFamily="34" charset="-122"/>
              </a:rPr>
              <a:t> </a:t>
            </a:r>
            <a:r>
              <a:rPr lang="en-US" altLang="zh-CN" sz="2600" b="1" i="1" dirty="0">
                <a:solidFill>
                  <a:srgbClr val="222268"/>
                </a:solidFill>
                <a:latin typeface="Microsoft YaHei Light" panose="020B0502040204020203" pitchFamily="34" charset="-122"/>
                <a:ea typeface="Microsoft YaHei Light" panose="020B0502040204020203" pitchFamily="34" charset="-122"/>
              </a:rPr>
              <a:t>k</a:t>
            </a:r>
            <a:r>
              <a:rPr lang="zh-CN" altLang="en-US" sz="2600" b="1" dirty="0">
                <a:solidFill>
                  <a:srgbClr val="222268"/>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个位于入轨和出轨之间缓冲轨</a:t>
            </a:r>
            <a:r>
              <a:rPr lang="zh-CN" altLang="en-US" sz="2600" dirty="0">
                <a:latin typeface="Microsoft YaHei Light" panose="020B0502040204020203" pitchFamily="34" charset="-122"/>
                <a:ea typeface="Microsoft YaHei Light" panose="020B0502040204020203" pitchFamily="34" charset="-122"/>
              </a:rPr>
              <a:t>（</a:t>
            </a:r>
            <a:r>
              <a:rPr lang="en-US" altLang="zh-CN" sz="2600" b="1" dirty="0">
                <a:latin typeface="Microsoft YaHei Light" panose="020B0502040204020203" pitchFamily="34" charset="-122"/>
                <a:ea typeface="Microsoft YaHei Light" panose="020B0502040204020203" pitchFamily="34" charset="-122"/>
              </a:rPr>
              <a:t>H</a:t>
            </a:r>
            <a:r>
              <a:rPr lang="en-US" altLang="zh-CN" sz="2600" b="1" baseline="-25000" dirty="0">
                <a:latin typeface="Microsoft YaHei Light" panose="020B0502040204020203" pitchFamily="34" charset="-122"/>
                <a:ea typeface="Microsoft YaHei Light" panose="020B0502040204020203" pitchFamily="34" charset="-122"/>
              </a:rPr>
              <a:t>i</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。请设计合适的算法来实现火车车厢的重排。</a:t>
            </a:r>
            <a:endParaRPr lang="zh-CN" altLang="en-US" sz="2200" dirty="0">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E268B1-80F7-44DA-991C-281A6E3F29EA}"/>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3" name="副标题 2">
            <a:extLst>
              <a:ext uri="{FF2B5EF4-FFF2-40B4-BE49-F238E27FC236}">
                <a16:creationId xmlns:a16="http://schemas.microsoft.com/office/drawing/2014/main" id="{5979585A-7A28-47CB-8518-9927EBC8DCCD}"/>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E54CACB-CDD4-4F79-9B14-0D366CB9AF62}"/>
              </a:ext>
            </a:extLst>
          </p:cNvPr>
          <p:cNvSpPr>
            <a:spLocks noGrp="1"/>
          </p:cNvSpPr>
          <p:nvPr>
            <p:ph type="body" idx="10"/>
          </p:nvPr>
        </p:nvSpPr>
        <p:spPr/>
        <p:txBody>
          <a:bodyPr/>
          <a:lstStyle/>
          <a:p>
            <a:endParaRPr lang="zh-CN" altLang="en-US"/>
          </a:p>
        </p:txBody>
      </p:sp>
      <p:sp>
        <p:nvSpPr>
          <p:cNvPr id="156675" name="内容占位符 2">
            <a:extLst>
              <a:ext uri="{FF2B5EF4-FFF2-40B4-BE49-F238E27FC236}">
                <a16:creationId xmlns:a16="http://schemas.microsoft.com/office/drawing/2014/main" id="{8873FE8F-D954-43A5-8A98-0C76E23230FF}"/>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4000"/>
              </a:lnSpc>
              <a:spcBef>
                <a:spcPts val="600"/>
              </a:spcBef>
            </a:pPr>
            <a:r>
              <a:rPr lang="zh-CN" altLang="zh-CN" sz="2200" dirty="0">
                <a:latin typeface="Microsoft YaHei Light" panose="020B0502040204020203" pitchFamily="34" charset="-122"/>
                <a:ea typeface="Microsoft YaHei Light" panose="020B0502040204020203" pitchFamily="34" charset="-122"/>
              </a:rPr>
              <a:t>本质</a:t>
            </a:r>
            <a:r>
              <a:rPr lang="zh-CN" altLang="en-US" sz="2200" dirty="0">
                <a:latin typeface="Microsoft YaHei Light" panose="020B0502040204020203" pitchFamily="34" charset="-122"/>
                <a:ea typeface="Microsoft YaHei Light" panose="020B0502040204020203" pitchFamily="34" charset="-122"/>
              </a:rPr>
              <a:t>：</a:t>
            </a:r>
            <a:r>
              <a:rPr lang="zh-CN" altLang="zh-CN" sz="2200" dirty="0">
                <a:latin typeface="Microsoft YaHei Light" panose="020B0502040204020203" pitchFamily="34" charset="-122"/>
                <a:ea typeface="Microsoft YaHei Light" panose="020B0502040204020203" pitchFamily="34" charset="-122"/>
              </a:rPr>
              <a:t>将一个无序序列转换成一个以队列方式组织的有序序列</a:t>
            </a:r>
            <a:endParaRPr lang="en-US" altLang="zh-CN" sz="22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zh-CN" sz="1900" dirty="0">
                <a:latin typeface="Microsoft YaHei Light" panose="020B0502040204020203" pitchFamily="34" charset="-122"/>
                <a:ea typeface="Microsoft YaHei Light" panose="020B0502040204020203" pitchFamily="34" charset="-122"/>
              </a:rPr>
              <a:t>转换过程</a:t>
            </a:r>
            <a:r>
              <a:rPr lang="zh-CN" altLang="en-US" sz="1900" dirty="0">
                <a:latin typeface="Microsoft YaHei Light" panose="020B0502040204020203" pitchFamily="34" charset="-122"/>
                <a:ea typeface="Microsoft YaHei Light" panose="020B0502040204020203" pitchFamily="34" charset="-122"/>
              </a:rPr>
              <a:t>采用</a:t>
            </a:r>
            <a:r>
              <a:rPr lang="zh-CN" altLang="zh-CN" sz="1900" dirty="0">
                <a:latin typeface="Microsoft YaHei Light" panose="020B0502040204020203" pitchFamily="34" charset="-122"/>
                <a:ea typeface="Microsoft YaHei Light" panose="020B0502040204020203" pitchFamily="34" charset="-122"/>
              </a:rPr>
              <a:t>缓冲轨存储尚未确定输出次序的车厢，满足递增或增减的特性即可，以栈或队列组织均可</a:t>
            </a:r>
            <a:endParaRPr lang="en-US" altLang="zh-CN" sz="1900" dirty="0">
              <a:latin typeface="Microsoft YaHei Light" panose="020B0502040204020203" pitchFamily="34" charset="-122"/>
              <a:ea typeface="Microsoft YaHei Light" panose="020B0502040204020203" pitchFamily="34" charset="-122"/>
            </a:endParaRPr>
          </a:p>
          <a:p>
            <a:pPr marL="341313" indent="-341313">
              <a:lnSpc>
                <a:spcPct val="114000"/>
              </a:lnSpc>
              <a:spcBef>
                <a:spcPts val="600"/>
              </a:spcBef>
            </a:pPr>
            <a:r>
              <a:rPr lang="zh-CN" altLang="en-US" sz="2200" dirty="0">
                <a:latin typeface="Microsoft YaHei Light" panose="020B0502040204020203" pitchFamily="34" charset="-122"/>
                <a:ea typeface="Microsoft YaHei Light" panose="020B0502040204020203" pitchFamily="34" charset="-122"/>
              </a:rPr>
              <a:t>若</a:t>
            </a:r>
            <a:r>
              <a:rPr lang="zh-CN" altLang="zh-CN" sz="2200" dirty="0">
                <a:latin typeface="Microsoft YaHei Light" panose="020B0502040204020203" pitchFamily="34" charset="-122"/>
                <a:ea typeface="Microsoft YaHei Light" panose="020B0502040204020203" pitchFamily="34" charset="-122"/>
              </a:rPr>
              <a:t>将每个缓冲轨看成一个队列</a:t>
            </a:r>
            <a:endParaRPr lang="en-US" altLang="zh-CN" sz="22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en-US" sz="1900" dirty="0">
                <a:latin typeface="Microsoft YaHei Light" panose="020B0502040204020203" pitchFamily="34" charset="-122"/>
                <a:ea typeface="Microsoft YaHei Light" panose="020B0502040204020203" pitchFamily="34" charset="-122"/>
              </a:rPr>
              <a:t>转化为：</a:t>
            </a:r>
            <a:r>
              <a:rPr lang="zh-CN" altLang="zh-CN" sz="1900" dirty="0">
                <a:latin typeface="Microsoft YaHei Light" panose="020B0502040204020203" pitchFamily="34" charset="-122"/>
                <a:ea typeface="Microsoft YaHei Light" panose="020B0502040204020203" pitchFamily="34" charset="-122"/>
              </a:rPr>
              <a:t>将一个长度为</a:t>
            </a:r>
            <a:r>
              <a:rPr lang="zh-CN" altLang="en-US" sz="1900" dirty="0">
                <a:latin typeface="Microsoft YaHei Light" panose="020B0502040204020203" pitchFamily="34" charset="-122"/>
                <a:ea typeface="Microsoft YaHei Light" panose="020B0502040204020203" pitchFamily="34" charset="-122"/>
              </a:rPr>
              <a:t> </a:t>
            </a:r>
            <a:r>
              <a:rPr lang="en-US" altLang="zh-CN" sz="1900" dirty="0">
                <a:latin typeface="Microsoft YaHei Light" panose="020B0502040204020203" pitchFamily="34" charset="-122"/>
                <a:ea typeface="Microsoft YaHei Light" panose="020B0502040204020203" pitchFamily="34" charset="-122"/>
              </a:rPr>
              <a:t>n</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的随机序列（车厢进入入轨），通过</a:t>
            </a:r>
            <a:r>
              <a:rPr lang="zh-CN" altLang="en-US" sz="1900" dirty="0">
                <a:latin typeface="Microsoft YaHei Light" panose="020B0502040204020203" pitchFamily="34" charset="-122"/>
                <a:ea typeface="Microsoft YaHei Light" panose="020B0502040204020203" pitchFamily="34" charset="-122"/>
              </a:rPr>
              <a:t> </a:t>
            </a:r>
            <a:r>
              <a:rPr lang="en-US" altLang="zh-CN" sz="1900" dirty="0">
                <a:solidFill>
                  <a:srgbClr val="0033CC"/>
                </a:solidFill>
                <a:latin typeface="Microsoft YaHei Light" panose="020B0502040204020203" pitchFamily="34" charset="-122"/>
                <a:ea typeface="Microsoft YaHei Light" panose="020B0502040204020203" pitchFamily="34" charset="-122"/>
              </a:rPr>
              <a:t>k</a:t>
            </a:r>
            <a:r>
              <a:rPr lang="zh-CN" altLang="en-US" sz="1900" dirty="0">
                <a:solidFill>
                  <a:srgbClr val="0033CC"/>
                </a:solidFill>
                <a:latin typeface="Microsoft YaHei Light" panose="020B0502040204020203" pitchFamily="34" charset="-122"/>
                <a:ea typeface="Microsoft YaHei Light" panose="020B0502040204020203" pitchFamily="34" charset="-122"/>
              </a:rPr>
              <a:t> </a:t>
            </a:r>
            <a:r>
              <a:rPr lang="zh-CN" altLang="zh-CN" sz="1900" dirty="0">
                <a:solidFill>
                  <a:srgbClr val="0033CC"/>
                </a:solidFill>
                <a:latin typeface="Microsoft YaHei Light" panose="020B0502040204020203" pitchFamily="34" charset="-122"/>
                <a:ea typeface="Microsoft YaHei Light" panose="020B0502040204020203" pitchFamily="34" charset="-122"/>
              </a:rPr>
              <a:t>个缓冲队列</a:t>
            </a:r>
            <a:r>
              <a:rPr lang="zh-CN" altLang="zh-CN" sz="1900" dirty="0">
                <a:latin typeface="Microsoft YaHei Light" panose="020B0502040204020203" pitchFamily="34" charset="-122"/>
                <a:ea typeface="Microsoft YaHei Light" panose="020B0502040204020203" pitchFamily="34" charset="-122"/>
              </a:rPr>
              <a:t>，输出到一个队列（出轨）</a:t>
            </a:r>
            <a:endParaRPr lang="en-US" altLang="zh-CN" sz="19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zh-CN" sz="1900" dirty="0">
                <a:latin typeface="Microsoft YaHei Light" panose="020B0502040204020203" pitchFamily="34" charset="-122"/>
                <a:ea typeface="Microsoft YaHei Light" panose="020B0502040204020203" pitchFamily="34" charset="-122"/>
              </a:rPr>
              <a:t>重排规则：</a:t>
            </a:r>
          </a:p>
          <a:p>
            <a:pPr marL="1074738" lvl="2" indent="-361950">
              <a:lnSpc>
                <a:spcPct val="114000"/>
              </a:lnSpc>
              <a:spcBef>
                <a:spcPts val="600"/>
              </a:spcBef>
              <a:buFont typeface="Garamond" panose="02020404030301010803" pitchFamily="18" charset="0"/>
              <a:buAutoNum type="arabicPeriod"/>
              <a:tabLst/>
            </a:pPr>
            <a:r>
              <a:rPr lang="zh-CN" altLang="zh-CN" sz="1900" dirty="0">
                <a:latin typeface="Microsoft YaHei Light" panose="020B0502040204020203" pitchFamily="34" charset="-122"/>
                <a:ea typeface="Microsoft YaHei Light" panose="020B0502040204020203" pitchFamily="34" charset="-122"/>
              </a:rPr>
              <a:t>一个车厢从</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入轨</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移至</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出轨</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或</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缓冲轨；</a:t>
            </a:r>
          </a:p>
          <a:p>
            <a:pPr marL="1074738" lvl="2" indent="-361950">
              <a:lnSpc>
                <a:spcPct val="114000"/>
              </a:lnSpc>
              <a:spcBef>
                <a:spcPts val="600"/>
              </a:spcBef>
              <a:buFont typeface="Garamond" panose="02020404030301010803" pitchFamily="18" charset="0"/>
              <a:buAutoNum type="arabicPeriod"/>
              <a:tabLst/>
            </a:pPr>
            <a:r>
              <a:rPr lang="zh-CN" altLang="zh-CN" sz="1900" dirty="0">
                <a:latin typeface="Microsoft YaHei Light" panose="020B0502040204020203" pitchFamily="34" charset="-122"/>
                <a:ea typeface="Microsoft YaHei Light" panose="020B0502040204020203" pitchFamily="34" charset="-122"/>
              </a:rPr>
              <a:t>一个车厢</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只有在</a:t>
            </a:r>
            <a:r>
              <a:rPr lang="zh-CN" altLang="zh-CN" sz="1900" b="1" dirty="0">
                <a:latin typeface="Microsoft YaHei Light" panose="020B0502040204020203" pitchFamily="34" charset="-122"/>
                <a:ea typeface="Microsoft YaHei Light" panose="020B0502040204020203" pitchFamily="34" charset="-122"/>
              </a:rPr>
              <a:t>其编号恰是下一个待输出编号</a:t>
            </a:r>
            <a:r>
              <a:rPr lang="zh-CN" altLang="zh-CN" sz="1900" dirty="0">
                <a:latin typeface="Microsoft YaHei Light" panose="020B0502040204020203" pitchFamily="34" charset="-122"/>
                <a:ea typeface="Microsoft YaHei Light" panose="020B0502040204020203" pitchFamily="34" charset="-122"/>
              </a:rPr>
              <a:t>时，可</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移到出轨；</a:t>
            </a:r>
          </a:p>
          <a:p>
            <a:pPr marL="1074738" lvl="2" indent="-361950">
              <a:lnSpc>
                <a:spcPct val="114000"/>
              </a:lnSpc>
              <a:spcBef>
                <a:spcPts val="600"/>
              </a:spcBef>
              <a:buFont typeface="Garamond" panose="02020404030301010803" pitchFamily="18" charset="0"/>
              <a:buAutoNum type="arabicPeriod"/>
              <a:tabLst/>
            </a:pPr>
            <a:r>
              <a:rPr lang="zh-CN" altLang="zh-CN" sz="1900" dirty="0">
                <a:solidFill>
                  <a:srgbClr val="FF0000"/>
                </a:solidFill>
                <a:latin typeface="Microsoft YaHei Light" panose="020B0502040204020203" pitchFamily="34" charset="-122"/>
                <a:ea typeface="Microsoft YaHei Light" panose="020B0502040204020203" pitchFamily="34" charset="-122"/>
              </a:rPr>
              <a:t>一个车厢移到某个缓冲轨，仅当其编号大于该缓冲轨中队尾车厢的编号</a:t>
            </a:r>
            <a:r>
              <a:rPr lang="zh-CN" altLang="zh-CN" sz="1900" dirty="0">
                <a:latin typeface="Microsoft YaHei Light" panose="020B0502040204020203" pitchFamily="34" charset="-122"/>
                <a:ea typeface="Microsoft YaHei Light" panose="020B0502040204020203" pitchFamily="34" charset="-122"/>
              </a:rPr>
              <a:t>，若多个缓冲轨满足这一条件，则选择队尾车厢编号</a:t>
            </a:r>
            <a:r>
              <a:rPr lang="zh-CN" altLang="zh-CN" sz="1900" dirty="0">
                <a:solidFill>
                  <a:srgbClr val="FF0000"/>
                </a:solidFill>
                <a:latin typeface="Microsoft YaHei Light" panose="020B0502040204020203" pitchFamily="34" charset="-122"/>
                <a:ea typeface="Microsoft YaHei Light" panose="020B0502040204020203" pitchFamily="34" charset="-122"/>
              </a:rPr>
              <a:t>最大</a:t>
            </a:r>
            <a:r>
              <a:rPr lang="zh-CN" altLang="zh-CN" sz="1900" dirty="0">
                <a:latin typeface="Microsoft YaHei Light" panose="020B0502040204020203" pitchFamily="34" charset="-122"/>
                <a:ea typeface="Microsoft YaHei Light" panose="020B0502040204020203" pitchFamily="34" charset="-122"/>
              </a:rPr>
              <a:t>的，否则选择一个</a:t>
            </a:r>
            <a:r>
              <a:rPr lang="zh-CN" altLang="zh-CN" sz="1900" dirty="0">
                <a:solidFill>
                  <a:srgbClr val="00B0F0"/>
                </a:solidFill>
                <a:latin typeface="Microsoft YaHei Light" panose="020B0502040204020203" pitchFamily="34" charset="-122"/>
                <a:ea typeface="Microsoft YaHei Light" panose="020B0502040204020203" pitchFamily="34" charset="-122"/>
              </a:rPr>
              <a:t>空缓冲轨</a:t>
            </a:r>
            <a:r>
              <a:rPr lang="zh-CN" altLang="zh-CN" sz="1900" dirty="0">
                <a:latin typeface="Microsoft YaHei Light" panose="020B0502040204020203" pitchFamily="34" charset="-122"/>
                <a:ea typeface="Microsoft YaHei Light" panose="020B0502040204020203" pitchFamily="34" charset="-122"/>
              </a:rPr>
              <a:t>，若无空缓冲轨则无法重排</a:t>
            </a:r>
          </a:p>
        </p:txBody>
      </p:sp>
      <p:sp>
        <p:nvSpPr>
          <p:cNvPr id="5" name="标注: 上箭头 4">
            <a:extLst>
              <a:ext uri="{FF2B5EF4-FFF2-40B4-BE49-F238E27FC236}">
                <a16:creationId xmlns:a16="http://schemas.microsoft.com/office/drawing/2014/main" id="{A2C607A1-E77E-44C7-AD7D-6F34FC562530}"/>
              </a:ext>
            </a:extLst>
          </p:cNvPr>
          <p:cNvSpPr/>
          <p:nvPr/>
        </p:nvSpPr>
        <p:spPr>
          <a:xfrm>
            <a:off x="7953704" y="3347144"/>
            <a:ext cx="1458309" cy="909545"/>
          </a:xfrm>
          <a:prstGeom prst="upArrowCallout">
            <a:avLst>
              <a:gd name="adj1" fmla="val 25000"/>
              <a:gd name="adj2" fmla="val 25000"/>
              <a:gd name="adj3" fmla="val 16912"/>
              <a:gd name="adj4" fmla="val 73801"/>
            </a:avLst>
          </a:prstGeom>
          <a:solidFill>
            <a:srgbClr val="51ADB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crosoft YaHei" panose="020B0503020204020204" pitchFamily="34" charset="-122"/>
                <a:ea typeface="Microsoft YaHei" panose="020B0503020204020204" pitchFamily="34" charset="-122"/>
              </a:rPr>
              <a:t>单调递增或递减排列</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8341B515-0B8E-4CDA-ABA7-F5F9FC971D07}"/>
              </a:ext>
            </a:extLst>
          </p:cNvPr>
          <p:cNvCxnSpPr>
            <a:cxnSpLocks/>
          </p:cNvCxnSpPr>
          <p:nvPr/>
        </p:nvCxnSpPr>
        <p:spPr>
          <a:xfrm>
            <a:off x="2885527" y="3668994"/>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BA935D2-9DAB-4C21-A7AC-536844775510}"/>
              </a:ext>
            </a:extLst>
          </p:cNvPr>
          <p:cNvCxnSpPr>
            <a:cxnSpLocks/>
          </p:cNvCxnSpPr>
          <p:nvPr/>
        </p:nvCxnSpPr>
        <p:spPr>
          <a:xfrm>
            <a:off x="4911177" y="3887788"/>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C17117-BFCC-4B0E-8534-36C7D1C982C6}"/>
              </a:ext>
            </a:extLst>
          </p:cNvPr>
          <p:cNvCxnSpPr>
            <a:cxnSpLocks/>
          </p:cNvCxnSpPr>
          <p:nvPr/>
        </p:nvCxnSpPr>
        <p:spPr>
          <a:xfrm>
            <a:off x="6895552" y="3716338"/>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478AA21-CFEE-40B6-B6D5-7F2CA800348A}"/>
              </a:ext>
            </a:extLst>
          </p:cNvPr>
          <p:cNvCxnSpPr>
            <a:cxnSpLocks/>
          </p:cNvCxnSpPr>
          <p:nvPr/>
        </p:nvCxnSpPr>
        <p:spPr>
          <a:xfrm>
            <a:off x="4911177" y="4244975"/>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B445F2A-82E1-40D1-9C76-15CFA6B8ED5C}"/>
              </a:ext>
            </a:extLst>
          </p:cNvPr>
          <p:cNvCxnSpPr>
            <a:cxnSpLocks/>
          </p:cNvCxnSpPr>
          <p:nvPr/>
        </p:nvCxnSpPr>
        <p:spPr>
          <a:xfrm>
            <a:off x="4911177" y="4603750"/>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141D5845-2EC2-45F8-A20F-1FE6055FB78D}"/>
              </a:ext>
            </a:extLst>
          </p:cNvPr>
          <p:cNvSpPr txBox="1">
            <a:spLocks noChangeArrowheads="1"/>
          </p:cNvSpPr>
          <p:nvPr/>
        </p:nvSpPr>
        <p:spPr bwMode="auto">
          <a:xfrm>
            <a:off x="4444452" y="3695700"/>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28" name="文本框 27">
            <a:extLst>
              <a:ext uri="{FF2B5EF4-FFF2-40B4-BE49-F238E27FC236}">
                <a16:creationId xmlns:a16="http://schemas.microsoft.com/office/drawing/2014/main" id="{452B5DCD-4C2E-4C33-B4BD-449BA3141EE9}"/>
              </a:ext>
            </a:extLst>
          </p:cNvPr>
          <p:cNvSpPr txBox="1">
            <a:spLocks noChangeArrowheads="1"/>
          </p:cNvSpPr>
          <p:nvPr/>
        </p:nvSpPr>
        <p:spPr bwMode="auto">
          <a:xfrm>
            <a:off x="4444452" y="4087813"/>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29" name="文本框 28">
            <a:extLst>
              <a:ext uri="{FF2B5EF4-FFF2-40B4-BE49-F238E27FC236}">
                <a16:creationId xmlns:a16="http://schemas.microsoft.com/office/drawing/2014/main" id="{EA829F5C-94B9-47FC-9142-984318895BB9}"/>
              </a:ext>
            </a:extLst>
          </p:cNvPr>
          <p:cNvSpPr txBox="1">
            <a:spLocks noChangeArrowheads="1"/>
          </p:cNvSpPr>
          <p:nvPr/>
        </p:nvSpPr>
        <p:spPr bwMode="auto">
          <a:xfrm>
            <a:off x="4444452" y="4498975"/>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57" name="文本框 56">
            <a:extLst>
              <a:ext uri="{FF2B5EF4-FFF2-40B4-BE49-F238E27FC236}">
                <a16:creationId xmlns:a16="http://schemas.microsoft.com/office/drawing/2014/main" id="{D7F04795-581D-4BB0-8E2B-17D56C98FE6A}"/>
              </a:ext>
            </a:extLst>
          </p:cNvPr>
          <p:cNvSpPr txBox="1">
            <a:spLocks noChangeArrowheads="1"/>
          </p:cNvSpPr>
          <p:nvPr/>
        </p:nvSpPr>
        <p:spPr bwMode="auto">
          <a:xfrm>
            <a:off x="2394990" y="3532188"/>
            <a:ext cx="24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58" name="文本框 57">
            <a:extLst>
              <a:ext uri="{FF2B5EF4-FFF2-40B4-BE49-F238E27FC236}">
                <a16:creationId xmlns:a16="http://schemas.microsoft.com/office/drawing/2014/main" id="{2C11B429-94E5-4487-B728-4C600CBF5CC7}"/>
              </a:ext>
            </a:extLst>
          </p:cNvPr>
          <p:cNvSpPr txBox="1">
            <a:spLocks noChangeArrowheads="1"/>
          </p:cNvSpPr>
          <p:nvPr/>
        </p:nvSpPr>
        <p:spPr bwMode="auto">
          <a:xfrm>
            <a:off x="8603702" y="3532188"/>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4" name="文本框 3">
            <a:extLst>
              <a:ext uri="{FF2B5EF4-FFF2-40B4-BE49-F238E27FC236}">
                <a16:creationId xmlns:a16="http://schemas.microsoft.com/office/drawing/2014/main" id="{83A34A51-222F-4127-8BBE-ECA5567E1890}"/>
              </a:ext>
            </a:extLst>
          </p:cNvPr>
          <p:cNvSpPr txBox="1">
            <a:spLocks noChangeArrowheads="1"/>
          </p:cNvSpPr>
          <p:nvPr/>
        </p:nvSpPr>
        <p:spPr bwMode="auto">
          <a:xfrm>
            <a:off x="550863" y="1424829"/>
            <a:ext cx="112601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ea typeface="华文楷体" panose="02010600040101010101" pitchFamily="2" charset="-122"/>
                <a:cs typeface="Times New Roman" panose="02020603050405020304" pitchFamily="18" charset="0"/>
              </a:rPr>
              <a:t>示例：  </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节车厢的货车，使用</a:t>
            </a:r>
            <a:r>
              <a:rPr lang="en-US" altLang="zh-CN" sz="2400" dirty="0">
                <a:ea typeface="华文楷体" panose="02010600040101010101" pitchFamily="2" charset="-122"/>
                <a:cs typeface="Times New Roman" panose="02020603050405020304" pitchFamily="18" charset="0"/>
              </a:rPr>
              <a:t>3</a:t>
            </a:r>
            <a:r>
              <a:rPr lang="zh-CN" altLang="en-US" sz="2400" dirty="0">
                <a:ea typeface="华文楷体" panose="02010600040101010101" pitchFamily="2" charset="-122"/>
                <a:cs typeface="Times New Roman" panose="02020603050405020304" pitchFamily="18" charset="0"/>
              </a:rPr>
              <a:t>个缓冲轨</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初始状态</a:t>
            </a:r>
            <a:r>
              <a:rPr kumimoji="1" lang="zh-CN" altLang="en-US" sz="2400" dirty="0">
                <a:ea typeface="华文楷体" panose="02010600040101010101" pitchFamily="2" charset="-122"/>
                <a:cs typeface="Times New Roman" panose="02020603050405020304" pitchFamily="18" charset="0"/>
              </a:rPr>
              <a:t>： </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 9</a:t>
            </a:r>
            <a:r>
              <a:rPr lang="zh-CN" altLang="zh-CN" sz="2400" dirty="0">
                <a:ea typeface="华文楷体" panose="02010600040101010101" pitchFamily="2" charset="-122"/>
                <a:cs typeface="Times New Roman" panose="02020603050405020304" pitchFamily="18" charset="0"/>
              </a:rPr>
              <a:t>节车厢均</a:t>
            </a:r>
            <a:r>
              <a:rPr lang="zh-CN" altLang="en-US" sz="2400" dirty="0">
                <a:ea typeface="华文楷体" panose="02010600040101010101" pitchFamily="2" charset="-122"/>
                <a:cs typeface="Times New Roman" panose="02020603050405020304" pitchFamily="18" charset="0"/>
              </a:rPr>
              <a:t>在</a:t>
            </a:r>
            <a:r>
              <a:rPr lang="zh-CN" altLang="zh-CN" sz="2400" dirty="0">
                <a:ea typeface="华文楷体" panose="02010600040101010101" pitchFamily="2" charset="-122"/>
                <a:cs typeface="Times New Roman" panose="02020603050405020304" pitchFamily="18" charset="0"/>
              </a:rPr>
              <a:t>入轨</a:t>
            </a:r>
            <a:r>
              <a:rPr lang="zh-CN" altLang="en-US" sz="2400" dirty="0">
                <a:ea typeface="华文楷体" panose="02010600040101010101" pitchFamily="2" charset="-122"/>
                <a:cs typeface="Times New Roman" panose="02020603050405020304" pitchFamily="18" charset="0"/>
              </a:rPr>
              <a:t>排队</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最终状态：</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节车厢按递增序排在出轨</a:t>
            </a:r>
            <a:r>
              <a:rPr lang="zh-CN" altLang="zh-CN" sz="2400" dirty="0">
                <a:ea typeface="华文楷体" panose="02010600040101010101" pitchFamily="2" charset="-122"/>
                <a:cs typeface="Times New Roman" panose="02020603050405020304" pitchFamily="18" charset="0"/>
              </a:rPr>
              <a:t> </a:t>
            </a:r>
            <a:r>
              <a:rPr lang="zh-CN" altLang="en-US" sz="2400" dirty="0">
                <a:ea typeface="华文楷体" panose="02010600040101010101" pitchFamily="2" charset="-122"/>
                <a:cs typeface="Times New Roman" panose="02020603050405020304" pitchFamily="18" charset="0"/>
              </a:rPr>
              <a:t>上</a:t>
            </a:r>
            <a:endParaRPr kumimoji="1" lang="zh-CN" altLang="en-US" sz="2400" dirty="0">
              <a:ea typeface="华文楷体" panose="0201060004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10B5BA12-B996-42D4-A318-58DA830ABD77}"/>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7" name="副标题 6">
            <a:extLst>
              <a:ext uri="{FF2B5EF4-FFF2-40B4-BE49-F238E27FC236}">
                <a16:creationId xmlns:a16="http://schemas.microsoft.com/office/drawing/2014/main" id="{57CC1784-C028-48E2-8E92-3DD1593CB42E}"/>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B840EFCA-95D0-4127-947B-444516D59707}"/>
              </a:ext>
            </a:extLst>
          </p:cNvPr>
          <p:cNvSpPr>
            <a:spLocks noGrp="1"/>
          </p:cNvSpPr>
          <p:nvPr>
            <p:ph type="body" idx="10"/>
          </p:nvPr>
        </p:nvSpPr>
        <p:spPr/>
        <p:txBody>
          <a:bodyPr/>
          <a:lstStyle/>
          <a:p>
            <a:endParaRPr lang="zh-CN" altLang="en-US"/>
          </a:p>
        </p:txBody>
      </p:sp>
      <p:sp>
        <p:nvSpPr>
          <p:cNvPr id="11" name="文本框 10">
            <a:extLst>
              <a:ext uri="{FF2B5EF4-FFF2-40B4-BE49-F238E27FC236}">
                <a16:creationId xmlns:a16="http://schemas.microsoft.com/office/drawing/2014/main" id="{B76BBEC0-9399-4F66-B048-E966A9C4ED18}"/>
              </a:ext>
            </a:extLst>
          </p:cNvPr>
          <p:cNvSpPr txBox="1"/>
          <p:nvPr/>
        </p:nvSpPr>
        <p:spPr>
          <a:xfrm>
            <a:off x="2799432" y="3318788"/>
            <a:ext cx="301686" cy="369332"/>
          </a:xfrm>
          <a:prstGeom prst="rect">
            <a:avLst/>
          </a:prstGeom>
          <a:noFill/>
        </p:spPr>
        <p:txBody>
          <a:bodyPr wrap="none" rtlCol="0">
            <a:spAutoFit/>
          </a:bodyPr>
          <a:lstStyle/>
          <a:p>
            <a:r>
              <a:rPr lang="en-US" altLang="zh-CN" dirty="0"/>
              <a:t>5</a:t>
            </a:r>
            <a:endParaRPr lang="zh-CN" altLang="en-US" dirty="0"/>
          </a:p>
        </p:txBody>
      </p:sp>
      <p:sp>
        <p:nvSpPr>
          <p:cNvPr id="35" name="文本框 34">
            <a:extLst>
              <a:ext uri="{FF2B5EF4-FFF2-40B4-BE49-F238E27FC236}">
                <a16:creationId xmlns:a16="http://schemas.microsoft.com/office/drawing/2014/main" id="{498CB276-7AEC-453A-BBC1-330E541AF76B}"/>
              </a:ext>
            </a:extLst>
          </p:cNvPr>
          <p:cNvSpPr txBox="1"/>
          <p:nvPr/>
        </p:nvSpPr>
        <p:spPr>
          <a:xfrm>
            <a:off x="2967598" y="3318788"/>
            <a:ext cx="301686" cy="369332"/>
          </a:xfrm>
          <a:prstGeom prst="rect">
            <a:avLst/>
          </a:prstGeom>
          <a:noFill/>
        </p:spPr>
        <p:txBody>
          <a:bodyPr wrap="none" rtlCol="0">
            <a:spAutoFit/>
          </a:bodyPr>
          <a:lstStyle/>
          <a:p>
            <a:r>
              <a:rPr lang="en-US" altLang="zh-CN" dirty="0"/>
              <a:t>8</a:t>
            </a:r>
            <a:endParaRPr lang="zh-CN" altLang="en-US" dirty="0"/>
          </a:p>
        </p:txBody>
      </p:sp>
      <p:sp>
        <p:nvSpPr>
          <p:cNvPr id="43" name="文本框 42">
            <a:extLst>
              <a:ext uri="{FF2B5EF4-FFF2-40B4-BE49-F238E27FC236}">
                <a16:creationId xmlns:a16="http://schemas.microsoft.com/office/drawing/2014/main" id="{5A77DF8B-D6B4-4AFA-8302-30FE2AF056C4}"/>
              </a:ext>
            </a:extLst>
          </p:cNvPr>
          <p:cNvSpPr txBox="1"/>
          <p:nvPr/>
        </p:nvSpPr>
        <p:spPr>
          <a:xfrm>
            <a:off x="3151530" y="3318788"/>
            <a:ext cx="301686" cy="369332"/>
          </a:xfrm>
          <a:prstGeom prst="rect">
            <a:avLst/>
          </a:prstGeom>
          <a:noFill/>
        </p:spPr>
        <p:txBody>
          <a:bodyPr wrap="none" rtlCol="0">
            <a:spAutoFit/>
          </a:bodyPr>
          <a:lstStyle/>
          <a:p>
            <a:r>
              <a:rPr lang="en-US" altLang="zh-CN" dirty="0"/>
              <a:t>1</a:t>
            </a:r>
            <a:endParaRPr lang="zh-CN" altLang="en-US" dirty="0"/>
          </a:p>
        </p:txBody>
      </p:sp>
      <p:sp>
        <p:nvSpPr>
          <p:cNvPr id="44" name="文本框 43">
            <a:extLst>
              <a:ext uri="{FF2B5EF4-FFF2-40B4-BE49-F238E27FC236}">
                <a16:creationId xmlns:a16="http://schemas.microsoft.com/office/drawing/2014/main" id="{71C1D33E-DA23-43DB-AE0A-AE54D34519BA}"/>
              </a:ext>
            </a:extLst>
          </p:cNvPr>
          <p:cNvSpPr txBox="1"/>
          <p:nvPr/>
        </p:nvSpPr>
        <p:spPr>
          <a:xfrm>
            <a:off x="3319696" y="3318788"/>
            <a:ext cx="301686" cy="369332"/>
          </a:xfrm>
          <a:prstGeom prst="rect">
            <a:avLst/>
          </a:prstGeom>
          <a:noFill/>
        </p:spPr>
        <p:txBody>
          <a:bodyPr wrap="none" rtlCol="0">
            <a:spAutoFit/>
          </a:bodyPr>
          <a:lstStyle/>
          <a:p>
            <a:r>
              <a:rPr lang="en-US" altLang="zh-CN" dirty="0"/>
              <a:t>7</a:t>
            </a:r>
            <a:endParaRPr lang="zh-CN" altLang="en-US" dirty="0"/>
          </a:p>
        </p:txBody>
      </p:sp>
      <p:sp>
        <p:nvSpPr>
          <p:cNvPr id="45" name="文本框 44">
            <a:extLst>
              <a:ext uri="{FF2B5EF4-FFF2-40B4-BE49-F238E27FC236}">
                <a16:creationId xmlns:a16="http://schemas.microsoft.com/office/drawing/2014/main" id="{0059E5C8-AC0F-4157-B95C-FBFE1337D402}"/>
              </a:ext>
            </a:extLst>
          </p:cNvPr>
          <p:cNvSpPr txBox="1"/>
          <p:nvPr/>
        </p:nvSpPr>
        <p:spPr>
          <a:xfrm>
            <a:off x="3510158" y="3318788"/>
            <a:ext cx="301686" cy="369332"/>
          </a:xfrm>
          <a:prstGeom prst="rect">
            <a:avLst/>
          </a:prstGeom>
          <a:noFill/>
        </p:spPr>
        <p:txBody>
          <a:bodyPr wrap="none" rtlCol="0">
            <a:spAutoFit/>
          </a:bodyPr>
          <a:lstStyle/>
          <a:p>
            <a:r>
              <a:rPr lang="en-US" altLang="zh-CN" dirty="0"/>
              <a:t>4</a:t>
            </a:r>
            <a:endParaRPr lang="zh-CN" altLang="en-US" dirty="0"/>
          </a:p>
        </p:txBody>
      </p:sp>
      <p:sp>
        <p:nvSpPr>
          <p:cNvPr id="46" name="文本框 45">
            <a:extLst>
              <a:ext uri="{FF2B5EF4-FFF2-40B4-BE49-F238E27FC236}">
                <a16:creationId xmlns:a16="http://schemas.microsoft.com/office/drawing/2014/main" id="{1ADA71AB-D903-438C-99C9-C82A97734ABB}"/>
              </a:ext>
            </a:extLst>
          </p:cNvPr>
          <p:cNvSpPr txBox="1"/>
          <p:nvPr/>
        </p:nvSpPr>
        <p:spPr>
          <a:xfrm>
            <a:off x="3700866" y="3318788"/>
            <a:ext cx="301686" cy="369332"/>
          </a:xfrm>
          <a:prstGeom prst="rect">
            <a:avLst/>
          </a:prstGeom>
          <a:noFill/>
        </p:spPr>
        <p:txBody>
          <a:bodyPr wrap="none" rtlCol="0">
            <a:spAutoFit/>
          </a:bodyPr>
          <a:lstStyle/>
          <a:p>
            <a:r>
              <a:rPr lang="en-US" altLang="zh-CN" dirty="0"/>
              <a:t>2</a:t>
            </a:r>
            <a:endParaRPr lang="zh-CN" altLang="en-US" dirty="0"/>
          </a:p>
        </p:txBody>
      </p:sp>
      <p:sp>
        <p:nvSpPr>
          <p:cNvPr id="47" name="文本框 46">
            <a:extLst>
              <a:ext uri="{FF2B5EF4-FFF2-40B4-BE49-F238E27FC236}">
                <a16:creationId xmlns:a16="http://schemas.microsoft.com/office/drawing/2014/main" id="{0DD2ACC2-230F-44DF-A48D-8D32742B8FDB}"/>
              </a:ext>
            </a:extLst>
          </p:cNvPr>
          <p:cNvSpPr txBox="1"/>
          <p:nvPr/>
        </p:nvSpPr>
        <p:spPr>
          <a:xfrm>
            <a:off x="3905813" y="3318788"/>
            <a:ext cx="301686" cy="369332"/>
          </a:xfrm>
          <a:prstGeom prst="rect">
            <a:avLst/>
          </a:prstGeom>
          <a:noFill/>
        </p:spPr>
        <p:txBody>
          <a:bodyPr wrap="none" rtlCol="0">
            <a:spAutoFit/>
          </a:bodyPr>
          <a:lstStyle/>
          <a:p>
            <a:r>
              <a:rPr lang="en-US" altLang="zh-CN" dirty="0"/>
              <a:t>9</a:t>
            </a:r>
            <a:endParaRPr lang="zh-CN" altLang="en-US" dirty="0"/>
          </a:p>
        </p:txBody>
      </p:sp>
      <p:sp>
        <p:nvSpPr>
          <p:cNvPr id="48" name="文本框 47">
            <a:extLst>
              <a:ext uri="{FF2B5EF4-FFF2-40B4-BE49-F238E27FC236}">
                <a16:creationId xmlns:a16="http://schemas.microsoft.com/office/drawing/2014/main" id="{2CBF1FB4-7A9F-4EBB-AE1F-7A171717F7A6}"/>
              </a:ext>
            </a:extLst>
          </p:cNvPr>
          <p:cNvSpPr txBox="1"/>
          <p:nvPr/>
        </p:nvSpPr>
        <p:spPr>
          <a:xfrm>
            <a:off x="4099643" y="3318788"/>
            <a:ext cx="301686" cy="369332"/>
          </a:xfrm>
          <a:prstGeom prst="rect">
            <a:avLst/>
          </a:prstGeom>
          <a:noFill/>
        </p:spPr>
        <p:txBody>
          <a:bodyPr wrap="none" rtlCol="0">
            <a:spAutoFit/>
          </a:bodyPr>
          <a:lstStyle/>
          <a:p>
            <a:r>
              <a:rPr lang="en-US" altLang="zh-CN" dirty="0"/>
              <a:t>6</a:t>
            </a:r>
            <a:endParaRPr lang="zh-CN" altLang="en-US" dirty="0"/>
          </a:p>
        </p:txBody>
      </p:sp>
      <p:sp>
        <p:nvSpPr>
          <p:cNvPr id="49" name="文本框 48">
            <a:extLst>
              <a:ext uri="{FF2B5EF4-FFF2-40B4-BE49-F238E27FC236}">
                <a16:creationId xmlns:a16="http://schemas.microsoft.com/office/drawing/2014/main" id="{B3BC5079-1CAD-49F3-BC8F-C4D1EE78D440}"/>
              </a:ext>
            </a:extLst>
          </p:cNvPr>
          <p:cNvSpPr txBox="1"/>
          <p:nvPr/>
        </p:nvSpPr>
        <p:spPr>
          <a:xfrm>
            <a:off x="4299791" y="3318788"/>
            <a:ext cx="301686" cy="369332"/>
          </a:xfrm>
          <a:prstGeom prst="rect">
            <a:avLst/>
          </a:prstGeom>
          <a:noFill/>
        </p:spPr>
        <p:txBody>
          <a:bodyPr wrap="none" rtlCol="0">
            <a:spAutoFit/>
          </a:bodyPr>
          <a:lstStyle/>
          <a:p>
            <a:r>
              <a:rPr lang="en-US" altLang="zh-CN" dirty="0"/>
              <a:t>3</a:t>
            </a:r>
            <a:endParaRPr lang="zh-CN" altLang="en-US" dirty="0"/>
          </a:p>
        </p:txBody>
      </p:sp>
    </p:spTree>
    <p:extLst>
      <p:ext uri="{BB962C8B-B14F-4D97-AF65-F5344CB8AC3E}">
        <p14:creationId xmlns:p14="http://schemas.microsoft.com/office/powerpoint/2010/main" val="75522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3.7037E-7 L 0.15743 0.02523 " pathEditMode="relative" rAng="0" ptsTypes="AA">
                                      <p:cBhvr>
                                        <p:cTn id="6" dur="2000" fill="hold"/>
                                        <p:tgtEl>
                                          <p:spTgt spid="49"/>
                                        </p:tgtEl>
                                        <p:attrNameLst>
                                          <p:attrName>ppt_x</p:attrName>
                                          <p:attrName>ppt_y</p:attrName>
                                        </p:attrNameLst>
                                      </p:cBhvr>
                                      <p:rCtr x="7865" y="125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2.29167E-6 0.00278 L 0.15143 0.02523 " pathEditMode="relative" rAng="0" ptsTypes="AA">
                                      <p:cBhvr>
                                        <p:cTn id="10" dur="2000" fill="hold"/>
                                        <p:tgtEl>
                                          <p:spTgt spid="48"/>
                                        </p:tgtEl>
                                        <p:attrNameLst>
                                          <p:attrName>ppt_x</p:attrName>
                                          <p:attrName>ppt_y</p:attrName>
                                        </p:attrNameLst>
                                      </p:cBhvr>
                                      <p:rCtr x="7565" y="1111"/>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2.29167E-6 3.7037E-7 L 0.14597 0.02523 " pathEditMode="relative" rAng="0" ptsTypes="AA">
                                      <p:cBhvr>
                                        <p:cTn id="14" dur="2000" fill="hold"/>
                                        <p:tgtEl>
                                          <p:spTgt spid="47"/>
                                        </p:tgtEl>
                                        <p:attrNameLst>
                                          <p:attrName>ppt_x</p:attrName>
                                          <p:attrName>ppt_y</p:attrName>
                                        </p:attrNameLst>
                                      </p:cBhvr>
                                      <p:rCtr x="7292" y="125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4.58333E-6 3.7037E-7 L 0.00117 0.08518 " pathEditMode="relative" rAng="0" ptsTypes="AA">
                                      <p:cBhvr>
                                        <p:cTn id="18" dur="2000" fill="hold"/>
                                        <p:tgtEl>
                                          <p:spTgt spid="46"/>
                                        </p:tgtEl>
                                        <p:attrNameLst>
                                          <p:attrName>ppt_x</p:attrName>
                                          <p:attrName>ppt_y</p:attrName>
                                        </p:attrNameLst>
                                      </p:cBhvr>
                                      <p:rCtr x="52" y="4259"/>
                                    </p:animMotion>
                                  </p:childTnLst>
                                </p:cTn>
                              </p:par>
                            </p:childTnLst>
                          </p:cTn>
                        </p:par>
                        <p:par>
                          <p:cTn id="19" fill="hold">
                            <p:stCondLst>
                              <p:cond delay="2000"/>
                            </p:stCondLst>
                            <p:childTnLst>
                              <p:par>
                                <p:cTn id="20" presetID="42" presetClass="path" presetSubtype="0" accel="50000" decel="50000" fill="hold" grpId="1" nodeType="afterEffect">
                                  <p:stCondLst>
                                    <p:cond delay="0"/>
                                  </p:stCondLst>
                                  <p:childTnLst>
                                    <p:animMotion origin="layout" path="M 0.00117 0.08518 L 0.20325 0.08518 " pathEditMode="relative" rAng="0" ptsTypes="AA">
                                      <p:cBhvr>
                                        <p:cTn id="21" dur="2000" fill="hold"/>
                                        <p:tgtEl>
                                          <p:spTgt spid="46"/>
                                        </p:tgtEl>
                                        <p:attrNameLst>
                                          <p:attrName>ppt_x</p:attrName>
                                          <p:attrName>ppt_y</p:attrName>
                                        </p:attrNameLst>
                                      </p:cBhvr>
                                      <p:rCtr x="10104" y="0"/>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0" nodeType="clickEffect">
                                  <p:stCondLst>
                                    <p:cond delay="0"/>
                                  </p:stCondLst>
                                  <p:childTnLst>
                                    <p:animMotion origin="layout" path="M -4.16667E-7 3.7037E-7 L 0.0168 0.08518 " pathEditMode="relative" rAng="0" ptsTypes="AA">
                                      <p:cBhvr>
                                        <p:cTn id="25" dur="2000" fill="hold"/>
                                        <p:tgtEl>
                                          <p:spTgt spid="45"/>
                                        </p:tgtEl>
                                        <p:attrNameLst>
                                          <p:attrName>ppt_x</p:attrName>
                                          <p:attrName>ppt_y</p:attrName>
                                        </p:attrNameLst>
                                      </p:cBhvr>
                                      <p:rCtr x="156" y="4259"/>
                                    </p:animMotion>
                                  </p:childTnLst>
                                </p:cTn>
                              </p:par>
                            </p:childTnLst>
                          </p:cTn>
                        </p:par>
                        <p:par>
                          <p:cTn id="26" fill="hold">
                            <p:stCondLst>
                              <p:cond delay="2000"/>
                            </p:stCondLst>
                            <p:childTnLst>
                              <p:par>
                                <p:cTn id="27" presetID="42" presetClass="path" presetSubtype="0" accel="50000" decel="50000" fill="hold" grpId="1" nodeType="afterEffect">
                                  <p:stCondLst>
                                    <p:cond delay="0"/>
                                  </p:stCondLst>
                                  <p:childTnLst>
                                    <p:animMotion origin="layout" path="M 0.0168 0.08518 L 0.19974 0.08518 " pathEditMode="relative" rAng="0" ptsTypes="AA">
                                      <p:cBhvr>
                                        <p:cTn id="28" dur="2000" fill="hold"/>
                                        <p:tgtEl>
                                          <p:spTgt spid="45"/>
                                        </p:tgtEl>
                                        <p:attrNameLst>
                                          <p:attrName>ppt_x</p:attrName>
                                          <p:attrName>ppt_y</p:attrName>
                                        </p:attrNameLst>
                                      </p:cBhvr>
                                      <p:rCtr x="9141" y="0"/>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4.58333E-6 3.7037E-7 L 4.58333E-6 0.08518 " pathEditMode="relative" rAng="0" ptsTypes="AA">
                                      <p:cBhvr>
                                        <p:cTn id="32" dur="2000" fill="hold"/>
                                        <p:tgtEl>
                                          <p:spTgt spid="44"/>
                                        </p:tgtEl>
                                        <p:attrNameLst>
                                          <p:attrName>ppt_x</p:attrName>
                                          <p:attrName>ppt_y</p:attrName>
                                        </p:attrNameLst>
                                      </p:cBhvr>
                                      <p:rCtr x="0" y="4259"/>
                                    </p:animMotion>
                                  </p:childTnLst>
                                </p:cTn>
                              </p:par>
                            </p:childTnLst>
                          </p:cTn>
                        </p:par>
                        <p:par>
                          <p:cTn id="33" fill="hold">
                            <p:stCondLst>
                              <p:cond delay="2000"/>
                            </p:stCondLst>
                            <p:childTnLst>
                              <p:par>
                                <p:cTn id="34" presetID="42" presetClass="path" presetSubtype="0" accel="50000" decel="50000" fill="hold" grpId="1" nodeType="afterEffect">
                                  <p:stCondLst>
                                    <p:cond delay="0"/>
                                  </p:stCondLst>
                                  <p:childTnLst>
                                    <p:animMotion origin="layout" path="M 4.58333E-6 0.08518 L 0.19375 0.08518 " pathEditMode="relative" rAng="0" ptsTypes="AA">
                                      <p:cBhvr>
                                        <p:cTn id="35" dur="2000" fill="hold"/>
                                        <p:tgtEl>
                                          <p:spTgt spid="44"/>
                                        </p:tgtEl>
                                        <p:attrNameLst>
                                          <p:attrName>ppt_x</p:attrName>
                                          <p:attrName>ppt_y</p:attrName>
                                        </p:attrNameLst>
                                      </p:cBhvr>
                                      <p:rCtr x="9687" y="0"/>
                                    </p:animMotion>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grpId="0" nodeType="clickEffect">
                                  <p:stCondLst>
                                    <p:cond delay="0"/>
                                  </p:stCondLst>
                                  <p:childTnLst>
                                    <p:animMotion origin="layout" path="M -3.33333E-6 3.7037E-7 L 0.41654 0.00417 " pathEditMode="relative" rAng="0" ptsTypes="AA">
                                      <p:cBhvr>
                                        <p:cTn id="39" dur="2000" fill="hold"/>
                                        <p:tgtEl>
                                          <p:spTgt spid="43"/>
                                        </p:tgtEl>
                                        <p:attrNameLst>
                                          <p:attrName>ppt_x</p:attrName>
                                          <p:attrName>ppt_y</p:attrName>
                                        </p:attrNameLst>
                                      </p:cBhvr>
                                      <p:rCtr x="20820" y="208"/>
                                    </p:animMotion>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grpId="0" nodeType="clickEffect">
                                  <p:stCondLst>
                                    <p:cond delay="0"/>
                                  </p:stCondLst>
                                  <p:childTnLst>
                                    <p:animMotion origin="layout" path="M 8.33333E-7 3.7037E-7 L -0.00052 0.08518 " pathEditMode="relative" rAng="0" ptsTypes="AA">
                                      <p:cBhvr>
                                        <p:cTn id="43" dur="2000" fill="hold"/>
                                        <p:tgtEl>
                                          <p:spTgt spid="35"/>
                                        </p:tgtEl>
                                        <p:attrNameLst>
                                          <p:attrName>ppt_x</p:attrName>
                                          <p:attrName>ppt_y</p:attrName>
                                        </p:attrNameLst>
                                      </p:cBhvr>
                                      <p:rCtr x="-26" y="4259"/>
                                    </p:animMotion>
                                  </p:childTnLst>
                                </p:cTn>
                              </p:par>
                            </p:childTnLst>
                          </p:cTn>
                        </p:par>
                        <p:par>
                          <p:cTn id="44" fill="hold">
                            <p:stCondLst>
                              <p:cond delay="2000"/>
                            </p:stCondLst>
                            <p:childTnLst>
                              <p:par>
                                <p:cTn id="45" presetID="42" presetClass="path" presetSubtype="0" accel="50000" decel="50000" fill="hold" grpId="1" nodeType="afterEffect">
                                  <p:stCondLst>
                                    <p:cond delay="0"/>
                                  </p:stCondLst>
                                  <p:childTnLst>
                                    <p:animMotion origin="layout" path="M -0.00052 0.08518 L 0.20013 0.08518 " pathEditMode="relative" rAng="0" ptsTypes="AA">
                                      <p:cBhvr>
                                        <p:cTn id="46" dur="2000" fill="hold"/>
                                        <p:tgtEl>
                                          <p:spTgt spid="35"/>
                                        </p:tgtEl>
                                        <p:attrNameLst>
                                          <p:attrName>ppt_x</p:attrName>
                                          <p:attrName>ppt_y</p:attrName>
                                        </p:attrNameLst>
                                      </p:cBhvr>
                                      <p:rCtr x="10026" y="0"/>
                                    </p:animMotion>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grpId="0" nodeType="clickEffect">
                                  <p:stCondLst>
                                    <p:cond delay="0"/>
                                  </p:stCondLst>
                                  <p:childTnLst>
                                    <p:animMotion origin="layout" path="M 2.91667E-6 3.7037E-7 L 0.00013 0.13889 " pathEditMode="relative" rAng="0" ptsTypes="AA">
                                      <p:cBhvr>
                                        <p:cTn id="50" dur="2000" fill="hold"/>
                                        <p:tgtEl>
                                          <p:spTgt spid="11"/>
                                        </p:tgtEl>
                                        <p:attrNameLst>
                                          <p:attrName>ppt_x</p:attrName>
                                          <p:attrName>ppt_y</p:attrName>
                                        </p:attrNameLst>
                                      </p:cBhvr>
                                      <p:rCtr x="0" y="6944"/>
                                    </p:animMotion>
                                  </p:childTnLst>
                                </p:cTn>
                              </p:par>
                            </p:childTnLst>
                          </p:cTn>
                        </p:par>
                        <p:par>
                          <p:cTn id="51" fill="hold">
                            <p:stCondLst>
                              <p:cond delay="2000"/>
                            </p:stCondLst>
                            <p:childTnLst>
                              <p:par>
                                <p:cTn id="52" presetID="42" presetClass="path" presetSubtype="0" accel="50000" decel="50000" fill="hold" grpId="1" nodeType="afterEffect">
                                  <p:stCondLst>
                                    <p:cond delay="0"/>
                                  </p:stCondLst>
                                  <p:childTnLst>
                                    <p:animMotion origin="layout" path="M 0.00013 0.13889 L 0.27526 0.13403 " pathEditMode="relative" rAng="0" ptsTypes="AA">
                                      <p:cBhvr>
                                        <p:cTn id="53" dur="2000" fill="hold"/>
                                        <p:tgtEl>
                                          <p:spTgt spid="11"/>
                                        </p:tgtEl>
                                        <p:attrNameLst>
                                          <p:attrName>ppt_x</p:attrName>
                                          <p:attrName>ppt_y</p:attrName>
                                        </p:attrNameLst>
                                      </p:cBhvr>
                                      <p:rCtr x="13750"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29" grpId="0"/>
      <p:bldP spid="57" grpId="0"/>
      <p:bldP spid="58" grpId="0"/>
      <p:bldP spid="11" grpId="0"/>
      <p:bldP spid="11" grpId="1"/>
      <p:bldP spid="35" grpId="0"/>
      <p:bldP spid="35" grpId="1"/>
      <p:bldP spid="43" grpId="0"/>
      <p:bldP spid="44" grpId="0"/>
      <p:bldP spid="44" grpId="1"/>
      <p:bldP spid="45" grpId="0"/>
      <p:bldP spid="45" grpId="1"/>
      <p:bldP spid="46" grpId="0"/>
      <p:bldP spid="46" grpId="1"/>
      <p:bldP spid="47" grpId="0"/>
      <p:bldP spid="48" grpId="0"/>
      <p:bldP spid="49"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8341B515-0B8E-4CDA-ABA7-F5F9FC971D07}"/>
              </a:ext>
            </a:extLst>
          </p:cNvPr>
          <p:cNvCxnSpPr>
            <a:cxnSpLocks/>
          </p:cNvCxnSpPr>
          <p:nvPr/>
        </p:nvCxnSpPr>
        <p:spPr>
          <a:xfrm>
            <a:off x="2694335" y="2934245"/>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BA935D2-9DAB-4C21-A7AC-536844775510}"/>
              </a:ext>
            </a:extLst>
          </p:cNvPr>
          <p:cNvCxnSpPr>
            <a:cxnSpLocks/>
          </p:cNvCxnSpPr>
          <p:nvPr/>
        </p:nvCxnSpPr>
        <p:spPr>
          <a:xfrm>
            <a:off x="4719985" y="3153039"/>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C17117-BFCC-4B0E-8534-36C7D1C982C6}"/>
              </a:ext>
            </a:extLst>
          </p:cNvPr>
          <p:cNvCxnSpPr>
            <a:cxnSpLocks/>
          </p:cNvCxnSpPr>
          <p:nvPr/>
        </p:nvCxnSpPr>
        <p:spPr>
          <a:xfrm flipV="1">
            <a:off x="6629549" y="2968096"/>
            <a:ext cx="2010294" cy="134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478AA21-CFEE-40B6-B6D5-7F2CA800348A}"/>
              </a:ext>
            </a:extLst>
          </p:cNvPr>
          <p:cNvCxnSpPr>
            <a:cxnSpLocks/>
          </p:cNvCxnSpPr>
          <p:nvPr/>
        </p:nvCxnSpPr>
        <p:spPr>
          <a:xfrm>
            <a:off x="4719985" y="3510226"/>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B445F2A-82E1-40D1-9C76-15CFA6B8ED5C}"/>
              </a:ext>
            </a:extLst>
          </p:cNvPr>
          <p:cNvCxnSpPr>
            <a:cxnSpLocks/>
          </p:cNvCxnSpPr>
          <p:nvPr/>
        </p:nvCxnSpPr>
        <p:spPr>
          <a:xfrm>
            <a:off x="4719985" y="3869001"/>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141D5845-2EC2-45F8-A20F-1FE6055FB78D}"/>
              </a:ext>
            </a:extLst>
          </p:cNvPr>
          <p:cNvSpPr txBox="1">
            <a:spLocks noChangeArrowheads="1"/>
          </p:cNvSpPr>
          <p:nvPr/>
        </p:nvSpPr>
        <p:spPr bwMode="auto">
          <a:xfrm>
            <a:off x="4253260" y="2960951"/>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28" name="文本框 27">
            <a:extLst>
              <a:ext uri="{FF2B5EF4-FFF2-40B4-BE49-F238E27FC236}">
                <a16:creationId xmlns:a16="http://schemas.microsoft.com/office/drawing/2014/main" id="{452B5DCD-4C2E-4C33-B4BD-449BA3141EE9}"/>
              </a:ext>
            </a:extLst>
          </p:cNvPr>
          <p:cNvSpPr txBox="1">
            <a:spLocks noChangeArrowheads="1"/>
          </p:cNvSpPr>
          <p:nvPr/>
        </p:nvSpPr>
        <p:spPr bwMode="auto">
          <a:xfrm>
            <a:off x="4253260" y="3353064"/>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29" name="文本框 28">
            <a:extLst>
              <a:ext uri="{FF2B5EF4-FFF2-40B4-BE49-F238E27FC236}">
                <a16:creationId xmlns:a16="http://schemas.microsoft.com/office/drawing/2014/main" id="{EA829F5C-94B9-47FC-9142-984318895BB9}"/>
              </a:ext>
            </a:extLst>
          </p:cNvPr>
          <p:cNvSpPr txBox="1">
            <a:spLocks noChangeArrowheads="1"/>
          </p:cNvSpPr>
          <p:nvPr/>
        </p:nvSpPr>
        <p:spPr bwMode="auto">
          <a:xfrm>
            <a:off x="4253260" y="3764226"/>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57" name="文本框 56">
            <a:extLst>
              <a:ext uri="{FF2B5EF4-FFF2-40B4-BE49-F238E27FC236}">
                <a16:creationId xmlns:a16="http://schemas.microsoft.com/office/drawing/2014/main" id="{D7F04795-581D-4BB0-8E2B-17D56C98FE6A}"/>
              </a:ext>
            </a:extLst>
          </p:cNvPr>
          <p:cNvSpPr txBox="1">
            <a:spLocks noChangeArrowheads="1"/>
          </p:cNvSpPr>
          <p:nvPr/>
        </p:nvSpPr>
        <p:spPr bwMode="auto">
          <a:xfrm>
            <a:off x="2203798" y="2797439"/>
            <a:ext cx="24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58" name="文本框 57">
            <a:extLst>
              <a:ext uri="{FF2B5EF4-FFF2-40B4-BE49-F238E27FC236}">
                <a16:creationId xmlns:a16="http://schemas.microsoft.com/office/drawing/2014/main" id="{2C11B429-94E5-4487-B728-4C600CBF5CC7}"/>
              </a:ext>
            </a:extLst>
          </p:cNvPr>
          <p:cNvSpPr txBox="1">
            <a:spLocks noChangeArrowheads="1"/>
          </p:cNvSpPr>
          <p:nvPr/>
        </p:nvSpPr>
        <p:spPr bwMode="auto">
          <a:xfrm>
            <a:off x="8714654" y="2783152"/>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4" name="文本框 3">
            <a:extLst>
              <a:ext uri="{FF2B5EF4-FFF2-40B4-BE49-F238E27FC236}">
                <a16:creationId xmlns:a16="http://schemas.microsoft.com/office/drawing/2014/main" id="{83A34A51-222F-4127-8BBE-ECA5567E1890}"/>
              </a:ext>
            </a:extLst>
          </p:cNvPr>
          <p:cNvSpPr txBox="1">
            <a:spLocks noChangeArrowheads="1"/>
          </p:cNvSpPr>
          <p:nvPr/>
        </p:nvSpPr>
        <p:spPr bwMode="auto">
          <a:xfrm>
            <a:off x="477262" y="1198693"/>
            <a:ext cx="112601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ea typeface="华文楷体" panose="02010600040101010101" pitchFamily="2" charset="-122"/>
                <a:cs typeface="Times New Roman" panose="02020603050405020304" pitchFamily="18" charset="0"/>
              </a:rPr>
              <a:t>示例：  </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节车厢的货车，使用</a:t>
            </a:r>
            <a:r>
              <a:rPr lang="en-US" altLang="zh-CN" sz="2400" dirty="0">
                <a:ea typeface="华文楷体" panose="02010600040101010101" pitchFamily="2" charset="-122"/>
                <a:cs typeface="Times New Roman" panose="02020603050405020304" pitchFamily="18" charset="0"/>
              </a:rPr>
              <a:t>3</a:t>
            </a:r>
            <a:r>
              <a:rPr lang="zh-CN" altLang="en-US" sz="2400" dirty="0">
                <a:ea typeface="华文楷体" panose="02010600040101010101" pitchFamily="2" charset="-122"/>
                <a:cs typeface="Times New Roman" panose="02020603050405020304" pitchFamily="18" charset="0"/>
              </a:rPr>
              <a:t>个缓冲轨</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初始状态</a:t>
            </a:r>
            <a:r>
              <a:rPr kumimoji="1" lang="zh-CN" altLang="en-US" sz="2400" dirty="0">
                <a:ea typeface="华文楷体" panose="02010600040101010101" pitchFamily="2" charset="-122"/>
                <a:cs typeface="Times New Roman" panose="02020603050405020304" pitchFamily="18" charset="0"/>
              </a:rPr>
              <a:t>： </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 9</a:t>
            </a:r>
            <a:r>
              <a:rPr lang="zh-CN" altLang="zh-CN" sz="2400" dirty="0">
                <a:ea typeface="华文楷体" panose="02010600040101010101" pitchFamily="2" charset="-122"/>
                <a:cs typeface="Times New Roman" panose="02020603050405020304" pitchFamily="18" charset="0"/>
              </a:rPr>
              <a:t>节车厢均</a:t>
            </a:r>
            <a:r>
              <a:rPr lang="zh-CN" altLang="en-US" sz="2400" dirty="0">
                <a:ea typeface="华文楷体" panose="02010600040101010101" pitchFamily="2" charset="-122"/>
                <a:cs typeface="Times New Roman" panose="02020603050405020304" pitchFamily="18" charset="0"/>
              </a:rPr>
              <a:t>在</a:t>
            </a:r>
            <a:r>
              <a:rPr lang="zh-CN" altLang="zh-CN" sz="2400" dirty="0">
                <a:ea typeface="华文楷体" panose="02010600040101010101" pitchFamily="2" charset="-122"/>
                <a:cs typeface="Times New Roman" panose="02020603050405020304" pitchFamily="18" charset="0"/>
              </a:rPr>
              <a:t>入轨</a:t>
            </a:r>
            <a:r>
              <a:rPr lang="zh-CN" altLang="en-US" sz="2400" dirty="0">
                <a:ea typeface="华文楷体" panose="02010600040101010101" pitchFamily="2" charset="-122"/>
                <a:cs typeface="Times New Roman" panose="02020603050405020304" pitchFamily="18" charset="0"/>
              </a:rPr>
              <a:t>排队</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最终状态：</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节车厢按递增序排在出轨</a:t>
            </a:r>
            <a:r>
              <a:rPr lang="zh-CN" altLang="zh-CN" sz="2400" dirty="0">
                <a:ea typeface="华文楷体" panose="02010600040101010101" pitchFamily="2" charset="-122"/>
                <a:cs typeface="Times New Roman" panose="02020603050405020304" pitchFamily="18" charset="0"/>
              </a:rPr>
              <a:t> </a:t>
            </a:r>
            <a:r>
              <a:rPr lang="zh-CN" altLang="en-US" sz="2400" dirty="0">
                <a:ea typeface="华文楷体" panose="02010600040101010101" pitchFamily="2" charset="-122"/>
                <a:cs typeface="Times New Roman" panose="02020603050405020304" pitchFamily="18" charset="0"/>
              </a:rPr>
              <a:t>上</a:t>
            </a:r>
            <a:endParaRPr kumimoji="1" lang="zh-CN" altLang="en-US" sz="2400" dirty="0">
              <a:ea typeface="华文楷体" panose="0201060004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10B5BA12-B996-42D4-A318-58DA830ABD77}"/>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7" name="副标题 6">
            <a:extLst>
              <a:ext uri="{FF2B5EF4-FFF2-40B4-BE49-F238E27FC236}">
                <a16:creationId xmlns:a16="http://schemas.microsoft.com/office/drawing/2014/main" id="{57CC1784-C028-48E2-8E92-3DD1593CB42E}"/>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B840EFCA-95D0-4127-947B-444516D59707}"/>
              </a:ext>
            </a:extLst>
          </p:cNvPr>
          <p:cNvSpPr>
            <a:spLocks noGrp="1"/>
          </p:cNvSpPr>
          <p:nvPr>
            <p:ph type="body" idx="10"/>
          </p:nvPr>
        </p:nvSpPr>
        <p:spPr/>
        <p:txBody>
          <a:bodyPr/>
          <a:lstStyle/>
          <a:p>
            <a:endParaRPr lang="zh-CN" altLang="en-US"/>
          </a:p>
        </p:txBody>
      </p:sp>
      <p:sp>
        <p:nvSpPr>
          <p:cNvPr id="11" name="文本框 10">
            <a:extLst>
              <a:ext uri="{FF2B5EF4-FFF2-40B4-BE49-F238E27FC236}">
                <a16:creationId xmlns:a16="http://schemas.microsoft.com/office/drawing/2014/main" id="{B76BBEC0-9399-4F66-B048-E966A9C4ED18}"/>
              </a:ext>
            </a:extLst>
          </p:cNvPr>
          <p:cNvSpPr txBox="1"/>
          <p:nvPr/>
        </p:nvSpPr>
        <p:spPr>
          <a:xfrm>
            <a:off x="5989739" y="3539325"/>
            <a:ext cx="301686" cy="369332"/>
          </a:xfrm>
          <a:prstGeom prst="rect">
            <a:avLst/>
          </a:prstGeom>
          <a:noFill/>
        </p:spPr>
        <p:txBody>
          <a:bodyPr wrap="none" rtlCol="0">
            <a:spAutoFit/>
          </a:bodyPr>
          <a:lstStyle/>
          <a:p>
            <a:r>
              <a:rPr lang="en-US" altLang="zh-CN" dirty="0"/>
              <a:t>5</a:t>
            </a:r>
            <a:endParaRPr lang="zh-CN" altLang="en-US" dirty="0"/>
          </a:p>
        </p:txBody>
      </p:sp>
      <p:sp>
        <p:nvSpPr>
          <p:cNvPr id="35" name="文本框 34">
            <a:extLst>
              <a:ext uri="{FF2B5EF4-FFF2-40B4-BE49-F238E27FC236}">
                <a16:creationId xmlns:a16="http://schemas.microsoft.com/office/drawing/2014/main" id="{498CB276-7AEC-453A-BBC1-330E541AF76B}"/>
              </a:ext>
            </a:extLst>
          </p:cNvPr>
          <p:cNvSpPr txBox="1"/>
          <p:nvPr/>
        </p:nvSpPr>
        <p:spPr>
          <a:xfrm>
            <a:off x="5235422" y="3181674"/>
            <a:ext cx="301686" cy="369332"/>
          </a:xfrm>
          <a:prstGeom prst="rect">
            <a:avLst/>
          </a:prstGeom>
          <a:noFill/>
        </p:spPr>
        <p:txBody>
          <a:bodyPr wrap="none" rtlCol="0">
            <a:spAutoFit/>
          </a:bodyPr>
          <a:lstStyle/>
          <a:p>
            <a:r>
              <a:rPr lang="en-US" altLang="zh-CN" dirty="0"/>
              <a:t>8</a:t>
            </a:r>
            <a:endParaRPr lang="zh-CN" altLang="en-US" dirty="0"/>
          </a:p>
        </p:txBody>
      </p:sp>
      <p:sp>
        <p:nvSpPr>
          <p:cNvPr id="43" name="文本框 42">
            <a:extLst>
              <a:ext uri="{FF2B5EF4-FFF2-40B4-BE49-F238E27FC236}">
                <a16:creationId xmlns:a16="http://schemas.microsoft.com/office/drawing/2014/main" id="{5A77DF8B-D6B4-4AFA-8302-30FE2AF056C4}"/>
              </a:ext>
            </a:extLst>
          </p:cNvPr>
          <p:cNvSpPr txBox="1"/>
          <p:nvPr/>
        </p:nvSpPr>
        <p:spPr>
          <a:xfrm>
            <a:off x="8346996" y="2642651"/>
            <a:ext cx="301686" cy="369332"/>
          </a:xfrm>
          <a:prstGeom prst="rect">
            <a:avLst/>
          </a:prstGeom>
          <a:noFill/>
        </p:spPr>
        <p:txBody>
          <a:bodyPr wrap="none" rtlCol="0">
            <a:spAutoFit/>
          </a:bodyPr>
          <a:lstStyle/>
          <a:p>
            <a:r>
              <a:rPr lang="en-US" altLang="zh-CN" dirty="0"/>
              <a:t>1</a:t>
            </a:r>
            <a:endParaRPr lang="zh-CN" altLang="en-US" dirty="0"/>
          </a:p>
        </p:txBody>
      </p:sp>
      <p:sp>
        <p:nvSpPr>
          <p:cNvPr id="44" name="文本框 43">
            <a:extLst>
              <a:ext uri="{FF2B5EF4-FFF2-40B4-BE49-F238E27FC236}">
                <a16:creationId xmlns:a16="http://schemas.microsoft.com/office/drawing/2014/main" id="{71C1D33E-DA23-43DB-AE0A-AE54D34519BA}"/>
              </a:ext>
            </a:extLst>
          </p:cNvPr>
          <p:cNvSpPr txBox="1"/>
          <p:nvPr/>
        </p:nvSpPr>
        <p:spPr>
          <a:xfrm>
            <a:off x="5451285" y="3181674"/>
            <a:ext cx="301686" cy="369332"/>
          </a:xfrm>
          <a:prstGeom prst="rect">
            <a:avLst/>
          </a:prstGeom>
          <a:noFill/>
        </p:spPr>
        <p:txBody>
          <a:bodyPr wrap="none" rtlCol="0">
            <a:spAutoFit/>
          </a:bodyPr>
          <a:lstStyle/>
          <a:p>
            <a:r>
              <a:rPr lang="en-US" altLang="zh-CN" dirty="0"/>
              <a:t>7</a:t>
            </a:r>
            <a:endParaRPr lang="zh-CN" altLang="en-US" dirty="0"/>
          </a:p>
        </p:txBody>
      </p:sp>
      <p:sp>
        <p:nvSpPr>
          <p:cNvPr id="45" name="文本框 44">
            <a:extLst>
              <a:ext uri="{FF2B5EF4-FFF2-40B4-BE49-F238E27FC236}">
                <a16:creationId xmlns:a16="http://schemas.microsoft.com/office/drawing/2014/main" id="{0059E5C8-AC0F-4157-B95C-FBFE1337D402}"/>
              </a:ext>
            </a:extLst>
          </p:cNvPr>
          <p:cNvSpPr txBox="1"/>
          <p:nvPr/>
        </p:nvSpPr>
        <p:spPr>
          <a:xfrm>
            <a:off x="5727872" y="3184978"/>
            <a:ext cx="301686" cy="369332"/>
          </a:xfrm>
          <a:prstGeom prst="rect">
            <a:avLst/>
          </a:prstGeom>
          <a:noFill/>
        </p:spPr>
        <p:txBody>
          <a:bodyPr wrap="none" rtlCol="0">
            <a:spAutoFit/>
          </a:bodyPr>
          <a:lstStyle/>
          <a:p>
            <a:r>
              <a:rPr lang="en-US" altLang="zh-CN" dirty="0"/>
              <a:t>4</a:t>
            </a:r>
            <a:endParaRPr lang="zh-CN" altLang="en-US" dirty="0"/>
          </a:p>
        </p:txBody>
      </p:sp>
      <p:sp>
        <p:nvSpPr>
          <p:cNvPr id="46" name="文本框 45">
            <a:extLst>
              <a:ext uri="{FF2B5EF4-FFF2-40B4-BE49-F238E27FC236}">
                <a16:creationId xmlns:a16="http://schemas.microsoft.com/office/drawing/2014/main" id="{1ADA71AB-D903-438C-99C9-C82A97734ABB}"/>
              </a:ext>
            </a:extLst>
          </p:cNvPr>
          <p:cNvSpPr txBox="1"/>
          <p:nvPr/>
        </p:nvSpPr>
        <p:spPr>
          <a:xfrm>
            <a:off x="5989739" y="3174254"/>
            <a:ext cx="301686" cy="369332"/>
          </a:xfrm>
          <a:prstGeom prst="rect">
            <a:avLst/>
          </a:prstGeom>
          <a:noFill/>
        </p:spPr>
        <p:txBody>
          <a:bodyPr wrap="none" rtlCol="0">
            <a:spAutoFit/>
          </a:bodyPr>
          <a:lstStyle/>
          <a:p>
            <a:r>
              <a:rPr lang="en-US" altLang="zh-CN" dirty="0"/>
              <a:t>2</a:t>
            </a:r>
            <a:endParaRPr lang="zh-CN" altLang="en-US" dirty="0"/>
          </a:p>
        </p:txBody>
      </p:sp>
      <p:sp>
        <p:nvSpPr>
          <p:cNvPr id="47" name="文本框 46">
            <a:extLst>
              <a:ext uri="{FF2B5EF4-FFF2-40B4-BE49-F238E27FC236}">
                <a16:creationId xmlns:a16="http://schemas.microsoft.com/office/drawing/2014/main" id="{0DD2ACC2-230F-44DF-A48D-8D32742B8FDB}"/>
              </a:ext>
            </a:extLst>
          </p:cNvPr>
          <p:cNvSpPr txBox="1"/>
          <p:nvPr/>
        </p:nvSpPr>
        <p:spPr>
          <a:xfrm>
            <a:off x="5454252" y="2797994"/>
            <a:ext cx="301686" cy="369332"/>
          </a:xfrm>
          <a:prstGeom prst="rect">
            <a:avLst/>
          </a:prstGeom>
          <a:noFill/>
        </p:spPr>
        <p:txBody>
          <a:bodyPr wrap="none" rtlCol="0">
            <a:spAutoFit/>
          </a:bodyPr>
          <a:lstStyle/>
          <a:p>
            <a:r>
              <a:rPr lang="en-US" altLang="zh-CN" dirty="0"/>
              <a:t>9</a:t>
            </a:r>
            <a:endParaRPr lang="zh-CN" altLang="en-US" dirty="0"/>
          </a:p>
        </p:txBody>
      </p:sp>
      <p:sp>
        <p:nvSpPr>
          <p:cNvPr id="48" name="文本框 47">
            <a:extLst>
              <a:ext uri="{FF2B5EF4-FFF2-40B4-BE49-F238E27FC236}">
                <a16:creationId xmlns:a16="http://schemas.microsoft.com/office/drawing/2014/main" id="{2CBF1FB4-7A9F-4EBB-AE1F-7A171717F7A6}"/>
              </a:ext>
            </a:extLst>
          </p:cNvPr>
          <p:cNvSpPr txBox="1"/>
          <p:nvPr/>
        </p:nvSpPr>
        <p:spPr>
          <a:xfrm>
            <a:off x="5731570" y="2791066"/>
            <a:ext cx="301686" cy="369332"/>
          </a:xfrm>
          <a:prstGeom prst="rect">
            <a:avLst/>
          </a:prstGeom>
          <a:noFill/>
        </p:spPr>
        <p:txBody>
          <a:bodyPr wrap="none" rtlCol="0">
            <a:spAutoFit/>
          </a:bodyPr>
          <a:lstStyle/>
          <a:p>
            <a:r>
              <a:rPr lang="en-US" altLang="zh-CN" dirty="0"/>
              <a:t>6</a:t>
            </a:r>
            <a:endParaRPr lang="zh-CN" altLang="en-US" dirty="0"/>
          </a:p>
        </p:txBody>
      </p:sp>
      <p:sp>
        <p:nvSpPr>
          <p:cNvPr id="49" name="文本框 48">
            <a:extLst>
              <a:ext uri="{FF2B5EF4-FFF2-40B4-BE49-F238E27FC236}">
                <a16:creationId xmlns:a16="http://schemas.microsoft.com/office/drawing/2014/main" id="{B3BC5079-1CAD-49F3-BC8F-C4D1EE78D440}"/>
              </a:ext>
            </a:extLst>
          </p:cNvPr>
          <p:cNvSpPr txBox="1"/>
          <p:nvPr/>
        </p:nvSpPr>
        <p:spPr>
          <a:xfrm>
            <a:off x="5989739" y="2797994"/>
            <a:ext cx="301686" cy="369332"/>
          </a:xfrm>
          <a:prstGeom prst="rect">
            <a:avLst/>
          </a:prstGeom>
          <a:noFill/>
        </p:spPr>
        <p:txBody>
          <a:bodyPr wrap="none" rtlCol="0">
            <a:spAutoFit/>
          </a:bodyPr>
          <a:lstStyle/>
          <a:p>
            <a:r>
              <a:rPr lang="en-US" altLang="zh-CN" dirty="0"/>
              <a:t>3</a:t>
            </a:r>
            <a:endParaRPr lang="zh-CN" altLang="en-US" dirty="0"/>
          </a:p>
        </p:txBody>
      </p:sp>
      <p:sp>
        <p:nvSpPr>
          <p:cNvPr id="25" name="文本框 24">
            <a:extLst>
              <a:ext uri="{FF2B5EF4-FFF2-40B4-BE49-F238E27FC236}">
                <a16:creationId xmlns:a16="http://schemas.microsoft.com/office/drawing/2014/main" id="{9CEC3351-AE5E-4759-9629-C2C822E25DD1}"/>
              </a:ext>
            </a:extLst>
          </p:cNvPr>
          <p:cNvSpPr txBox="1"/>
          <p:nvPr/>
        </p:nvSpPr>
        <p:spPr>
          <a:xfrm>
            <a:off x="8148669" y="2642651"/>
            <a:ext cx="301686" cy="369332"/>
          </a:xfrm>
          <a:prstGeom prst="rect">
            <a:avLst/>
          </a:prstGeom>
          <a:noFill/>
        </p:spPr>
        <p:txBody>
          <a:bodyPr wrap="none" rtlCol="0">
            <a:spAutoFit/>
          </a:bodyPr>
          <a:lstStyle/>
          <a:p>
            <a:r>
              <a:rPr lang="en-US" altLang="zh-CN" dirty="0"/>
              <a:t>2</a:t>
            </a:r>
            <a:endParaRPr lang="zh-CN" altLang="en-US" dirty="0"/>
          </a:p>
        </p:txBody>
      </p:sp>
      <p:sp>
        <p:nvSpPr>
          <p:cNvPr id="26" name="文本框 25">
            <a:extLst>
              <a:ext uri="{FF2B5EF4-FFF2-40B4-BE49-F238E27FC236}">
                <a16:creationId xmlns:a16="http://schemas.microsoft.com/office/drawing/2014/main" id="{50CCAF80-887A-4E82-890A-F53A39CA2F3C}"/>
              </a:ext>
            </a:extLst>
          </p:cNvPr>
          <p:cNvSpPr txBox="1"/>
          <p:nvPr/>
        </p:nvSpPr>
        <p:spPr>
          <a:xfrm>
            <a:off x="7918758" y="2642651"/>
            <a:ext cx="301686" cy="369332"/>
          </a:xfrm>
          <a:prstGeom prst="rect">
            <a:avLst/>
          </a:prstGeom>
          <a:noFill/>
        </p:spPr>
        <p:txBody>
          <a:bodyPr wrap="none" rtlCol="0">
            <a:spAutoFit/>
          </a:bodyPr>
          <a:lstStyle/>
          <a:p>
            <a:r>
              <a:rPr lang="en-US" altLang="zh-CN" dirty="0"/>
              <a:t>3</a:t>
            </a:r>
            <a:endParaRPr lang="zh-CN" altLang="en-US" dirty="0"/>
          </a:p>
        </p:txBody>
      </p:sp>
      <p:sp>
        <p:nvSpPr>
          <p:cNvPr id="27" name="文本框 26">
            <a:extLst>
              <a:ext uri="{FF2B5EF4-FFF2-40B4-BE49-F238E27FC236}">
                <a16:creationId xmlns:a16="http://schemas.microsoft.com/office/drawing/2014/main" id="{D29BB62B-EABC-4938-9A9E-F42C9EC70801}"/>
              </a:ext>
            </a:extLst>
          </p:cNvPr>
          <p:cNvSpPr txBox="1"/>
          <p:nvPr/>
        </p:nvSpPr>
        <p:spPr>
          <a:xfrm>
            <a:off x="7684366" y="2644274"/>
            <a:ext cx="301686" cy="369332"/>
          </a:xfrm>
          <a:prstGeom prst="rect">
            <a:avLst/>
          </a:prstGeom>
          <a:noFill/>
        </p:spPr>
        <p:txBody>
          <a:bodyPr wrap="none" rtlCol="0">
            <a:spAutoFit/>
          </a:bodyPr>
          <a:lstStyle/>
          <a:p>
            <a:r>
              <a:rPr lang="en-US" altLang="zh-CN" dirty="0"/>
              <a:t>4</a:t>
            </a:r>
            <a:endParaRPr lang="zh-CN" altLang="en-US" dirty="0"/>
          </a:p>
        </p:txBody>
      </p:sp>
      <p:sp>
        <p:nvSpPr>
          <p:cNvPr id="30" name="文本框 29">
            <a:extLst>
              <a:ext uri="{FF2B5EF4-FFF2-40B4-BE49-F238E27FC236}">
                <a16:creationId xmlns:a16="http://schemas.microsoft.com/office/drawing/2014/main" id="{30E2F12D-D27F-402D-97EB-DDDCD919A805}"/>
              </a:ext>
            </a:extLst>
          </p:cNvPr>
          <p:cNvSpPr txBox="1"/>
          <p:nvPr/>
        </p:nvSpPr>
        <p:spPr>
          <a:xfrm>
            <a:off x="7456092" y="2642651"/>
            <a:ext cx="301686" cy="369332"/>
          </a:xfrm>
          <a:prstGeom prst="rect">
            <a:avLst/>
          </a:prstGeom>
          <a:noFill/>
        </p:spPr>
        <p:txBody>
          <a:bodyPr wrap="none" rtlCol="0">
            <a:spAutoFit/>
          </a:bodyPr>
          <a:lstStyle/>
          <a:p>
            <a:r>
              <a:rPr lang="en-US" altLang="zh-CN" dirty="0"/>
              <a:t>5</a:t>
            </a:r>
            <a:endParaRPr lang="zh-CN" altLang="en-US" dirty="0"/>
          </a:p>
        </p:txBody>
      </p:sp>
      <p:sp>
        <p:nvSpPr>
          <p:cNvPr id="34" name="文本框 33">
            <a:extLst>
              <a:ext uri="{FF2B5EF4-FFF2-40B4-BE49-F238E27FC236}">
                <a16:creationId xmlns:a16="http://schemas.microsoft.com/office/drawing/2014/main" id="{DBCF1CA1-1B3B-4D51-9E65-90C69BBC69C4}"/>
              </a:ext>
            </a:extLst>
          </p:cNvPr>
          <p:cNvSpPr txBox="1"/>
          <p:nvPr/>
        </p:nvSpPr>
        <p:spPr>
          <a:xfrm>
            <a:off x="7238899" y="2642651"/>
            <a:ext cx="301686" cy="369332"/>
          </a:xfrm>
          <a:prstGeom prst="rect">
            <a:avLst/>
          </a:prstGeom>
          <a:noFill/>
        </p:spPr>
        <p:txBody>
          <a:bodyPr wrap="none" rtlCol="0">
            <a:spAutoFit/>
          </a:bodyPr>
          <a:lstStyle/>
          <a:p>
            <a:r>
              <a:rPr lang="en-US" altLang="zh-CN" dirty="0"/>
              <a:t>6</a:t>
            </a:r>
            <a:endParaRPr lang="zh-CN" altLang="en-US" dirty="0"/>
          </a:p>
        </p:txBody>
      </p:sp>
      <p:sp>
        <p:nvSpPr>
          <p:cNvPr id="36" name="文本框 35">
            <a:extLst>
              <a:ext uri="{FF2B5EF4-FFF2-40B4-BE49-F238E27FC236}">
                <a16:creationId xmlns:a16="http://schemas.microsoft.com/office/drawing/2014/main" id="{813FADD4-137D-442E-8E42-933E46516F9D}"/>
              </a:ext>
            </a:extLst>
          </p:cNvPr>
          <p:cNvSpPr txBox="1"/>
          <p:nvPr/>
        </p:nvSpPr>
        <p:spPr>
          <a:xfrm>
            <a:off x="7010625" y="2642651"/>
            <a:ext cx="301686" cy="369332"/>
          </a:xfrm>
          <a:prstGeom prst="rect">
            <a:avLst/>
          </a:prstGeom>
          <a:noFill/>
        </p:spPr>
        <p:txBody>
          <a:bodyPr wrap="none" rtlCol="0">
            <a:spAutoFit/>
          </a:bodyPr>
          <a:lstStyle/>
          <a:p>
            <a:r>
              <a:rPr lang="en-US" altLang="zh-CN" dirty="0"/>
              <a:t>7</a:t>
            </a:r>
            <a:endParaRPr lang="zh-CN" altLang="en-US" dirty="0"/>
          </a:p>
        </p:txBody>
      </p:sp>
      <p:sp>
        <p:nvSpPr>
          <p:cNvPr id="37" name="文本框 36">
            <a:extLst>
              <a:ext uri="{FF2B5EF4-FFF2-40B4-BE49-F238E27FC236}">
                <a16:creationId xmlns:a16="http://schemas.microsoft.com/office/drawing/2014/main" id="{509F69D1-9C1B-412E-BF0F-54144D81A83A}"/>
              </a:ext>
            </a:extLst>
          </p:cNvPr>
          <p:cNvSpPr txBox="1"/>
          <p:nvPr/>
        </p:nvSpPr>
        <p:spPr>
          <a:xfrm>
            <a:off x="6810661" y="2642651"/>
            <a:ext cx="301686" cy="369332"/>
          </a:xfrm>
          <a:prstGeom prst="rect">
            <a:avLst/>
          </a:prstGeom>
          <a:noFill/>
        </p:spPr>
        <p:txBody>
          <a:bodyPr wrap="none" rtlCol="0">
            <a:spAutoFit/>
          </a:bodyPr>
          <a:lstStyle/>
          <a:p>
            <a:r>
              <a:rPr lang="en-US" altLang="zh-CN" dirty="0"/>
              <a:t>8</a:t>
            </a:r>
            <a:endParaRPr lang="zh-CN" altLang="en-US" dirty="0"/>
          </a:p>
        </p:txBody>
      </p:sp>
      <p:sp>
        <p:nvSpPr>
          <p:cNvPr id="38" name="文本框 37">
            <a:extLst>
              <a:ext uri="{FF2B5EF4-FFF2-40B4-BE49-F238E27FC236}">
                <a16:creationId xmlns:a16="http://schemas.microsoft.com/office/drawing/2014/main" id="{AA0CEF59-A7D8-4463-9655-8652AB2F4F84}"/>
              </a:ext>
            </a:extLst>
          </p:cNvPr>
          <p:cNvSpPr txBox="1"/>
          <p:nvPr/>
        </p:nvSpPr>
        <p:spPr>
          <a:xfrm>
            <a:off x="6590619" y="2642651"/>
            <a:ext cx="301686" cy="369332"/>
          </a:xfrm>
          <a:prstGeom prst="rect">
            <a:avLst/>
          </a:prstGeom>
          <a:noFill/>
        </p:spPr>
        <p:txBody>
          <a:bodyPr wrap="none" rtlCol="0">
            <a:spAutoFit/>
          </a:bodyPr>
          <a:lstStyle/>
          <a:p>
            <a:r>
              <a:rPr lang="en-US" altLang="zh-CN" dirty="0"/>
              <a:t>9</a:t>
            </a:r>
            <a:endParaRPr lang="zh-CN" altLang="en-US" dirty="0"/>
          </a:p>
        </p:txBody>
      </p:sp>
      <p:sp>
        <p:nvSpPr>
          <p:cNvPr id="39" name="任意多边形: 形状 69">
            <a:extLst>
              <a:ext uri="{FF2B5EF4-FFF2-40B4-BE49-F238E27FC236}">
                <a16:creationId xmlns:a16="http://schemas.microsoft.com/office/drawing/2014/main" id="{D20796AD-7FE0-4474-AB1A-7192FF929A1D}"/>
              </a:ext>
            </a:extLst>
          </p:cNvPr>
          <p:cNvSpPr/>
          <p:nvPr/>
        </p:nvSpPr>
        <p:spPr>
          <a:xfrm>
            <a:off x="3808868" y="4385028"/>
            <a:ext cx="3838007" cy="570714"/>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chemeClr val="bg1"/>
                </a:solidFill>
                <a:latin typeface="Microsoft YaHei" panose="020B0503020204020204" pitchFamily="34" charset="-122"/>
                <a:ea typeface="Microsoft YaHei" panose="020B0503020204020204" pitchFamily="34" charset="-122"/>
              </a:rPr>
              <a:t>思考题：队列</a:t>
            </a:r>
            <a:r>
              <a:rPr lang="en-US" altLang="zh-CN" sz="2000" dirty="0">
                <a:solidFill>
                  <a:schemeClr val="bg1"/>
                </a:solidFill>
                <a:latin typeface="Microsoft YaHei" panose="020B0503020204020204" pitchFamily="34" charset="-122"/>
                <a:ea typeface="Microsoft YaHei" panose="020B0503020204020204" pitchFamily="34" charset="-122"/>
              </a:rPr>
              <a:t>H3</a:t>
            </a:r>
            <a:r>
              <a:rPr lang="zh-CN" altLang="en-US" sz="2000" dirty="0">
                <a:solidFill>
                  <a:schemeClr val="bg1"/>
                </a:solidFill>
                <a:latin typeface="Microsoft YaHei" panose="020B0503020204020204" pitchFamily="34" charset="-122"/>
                <a:ea typeface="Microsoft YaHei" panose="020B0503020204020204" pitchFamily="34" charset="-122"/>
              </a:rPr>
              <a:t>可否去掉？</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grpSp>
        <p:nvGrpSpPr>
          <p:cNvPr id="12" name="组合 11">
            <a:extLst>
              <a:ext uri="{FF2B5EF4-FFF2-40B4-BE49-F238E27FC236}">
                <a16:creationId xmlns:a16="http://schemas.microsoft.com/office/drawing/2014/main" id="{2A8CCCDE-04D2-4276-A982-F35F3159A652}"/>
              </a:ext>
            </a:extLst>
          </p:cNvPr>
          <p:cNvGrpSpPr/>
          <p:nvPr/>
        </p:nvGrpSpPr>
        <p:grpSpPr>
          <a:xfrm>
            <a:off x="2293056" y="5277474"/>
            <a:ext cx="6869631" cy="1106138"/>
            <a:chOff x="2176037" y="5341006"/>
            <a:chExt cx="6869631" cy="1106138"/>
          </a:xfrm>
        </p:grpSpPr>
        <p:cxnSp>
          <p:nvCxnSpPr>
            <p:cNvPr id="40" name="直接连接符 39">
              <a:extLst>
                <a:ext uri="{FF2B5EF4-FFF2-40B4-BE49-F238E27FC236}">
                  <a16:creationId xmlns:a16="http://schemas.microsoft.com/office/drawing/2014/main" id="{A8C2B4EE-C984-40E6-81D5-8EDCE2A7EC8F}"/>
                </a:ext>
              </a:extLst>
            </p:cNvPr>
            <p:cNvCxnSpPr>
              <a:cxnSpLocks/>
            </p:cNvCxnSpPr>
            <p:nvPr/>
          </p:nvCxnSpPr>
          <p:spPr>
            <a:xfrm>
              <a:off x="2666574" y="5660025"/>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9808654-FCDA-4DBF-894C-5B92DBD3B467}"/>
                </a:ext>
              </a:extLst>
            </p:cNvPr>
            <p:cNvCxnSpPr>
              <a:cxnSpLocks/>
            </p:cNvCxnSpPr>
            <p:nvPr/>
          </p:nvCxnSpPr>
          <p:spPr>
            <a:xfrm>
              <a:off x="4692224" y="5878819"/>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1463763-4C1F-446E-B274-673A0D8C59CE}"/>
                </a:ext>
              </a:extLst>
            </p:cNvPr>
            <p:cNvCxnSpPr>
              <a:cxnSpLocks/>
            </p:cNvCxnSpPr>
            <p:nvPr/>
          </p:nvCxnSpPr>
          <p:spPr>
            <a:xfrm flipV="1">
              <a:off x="6601788" y="5693876"/>
              <a:ext cx="2010294" cy="134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D4B9715-99CA-4CFB-A3C4-C2627C9E0717}"/>
                </a:ext>
              </a:extLst>
            </p:cNvPr>
            <p:cNvCxnSpPr>
              <a:cxnSpLocks/>
            </p:cNvCxnSpPr>
            <p:nvPr/>
          </p:nvCxnSpPr>
          <p:spPr>
            <a:xfrm>
              <a:off x="4692224" y="6236006"/>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0A7BD7CE-BAC9-4660-9BDA-1661EA9808C2}"/>
                </a:ext>
              </a:extLst>
            </p:cNvPr>
            <p:cNvSpPr txBox="1">
              <a:spLocks noChangeArrowheads="1"/>
            </p:cNvSpPr>
            <p:nvPr/>
          </p:nvSpPr>
          <p:spPr bwMode="auto">
            <a:xfrm>
              <a:off x="4225499" y="5686731"/>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53" name="文本框 52">
              <a:extLst>
                <a:ext uri="{FF2B5EF4-FFF2-40B4-BE49-F238E27FC236}">
                  <a16:creationId xmlns:a16="http://schemas.microsoft.com/office/drawing/2014/main" id="{8F0FD7D6-C42F-4EAE-BBA0-2CE2E5520AA4}"/>
                </a:ext>
              </a:extLst>
            </p:cNvPr>
            <p:cNvSpPr txBox="1">
              <a:spLocks noChangeArrowheads="1"/>
            </p:cNvSpPr>
            <p:nvPr/>
          </p:nvSpPr>
          <p:spPr bwMode="auto">
            <a:xfrm>
              <a:off x="4225499" y="6078844"/>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55" name="文本框 54">
              <a:extLst>
                <a:ext uri="{FF2B5EF4-FFF2-40B4-BE49-F238E27FC236}">
                  <a16:creationId xmlns:a16="http://schemas.microsoft.com/office/drawing/2014/main" id="{E98212A3-9B52-43EB-84FA-D0474D1E7890}"/>
                </a:ext>
              </a:extLst>
            </p:cNvPr>
            <p:cNvSpPr txBox="1">
              <a:spLocks noChangeArrowheads="1"/>
            </p:cNvSpPr>
            <p:nvPr/>
          </p:nvSpPr>
          <p:spPr bwMode="auto">
            <a:xfrm>
              <a:off x="2176037" y="5523219"/>
              <a:ext cx="24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56" name="文本框 55">
              <a:extLst>
                <a:ext uri="{FF2B5EF4-FFF2-40B4-BE49-F238E27FC236}">
                  <a16:creationId xmlns:a16="http://schemas.microsoft.com/office/drawing/2014/main" id="{FB1FA418-AA14-4350-951C-646201BA9843}"/>
                </a:ext>
              </a:extLst>
            </p:cNvPr>
            <p:cNvSpPr txBox="1">
              <a:spLocks noChangeArrowheads="1"/>
            </p:cNvSpPr>
            <p:nvPr/>
          </p:nvSpPr>
          <p:spPr bwMode="auto">
            <a:xfrm>
              <a:off x="8686893" y="5508932"/>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59" name="文本框 58">
              <a:extLst>
                <a:ext uri="{FF2B5EF4-FFF2-40B4-BE49-F238E27FC236}">
                  <a16:creationId xmlns:a16="http://schemas.microsoft.com/office/drawing/2014/main" id="{66D2F1EF-DE91-49A0-96E8-12031DE59ECE}"/>
                </a:ext>
              </a:extLst>
            </p:cNvPr>
            <p:cNvSpPr txBox="1"/>
            <p:nvPr/>
          </p:nvSpPr>
          <p:spPr>
            <a:xfrm>
              <a:off x="2771958" y="5341006"/>
              <a:ext cx="301686" cy="369332"/>
            </a:xfrm>
            <a:prstGeom prst="rect">
              <a:avLst/>
            </a:prstGeom>
            <a:noFill/>
          </p:spPr>
          <p:txBody>
            <a:bodyPr wrap="none" rtlCol="0">
              <a:spAutoFit/>
            </a:bodyPr>
            <a:lstStyle/>
            <a:p>
              <a:r>
                <a:rPr lang="en-US" altLang="zh-CN" dirty="0"/>
                <a:t>5</a:t>
              </a:r>
              <a:endParaRPr lang="zh-CN" altLang="en-US" dirty="0"/>
            </a:p>
          </p:txBody>
        </p:sp>
        <p:sp>
          <p:nvSpPr>
            <p:cNvPr id="60" name="文本框 59">
              <a:extLst>
                <a:ext uri="{FF2B5EF4-FFF2-40B4-BE49-F238E27FC236}">
                  <a16:creationId xmlns:a16="http://schemas.microsoft.com/office/drawing/2014/main" id="{A8309C67-89B8-4276-B5A1-721EEB88817E}"/>
                </a:ext>
              </a:extLst>
            </p:cNvPr>
            <p:cNvSpPr txBox="1"/>
            <p:nvPr/>
          </p:nvSpPr>
          <p:spPr>
            <a:xfrm>
              <a:off x="5207661" y="5907454"/>
              <a:ext cx="301686" cy="369332"/>
            </a:xfrm>
            <a:prstGeom prst="rect">
              <a:avLst/>
            </a:prstGeom>
            <a:noFill/>
          </p:spPr>
          <p:txBody>
            <a:bodyPr wrap="none" rtlCol="0">
              <a:spAutoFit/>
            </a:bodyPr>
            <a:lstStyle/>
            <a:p>
              <a:r>
                <a:rPr lang="en-US" altLang="zh-CN" dirty="0"/>
                <a:t>8</a:t>
              </a:r>
              <a:endParaRPr lang="zh-CN" altLang="en-US" dirty="0"/>
            </a:p>
          </p:txBody>
        </p:sp>
        <p:sp>
          <p:nvSpPr>
            <p:cNvPr id="61" name="文本框 60">
              <a:extLst>
                <a:ext uri="{FF2B5EF4-FFF2-40B4-BE49-F238E27FC236}">
                  <a16:creationId xmlns:a16="http://schemas.microsoft.com/office/drawing/2014/main" id="{10169A49-CC5A-47FD-95E9-46F00020F25B}"/>
                </a:ext>
              </a:extLst>
            </p:cNvPr>
            <p:cNvSpPr txBox="1"/>
            <p:nvPr/>
          </p:nvSpPr>
          <p:spPr>
            <a:xfrm>
              <a:off x="8319235" y="5368431"/>
              <a:ext cx="301686" cy="369332"/>
            </a:xfrm>
            <a:prstGeom prst="rect">
              <a:avLst/>
            </a:prstGeom>
            <a:noFill/>
          </p:spPr>
          <p:txBody>
            <a:bodyPr wrap="none" rtlCol="0">
              <a:spAutoFit/>
            </a:bodyPr>
            <a:lstStyle/>
            <a:p>
              <a:r>
                <a:rPr lang="en-US" altLang="zh-CN" dirty="0"/>
                <a:t>1</a:t>
              </a:r>
              <a:endParaRPr lang="zh-CN" altLang="en-US" dirty="0"/>
            </a:p>
          </p:txBody>
        </p:sp>
        <p:sp>
          <p:nvSpPr>
            <p:cNvPr id="62" name="文本框 61">
              <a:extLst>
                <a:ext uri="{FF2B5EF4-FFF2-40B4-BE49-F238E27FC236}">
                  <a16:creationId xmlns:a16="http://schemas.microsoft.com/office/drawing/2014/main" id="{5D5B77A2-19A6-45F7-A1B2-66CEC8AA9D3E}"/>
                </a:ext>
              </a:extLst>
            </p:cNvPr>
            <p:cNvSpPr txBox="1"/>
            <p:nvPr/>
          </p:nvSpPr>
          <p:spPr>
            <a:xfrm>
              <a:off x="5423524" y="5907454"/>
              <a:ext cx="301686" cy="369332"/>
            </a:xfrm>
            <a:prstGeom prst="rect">
              <a:avLst/>
            </a:prstGeom>
            <a:noFill/>
          </p:spPr>
          <p:txBody>
            <a:bodyPr wrap="none" rtlCol="0">
              <a:spAutoFit/>
            </a:bodyPr>
            <a:lstStyle/>
            <a:p>
              <a:r>
                <a:rPr lang="en-US" altLang="zh-CN" dirty="0"/>
                <a:t>7</a:t>
              </a:r>
              <a:endParaRPr lang="zh-CN" altLang="en-US" dirty="0"/>
            </a:p>
          </p:txBody>
        </p:sp>
        <p:sp>
          <p:nvSpPr>
            <p:cNvPr id="63" name="文本框 62">
              <a:extLst>
                <a:ext uri="{FF2B5EF4-FFF2-40B4-BE49-F238E27FC236}">
                  <a16:creationId xmlns:a16="http://schemas.microsoft.com/office/drawing/2014/main" id="{C337380D-34EB-4D1F-8BC4-58C4F34EB0FF}"/>
                </a:ext>
              </a:extLst>
            </p:cNvPr>
            <p:cNvSpPr txBox="1"/>
            <p:nvPr/>
          </p:nvSpPr>
          <p:spPr>
            <a:xfrm>
              <a:off x="5700111" y="5910758"/>
              <a:ext cx="301686" cy="369332"/>
            </a:xfrm>
            <a:prstGeom prst="rect">
              <a:avLst/>
            </a:prstGeom>
            <a:noFill/>
          </p:spPr>
          <p:txBody>
            <a:bodyPr wrap="none" rtlCol="0">
              <a:spAutoFit/>
            </a:bodyPr>
            <a:lstStyle/>
            <a:p>
              <a:r>
                <a:rPr lang="en-US" altLang="zh-CN" dirty="0"/>
                <a:t>4</a:t>
              </a:r>
              <a:endParaRPr lang="zh-CN" altLang="en-US" dirty="0"/>
            </a:p>
          </p:txBody>
        </p:sp>
        <p:sp>
          <p:nvSpPr>
            <p:cNvPr id="64" name="文本框 63">
              <a:extLst>
                <a:ext uri="{FF2B5EF4-FFF2-40B4-BE49-F238E27FC236}">
                  <a16:creationId xmlns:a16="http://schemas.microsoft.com/office/drawing/2014/main" id="{3D91A5ED-9A2F-4FCC-8CD9-8E1A89C01DDE}"/>
                </a:ext>
              </a:extLst>
            </p:cNvPr>
            <p:cNvSpPr txBox="1"/>
            <p:nvPr/>
          </p:nvSpPr>
          <p:spPr>
            <a:xfrm>
              <a:off x="5961978" y="5900034"/>
              <a:ext cx="301686" cy="369332"/>
            </a:xfrm>
            <a:prstGeom prst="rect">
              <a:avLst/>
            </a:prstGeom>
            <a:noFill/>
          </p:spPr>
          <p:txBody>
            <a:bodyPr wrap="none" rtlCol="0">
              <a:spAutoFit/>
            </a:bodyPr>
            <a:lstStyle/>
            <a:p>
              <a:r>
                <a:rPr lang="en-US" altLang="zh-CN" dirty="0"/>
                <a:t>2</a:t>
              </a:r>
              <a:endParaRPr lang="zh-CN" altLang="en-US" dirty="0"/>
            </a:p>
          </p:txBody>
        </p:sp>
        <p:sp>
          <p:nvSpPr>
            <p:cNvPr id="65" name="文本框 64">
              <a:extLst>
                <a:ext uri="{FF2B5EF4-FFF2-40B4-BE49-F238E27FC236}">
                  <a16:creationId xmlns:a16="http://schemas.microsoft.com/office/drawing/2014/main" id="{C6BB9A6D-F617-4040-9A23-46D52764297E}"/>
                </a:ext>
              </a:extLst>
            </p:cNvPr>
            <p:cNvSpPr txBox="1"/>
            <p:nvPr/>
          </p:nvSpPr>
          <p:spPr>
            <a:xfrm>
              <a:off x="5426491" y="5523774"/>
              <a:ext cx="301686" cy="369332"/>
            </a:xfrm>
            <a:prstGeom prst="rect">
              <a:avLst/>
            </a:prstGeom>
            <a:noFill/>
          </p:spPr>
          <p:txBody>
            <a:bodyPr wrap="none" rtlCol="0">
              <a:spAutoFit/>
            </a:bodyPr>
            <a:lstStyle/>
            <a:p>
              <a:r>
                <a:rPr lang="en-US" altLang="zh-CN" dirty="0"/>
                <a:t>9</a:t>
              </a:r>
              <a:endParaRPr lang="zh-CN" altLang="en-US" dirty="0"/>
            </a:p>
          </p:txBody>
        </p:sp>
        <p:sp>
          <p:nvSpPr>
            <p:cNvPr id="66" name="文本框 65">
              <a:extLst>
                <a:ext uri="{FF2B5EF4-FFF2-40B4-BE49-F238E27FC236}">
                  <a16:creationId xmlns:a16="http://schemas.microsoft.com/office/drawing/2014/main" id="{A5B738DA-B236-44E6-88C8-CAA1793E1122}"/>
                </a:ext>
              </a:extLst>
            </p:cNvPr>
            <p:cNvSpPr txBox="1"/>
            <p:nvPr/>
          </p:nvSpPr>
          <p:spPr>
            <a:xfrm>
              <a:off x="5703809" y="5516846"/>
              <a:ext cx="301686" cy="369332"/>
            </a:xfrm>
            <a:prstGeom prst="rect">
              <a:avLst/>
            </a:prstGeom>
            <a:noFill/>
          </p:spPr>
          <p:txBody>
            <a:bodyPr wrap="none" rtlCol="0">
              <a:spAutoFit/>
            </a:bodyPr>
            <a:lstStyle/>
            <a:p>
              <a:r>
                <a:rPr lang="en-US" altLang="zh-CN" dirty="0"/>
                <a:t>6</a:t>
              </a:r>
              <a:endParaRPr lang="zh-CN" altLang="en-US" dirty="0"/>
            </a:p>
          </p:txBody>
        </p:sp>
        <p:sp>
          <p:nvSpPr>
            <p:cNvPr id="67" name="文本框 66">
              <a:extLst>
                <a:ext uri="{FF2B5EF4-FFF2-40B4-BE49-F238E27FC236}">
                  <a16:creationId xmlns:a16="http://schemas.microsoft.com/office/drawing/2014/main" id="{08F7FC82-B681-46B9-83B9-1532D8458127}"/>
                </a:ext>
              </a:extLst>
            </p:cNvPr>
            <p:cNvSpPr txBox="1"/>
            <p:nvPr/>
          </p:nvSpPr>
          <p:spPr>
            <a:xfrm>
              <a:off x="5961978" y="5523774"/>
              <a:ext cx="301686" cy="369332"/>
            </a:xfrm>
            <a:prstGeom prst="rect">
              <a:avLst/>
            </a:prstGeom>
            <a:noFill/>
          </p:spPr>
          <p:txBody>
            <a:bodyPr wrap="none" rtlCol="0">
              <a:spAutoFit/>
            </a:bodyPr>
            <a:lstStyle/>
            <a:p>
              <a:r>
                <a:rPr lang="en-US" altLang="zh-CN" dirty="0"/>
                <a:t>3</a:t>
              </a:r>
              <a:endParaRPr lang="zh-CN" altLang="en-US" dirty="0"/>
            </a:p>
          </p:txBody>
        </p:sp>
      </p:grpSp>
    </p:spTree>
    <p:extLst>
      <p:ext uri="{BB962C8B-B14F-4D97-AF65-F5344CB8AC3E}">
        <p14:creationId xmlns:p14="http://schemas.microsoft.com/office/powerpoint/2010/main" val="382582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49"/>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hidden"/>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hidden"/>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hidden"/>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3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44"/>
                                        </p:tgtEl>
                                        <p:attrNameLst>
                                          <p:attrName>style.visibility</p:attrName>
                                        </p:attrNameLst>
                                      </p:cBhvr>
                                      <p:to>
                                        <p:strVal val="hidden"/>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hidden"/>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0" nodeType="clickEffect">
                                  <p:stCondLst>
                                    <p:cond delay="0"/>
                                  </p:stCondLst>
                                  <p:childTnLst>
                                    <p:set>
                                      <p:cBhvr>
                                        <p:cTn id="55" dur="1" fill="hold">
                                          <p:stCondLst>
                                            <p:cond delay="0"/>
                                          </p:stCondLst>
                                        </p:cTn>
                                        <p:tgtEl>
                                          <p:spTgt spid="47"/>
                                        </p:tgtEl>
                                        <p:attrNameLst>
                                          <p:attrName>style.visibility</p:attrName>
                                        </p:attrNameLst>
                                      </p:cBhvr>
                                      <p:to>
                                        <p:strVal val="hidden"/>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1000"/>
                                        <p:tgtEl>
                                          <p:spTgt spid="39"/>
                                        </p:tgtEl>
                                      </p:cBhvr>
                                    </p:animEffect>
                                    <p:anim calcmode="lin" valueType="num">
                                      <p:cBhvr>
                                        <p:cTn id="64" dur="1000" fill="hold"/>
                                        <p:tgtEl>
                                          <p:spTgt spid="39"/>
                                        </p:tgtEl>
                                        <p:attrNameLst>
                                          <p:attrName>ppt_x</p:attrName>
                                        </p:attrNameLst>
                                      </p:cBhvr>
                                      <p:tavLst>
                                        <p:tav tm="0">
                                          <p:val>
                                            <p:strVal val="#ppt_x"/>
                                          </p:val>
                                        </p:tav>
                                        <p:tav tm="100000">
                                          <p:val>
                                            <p:strVal val="#ppt_x"/>
                                          </p:val>
                                        </p:tav>
                                      </p:tavLst>
                                    </p:anim>
                                    <p:anim calcmode="lin" valueType="num">
                                      <p:cBhvr>
                                        <p:cTn id="65"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29" grpId="0"/>
      <p:bldP spid="57" grpId="0"/>
      <p:bldP spid="58" grpId="0"/>
      <p:bldP spid="11" grpId="0"/>
      <p:bldP spid="35" grpId="0"/>
      <p:bldP spid="44" grpId="0"/>
      <p:bldP spid="45" grpId="0"/>
      <p:bldP spid="46" grpId="0"/>
      <p:bldP spid="47" grpId="0"/>
      <p:bldP spid="48" grpId="0"/>
      <p:bldP spid="49" grpId="0"/>
      <p:bldP spid="25" grpId="0"/>
      <p:bldP spid="26" grpId="0"/>
      <p:bldP spid="27" grpId="0"/>
      <p:bldP spid="30" grpId="0"/>
      <p:bldP spid="34" grpId="0"/>
      <p:bldP spid="36" grpId="0"/>
      <p:bldP spid="37" grpId="0"/>
      <p:bldP spid="38" grpId="0"/>
      <p:bldP spid="39" grpId="0" animBg="1"/>
      <p:bldP spid="52" grpId="0"/>
      <p:bldP spid="53" grpId="0"/>
      <p:bldP spid="55" grpId="0"/>
      <p:bldP spid="5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8341B515-0B8E-4CDA-ABA7-F5F9FC971D07}"/>
              </a:ext>
            </a:extLst>
          </p:cNvPr>
          <p:cNvCxnSpPr>
            <a:cxnSpLocks/>
          </p:cNvCxnSpPr>
          <p:nvPr/>
        </p:nvCxnSpPr>
        <p:spPr>
          <a:xfrm>
            <a:off x="2860589" y="3316287"/>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BA935D2-9DAB-4C21-A7AC-536844775510}"/>
              </a:ext>
            </a:extLst>
          </p:cNvPr>
          <p:cNvCxnSpPr>
            <a:cxnSpLocks/>
          </p:cNvCxnSpPr>
          <p:nvPr/>
        </p:nvCxnSpPr>
        <p:spPr>
          <a:xfrm>
            <a:off x="4886239" y="3535081"/>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C17117-BFCC-4B0E-8534-36C7D1C982C6}"/>
              </a:ext>
            </a:extLst>
          </p:cNvPr>
          <p:cNvCxnSpPr>
            <a:cxnSpLocks/>
          </p:cNvCxnSpPr>
          <p:nvPr/>
        </p:nvCxnSpPr>
        <p:spPr>
          <a:xfrm>
            <a:off x="6870614" y="3363631"/>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478AA21-CFEE-40B6-B6D5-7F2CA800348A}"/>
              </a:ext>
            </a:extLst>
          </p:cNvPr>
          <p:cNvCxnSpPr>
            <a:cxnSpLocks/>
          </p:cNvCxnSpPr>
          <p:nvPr/>
        </p:nvCxnSpPr>
        <p:spPr>
          <a:xfrm>
            <a:off x="4886239" y="3892268"/>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B445F2A-82E1-40D1-9C76-15CFA6B8ED5C}"/>
              </a:ext>
            </a:extLst>
          </p:cNvPr>
          <p:cNvCxnSpPr>
            <a:cxnSpLocks/>
          </p:cNvCxnSpPr>
          <p:nvPr/>
        </p:nvCxnSpPr>
        <p:spPr>
          <a:xfrm>
            <a:off x="4886239" y="4251043"/>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141D5845-2EC2-45F8-A20F-1FE6055FB78D}"/>
              </a:ext>
            </a:extLst>
          </p:cNvPr>
          <p:cNvSpPr txBox="1">
            <a:spLocks noChangeArrowheads="1"/>
          </p:cNvSpPr>
          <p:nvPr/>
        </p:nvSpPr>
        <p:spPr bwMode="auto">
          <a:xfrm>
            <a:off x="4419514" y="3342993"/>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28" name="文本框 27">
            <a:extLst>
              <a:ext uri="{FF2B5EF4-FFF2-40B4-BE49-F238E27FC236}">
                <a16:creationId xmlns:a16="http://schemas.microsoft.com/office/drawing/2014/main" id="{452B5DCD-4C2E-4C33-B4BD-449BA3141EE9}"/>
              </a:ext>
            </a:extLst>
          </p:cNvPr>
          <p:cNvSpPr txBox="1">
            <a:spLocks noChangeArrowheads="1"/>
          </p:cNvSpPr>
          <p:nvPr/>
        </p:nvSpPr>
        <p:spPr bwMode="auto">
          <a:xfrm>
            <a:off x="4419514" y="3735106"/>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29" name="文本框 28">
            <a:extLst>
              <a:ext uri="{FF2B5EF4-FFF2-40B4-BE49-F238E27FC236}">
                <a16:creationId xmlns:a16="http://schemas.microsoft.com/office/drawing/2014/main" id="{EA829F5C-94B9-47FC-9142-984318895BB9}"/>
              </a:ext>
            </a:extLst>
          </p:cNvPr>
          <p:cNvSpPr txBox="1">
            <a:spLocks noChangeArrowheads="1"/>
          </p:cNvSpPr>
          <p:nvPr/>
        </p:nvSpPr>
        <p:spPr bwMode="auto">
          <a:xfrm>
            <a:off x="4419514" y="4146268"/>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57" name="文本框 56">
            <a:extLst>
              <a:ext uri="{FF2B5EF4-FFF2-40B4-BE49-F238E27FC236}">
                <a16:creationId xmlns:a16="http://schemas.microsoft.com/office/drawing/2014/main" id="{D7F04795-581D-4BB0-8E2B-17D56C98FE6A}"/>
              </a:ext>
            </a:extLst>
          </p:cNvPr>
          <p:cNvSpPr txBox="1">
            <a:spLocks noChangeArrowheads="1"/>
          </p:cNvSpPr>
          <p:nvPr/>
        </p:nvSpPr>
        <p:spPr bwMode="auto">
          <a:xfrm>
            <a:off x="2370052" y="3179481"/>
            <a:ext cx="24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58" name="文本框 57">
            <a:extLst>
              <a:ext uri="{FF2B5EF4-FFF2-40B4-BE49-F238E27FC236}">
                <a16:creationId xmlns:a16="http://schemas.microsoft.com/office/drawing/2014/main" id="{2C11B429-94E5-4487-B728-4C600CBF5CC7}"/>
              </a:ext>
            </a:extLst>
          </p:cNvPr>
          <p:cNvSpPr txBox="1">
            <a:spLocks noChangeArrowheads="1"/>
          </p:cNvSpPr>
          <p:nvPr/>
        </p:nvSpPr>
        <p:spPr bwMode="auto">
          <a:xfrm>
            <a:off x="8578764" y="3179481"/>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4" name="文本框 3">
            <a:extLst>
              <a:ext uri="{FF2B5EF4-FFF2-40B4-BE49-F238E27FC236}">
                <a16:creationId xmlns:a16="http://schemas.microsoft.com/office/drawing/2014/main" id="{83A34A51-222F-4127-8BBE-ECA5567E1890}"/>
              </a:ext>
            </a:extLst>
          </p:cNvPr>
          <p:cNvSpPr txBox="1">
            <a:spLocks noChangeArrowheads="1"/>
          </p:cNvSpPr>
          <p:nvPr/>
        </p:nvSpPr>
        <p:spPr bwMode="auto">
          <a:xfrm>
            <a:off x="550863" y="1424829"/>
            <a:ext cx="112601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ea typeface="华文楷体" panose="02010600040101010101" pitchFamily="2" charset="-122"/>
                <a:cs typeface="Times New Roman" panose="02020603050405020304" pitchFamily="18" charset="0"/>
              </a:rPr>
              <a:t>示例：  </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节车厢的货车，使用</a:t>
            </a:r>
            <a:r>
              <a:rPr lang="en-US" altLang="zh-CN" sz="2400" dirty="0">
                <a:ea typeface="华文楷体" panose="02010600040101010101" pitchFamily="2" charset="-122"/>
                <a:cs typeface="Times New Roman" panose="02020603050405020304" pitchFamily="18" charset="0"/>
              </a:rPr>
              <a:t>3</a:t>
            </a:r>
            <a:r>
              <a:rPr lang="zh-CN" altLang="en-US" sz="2400" dirty="0">
                <a:ea typeface="华文楷体" panose="02010600040101010101" pitchFamily="2" charset="-122"/>
                <a:cs typeface="Times New Roman" panose="02020603050405020304" pitchFamily="18" charset="0"/>
              </a:rPr>
              <a:t>个缓冲轨</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初始状态</a:t>
            </a:r>
            <a:r>
              <a:rPr kumimoji="1" lang="zh-CN" altLang="en-US" sz="2400" dirty="0">
                <a:ea typeface="华文楷体" panose="02010600040101010101" pitchFamily="2" charset="-122"/>
                <a:cs typeface="Times New Roman" panose="02020603050405020304" pitchFamily="18" charset="0"/>
              </a:rPr>
              <a:t>： </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 9</a:t>
            </a:r>
            <a:r>
              <a:rPr lang="zh-CN" altLang="zh-CN" sz="2400" dirty="0">
                <a:ea typeface="华文楷体" panose="02010600040101010101" pitchFamily="2" charset="-122"/>
                <a:cs typeface="Times New Roman" panose="02020603050405020304" pitchFamily="18" charset="0"/>
              </a:rPr>
              <a:t>节车厢均</a:t>
            </a:r>
            <a:r>
              <a:rPr lang="zh-CN" altLang="en-US" sz="2400" dirty="0">
                <a:ea typeface="华文楷体" panose="02010600040101010101" pitchFamily="2" charset="-122"/>
                <a:cs typeface="Times New Roman" panose="02020603050405020304" pitchFamily="18" charset="0"/>
              </a:rPr>
              <a:t>在</a:t>
            </a:r>
            <a:r>
              <a:rPr lang="zh-CN" altLang="zh-CN" sz="2400" dirty="0">
                <a:ea typeface="华文楷体" panose="02010600040101010101" pitchFamily="2" charset="-122"/>
                <a:cs typeface="Times New Roman" panose="02020603050405020304" pitchFamily="18" charset="0"/>
              </a:rPr>
              <a:t>入轨</a:t>
            </a:r>
            <a:r>
              <a:rPr lang="zh-CN" altLang="en-US" sz="2400" dirty="0">
                <a:ea typeface="华文楷体" panose="02010600040101010101" pitchFamily="2" charset="-122"/>
                <a:cs typeface="Times New Roman" panose="02020603050405020304" pitchFamily="18" charset="0"/>
              </a:rPr>
              <a:t>排队</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最终状态：</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节车厢按递增序排在出轨</a:t>
            </a:r>
            <a:r>
              <a:rPr lang="zh-CN" altLang="zh-CN" sz="2400" dirty="0">
                <a:ea typeface="华文楷体" panose="02010600040101010101" pitchFamily="2" charset="-122"/>
                <a:cs typeface="Times New Roman" panose="02020603050405020304" pitchFamily="18" charset="0"/>
              </a:rPr>
              <a:t> </a:t>
            </a:r>
            <a:r>
              <a:rPr lang="zh-CN" altLang="en-US" sz="2400" dirty="0">
                <a:ea typeface="华文楷体" panose="02010600040101010101" pitchFamily="2" charset="-122"/>
                <a:cs typeface="Times New Roman" panose="02020603050405020304" pitchFamily="18" charset="0"/>
              </a:rPr>
              <a:t>上</a:t>
            </a:r>
            <a:endParaRPr kumimoji="1" lang="zh-CN" altLang="en-US" sz="2400" dirty="0">
              <a:ea typeface="华文楷体" panose="0201060004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10B5BA12-B996-42D4-A318-58DA830ABD77}"/>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7" name="副标题 6">
            <a:extLst>
              <a:ext uri="{FF2B5EF4-FFF2-40B4-BE49-F238E27FC236}">
                <a16:creationId xmlns:a16="http://schemas.microsoft.com/office/drawing/2014/main" id="{57CC1784-C028-48E2-8E92-3DD1593CB42E}"/>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B840EFCA-95D0-4127-947B-444516D59707}"/>
              </a:ext>
            </a:extLst>
          </p:cNvPr>
          <p:cNvSpPr>
            <a:spLocks noGrp="1"/>
          </p:cNvSpPr>
          <p:nvPr>
            <p:ph type="body" idx="10"/>
          </p:nvPr>
        </p:nvSpPr>
        <p:spPr/>
        <p:txBody>
          <a:bodyPr/>
          <a:lstStyle/>
          <a:p>
            <a:endParaRPr lang="zh-CN" altLang="en-US"/>
          </a:p>
        </p:txBody>
      </p:sp>
      <p:sp>
        <p:nvSpPr>
          <p:cNvPr id="11" name="文本框 10">
            <a:extLst>
              <a:ext uri="{FF2B5EF4-FFF2-40B4-BE49-F238E27FC236}">
                <a16:creationId xmlns:a16="http://schemas.microsoft.com/office/drawing/2014/main" id="{B76BBEC0-9399-4F66-B048-E966A9C4ED18}"/>
              </a:ext>
            </a:extLst>
          </p:cNvPr>
          <p:cNvSpPr txBox="1"/>
          <p:nvPr/>
        </p:nvSpPr>
        <p:spPr>
          <a:xfrm>
            <a:off x="2774494" y="2966081"/>
            <a:ext cx="301686" cy="369332"/>
          </a:xfrm>
          <a:prstGeom prst="rect">
            <a:avLst/>
          </a:prstGeom>
          <a:noFill/>
        </p:spPr>
        <p:txBody>
          <a:bodyPr wrap="none" rtlCol="0">
            <a:spAutoFit/>
          </a:bodyPr>
          <a:lstStyle/>
          <a:p>
            <a:r>
              <a:rPr lang="en-US" altLang="zh-CN" dirty="0"/>
              <a:t>5</a:t>
            </a:r>
            <a:endParaRPr lang="zh-CN" altLang="en-US" dirty="0"/>
          </a:p>
        </p:txBody>
      </p:sp>
      <p:sp>
        <p:nvSpPr>
          <p:cNvPr id="35" name="文本框 34">
            <a:extLst>
              <a:ext uri="{FF2B5EF4-FFF2-40B4-BE49-F238E27FC236}">
                <a16:creationId xmlns:a16="http://schemas.microsoft.com/office/drawing/2014/main" id="{498CB276-7AEC-453A-BBC1-330E541AF76B}"/>
              </a:ext>
            </a:extLst>
          </p:cNvPr>
          <p:cNvSpPr txBox="1"/>
          <p:nvPr/>
        </p:nvSpPr>
        <p:spPr>
          <a:xfrm>
            <a:off x="2942660" y="2966081"/>
            <a:ext cx="301686" cy="369332"/>
          </a:xfrm>
          <a:prstGeom prst="rect">
            <a:avLst/>
          </a:prstGeom>
          <a:noFill/>
        </p:spPr>
        <p:txBody>
          <a:bodyPr wrap="none" rtlCol="0">
            <a:spAutoFit/>
          </a:bodyPr>
          <a:lstStyle/>
          <a:p>
            <a:r>
              <a:rPr lang="en-US" altLang="zh-CN" dirty="0"/>
              <a:t>8</a:t>
            </a:r>
            <a:endParaRPr lang="zh-CN" altLang="en-US" dirty="0"/>
          </a:p>
        </p:txBody>
      </p:sp>
      <p:sp>
        <p:nvSpPr>
          <p:cNvPr id="43" name="文本框 42">
            <a:extLst>
              <a:ext uri="{FF2B5EF4-FFF2-40B4-BE49-F238E27FC236}">
                <a16:creationId xmlns:a16="http://schemas.microsoft.com/office/drawing/2014/main" id="{5A77DF8B-D6B4-4AFA-8302-30FE2AF056C4}"/>
              </a:ext>
            </a:extLst>
          </p:cNvPr>
          <p:cNvSpPr txBox="1"/>
          <p:nvPr/>
        </p:nvSpPr>
        <p:spPr>
          <a:xfrm>
            <a:off x="3126592" y="2966081"/>
            <a:ext cx="301686" cy="369332"/>
          </a:xfrm>
          <a:prstGeom prst="rect">
            <a:avLst/>
          </a:prstGeom>
          <a:noFill/>
        </p:spPr>
        <p:txBody>
          <a:bodyPr wrap="none" rtlCol="0">
            <a:spAutoFit/>
          </a:bodyPr>
          <a:lstStyle/>
          <a:p>
            <a:r>
              <a:rPr lang="en-US" altLang="zh-CN" dirty="0"/>
              <a:t>1</a:t>
            </a:r>
            <a:endParaRPr lang="zh-CN" altLang="en-US" dirty="0"/>
          </a:p>
        </p:txBody>
      </p:sp>
      <p:sp>
        <p:nvSpPr>
          <p:cNvPr id="44" name="文本框 43">
            <a:extLst>
              <a:ext uri="{FF2B5EF4-FFF2-40B4-BE49-F238E27FC236}">
                <a16:creationId xmlns:a16="http://schemas.microsoft.com/office/drawing/2014/main" id="{71C1D33E-DA23-43DB-AE0A-AE54D34519BA}"/>
              </a:ext>
            </a:extLst>
          </p:cNvPr>
          <p:cNvSpPr txBox="1"/>
          <p:nvPr/>
        </p:nvSpPr>
        <p:spPr>
          <a:xfrm>
            <a:off x="3294758" y="2966081"/>
            <a:ext cx="301686" cy="369332"/>
          </a:xfrm>
          <a:prstGeom prst="rect">
            <a:avLst/>
          </a:prstGeom>
          <a:noFill/>
        </p:spPr>
        <p:txBody>
          <a:bodyPr wrap="none" rtlCol="0">
            <a:spAutoFit/>
          </a:bodyPr>
          <a:lstStyle/>
          <a:p>
            <a:r>
              <a:rPr lang="en-US" altLang="zh-CN" dirty="0"/>
              <a:t>7</a:t>
            </a:r>
            <a:endParaRPr lang="zh-CN" altLang="en-US" dirty="0"/>
          </a:p>
        </p:txBody>
      </p:sp>
      <p:sp>
        <p:nvSpPr>
          <p:cNvPr id="45" name="文本框 44">
            <a:extLst>
              <a:ext uri="{FF2B5EF4-FFF2-40B4-BE49-F238E27FC236}">
                <a16:creationId xmlns:a16="http://schemas.microsoft.com/office/drawing/2014/main" id="{0059E5C8-AC0F-4157-B95C-FBFE1337D402}"/>
              </a:ext>
            </a:extLst>
          </p:cNvPr>
          <p:cNvSpPr txBox="1"/>
          <p:nvPr/>
        </p:nvSpPr>
        <p:spPr>
          <a:xfrm>
            <a:off x="3485220" y="2966081"/>
            <a:ext cx="301686" cy="369332"/>
          </a:xfrm>
          <a:prstGeom prst="rect">
            <a:avLst/>
          </a:prstGeom>
          <a:noFill/>
        </p:spPr>
        <p:txBody>
          <a:bodyPr wrap="none" rtlCol="0">
            <a:spAutoFit/>
          </a:bodyPr>
          <a:lstStyle/>
          <a:p>
            <a:r>
              <a:rPr lang="en-US" altLang="zh-CN" dirty="0"/>
              <a:t>4</a:t>
            </a:r>
            <a:endParaRPr lang="zh-CN" altLang="en-US" dirty="0"/>
          </a:p>
        </p:txBody>
      </p:sp>
      <p:sp>
        <p:nvSpPr>
          <p:cNvPr id="46" name="文本框 45">
            <a:extLst>
              <a:ext uri="{FF2B5EF4-FFF2-40B4-BE49-F238E27FC236}">
                <a16:creationId xmlns:a16="http://schemas.microsoft.com/office/drawing/2014/main" id="{1ADA71AB-D903-438C-99C9-C82A97734ABB}"/>
              </a:ext>
            </a:extLst>
          </p:cNvPr>
          <p:cNvSpPr txBox="1"/>
          <p:nvPr/>
        </p:nvSpPr>
        <p:spPr>
          <a:xfrm>
            <a:off x="3675928" y="2966081"/>
            <a:ext cx="301686" cy="369332"/>
          </a:xfrm>
          <a:prstGeom prst="rect">
            <a:avLst/>
          </a:prstGeom>
          <a:noFill/>
        </p:spPr>
        <p:txBody>
          <a:bodyPr wrap="none" rtlCol="0">
            <a:spAutoFit/>
          </a:bodyPr>
          <a:lstStyle/>
          <a:p>
            <a:r>
              <a:rPr lang="en-US" altLang="zh-CN" dirty="0"/>
              <a:t>2</a:t>
            </a:r>
            <a:endParaRPr lang="zh-CN" altLang="en-US" dirty="0"/>
          </a:p>
        </p:txBody>
      </p:sp>
      <p:sp>
        <p:nvSpPr>
          <p:cNvPr id="47" name="文本框 46">
            <a:extLst>
              <a:ext uri="{FF2B5EF4-FFF2-40B4-BE49-F238E27FC236}">
                <a16:creationId xmlns:a16="http://schemas.microsoft.com/office/drawing/2014/main" id="{0DD2ACC2-230F-44DF-A48D-8D32742B8FDB}"/>
              </a:ext>
            </a:extLst>
          </p:cNvPr>
          <p:cNvSpPr txBox="1"/>
          <p:nvPr/>
        </p:nvSpPr>
        <p:spPr>
          <a:xfrm>
            <a:off x="3880875" y="2966081"/>
            <a:ext cx="301686" cy="369332"/>
          </a:xfrm>
          <a:prstGeom prst="rect">
            <a:avLst/>
          </a:prstGeom>
          <a:noFill/>
        </p:spPr>
        <p:txBody>
          <a:bodyPr wrap="none" rtlCol="0">
            <a:spAutoFit/>
          </a:bodyPr>
          <a:lstStyle/>
          <a:p>
            <a:r>
              <a:rPr lang="en-US" altLang="zh-CN" dirty="0"/>
              <a:t>9</a:t>
            </a:r>
            <a:endParaRPr lang="zh-CN" altLang="en-US" dirty="0"/>
          </a:p>
        </p:txBody>
      </p:sp>
      <p:sp>
        <p:nvSpPr>
          <p:cNvPr id="48" name="文本框 47">
            <a:extLst>
              <a:ext uri="{FF2B5EF4-FFF2-40B4-BE49-F238E27FC236}">
                <a16:creationId xmlns:a16="http://schemas.microsoft.com/office/drawing/2014/main" id="{2CBF1FB4-7A9F-4EBB-AE1F-7A171717F7A6}"/>
              </a:ext>
            </a:extLst>
          </p:cNvPr>
          <p:cNvSpPr txBox="1"/>
          <p:nvPr/>
        </p:nvSpPr>
        <p:spPr>
          <a:xfrm>
            <a:off x="4074705" y="2966081"/>
            <a:ext cx="301686" cy="369332"/>
          </a:xfrm>
          <a:prstGeom prst="rect">
            <a:avLst/>
          </a:prstGeom>
          <a:noFill/>
        </p:spPr>
        <p:txBody>
          <a:bodyPr wrap="none" rtlCol="0">
            <a:spAutoFit/>
          </a:bodyPr>
          <a:lstStyle/>
          <a:p>
            <a:r>
              <a:rPr lang="en-US" altLang="zh-CN" dirty="0"/>
              <a:t>6</a:t>
            </a:r>
            <a:endParaRPr lang="zh-CN" altLang="en-US" dirty="0"/>
          </a:p>
        </p:txBody>
      </p:sp>
      <p:sp>
        <p:nvSpPr>
          <p:cNvPr id="49" name="文本框 48">
            <a:extLst>
              <a:ext uri="{FF2B5EF4-FFF2-40B4-BE49-F238E27FC236}">
                <a16:creationId xmlns:a16="http://schemas.microsoft.com/office/drawing/2014/main" id="{B3BC5079-1CAD-49F3-BC8F-C4D1EE78D440}"/>
              </a:ext>
            </a:extLst>
          </p:cNvPr>
          <p:cNvSpPr txBox="1"/>
          <p:nvPr/>
        </p:nvSpPr>
        <p:spPr>
          <a:xfrm>
            <a:off x="4274853" y="2966081"/>
            <a:ext cx="301686" cy="369332"/>
          </a:xfrm>
          <a:prstGeom prst="rect">
            <a:avLst/>
          </a:prstGeom>
          <a:noFill/>
        </p:spPr>
        <p:txBody>
          <a:bodyPr wrap="none" rtlCol="0">
            <a:spAutoFit/>
          </a:bodyPr>
          <a:lstStyle/>
          <a:p>
            <a:r>
              <a:rPr lang="en-US" altLang="zh-CN" dirty="0"/>
              <a:t>3</a:t>
            </a:r>
            <a:endParaRPr lang="zh-CN" altLang="en-US" dirty="0"/>
          </a:p>
        </p:txBody>
      </p:sp>
      <p:sp>
        <p:nvSpPr>
          <p:cNvPr id="25" name="任意多边形: 形状 69">
            <a:extLst>
              <a:ext uri="{FF2B5EF4-FFF2-40B4-BE49-F238E27FC236}">
                <a16:creationId xmlns:a16="http://schemas.microsoft.com/office/drawing/2014/main" id="{9AF4772A-E6EE-45C4-8D04-C84883ABB944}"/>
              </a:ext>
            </a:extLst>
          </p:cNvPr>
          <p:cNvSpPr/>
          <p:nvPr/>
        </p:nvSpPr>
        <p:spPr>
          <a:xfrm>
            <a:off x="2241352" y="4674643"/>
            <a:ext cx="7709295" cy="46667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dirty="0">
                <a:solidFill>
                  <a:srgbClr val="FFFF00"/>
                </a:solidFill>
                <a:latin typeface="Microsoft YaHei" panose="020B0503020204020204" pitchFamily="34" charset="-122"/>
                <a:ea typeface="Microsoft YaHei" panose="020B0503020204020204" pitchFamily="34" charset="-122"/>
              </a:rPr>
              <a:t>*</a:t>
            </a:r>
            <a:r>
              <a:rPr lang="zh-CN" altLang="en-US" sz="2000" dirty="0">
                <a:solidFill>
                  <a:srgbClr val="FFFF00"/>
                </a:solidFill>
                <a:latin typeface="Microsoft YaHei" panose="020B0503020204020204" pitchFamily="34" charset="-122"/>
                <a:ea typeface="Microsoft YaHei" panose="020B0503020204020204" pitchFamily="34" charset="-122"/>
              </a:rPr>
              <a:t>思考题：重排长度为</a:t>
            </a:r>
            <a:r>
              <a:rPr lang="en-US" altLang="zh-CN" sz="2000" dirty="0">
                <a:solidFill>
                  <a:srgbClr val="FFFF00"/>
                </a:solidFill>
                <a:latin typeface="Microsoft YaHei" panose="020B0503020204020204" pitchFamily="34" charset="-122"/>
                <a:ea typeface="Microsoft YaHei" panose="020B0503020204020204" pitchFamily="34" charset="-122"/>
              </a:rPr>
              <a:t>n</a:t>
            </a:r>
            <a:r>
              <a:rPr lang="zh-CN" altLang="en-US" sz="2000" dirty="0">
                <a:solidFill>
                  <a:srgbClr val="FFFF00"/>
                </a:solidFill>
                <a:latin typeface="Microsoft YaHei" panose="020B0503020204020204" pitchFamily="34" charset="-122"/>
                <a:ea typeface="Microsoft YaHei" panose="020B0503020204020204" pitchFamily="34" charset="-122"/>
              </a:rPr>
              <a:t>的车厢至少需要多少个缓冲轨（队列）？</a:t>
            </a:r>
            <a:endParaRPr lang="en-US" altLang="zh-CN" sz="2000" kern="1200" dirty="0">
              <a:solidFill>
                <a:srgbClr val="FFFF00"/>
              </a:solidFill>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C1EA8725-7B76-4BFC-BEEB-E9045D5731F9}"/>
              </a:ext>
            </a:extLst>
          </p:cNvPr>
          <p:cNvSpPr txBox="1"/>
          <p:nvPr/>
        </p:nvSpPr>
        <p:spPr>
          <a:xfrm>
            <a:off x="1881492" y="5364081"/>
            <a:ext cx="9690666"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答案：缓冲轨数量的最小值 等于 把输入序列划分为多个</a:t>
            </a:r>
            <a:r>
              <a:rPr lang="zh-CN" altLang="en-US" dirty="0">
                <a:solidFill>
                  <a:srgbClr val="00B050"/>
                </a:solidFill>
                <a:latin typeface="微软雅黑" panose="020B0503020204020204" pitchFamily="34" charset="-122"/>
                <a:ea typeface="微软雅黑" panose="020B0503020204020204" pitchFamily="34" charset="-122"/>
              </a:rPr>
              <a:t>递增子序列</a:t>
            </a:r>
            <a:r>
              <a:rPr lang="zh-CN" altLang="en-US" dirty="0">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最少</a:t>
            </a:r>
            <a:r>
              <a:rPr lang="zh-CN" altLang="en-US">
                <a:latin typeface="微软雅黑" panose="020B0503020204020204" pitchFamily="34" charset="-122"/>
                <a:ea typeface="微软雅黑" panose="020B0503020204020204" pitchFamily="34" charset="-122"/>
              </a:rPr>
              <a:t>划分数减</a:t>
            </a:r>
            <a:r>
              <a:rPr lang="en-US" altLang="zh-CN">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ABE14D04-24F8-48E3-9871-D32F49CE2559}"/>
              </a:ext>
            </a:extLst>
          </p:cNvPr>
          <p:cNvSpPr txBox="1"/>
          <p:nvPr/>
        </p:nvSpPr>
        <p:spPr>
          <a:xfrm>
            <a:off x="3244346" y="5931197"/>
            <a:ext cx="7087249" cy="369332"/>
          </a:xfrm>
          <a:prstGeom prst="rect">
            <a:avLst/>
          </a:prstGeom>
          <a:noFill/>
        </p:spPr>
        <p:txBody>
          <a:bodyPr wrap="square" rtlCol="0">
            <a:spAutoFit/>
          </a:bodyPr>
          <a:lstStyle/>
          <a:p>
            <a:r>
              <a:rPr lang="zh-CN" altLang="en-US" dirty="0"/>
              <a:t>例如上述序列包含</a:t>
            </a:r>
            <a:r>
              <a:rPr lang="en-US" altLang="zh-CN" dirty="0"/>
              <a:t>3</a:t>
            </a:r>
            <a:r>
              <a:rPr lang="zh-CN" altLang="en-US"/>
              <a:t>条递增</a:t>
            </a:r>
            <a:r>
              <a:rPr lang="zh-CN" altLang="en-US" dirty="0"/>
              <a:t>子序列：</a:t>
            </a:r>
            <a:r>
              <a:rPr lang="en-US" altLang="zh-CN" u="sng" dirty="0"/>
              <a:t>5</a:t>
            </a:r>
            <a:r>
              <a:rPr lang="en-US" altLang="zh-CN" dirty="0"/>
              <a:t> </a:t>
            </a:r>
            <a:r>
              <a:rPr lang="en-US" altLang="zh-CN" dirty="0">
                <a:solidFill>
                  <a:srgbClr val="00B050"/>
                </a:solidFill>
              </a:rPr>
              <a:t>8</a:t>
            </a:r>
            <a:r>
              <a:rPr lang="en-US" altLang="zh-CN" dirty="0"/>
              <a:t> </a:t>
            </a:r>
            <a:r>
              <a:rPr lang="en-US" altLang="zh-CN" u="sng" dirty="0">
                <a:solidFill>
                  <a:schemeClr val="accent6">
                    <a:lumMod val="75000"/>
                  </a:schemeClr>
                </a:solidFill>
              </a:rPr>
              <a:t>1</a:t>
            </a:r>
            <a:r>
              <a:rPr lang="en-US" altLang="zh-CN" dirty="0"/>
              <a:t> </a:t>
            </a:r>
            <a:r>
              <a:rPr lang="en-US" altLang="zh-CN" dirty="0">
                <a:solidFill>
                  <a:srgbClr val="00B050"/>
                </a:solidFill>
              </a:rPr>
              <a:t>7 4 2 </a:t>
            </a:r>
            <a:r>
              <a:rPr lang="en-US" altLang="zh-CN" dirty="0">
                <a:solidFill>
                  <a:srgbClr val="FF0000"/>
                </a:solidFill>
              </a:rPr>
              <a:t>9 6 3</a:t>
            </a:r>
            <a:endParaRPr lang="zh-CN" altLang="en-US" dirty="0">
              <a:solidFill>
                <a:srgbClr val="FF0000"/>
              </a:solidFill>
            </a:endParaRPr>
          </a:p>
        </p:txBody>
      </p:sp>
    </p:spTree>
    <p:extLst>
      <p:ext uri="{BB962C8B-B14F-4D97-AF65-F5344CB8AC3E}">
        <p14:creationId xmlns:p14="http://schemas.microsoft.com/office/powerpoint/2010/main" val="3276062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29" grpId="0"/>
      <p:bldP spid="57" grpId="0"/>
      <p:bldP spid="58" grpId="0"/>
      <p:bldP spid="25" grpId="0" animBg="1"/>
      <p:bldP spid="6" grpId="0"/>
      <p:bldP spid="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584225" y="1072290"/>
            <a:ext cx="1067976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车厢重排</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TrainCarriageScheduling(</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 out_track, n, 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入轨的车厢序列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；车厢数量</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；缓冲轨数量</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&gt;0</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按序重排车厢的出轨序列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；若任务不可能完成则退出</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InitQueue(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InitQueue(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next_out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下一个待出轨车厢编号，从</a:t>
            </a:r>
            <a:r>
              <a:rPr lang="en-US" altLang="zh-CN" sz="1600" dirty="0">
                <a:solidFill>
                  <a:srgbClr val="000000"/>
                </a:solidFill>
                <a:latin typeface="Times New Roman" panose="02020603050405020304" pitchFamily="18" charset="0"/>
                <a:cs typeface="Times New Roman" panose="02020603050405020304" pitchFamily="18" charset="0"/>
              </a:rPr>
              <a:t>1</a:t>
            </a:r>
            <a:r>
              <a:rPr lang="zh-CN" altLang="en-US" sz="1600" dirty="0">
                <a:solidFill>
                  <a:srgbClr val="000000"/>
                </a:solidFill>
                <a:latin typeface="Times New Roman" panose="02020603050405020304" pitchFamily="18" charset="0"/>
                <a:cs typeface="Times New Roman" panose="02020603050405020304" pitchFamily="18" charset="0"/>
              </a:rPr>
              <a:t>还是计数</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r>
              <a:rPr lang="en-US" altLang="zh-CN" sz="1600" b="1" dirty="0">
                <a:solidFill>
                  <a:srgbClr val="000000"/>
                </a:solidFill>
                <a:latin typeface="Times New Roman" panose="02020603050405020304" pitchFamily="18" charset="0"/>
                <a:cs typeface="Times New Roman" panose="02020603050405020304" pitchFamily="18" charset="0"/>
              </a:rPr>
              <a:t>    </a:t>
            </a:r>
            <a:r>
              <a:rPr lang="zh-CN" altLang="en-US" sz="1600" b="1" dirty="0">
                <a:solidFill>
                  <a:srgbClr val="000000"/>
                </a:solidFill>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入轨中的第</a:t>
            </a:r>
            <a:r>
              <a:rPr lang="en-US" altLang="zh-CN" sz="1600" dirty="0" err="1">
                <a:solidFill>
                  <a:srgbClr val="000000"/>
                </a:solidFill>
                <a:latin typeface="Times New Roman" panose="02020603050405020304" pitchFamily="18" charset="0"/>
                <a:cs typeface="Times New Roman" panose="02020603050405020304" pitchFamily="18" charset="0"/>
              </a:rPr>
              <a:t>i</a:t>
            </a:r>
            <a:r>
              <a:rPr lang="zh-CN" altLang="en-US" sz="1600" dirty="0">
                <a:solidFill>
                  <a:srgbClr val="000000"/>
                </a:solidFill>
                <a:latin typeface="Times New Roman" panose="02020603050405020304" pitchFamily="18" charset="0"/>
                <a:cs typeface="Times New Roman" panose="02020603050405020304" pitchFamily="18" charset="0"/>
              </a:rPr>
              <a:t>个车厢正是待出轨车厢</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 |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 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直接移到出轨</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 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10.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zh-CN"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不是待出轨车厢</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11. |  |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 </a:t>
            </a:r>
            <a:r>
              <a:rPr kumimoji="0" lang="zh-CN" altLang="zh-CN"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zh-CN"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a:t>
            </a:r>
            <a:endParaRPr kumimoji="0" lang="zh-CN" altLang="zh-CN" sz="16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GetFront(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查看队列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的头元素</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13. |  |  |  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队头元素是待出轨元素</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14. |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 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15. |  |  |  |  DeQueue(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16.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 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17.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break</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18.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19. |  |  end</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99091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674036" y="1176696"/>
            <a:ext cx="10679764"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 |  |  if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若入轨和缓冲轨的队首元素中没有编号为</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的车厢</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21.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max_rear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22.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max_buffer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23.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 </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考察每一缓冲轨队列的队尾</a:t>
            </a:r>
            <a:endParaRPr kumimoji="0" lang="zh-CN" altLang="zh-CN" sz="16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24.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GetRear(</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25.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队非空且队尾元素小于入轨第</a:t>
            </a:r>
            <a:r>
              <a:rPr lang="en-US" altLang="zh-CN" sz="1600" dirty="0" err="1">
                <a:solidFill>
                  <a:srgbClr val="000000"/>
                </a:solidFill>
                <a:latin typeface="Times New Roman" panose="02020603050405020304" pitchFamily="18" charset="0"/>
                <a:cs typeface="Times New Roman" panose="02020603050405020304" pitchFamily="18" charset="0"/>
              </a:rPr>
              <a:t>i</a:t>
            </a:r>
            <a:r>
              <a:rPr lang="zh-CN" altLang="en-US" sz="1600" dirty="0">
                <a:solidFill>
                  <a:srgbClr val="000000"/>
                </a:solidFill>
                <a:latin typeface="Times New Roman" panose="02020603050405020304" pitchFamily="18" charset="0"/>
                <a:cs typeface="Times New Roman" panose="02020603050405020304" pitchFamily="18" charset="0"/>
              </a:rPr>
              <a:t>个元素</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26. |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 max_rear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27. |  |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max_rear ← 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最大队尾元素值</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28. |  |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max_buffer ← j </a:t>
            </a:r>
            <a:r>
              <a:rPr kumimoji="0" lang="en-US"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最大队尾元素所在的队列编号</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29. |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31.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32. |  |  |  </a:t>
            </a:r>
            <a:r>
              <a:rPr lang="zh-CN" altLang="zh-CN" sz="1600" b="1" dirty="0">
                <a:solidFill>
                  <a:srgbClr val="000000"/>
                </a:solidFill>
                <a:latin typeface="Times New Roman" panose="02020603050405020304" pitchFamily="18" charset="0"/>
                <a:cs typeface="Times New Roman" panose="02020603050405020304" pitchFamily="18" charset="0"/>
              </a:rPr>
              <a:t>if </a:t>
            </a:r>
            <a:r>
              <a:rPr lang="zh-CN" altLang="zh-CN" sz="1600" i="1" dirty="0">
                <a:solidFill>
                  <a:srgbClr val="000000"/>
                </a:solidFill>
                <a:latin typeface="Times New Roman" panose="02020603050405020304" pitchFamily="18" charset="0"/>
                <a:cs typeface="Times New Roman" panose="02020603050405020304" pitchFamily="18" charset="0"/>
              </a:rPr>
              <a:t>max_buffer </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 -</a:t>
            </a:r>
            <a:r>
              <a:rPr lang="zh-CN" altLang="zh-CN" sz="1600" dirty="0">
                <a:solidFill>
                  <a:srgbClr val="000000"/>
                </a:solidFill>
                <a:latin typeface="Times New Roman" panose="02020603050405020304" pitchFamily="18" charset="0"/>
                <a:cs typeface="Times New Roman" panose="02020603050405020304" pitchFamily="18" charset="0"/>
              </a:rPr>
              <a:t>1 </a:t>
            </a:r>
            <a:r>
              <a:rPr lang="zh-CN" altLang="zh-CN" sz="1600" b="1" dirty="0">
                <a:solidFill>
                  <a:srgbClr val="000000"/>
                </a:solidFill>
                <a:latin typeface="Times New Roman" panose="02020603050405020304" pitchFamily="18" charset="0"/>
                <a:cs typeface="Times New Roman" panose="02020603050405020304" pitchFamily="18" charset="0"/>
              </a:rPr>
              <a:t>then</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33. |  |  |  |  EnQueue(</a:t>
            </a:r>
            <a:r>
              <a:rPr lang="zh-CN" altLang="zh-CN" sz="1600" i="1" dirty="0">
                <a:solidFill>
                  <a:srgbClr val="000000"/>
                </a:solidFill>
                <a:latin typeface="Times New Roman" panose="02020603050405020304" pitchFamily="18" charset="0"/>
                <a:cs typeface="Times New Roman" panose="02020603050405020304" pitchFamily="18" charset="0"/>
              </a:rPr>
              <a:t>buffer</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max_buffer</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i</a:t>
            </a:r>
            <a:r>
              <a:rPr lang="zh-CN" altLang="zh-CN" sz="1600" dirty="0">
                <a:solidFill>
                  <a:srgbClr val="000000"/>
                </a:solidFill>
                <a:latin typeface="Times New Roman" panose="02020603050405020304" pitchFamily="18" charset="0"/>
                <a:cs typeface="Times New Roman" panose="02020603050405020304" pitchFamily="18" charset="0"/>
              </a:rPr>
              <a:t>)</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34. |  |  |  </a:t>
            </a:r>
            <a:r>
              <a:rPr lang="zh-CN" altLang="zh-CN" sz="1600" b="1" dirty="0">
                <a:solidFill>
                  <a:srgbClr val="000000"/>
                </a:solidFill>
                <a:latin typeface="Times New Roman" panose="02020603050405020304" pitchFamily="18" charset="0"/>
                <a:cs typeface="Times New Roman" panose="02020603050405020304" pitchFamily="18" charset="0"/>
              </a:rPr>
              <a:t>else</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35. |  |  |  |  </a:t>
            </a:r>
            <a:r>
              <a:rPr lang="zh-CN" altLang="zh-CN" sz="1600" b="1" dirty="0">
                <a:solidFill>
                  <a:srgbClr val="000000"/>
                </a:solidFill>
                <a:latin typeface="Times New Roman" panose="02020603050405020304" pitchFamily="18" charset="0"/>
                <a:cs typeface="Times New Roman" panose="02020603050405020304" pitchFamily="18" charset="0"/>
              </a:rPr>
              <a:t>for</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j←</a:t>
            </a:r>
            <a:r>
              <a:rPr lang="zh-CN" altLang="zh-CN" sz="1600" dirty="0">
                <a:solidFill>
                  <a:srgbClr val="000000"/>
                </a:solidFill>
                <a:latin typeface="Times New Roman" panose="02020603050405020304" pitchFamily="18" charset="0"/>
                <a:cs typeface="Times New Roman" panose="02020603050405020304" pitchFamily="18" charset="0"/>
              </a:rPr>
              <a:t>1 </a:t>
            </a:r>
            <a:r>
              <a:rPr lang="zh-CN" altLang="zh-CN" sz="1600" b="1" dirty="0">
                <a:solidFill>
                  <a:srgbClr val="000000"/>
                </a:solidFill>
                <a:latin typeface="Times New Roman" panose="02020603050405020304" pitchFamily="18" charset="0"/>
                <a:cs typeface="Times New Roman" panose="02020603050405020304" pitchFamily="18" charset="0"/>
              </a:rPr>
              <a:t>to</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k</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b="1" dirty="0">
                <a:solidFill>
                  <a:srgbClr val="000000"/>
                </a:solidFill>
                <a:latin typeface="Times New Roman" panose="02020603050405020304" pitchFamily="18" charset="0"/>
                <a:cs typeface="Times New Roman" panose="02020603050405020304" pitchFamily="18" charset="0"/>
              </a:rPr>
              <a:t>do</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36. |  |  |  |  |  </a:t>
            </a:r>
            <a:r>
              <a:rPr lang="zh-CN" altLang="zh-CN" sz="1600" b="1" dirty="0">
                <a:solidFill>
                  <a:srgbClr val="000000"/>
                </a:solidFill>
                <a:latin typeface="Times New Roman" panose="02020603050405020304" pitchFamily="18" charset="0"/>
                <a:cs typeface="Times New Roman" panose="02020603050405020304" pitchFamily="18" charset="0"/>
              </a:rPr>
              <a:t>if</a:t>
            </a:r>
            <a:r>
              <a:rPr lang="zh-CN" altLang="zh-CN" sz="1600" dirty="0">
                <a:solidFill>
                  <a:srgbClr val="000000"/>
                </a:solidFill>
                <a:latin typeface="Times New Roman" panose="02020603050405020304" pitchFamily="18" charset="0"/>
                <a:cs typeface="Times New Roman" panose="02020603050405020304" pitchFamily="18" charset="0"/>
              </a:rPr>
              <a:t> IsEmpty(</a:t>
            </a:r>
            <a:r>
              <a:rPr lang="zh-CN" altLang="zh-CN" sz="1600" i="1" dirty="0">
                <a:solidFill>
                  <a:srgbClr val="000000"/>
                </a:solidFill>
                <a:latin typeface="Times New Roman" panose="02020603050405020304" pitchFamily="18" charset="0"/>
                <a:cs typeface="Times New Roman" panose="02020603050405020304" pitchFamily="18" charset="0"/>
              </a:rPr>
              <a:t>buffer</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j</a:t>
            </a:r>
            <a:r>
              <a:rPr lang="zh-CN" altLang="zh-CN" sz="1600" dirty="0">
                <a:solidFill>
                  <a:srgbClr val="000000"/>
                </a:solidFill>
                <a:latin typeface="Times New Roman" panose="02020603050405020304" pitchFamily="18" charset="0"/>
                <a:cs typeface="Times New Roman" panose="02020603050405020304" pitchFamily="18" charset="0"/>
              </a:rPr>
              <a:t>]) = </a:t>
            </a:r>
            <a:r>
              <a:rPr lang="zh-CN" altLang="zh-CN" sz="1600" b="1" dirty="0">
                <a:solidFill>
                  <a:srgbClr val="000000"/>
                </a:solidFill>
                <a:latin typeface="Times New Roman" panose="02020603050405020304" pitchFamily="18" charset="0"/>
                <a:cs typeface="Times New Roman" panose="02020603050405020304" pitchFamily="18" charset="0"/>
              </a:rPr>
              <a:t>true then</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37. |  |  |  |  |  |  </a:t>
            </a:r>
            <a:r>
              <a:rPr lang="zh-CN" altLang="zh-CN" sz="1600" b="1" dirty="0">
                <a:solidFill>
                  <a:srgbClr val="000000"/>
                </a:solidFill>
                <a:latin typeface="Times New Roman" panose="02020603050405020304" pitchFamily="18" charset="0"/>
                <a:cs typeface="Times New Roman" panose="02020603050405020304" pitchFamily="18" charset="0"/>
              </a:rPr>
              <a:t>break</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38. |  |  |  |  |  </a:t>
            </a:r>
            <a:r>
              <a:rPr lang="zh-CN" altLang="zh-CN" sz="1600" b="1" dirty="0">
                <a:solidFill>
                  <a:srgbClr val="000000"/>
                </a:solidFill>
                <a:latin typeface="Times New Roman" panose="02020603050405020304" pitchFamily="18" charset="0"/>
                <a:cs typeface="Times New Roman" panose="02020603050405020304" pitchFamily="18" charset="0"/>
              </a:rPr>
              <a:t>end</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39. |  |  |  |  </a:t>
            </a:r>
            <a:r>
              <a:rPr lang="zh-CN" altLang="zh-CN" sz="1600" b="1" dirty="0">
                <a:solidFill>
                  <a:srgbClr val="000000"/>
                </a:solidFill>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563752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558708" y="1077596"/>
            <a:ext cx="1120746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40.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41. |  |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43. |  |  |  |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任务不可能完成，退出</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44.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45.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46.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48.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49. while</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en-US"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Symbol" panose="05050102010706020507" pitchFamily="18" charset="2"/>
              </a:rPr>
              <a:t>£</a:t>
            </a:r>
            <a:r>
              <a:rPr kumimoji="0" lang="en-US" altLang="zh-CN" sz="1600" b="0" i="1" u="none" strike="noStrike" cap="none" normalizeH="0" baseline="0" dirty="0">
                <a:ln>
                  <a:noFill/>
                </a:ln>
                <a:solidFill>
                  <a:srgbClr val="000000"/>
                </a:solidFill>
                <a:effectLst/>
                <a:latin typeface="Symbol" panose="05050102010706020507" pitchFamily="18" charset="2"/>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r>
              <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将缓冲队列中的元素按序移到出轨</a:t>
            </a:r>
            <a:endParaRPr kumimoji="0" lang="zh-CN" altLang="zh-CN" sz="16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50.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a:t>
            </a:r>
            <a:endParaRPr kumimoji="0" lang="zh-CN" altLang="zh-CN" sz="16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51. |  |  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53. |  |  |  DeQueue(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54.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55.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break</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58.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59.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60. |  DestroyQueue(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61. end</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7" name="任意多边形: 形状 69">
            <a:extLst>
              <a:ext uri="{FF2B5EF4-FFF2-40B4-BE49-F238E27FC236}">
                <a16:creationId xmlns:a16="http://schemas.microsoft.com/office/drawing/2014/main" id="{F34904D8-6BE6-4C02-AD72-F9149BA8AC6A}"/>
              </a:ext>
            </a:extLst>
          </p:cNvPr>
          <p:cNvSpPr/>
          <p:nvPr/>
        </p:nvSpPr>
        <p:spPr>
          <a:xfrm>
            <a:off x="7504935" y="4572272"/>
            <a:ext cx="3176920" cy="87627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gn="ctr">
              <a:buFont typeface="Arial" panose="020B0604020202020204" pitchFamily="34" charset="0"/>
              <a:buChar char="•"/>
            </a:pPr>
            <a:r>
              <a:rPr lang="zh-CN" altLang="en-US" sz="2000" dirty="0">
                <a:solidFill>
                  <a:schemeClr val="bg1"/>
                </a:solidFill>
                <a:latin typeface="Microsoft YaHei" panose="020B0503020204020204" pitchFamily="34" charset="-122"/>
                <a:ea typeface="Microsoft YaHei" panose="020B0503020204020204" pitchFamily="34" charset="-122"/>
              </a:rPr>
              <a:t>时间复杂度：</a:t>
            </a:r>
            <a:r>
              <a:rPr lang="en-US" altLang="zh-CN" sz="2000" dirty="0">
                <a:solidFill>
                  <a:schemeClr val="bg1"/>
                </a:solidFill>
                <a:latin typeface="Microsoft YaHei" panose="020B0503020204020204" pitchFamily="34" charset="-122"/>
                <a:ea typeface="Microsoft YaHei" panose="020B0503020204020204" pitchFamily="34" charset="-122"/>
              </a:rPr>
              <a:t>O(</a:t>
            </a:r>
            <a:r>
              <a:rPr lang="en-US" altLang="zh-CN" sz="2000" dirty="0" err="1">
                <a:solidFill>
                  <a:schemeClr val="bg1"/>
                </a:solidFill>
                <a:latin typeface="Microsoft YaHei" panose="020B0503020204020204" pitchFamily="34" charset="-122"/>
                <a:ea typeface="Microsoft YaHei" panose="020B0503020204020204" pitchFamily="34" charset="-122"/>
              </a:rPr>
              <a:t>nk</a:t>
            </a:r>
            <a:r>
              <a:rPr lang="en-US" altLang="zh-CN" sz="2000" dirty="0">
                <a:solidFill>
                  <a:schemeClr val="bg1"/>
                </a:solidFill>
                <a:latin typeface="Microsoft YaHei" panose="020B0503020204020204" pitchFamily="34" charset="-122"/>
                <a:ea typeface="Microsoft YaHei" panose="020B0503020204020204" pitchFamily="34" charset="-122"/>
              </a:rPr>
              <a:t>)</a:t>
            </a:r>
          </a:p>
          <a:p>
            <a:pPr marL="342900" indent="-342900" algn="ctr">
              <a:buFont typeface="Arial" panose="020B0604020202020204" pitchFamily="34" charset="0"/>
              <a:buChar char="•"/>
            </a:pPr>
            <a:r>
              <a:rPr lang="zh-CN" altLang="en-US" sz="2000" kern="1200" dirty="0">
                <a:solidFill>
                  <a:schemeClr val="bg1"/>
                </a:solidFill>
                <a:latin typeface="Microsoft YaHei" panose="020B0503020204020204" pitchFamily="34" charset="-122"/>
                <a:ea typeface="Microsoft YaHei" panose="020B0503020204020204" pitchFamily="34" charset="-122"/>
              </a:rPr>
              <a:t>空间复杂度：</a:t>
            </a:r>
            <a:r>
              <a:rPr lang="en-US" altLang="zh-CN" sz="2000" kern="1200" dirty="0">
                <a:solidFill>
                  <a:schemeClr val="bg1"/>
                </a:solidFill>
                <a:latin typeface="Microsoft YaHei" panose="020B0503020204020204" pitchFamily="34" charset="-122"/>
                <a:ea typeface="Microsoft YaHei" panose="020B0503020204020204" pitchFamily="34" charset="-122"/>
              </a:rPr>
              <a:t>O</a:t>
            </a:r>
            <a:r>
              <a:rPr lang="en-US" altLang="zh-CN" sz="2000" dirty="0">
                <a:solidFill>
                  <a:schemeClr val="bg1"/>
                </a:solidFill>
                <a:latin typeface="Microsoft YaHei" panose="020B0503020204020204" pitchFamily="34" charset="-122"/>
                <a:ea typeface="Microsoft YaHei" panose="020B0503020204020204" pitchFamily="34" charset="-122"/>
              </a:rPr>
              <a:t>(</a:t>
            </a:r>
            <a:r>
              <a:rPr lang="en-US" altLang="zh-CN" sz="2000" dirty="0" err="1">
                <a:solidFill>
                  <a:schemeClr val="bg1"/>
                </a:solidFill>
                <a:latin typeface="Microsoft YaHei" panose="020B0503020204020204" pitchFamily="34" charset="-122"/>
                <a:ea typeface="Microsoft YaHei" panose="020B0503020204020204" pitchFamily="34" charset="-122"/>
              </a:rPr>
              <a:t>nk</a:t>
            </a:r>
            <a:r>
              <a:rPr lang="en-US" altLang="zh-CN" sz="2000" dirty="0">
                <a:solidFill>
                  <a:schemeClr val="bg1"/>
                </a:solidFill>
                <a:latin typeface="Microsoft YaHei" panose="020B0503020204020204" pitchFamily="34" charset="-122"/>
                <a:ea typeface="Microsoft YaHei" panose="020B0503020204020204" pitchFamily="34" charset="-122"/>
              </a:rPr>
              <a:t>)</a:t>
            </a:r>
            <a:endParaRPr lang="en-US" altLang="zh-CN" sz="2000" kern="1200"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0069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587042-1DB6-414F-9547-BCC5C655BABC}"/>
              </a:ext>
            </a:extLst>
          </p:cNvPr>
          <p:cNvSpPr>
            <a:spLocks noGrp="1"/>
          </p:cNvSpPr>
          <p:nvPr>
            <p:ph type="title"/>
          </p:nvPr>
        </p:nvSpPr>
        <p:spPr/>
        <p:txBody>
          <a:bodyPr/>
          <a:lstStyle/>
          <a:p>
            <a:r>
              <a:rPr lang="zh-CN" altLang="en-US" dirty="0"/>
              <a:t>单调栈</a:t>
            </a:r>
          </a:p>
        </p:txBody>
      </p:sp>
      <p:sp>
        <p:nvSpPr>
          <p:cNvPr id="3" name="副标题 2">
            <a:extLst>
              <a:ext uri="{FF2B5EF4-FFF2-40B4-BE49-F238E27FC236}">
                <a16:creationId xmlns:a16="http://schemas.microsoft.com/office/drawing/2014/main" id="{AB7095F7-B8CD-4D04-8C2E-60EF0C3808F4}"/>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EBCD459F-507E-433E-BC66-4443089F86B3}"/>
              </a:ext>
            </a:extLst>
          </p:cNvPr>
          <p:cNvSpPr>
            <a:spLocks noGrp="1"/>
          </p:cNvSpPr>
          <p:nvPr>
            <p:ph type="body" idx="10"/>
          </p:nvPr>
        </p:nvSpPr>
        <p:spPr/>
        <p:txBody>
          <a:bodyPr/>
          <a:lstStyle/>
          <a:p>
            <a:endParaRPr lang="zh-CN" altLang="en-US"/>
          </a:p>
        </p:txBody>
      </p:sp>
      <p:sp>
        <p:nvSpPr>
          <p:cNvPr id="7" name="内容占位符 4">
            <a:extLst>
              <a:ext uri="{FF2B5EF4-FFF2-40B4-BE49-F238E27FC236}">
                <a16:creationId xmlns:a16="http://schemas.microsoft.com/office/drawing/2014/main" id="{BA967B38-68F5-430E-8F1B-EBE833D36498}"/>
              </a:ext>
            </a:extLst>
          </p:cNvPr>
          <p:cNvSpPr>
            <a:spLocks noGrp="1"/>
          </p:cNvSpPr>
          <p:nvPr>
            <p:ph idx="11"/>
          </p:nvPr>
        </p:nvSpPr>
        <p:spPr>
          <a:xfrm>
            <a:off x="584225" y="1083906"/>
            <a:ext cx="11055325" cy="5057775"/>
          </a:xfrm>
        </p:spPr>
        <p:txBody>
          <a:bodyPr/>
          <a:lstStyle/>
          <a:p>
            <a:pPr marL="363538" indent="-363538" algn="just" eaLnBrk="0" fontAlgn="base" hangingPunct="0">
              <a:lnSpc>
                <a:spcPct val="110000"/>
              </a:lnSpc>
              <a:spcBef>
                <a:spcPts val="600"/>
              </a:spcBef>
              <a:spcAft>
                <a:spcPct val="0"/>
              </a:spcAft>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栈中</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元素</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具有</a:t>
            </a:r>
            <a:r>
              <a:rPr lang="zh-CN" altLang="zh-CN" b="1" dirty="0">
                <a:solidFill>
                  <a:srgbClr val="0033CC"/>
                </a:solidFill>
                <a:latin typeface="Microsoft YaHei Light" panose="020B0502040204020203" pitchFamily="34" charset="-122"/>
                <a:ea typeface="Microsoft YaHei Light" panose="020B0502040204020203" pitchFamily="34" charset="-122"/>
                <a:cs typeface="Times New Roman" panose="02020603050405020304" pitchFamily="18" charset="0"/>
              </a:rPr>
              <a:t>单调性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的栈</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lvl="1" indent="-322263" algn="just" eaLnBrk="0" fontAlgn="base" hangingPunct="0">
              <a:lnSpc>
                <a:spcPct val="110000"/>
              </a:lnSpc>
              <a:spcBef>
                <a:spcPts val="600"/>
              </a:spcBef>
              <a:spcAft>
                <a:spcPct val="0"/>
              </a:spcAft>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单调递增栈</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元素从栈顶到栈底若从栈顶到栈底的元素单调递增</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lvl="1" indent="-322263" algn="just" eaLnBrk="0" fontAlgn="base" hangingPunct="0">
              <a:lnSpc>
                <a:spcPct val="110000"/>
              </a:lnSpc>
              <a:spcBef>
                <a:spcPts val="600"/>
              </a:spcBef>
              <a:spcAft>
                <a:spcPct val="0"/>
              </a:spcAft>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单调递减栈</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若</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栈中</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元素单调递减</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eaLnBrk="0" fontAlgn="base" hangingPunct="0">
              <a:lnSpc>
                <a:spcPct val="110000"/>
              </a:lnSpc>
              <a:spcBef>
                <a:spcPts val="600"/>
              </a:spcBef>
              <a:spcAft>
                <a:spcPct val="0"/>
              </a:spcAft>
            </a:pP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适用于涉及到序列中元素大小的问题的求解</a:t>
            </a:r>
          </a:p>
          <a:p>
            <a:pPr indent="-322263" algn="just" eaLnBrk="0" fontAlgn="base" hangingPunct="0">
              <a:lnSpc>
                <a:spcPct val="110000"/>
              </a:lnSpc>
              <a:spcBef>
                <a:spcPts val="600"/>
              </a:spcBef>
              <a:spcAft>
                <a:spcPct val="0"/>
              </a:spcAft>
              <a:buFont typeface="Wingdings" panose="05000000000000000000" pitchFamily="2" charset="2"/>
              <a:buChar char="ü"/>
            </a:pPr>
            <a:endPar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endParaRPr lang="zh-CN" altLang="en-US" dirty="0"/>
          </a:p>
        </p:txBody>
      </p:sp>
      <p:sp>
        <p:nvSpPr>
          <p:cNvPr id="8" name="文本框 7">
            <a:extLst>
              <a:ext uri="{FF2B5EF4-FFF2-40B4-BE49-F238E27FC236}">
                <a16:creationId xmlns:a16="http://schemas.microsoft.com/office/drawing/2014/main" id="{77D38DEC-AB26-40E8-AC08-550C27D5C277}"/>
              </a:ext>
            </a:extLst>
          </p:cNvPr>
          <p:cNvSpPr txBox="1"/>
          <p:nvPr/>
        </p:nvSpPr>
        <p:spPr>
          <a:xfrm>
            <a:off x="1033429" y="3161387"/>
            <a:ext cx="3965950" cy="400110"/>
          </a:xfrm>
          <a:prstGeom prst="rect">
            <a:avLst/>
          </a:prstGeom>
          <a:noFill/>
        </p:spPr>
        <p:txBody>
          <a:bodyPr wrap="square" rtlCol="0">
            <a:spAutoFit/>
          </a:bodyPr>
          <a:lstStyle/>
          <a:p>
            <a:r>
              <a:rPr lang="zh-CN" altLang="en-US" sz="2000" dirty="0">
                <a:solidFill>
                  <a:schemeClr val="accent1"/>
                </a:solidFill>
              </a:rPr>
              <a:t>一组数 </a:t>
            </a:r>
            <a:r>
              <a:rPr lang="en-US" altLang="zh-CN" sz="2000" dirty="0">
                <a:solidFill>
                  <a:schemeClr val="accent1"/>
                </a:solidFill>
              </a:rPr>
              <a:t>8</a:t>
            </a:r>
            <a:r>
              <a:rPr lang="zh-CN" altLang="zh-CN" sz="2000" dirty="0">
                <a:solidFill>
                  <a:schemeClr val="accent1"/>
                </a:solidFill>
              </a:rPr>
              <a:t>，</a:t>
            </a:r>
            <a:r>
              <a:rPr lang="en-US" altLang="zh-CN" sz="2000" dirty="0">
                <a:solidFill>
                  <a:schemeClr val="accent1"/>
                </a:solidFill>
              </a:rPr>
              <a:t>2</a:t>
            </a:r>
            <a:r>
              <a:rPr lang="zh-CN" altLang="zh-CN" sz="2000" dirty="0">
                <a:solidFill>
                  <a:schemeClr val="accent1"/>
                </a:solidFill>
              </a:rPr>
              <a:t>，</a:t>
            </a:r>
            <a:r>
              <a:rPr lang="en-US" altLang="zh-CN" sz="2000" dirty="0">
                <a:solidFill>
                  <a:schemeClr val="accent1"/>
                </a:solidFill>
              </a:rPr>
              <a:t>7</a:t>
            </a:r>
            <a:r>
              <a:rPr lang="zh-CN" altLang="zh-CN" sz="2000" dirty="0">
                <a:solidFill>
                  <a:schemeClr val="accent1"/>
                </a:solidFill>
              </a:rPr>
              <a:t>，</a:t>
            </a:r>
            <a:r>
              <a:rPr lang="en-US" altLang="zh-CN" sz="2000" dirty="0">
                <a:solidFill>
                  <a:schemeClr val="accent1"/>
                </a:solidFill>
              </a:rPr>
              <a:t>3</a:t>
            </a:r>
            <a:r>
              <a:rPr lang="zh-CN" altLang="zh-CN" sz="2000" dirty="0">
                <a:solidFill>
                  <a:schemeClr val="accent1"/>
                </a:solidFill>
              </a:rPr>
              <a:t>，</a:t>
            </a:r>
            <a:r>
              <a:rPr lang="en-US" altLang="zh-CN" sz="2000" dirty="0">
                <a:solidFill>
                  <a:schemeClr val="accent1"/>
                </a:solidFill>
              </a:rPr>
              <a:t>10</a:t>
            </a:r>
            <a:endParaRPr lang="zh-CN" altLang="en-US" sz="2000" dirty="0">
              <a:solidFill>
                <a:schemeClr val="accent1"/>
              </a:solidFill>
            </a:endParaRPr>
          </a:p>
        </p:txBody>
      </p:sp>
      <p:sp>
        <p:nvSpPr>
          <p:cNvPr id="9" name="矩形 8">
            <a:extLst>
              <a:ext uri="{FF2B5EF4-FFF2-40B4-BE49-F238E27FC236}">
                <a16:creationId xmlns:a16="http://schemas.microsoft.com/office/drawing/2014/main" id="{CC5BA3DF-8829-4F1D-98FF-E1165A0EE885}"/>
              </a:ext>
            </a:extLst>
          </p:cNvPr>
          <p:cNvSpPr/>
          <p:nvPr/>
        </p:nvSpPr>
        <p:spPr>
          <a:xfrm>
            <a:off x="7811074" y="3687934"/>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grpSp>
        <p:nvGrpSpPr>
          <p:cNvPr id="10" name="组合 9">
            <a:extLst>
              <a:ext uri="{FF2B5EF4-FFF2-40B4-BE49-F238E27FC236}">
                <a16:creationId xmlns:a16="http://schemas.microsoft.com/office/drawing/2014/main" id="{7AB271C1-0DAA-4AEA-AF6C-11965E7189CC}"/>
              </a:ext>
            </a:extLst>
          </p:cNvPr>
          <p:cNvGrpSpPr/>
          <p:nvPr/>
        </p:nvGrpSpPr>
        <p:grpSpPr>
          <a:xfrm>
            <a:off x="7811074" y="4254490"/>
            <a:ext cx="950890" cy="369332"/>
            <a:chOff x="825321" y="3829456"/>
            <a:chExt cx="950890" cy="369332"/>
          </a:xfrm>
        </p:grpSpPr>
        <p:sp>
          <p:nvSpPr>
            <p:cNvPr id="11" name="矩形 10">
              <a:extLst>
                <a:ext uri="{FF2B5EF4-FFF2-40B4-BE49-F238E27FC236}">
                  <a16:creationId xmlns:a16="http://schemas.microsoft.com/office/drawing/2014/main" id="{141FC677-AB46-4AF2-BBD2-915709DA872A}"/>
                </a:ext>
              </a:extLst>
            </p:cNvPr>
            <p:cNvSpPr/>
            <p:nvPr/>
          </p:nvSpPr>
          <p:spPr>
            <a:xfrm>
              <a:off x="825321" y="3829456"/>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2" name="矩形 11">
              <a:extLst>
                <a:ext uri="{FF2B5EF4-FFF2-40B4-BE49-F238E27FC236}">
                  <a16:creationId xmlns:a16="http://schemas.microsoft.com/office/drawing/2014/main" id="{269BF58C-5C98-42EC-BFCF-3072B3908D5D}"/>
                </a:ext>
              </a:extLst>
            </p:cNvPr>
            <p:cNvSpPr/>
            <p:nvPr/>
          </p:nvSpPr>
          <p:spPr>
            <a:xfrm>
              <a:off x="1300766" y="3829456"/>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2</a:t>
              </a:r>
              <a:endParaRPr lang="zh-CN" altLang="en-US" sz="2000" dirty="0">
                <a:solidFill>
                  <a:schemeClr val="accent1"/>
                </a:solidFill>
              </a:endParaRPr>
            </a:p>
          </p:txBody>
        </p:sp>
      </p:grpSp>
      <p:grpSp>
        <p:nvGrpSpPr>
          <p:cNvPr id="13" name="组合 12">
            <a:extLst>
              <a:ext uri="{FF2B5EF4-FFF2-40B4-BE49-F238E27FC236}">
                <a16:creationId xmlns:a16="http://schemas.microsoft.com/office/drawing/2014/main" id="{E71EDC2F-9857-4359-A7E5-A8B769F10875}"/>
              </a:ext>
            </a:extLst>
          </p:cNvPr>
          <p:cNvGrpSpPr/>
          <p:nvPr/>
        </p:nvGrpSpPr>
        <p:grpSpPr>
          <a:xfrm>
            <a:off x="7811074" y="4850050"/>
            <a:ext cx="950890" cy="369332"/>
            <a:chOff x="825321" y="4551017"/>
            <a:chExt cx="950890" cy="369332"/>
          </a:xfrm>
        </p:grpSpPr>
        <p:sp>
          <p:nvSpPr>
            <p:cNvPr id="14" name="矩形 13">
              <a:extLst>
                <a:ext uri="{FF2B5EF4-FFF2-40B4-BE49-F238E27FC236}">
                  <a16:creationId xmlns:a16="http://schemas.microsoft.com/office/drawing/2014/main" id="{F84A4EF9-6CBB-40F3-B069-88261719F1A0}"/>
                </a:ext>
              </a:extLst>
            </p:cNvPr>
            <p:cNvSpPr/>
            <p:nvPr/>
          </p:nvSpPr>
          <p:spPr>
            <a:xfrm>
              <a:off x="825321" y="4551017"/>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5" name="矩形 14">
              <a:extLst>
                <a:ext uri="{FF2B5EF4-FFF2-40B4-BE49-F238E27FC236}">
                  <a16:creationId xmlns:a16="http://schemas.microsoft.com/office/drawing/2014/main" id="{1FEEFC16-3CE3-4247-97EE-841C50DE405F}"/>
                </a:ext>
              </a:extLst>
            </p:cNvPr>
            <p:cNvSpPr/>
            <p:nvPr/>
          </p:nvSpPr>
          <p:spPr>
            <a:xfrm>
              <a:off x="1300766" y="4551017"/>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7</a:t>
              </a:r>
              <a:endParaRPr lang="zh-CN" altLang="en-US" sz="2000" dirty="0">
                <a:solidFill>
                  <a:schemeClr val="accent1"/>
                </a:solidFill>
              </a:endParaRPr>
            </a:p>
          </p:txBody>
        </p:sp>
      </p:grpSp>
      <p:sp>
        <p:nvSpPr>
          <p:cNvPr id="16" name="矩形 15">
            <a:extLst>
              <a:ext uri="{FF2B5EF4-FFF2-40B4-BE49-F238E27FC236}">
                <a16:creationId xmlns:a16="http://schemas.microsoft.com/office/drawing/2014/main" id="{5447307A-A695-4EE1-9867-DD970A21B6D9}"/>
              </a:ext>
            </a:extLst>
          </p:cNvPr>
          <p:cNvSpPr/>
          <p:nvPr/>
        </p:nvSpPr>
        <p:spPr>
          <a:xfrm>
            <a:off x="7811074" y="6084138"/>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10</a:t>
            </a:r>
            <a:endParaRPr lang="zh-CN" altLang="en-US" sz="2000" dirty="0">
              <a:solidFill>
                <a:schemeClr val="accent1"/>
              </a:solidFill>
            </a:endParaRPr>
          </a:p>
        </p:txBody>
      </p:sp>
      <p:grpSp>
        <p:nvGrpSpPr>
          <p:cNvPr id="17" name="组合 16">
            <a:extLst>
              <a:ext uri="{FF2B5EF4-FFF2-40B4-BE49-F238E27FC236}">
                <a16:creationId xmlns:a16="http://schemas.microsoft.com/office/drawing/2014/main" id="{64706B31-4115-4261-9F66-F4B20C5635B9}"/>
              </a:ext>
            </a:extLst>
          </p:cNvPr>
          <p:cNvGrpSpPr/>
          <p:nvPr/>
        </p:nvGrpSpPr>
        <p:grpSpPr>
          <a:xfrm>
            <a:off x="7811074" y="5499398"/>
            <a:ext cx="1426335" cy="371958"/>
            <a:chOff x="848931" y="5154182"/>
            <a:chExt cx="1426335" cy="371958"/>
          </a:xfrm>
        </p:grpSpPr>
        <p:sp>
          <p:nvSpPr>
            <p:cNvPr id="18" name="矩形 17">
              <a:extLst>
                <a:ext uri="{FF2B5EF4-FFF2-40B4-BE49-F238E27FC236}">
                  <a16:creationId xmlns:a16="http://schemas.microsoft.com/office/drawing/2014/main" id="{E146D240-6CCD-4351-97C4-686D92C4D351}"/>
                </a:ext>
              </a:extLst>
            </p:cNvPr>
            <p:cNvSpPr/>
            <p:nvPr/>
          </p:nvSpPr>
          <p:spPr>
            <a:xfrm>
              <a:off x="848931" y="5154182"/>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9" name="矩形 18">
              <a:extLst>
                <a:ext uri="{FF2B5EF4-FFF2-40B4-BE49-F238E27FC236}">
                  <a16:creationId xmlns:a16="http://schemas.microsoft.com/office/drawing/2014/main" id="{25AF5837-F635-4C6B-A68E-C3EEE3920E32}"/>
                </a:ext>
              </a:extLst>
            </p:cNvPr>
            <p:cNvSpPr/>
            <p:nvPr/>
          </p:nvSpPr>
          <p:spPr>
            <a:xfrm>
              <a:off x="1324376" y="5154182"/>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7</a:t>
              </a:r>
              <a:endParaRPr lang="zh-CN" altLang="en-US" sz="2000" dirty="0">
                <a:solidFill>
                  <a:schemeClr val="accent1"/>
                </a:solidFill>
              </a:endParaRPr>
            </a:p>
          </p:txBody>
        </p:sp>
        <p:sp>
          <p:nvSpPr>
            <p:cNvPr id="20" name="矩形 19">
              <a:extLst>
                <a:ext uri="{FF2B5EF4-FFF2-40B4-BE49-F238E27FC236}">
                  <a16:creationId xmlns:a16="http://schemas.microsoft.com/office/drawing/2014/main" id="{277E9E63-684E-4DE9-8D73-E3583AA49040}"/>
                </a:ext>
              </a:extLst>
            </p:cNvPr>
            <p:cNvSpPr/>
            <p:nvPr/>
          </p:nvSpPr>
          <p:spPr>
            <a:xfrm>
              <a:off x="1799821" y="5156808"/>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3</a:t>
              </a:r>
              <a:endParaRPr lang="zh-CN" altLang="en-US" sz="2000" dirty="0">
                <a:solidFill>
                  <a:schemeClr val="accent1"/>
                </a:solidFill>
              </a:endParaRPr>
            </a:p>
          </p:txBody>
        </p:sp>
      </p:grpSp>
      <p:sp>
        <p:nvSpPr>
          <p:cNvPr id="21" name="文本框 20">
            <a:extLst>
              <a:ext uri="{FF2B5EF4-FFF2-40B4-BE49-F238E27FC236}">
                <a16:creationId xmlns:a16="http://schemas.microsoft.com/office/drawing/2014/main" id="{2DC1DDA1-2F20-4507-A875-15DF3EEB3E2C}"/>
              </a:ext>
            </a:extLst>
          </p:cNvPr>
          <p:cNvSpPr txBox="1"/>
          <p:nvPr/>
        </p:nvSpPr>
        <p:spPr>
          <a:xfrm>
            <a:off x="1131233" y="4793418"/>
            <a:ext cx="5569040" cy="400110"/>
          </a:xfrm>
          <a:prstGeom prst="rect">
            <a:avLst/>
          </a:prstGeom>
          <a:noFill/>
        </p:spPr>
        <p:txBody>
          <a:bodyPr wrap="square" rtlCol="0">
            <a:spAutoFit/>
          </a:bodyPr>
          <a:lstStyle/>
          <a:p>
            <a:r>
              <a:rPr lang="en-US" altLang="zh-CN" sz="2000" dirty="0">
                <a:solidFill>
                  <a:schemeClr val="accent1"/>
                </a:solidFill>
              </a:rPr>
              <a:t>7&gt; 2</a:t>
            </a:r>
            <a:r>
              <a:rPr lang="zh-CN" altLang="en-US" sz="2000" dirty="0">
                <a:solidFill>
                  <a:schemeClr val="accent1"/>
                </a:solidFill>
              </a:rPr>
              <a:t>，弹出</a:t>
            </a:r>
            <a:r>
              <a:rPr lang="en-US" altLang="zh-CN" sz="2000" dirty="0">
                <a:solidFill>
                  <a:schemeClr val="accent1"/>
                </a:solidFill>
              </a:rPr>
              <a:t>2</a:t>
            </a:r>
            <a:r>
              <a:rPr lang="zh-CN" altLang="en-US" sz="2000" dirty="0">
                <a:solidFill>
                  <a:schemeClr val="accent1"/>
                </a:solidFill>
              </a:rPr>
              <a:t>，此时</a:t>
            </a:r>
            <a:r>
              <a:rPr lang="en-US" altLang="zh-CN" sz="2000" dirty="0">
                <a:solidFill>
                  <a:schemeClr val="accent1"/>
                </a:solidFill>
              </a:rPr>
              <a:t>7 &lt; 8</a:t>
            </a:r>
            <a:r>
              <a:rPr lang="zh-CN" altLang="en-US" sz="2000" dirty="0">
                <a:solidFill>
                  <a:schemeClr val="accent1"/>
                </a:solidFill>
              </a:rPr>
              <a:t>，入栈</a:t>
            </a:r>
          </a:p>
        </p:txBody>
      </p:sp>
      <p:sp>
        <p:nvSpPr>
          <p:cNvPr id="22" name="文本框 21">
            <a:extLst>
              <a:ext uri="{FF2B5EF4-FFF2-40B4-BE49-F238E27FC236}">
                <a16:creationId xmlns:a16="http://schemas.microsoft.com/office/drawing/2014/main" id="{39F7C3BF-DA02-4C18-9A8A-75C3A68E96D7}"/>
              </a:ext>
            </a:extLst>
          </p:cNvPr>
          <p:cNvSpPr txBox="1"/>
          <p:nvPr/>
        </p:nvSpPr>
        <p:spPr>
          <a:xfrm>
            <a:off x="1131233" y="4187543"/>
            <a:ext cx="2888240" cy="400110"/>
          </a:xfrm>
          <a:prstGeom prst="rect">
            <a:avLst/>
          </a:prstGeom>
          <a:noFill/>
        </p:spPr>
        <p:txBody>
          <a:bodyPr wrap="square" rtlCol="0">
            <a:spAutoFit/>
          </a:bodyPr>
          <a:lstStyle/>
          <a:p>
            <a:r>
              <a:rPr lang="en-US" altLang="zh-CN" sz="2000" dirty="0">
                <a:solidFill>
                  <a:schemeClr val="accent1"/>
                </a:solidFill>
              </a:rPr>
              <a:t>2&lt;</a:t>
            </a:r>
            <a:r>
              <a:rPr lang="zh-CN" altLang="en-US" sz="2000" dirty="0">
                <a:solidFill>
                  <a:schemeClr val="accent1"/>
                </a:solidFill>
              </a:rPr>
              <a:t> </a:t>
            </a:r>
            <a:r>
              <a:rPr lang="en-US" altLang="zh-CN" sz="2000" dirty="0">
                <a:solidFill>
                  <a:schemeClr val="accent1"/>
                </a:solidFill>
              </a:rPr>
              <a:t>8</a:t>
            </a:r>
            <a:r>
              <a:rPr lang="zh-CN" altLang="en-US" sz="2000" dirty="0">
                <a:solidFill>
                  <a:schemeClr val="accent1"/>
                </a:solidFill>
              </a:rPr>
              <a:t>，直接</a:t>
            </a:r>
            <a:r>
              <a:rPr lang="en-US" altLang="zh-CN" sz="2000" dirty="0">
                <a:solidFill>
                  <a:schemeClr val="accent1"/>
                </a:solidFill>
              </a:rPr>
              <a:t> </a:t>
            </a:r>
            <a:r>
              <a:rPr lang="zh-CN" altLang="en-US" sz="2000" dirty="0">
                <a:solidFill>
                  <a:schemeClr val="accent1"/>
                </a:solidFill>
              </a:rPr>
              <a:t>入栈</a:t>
            </a:r>
          </a:p>
        </p:txBody>
      </p:sp>
      <p:sp>
        <p:nvSpPr>
          <p:cNvPr id="23" name="文本框 22">
            <a:extLst>
              <a:ext uri="{FF2B5EF4-FFF2-40B4-BE49-F238E27FC236}">
                <a16:creationId xmlns:a16="http://schemas.microsoft.com/office/drawing/2014/main" id="{C1D69E0B-2DC9-484A-BFD3-7E79DEA0A9DE}"/>
              </a:ext>
            </a:extLst>
          </p:cNvPr>
          <p:cNvSpPr txBox="1"/>
          <p:nvPr/>
        </p:nvSpPr>
        <p:spPr>
          <a:xfrm>
            <a:off x="1131233" y="3595115"/>
            <a:ext cx="2460170" cy="400110"/>
          </a:xfrm>
          <a:prstGeom prst="rect">
            <a:avLst/>
          </a:prstGeom>
          <a:noFill/>
        </p:spPr>
        <p:txBody>
          <a:bodyPr wrap="square" rtlCol="0">
            <a:spAutoFit/>
          </a:bodyPr>
          <a:lstStyle/>
          <a:p>
            <a:r>
              <a:rPr lang="zh-CN" altLang="en-US" sz="2000" dirty="0">
                <a:solidFill>
                  <a:schemeClr val="accent1"/>
                </a:solidFill>
              </a:rPr>
              <a:t>栈为空，</a:t>
            </a:r>
            <a:r>
              <a:rPr lang="en-US" altLang="zh-CN" sz="2000" dirty="0">
                <a:solidFill>
                  <a:schemeClr val="accent1"/>
                </a:solidFill>
              </a:rPr>
              <a:t>8 </a:t>
            </a:r>
            <a:r>
              <a:rPr lang="zh-CN" altLang="en-US" sz="2000" dirty="0">
                <a:solidFill>
                  <a:schemeClr val="accent1"/>
                </a:solidFill>
              </a:rPr>
              <a:t>入栈</a:t>
            </a:r>
          </a:p>
        </p:txBody>
      </p:sp>
      <p:sp>
        <p:nvSpPr>
          <p:cNvPr id="24" name="文本框 23">
            <a:extLst>
              <a:ext uri="{FF2B5EF4-FFF2-40B4-BE49-F238E27FC236}">
                <a16:creationId xmlns:a16="http://schemas.microsoft.com/office/drawing/2014/main" id="{859B37B7-1C91-4F0A-8D14-2B816285E4EB}"/>
              </a:ext>
            </a:extLst>
          </p:cNvPr>
          <p:cNvSpPr txBox="1"/>
          <p:nvPr/>
        </p:nvSpPr>
        <p:spPr>
          <a:xfrm>
            <a:off x="1131233" y="5493422"/>
            <a:ext cx="5569040" cy="400110"/>
          </a:xfrm>
          <a:prstGeom prst="rect">
            <a:avLst/>
          </a:prstGeom>
          <a:noFill/>
        </p:spPr>
        <p:txBody>
          <a:bodyPr wrap="square" rtlCol="0">
            <a:spAutoFit/>
          </a:bodyPr>
          <a:lstStyle/>
          <a:p>
            <a:r>
              <a:rPr lang="en-US" altLang="zh-CN" sz="2000" dirty="0">
                <a:solidFill>
                  <a:schemeClr val="accent1"/>
                </a:solidFill>
              </a:rPr>
              <a:t>3 &lt; 7</a:t>
            </a:r>
            <a:r>
              <a:rPr lang="zh-CN" altLang="en-US" sz="2000" dirty="0">
                <a:solidFill>
                  <a:schemeClr val="accent1"/>
                </a:solidFill>
              </a:rPr>
              <a:t>，直接入栈</a:t>
            </a:r>
          </a:p>
        </p:txBody>
      </p:sp>
      <p:sp>
        <p:nvSpPr>
          <p:cNvPr id="25" name="文本框 24">
            <a:extLst>
              <a:ext uri="{FF2B5EF4-FFF2-40B4-BE49-F238E27FC236}">
                <a16:creationId xmlns:a16="http://schemas.microsoft.com/office/drawing/2014/main" id="{49DAD556-EE97-4F1B-A917-E6E263FCDA63}"/>
              </a:ext>
            </a:extLst>
          </p:cNvPr>
          <p:cNvSpPr txBox="1"/>
          <p:nvPr/>
        </p:nvSpPr>
        <p:spPr>
          <a:xfrm>
            <a:off x="1131233" y="6045510"/>
            <a:ext cx="6701303" cy="400110"/>
          </a:xfrm>
          <a:prstGeom prst="rect">
            <a:avLst/>
          </a:prstGeom>
          <a:noFill/>
        </p:spPr>
        <p:txBody>
          <a:bodyPr wrap="square" rtlCol="0">
            <a:spAutoFit/>
          </a:bodyPr>
          <a:lstStyle/>
          <a:p>
            <a:r>
              <a:rPr lang="en-US" altLang="zh-CN" sz="2000" dirty="0">
                <a:solidFill>
                  <a:schemeClr val="accent1"/>
                </a:solidFill>
              </a:rPr>
              <a:t>10&gt; 3 </a:t>
            </a:r>
            <a:r>
              <a:rPr lang="zh-CN" altLang="en-US" sz="2000" dirty="0">
                <a:solidFill>
                  <a:schemeClr val="accent1"/>
                </a:solidFill>
              </a:rPr>
              <a:t>及栈中所有元素，依此出栈后，</a:t>
            </a:r>
            <a:r>
              <a:rPr lang="en-US" altLang="zh-CN" sz="2000" dirty="0">
                <a:solidFill>
                  <a:schemeClr val="accent1"/>
                </a:solidFill>
              </a:rPr>
              <a:t>10</a:t>
            </a:r>
            <a:r>
              <a:rPr lang="zh-CN" altLang="en-US" sz="2000" dirty="0">
                <a:solidFill>
                  <a:schemeClr val="accent1"/>
                </a:solidFill>
              </a:rPr>
              <a:t>入栈</a:t>
            </a:r>
          </a:p>
        </p:txBody>
      </p:sp>
    </p:spTree>
    <p:extLst>
      <p:ext uri="{BB962C8B-B14F-4D97-AF65-F5344CB8AC3E}">
        <p14:creationId xmlns:p14="http://schemas.microsoft.com/office/powerpoint/2010/main" val="388984123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587042-1DB6-414F-9547-BCC5C655BABC}"/>
              </a:ext>
            </a:extLst>
          </p:cNvPr>
          <p:cNvSpPr>
            <a:spLocks noGrp="1"/>
          </p:cNvSpPr>
          <p:nvPr>
            <p:ph type="title"/>
          </p:nvPr>
        </p:nvSpPr>
        <p:spPr/>
        <p:txBody>
          <a:bodyPr/>
          <a:lstStyle/>
          <a:p>
            <a:r>
              <a:rPr lang="zh-CN" altLang="en-US" dirty="0"/>
              <a:t>单调队列</a:t>
            </a:r>
          </a:p>
        </p:txBody>
      </p:sp>
      <p:sp>
        <p:nvSpPr>
          <p:cNvPr id="3" name="副标题 2">
            <a:extLst>
              <a:ext uri="{FF2B5EF4-FFF2-40B4-BE49-F238E27FC236}">
                <a16:creationId xmlns:a16="http://schemas.microsoft.com/office/drawing/2014/main" id="{AB7095F7-B8CD-4D04-8C2E-60EF0C3808F4}"/>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EBCD459F-507E-433E-BC66-4443089F86B3}"/>
              </a:ext>
            </a:extLst>
          </p:cNvPr>
          <p:cNvSpPr>
            <a:spLocks noGrp="1"/>
          </p:cNvSpPr>
          <p:nvPr>
            <p:ph type="body" idx="10"/>
          </p:nvPr>
        </p:nvSpPr>
        <p:spPr/>
        <p:txBody>
          <a:bodyPr/>
          <a:lstStyle/>
          <a:p>
            <a:endParaRPr lang="zh-CN" altLang="en-US"/>
          </a:p>
        </p:txBody>
      </p:sp>
      <p:sp>
        <p:nvSpPr>
          <p:cNvPr id="7" name="Rectangle 2">
            <a:extLst>
              <a:ext uri="{FF2B5EF4-FFF2-40B4-BE49-F238E27FC236}">
                <a16:creationId xmlns:a16="http://schemas.microsoft.com/office/drawing/2014/main" id="{7B9DAA07-D405-478E-8935-67F5DF2824BE}"/>
              </a:ext>
            </a:extLst>
          </p:cNvPr>
          <p:cNvSpPr>
            <a:spLocks noGrp="1" noChangeArrowheads="1"/>
          </p:cNvSpPr>
          <p:nvPr>
            <p:ph idx="11"/>
          </p:nvPr>
        </p:nvSpPr>
        <p:spPr bwMode="auto">
          <a:xfrm>
            <a:off x="557611" y="1329912"/>
            <a:ext cx="11262354" cy="51246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一种元素具有严格单调性的</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满足两个约束：</a:t>
            </a:r>
          </a:p>
          <a:p>
            <a:pPr marL="914400" lvl="1" indent="-457200" algn="just">
              <a:lnSpc>
                <a:spcPct val="110000"/>
              </a:lnSpc>
              <a:spcBef>
                <a:spcPts val="600"/>
              </a:spcBef>
              <a:buFont typeface="+mj-lt"/>
              <a:buAutoNum type="arabicPeriod"/>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队列元素从头到尾的严格单调性。</a:t>
            </a:r>
          </a:p>
          <a:p>
            <a:pPr marL="914400" lvl="1" indent="-457200" algn="just">
              <a:lnSpc>
                <a:spcPct val="110000"/>
              </a:lnSpc>
              <a:spcBef>
                <a:spcPts val="600"/>
              </a:spcBef>
              <a:buFont typeface="+mj-lt"/>
              <a:buAutoNum type="arabicPeriod"/>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队列元素先进先出，当然队首元素比尾部元素要先进。</a:t>
            </a:r>
          </a:p>
          <a:p>
            <a:pPr marL="363538" indent="-363538" algn="just">
              <a:lnSpc>
                <a:spcPct val="110000"/>
              </a:lnSpc>
              <a:spcBef>
                <a:spcPts val="600"/>
              </a:spcBef>
            </a:pP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根据元素的递增或递减可组织为</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712788" lvl="1" indent="-349250" algn="just">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单调递增队列</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712788" lvl="1" indent="-349250" algn="just">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单调递减队列</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单调队列的主要操作</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基本</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与队列相同</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solidFill>
                  <a:srgbClr val="C00000"/>
                </a:solidFill>
                <a:latin typeface="Microsoft YaHei Light" panose="020B0502040204020203" pitchFamily="34" charset="-122"/>
                <a:ea typeface="Microsoft YaHei Light" panose="020B0502040204020203" pitchFamily="34" charset="-122"/>
                <a:cs typeface="Times New Roman" panose="02020603050405020304" pitchFamily="18" charset="0"/>
              </a:rPr>
              <a:t>区别</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在于单调队列的元素入队时，需要</a:t>
            </a:r>
            <a:r>
              <a:rPr lang="zh-CN" altLang="zh-CN" dirty="0">
                <a:solidFill>
                  <a:srgbClr val="C00000"/>
                </a:solidFill>
                <a:latin typeface="Microsoft YaHei Light" panose="020B0502040204020203" pitchFamily="34" charset="-122"/>
                <a:ea typeface="Microsoft YaHei Light" panose="020B0502040204020203" pitchFamily="34" charset="-122"/>
                <a:cs typeface="Times New Roman" panose="02020603050405020304" pitchFamily="18" charset="0"/>
              </a:rPr>
              <a:t>单调性检查</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通过删除队列中不满足单调性的元素来保持队列的单调性</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单调队列的元素间</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兼有</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先进先出的</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公平</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和</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可用于解决滑动窗口类问题</a:t>
            </a:r>
          </a:p>
          <a:p>
            <a:pPr marL="363538" indent="-363538" algn="just">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endPar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202472227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1E33B-9BDF-4F88-8293-0F3F2195F30F}"/>
              </a:ext>
            </a:extLst>
          </p:cNvPr>
          <p:cNvSpPr>
            <a:spLocks noGrp="1"/>
          </p:cNvSpPr>
          <p:nvPr>
            <p:ph type="title"/>
          </p:nvPr>
        </p:nvSpPr>
        <p:spPr/>
        <p:txBody>
          <a:bodyPr/>
          <a:lstStyle/>
          <a:p>
            <a:r>
              <a:rPr lang="zh-CN" altLang="en-US" dirty="0"/>
              <a:t>消息队列</a:t>
            </a:r>
          </a:p>
        </p:txBody>
      </p:sp>
      <p:sp>
        <p:nvSpPr>
          <p:cNvPr id="3" name="副标题 2">
            <a:extLst>
              <a:ext uri="{FF2B5EF4-FFF2-40B4-BE49-F238E27FC236}">
                <a16:creationId xmlns:a16="http://schemas.microsoft.com/office/drawing/2014/main" id="{6C7E8CAE-42E1-49EB-BA21-0DA25F5BBC3E}"/>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936C31A4-01FB-4868-A5CC-BF9BFE5B2B48}"/>
              </a:ext>
            </a:extLst>
          </p:cNvPr>
          <p:cNvSpPr>
            <a:spLocks noGrp="1"/>
          </p:cNvSpPr>
          <p:nvPr>
            <p:ph type="body" idx="10"/>
          </p:nvPr>
        </p:nvSpPr>
        <p:spPr/>
        <p:txBody>
          <a:bodyPr/>
          <a:lstStyle/>
          <a:p>
            <a:endParaRPr lang="zh-CN" altLang="en-US"/>
          </a:p>
        </p:txBody>
      </p:sp>
      <p:pic>
        <p:nvPicPr>
          <p:cNvPr id="22529" name="Picture 1" descr="http://www.kdocs.cn/api/v3/office/copy/amkxK3NOWDJLZitsbHBqc2FKWEFITHBFaVM0QnN3UWxMd21RblNyWWVUWThJUXU4eTFzcWZHY2FHYldBdG5icGhXakR1a0lZVkJmQVU4TXQvd2M0QXdsTVgrZjJheks0MWE2UmVMQy83bkY2T2M0WDAzTFVFSU1nbEYwem44MWE2UzZVQjlCcFBsN200VXc5Y1FWS1Jib1ovUTJmTVRUdDdpUC9Ka2tLNzA3U1RXUTE3dWcvNTNsYnArKzhuSDlPeW9YSklROUtPTVJFckRvUllLQ0xrWUNlc3pvSlRrUkVKYksrWU52NFdHNWJqbVNzcDBVWFZFa1M4N3dlUlFSUmdBa3pXaEFnMjF3PQ==/attach/object/adab80be170e378c94695a865d1d36f9e3453174?">
            <a:extLst>
              <a:ext uri="{FF2B5EF4-FFF2-40B4-BE49-F238E27FC236}">
                <a16:creationId xmlns:a16="http://schemas.microsoft.com/office/drawing/2014/main" id="{B7843B17-A325-49BB-BB1B-E3669D764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017" y="1377650"/>
            <a:ext cx="5107254" cy="2185821"/>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descr="http://www.kdocs.cn/api/v3/office/copy/amkxK3NOWDJLZitsbHBqc2FKWEFITHBFaVM0QnN3UWxMd21RblNyWWVUWThJUXU4eTFzcWZHY2FHYldBdG5icGhXakR1a0lZVkJmQVU4TXQvd2M0QXdsTVgrZjJheks0MWE2UmVMQy83bkY2T2M0WDAzTFVFSU1nbEYwem44MWE2UzZVQjlCcFBsN200VXc5Y1FWS1Jib1ovUTJmTVRUdDdpUC9Ka2tLNzA3U1RXUTE3dWcvNTNsYnArKzhuSDlPeW9YSklROUtPTVJFckRvUllLQ0xrWUNlc3pvSlRrUkVKYksrWU52NFdHNWJqbVNzcDBVWFZFa1M4N3dlUlFSUmdBa3pXaEFnMjF3PQ==/attach/object/0d84a8b0b9051d10ca5b8cd78a1300cfa6a41e25?">
            <a:extLst>
              <a:ext uri="{FF2B5EF4-FFF2-40B4-BE49-F238E27FC236}">
                <a16:creationId xmlns:a16="http://schemas.microsoft.com/office/drawing/2014/main" id="{BCC9B3B2-C2CD-486B-B61F-EAAE64F7ACAB}"/>
              </a:ext>
            </a:extLst>
          </p:cNvPr>
          <p:cNvPicPr>
            <a:picLocks noGrp="1" noChangeAspect="1" noChangeArrowheads="1"/>
          </p:cNvPicPr>
          <p:nvPr>
            <p:ph idx="11"/>
          </p:nvPr>
        </p:nvPicPr>
        <p:blipFill>
          <a:blip r:embed="rId3">
            <a:extLst>
              <a:ext uri="{28A0092B-C50C-407E-A947-70E740481C1C}">
                <a14:useLocalDpi xmlns:a14="http://schemas.microsoft.com/office/drawing/2010/main" val="0"/>
              </a:ext>
            </a:extLst>
          </a:blip>
          <a:srcRect/>
          <a:stretch>
            <a:fillRect/>
          </a:stretch>
        </p:blipFill>
        <p:spPr bwMode="auto">
          <a:xfrm>
            <a:off x="6291000" y="3939988"/>
            <a:ext cx="5503776" cy="235306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A27AAAF5-8E04-4924-99C1-9119848A8CF5}"/>
              </a:ext>
            </a:extLst>
          </p:cNvPr>
          <p:cNvSpPr>
            <a:spLocks noChangeArrowheads="1"/>
          </p:cNvSpPr>
          <p:nvPr/>
        </p:nvSpPr>
        <p:spPr bwMode="auto">
          <a:xfrm>
            <a:off x="397224" y="1377650"/>
            <a:ext cx="5503777" cy="52091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p>
            <a:pPr marL="363538"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进程或线程之间</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通信的一种常用</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方式</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eaLnBrk="0" fontAlgn="base" hangingPunct="0">
              <a:lnSpc>
                <a:spcPct val="110000"/>
              </a:lnSpc>
              <a:spcBef>
                <a:spcPts val="600"/>
              </a:spcBef>
              <a:spcAft>
                <a:spcPct val="0"/>
              </a:spcAft>
              <a:buFont typeface="Arial" panose="020B0604020202020204" pitchFamily="34" charset="0"/>
              <a:buChar char="•"/>
            </a:pP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为进程</a:t>
            </a:r>
            <a:r>
              <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线程</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提供一个临时存储消息的轻量级缓冲区</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通常采用先进先出的存储方式</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，包括</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请求、恢复、错误消息、明文信息或控制权等</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eaLnBrk="0" fontAlgn="base" hangingPunct="0">
              <a:lnSpc>
                <a:spcPct val="110000"/>
              </a:lnSpc>
              <a:spcBef>
                <a:spcPts val="600"/>
              </a:spcBef>
              <a:spcAft>
                <a:spcPct val="0"/>
              </a:spcAft>
              <a:buFont typeface="Arial" panose="020B0604020202020204" pitchFamily="34" charset="0"/>
              <a:buChar char="•"/>
            </a:pP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一个</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消息包含</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消息头</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用于存储消息类型、目的地id、源id、消息长度和控制信息等信息</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消息体</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27704475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normAutofit/>
          </a:bodyPr>
          <a:lstStyle/>
          <a:p>
            <a:r>
              <a:rPr lang="zh-CN" altLang="en-US" sz="2800" dirty="0"/>
              <a:t>小结</a:t>
            </a:r>
          </a:p>
        </p:txBody>
      </p:sp>
      <p:sp>
        <p:nvSpPr>
          <p:cNvPr id="14" name="副标题 13"/>
          <p:cNvSpPr>
            <a:spLocks noGrp="1"/>
          </p:cNvSpPr>
          <p:nvPr>
            <p:ph type="subTitle" idx="1"/>
          </p:nvPr>
        </p:nvSpPr>
        <p:spPr/>
        <p:txBody>
          <a:bodyPr/>
          <a:lstStyle/>
          <a:p>
            <a:r>
              <a:rPr lang="en-US" altLang="zh-CN" dirty="0"/>
              <a:t>3.7 </a:t>
            </a:r>
            <a:r>
              <a:rPr lang="zh-CN" altLang="en-US" dirty="0"/>
              <a:t>小结</a:t>
            </a:r>
          </a:p>
        </p:txBody>
      </p:sp>
      <p:sp>
        <p:nvSpPr>
          <p:cNvPr id="15" name="文本占位符 14"/>
          <p:cNvSpPr>
            <a:spLocks noGrp="1"/>
          </p:cNvSpPr>
          <p:nvPr>
            <p:ph type="body" idx="10"/>
          </p:nvPr>
        </p:nvSpPr>
        <p:spPr/>
        <p:txBody>
          <a:bodyPr/>
          <a:lstStyle/>
          <a:p>
            <a:r>
              <a:rPr lang="zh-CN" altLang="en-US" dirty="0"/>
              <a:t>数据结构</a:t>
            </a:r>
          </a:p>
        </p:txBody>
      </p:sp>
      <p:sp>
        <p:nvSpPr>
          <p:cNvPr id="16" name="内容占位符 15"/>
          <p:cNvSpPr>
            <a:spLocks noGrp="1"/>
          </p:cNvSpPr>
          <p:nvPr>
            <p:ph idx="11"/>
          </p:nvPr>
        </p:nvSpPr>
        <p:spPr>
          <a:xfrm>
            <a:off x="568337" y="1205512"/>
            <a:ext cx="11055325" cy="5381284"/>
          </a:xfrm>
        </p:spPr>
        <p:txBody>
          <a:bodyPr>
            <a:normAutofit/>
          </a:bodyPr>
          <a:lstStyle/>
          <a:p>
            <a:pPr eaLnBrk="0" fontAlgn="base" hangingPunct="0">
              <a:lnSpc>
                <a:spcPct val="110000"/>
              </a:lnSpc>
              <a:spcAft>
                <a:spcPct val="0"/>
              </a:spcAft>
            </a:pPr>
            <a:r>
              <a:rPr lang="zh-CN" altLang="zh-CN" sz="2400" dirty="0"/>
              <a:t>本章主要介绍了两个</a:t>
            </a:r>
            <a:r>
              <a:rPr lang="zh-CN" altLang="en-US" sz="2400" dirty="0"/>
              <a:t>应用广泛的数据结构， 本质上均为</a:t>
            </a:r>
            <a:r>
              <a:rPr lang="zh-CN" altLang="en-US" sz="2400" b="1" dirty="0"/>
              <a:t>限制访问端口</a:t>
            </a:r>
            <a:r>
              <a:rPr lang="zh-CN" altLang="en-US" sz="2400" dirty="0"/>
              <a:t>的线性表</a:t>
            </a:r>
            <a:endParaRPr lang="en-US" altLang="zh-CN" sz="2400" dirty="0"/>
          </a:p>
          <a:p>
            <a:pPr marL="342900" indent="-342900" eaLnBrk="0" fontAlgn="base" hangingPunct="0">
              <a:lnSpc>
                <a:spcPct val="110000"/>
              </a:lnSpc>
              <a:spcAft>
                <a:spcPct val="0"/>
              </a:spcAft>
              <a:buFont typeface="Arial" panose="020B0604020202020204" pitchFamily="34" charset="0"/>
              <a:buChar char="•"/>
            </a:pPr>
            <a:r>
              <a:rPr lang="zh-CN" altLang="en-US" sz="2400" dirty="0"/>
              <a:t>栈： </a:t>
            </a:r>
            <a:r>
              <a:rPr lang="zh-CN" altLang="zh-CN" sz="2400" dirty="0"/>
              <a:t>插入和删除都限制在线性表的一端，形成</a:t>
            </a:r>
            <a:r>
              <a:rPr lang="zh-CN" altLang="zh-CN" sz="2400" b="1" dirty="0"/>
              <a:t>后进先出</a:t>
            </a:r>
            <a:r>
              <a:rPr lang="zh-CN" altLang="zh-CN" sz="2400" dirty="0"/>
              <a:t>的</a:t>
            </a:r>
            <a:r>
              <a:rPr lang="zh-CN" altLang="en-US" sz="2400" dirty="0"/>
              <a:t>结构</a:t>
            </a:r>
            <a:r>
              <a:rPr lang="zh-CN" altLang="zh-CN" sz="2400" dirty="0"/>
              <a:t>特点</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适用于具有递归特性的应用问题</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eaLnBrk="0" fontAlgn="base" hangingPunct="0">
              <a:lnSpc>
                <a:spcPct val="110000"/>
              </a:lnSpc>
              <a:spcAft>
                <a:spcPct val="0"/>
              </a:spcAft>
              <a:buFont typeface="Arial" panose="020B0604020202020204" pitchFamily="34" charset="0"/>
              <a:buChar char="•"/>
            </a:pPr>
            <a:r>
              <a:rPr lang="zh-CN" altLang="zh-CN" sz="2400" dirty="0"/>
              <a:t>队列</a:t>
            </a:r>
            <a:r>
              <a:rPr lang="zh-CN" altLang="en-US" sz="2400" dirty="0"/>
              <a:t>：</a:t>
            </a:r>
            <a:r>
              <a:rPr lang="zh-CN" altLang="zh-CN" sz="2400" dirty="0"/>
              <a:t>限制删除只在队首、插入只在队尾</a:t>
            </a:r>
            <a:r>
              <a:rPr lang="zh-CN" altLang="en-US" sz="2400" dirty="0"/>
              <a:t>；形成</a:t>
            </a:r>
            <a:r>
              <a:rPr lang="zh-CN" altLang="zh-CN" sz="2400" b="1" dirty="0"/>
              <a:t>先进先出</a:t>
            </a:r>
            <a:r>
              <a:rPr lang="zh-CN" altLang="zh-CN" sz="2400" dirty="0"/>
              <a:t>的</a:t>
            </a:r>
            <a:r>
              <a:rPr lang="zh-CN" altLang="en-US" sz="2400" dirty="0"/>
              <a:t>结构</a:t>
            </a:r>
            <a:r>
              <a:rPr lang="zh-CN" altLang="zh-CN" sz="2400" dirty="0"/>
              <a:t>特点</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满足</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先来先服务</a:t>
            </a: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的公平</a:t>
            </a:r>
            <a:r>
              <a:rPr lang="zh-CN"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特性的应用均可采用队列作为其数据组织方式或中间数据结构</a:t>
            </a:r>
            <a:endParaRPr lang="zh-CN" altLang="zh-CN" sz="2400" dirty="0"/>
          </a:p>
          <a:p>
            <a:pPr marL="342900" indent="-342900" eaLnBrk="0" fontAlgn="base" hangingPunct="0">
              <a:lnSpc>
                <a:spcPct val="110000"/>
              </a:lnSpc>
              <a:spcAft>
                <a:spcPct val="0"/>
              </a:spcAft>
              <a:buFont typeface="Arial" panose="020B0604020202020204" pitchFamily="34" charset="0"/>
              <a:buChar char="•"/>
            </a:pPr>
            <a:r>
              <a:rPr lang="zh-CN" altLang="en-US" sz="2400" dirty="0"/>
              <a:t>满足特定性质的栈与队列</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单调栈</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单调队列</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lvl="1" indent="-342900" eaLnBrk="0" fontAlgn="base" hangingPunct="0">
              <a:lnSpc>
                <a:spcPct val="110000"/>
              </a:lnSpc>
              <a:spcBef>
                <a:spcPts val="1000"/>
              </a:spcBef>
              <a:spcAft>
                <a:spcPct val="0"/>
              </a:spcAft>
              <a:buFont typeface="Arial" panose="020B0604020202020204" pitchFamily="34" charset="0"/>
              <a:buChar char="•"/>
              <a:tabLst>
                <a:tab pos="712788" algn="l"/>
              </a:tabLst>
            </a:pPr>
            <a:r>
              <a:rPr lang="zh-CN" altLang="en-US"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消息队列</a:t>
            </a:r>
            <a:endParaRPr lang="en-US" altLang="zh-CN"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102015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50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9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8826</TotalTime>
  <Words>12797</Words>
  <Application>Microsoft Office PowerPoint</Application>
  <PresentationFormat>宽屏</PresentationFormat>
  <Paragraphs>2031</Paragraphs>
  <Slides>135</Slides>
  <Notes>38</Notes>
  <HiddenSlides>0</HiddenSlides>
  <MMClips>0</MMClips>
  <ScaleCrop>false</ScaleCrop>
  <HeadingPairs>
    <vt:vector size="8" baseType="variant">
      <vt:variant>
        <vt:lpstr>已用的字体</vt:lpstr>
      </vt:variant>
      <vt:variant>
        <vt:i4>29</vt:i4>
      </vt:variant>
      <vt:variant>
        <vt:lpstr>主题</vt:lpstr>
      </vt:variant>
      <vt:variant>
        <vt:i4>1</vt:i4>
      </vt:variant>
      <vt:variant>
        <vt:lpstr>嵌入 OLE 服务器</vt:lpstr>
      </vt:variant>
      <vt:variant>
        <vt:i4>1</vt:i4>
      </vt:variant>
      <vt:variant>
        <vt:lpstr>幻灯片标题</vt:lpstr>
      </vt:variant>
      <vt:variant>
        <vt:i4>135</vt:i4>
      </vt:variant>
    </vt:vector>
  </HeadingPairs>
  <TitlesOfParts>
    <vt:vector size="166" baseType="lpstr">
      <vt:lpstr>Arial Unicode MS</vt:lpstr>
      <vt:lpstr>Microsoft Yahei</vt:lpstr>
      <vt:lpstr>Microsoft YaHei Light</vt:lpstr>
      <vt:lpstr>MS PGothic</vt:lpstr>
      <vt:lpstr>等线</vt:lpstr>
      <vt:lpstr>方正美黑简体</vt:lpstr>
      <vt:lpstr>方正颜宋简体_中</vt:lpstr>
      <vt:lpstr>华文楷体</vt:lpstr>
      <vt:lpstr>华文细黑</vt:lpstr>
      <vt:lpstr>华文中宋</vt:lpstr>
      <vt:lpstr>宋体</vt:lpstr>
      <vt:lpstr>微软雅黑</vt:lpstr>
      <vt:lpstr>微软雅黑</vt:lpstr>
      <vt:lpstr>Aharoni</vt:lpstr>
      <vt:lpstr>Arial</vt:lpstr>
      <vt:lpstr>Bauhaus 93</vt:lpstr>
      <vt:lpstr>Calibri</vt:lpstr>
      <vt:lpstr>Calibri Light</vt:lpstr>
      <vt:lpstr>Cambria Math</vt:lpstr>
      <vt:lpstr>Comic Sans MS</vt:lpstr>
      <vt:lpstr>Consolas</vt:lpstr>
      <vt:lpstr>Garamond</vt:lpstr>
      <vt:lpstr>Lucida Fax</vt:lpstr>
      <vt:lpstr>Segoe UI Black</vt:lpstr>
      <vt:lpstr>Symbol</vt:lpstr>
      <vt:lpstr>Tahoma</vt:lpstr>
      <vt:lpstr>Times New Roman</vt:lpstr>
      <vt:lpstr>Verdana</vt:lpstr>
      <vt:lpstr>Wingdings</vt:lpstr>
      <vt:lpstr>Office 主题</vt:lpstr>
      <vt:lpstr>公式</vt:lpstr>
      <vt:lpstr>PowerPoint 演示文稿</vt:lpstr>
      <vt:lpstr>PowerPoint 演示文稿</vt:lpstr>
      <vt:lpstr>PowerPoint 演示文稿</vt:lpstr>
      <vt:lpstr>超市货架</vt:lpstr>
      <vt:lpstr>超市货架</vt:lpstr>
      <vt:lpstr>操作受限的线性表</vt:lpstr>
      <vt:lpstr>栈</vt:lpstr>
      <vt:lpstr>栈的图示</vt:lpstr>
      <vt:lpstr>栈的抽象数据类型 </vt:lpstr>
      <vt:lpstr>栈的示例</vt:lpstr>
      <vt:lpstr>示例：火车进出栈问题</vt:lpstr>
      <vt:lpstr>思考</vt:lpstr>
      <vt:lpstr>示例：火车进出栈问题</vt:lpstr>
      <vt:lpstr>思考</vt:lpstr>
      <vt:lpstr>示例：火车进出栈问题</vt:lpstr>
      <vt:lpstr>PowerPoint 演示文稿</vt:lpstr>
      <vt:lpstr>思考</vt:lpstr>
      <vt:lpstr>思考</vt:lpstr>
      <vt:lpstr>思考</vt:lpstr>
      <vt:lpstr>栈的实现方式</vt:lpstr>
      <vt:lpstr>栈的实现方式</vt:lpstr>
      <vt:lpstr>栈的实现方式</vt:lpstr>
      <vt:lpstr>PowerPoint 演示文稿</vt:lpstr>
      <vt:lpstr>顺序栈</vt:lpstr>
      <vt:lpstr>顺序栈示例 </vt:lpstr>
      <vt:lpstr>顺序栈的溢出</vt:lpstr>
      <vt:lpstr>压栈操作</vt:lpstr>
      <vt:lpstr>出栈操作</vt:lpstr>
      <vt:lpstr>读栈操作</vt:lpstr>
      <vt:lpstr>栈的变种</vt:lpstr>
      <vt:lpstr>链式栈</vt:lpstr>
      <vt:lpstr>链式栈的创建 </vt:lpstr>
      <vt:lpstr>压栈操作</vt:lpstr>
      <vt:lpstr>出栈操作</vt:lpstr>
      <vt:lpstr>顺序栈 vs 链式栈 </vt:lpstr>
      <vt:lpstr>顺序栈  vs 链式栈 </vt:lpstr>
      <vt:lpstr>队列</vt:lpstr>
      <vt:lpstr>队列的主要操作</vt:lpstr>
      <vt:lpstr>队列的抽象数据类型</vt:lpstr>
      <vt:lpstr>队列的实现方式</vt:lpstr>
      <vt:lpstr>队列的溢出</vt:lpstr>
      <vt:lpstr>顺序队列 </vt:lpstr>
      <vt:lpstr>顺序队列的维护</vt:lpstr>
      <vt:lpstr>队列示意：普通</vt:lpstr>
      <vt:lpstr>队列示意：环形</vt:lpstr>
      <vt:lpstr>PowerPoint 演示文稿</vt:lpstr>
      <vt:lpstr>队列示意：环形</vt:lpstr>
      <vt:lpstr>思考</vt:lpstr>
      <vt:lpstr>PowerPoint 演示文稿</vt:lpstr>
      <vt:lpstr>PowerPoint 演示文稿</vt:lpstr>
      <vt:lpstr>队列示意：环形</vt:lpstr>
      <vt:lpstr>队列示意：环形</vt:lpstr>
      <vt:lpstr>顺序队列的类定义 </vt:lpstr>
      <vt:lpstr>顺序队列的类定义 </vt:lpstr>
      <vt:lpstr>顺序队列的实现</vt:lpstr>
      <vt:lpstr>顺序队列的实现</vt:lpstr>
      <vt:lpstr>链式队列</vt:lpstr>
      <vt:lpstr>链式队列的类定义</vt:lpstr>
      <vt:lpstr>链式队列的入队</vt:lpstr>
      <vt:lpstr>链式队列的出队</vt:lpstr>
      <vt:lpstr>链式队列的出队</vt:lpstr>
      <vt:lpstr>顺序队列 vs 链式队列</vt:lpstr>
      <vt:lpstr>思考</vt:lpstr>
      <vt:lpstr>思考</vt:lpstr>
      <vt:lpstr>PowerPoint 演示文稿</vt:lpstr>
      <vt:lpstr>PowerPoint 演示文稿</vt:lpstr>
      <vt:lpstr>思考</vt:lpstr>
      <vt:lpstr>变种的栈和队列结构 </vt:lpstr>
      <vt:lpstr>栈的应用</vt:lpstr>
      <vt:lpstr>数制转换</vt:lpstr>
      <vt:lpstr>括号语句的判定</vt:lpstr>
      <vt:lpstr>括号语句的判定</vt:lpstr>
      <vt:lpstr>括号语句的判定</vt:lpstr>
      <vt:lpstr>括号语句的判定示例</vt:lpstr>
      <vt:lpstr>PowerPoint 演示文稿</vt:lpstr>
      <vt:lpstr>括号语句的判定</vt:lpstr>
      <vt:lpstr>括号语句的判定</vt:lpstr>
      <vt:lpstr>表达式计算</vt:lpstr>
      <vt:lpstr>中缀表达式的语法公式  </vt:lpstr>
      <vt:lpstr>中缀表达式的递归图示</vt:lpstr>
      <vt:lpstr>中缀表达式</vt:lpstr>
      <vt:lpstr>中缀表达式的计算</vt:lpstr>
      <vt:lpstr>后缀表达式的语法公式 </vt:lpstr>
      <vt:lpstr>后缀表达式 </vt:lpstr>
      <vt:lpstr>后缀表达式求值 </vt:lpstr>
      <vt:lpstr>后缀表达式求值</vt:lpstr>
      <vt:lpstr>后缀表达式求值算法</vt:lpstr>
      <vt:lpstr>中缀表达式 vs 后缀表达式</vt:lpstr>
      <vt:lpstr>中缀表达式 to 后缀表达式</vt:lpstr>
      <vt:lpstr>中缀表达式 to 后缀表达式</vt:lpstr>
      <vt:lpstr>中缀表达式 to 后缀表达式</vt:lpstr>
      <vt:lpstr>PowerPoint 演示文稿</vt:lpstr>
      <vt:lpstr>PowerPoint 演示文稿</vt:lpstr>
      <vt:lpstr>*后缀表达式 to 中缀表达式</vt:lpstr>
      <vt:lpstr>中缀表达式求值</vt:lpstr>
      <vt:lpstr>*经典面试题：最大栈</vt:lpstr>
      <vt:lpstr>*经典面试题：最大栈</vt:lpstr>
      <vt:lpstr>*经典面试题：最大栈</vt:lpstr>
      <vt:lpstr>*经典面试题：最大栈</vt:lpstr>
      <vt:lpstr>*经典面试题：最大栈</vt:lpstr>
      <vt:lpstr>*经典面试题：最大栈</vt:lpstr>
      <vt:lpstr>栈与递归</vt:lpstr>
      <vt:lpstr>递归</vt:lpstr>
      <vt:lpstr>递归</vt:lpstr>
      <vt:lpstr>递归示例： 阶乘函数</vt:lpstr>
      <vt:lpstr>递归示例： 阶乘函数的程序实现</vt:lpstr>
      <vt:lpstr>函数执行过程图解：4！</vt:lpstr>
      <vt:lpstr>函数调用与递归的实现</vt:lpstr>
      <vt:lpstr>函数调用及返回的步骤</vt:lpstr>
      <vt:lpstr>函数运行时的动态存储分配</vt:lpstr>
      <vt:lpstr>运行栈中的活动记录</vt:lpstr>
      <vt:lpstr>运行栈中的活动记录</vt:lpstr>
      <vt:lpstr>递归算法的非递归实现</vt:lpstr>
      <vt:lpstr>阶乘的迭代实现 </vt:lpstr>
      <vt:lpstr>递归的再思考</vt:lpstr>
      <vt:lpstr>阶乘的一种非递归实现</vt:lpstr>
      <vt:lpstr>非递归程序的实现原理</vt:lpstr>
      <vt:lpstr>队列的应用 </vt:lpstr>
      <vt:lpstr>队列应用：约瑟夫环问题</vt:lpstr>
      <vt:lpstr>队列应用：约瑟夫环问题</vt:lpstr>
      <vt:lpstr>队列应用：约瑟夫环问题</vt:lpstr>
      <vt:lpstr>队列应用：约瑟夫环问题</vt:lpstr>
      <vt:lpstr>队列应用：车厢重排</vt:lpstr>
      <vt:lpstr>队列应用：车厢重排</vt:lpstr>
      <vt:lpstr>队列应用：车厢重排</vt:lpstr>
      <vt:lpstr>队列应用：车厢重排</vt:lpstr>
      <vt:lpstr>队列应用：车厢重排</vt:lpstr>
      <vt:lpstr>队列应用：车厢重排</vt:lpstr>
      <vt:lpstr>队列应用：车厢重排</vt:lpstr>
      <vt:lpstr>队列应用：车厢重排</vt:lpstr>
      <vt:lpstr>单调栈</vt:lpstr>
      <vt:lpstr>单调队列</vt:lpstr>
      <vt:lpstr>消息队列</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邢慧慧</cp:lastModifiedBy>
  <cp:revision>514</cp:revision>
  <dcterms:created xsi:type="dcterms:W3CDTF">2023-07-28T08:56:46Z</dcterms:created>
  <dcterms:modified xsi:type="dcterms:W3CDTF">2025-10-10T03:27:09Z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575BE437404044CA4A81C364E200AF97_42</vt:lpwstr>
  </property>
  <property fmtid="{D5CDD505-2E9C-101B-9397-08002B2CF9AE}" pid="3" name="KSOProductBuildVer">
    <vt:lpwstr>2052-5.4.0.7910</vt:lpwstr>
  </property>
</Properties>
</file>