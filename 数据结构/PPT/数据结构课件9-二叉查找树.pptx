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676" r:id="rId5"/>
    <p:sldId id="686" r:id="rId6"/>
    <p:sldId id="687" r:id="rId7"/>
    <p:sldId id="684" r:id="rId8"/>
    <p:sldId id="557" r:id="rId9"/>
    <p:sldId id="613" r:id="rId10"/>
    <p:sldId id="614" r:id="rId11"/>
    <p:sldId id="688" r:id="rId12"/>
    <p:sldId id="689" r:id="rId13"/>
    <p:sldId id="558" r:id="rId14"/>
    <p:sldId id="559" r:id="rId15"/>
    <p:sldId id="680" r:id="rId16"/>
    <p:sldId id="690" r:id="rId17"/>
    <p:sldId id="691" r:id="rId18"/>
    <p:sldId id="692" r:id="rId19"/>
    <p:sldId id="700" r:id="rId20"/>
    <p:sldId id="562" r:id="rId21"/>
    <p:sldId id="693" r:id="rId22"/>
    <p:sldId id="563" r:id="rId23"/>
    <p:sldId id="694" r:id="rId24"/>
    <p:sldId id="695" r:id="rId25"/>
    <p:sldId id="564" r:id="rId26"/>
    <p:sldId id="696" r:id="rId27"/>
    <p:sldId id="697" r:id="rId28"/>
    <p:sldId id="698" r:id="rId29"/>
    <p:sldId id="699" r:id="rId30"/>
    <p:sldId id="565" r:id="rId31"/>
    <p:sldId id="683" r:id="rId32"/>
    <p:sldId id="573" r:id="rId33"/>
    <p:sldId id="556" r:id="rId34"/>
    <p:sldId id="359" r:id="rId35"/>
    <p:sldId id="270" r:id="rId36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A382"/>
    <a:srgbClr val="009999"/>
    <a:srgbClr val="FFFFFF"/>
    <a:srgbClr val="FF9933"/>
    <a:srgbClr val="FF6600"/>
    <a:srgbClr val="FF7C80"/>
    <a:srgbClr val="FF3399"/>
    <a:srgbClr val="FF33CC"/>
    <a:srgbClr val="51ADB7"/>
    <a:srgbClr val="C1E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3" autoAdjust="0"/>
    <p:restoredTop sz="88085" autoAdjust="0"/>
  </p:normalViewPr>
  <p:slideViewPr>
    <p:cSldViewPr snapToGrid="0">
      <p:cViewPr varScale="1">
        <p:scale>
          <a:sx n="106" d="100"/>
          <a:sy n="106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7FE23-F5A8-42E9-9888-C3A84DB64DC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0775B-E8BF-40E3-8D21-20EEF706AA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6T11:29: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322 356 24575,'-5'9'0,"-3"1"0,-9 3 0,-5-3 0,-4-2 0,3-4 0,-2-3 0,10-1 0,-3-2 0,10-2 0,0-9 0,3-10 0,1-7 0,2-7 0,2 3 0,0 1 0,2 4 0,2 6 0,5 4 0,5 4 0,3 3 0,2 3 0,0 2 0,-1 3 0,4 2 0,2 2 0,3 0 0,1 0 0,-4 4 0,-2 5 0,-4 5 0,-1 6 0,-3 5 0,-4 2 0,-5 1 0,-3-4 0,-2 0 0,0-2 0,0 6 0,-1 1 0,-3 4 0,-5-2 0,-7-1 0,-6-3 0,-6-4 0,-4-3 0,-4-6 0,-8-3 0,0-8 0,6-17 0,12-18 0,13-18 0,9-13 0,5 0 0,8 1 0,12 7 0,13 8 0,9 12 0,5 12 0,0 10 0,-3 8 0,-7 3 0,-9 5 0,-6 7 0,-7 7 0,-5 6 0,-6 2 0,-4 2 0,-1 3 0,0 5 0,0 7 0,-1 1 0,-2 1 0,-5-5 0,-6-7 0,-5-5 0,-6-8 0,-2-6 0,-5-5 0,-3-7 0,-2-13 0,4-11 0,7-9 0,11-3 0,8 5 0,5 1 0,6 1 0,13-3 0,16 1 0,14 6 0,7 10 0,1 8 0,-2 5 0,-1 1 0,-3 0 0,-5 0 0,-6 1 0,-10 4 0,-10 6 0,-10 4 0,-5 6 0,-3 6 0,-4 3 0,-8 6 0,-6-1 0,-7-1 0,-2-4 0,-2-9 0,-3-7 0,-4-7 0,-2-6 0,0-9 0,7-8 0,8-10 0,10-10 0,7-6 0,2-3 0,1-3 0,0 19 0,2 3 0,8 21 0,6 0 0,9 4 0,5 1 0,3 0 0,1 0 0,-3 0 0,2 0 0,-7 1 0,-6 3 0,-8 6 0,-7 7 0,-6 10 0,-7 5 0,-5 4 0,-6 2 0,-2-1 0,-2-1 0,-2-3 0,-3-9 0,0-5 0,-1-9 0,-4-5 0,0-6 0,2-13 0,7-12 0,8-15 0,6-12 0,6-4 0,2 1 0,2 10 0,0 10 0,3 10 0,1 5 0,7 0 0,4-1 0,5 0 0,5 4 0,3 4 0,5 5 0,2 4 0,1 2 0,-4 3 0,-4 4 0,-7 10 0,-9 11 0,-4 7 0,-6 7 0,-4-3 0,-8 0 0,-6 0 0,-7 1 0,0 2 0,0-2 0,-2-2 0,1-9 0,1-7 0,-3-8 0,-3-6 0,-2-3 0,-2-4 0,3-6 0,6-12 0,5-11 0,7-8 0,4-3 0,3 2 0,3 6 0,3 4 0,4 4 0,11 1 0,10-2 0,11 2 0,7 3 0,2 7 0,0 8 0,-1 5 0,-3 2 0,-5 0 0,-6 4 0,-5 9 0,-5 12 0,-3 12 0,-5 1 0,-4-2 0,-4-6 0,-3-7 0,-4-1 0,-7-2 0,-7 4 0,-5 6 0,-2 0 0,1-1 0,-5-9 0,-3-10 0,-12-6 0,-6-4 0,-1-8 0,3-15 0,15-13 0,12-13 0,12-3 0,6 1 0,3 3 0,1 7 0,0 5 0,0 8 0,7 4 0,12 2 0,9 2 0,8 4 0,3 4 0,0 6 0,2 3 0,1 3 0,-1 0 0,1 3 0,-3 1 0,-5 6 0,-7 4 0,-6 1 0,-7 1 0,-5 0 0,-5 2 0,-4 2 0,0 4 0,-2 5 0,-5 4 0,-7 3 0,-6 0 0,-6-5 0,-2-3 0,0-6 0,-2-5 0,-3-5 0,-1-6 0,-1-13 0,2-14 0,5-13 0,6-6 0,6 5 0,4 7 0,5 6 0,2 2 0,3-1 0,2-3 0,0-3 0,3-2 0,7 1 0,8 3 0,10 3 0,7 4 0,5 4 0,2 6 0,-2 5 0,-4 5 0,-7 6 0,-4 4 0,-8 5 0,-3 3 0,-6 5 0,-2 7 0,-1 6 0,0-1 0,-1-3 0,-1-6 0,-1-6 0,-2-1 0,-5-2 0,-6 3 0,-10 3 0,-9 1 0,-4-5 0,-3-7 0,1-15 0,-1-20 0,4-20 0,4-14 0,8-1 0,10 7 0,6 10 0,3 7 0,7 5 0,6 4 0,4 4 0,4 4 0,-1 2 0,4 2 0,2 3 0,4 4 0,2 2 0,0 1 0,1 1 0,-2 1 0,1 4 0,-4 2 0,-2 3 0,-6 3 0,-7-2 0,-6 1 0,-4 1 0,-1 0 0,0 3 0,0 1 0,-5 1 0,-4 1 0,-6 1 0,-7 3 0,0 5 0,-4 4 0,0 1 0,4-4 0,0-6 0,0-2 0,-2-4 0,-3-5 0,-1-5 0,1-5 0,4-2 0,3-5 0,2-9 0,0-12 0,0-10 0,4-5 0,6 0 0,4 3 0,4 9 0,0 7 0,0 7 0,2 0 0,6 0 0,4-1 0,6-2 0,8-2 0,5 4 0,7 5 0,4 5 0,0 5 0,-3 1 0,-3 4 0,-5 4 0,-7 4 0,-5 5 0,-5 0 0,-3 4 0,-4 1 0,-3 0 0,-2-1 0,-2-2 0,0 0 0,0 0 0,-1 0 0,-4 2 0,-5 3 0,-2 4 0,-3-1 0,-2-3 0,-1-2 0,0-3 0,-4-1 0,0-5 0,-2-5 0,-1-10 0,2-10 0,3-10 0,5-8 0,3-4 0,3-2 0,0 0 0,2 2 0,2 3 0,2 5 0,2 5 0,1 3 0,0 2 0,3-1 0,3 1 0,11 2 0,9 2 0,5 4 0,4 4 0,0 1 0,-1 3 0,0 0 0,-1 0 0,-4 4 0,-6 4 0,-9 4 0,-7 4 0,-4 0 0,-3 2 0,-1 1 0,-2 0 0,-2 0 0,-2-1 0,-1 1 0,0 0 0,-3 2 0,-1 1 0,0 3 0,1-1 0,1-2 0,0-3 0,0-6 0,-2-4 0,0-4 0,-2-4 0,2-1 0,2-3 0,3-11 0,3-8 0,2-5 0,2-9 0,0 18 0,0-6 0,0 12 0,1-5 0,4-2 0,6 0 0,4 2 0,4 2 0,0 2 0,0 6 0,0 0 0,-3 2 0,-2 3 0,-3 0 0,-1 2 0,0 0 0,1 0 0,-1 0 0,-2 3 0,-1 4 0,-2 1 0,-3 3 0,0 1 0,-1 2 0,-1 3 0,0 2 0,0-1 0,0 1 0,0 0 0,0 0 0,-2 0 0,-2 0 0,-5-2 0,-2-1 0,-1-2 0,1 0 0,2 0 0,-2 0 0,2-7 0,-3-1 0,4-6 0,-3 0 0,0 0 0,-1-2 0,-2-9 0,2-9 0,4-10 0,3-7 0,5 1 0,0 2 0,0 5 0,0 2 0,0 10 0,0-3 0,1 8 0,5-2 0,5 2 0,5 2 0,3 1 0,0 2 0,0 2 0,0 3 0,-1 2 0,1 1 0,-1 2 0,-2 4 0,-3 4 0,-3 1 0,-3 3 0,-3-6 0,-2 2 0,-2-5 0,2 5 0,0 7 0,1 10 0,1 9 0,-1 3 0,0-6 0,-1-5 0,-2-15 0,0 0 0,0-8 0,0 3 0,0 0 0,-2 2 0,-3 0 0,-3 1 0,-4 0 0,-2-2 0,-2-3 0,0-3 0,0-3 0,1-1 0,-1 0 0,-1 0 0,3 0 0,0 0 0,3 0 0,4-2 0,0-3 0,-1-8 0,2 3 0,-1-7 0,5 1 0,0-7 0,2-4 0,0-3 0,0 3 0,4 2 0,6 6 0,5 4 0,6 3 0,-7 4 0,5 1 0,-6 5 0,3 0 0,0 5 0,-1 4 0,-1 9 0,-6-6 0,-2 5 0,-6-5 0,0 4 0,-1 2 0,-2 5 0,-5 3 0,-5 1 0,-4-1 0,-2-2 0,-3-2 0,0 0 0,-2-1 0,0-1 0,2-3 0,0-6 0,1-4 0,-2-5 0,-1 0 0,0 0 0,2-2 0,2-4 0,1-7 0,-1-9 0,1-5 0,-1-3 0,2 2 0,3 0 0,2-1 0,2-2 0,1-5 0,0 1 0,4 4 0,2 4 0,3 14 0,2 1 0,4 9 0,4-1 0,5 0 0,4-2 0,3 0 0,3 1 0,3 2 0,1 1 0,-4 2 0,-3 0 0,-5 4 0,-4 5 0,-1 6 0,-3 6 0,1 6 0,-2 1 0,-4-1 0,-1-4 0,-2-3 0,0 2 0,0 2 0,-2 3 0,-5-1 0,-4-2 0,-3-3 0,-4-2 0,-1-2 0,-1-5 0,-2-5 0,3-5 0,0-2 0,0 0 0,0-3 0,0-8 0,0-6 0,1-4 0,4 0 0,2 1 0,3 1 0,0 0 0,-2-2 0,3 7 0,0-5 0,3 6 0,1-6 0,1-6 0,1-4 0,2-4 0,0 3 0,0-1 0,0 14 0,0 1 0,0 9 0,2 1 0,3 1 0,5 3 0,10 2 0,6 0 0,4 0 0,2 0 0,-1 0 0,-3 0 0,-3 5 0,-4 7 0,-7 7 0,-5 6 0,-5 2 0,-4 1 0,0 1 0,0 0 0,0 2 0,-4-2 0,-3-2 0,-5-3 0,-3-5 0,-2-2 0,-2-3 0,1-5 0,-2-4 0,2-4 0,0-1 0,4 0 0,2 0 0,3 0 0,0 0 0,0 0 0,0-2 0,1-5 0,2-3 0,0-5 0,1 0 0,-1 3 0,1 0 0,1 3 0,2-1 0,2 1 0,0-2 0,0-5 0,0-6 0,0-3 0,0-2 0,0 4 0,3 5 0,5 2 0,5 6 0,5 3 0,3 2 0,1 3 0,2 1 0,3 1 0,-2 0 0,0 0 0,-3 0 0,-4 3 0,-4 4 0,-3 6 0,-4 4 0,-2 4 0,-1 1 0,-2 2 0,-2 3 0,0-2 0,0 0 0,-3-1 0,-4-2 0,-2 1 0,-3-3 0,1-1 0,-1 0 0,-1 0 0,-2-2 0,0-4 0,1-5 0,1-6 0,-1-2 0,-2 0 0,-5 0 0,0-3 0,2-4 0,4-6 0,6-5 0,5-4 0,-1 1 0,0-1 0,0 4 0,1 3 0,2 2 0,1 2 0,1 0 0,0-2 0,0-5 0,0-3 0,4-1 0,5 1 0,9 4 0,10 4 0,5 5 0,0 5 0,-3 2 0,-5 1 0,-3 0 0,-3 1 0,0 3 0,-2 4 0,-4 5 0,-5 3 0,-5 2 0,-1 1 0,-2-1 0,0-4 0,0-2 0,0-7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6T11:30: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241 551 24575,'-6'0'0,"-5"0"0,-3 0 0,0 0 0,3 0 0,2 0 0,2-1 0,2-5 0,1-4 0,4-2 0,1 0 0,6 1 0,8-3 0,8 0 0,4-1 0,-3 1 0,-1 2 0,-2 3 0,1 2 0,3 2 0,-3 3 0,3 1 0,0 1 0,-3 0 0,-2 0 0,-1 0 0,0 1 0,0 2 0,-2 3 0,-4 5 0,-4 1 0,-6 3 0,-3 0 0,0 2 0,0 2 0,0 3 0,0 3 0,0 2 0,-5 0 0,-10-6 0,-14-9 0,-17-6 0,-11-6 0,0-8 0,9-8 0,17-9 0,15-8 0,10-3 0,6-4 0,0 1 0,0 4 0,6 4 0,3 5 0,5-1 0,2 4 0,1 4 0,2 4 0,-1 7 0,4 3 0,2 3 0,1 2 0,2 0 0,-3 0 0,-2 2 0,0 9 0,-6 5 0,-5 4 0,-5 2 0,-5-3 0,-1 0 0,0 0 0,-1 3 0,-3 2 0,-5 6 0,-7 1 0,-7-7 0,-9-9 0,-15-9 0,-13-7 0,-2-11 0,5-11 0,17-13 0,17-8 0,13-4 0,8 1 0,2 2 0,5 2 0,6 1 0,6-1 0,4 0 0,0 2 0,2 8 0,1 11 0,1 12 0,-1 7 0,-3 3 0,-1 0 0,-2 0 0,-3 5 0,-6 5 0,-5 5 0,-4 8 0,0 3 0,-3 4 0,-2 2 0,-2-1 0,-4 0 0,-1-1 0,0-2 0,-3-4 0,-7-5 0,-6-9 0,-5-14 0,2-18 0,10-10 0,10-5 0,6 5 0,4 7 0,1 1 0,0 2 0,0 0 0,2 1 0,9 5 0,11 2 0,10 5 0,7 4 0,2 3 0,1 2 0,-3 2 0,-4 4 0,-7 4 0,-6 2 0,-7 2 0,-5 1 0,-6 9 0,-4 9 0,0 8 0,2 4 0,1-6 0,0-5 0,-1-4 0,-2-2 0,-4 2 0,-6-1 0,-5-1 0,-7-5 0,-3-8 0,-6-8 0,-8-5 0,-4-2 0,-2-1 0,3-7 0,10-13 0,9-14 0,11-15 0,6-8 0,6-2 0,5 4 0,11 9 0,12 10 0,8 9 0,3 9 0,-3 8 0,-2 7 0,-5 2 0,0 4 0,-2 4 0,-1 9 0,-1 4 0,-4 3 0,-6 0 0,-4 0 0,-1 6 0,-4 5 0,1 7 0,-2 0 0,-2-4 0,-2-7 0,-1-7 0,0-1 0,-2 4 0,-6 3 0,-5 2 0,-7-3 0,-3-3 0,-2-3 0,-5-7 0,0-6 0,-2-4 0,1-10 0,2-14 0,0-21 0,-1-18 0,1-7 0,4 6 0,9 12 0,9 11 0,6 15 0,4 0 0,9 8 0,9-3 0,8 1 0,4 6 0,-2 4 0,-1 4 0,-2 2 0,-4 0 0,-2 0 0,-4 5 0,1 5 0,-4 6 0,-4 6 0,-3 0 0,-3 2 0,-3 2 0,0 4 0,-2 2 0,0 1 0,0-3 0,-2-5 0,-8-3 0,-6-5 0,-11-1 0,-7-2 0,-1-5 0,-2-3 0,3-3 0,3-3 0,0-9 0,0-19 0,-2-20 0,3-19 0,7-1 0,10 9 0,9 12 0,4 14 0,1 7 0,5 6 0,5 7 0,5 6 0,5 4 0,3 2 0,4 1 0,2 0 0,-2 0 0,-4 1 0,-3 6 0,-2 7 0,1 10 0,-4 3 0,-5-1 0,-5-3 0,-6-4 0,0 1 0,0 1 0,0 6 0,0 1 0,-1 1 0,-5-2 0,-7-5 0,-5-3 0,-7-3 0,0-5 0,-2-6 0,-3-2 0,3-3 0,4 0 0,1 0 0,11 0 0,-3-1 0,6-2 0,-6-7 0,5 2 0,-4-8 0,7 2 0,-3-6 0,2-6 0,0-8 0,1-4 0,3-1 0,1 4 0,2 6 0,0 12 0,3-2 0,5 8 0,6-4 0,7 0 0,1 4 0,2 4 0,-1 4 0,-1 3 0,-1 0 0,-2 0 0,0 0 0,-2 1 0,-1 5 0,-4 4 0,-4 5 0,-1 4 0,-3 0 0,1 2 0,0 1 0,-1 2 0,-2 0 0,-2-2 0,0 0 0,0 0 0,-1 0 0,-2-1 0,-5 0 0,-5-3 0,-1-2 0,-2-1 0,-1-5 0,-4-4 0,7-4 0,-3-2 0,4 0 0,4 0 0,-8 0 0,5-3 0,-2-5 0,2-5 0,3-7 0,0-3 0,0 1 0,-3-3 0,6 11 0,0-8 0,6 15 0,0-7 0,0 5 0,0-3 0,0-1 0,0-1 0,4-2 0,4-1 0,11 0 0,8 5 0,4 3 0,1 4 0,-1 2 0,0 1 0,1 2 0,-1 0 0,-2 2 0,-2 4 0,-6 3 0,-3 5 0,-3 2 0,-6 5 0,-4-8 0,-3 5 0,-2-6 0,0-2 0,0 8 0,0-10 0,0 8 0,-2-6 0,0 2 0,-3 2 0,-1 0 0,-3 2 0,-3-2 0,-2-3 0,-2-2 0,-1-4 0,-3-3 0,-2-2 0,1 0 0,-1 0 0,3-4 0,3-4 0,-1-6 0,1-5 0,-3 1 0,1-5 0,6 10 0,0-4 0,7 7 0,-3-3 0,0-2 0,-1 1 0,1 2 0,3 3 0,0 2 0,-1 2 0,1-2 0,0 4 0,0-4 0,2 3 0,1-4 0,2-2 0,0-2 0,0-2 0,0-1 0,2 0 0,4 2 0,6 3 0,4 2 0,3 6 0,-1-1 0,-2 3 0,3 0 0,-8 1 0,3 2 0,-10 5 0,1 7 0,-3 9 0,-1 9 0,-1 6 0,0 0 0,-1-2 0,-1-8 0,-5-5 0,-3-3 0,-4-5 0,-3-3 0,-3-5 0,-1-4 0,2-2 0,3-2 0,6 0 0,4-1 0,2-4 0,-4-12 0,3 6 0,-4-11 0,3 11 0,2 1 0,1-1 0,1 7 0,0-4 0,-2-3 0,-3-4 0,1-3 0,0 0 0,1-2 0,3 2 0,0-1 0,2-3 0,0 9 0,0-3 0,1 11 0,3 1 0,3 3 0,4 1 0,2 0 0,-1 0 0,-4 2 0,-3 4 0,-4 4 0,-4 4 0,-2 3 0,-8 1 0,-5-2 0,-3-4 0,0-4 0,5-1 0,6-4 0,2 6 0,6-7 0,0 7 0,0-1 0,-1 3 0,1-1 0,0 1 0,2-2 0,0 0 0,0 0 0,0 2 0,0-4 0,0 5 0,0-2 0,0 7 0,1-5 0,4 3 0,0-7 0,1 0 0,0 0 0,1-2 0,4 1 0,1-1 0,1-1 0,-3-2 0,-1 1 0,2-1 0,2 1 0,5 2 0,4 1 0,0-1 0,0-1 0,-2-3 0,-3-1 0,-3-1 0,-5-2 0,-2-5 0,-1-3 0,2-2 0,2 0 0,0 6 0,4-2 0,-5 5 0,2-3 0,-7 0 0,1-3 0,-3-2 0,3-1 0,-4 3 0,3-2 0,-4 2 0,1-1 0,2-3 0,0 6 0,2-2 0,-2 6 0,2 0 0,0 0 0,1 0 0,3 1 0,-1 2 0,2 0 0,-4 0 0,2 0 0,-2 0 0,1 0 0,-1 0 0,-1 0 0,0 1 0,-3 6 0,-2 4 0,0 10 0,0 6 0,0 1 0,0 0 0,0-5 0,-2-10 0,-3 1 0,-6-8 0,-4 3 0,-3 1 0,1 0 0,-1-1 0,-2-2 0,0-2 0,-2-3 0,0-2 0,-2 0 0,-1 0 0,3-2 0,6-4 0,4-3 0,2-4 0,0-3 0,1 0 0,-1-5 0,2-1 0,3 0 0,3 1 0,2 8 0,0 3 0,0 2 0,0 1 0,0-2 0,0-1 0,0-1 0,-1-1 0,-2-4 0,0 8 0,-3 1 0,0 14 0,-3 0 0,2 0 0,2-1 0,2 1 0,3 8 0,0-5 0,0 8 0,0-6 0,0 3 0,0 2 0,0 1 0,0 2 0,0 0 0,0-2 0,0-6 0,2-5 0,4-3 0,1-2 0,2-2 0,0-1 0,0-3 0,4-1 0,2 1 0,2-1 0,1 2 0,-1-2 0,0 1 0,-1 1 0,1 1 0,2 2 0,0 0 0,0 0 0,-2 0 0,-3 0 0,-2 0 0,-2-4 0,-1-7 0,1-6 0,1-4 0,-1 3 0,4 2 0,-7 7 0,4 0 0,-8 4 0,1 1 0,2 2 0,-2 0 0,2 2 0,0 0 0,-2 0 0,0 2 0,-2 4 0,-2 5 0,0 3 0,0 1 0,0-3 0,0 0 0,0 0 0,0 3 0,0-4 0,0 2 0,0-6 0,-1 2 0,-6-2 0,-4 4 0,-6 0 0,-2 0 0,0-2 0,-1-4 0,1-3 0,-3-2 0,-2 0 0,-1 0 0,1 0 0,6-1 0,4-2 0,5-2 0,2-2 0,2-3 0,-1-3 0,-3-5 0,3 4 0,-1-4 0,4 8 0,1-3 0,2-1 0,0-4 0,0-4 0,0-3 0,0 0 0,0 6 0,0 5 0,2 4 0,3 4 0,5 1 0,5 0 0,3 2 0,2 1 0,4 1 0,4 1 0,0 0 0,-3 0 0,-1 0 0,-2 2 0,0 6 0,-2 4 0,-4 5 0,-5 1 0,-5-4 0,-5-2 0,-1 0 0,0-1 0,0 3 0,0 2 0,0 0 0,0 6 0,-2-9 0,-1 3 0,-3-8 0,-1 5 0,-2 3 0,-1 2 0,1-1 0,-2-3 0,0-2 0,-6-3 0,-4 0 0,-7-2 0,-2-2 0,1-3 0,-1-2 0,0 0 0,0 0 0,1-1 0,1-5 0,5-3 0,7-4 0,4-1 0,2 0 0,-1-6 0,4 8 0,-4-7 0,6 4 0,1-7 0,2-6 0,2-3 0,0-5 0,0-2 0,0 1 0,0 3 0,1 9 0,3 8 0,8 7 0,8 5 0,8 3 0,5 2 0,1 0 0,3 0 0,2 0 0,-1 2 0,0 3 0,-2 3 0,-4 4 0,-2 2 0,-5 1 0,-6 2 0,-6-3 0,-7 0 0,-4 0 0,-2 0 0,0 2 0,0 1 0,0 2 0,0 0 0,0-1 0,0 1 0,0-7 0,0 1 0,0-3 0,0 4 0,-1 4 0,-4 0 0,-4-2 0,-4-3 0,-3-3 0,-4-4 0,-2-3 0,-5-1 0,-3-2 0,0-1 0,1-7 0,7-7 0,4-11 0,6-8 0,3-1 0,3 1 0,0 3 0,1 6 0,2 6 0,1-2 0,2 9 0,0-6 0,0 6 0,1-6 0,5-3 0,5 1 0,6 3 0,5 5 0,-1 5 0,3 4 0,0 2 0,0 1 0,1 0 0,-3 0 0,-1 0 0,-2 0 0,-2 2 0,0 1 0,-3 2 0,-2 2 0,-1 0 0,-3 3 0,-1 4 0,1 3 0,-1 4 0,0 3 0,0 1 0,-2 1 0,-3-11 0,-1-2 0,-1-8 0,0 3 0,0 1 0,-2 4 0,-4 2 0,0-6 0,-6-1 0,7-8 0,-6 0 0,3 0 0,-4 0 0,1 0 0,1 0 0,2-5 0,2-12 0,2-11 0,-1-10 0,-2-3 0,-1 1 0,3 18 0,0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6T11:30: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219 158 24575,'5'4'0,"-3"6"0,0 7 0,-2 5 0,0 4 0,0 4 0,0 1 0,3 2 0,-1-4 0,0-5 0,0-5 0,-2-4 0,0-4 0,0 1 0,0 0 0,-1-3 0,-1 3 0,-2-7 0,-2 0 0,-3-3 0,-3-2 0,-1 0 0,-3 0 0,-2 0 0,-4 0 0,9-5 0,-5-14 0,9-16 0,-5-13 0,-2-5 0,0 5 0,0 6 0,5 6 0,1 3 0,4 2 0,3 1 0,1 3 0,2 2 0,0 5 0,0 7 0,2 3 0,5 4 0,9 4 0,8 0 0,4 2 0,-3 0 0,-3 2 0,-3 5 0,-2 6 0,-2 7 0,-5 8 0,-3 6 0,-3 5 0,-2-2 0,-2-6 0,0-5 0,0-5 0,-3-2 0,-3-1 0,-4 1 0,0 0 0,0-1 0,5-8 0,-3-3 0,2-7 0,-1 0 0,1 0 0,-3-14 0,6 11 0,-4-11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6T11:30: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24575,'0'4'0,"0"0"0,0 2 0,0-1 0,0 1 0,0-2 0,0 0 0,0 0 0,0-1 0,0-1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24A5-F0C5-4B72-8135-2FAC1AE300C9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ECDA-B852-4CA6-98F9-FDA299AD4F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封面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章节页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根据前序和中序（排序可得）重构二叉树，检查是否</a:t>
            </a:r>
            <a:r>
              <a:rPr kumimoji="1" lang="en-US" altLang="zh-CN" dirty="0"/>
              <a:t>BST</a:t>
            </a:r>
            <a:r>
              <a:rPr kumimoji="1" lang="zh-CN" altLang="en-US" dirty="0"/>
              <a:t>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1" hangingPunct="1"/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87045E-0404-46AF-815E-91B023107310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1" hangingPunct="1"/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87045E-0404-46AF-815E-91B023107310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12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1" hangingPunct="1"/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87045E-0404-46AF-815E-91B023107310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5767F9-38EC-44CE-A7AC-BEAA3248D14A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14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1" hangingPunct="1"/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87045E-0404-46AF-815E-91B023107310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1" hangingPunct="1"/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87045E-0404-46AF-815E-91B023107310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D77DA8-E2C4-4F8B-8C31-EE68D7C4CD9C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D77DA8-E2C4-4F8B-8C31-EE68D7C4CD9C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D77DA8-E2C4-4F8B-8C31-EE68D7C4CD9C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D77DA8-E2C4-4F8B-8C31-EE68D7C4CD9C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24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替换结点最多只有一个子结点，且前驱没有右子结点（最大值），后继没有左子结点（最小值）。</a:t>
            </a: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D77DA8-E2C4-4F8B-8C31-EE68D7C4CD9C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替换结点最多只有一个子结点，且前驱没有右子结点（最大值），后继没有左子结点（最小值）。</a:t>
            </a: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BD77DA8-E2C4-4F8B-8C31-EE68D7C4CD9C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1" hangingPunct="1"/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87045E-0404-46AF-815E-91B023107310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2" eaLnBrk="1" hangingPunct="1"/>
            <a:endParaRPr lang="zh-CN" altLang="en-US" dirty="0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87045E-0404-46AF-815E-91B023107310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29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9375" y="739775"/>
            <a:ext cx="6578600" cy="3702050"/>
          </a:xfrm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66F69A-3E95-4601-B9B1-1B255FFFA78F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32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84225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（深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6"/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10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7DC2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rgbClr val="C1E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84250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109" y="6483552"/>
            <a:ext cx="1647783" cy="2450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8754004" y="255456"/>
            <a:ext cx="32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spc="12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lang="zh-CN" altLang="zh-CN" sz="1200" spc="12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4" name="六边形 3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平行四边形 7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572335" y="230736"/>
            <a:ext cx="6324687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B7C6D-AA44-4565-9E0D-EC50BDFCB3F7}" type="datetime1">
              <a:rPr lang="zh-CN" altLang="en-US"/>
              <a:t>2026/1/12</a:t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B2C2F-086E-4C6B-9B45-2449801C25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1582400" cy="9937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4AB4C-C7D7-4F65-965C-93E9CD26219E}" type="datetime1">
              <a:rPr lang="zh-CN" altLang="en-US">
                <a:solidFill>
                  <a:srgbClr val="010000"/>
                </a:solidFill>
              </a:rPr>
              <a:t>2026/1/12</a:t>
            </a:fld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1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EB13D-5EF1-4BCD-B429-801BC378B348}" type="slidenum">
              <a:rPr lang="en-US" altLang="zh-CN">
                <a:solidFill>
                  <a:srgbClr val="010000"/>
                </a:solidFill>
              </a:rPr>
              <a:t>‹#›</a:t>
            </a:fld>
            <a:endParaRPr lang="en-US" altLang="zh-CN">
              <a:solidFill>
                <a:srgbClr val="01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E56C6-9774-47FC-A39E-CCCBDFE7815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8200-D7D1-4D60-9004-3F0BBDC27A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56C6-9774-47FC-A39E-CCCBDFE7815A}" type="datetimeFigureOut">
              <a:rPr lang="zh-CN" altLang="en-US" smtClean="0"/>
              <a:t>2026/1/12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C8200-D7D1-4D60-9004-3F0BBDC27A7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8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8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notesSlide" Target="../notesSlides/notesSlide4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6.wav"/><Relationship Id="rId5" Type="http://schemas.openxmlformats.org/officeDocument/2006/relationships/audio" Target="../media/audio5.wav"/><Relationship Id="rId4" Type="http://schemas.openxmlformats.org/officeDocument/2006/relationships/audio" Target="../media/audio4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customXml" Target="../ink/ink2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slideLayout" Target="../slideLayouts/slideLayout8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20" Type="http://schemas.openxmlformats.org/officeDocument/2006/relationships/image" Target="../media/image8.png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image" Target="../media/image14.png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6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-46319"/>
            <a:ext cx="12192000" cy="57165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8" t="60187" r="62545" b="13687"/>
          <a:stretch>
            <a:fillRect/>
          </a:stretch>
        </p:blipFill>
        <p:spPr>
          <a:xfrm flipH="1" flipV="1">
            <a:off x="8544560" y="5394960"/>
            <a:ext cx="3677920" cy="14935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132080" y="4453337"/>
            <a:ext cx="9165288" cy="254690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-905689" y="342255"/>
            <a:ext cx="14873910" cy="7227071"/>
            <a:chOff x="2275139" y="1708487"/>
            <a:chExt cx="7788686" cy="3784438"/>
          </a:xfrm>
        </p:grpSpPr>
        <p:sp>
          <p:nvSpPr>
            <p:cNvPr id="9" name="六边形 8"/>
            <p:cNvSpPr/>
            <p:nvPr/>
          </p:nvSpPr>
          <p:spPr>
            <a:xfrm rot="5400000">
              <a:off x="5811401" y="1880190"/>
              <a:ext cx="3784438" cy="3441032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77000">
                  <a:srgbClr val="016773"/>
                </a:gs>
                <a:gs pos="100000">
                  <a:srgbClr val="00768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rot="19714174">
              <a:off x="7064019" y="3212601"/>
              <a:ext cx="2999806" cy="1616793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单圆角矩形 10"/>
            <p:cNvSpPr/>
            <p:nvPr/>
          </p:nvSpPr>
          <p:spPr>
            <a:xfrm>
              <a:off x="2275139" y="3590090"/>
              <a:ext cx="5733603" cy="45719"/>
            </a:xfrm>
            <a:prstGeom prst="round1Rect">
              <a:avLst/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27158" y="2057400"/>
            <a:ext cx="6737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数据结构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98664" y="342255"/>
            <a:ext cx="3015569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计算机领域本科教育教学改革试点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工作计划（“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计划”）研究成果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65" y="231750"/>
            <a:ext cx="701051" cy="80848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34782" y="4299065"/>
            <a:ext cx="4122438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俞勇、张铭、陈越、韩文弢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16738" y="4985017"/>
            <a:ext cx="6158524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上海交通大学、北京大学、浙江大学、清华大学</a:t>
            </a:r>
          </a:p>
        </p:txBody>
      </p:sp>
      <p:sp>
        <p:nvSpPr>
          <p:cNvPr id="19" name="文本框 18"/>
          <p:cNvSpPr txBox="1"/>
          <p:nvPr/>
        </p:nvSpPr>
        <p:spPr>
          <a:xfrm rot="1849986">
            <a:off x="8195789" y="49084"/>
            <a:ext cx="4944370" cy="2163608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isometricTopUp">
                <a:rot lat="19176265" lon="2388000" rev="19890000"/>
              </a:camera>
              <a:lightRig rig="threePt" dir="t"/>
            </a:scene3d>
          </a:bodyPr>
          <a:lstStyle/>
          <a:p>
            <a:pPr algn="ctr"/>
            <a:r>
              <a:rPr lang="en-US" altLang="zh-CN" sz="199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  <a:ea typeface="Segoe UI Black" panose="020B0A02040204020203" pitchFamily="34" charset="0"/>
              </a:rPr>
              <a:t>101</a:t>
            </a:r>
            <a:endParaRPr lang="zh-CN" altLang="en-US" sz="19900" b="1" dirty="0">
              <a:gradFill>
                <a:gsLst>
                  <a:gs pos="30000">
                    <a:srgbClr val="007684"/>
                  </a:gs>
                  <a:gs pos="83000">
                    <a:srgbClr val="016773"/>
                  </a:gs>
                </a:gsLst>
                <a:lin ang="5400000" scaled="0"/>
              </a:gradFill>
              <a:latin typeface="Bauhaus 93" panose="04030905020B02020C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图片 12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0001700" y="2854959"/>
            <a:ext cx="2268815" cy="2101347"/>
            <a:chOff x="6175344" y="342254"/>
            <a:chExt cx="7803037" cy="7227071"/>
          </a:xfrm>
        </p:grpSpPr>
        <p:sp>
          <p:nvSpPr>
            <p:cNvPr id="19" name="六边形 18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863825" y="4346576"/>
            <a:ext cx="2963878" cy="2745105"/>
            <a:chOff x="6175344" y="342254"/>
            <a:chExt cx="7803037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3885299" y="3439840"/>
            <a:ext cx="44214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11.2 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二叉查找树</a:t>
            </a:r>
          </a:p>
        </p:txBody>
      </p:sp>
      <p:sp>
        <p:nvSpPr>
          <p:cNvPr id="8" name="矩形 7"/>
          <p:cNvSpPr/>
          <p:nvPr/>
        </p:nvSpPr>
        <p:spPr>
          <a:xfrm>
            <a:off x="4588217" y="2445722"/>
            <a:ext cx="30155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3024554" y="3265946"/>
            <a:ext cx="6116350" cy="0"/>
          </a:xfrm>
          <a:prstGeom prst="line">
            <a:avLst/>
          </a:prstGeom>
          <a:ln w="22225">
            <a:solidFill>
              <a:schemeClr val="bg1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221671" y="2179434"/>
            <a:ext cx="7748658" cy="2397279"/>
            <a:chOff x="2221671" y="2179434"/>
            <a:chExt cx="7748658" cy="2397279"/>
          </a:xfrm>
        </p:grpSpPr>
        <p:sp>
          <p:nvSpPr>
            <p:cNvPr id="6" name="标题 9801"/>
            <p:cNvSpPr txBox="1"/>
            <p:nvPr/>
          </p:nvSpPr>
          <p:spPr>
            <a:xfrm rot="16200000">
              <a:off x="8719085" y="3325468"/>
              <a:ext cx="2397277" cy="105210"/>
            </a:xfrm>
            <a:prstGeom prst="parallelogram">
              <a:avLst>
                <a:gd name="adj" fmla="val 98875"/>
              </a:avLst>
            </a:prstGeom>
            <a:gradFill flip="none" rotWithShape="1">
              <a:gsLst>
                <a:gs pos="100000">
                  <a:srgbClr val="016773"/>
                </a:gs>
                <a:gs pos="0">
                  <a:srgbClr val="00ABA5"/>
                </a:gs>
              </a:gsLst>
              <a:lin ang="6000000" scaled="0"/>
              <a:tileRect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0" name="标题 9801"/>
            <p:cNvSpPr txBox="1"/>
            <p:nvPr/>
          </p:nvSpPr>
          <p:spPr>
            <a:xfrm flipH="1">
              <a:off x="2221671" y="4468236"/>
              <a:ext cx="7748657" cy="108477"/>
            </a:xfrm>
            <a:prstGeom prst="parallelogram">
              <a:avLst>
                <a:gd name="adj" fmla="val 102209"/>
              </a:avLst>
            </a:prstGeom>
            <a:gradFill>
              <a:gsLst>
                <a:gs pos="55000">
                  <a:srgbClr val="016773"/>
                </a:gs>
                <a:gs pos="0">
                  <a:srgbClr val="00ABA5"/>
                </a:gs>
                <a:gs pos="100000">
                  <a:srgbClr val="00ABA5"/>
                </a:gs>
              </a:gsLst>
              <a:lin ang="6000000" scaled="0"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2221671" y="2179434"/>
              <a:ext cx="76428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 flipH="1">
              <a:off x="10768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2222317" y="4468236"/>
              <a:ext cx="7642800" cy="0"/>
            </a:xfrm>
            <a:prstGeom prst="line">
              <a:avLst/>
            </a:prstGeom>
            <a:ln w="15875" cap="rnd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3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5400000" flipH="1">
              <a:off x="87196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8933514" y="5200219"/>
            <a:ext cx="1549536" cy="1435160"/>
            <a:chOff x="6175344" y="342254"/>
            <a:chExt cx="7803037" cy="7227071"/>
          </a:xfrm>
        </p:grpSpPr>
        <p:sp>
          <p:nvSpPr>
            <p:cNvPr id="22" name="六边形 2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25" name="六边形 2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28" name="六边形 2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034782" y="4861769"/>
            <a:ext cx="4122438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林劼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016738" y="5305446"/>
            <a:ext cx="6158524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电子科技大学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1019425" y="4784103"/>
            <a:ext cx="9165288" cy="2546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49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9801"/>
          <p:cNvSpPr txBox="1"/>
          <p:nvPr/>
        </p:nvSpPr>
        <p:spPr>
          <a:xfrm flipV="1">
            <a:off x="0" y="729000"/>
            <a:ext cx="11615165" cy="5400000"/>
          </a:xfrm>
          <a:prstGeom prst="cube">
            <a:avLst>
              <a:gd name="adj" fmla="val 1804"/>
            </a:avLst>
          </a:prstGeom>
          <a:pattFill prst="ltHorz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/>
          </a:p>
        </p:txBody>
      </p:sp>
      <p:sp>
        <p:nvSpPr>
          <p:cNvPr id="5" name="六边形 4"/>
          <p:cNvSpPr/>
          <p:nvPr/>
        </p:nvSpPr>
        <p:spPr>
          <a:xfrm rot="5400000">
            <a:off x="-5678865" y="-723361"/>
            <a:ext cx="9564253" cy="8696378"/>
          </a:xfrm>
          <a:prstGeom prst="hexagon">
            <a:avLst>
              <a:gd name="adj" fmla="val 30493"/>
              <a:gd name="vf" fmla="val 115470"/>
            </a:avLst>
          </a:prstGeom>
          <a:gradFill>
            <a:gsLst>
              <a:gs pos="77000">
                <a:srgbClr val="016773"/>
              </a:gs>
              <a:gs pos="100000">
                <a:srgbClr val="007684"/>
              </a:gs>
            </a:gsLst>
            <a:lin ang="5400000" scaled="0"/>
          </a:gradFill>
          <a:ln>
            <a:noFill/>
          </a:ln>
          <a:effectLst>
            <a:outerShdw blurRad="698500" dist="165100" algn="l" rotWithShape="0">
              <a:srgbClr val="013F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rot="19714174">
            <a:off x="-2503449" y="2643987"/>
            <a:ext cx="7581286" cy="4086054"/>
          </a:xfrm>
          <a:prstGeom prst="parallelogram">
            <a:avLst>
              <a:gd name="adj" fmla="val 61032"/>
            </a:avLst>
          </a:prstGeom>
          <a:solidFill>
            <a:srgbClr val="00AB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20891" y="2740372"/>
            <a:ext cx="540023" cy="1384403"/>
          </a:xfrm>
          <a:custGeom>
            <a:avLst/>
            <a:gdLst/>
            <a:ahLst/>
            <a:cxnLst/>
            <a:rect l="l" t="t" r="r" b="b"/>
            <a:pathLst>
              <a:path w="540023" h="1384403">
                <a:moveTo>
                  <a:pt x="195374" y="1232620"/>
                </a:moveTo>
                <a:lnTo>
                  <a:pt x="204155" y="1247987"/>
                </a:lnTo>
                <a:cubicBezTo>
                  <a:pt x="132445" y="1288964"/>
                  <a:pt x="80491" y="1317502"/>
                  <a:pt x="48295" y="1333600"/>
                </a:cubicBezTo>
                <a:cubicBezTo>
                  <a:pt x="42441" y="1337991"/>
                  <a:pt x="37319" y="1336527"/>
                  <a:pt x="32928" y="1329210"/>
                </a:cubicBezTo>
                <a:cubicBezTo>
                  <a:pt x="27074" y="1321892"/>
                  <a:pt x="16830" y="1305062"/>
                  <a:pt x="2195" y="1278720"/>
                </a:cubicBezTo>
                <a:cubicBezTo>
                  <a:pt x="732" y="1277256"/>
                  <a:pt x="0" y="1275793"/>
                  <a:pt x="0" y="1274329"/>
                </a:cubicBezTo>
                <a:close/>
                <a:moveTo>
                  <a:pt x="458800" y="863824"/>
                </a:moveTo>
                <a:cubicBezTo>
                  <a:pt x="460264" y="862361"/>
                  <a:pt x="463190" y="863092"/>
                  <a:pt x="467581" y="866019"/>
                </a:cubicBezTo>
                <a:cubicBezTo>
                  <a:pt x="470508" y="867483"/>
                  <a:pt x="474167" y="870410"/>
                  <a:pt x="478557" y="874800"/>
                </a:cubicBezTo>
                <a:cubicBezTo>
                  <a:pt x="500509" y="892362"/>
                  <a:pt x="515144" y="903338"/>
                  <a:pt x="522461" y="907728"/>
                </a:cubicBezTo>
                <a:cubicBezTo>
                  <a:pt x="528315" y="912119"/>
                  <a:pt x="530510" y="915778"/>
                  <a:pt x="529047" y="918705"/>
                </a:cubicBezTo>
                <a:cubicBezTo>
                  <a:pt x="529047" y="920168"/>
                  <a:pt x="526120" y="922363"/>
                  <a:pt x="520266" y="925290"/>
                </a:cubicBezTo>
                <a:cubicBezTo>
                  <a:pt x="511485" y="928217"/>
                  <a:pt x="507826" y="934071"/>
                  <a:pt x="509290" y="942852"/>
                </a:cubicBezTo>
                <a:cubicBezTo>
                  <a:pt x="509290" y="1112615"/>
                  <a:pt x="508558" y="1223839"/>
                  <a:pt x="507095" y="1276525"/>
                </a:cubicBezTo>
                <a:cubicBezTo>
                  <a:pt x="507095" y="1314575"/>
                  <a:pt x="500509" y="1336527"/>
                  <a:pt x="487338" y="1342381"/>
                </a:cubicBezTo>
                <a:cubicBezTo>
                  <a:pt x="477093" y="1351162"/>
                  <a:pt x="467581" y="1361406"/>
                  <a:pt x="458800" y="1373114"/>
                </a:cubicBezTo>
                <a:cubicBezTo>
                  <a:pt x="450019" y="1381895"/>
                  <a:pt x="442702" y="1385554"/>
                  <a:pt x="436848" y="1384090"/>
                </a:cubicBezTo>
                <a:cubicBezTo>
                  <a:pt x="432457" y="1381163"/>
                  <a:pt x="430994" y="1373846"/>
                  <a:pt x="432457" y="1362138"/>
                </a:cubicBezTo>
                <a:cubicBezTo>
                  <a:pt x="436848" y="1347503"/>
                  <a:pt x="433921" y="1337259"/>
                  <a:pt x="423677" y="1331405"/>
                </a:cubicBezTo>
                <a:cubicBezTo>
                  <a:pt x="413432" y="1321161"/>
                  <a:pt x="392212" y="1307989"/>
                  <a:pt x="360015" y="1291891"/>
                </a:cubicBezTo>
                <a:lnTo>
                  <a:pt x="366601" y="1278720"/>
                </a:lnTo>
                <a:lnTo>
                  <a:pt x="443434" y="1294086"/>
                </a:lnTo>
                <a:cubicBezTo>
                  <a:pt x="447824" y="1276525"/>
                  <a:pt x="450019" y="1152861"/>
                  <a:pt x="450019" y="923095"/>
                </a:cubicBezTo>
                <a:lnTo>
                  <a:pt x="278792" y="929681"/>
                </a:lnTo>
                <a:lnTo>
                  <a:pt x="274402" y="1221644"/>
                </a:lnTo>
                <a:cubicBezTo>
                  <a:pt x="302208" y="1173349"/>
                  <a:pt x="323428" y="1130177"/>
                  <a:pt x="338063" y="1092127"/>
                </a:cubicBezTo>
                <a:cubicBezTo>
                  <a:pt x="323428" y="1061394"/>
                  <a:pt x="305135" y="1027002"/>
                  <a:pt x="283183" y="988951"/>
                </a:cubicBezTo>
                <a:lnTo>
                  <a:pt x="296354" y="980171"/>
                </a:lnTo>
                <a:cubicBezTo>
                  <a:pt x="318306" y="1005050"/>
                  <a:pt x="337332" y="1028465"/>
                  <a:pt x="353430" y="1050417"/>
                </a:cubicBezTo>
                <a:cubicBezTo>
                  <a:pt x="357820" y="1038710"/>
                  <a:pt x="362211" y="1026270"/>
                  <a:pt x="366601" y="1013099"/>
                </a:cubicBezTo>
                <a:cubicBezTo>
                  <a:pt x="373918" y="986756"/>
                  <a:pt x="378309" y="966999"/>
                  <a:pt x="379772" y="953828"/>
                </a:cubicBezTo>
                <a:cubicBezTo>
                  <a:pt x="379772" y="947974"/>
                  <a:pt x="384163" y="947242"/>
                  <a:pt x="392944" y="951633"/>
                </a:cubicBezTo>
                <a:cubicBezTo>
                  <a:pt x="397334" y="956023"/>
                  <a:pt x="406847" y="961877"/>
                  <a:pt x="421481" y="969194"/>
                </a:cubicBezTo>
                <a:cubicBezTo>
                  <a:pt x="427335" y="972121"/>
                  <a:pt x="430994" y="974317"/>
                  <a:pt x="432457" y="975780"/>
                </a:cubicBezTo>
                <a:cubicBezTo>
                  <a:pt x="436848" y="977244"/>
                  <a:pt x="436848" y="983098"/>
                  <a:pt x="432457" y="993342"/>
                </a:cubicBezTo>
                <a:cubicBezTo>
                  <a:pt x="430994" y="997732"/>
                  <a:pt x="428067" y="1004318"/>
                  <a:pt x="423677" y="1013099"/>
                </a:cubicBezTo>
                <a:cubicBezTo>
                  <a:pt x="420750" y="1021880"/>
                  <a:pt x="417823" y="1028465"/>
                  <a:pt x="414896" y="1032856"/>
                </a:cubicBezTo>
                <a:cubicBezTo>
                  <a:pt x="406115" y="1054808"/>
                  <a:pt x="397334" y="1075297"/>
                  <a:pt x="388553" y="1094322"/>
                </a:cubicBezTo>
                <a:cubicBezTo>
                  <a:pt x="413432" y="1127982"/>
                  <a:pt x="430994" y="1153593"/>
                  <a:pt x="441238" y="1171154"/>
                </a:cubicBezTo>
                <a:cubicBezTo>
                  <a:pt x="448556" y="1182862"/>
                  <a:pt x="448556" y="1193838"/>
                  <a:pt x="441238" y="1204082"/>
                </a:cubicBezTo>
                <a:cubicBezTo>
                  <a:pt x="429531" y="1224571"/>
                  <a:pt x="417823" y="1239206"/>
                  <a:pt x="406115" y="1247987"/>
                </a:cubicBezTo>
                <a:cubicBezTo>
                  <a:pt x="391480" y="1211400"/>
                  <a:pt x="376845" y="1175545"/>
                  <a:pt x="362211" y="1140421"/>
                </a:cubicBezTo>
                <a:cubicBezTo>
                  <a:pt x="338795" y="1179935"/>
                  <a:pt x="308794" y="1216522"/>
                  <a:pt x="272207" y="1250182"/>
                </a:cubicBezTo>
                <a:lnTo>
                  <a:pt x="272207" y="1337991"/>
                </a:lnTo>
                <a:cubicBezTo>
                  <a:pt x="272207" y="1346771"/>
                  <a:pt x="269280" y="1351894"/>
                  <a:pt x="263426" y="1353357"/>
                </a:cubicBezTo>
                <a:cubicBezTo>
                  <a:pt x="248791" y="1363602"/>
                  <a:pt x="234156" y="1370919"/>
                  <a:pt x="219522" y="1375309"/>
                </a:cubicBezTo>
                <a:cubicBezTo>
                  <a:pt x="212204" y="1376773"/>
                  <a:pt x="209277" y="1373846"/>
                  <a:pt x="210741" y="1366528"/>
                </a:cubicBezTo>
                <a:cubicBezTo>
                  <a:pt x="213668" y="1307989"/>
                  <a:pt x="216595" y="1202619"/>
                  <a:pt x="219522" y="1050417"/>
                </a:cubicBezTo>
                <a:cubicBezTo>
                  <a:pt x="220985" y="1005050"/>
                  <a:pt x="221717" y="975048"/>
                  <a:pt x="221717" y="960414"/>
                </a:cubicBezTo>
                <a:cubicBezTo>
                  <a:pt x="221717" y="932608"/>
                  <a:pt x="221717" y="906265"/>
                  <a:pt x="221717" y="881386"/>
                </a:cubicBezTo>
                <a:cubicBezTo>
                  <a:pt x="221717" y="876995"/>
                  <a:pt x="222449" y="874800"/>
                  <a:pt x="223912" y="874800"/>
                </a:cubicBezTo>
                <a:cubicBezTo>
                  <a:pt x="223912" y="873337"/>
                  <a:pt x="226107" y="873337"/>
                  <a:pt x="230498" y="874800"/>
                </a:cubicBezTo>
                <a:cubicBezTo>
                  <a:pt x="242206" y="879191"/>
                  <a:pt x="259035" y="887972"/>
                  <a:pt x="280988" y="901143"/>
                </a:cubicBezTo>
                <a:lnTo>
                  <a:pt x="434653" y="894557"/>
                </a:lnTo>
                <a:cubicBezTo>
                  <a:pt x="434653" y="894557"/>
                  <a:pt x="435384" y="894557"/>
                  <a:pt x="436848" y="894557"/>
                </a:cubicBezTo>
                <a:cubicBezTo>
                  <a:pt x="445629" y="893094"/>
                  <a:pt x="450019" y="890167"/>
                  <a:pt x="450019" y="885776"/>
                </a:cubicBezTo>
                <a:cubicBezTo>
                  <a:pt x="452946" y="882849"/>
                  <a:pt x="454410" y="878459"/>
                  <a:pt x="454410" y="872605"/>
                </a:cubicBezTo>
                <a:cubicBezTo>
                  <a:pt x="455873" y="866751"/>
                  <a:pt x="457337" y="863824"/>
                  <a:pt x="458800" y="863824"/>
                </a:cubicBezTo>
                <a:close/>
                <a:moveTo>
                  <a:pt x="111956" y="857239"/>
                </a:moveTo>
                <a:cubicBezTo>
                  <a:pt x="113420" y="855775"/>
                  <a:pt x="115615" y="856507"/>
                  <a:pt x="118542" y="859434"/>
                </a:cubicBezTo>
                <a:cubicBezTo>
                  <a:pt x="120005" y="860897"/>
                  <a:pt x="123664" y="863092"/>
                  <a:pt x="129518" y="866019"/>
                </a:cubicBezTo>
                <a:cubicBezTo>
                  <a:pt x="155860" y="880654"/>
                  <a:pt x="170495" y="889435"/>
                  <a:pt x="173422" y="892362"/>
                </a:cubicBezTo>
                <a:cubicBezTo>
                  <a:pt x="177813" y="895289"/>
                  <a:pt x="177081" y="899679"/>
                  <a:pt x="171227" y="905533"/>
                </a:cubicBezTo>
                <a:cubicBezTo>
                  <a:pt x="166836" y="909924"/>
                  <a:pt x="158787" y="919436"/>
                  <a:pt x="147080" y="934071"/>
                </a:cubicBezTo>
                <a:cubicBezTo>
                  <a:pt x="110493" y="980902"/>
                  <a:pt x="81223" y="1013099"/>
                  <a:pt x="59271" y="1030660"/>
                </a:cubicBezTo>
                <a:lnTo>
                  <a:pt x="131713" y="1021880"/>
                </a:lnTo>
                <a:cubicBezTo>
                  <a:pt x="136103" y="1014562"/>
                  <a:pt x="139762" y="1007977"/>
                  <a:pt x="142689" y="1002123"/>
                </a:cubicBezTo>
                <a:cubicBezTo>
                  <a:pt x="150006" y="988951"/>
                  <a:pt x="155860" y="975048"/>
                  <a:pt x="160251" y="960414"/>
                </a:cubicBezTo>
                <a:cubicBezTo>
                  <a:pt x="161714" y="957487"/>
                  <a:pt x="163178" y="956023"/>
                  <a:pt x="164641" y="956023"/>
                </a:cubicBezTo>
                <a:cubicBezTo>
                  <a:pt x="164641" y="954560"/>
                  <a:pt x="166105" y="955292"/>
                  <a:pt x="169032" y="958218"/>
                </a:cubicBezTo>
                <a:cubicBezTo>
                  <a:pt x="193911" y="974317"/>
                  <a:pt x="209277" y="986024"/>
                  <a:pt x="215131" y="993342"/>
                </a:cubicBezTo>
                <a:cubicBezTo>
                  <a:pt x="217326" y="994074"/>
                  <a:pt x="218424" y="995537"/>
                  <a:pt x="218424" y="997732"/>
                </a:cubicBezTo>
                <a:cubicBezTo>
                  <a:pt x="218424" y="999927"/>
                  <a:pt x="217326" y="1002854"/>
                  <a:pt x="215131" y="1006513"/>
                </a:cubicBezTo>
                <a:cubicBezTo>
                  <a:pt x="212204" y="1009440"/>
                  <a:pt x="207814" y="1014562"/>
                  <a:pt x="201960" y="1021880"/>
                </a:cubicBezTo>
                <a:cubicBezTo>
                  <a:pt x="194643" y="1029197"/>
                  <a:pt x="189520" y="1035051"/>
                  <a:pt x="186593" y="1039441"/>
                </a:cubicBezTo>
                <a:cubicBezTo>
                  <a:pt x="154397" y="1084809"/>
                  <a:pt x="121469" y="1123591"/>
                  <a:pt x="87809" y="1155788"/>
                </a:cubicBezTo>
                <a:lnTo>
                  <a:pt x="190984" y="1140421"/>
                </a:lnTo>
                <a:lnTo>
                  <a:pt x="199765" y="1160178"/>
                </a:lnTo>
                <a:lnTo>
                  <a:pt x="87809" y="1199692"/>
                </a:lnTo>
                <a:cubicBezTo>
                  <a:pt x="67320" y="1208473"/>
                  <a:pt x="54149" y="1215790"/>
                  <a:pt x="48295" y="1221644"/>
                </a:cubicBezTo>
                <a:lnTo>
                  <a:pt x="15367" y="1162373"/>
                </a:lnTo>
                <a:cubicBezTo>
                  <a:pt x="34392" y="1159447"/>
                  <a:pt x="48295" y="1150666"/>
                  <a:pt x="57076" y="1136031"/>
                </a:cubicBezTo>
                <a:cubicBezTo>
                  <a:pt x="76101" y="1109688"/>
                  <a:pt x="94394" y="1083346"/>
                  <a:pt x="111956" y="1057003"/>
                </a:cubicBezTo>
                <a:lnTo>
                  <a:pt x="68052" y="1070174"/>
                </a:lnTo>
                <a:cubicBezTo>
                  <a:pt x="51954" y="1076028"/>
                  <a:pt x="39514" y="1082614"/>
                  <a:pt x="30733" y="1089931"/>
                </a:cubicBezTo>
                <a:lnTo>
                  <a:pt x="0" y="1037246"/>
                </a:lnTo>
                <a:cubicBezTo>
                  <a:pt x="13171" y="1032856"/>
                  <a:pt x="23416" y="1026270"/>
                  <a:pt x="30733" y="1017489"/>
                </a:cubicBezTo>
                <a:cubicBezTo>
                  <a:pt x="61466" y="967731"/>
                  <a:pt x="82687" y="928949"/>
                  <a:pt x="94394" y="901143"/>
                </a:cubicBezTo>
                <a:cubicBezTo>
                  <a:pt x="101712" y="885045"/>
                  <a:pt x="106834" y="871873"/>
                  <a:pt x="109761" y="861629"/>
                </a:cubicBezTo>
                <a:cubicBezTo>
                  <a:pt x="111224" y="858702"/>
                  <a:pt x="111956" y="857239"/>
                  <a:pt x="111956" y="857239"/>
                </a:cubicBezTo>
                <a:close/>
                <a:moveTo>
                  <a:pt x="498314" y="233425"/>
                </a:moveTo>
                <a:cubicBezTo>
                  <a:pt x="501241" y="236352"/>
                  <a:pt x="504900" y="240011"/>
                  <a:pt x="509290" y="244402"/>
                </a:cubicBezTo>
                <a:cubicBezTo>
                  <a:pt x="518071" y="254646"/>
                  <a:pt x="524656" y="261231"/>
                  <a:pt x="529047" y="264158"/>
                </a:cubicBezTo>
                <a:cubicBezTo>
                  <a:pt x="531974" y="267085"/>
                  <a:pt x="532706" y="270012"/>
                  <a:pt x="531242" y="272939"/>
                </a:cubicBezTo>
                <a:cubicBezTo>
                  <a:pt x="529779" y="274403"/>
                  <a:pt x="526852" y="275135"/>
                  <a:pt x="522461" y="275135"/>
                </a:cubicBezTo>
                <a:cubicBezTo>
                  <a:pt x="510753" y="273671"/>
                  <a:pt x="490997" y="273671"/>
                  <a:pt x="463190" y="275135"/>
                </a:cubicBezTo>
                <a:cubicBezTo>
                  <a:pt x="445629" y="275135"/>
                  <a:pt x="431726" y="275135"/>
                  <a:pt x="421481" y="275135"/>
                </a:cubicBezTo>
                <a:lnTo>
                  <a:pt x="381968" y="277330"/>
                </a:lnTo>
                <a:cubicBezTo>
                  <a:pt x="387821" y="278793"/>
                  <a:pt x="390017" y="280988"/>
                  <a:pt x="388553" y="283915"/>
                </a:cubicBezTo>
                <a:lnTo>
                  <a:pt x="388553" y="336601"/>
                </a:lnTo>
                <a:lnTo>
                  <a:pt x="436848" y="334405"/>
                </a:lnTo>
                <a:cubicBezTo>
                  <a:pt x="442702" y="332942"/>
                  <a:pt x="452214" y="331478"/>
                  <a:pt x="465386" y="330015"/>
                </a:cubicBezTo>
                <a:cubicBezTo>
                  <a:pt x="478557" y="328551"/>
                  <a:pt x="487338" y="327820"/>
                  <a:pt x="491728" y="327820"/>
                </a:cubicBezTo>
                <a:cubicBezTo>
                  <a:pt x="500509" y="336601"/>
                  <a:pt x="508558" y="344650"/>
                  <a:pt x="515876" y="351967"/>
                </a:cubicBezTo>
                <a:cubicBezTo>
                  <a:pt x="518803" y="354894"/>
                  <a:pt x="520266" y="357089"/>
                  <a:pt x="520266" y="358553"/>
                </a:cubicBezTo>
                <a:cubicBezTo>
                  <a:pt x="518803" y="360016"/>
                  <a:pt x="515876" y="360748"/>
                  <a:pt x="511485" y="360748"/>
                </a:cubicBezTo>
                <a:cubicBezTo>
                  <a:pt x="492460" y="360748"/>
                  <a:pt x="475630" y="361480"/>
                  <a:pt x="460995" y="362943"/>
                </a:cubicBezTo>
                <a:lnTo>
                  <a:pt x="388553" y="367334"/>
                </a:lnTo>
                <a:lnTo>
                  <a:pt x="388553" y="446361"/>
                </a:lnTo>
                <a:cubicBezTo>
                  <a:pt x="426604" y="452215"/>
                  <a:pt x="477093" y="452947"/>
                  <a:pt x="540023" y="448556"/>
                </a:cubicBezTo>
                <a:lnTo>
                  <a:pt x="537828" y="463923"/>
                </a:lnTo>
                <a:cubicBezTo>
                  <a:pt x="523193" y="472704"/>
                  <a:pt x="507095" y="487339"/>
                  <a:pt x="489533" y="507827"/>
                </a:cubicBezTo>
                <a:cubicBezTo>
                  <a:pt x="485143" y="518072"/>
                  <a:pt x="475630" y="521730"/>
                  <a:pt x="460995" y="518803"/>
                </a:cubicBezTo>
                <a:cubicBezTo>
                  <a:pt x="358552" y="518803"/>
                  <a:pt x="289769" y="483680"/>
                  <a:pt x="254645" y="413433"/>
                </a:cubicBezTo>
                <a:cubicBezTo>
                  <a:pt x="235620" y="463191"/>
                  <a:pt x="200496" y="503437"/>
                  <a:pt x="149275" y="534170"/>
                </a:cubicBezTo>
                <a:lnTo>
                  <a:pt x="140494" y="525389"/>
                </a:lnTo>
                <a:cubicBezTo>
                  <a:pt x="172690" y="477094"/>
                  <a:pt x="193911" y="425141"/>
                  <a:pt x="204155" y="369529"/>
                </a:cubicBezTo>
                <a:cubicBezTo>
                  <a:pt x="208546" y="346113"/>
                  <a:pt x="210741" y="325624"/>
                  <a:pt x="210741" y="308063"/>
                </a:cubicBezTo>
                <a:cubicBezTo>
                  <a:pt x="210741" y="303672"/>
                  <a:pt x="211473" y="301477"/>
                  <a:pt x="212936" y="301477"/>
                </a:cubicBezTo>
                <a:cubicBezTo>
                  <a:pt x="214399" y="300014"/>
                  <a:pt x="217326" y="300014"/>
                  <a:pt x="221717" y="301477"/>
                </a:cubicBezTo>
                <a:cubicBezTo>
                  <a:pt x="239279" y="307331"/>
                  <a:pt x="256840" y="313185"/>
                  <a:pt x="274402" y="319039"/>
                </a:cubicBezTo>
                <a:cubicBezTo>
                  <a:pt x="278792" y="323429"/>
                  <a:pt x="280256" y="327820"/>
                  <a:pt x="278792" y="332210"/>
                </a:cubicBezTo>
                <a:cubicBezTo>
                  <a:pt x="278792" y="335137"/>
                  <a:pt x="276597" y="342454"/>
                  <a:pt x="272207" y="354162"/>
                </a:cubicBezTo>
                <a:cubicBezTo>
                  <a:pt x="267816" y="367334"/>
                  <a:pt x="264889" y="376846"/>
                  <a:pt x="263426" y="382700"/>
                </a:cubicBezTo>
                <a:cubicBezTo>
                  <a:pt x="280988" y="401725"/>
                  <a:pt x="300745" y="416360"/>
                  <a:pt x="322697" y="426604"/>
                </a:cubicBezTo>
                <a:lnTo>
                  <a:pt x="322697" y="279525"/>
                </a:lnTo>
                <a:lnTo>
                  <a:pt x="285378" y="279525"/>
                </a:lnTo>
                <a:cubicBezTo>
                  <a:pt x="266353" y="279525"/>
                  <a:pt x="238547" y="280988"/>
                  <a:pt x="201960" y="283915"/>
                </a:cubicBezTo>
                <a:lnTo>
                  <a:pt x="180008" y="250987"/>
                </a:lnTo>
                <a:cubicBezTo>
                  <a:pt x="194643" y="250987"/>
                  <a:pt x="218790" y="250255"/>
                  <a:pt x="252450" y="248792"/>
                </a:cubicBezTo>
                <a:cubicBezTo>
                  <a:pt x="265621" y="248792"/>
                  <a:pt x="273670" y="248792"/>
                  <a:pt x="276597" y="248792"/>
                </a:cubicBezTo>
                <a:lnTo>
                  <a:pt x="406115" y="244402"/>
                </a:lnTo>
                <a:cubicBezTo>
                  <a:pt x="409042" y="244402"/>
                  <a:pt x="413432" y="244402"/>
                  <a:pt x="419286" y="244402"/>
                </a:cubicBezTo>
                <a:cubicBezTo>
                  <a:pt x="457337" y="241475"/>
                  <a:pt x="483679" y="237816"/>
                  <a:pt x="498314" y="233425"/>
                </a:cubicBezTo>
                <a:close/>
                <a:moveTo>
                  <a:pt x="377577" y="136836"/>
                </a:moveTo>
                <a:lnTo>
                  <a:pt x="289769" y="141226"/>
                </a:lnTo>
                <a:lnTo>
                  <a:pt x="289769" y="178545"/>
                </a:lnTo>
                <a:lnTo>
                  <a:pt x="384163" y="174155"/>
                </a:lnTo>
                <a:cubicBezTo>
                  <a:pt x="395871" y="174155"/>
                  <a:pt x="406115" y="173423"/>
                  <a:pt x="414896" y="171959"/>
                </a:cubicBezTo>
                <a:lnTo>
                  <a:pt x="414896" y="136836"/>
                </a:lnTo>
                <a:cubicBezTo>
                  <a:pt x="406115" y="136836"/>
                  <a:pt x="393675" y="136836"/>
                  <a:pt x="377577" y="136836"/>
                </a:cubicBezTo>
                <a:close/>
                <a:moveTo>
                  <a:pt x="417091" y="68784"/>
                </a:moveTo>
                <a:lnTo>
                  <a:pt x="289769" y="73175"/>
                </a:lnTo>
                <a:lnTo>
                  <a:pt x="289769" y="112689"/>
                </a:lnTo>
                <a:lnTo>
                  <a:pt x="370991" y="108298"/>
                </a:lnTo>
                <a:cubicBezTo>
                  <a:pt x="375382" y="108298"/>
                  <a:pt x="381968" y="107566"/>
                  <a:pt x="390748" y="106103"/>
                </a:cubicBezTo>
                <a:cubicBezTo>
                  <a:pt x="398066" y="106103"/>
                  <a:pt x="403188" y="106103"/>
                  <a:pt x="406115" y="106103"/>
                </a:cubicBezTo>
                <a:cubicBezTo>
                  <a:pt x="409042" y="110493"/>
                  <a:pt x="412701" y="114884"/>
                  <a:pt x="417091" y="119274"/>
                </a:cubicBezTo>
                <a:close/>
                <a:moveTo>
                  <a:pt x="423677" y="11709"/>
                </a:moveTo>
                <a:cubicBezTo>
                  <a:pt x="425140" y="10245"/>
                  <a:pt x="428067" y="10977"/>
                  <a:pt x="432457" y="13904"/>
                </a:cubicBezTo>
                <a:cubicBezTo>
                  <a:pt x="439775" y="19758"/>
                  <a:pt x="451483" y="28539"/>
                  <a:pt x="467581" y="40247"/>
                </a:cubicBezTo>
                <a:cubicBezTo>
                  <a:pt x="480752" y="47564"/>
                  <a:pt x="488801" y="52686"/>
                  <a:pt x="491728" y="55613"/>
                </a:cubicBezTo>
                <a:cubicBezTo>
                  <a:pt x="497582" y="60003"/>
                  <a:pt x="500509" y="63662"/>
                  <a:pt x="500509" y="66589"/>
                </a:cubicBezTo>
                <a:cubicBezTo>
                  <a:pt x="500509" y="69516"/>
                  <a:pt x="497582" y="71711"/>
                  <a:pt x="491728" y="73175"/>
                </a:cubicBezTo>
                <a:cubicBezTo>
                  <a:pt x="482947" y="76102"/>
                  <a:pt x="479289" y="81956"/>
                  <a:pt x="480752" y="90736"/>
                </a:cubicBezTo>
                <a:cubicBezTo>
                  <a:pt x="479289" y="106835"/>
                  <a:pt x="478557" y="141226"/>
                  <a:pt x="478557" y="193912"/>
                </a:cubicBezTo>
                <a:cubicBezTo>
                  <a:pt x="478557" y="198302"/>
                  <a:pt x="477825" y="201229"/>
                  <a:pt x="476362" y="202692"/>
                </a:cubicBezTo>
                <a:cubicBezTo>
                  <a:pt x="467581" y="207083"/>
                  <a:pt x="450019" y="212937"/>
                  <a:pt x="423677" y="220254"/>
                </a:cubicBezTo>
                <a:cubicBezTo>
                  <a:pt x="416359" y="221718"/>
                  <a:pt x="413432" y="219522"/>
                  <a:pt x="414896" y="213668"/>
                </a:cubicBezTo>
                <a:lnTo>
                  <a:pt x="414896" y="202692"/>
                </a:lnTo>
                <a:cubicBezTo>
                  <a:pt x="407578" y="202692"/>
                  <a:pt x="399529" y="202692"/>
                  <a:pt x="390748" y="202692"/>
                </a:cubicBezTo>
                <a:lnTo>
                  <a:pt x="289769" y="207083"/>
                </a:lnTo>
                <a:cubicBezTo>
                  <a:pt x="289769" y="212937"/>
                  <a:pt x="288305" y="216595"/>
                  <a:pt x="285378" y="218059"/>
                </a:cubicBezTo>
                <a:cubicBezTo>
                  <a:pt x="266353" y="225376"/>
                  <a:pt x="248791" y="230498"/>
                  <a:pt x="232693" y="233425"/>
                </a:cubicBezTo>
                <a:cubicBezTo>
                  <a:pt x="229766" y="234889"/>
                  <a:pt x="227571" y="234889"/>
                  <a:pt x="226107" y="233425"/>
                </a:cubicBezTo>
                <a:cubicBezTo>
                  <a:pt x="226107" y="233425"/>
                  <a:pt x="226107" y="231962"/>
                  <a:pt x="226107" y="229035"/>
                </a:cubicBezTo>
                <a:cubicBezTo>
                  <a:pt x="226107" y="218791"/>
                  <a:pt x="226107" y="196839"/>
                  <a:pt x="226107" y="163179"/>
                </a:cubicBezTo>
                <a:cubicBezTo>
                  <a:pt x="227571" y="123665"/>
                  <a:pt x="228302" y="95859"/>
                  <a:pt x="228302" y="79760"/>
                </a:cubicBezTo>
                <a:cubicBezTo>
                  <a:pt x="228302" y="63662"/>
                  <a:pt x="228302" y="47564"/>
                  <a:pt x="228302" y="31466"/>
                </a:cubicBezTo>
                <a:cubicBezTo>
                  <a:pt x="226839" y="27075"/>
                  <a:pt x="226839" y="24148"/>
                  <a:pt x="228302" y="22685"/>
                </a:cubicBezTo>
                <a:cubicBezTo>
                  <a:pt x="229766" y="21221"/>
                  <a:pt x="231961" y="21221"/>
                  <a:pt x="234888" y="22685"/>
                </a:cubicBezTo>
                <a:cubicBezTo>
                  <a:pt x="243669" y="25612"/>
                  <a:pt x="258304" y="31466"/>
                  <a:pt x="278792" y="40247"/>
                </a:cubicBezTo>
                <a:cubicBezTo>
                  <a:pt x="283183" y="41710"/>
                  <a:pt x="286842" y="43173"/>
                  <a:pt x="289769" y="44637"/>
                </a:cubicBezTo>
                <a:lnTo>
                  <a:pt x="406115" y="40247"/>
                </a:lnTo>
                <a:cubicBezTo>
                  <a:pt x="410505" y="40247"/>
                  <a:pt x="414164" y="38051"/>
                  <a:pt x="417091" y="33661"/>
                </a:cubicBezTo>
                <a:cubicBezTo>
                  <a:pt x="420018" y="29270"/>
                  <a:pt x="421481" y="24148"/>
                  <a:pt x="421481" y="18294"/>
                </a:cubicBezTo>
                <a:cubicBezTo>
                  <a:pt x="422945" y="13904"/>
                  <a:pt x="423677" y="11709"/>
                  <a:pt x="423677" y="11709"/>
                </a:cubicBezTo>
                <a:close/>
                <a:moveTo>
                  <a:pt x="83418" y="733"/>
                </a:moveTo>
                <a:cubicBezTo>
                  <a:pt x="84882" y="-731"/>
                  <a:pt x="88540" y="1"/>
                  <a:pt x="94394" y="2928"/>
                </a:cubicBezTo>
                <a:cubicBezTo>
                  <a:pt x="114883" y="8782"/>
                  <a:pt x="132445" y="16099"/>
                  <a:pt x="147080" y="24880"/>
                </a:cubicBezTo>
                <a:cubicBezTo>
                  <a:pt x="151470" y="26343"/>
                  <a:pt x="153665" y="30002"/>
                  <a:pt x="153665" y="35856"/>
                </a:cubicBezTo>
                <a:cubicBezTo>
                  <a:pt x="152202" y="46100"/>
                  <a:pt x="151470" y="65857"/>
                  <a:pt x="151470" y="95127"/>
                </a:cubicBezTo>
                <a:lnTo>
                  <a:pt x="151470" y="123665"/>
                </a:lnTo>
                <a:cubicBezTo>
                  <a:pt x="166105" y="120738"/>
                  <a:pt x="180008" y="118543"/>
                  <a:pt x="193179" y="117079"/>
                </a:cubicBezTo>
                <a:cubicBezTo>
                  <a:pt x="201960" y="127323"/>
                  <a:pt x="210009" y="136104"/>
                  <a:pt x="217326" y="143422"/>
                </a:cubicBezTo>
                <a:cubicBezTo>
                  <a:pt x="218790" y="146349"/>
                  <a:pt x="219522" y="148544"/>
                  <a:pt x="219522" y="150007"/>
                </a:cubicBezTo>
                <a:cubicBezTo>
                  <a:pt x="218058" y="151471"/>
                  <a:pt x="215131" y="152202"/>
                  <a:pt x="210741" y="152202"/>
                </a:cubicBezTo>
                <a:cubicBezTo>
                  <a:pt x="187325" y="152202"/>
                  <a:pt x="168300" y="152934"/>
                  <a:pt x="153665" y="154398"/>
                </a:cubicBezTo>
                <a:lnTo>
                  <a:pt x="151470" y="154398"/>
                </a:lnTo>
                <a:cubicBezTo>
                  <a:pt x="151470" y="179277"/>
                  <a:pt x="151470" y="204888"/>
                  <a:pt x="151470" y="231230"/>
                </a:cubicBezTo>
                <a:lnTo>
                  <a:pt x="206350" y="211473"/>
                </a:lnTo>
                <a:lnTo>
                  <a:pt x="212936" y="222449"/>
                </a:lnTo>
                <a:cubicBezTo>
                  <a:pt x="195374" y="235621"/>
                  <a:pt x="174886" y="250255"/>
                  <a:pt x="151470" y="266354"/>
                </a:cubicBezTo>
                <a:cubicBezTo>
                  <a:pt x="151470" y="279525"/>
                  <a:pt x="151470" y="291965"/>
                  <a:pt x="151470" y="303672"/>
                </a:cubicBezTo>
                <a:cubicBezTo>
                  <a:pt x="150006" y="375383"/>
                  <a:pt x="145616" y="419287"/>
                  <a:pt x="138299" y="435385"/>
                </a:cubicBezTo>
                <a:cubicBezTo>
                  <a:pt x="128054" y="467582"/>
                  <a:pt x="110493" y="496119"/>
                  <a:pt x="85614" y="520999"/>
                </a:cubicBezTo>
                <a:cubicBezTo>
                  <a:pt x="73906" y="531243"/>
                  <a:pt x="65857" y="534902"/>
                  <a:pt x="61466" y="531975"/>
                </a:cubicBezTo>
                <a:cubicBezTo>
                  <a:pt x="57076" y="529048"/>
                  <a:pt x="57076" y="520267"/>
                  <a:pt x="61466" y="505632"/>
                </a:cubicBezTo>
                <a:cubicBezTo>
                  <a:pt x="64393" y="490997"/>
                  <a:pt x="62198" y="480021"/>
                  <a:pt x="54881" y="472704"/>
                </a:cubicBezTo>
                <a:cubicBezTo>
                  <a:pt x="46100" y="460996"/>
                  <a:pt x="29270" y="444898"/>
                  <a:pt x="4391" y="424409"/>
                </a:cubicBezTo>
                <a:lnTo>
                  <a:pt x="13171" y="413433"/>
                </a:lnTo>
                <a:lnTo>
                  <a:pt x="74637" y="435385"/>
                </a:lnTo>
                <a:cubicBezTo>
                  <a:pt x="79028" y="410506"/>
                  <a:pt x="82687" y="370260"/>
                  <a:pt x="85614" y="314648"/>
                </a:cubicBezTo>
                <a:cubicBezTo>
                  <a:pt x="82687" y="316112"/>
                  <a:pt x="78296" y="319039"/>
                  <a:pt x="72442" y="323429"/>
                </a:cubicBezTo>
                <a:cubicBezTo>
                  <a:pt x="63661" y="329283"/>
                  <a:pt x="57076" y="333674"/>
                  <a:pt x="52685" y="336601"/>
                </a:cubicBezTo>
                <a:cubicBezTo>
                  <a:pt x="48295" y="339527"/>
                  <a:pt x="44636" y="339527"/>
                  <a:pt x="41709" y="336601"/>
                </a:cubicBezTo>
                <a:cubicBezTo>
                  <a:pt x="41709" y="338064"/>
                  <a:pt x="40977" y="338064"/>
                  <a:pt x="39514" y="336601"/>
                </a:cubicBezTo>
                <a:cubicBezTo>
                  <a:pt x="38051" y="333674"/>
                  <a:pt x="35124" y="330015"/>
                  <a:pt x="30733" y="325624"/>
                </a:cubicBezTo>
                <a:cubicBezTo>
                  <a:pt x="17562" y="308063"/>
                  <a:pt x="8781" y="293428"/>
                  <a:pt x="4391" y="281720"/>
                </a:cubicBezTo>
                <a:lnTo>
                  <a:pt x="85614" y="253182"/>
                </a:lnTo>
                <a:cubicBezTo>
                  <a:pt x="85614" y="222449"/>
                  <a:pt x="85614" y="190985"/>
                  <a:pt x="85614" y="158788"/>
                </a:cubicBezTo>
                <a:lnTo>
                  <a:pt x="74637" y="158788"/>
                </a:lnTo>
                <a:cubicBezTo>
                  <a:pt x="57076" y="161715"/>
                  <a:pt x="40977" y="163179"/>
                  <a:pt x="26343" y="163179"/>
                </a:cubicBezTo>
                <a:lnTo>
                  <a:pt x="6586" y="132446"/>
                </a:lnTo>
                <a:cubicBezTo>
                  <a:pt x="15367" y="132446"/>
                  <a:pt x="27806" y="131714"/>
                  <a:pt x="43904" y="130250"/>
                </a:cubicBezTo>
                <a:cubicBezTo>
                  <a:pt x="54149" y="130250"/>
                  <a:pt x="61466" y="130250"/>
                  <a:pt x="65857" y="130250"/>
                </a:cubicBezTo>
                <a:lnTo>
                  <a:pt x="85614" y="128055"/>
                </a:lnTo>
                <a:lnTo>
                  <a:pt x="85614" y="95127"/>
                </a:lnTo>
                <a:cubicBezTo>
                  <a:pt x="85614" y="55613"/>
                  <a:pt x="84882" y="27807"/>
                  <a:pt x="83418" y="11709"/>
                </a:cubicBezTo>
                <a:cubicBezTo>
                  <a:pt x="81955" y="5855"/>
                  <a:pt x="81955" y="2196"/>
                  <a:pt x="83418" y="7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" dist="38100" dir="2700000" algn="tl">
              <a:srgbClr val="000000">
                <a:alpha val="43137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颜宋简体_中" panose="02000000000000000000" pitchFamily="2" charset="-122"/>
              <a:ea typeface="方正颜宋简体_中" panose="02000000000000000000" pitchFamily="2" charset="-122"/>
              <a:cs typeface="方正颜宋简体_中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019637" y="1716967"/>
            <a:ext cx="4851471" cy="3283912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11.2.1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二叉查找树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11.2.2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二叉查找树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-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插入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11.2.3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二叉查找树</a:t>
            </a: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-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删除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11.2.4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查找性能分析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11.2.5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作业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1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树的分类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一般的树</a:t>
            </a:r>
            <a:r>
              <a:rPr lang="zh-CN" altLang="en-US" sz="2400" dirty="0"/>
              <a:t>：各结点可以有多个子结点，甚至子结点数量可以没有上限</a:t>
            </a:r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二叉树</a:t>
            </a:r>
            <a:r>
              <a:rPr lang="zh-CN" altLang="en-US" sz="2400" dirty="0"/>
              <a:t>：各结点最多只有两个子结点</a:t>
            </a:r>
            <a:endParaRPr lang="en-US" altLang="zh-CN" sz="2400" dirty="0"/>
          </a:p>
          <a:p>
            <a:r>
              <a:rPr lang="zh-CN" altLang="en-US" sz="2400" dirty="0"/>
              <a:t>    </a:t>
            </a:r>
            <a:endParaRPr lang="en-US" altLang="zh-CN" sz="2400" dirty="0"/>
          </a:p>
          <a:p>
            <a:r>
              <a:rPr lang="zh-CN" altLang="en-US" sz="2400" dirty="0"/>
              <a:t>      </a:t>
            </a:r>
            <a:r>
              <a:rPr lang="en-US" altLang="zh-CN" sz="2400" dirty="0"/>
              <a:t>---</a:t>
            </a:r>
            <a:r>
              <a:rPr lang="en-US" altLang="zh-CN" sz="2400" b="1" dirty="0"/>
              <a:t>Huffman</a:t>
            </a:r>
            <a:r>
              <a:rPr lang="zh-CN" altLang="en-US" sz="2400" b="1" dirty="0"/>
              <a:t>树：</a:t>
            </a:r>
            <a:r>
              <a:rPr lang="zh-CN" altLang="en-US" sz="2400" dirty="0"/>
              <a:t>带权路径长度最小，叶结点权重越大离根越近</a:t>
            </a:r>
            <a:endParaRPr lang="en-US" altLang="zh-CN" sz="2400" dirty="0"/>
          </a:p>
          <a:p>
            <a:r>
              <a:rPr lang="zh-CN" altLang="en-US" sz="2400" dirty="0"/>
              <a:t>      </a:t>
            </a:r>
            <a:r>
              <a:rPr lang="en-US" altLang="zh-CN" sz="2400" dirty="0"/>
              <a:t>---</a:t>
            </a:r>
            <a:r>
              <a:rPr lang="zh-CN" altLang="en-US" sz="2400" b="1" dirty="0"/>
              <a:t>堆</a:t>
            </a:r>
            <a:r>
              <a:rPr lang="zh-CN" altLang="en-US" sz="2400" dirty="0"/>
              <a:t>：各结点比其所有子结点大（最大堆）或小（最小堆）</a:t>
            </a:r>
            <a:endParaRPr lang="en-US" altLang="zh-CN" sz="2400" dirty="0"/>
          </a:p>
          <a:p>
            <a:r>
              <a:rPr lang="zh-CN" altLang="en-US" sz="2400" dirty="0"/>
              <a:t>      </a:t>
            </a:r>
            <a:r>
              <a:rPr lang="en-US" altLang="zh-CN" sz="2400" dirty="0"/>
              <a:t>---</a:t>
            </a:r>
            <a:r>
              <a:rPr lang="zh-CN" altLang="en-US" sz="2400" b="1" dirty="0">
                <a:solidFill>
                  <a:srgbClr val="19A382"/>
                </a:solidFill>
              </a:rPr>
              <a:t>二叉查找树</a:t>
            </a:r>
            <a:endParaRPr lang="en-US" altLang="zh-CN" sz="2400" dirty="0">
              <a:solidFill>
                <a:srgbClr val="19A382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524000" y="2669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二分查找</a:t>
            </a:r>
            <a:r>
              <a:rPr lang="zh-CN" altLang="en-US" sz="2400" dirty="0"/>
              <a:t>：在</a:t>
            </a:r>
            <a:r>
              <a:rPr lang="zh-CN" altLang="en-US" sz="2400" dirty="0">
                <a:solidFill>
                  <a:srgbClr val="19A382"/>
                </a:solidFill>
              </a:rPr>
              <a:t>有序序列</a:t>
            </a:r>
            <a:r>
              <a:rPr lang="zh-CN" altLang="en-US" sz="2400" dirty="0"/>
              <a:t>上查找数据，每次比较可以减少一半搜索范围！</a:t>
            </a:r>
            <a:endParaRPr lang="en-US" altLang="zh-CN" sz="2400" dirty="0"/>
          </a:p>
          <a:p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939800" y="2669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95227" y="226568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34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304827" y="226568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41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914427" y="226568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56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524027" y="226568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63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133627" y="226568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72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743227" y="226568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89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352827" y="226568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95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755552" y="2764160"/>
            <a:ext cx="40783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latin typeface="Verdana" panose="020B0604030504040204" pitchFamily="34" charset="0"/>
              </a:rPr>
              <a:t>0      1      2     3      4      5      6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101502" y="38246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34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711102" y="38246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41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2320702" y="38246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56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1149127" y="4348485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latin typeface="Verdana" panose="020B0604030504040204" pitchFamily="34" charset="0"/>
              </a:rPr>
              <a:t>0      1      2</a:t>
            </a: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4759102" y="37484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72</a:t>
            </a: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5368702" y="37484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89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5978302" y="37484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95</a:t>
            </a: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4819427" y="4272285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latin typeface="Verdana" panose="020B0604030504040204" pitchFamily="34" charset="0"/>
              </a:rPr>
              <a:t>4      5      6</a:t>
            </a:r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1101502" y="53486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34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2320702" y="53486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56</a:t>
            </a: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4759102" y="51962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72</a:t>
            </a: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5978302" y="5196210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95</a:t>
            </a: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4819427" y="5745485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latin typeface="Verdana" panose="020B0604030504040204" pitchFamily="34" charset="0"/>
              </a:rPr>
              <a:t>4              6</a:t>
            </a:r>
          </a:p>
        </p:txBody>
      </p:sp>
      <p:sp>
        <p:nvSpPr>
          <p:cNvPr id="26" name="Oval 24"/>
          <p:cNvSpPr>
            <a:spLocks noChangeArrowheads="1"/>
          </p:cNvSpPr>
          <p:nvPr/>
        </p:nvSpPr>
        <p:spPr bwMode="auto">
          <a:xfrm>
            <a:off x="3371627" y="2113285"/>
            <a:ext cx="685800" cy="685800"/>
          </a:xfrm>
          <a:prstGeom prst="ellips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27" name="Oval 25"/>
          <p:cNvSpPr>
            <a:spLocks noChangeArrowheads="1"/>
          </p:cNvSpPr>
          <p:nvPr/>
        </p:nvSpPr>
        <p:spPr bwMode="auto">
          <a:xfrm>
            <a:off x="1542827" y="3713485"/>
            <a:ext cx="685800" cy="685800"/>
          </a:xfrm>
          <a:prstGeom prst="ellips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200427" y="3637285"/>
            <a:ext cx="685800" cy="685800"/>
          </a:xfrm>
          <a:prstGeom prst="ellips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933227" y="5161285"/>
            <a:ext cx="685800" cy="685800"/>
          </a:xfrm>
          <a:prstGeom prst="ellips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2152427" y="5237485"/>
            <a:ext cx="685800" cy="685800"/>
          </a:xfrm>
          <a:prstGeom prst="ellips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31" name="Oval 29"/>
          <p:cNvSpPr>
            <a:spLocks noChangeArrowheads="1"/>
          </p:cNvSpPr>
          <p:nvPr/>
        </p:nvSpPr>
        <p:spPr bwMode="auto">
          <a:xfrm>
            <a:off x="4590827" y="5085085"/>
            <a:ext cx="685800" cy="685800"/>
          </a:xfrm>
          <a:prstGeom prst="ellips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32" name="Oval 30"/>
          <p:cNvSpPr>
            <a:spLocks noChangeArrowheads="1"/>
          </p:cNvSpPr>
          <p:nvPr/>
        </p:nvSpPr>
        <p:spPr bwMode="auto">
          <a:xfrm>
            <a:off x="5810027" y="5085085"/>
            <a:ext cx="685800" cy="685800"/>
          </a:xfrm>
          <a:prstGeom prst="ellips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>
              <a:latin typeface="Verdana" panose="020B0604030504040204" pitchFamily="34" charset="0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 flipH="1">
            <a:off x="2000027" y="2722885"/>
            <a:ext cx="1524000" cy="10668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3905027" y="2722885"/>
            <a:ext cx="1447800" cy="9906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33"/>
          <p:cNvSpPr>
            <a:spLocks noChangeShapeType="1"/>
          </p:cNvSpPr>
          <p:nvPr/>
        </p:nvSpPr>
        <p:spPr bwMode="auto">
          <a:xfrm flipH="1">
            <a:off x="1314227" y="4323085"/>
            <a:ext cx="381000" cy="8382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34"/>
          <p:cNvSpPr>
            <a:spLocks noChangeShapeType="1"/>
          </p:cNvSpPr>
          <p:nvPr/>
        </p:nvSpPr>
        <p:spPr bwMode="auto">
          <a:xfrm>
            <a:off x="2076227" y="4323085"/>
            <a:ext cx="381000" cy="9144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35"/>
          <p:cNvSpPr>
            <a:spLocks noChangeShapeType="1"/>
          </p:cNvSpPr>
          <p:nvPr/>
        </p:nvSpPr>
        <p:spPr bwMode="auto">
          <a:xfrm flipH="1">
            <a:off x="4971827" y="4246885"/>
            <a:ext cx="304800" cy="8382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5733827" y="4246885"/>
            <a:ext cx="381000" cy="838200"/>
          </a:xfrm>
          <a:prstGeom prst="line">
            <a:avLst/>
          </a:prstGeom>
          <a:noFill/>
          <a:ln w="19050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1032165" y="5923285"/>
            <a:ext cx="1624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latin typeface="Verdana" panose="020B0604030504040204" pitchFamily="34" charset="0"/>
              </a:rPr>
              <a:t>0      </a:t>
            </a:r>
            <a:r>
              <a:rPr lang="zh-CN" altLang="en-US" sz="1800" b="0" dirty="0">
                <a:latin typeface="Verdana" panose="020B0604030504040204" pitchFamily="34" charset="0"/>
              </a:rPr>
              <a:t>  </a:t>
            </a:r>
            <a:r>
              <a:rPr lang="en-US" altLang="zh-CN" sz="1800" b="0" dirty="0">
                <a:latin typeface="Verdana" panose="020B0604030504040204" pitchFamily="34" charset="0"/>
              </a:rPr>
              <a:t>      2</a:t>
            </a:r>
          </a:p>
        </p:txBody>
      </p:sp>
      <p:sp>
        <p:nvSpPr>
          <p:cNvPr id="40" name="任意多边形: 形状 6"/>
          <p:cNvSpPr/>
          <p:nvPr/>
        </p:nvSpPr>
        <p:spPr>
          <a:xfrm>
            <a:off x="6755954" y="1797848"/>
            <a:ext cx="5331494" cy="2112954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可以用二叉树表达有序序列的</a:t>
            </a:r>
            <a:r>
              <a:rPr lang="zh-CN" altLang="en-US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如果结点的左子树非空，则左子树中所有结点的数据小于该结点数据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同样，如果结点的右子树非空，则右子树中所有结点的数据大于该结点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任意多边形: 形状 6"/>
          <p:cNvSpPr/>
          <p:nvPr/>
        </p:nvSpPr>
        <p:spPr>
          <a:xfrm>
            <a:off x="6731456" y="4013200"/>
            <a:ext cx="5289094" cy="2644434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查找从根结点开始比较，执行以下操作：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如果结点存放的数据与查找数据相同，返回结点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如果查找的数据比结点小，若左子树是空树，查找失败；否则查找结点的左子树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相反，如果查找数据比当前结点大，走向右子树继续查找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二分查找</a:t>
            </a:r>
            <a:r>
              <a:rPr lang="zh-CN" altLang="en-US" sz="2400" dirty="0"/>
              <a:t>：在</a:t>
            </a:r>
            <a:r>
              <a:rPr lang="zh-CN" altLang="en-US" sz="2400" dirty="0">
                <a:solidFill>
                  <a:srgbClr val="19A382"/>
                </a:solidFill>
              </a:rPr>
              <a:t>有序序列</a:t>
            </a:r>
            <a:r>
              <a:rPr lang="zh-CN" altLang="en-US" sz="2400" dirty="0"/>
              <a:t>上查找数据，每次比较可以减少一半搜索范围！</a:t>
            </a:r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查找元素</a:t>
            </a:r>
            <a:r>
              <a:rPr lang="zh-CN" altLang="en-US" sz="2400" dirty="0"/>
              <a:t>：时间复杂度</a:t>
            </a:r>
            <a:r>
              <a:rPr lang="en-US" altLang="zh-CN" sz="2400" dirty="0"/>
              <a:t>O(log(n))</a:t>
            </a:r>
            <a:r>
              <a:rPr lang="zh-CN" altLang="en-US" sz="2400" dirty="0"/>
              <a:t> 效率高！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插入新元素</a:t>
            </a:r>
            <a:r>
              <a:rPr lang="zh-CN" altLang="en-US" sz="2400" dirty="0"/>
              <a:t>：时间</a:t>
            </a:r>
            <a:r>
              <a:rPr lang="en-US" altLang="zh-CN" sz="2400" dirty="0"/>
              <a:t>O(n)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删除元素</a:t>
            </a:r>
            <a:r>
              <a:rPr lang="zh-CN" altLang="en-US" sz="2400" dirty="0"/>
              <a:t>：时间</a:t>
            </a:r>
            <a:r>
              <a:rPr lang="en-US" altLang="zh-CN" sz="2400" dirty="0"/>
              <a:t>O(n)</a:t>
            </a:r>
          </a:p>
          <a:p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42" name="任意多边形: 形状 6"/>
          <p:cNvSpPr/>
          <p:nvPr/>
        </p:nvSpPr>
        <p:spPr>
          <a:xfrm>
            <a:off x="1899176" y="3642523"/>
            <a:ext cx="8324324" cy="556414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在有序序列中插入新元素或者删除元素，可能需要移动大量数据！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: 形状 6"/>
          <p:cNvSpPr/>
          <p:nvPr/>
        </p:nvSpPr>
        <p:spPr>
          <a:xfrm>
            <a:off x="2692926" y="4686300"/>
            <a:ext cx="6736824" cy="1387134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：如何存储一组数据，使得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新元素以及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元素的操作都能高效完成？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1"/>
          </p:nvPr>
        </p:nvSpPr>
        <p:spPr>
          <a:xfrm>
            <a:off x="499001" y="1377650"/>
            <a:ext cx="11055325" cy="5057775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二叉查找树（</a:t>
            </a:r>
            <a:r>
              <a:rPr lang="en-US" altLang="zh-CN" sz="2800" dirty="0"/>
              <a:t>BST</a:t>
            </a:r>
            <a:r>
              <a:rPr lang="zh-CN" altLang="en-US" sz="2800" dirty="0"/>
              <a:t>）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1. </a:t>
            </a:r>
            <a:r>
              <a:rPr lang="zh-CN" altLang="en-US" sz="2400" dirty="0">
                <a:solidFill>
                  <a:srgbClr val="FF0000"/>
                </a:solidFill>
              </a:rPr>
              <a:t>定义</a:t>
            </a:r>
          </a:p>
          <a:p>
            <a:r>
              <a:rPr lang="zh-CN" altLang="en-US" sz="2400" dirty="0">
                <a:solidFill>
                  <a:srgbClr val="FF0000"/>
                </a:solidFill>
              </a:rPr>
              <a:t>二叉查找树</a:t>
            </a:r>
            <a:r>
              <a:rPr lang="zh-CN" altLang="en-US" sz="2400" dirty="0"/>
              <a:t>或者是一棵空树；或者是具有如下特性的二叉树：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pt-BR" sz="2400" dirty="0"/>
              <a:t>若根结点的左子树</a:t>
            </a:r>
            <a:r>
              <a:rPr lang="zh-CN" altLang="en-US" sz="2400" dirty="0"/>
              <a:t>非</a:t>
            </a:r>
            <a:r>
              <a:rPr lang="zh-CN" altLang="pt-BR" sz="2400" dirty="0"/>
              <a:t>空，则左子树上所有结点的值均</a:t>
            </a:r>
            <a:r>
              <a:rPr lang="zh-CN" altLang="pt-BR" sz="2400" dirty="0">
                <a:solidFill>
                  <a:srgbClr val="FF0000"/>
                </a:solidFill>
              </a:rPr>
              <a:t>小于</a:t>
            </a:r>
            <a:r>
              <a:rPr lang="zh-CN" altLang="pt-BR" sz="2400" dirty="0"/>
              <a:t>根结点的值；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pt-BR" sz="2400" dirty="0"/>
              <a:t>若根结点的右子树</a:t>
            </a:r>
            <a:r>
              <a:rPr lang="zh-CN" altLang="en-US" sz="2400" dirty="0"/>
              <a:t>非</a:t>
            </a:r>
            <a:r>
              <a:rPr lang="zh-CN" altLang="pt-BR" sz="2400" dirty="0"/>
              <a:t>空，则右子树上所有结点的值均</a:t>
            </a:r>
            <a:r>
              <a:rPr lang="zh-CN" altLang="pt-BR" sz="2400" dirty="0">
                <a:solidFill>
                  <a:srgbClr val="FF0000"/>
                </a:solidFill>
              </a:rPr>
              <a:t>大于</a:t>
            </a:r>
            <a:r>
              <a:rPr lang="zh-CN" altLang="pt-BR" sz="2400" dirty="0"/>
              <a:t>根结点的值；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左、右子树本身也是一棵二叉查找树。 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524000" y="26696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2208214" y="4221164"/>
          <a:ext cx="3455987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35455" imgH="1033145" progId="Visio.Drawing.11">
                  <p:embed/>
                </p:oleObj>
              </mc:Choice>
              <mc:Fallback>
                <p:oleObj name="Visio" r:id="rId2" imgW="1735455" imgH="103314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221164"/>
                        <a:ext cx="3455987" cy="204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5461749" y="4449822"/>
            <a:ext cx="522931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0000"/>
                </a:solidFill>
              </a:rPr>
              <a:t>中序遍历序列：</a:t>
            </a:r>
          </a:p>
          <a:p>
            <a:pPr eaLnBrk="0" hangingPunct="0"/>
            <a:r>
              <a:rPr lang="en-US" altLang="zh-CN" sz="2400" b="1" dirty="0">
                <a:solidFill>
                  <a:srgbClr val="FF0000"/>
                </a:solidFill>
              </a:rPr>
              <a:t>23, 37, 45, 54, 65, 78, 82, 85, 87, 94 </a:t>
            </a:r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6" name="任意多边形: 形状 6"/>
          <p:cNvSpPr/>
          <p:nvPr/>
        </p:nvSpPr>
        <p:spPr>
          <a:xfrm>
            <a:off x="6781776" y="5318137"/>
            <a:ext cx="4825999" cy="1387134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遍历，输出的结点数据按升序排列！？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8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Text Box 2"/>
          <p:cNvSpPr txBox="1">
            <a:spLocks noChangeArrowheads="1"/>
          </p:cNvSpPr>
          <p:nvPr/>
        </p:nvSpPr>
        <p:spPr bwMode="auto">
          <a:xfrm>
            <a:off x="1133821" y="965586"/>
            <a:ext cx="1505796" cy="4801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defPPr>
              <a:defRPr lang="zh-CN"/>
            </a:defPPr>
            <a:lvl1pPr algn="ctr" eaLnBrk="1" fontAlgn="auto" hangingPunct="1">
              <a:lnSpc>
                <a:spcPct val="90000"/>
              </a:lnSpc>
              <a:spcAft>
                <a:spcPts val="0"/>
              </a:spcAft>
              <a:defRPr sz="280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例 如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:</a:t>
            </a:r>
          </a:p>
        </p:txBody>
      </p:sp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3468688" y="5255717"/>
            <a:ext cx="922339" cy="83099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</a:t>
            </a:r>
            <a:endParaRPr kumimoji="1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1487488" y="966292"/>
            <a:ext cx="8502650" cy="4594225"/>
            <a:chOff x="240" y="226"/>
            <a:chExt cx="4944" cy="2894"/>
          </a:xfrm>
        </p:grpSpPr>
        <p:sp>
          <p:nvSpPr>
            <p:cNvPr id="8201" name="Line 6"/>
            <p:cNvSpPr>
              <a:spLocks noChangeShapeType="1"/>
            </p:cNvSpPr>
            <p:nvPr/>
          </p:nvSpPr>
          <p:spPr bwMode="auto">
            <a:xfrm>
              <a:off x="3072" y="528"/>
              <a:ext cx="764" cy="373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202" name="Group 7"/>
            <p:cNvGrpSpPr/>
            <p:nvPr/>
          </p:nvGrpSpPr>
          <p:grpSpPr bwMode="auto">
            <a:xfrm>
              <a:off x="240" y="226"/>
              <a:ext cx="4944" cy="2894"/>
              <a:chOff x="240" y="226"/>
              <a:chExt cx="4944" cy="2894"/>
            </a:xfrm>
          </p:grpSpPr>
          <p:sp>
            <p:nvSpPr>
              <p:cNvPr id="8203" name="Line 8"/>
              <p:cNvSpPr>
                <a:spLocks noChangeShapeType="1"/>
              </p:cNvSpPr>
              <p:nvPr/>
            </p:nvSpPr>
            <p:spPr bwMode="auto">
              <a:xfrm flipH="1">
                <a:off x="2013" y="506"/>
                <a:ext cx="685" cy="394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4" name="Line 9"/>
              <p:cNvSpPr>
                <a:spLocks noChangeShapeType="1"/>
              </p:cNvSpPr>
              <p:nvPr/>
            </p:nvSpPr>
            <p:spPr bwMode="auto">
              <a:xfrm flipH="1">
                <a:off x="1060" y="1060"/>
                <a:ext cx="623" cy="409"/>
              </a:xfrm>
              <a:prstGeom prst="line">
                <a:avLst/>
              </a:prstGeom>
              <a:noFill/>
              <a:ln w="38100">
                <a:solidFill>
                  <a:srgbClr val="66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5" name="Line 10"/>
              <p:cNvSpPr>
                <a:spLocks noChangeShapeType="1"/>
              </p:cNvSpPr>
              <p:nvPr/>
            </p:nvSpPr>
            <p:spPr bwMode="auto">
              <a:xfrm>
                <a:off x="2064" y="1104"/>
                <a:ext cx="624" cy="384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6" name="Line 11"/>
              <p:cNvSpPr>
                <a:spLocks noChangeShapeType="1"/>
              </p:cNvSpPr>
              <p:nvPr/>
            </p:nvSpPr>
            <p:spPr bwMode="auto">
              <a:xfrm flipH="1">
                <a:off x="458" y="1725"/>
                <a:ext cx="325" cy="424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7" name="Line 12"/>
              <p:cNvSpPr>
                <a:spLocks noChangeShapeType="1"/>
              </p:cNvSpPr>
              <p:nvPr/>
            </p:nvSpPr>
            <p:spPr bwMode="auto">
              <a:xfrm>
                <a:off x="1008" y="1728"/>
                <a:ext cx="336" cy="384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8" name="Line 13"/>
              <p:cNvSpPr>
                <a:spLocks noChangeShapeType="1"/>
              </p:cNvSpPr>
              <p:nvPr/>
            </p:nvSpPr>
            <p:spPr bwMode="auto">
              <a:xfrm flipH="1">
                <a:off x="1008" y="2430"/>
                <a:ext cx="288" cy="306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09" name="Line 14"/>
              <p:cNvSpPr>
                <a:spLocks noChangeShapeType="1"/>
              </p:cNvSpPr>
              <p:nvPr/>
            </p:nvSpPr>
            <p:spPr bwMode="auto">
              <a:xfrm flipH="1">
                <a:off x="2304" y="1728"/>
                <a:ext cx="384" cy="384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0" name="Line 15"/>
              <p:cNvSpPr>
                <a:spLocks noChangeShapeType="1"/>
              </p:cNvSpPr>
              <p:nvPr/>
            </p:nvSpPr>
            <p:spPr bwMode="auto">
              <a:xfrm>
                <a:off x="4143" y="1039"/>
                <a:ext cx="667" cy="452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1" name="Line 16"/>
              <p:cNvSpPr>
                <a:spLocks noChangeShapeType="1"/>
              </p:cNvSpPr>
              <p:nvPr/>
            </p:nvSpPr>
            <p:spPr bwMode="auto">
              <a:xfrm flipH="1">
                <a:off x="4464" y="1703"/>
                <a:ext cx="416" cy="457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2" name="Line 17"/>
              <p:cNvSpPr>
                <a:spLocks noChangeShapeType="1"/>
              </p:cNvSpPr>
              <p:nvPr/>
            </p:nvSpPr>
            <p:spPr bwMode="auto">
              <a:xfrm>
                <a:off x="4416" y="2448"/>
                <a:ext cx="454" cy="331"/>
              </a:xfrm>
              <a:prstGeom prst="line">
                <a:avLst/>
              </a:prstGeom>
              <a:noFill/>
              <a:ln w="38100">
                <a:solidFill>
                  <a:srgbClr val="3366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13" name="Oval 18"/>
              <p:cNvSpPr>
                <a:spLocks noChangeArrowheads="1"/>
              </p:cNvSpPr>
              <p:nvPr/>
            </p:nvSpPr>
            <p:spPr bwMode="auto">
              <a:xfrm>
                <a:off x="2640" y="226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50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14" name="Oval 19"/>
              <p:cNvSpPr>
                <a:spLocks noChangeArrowheads="1"/>
              </p:cNvSpPr>
              <p:nvPr/>
            </p:nvSpPr>
            <p:spPr bwMode="auto">
              <a:xfrm>
                <a:off x="1632" y="802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30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15" name="Oval 20"/>
              <p:cNvSpPr>
                <a:spLocks noChangeArrowheads="1"/>
              </p:cNvSpPr>
              <p:nvPr/>
            </p:nvSpPr>
            <p:spPr bwMode="auto">
              <a:xfrm>
                <a:off x="3744" y="802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80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16" name="Oval 21"/>
              <p:cNvSpPr>
                <a:spLocks noChangeArrowheads="1"/>
              </p:cNvSpPr>
              <p:nvPr/>
            </p:nvSpPr>
            <p:spPr bwMode="auto">
              <a:xfrm>
                <a:off x="672" y="1378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20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17" name="Oval 22"/>
              <p:cNvSpPr>
                <a:spLocks noChangeArrowheads="1"/>
              </p:cNvSpPr>
              <p:nvPr/>
            </p:nvSpPr>
            <p:spPr bwMode="auto">
              <a:xfrm>
                <a:off x="4704" y="1378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90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18" name="Oval 23"/>
              <p:cNvSpPr>
                <a:spLocks noChangeArrowheads="1"/>
              </p:cNvSpPr>
              <p:nvPr/>
            </p:nvSpPr>
            <p:spPr bwMode="auto">
              <a:xfrm>
                <a:off x="240" y="2112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10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19" name="Oval 24"/>
              <p:cNvSpPr>
                <a:spLocks noChangeArrowheads="1"/>
              </p:cNvSpPr>
              <p:nvPr/>
            </p:nvSpPr>
            <p:spPr bwMode="auto">
              <a:xfrm>
                <a:off x="4080" y="2098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85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20" name="Oval 25"/>
              <p:cNvSpPr>
                <a:spLocks noChangeArrowheads="1"/>
              </p:cNvSpPr>
              <p:nvPr/>
            </p:nvSpPr>
            <p:spPr bwMode="auto">
              <a:xfrm>
                <a:off x="2640" y="1378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40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21" name="Oval 26"/>
              <p:cNvSpPr>
                <a:spLocks noChangeArrowheads="1"/>
              </p:cNvSpPr>
              <p:nvPr/>
            </p:nvSpPr>
            <p:spPr bwMode="auto">
              <a:xfrm>
                <a:off x="2064" y="2112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35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22" name="Oval 27"/>
              <p:cNvSpPr>
                <a:spLocks noChangeArrowheads="1"/>
              </p:cNvSpPr>
              <p:nvPr/>
            </p:nvSpPr>
            <p:spPr bwMode="auto">
              <a:xfrm>
                <a:off x="1152" y="2112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25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23" name="Oval 28"/>
              <p:cNvSpPr>
                <a:spLocks noChangeArrowheads="1"/>
              </p:cNvSpPr>
              <p:nvPr/>
            </p:nvSpPr>
            <p:spPr bwMode="auto">
              <a:xfrm>
                <a:off x="768" y="2736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23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224" name="Oval 29"/>
              <p:cNvSpPr>
                <a:spLocks noChangeArrowheads="1"/>
              </p:cNvSpPr>
              <p:nvPr/>
            </p:nvSpPr>
            <p:spPr bwMode="auto">
              <a:xfrm>
                <a:off x="4704" y="2736"/>
                <a:ext cx="480" cy="384"/>
              </a:xfrm>
              <a:prstGeom prst="ellipse">
                <a:avLst/>
              </a:prstGeom>
              <a:solidFill>
                <a:srgbClr val="92D050"/>
              </a:solidFill>
              <a:ln w="38100" cap="sq">
                <a:noFill/>
                <a:round/>
                <a:headEnd type="none" w="sm" len="sm"/>
                <a:tailEnd type="none" w="sm" len="sm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3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 b="1">
                    <a:solidFill>
                      <a:srgbClr val="080808"/>
                    </a:solidFill>
                    <a:latin typeface="Times New Roman" panose="02020603050405020304" pitchFamily="18" charset="0"/>
                    <a:ea typeface="华文细黑" panose="0201060004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88</a:t>
                </a:r>
                <a:endParaRPr kumimoji="1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4" name="Group 30"/>
          <p:cNvGrpSpPr/>
          <p:nvPr/>
        </p:nvGrpSpPr>
        <p:grpSpPr bwMode="auto">
          <a:xfrm>
            <a:off x="6242051" y="3404692"/>
            <a:ext cx="1371600" cy="1252538"/>
            <a:chOff x="3005" y="1762"/>
            <a:chExt cx="797" cy="789"/>
          </a:xfrm>
        </p:grpSpPr>
        <p:sp>
          <p:nvSpPr>
            <p:cNvPr id="8199" name="Line 31"/>
            <p:cNvSpPr>
              <a:spLocks noChangeShapeType="1"/>
            </p:cNvSpPr>
            <p:nvPr/>
          </p:nvSpPr>
          <p:spPr bwMode="auto">
            <a:xfrm>
              <a:off x="3005" y="1762"/>
              <a:ext cx="553" cy="553"/>
            </a:xfrm>
            <a:prstGeom prst="line">
              <a:avLst/>
            </a:prstGeom>
            <a:noFill/>
            <a:ln w="38100">
              <a:solidFill>
                <a:srgbClr val="00808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00" name="Oval 32"/>
            <p:cNvSpPr>
              <a:spLocks noChangeArrowheads="1"/>
            </p:cNvSpPr>
            <p:nvPr/>
          </p:nvSpPr>
          <p:spPr bwMode="auto">
            <a:xfrm>
              <a:off x="3322" y="2215"/>
              <a:ext cx="480" cy="336"/>
            </a:xfrm>
            <a:prstGeom prst="ellipse">
              <a:avLst/>
            </a:prstGeom>
            <a:solidFill>
              <a:srgbClr val="0070C0"/>
            </a:solidFill>
            <a:ln w="38100">
              <a:noFill/>
              <a:rou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3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66</a:t>
              </a:r>
              <a:endPara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4451752" y="5327154"/>
            <a:ext cx="3639735" cy="70788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是二叉查找树。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二叉查找树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85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78" grpId="0" autoUpdateAnimBg="0"/>
      <p:bldP spid="485380" grpId="0" autoUpdateAnimBg="0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981200" y="625158"/>
            <a:ext cx="79121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重构二叉查找树，只需单独使用下面那种序列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前序遍历序列</a:t>
            </a: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后序遍历序列</a:t>
            </a: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层序遍历序列</a:t>
            </a: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矩形 1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10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3346903" y="36433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中序遍历序列</a:t>
            </a:r>
          </a:p>
        </p:txBody>
      </p:sp>
      <p:grpSp>
        <p:nvGrpSpPr>
          <p:cNvPr id="10" name="组合 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下面的序列是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BTS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的前序遍历结果，哪个正确？</a:t>
            </a: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1486684"/>
            <a:ext cx="5157787" cy="32380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</a:t>
            </a: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cs typeface="+mj-cs"/>
              </a:rPr>
              <a:t>查找</a:t>
            </a: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树</a:t>
            </a:r>
          </a:p>
        </p:txBody>
      </p:sp>
      <p:sp>
        <p:nvSpPr>
          <p:cNvPr id="9" name="矩形 8"/>
          <p:cNvSpPr/>
          <p:nvPr/>
        </p:nvSpPr>
        <p:spPr>
          <a:xfrm>
            <a:off x="4441786" y="1194813"/>
            <a:ext cx="3651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递归算法</a:t>
            </a:r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任意多边形: 形状 6"/>
              <p:cNvSpPr/>
              <p:nvPr/>
            </p:nvSpPr>
            <p:spPr>
              <a:xfrm>
                <a:off x="2608309" y="1976941"/>
                <a:ext cx="7628282" cy="440956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Search(</a:t>
                </a:r>
                <a:r>
                  <a:rPr lang="en-US" altLang="zh-CN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输入：二叉查找树</a:t>
                </a:r>
                <a:r>
                  <a:rPr lang="en-US" altLang="zh-CN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，数据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输出：如果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在树中，返回结点；否则返回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=NIL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或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bst.data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空结点或者与结点数据相同，返回结点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bst.data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Search(</a:t>
                </a:r>
                <a:r>
                  <a:rPr lang="en-US" altLang="zh-CN" sz="2000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bst.left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key)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递归查找左子树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//key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bst.data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Search(</a:t>
                </a:r>
                <a:r>
                  <a:rPr lang="en-US" altLang="zh-CN" sz="2000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bst.right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key)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递归查找右子树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</a:t>
                </a:r>
                <a:endParaRPr lang="en-US" altLang="zh-CN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71755"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</a:t>
                </a:r>
              </a:p>
            </p:txBody>
          </p:sp>
        </mc:Choice>
        <mc:Fallback xmlns="">
          <p:sp>
            <p:nvSpPr>
              <p:cNvPr id="12" name="任意多边形: 形状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309" y="1976941"/>
                <a:ext cx="7628282" cy="440956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 rotWithShape="1">
                <a:blip r:embed="rId3"/>
                <a:stretch>
                  <a:fillRect l="-88" t="-148" r="-78" b="-137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1486684"/>
            <a:ext cx="5157787" cy="32380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</a:t>
            </a: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cs typeface="+mj-cs"/>
              </a:rPr>
              <a:t>查找</a:t>
            </a: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树</a:t>
            </a:r>
          </a:p>
        </p:txBody>
      </p:sp>
      <p:sp>
        <p:nvSpPr>
          <p:cNvPr id="9" name="矩形 8"/>
          <p:cNvSpPr/>
          <p:nvPr/>
        </p:nvSpPr>
        <p:spPr>
          <a:xfrm>
            <a:off x="4441786" y="1194813"/>
            <a:ext cx="57038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非递归算法（二分）</a:t>
            </a:r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任意多边形: 形状 6"/>
              <p:cNvSpPr/>
              <p:nvPr/>
            </p:nvSpPr>
            <p:spPr>
              <a:xfrm>
                <a:off x="2608309" y="1976941"/>
                <a:ext cx="7628282" cy="440956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Search(</a:t>
                </a:r>
                <a:r>
                  <a:rPr lang="en-US" altLang="zh-CN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输入：二叉查找树</a:t>
                </a:r>
                <a:r>
                  <a:rPr lang="en-US" altLang="zh-CN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，数据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输出：如果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在树中，返回结点；否则返回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while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</a:t>
                </a:r>
                <a14:m>
                  <m:oMath xmlns:m="http://schemas.openxmlformats.org/officeDocument/2006/math">
                    <m:r>
                      <a:rPr lang="zh-CN" alt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node_ptr.data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do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node_ptr.data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sz="2000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node_ptr.left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查找左子树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//key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node_ptr.data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 </m:t>
                    </m:r>
                  </m:oMath>
                </a14:m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node_ptr.right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查找右子树</a:t>
                </a:r>
                <a:endPara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</a:t>
                </a:r>
                <a:endParaRPr lang="en-US" altLang="zh-CN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755"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</a:t>
                </a:r>
              </a:p>
            </p:txBody>
          </p:sp>
        </mc:Choice>
        <mc:Fallback xmlns="">
          <p:sp>
            <p:nvSpPr>
              <p:cNvPr id="12" name="任意多边形: 形状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309" y="1976941"/>
                <a:ext cx="7628282" cy="440956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 rotWithShape="1">
                <a:blip r:embed="rId3"/>
                <a:stretch>
                  <a:fillRect l="-88" t="-148" r="-78" b="-137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1486684"/>
            <a:ext cx="5157787" cy="32380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</a:t>
            </a: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cs typeface="+mj-cs"/>
              </a:rPr>
              <a:t>查找</a:t>
            </a: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树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6042248" y="3245041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6134613" y="2564520"/>
          <a:ext cx="3900488" cy="213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843405" imgH="1094105" progId="Visio.Drawing.11">
                  <p:embed/>
                </p:oleObj>
              </mc:Choice>
              <mc:Fallback>
                <p:oleObj name="Visio" r:id="rId3" imgW="1843405" imgH="109410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613" y="2564520"/>
                        <a:ext cx="3900488" cy="213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7429" name="Text Box 5"/>
          <p:cNvSpPr txBox="1">
            <a:spLocks noChangeArrowheads="1"/>
          </p:cNvSpPr>
          <p:nvPr/>
        </p:nvSpPr>
        <p:spPr bwMode="auto">
          <a:xfrm>
            <a:off x="2428876" y="2420938"/>
            <a:ext cx="1482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key=45</a:t>
            </a:r>
          </a:p>
        </p:txBody>
      </p:sp>
      <p:grpSp>
        <p:nvGrpSpPr>
          <p:cNvPr id="3" name="Group 6"/>
          <p:cNvGrpSpPr/>
          <p:nvPr/>
        </p:nvGrpSpPr>
        <p:grpSpPr bwMode="auto">
          <a:xfrm>
            <a:off x="7226813" y="1988257"/>
            <a:ext cx="781050" cy="647700"/>
            <a:chOff x="3515" y="890"/>
            <a:chExt cx="454" cy="408"/>
          </a:xfrm>
        </p:grpSpPr>
        <p:sp>
          <p:nvSpPr>
            <p:cNvPr id="9245" name="Line 7"/>
            <p:cNvSpPr>
              <a:spLocks noChangeShapeType="1"/>
            </p:cNvSpPr>
            <p:nvPr/>
          </p:nvSpPr>
          <p:spPr bwMode="auto">
            <a:xfrm>
              <a:off x="3696" y="1026"/>
              <a:ext cx="273" cy="27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6" name="Text Box 8"/>
            <p:cNvSpPr txBox="1">
              <a:spLocks noChangeArrowheads="1"/>
            </p:cNvSpPr>
            <p:nvPr/>
          </p:nvSpPr>
          <p:spPr bwMode="auto">
            <a:xfrm>
              <a:off x="3515" y="890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3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</p:grpSp>
      <p:grpSp>
        <p:nvGrpSpPr>
          <p:cNvPr id="4" name="Group 9"/>
          <p:cNvGrpSpPr/>
          <p:nvPr/>
        </p:nvGrpSpPr>
        <p:grpSpPr bwMode="auto">
          <a:xfrm>
            <a:off x="6445763" y="2493082"/>
            <a:ext cx="781050" cy="647700"/>
            <a:chOff x="3515" y="890"/>
            <a:chExt cx="454" cy="408"/>
          </a:xfrm>
        </p:grpSpPr>
        <p:sp>
          <p:nvSpPr>
            <p:cNvPr id="9243" name="Line 10"/>
            <p:cNvSpPr>
              <a:spLocks noChangeShapeType="1"/>
            </p:cNvSpPr>
            <p:nvPr/>
          </p:nvSpPr>
          <p:spPr bwMode="auto">
            <a:xfrm>
              <a:off x="3696" y="1026"/>
              <a:ext cx="273" cy="27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4" name="Text Box 11"/>
            <p:cNvSpPr txBox="1">
              <a:spLocks noChangeArrowheads="1"/>
            </p:cNvSpPr>
            <p:nvPr/>
          </p:nvSpPr>
          <p:spPr bwMode="auto">
            <a:xfrm>
              <a:off x="3515" y="890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3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</p:grpSp>
      <p:grpSp>
        <p:nvGrpSpPr>
          <p:cNvPr id="5" name="Group 12"/>
          <p:cNvGrpSpPr/>
          <p:nvPr/>
        </p:nvGrpSpPr>
        <p:grpSpPr bwMode="auto">
          <a:xfrm>
            <a:off x="5901251" y="3140782"/>
            <a:ext cx="781050" cy="647700"/>
            <a:chOff x="3515" y="890"/>
            <a:chExt cx="454" cy="408"/>
          </a:xfrm>
        </p:grpSpPr>
        <p:sp>
          <p:nvSpPr>
            <p:cNvPr id="9241" name="Line 13"/>
            <p:cNvSpPr>
              <a:spLocks noChangeShapeType="1"/>
            </p:cNvSpPr>
            <p:nvPr/>
          </p:nvSpPr>
          <p:spPr bwMode="auto">
            <a:xfrm>
              <a:off x="3696" y="1026"/>
              <a:ext cx="273" cy="27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2" name="Text Box 14"/>
            <p:cNvSpPr txBox="1">
              <a:spLocks noChangeArrowheads="1"/>
            </p:cNvSpPr>
            <p:nvPr/>
          </p:nvSpPr>
          <p:spPr bwMode="auto">
            <a:xfrm>
              <a:off x="3515" y="890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3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</p:grpSp>
      <p:grpSp>
        <p:nvGrpSpPr>
          <p:cNvPr id="6" name="Group 15"/>
          <p:cNvGrpSpPr/>
          <p:nvPr/>
        </p:nvGrpSpPr>
        <p:grpSpPr bwMode="auto">
          <a:xfrm>
            <a:off x="7383977" y="4609221"/>
            <a:ext cx="701675" cy="719137"/>
            <a:chOff x="3606" y="2523"/>
            <a:chExt cx="408" cy="453"/>
          </a:xfrm>
        </p:grpSpPr>
        <p:sp>
          <p:nvSpPr>
            <p:cNvPr id="9239" name="Line 16"/>
            <p:cNvSpPr>
              <a:spLocks noChangeShapeType="1"/>
            </p:cNvSpPr>
            <p:nvPr/>
          </p:nvSpPr>
          <p:spPr bwMode="auto">
            <a:xfrm flipH="1" flipV="1">
              <a:off x="3606" y="2523"/>
              <a:ext cx="226" cy="272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40" name="Text Box 17"/>
            <p:cNvSpPr txBox="1">
              <a:spLocks noChangeArrowheads="1"/>
            </p:cNvSpPr>
            <p:nvPr/>
          </p:nvSpPr>
          <p:spPr bwMode="auto">
            <a:xfrm>
              <a:off x="3742" y="2745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3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</p:grpSp>
      <p:sp>
        <p:nvSpPr>
          <p:cNvPr id="487442" name="Oval 18"/>
          <p:cNvSpPr>
            <a:spLocks noChangeArrowheads="1"/>
          </p:cNvSpPr>
          <p:nvPr/>
        </p:nvSpPr>
        <p:spPr bwMode="auto">
          <a:xfrm>
            <a:off x="7045838" y="4301245"/>
            <a:ext cx="388938" cy="360362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7443" name="Text Box 19"/>
          <p:cNvSpPr txBox="1">
            <a:spLocks noChangeArrowheads="1"/>
          </p:cNvSpPr>
          <p:nvPr/>
        </p:nvSpPr>
        <p:spPr bwMode="auto">
          <a:xfrm>
            <a:off x="2427288" y="3357563"/>
            <a:ext cx="1795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key=81 </a:t>
            </a:r>
          </a:p>
        </p:txBody>
      </p:sp>
      <p:grpSp>
        <p:nvGrpSpPr>
          <p:cNvPr id="7" name="Group 20"/>
          <p:cNvGrpSpPr/>
          <p:nvPr/>
        </p:nvGrpSpPr>
        <p:grpSpPr bwMode="auto">
          <a:xfrm>
            <a:off x="8163439" y="1837445"/>
            <a:ext cx="936625" cy="798512"/>
            <a:chOff x="4105" y="3381"/>
            <a:chExt cx="544" cy="503"/>
          </a:xfrm>
        </p:grpSpPr>
        <p:sp>
          <p:nvSpPr>
            <p:cNvPr id="9237" name="Line 21"/>
            <p:cNvSpPr>
              <a:spLocks noChangeShapeType="1"/>
            </p:cNvSpPr>
            <p:nvPr/>
          </p:nvSpPr>
          <p:spPr bwMode="auto">
            <a:xfrm flipH="1">
              <a:off x="4105" y="3475"/>
              <a:ext cx="272" cy="40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8" name="Text Box 22"/>
            <p:cNvSpPr txBox="1">
              <a:spLocks noChangeArrowheads="1"/>
            </p:cNvSpPr>
            <p:nvPr/>
          </p:nvSpPr>
          <p:spPr bwMode="auto">
            <a:xfrm>
              <a:off x="4377" y="3381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3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</p:grpSp>
      <p:grpSp>
        <p:nvGrpSpPr>
          <p:cNvPr id="8" name="Group 23"/>
          <p:cNvGrpSpPr/>
          <p:nvPr/>
        </p:nvGrpSpPr>
        <p:grpSpPr bwMode="auto">
          <a:xfrm>
            <a:off x="8877813" y="2331158"/>
            <a:ext cx="935038" cy="798513"/>
            <a:chOff x="4105" y="3381"/>
            <a:chExt cx="544" cy="503"/>
          </a:xfrm>
        </p:grpSpPr>
        <p:sp>
          <p:nvSpPr>
            <p:cNvPr id="9235" name="Line 24"/>
            <p:cNvSpPr>
              <a:spLocks noChangeShapeType="1"/>
            </p:cNvSpPr>
            <p:nvPr/>
          </p:nvSpPr>
          <p:spPr bwMode="auto">
            <a:xfrm flipH="1">
              <a:off x="4105" y="3475"/>
              <a:ext cx="272" cy="40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6" name="Text Box 25"/>
            <p:cNvSpPr txBox="1">
              <a:spLocks noChangeArrowheads="1"/>
            </p:cNvSpPr>
            <p:nvPr/>
          </p:nvSpPr>
          <p:spPr bwMode="auto">
            <a:xfrm>
              <a:off x="4377" y="3381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3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</p:grpSp>
      <p:grpSp>
        <p:nvGrpSpPr>
          <p:cNvPr id="9" name="Group 26"/>
          <p:cNvGrpSpPr/>
          <p:nvPr/>
        </p:nvGrpSpPr>
        <p:grpSpPr bwMode="auto">
          <a:xfrm>
            <a:off x="7850702" y="3853571"/>
            <a:ext cx="623887" cy="727075"/>
            <a:chOff x="4558" y="2840"/>
            <a:chExt cx="363" cy="458"/>
          </a:xfrm>
        </p:grpSpPr>
        <p:sp>
          <p:nvSpPr>
            <p:cNvPr id="9233" name="Line 27"/>
            <p:cNvSpPr>
              <a:spLocks noChangeShapeType="1"/>
            </p:cNvSpPr>
            <p:nvPr/>
          </p:nvSpPr>
          <p:spPr bwMode="auto">
            <a:xfrm flipV="1">
              <a:off x="4558" y="2840"/>
              <a:ext cx="363" cy="321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34" name="Text Box 28"/>
            <p:cNvSpPr txBox="1">
              <a:spLocks noChangeArrowheads="1"/>
            </p:cNvSpPr>
            <p:nvPr/>
          </p:nvSpPr>
          <p:spPr bwMode="auto">
            <a:xfrm>
              <a:off x="4558" y="3067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3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b="1">
                  <a:solidFill>
                    <a:srgbClr val="080808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</a:t>
              </a:r>
            </a:p>
          </p:txBody>
        </p:sp>
      </p:grpSp>
      <p:sp>
        <p:nvSpPr>
          <p:cNvPr id="10" name="矩形 9"/>
          <p:cNvSpPr/>
          <p:nvPr/>
        </p:nvSpPr>
        <p:spPr>
          <a:xfrm>
            <a:off x="4441786" y="1194813"/>
            <a:ext cx="14109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</a:t>
            </a:r>
          </a:p>
        </p:txBody>
      </p:sp>
      <p:sp>
        <p:nvSpPr>
          <p:cNvPr id="33" name="矩形 32"/>
          <p:cNvSpPr/>
          <p:nvPr/>
        </p:nvSpPr>
        <p:spPr>
          <a:xfrm rot="2974229">
            <a:off x="3815124" y="3555187"/>
            <a:ext cx="684624" cy="13062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D9F7E9"/>
              </a:solidFill>
              <a:effectLst/>
              <a:uLnTx/>
              <a:uFillTx/>
              <a:latin typeface="Times New Roman" panose="02020603050405020304"/>
              <a:ea typeface="华文细黑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 rot="8055935">
            <a:off x="3815124" y="3555186"/>
            <a:ext cx="684624" cy="13062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D9F7E9"/>
              </a:solidFill>
              <a:effectLst/>
              <a:uLnTx/>
              <a:uFillTx/>
              <a:latin typeface="Times New Roman" panose="02020603050405020304"/>
              <a:ea typeface="华文细黑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 rot="2974229">
            <a:off x="3829503" y="2647945"/>
            <a:ext cx="375897" cy="14751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D9F7E9"/>
              </a:solidFill>
              <a:effectLst/>
              <a:uLnTx/>
              <a:uFillTx/>
              <a:latin typeface="Times New Roman" panose="02020603050405020304"/>
              <a:ea typeface="华文细黑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 rot="8055935">
            <a:off x="3963237" y="2556566"/>
            <a:ext cx="684624" cy="13062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D9F7E9"/>
              </a:solidFill>
              <a:effectLst/>
              <a:uLnTx/>
              <a:uFillTx/>
              <a:latin typeface="Times New Roman" panose="02020603050405020304"/>
              <a:ea typeface="华文细黑"/>
              <a:cs typeface="+mn-cs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8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8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8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3" dur="500"/>
                                        <p:tgtEl>
                                          <p:spTgt spid="487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/>
      <p:bldP spid="487429" grpId="0"/>
      <p:bldP spid="487442" grpId="0" animBg="1"/>
      <p:bldP spid="487442" grpId="1" animBg="1"/>
      <p:bldP spid="487443" grpId="0"/>
      <p:bldP spid="9" grpId="0"/>
      <p:bldP spid="33" grpId="0" animBg="1"/>
      <p:bldP spid="34" grpId="0" animBg="1"/>
      <p:bldP spid="37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120549" y="2698549"/>
            <a:ext cx="7704856" cy="75713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78963"/>
              </a:buClr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插入”操作在</a:t>
            </a:r>
            <a:r>
              <a:rPr kumimoji="1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查找不成功</a:t>
            </a: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时才进行；</a:t>
            </a:r>
          </a:p>
        </p:txBody>
      </p:sp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插入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226371" y="4514147"/>
            <a:ext cx="10338443" cy="70076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78963"/>
              </a:buClr>
              <a:buSzTx/>
              <a:buFontTx/>
              <a:buNone/>
              <a:defRPr/>
            </a:pPr>
            <a:r>
              <a:rPr kumimoji="1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插入”</a:t>
            </a:r>
            <a:r>
              <a:rPr kumimoji="1" lang="zh-CN" altLang="en-US" sz="3600" kern="0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的数据存放在二叉查找树的</a:t>
            </a:r>
            <a:r>
              <a:rPr kumimoji="1" lang="zh-CN" altLang="en-US" sz="36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新叶结点中</a:t>
            </a: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11..2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303108" name="Group 4"/>
          <p:cNvGrpSpPr/>
          <p:nvPr/>
        </p:nvGrpSpPr>
        <p:grpSpPr bwMode="auto">
          <a:xfrm>
            <a:off x="2838157" y="2213317"/>
            <a:ext cx="1905000" cy="1600200"/>
            <a:chOff x="624" y="2784"/>
            <a:chExt cx="1200" cy="1008"/>
          </a:xfrm>
        </p:grpSpPr>
        <p:sp>
          <p:nvSpPr>
            <p:cNvPr id="14370" name="Oval 5"/>
            <p:cNvSpPr>
              <a:spLocks noChangeArrowheads="1"/>
            </p:cNvSpPr>
            <p:nvPr/>
          </p:nvSpPr>
          <p:spPr bwMode="auto">
            <a:xfrm>
              <a:off x="1296" y="2784"/>
              <a:ext cx="240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14371" name="Oval 6"/>
            <p:cNvSpPr>
              <a:spLocks noChangeArrowheads="1"/>
            </p:cNvSpPr>
            <p:nvPr/>
          </p:nvSpPr>
          <p:spPr bwMode="auto">
            <a:xfrm>
              <a:off x="912" y="3168"/>
              <a:ext cx="240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372" name="Oval 7"/>
            <p:cNvSpPr>
              <a:spLocks noChangeArrowheads="1"/>
            </p:cNvSpPr>
            <p:nvPr/>
          </p:nvSpPr>
          <p:spPr bwMode="auto">
            <a:xfrm>
              <a:off x="624" y="3552"/>
              <a:ext cx="240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373" name="Line 8"/>
            <p:cNvSpPr>
              <a:spLocks noChangeShapeType="1"/>
            </p:cNvSpPr>
            <p:nvPr/>
          </p:nvSpPr>
          <p:spPr bwMode="auto">
            <a:xfrm flipH="1">
              <a:off x="793" y="3386"/>
              <a:ext cx="190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4" name="Line 9"/>
            <p:cNvSpPr>
              <a:spLocks noChangeShapeType="1"/>
            </p:cNvSpPr>
            <p:nvPr/>
          </p:nvSpPr>
          <p:spPr bwMode="auto">
            <a:xfrm flipH="1">
              <a:off x="1078" y="2976"/>
              <a:ext cx="218" cy="2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Oval 10"/>
            <p:cNvSpPr>
              <a:spLocks noChangeArrowheads="1"/>
            </p:cNvSpPr>
            <p:nvPr/>
          </p:nvSpPr>
          <p:spPr bwMode="auto">
            <a:xfrm flipH="1">
              <a:off x="1584" y="3168"/>
              <a:ext cx="240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40</a:t>
              </a:r>
            </a:p>
          </p:txBody>
        </p:sp>
        <p:sp>
          <p:nvSpPr>
            <p:cNvPr id="14376" name="Line 11"/>
            <p:cNvSpPr>
              <a:spLocks noChangeShapeType="1"/>
            </p:cNvSpPr>
            <p:nvPr/>
          </p:nvSpPr>
          <p:spPr bwMode="auto">
            <a:xfrm>
              <a:off x="1509" y="2976"/>
              <a:ext cx="190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3117" name="Text Box 13"/>
          <p:cNvSpPr txBox="1">
            <a:spLocks noChangeArrowheads="1"/>
          </p:cNvSpPr>
          <p:nvPr/>
        </p:nvSpPr>
        <p:spPr bwMode="auto">
          <a:xfrm>
            <a:off x="5200357" y="2060918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ea typeface="宋体" panose="02010600030101010101" pitchFamily="2" charset="-122"/>
              </a:rPr>
              <a:t>插入</a:t>
            </a:r>
            <a:r>
              <a:rPr kumimoji="1" lang="en-US" altLang="zh-CN" sz="2000" b="1" dirty="0">
                <a:ea typeface="宋体" panose="02010600030101010101" pitchFamily="2" charset="-122"/>
              </a:rPr>
              <a:t> 80</a:t>
            </a:r>
          </a:p>
        </p:txBody>
      </p:sp>
      <p:sp>
        <p:nvSpPr>
          <p:cNvPr id="303118" name="Text Box 14"/>
          <p:cNvSpPr txBox="1">
            <a:spLocks noChangeArrowheads="1"/>
          </p:cNvSpPr>
          <p:nvPr/>
        </p:nvSpPr>
        <p:spPr bwMode="auto">
          <a:xfrm>
            <a:off x="5276557" y="2441917"/>
            <a:ext cx="457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ea typeface="宋体" panose="02010600030101010101" pitchFamily="2" charset="-122"/>
                <a:sym typeface="Wingdings" panose="05000000000000000000" pitchFamily="2" charset="2"/>
              </a:rPr>
              <a:t> 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检查</a:t>
            </a:r>
            <a:r>
              <a:rPr kumimoji="1"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 </a:t>
            </a:r>
            <a:r>
              <a:rPr kumimoji="1"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80</a:t>
            </a:r>
            <a:r>
              <a:rPr kumimoji="1"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是否在树中</a:t>
            </a:r>
            <a:endParaRPr kumimoji="1"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303119" name="Line 15"/>
          <p:cNvSpPr>
            <a:spLocks noChangeShapeType="1"/>
          </p:cNvSpPr>
          <p:nvPr/>
        </p:nvSpPr>
        <p:spPr bwMode="auto">
          <a:xfrm flipH="1">
            <a:off x="4285957" y="2365717"/>
            <a:ext cx="381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20" name="Line 16"/>
          <p:cNvSpPr>
            <a:spLocks noChangeShapeType="1"/>
          </p:cNvSpPr>
          <p:nvPr/>
        </p:nvSpPr>
        <p:spPr bwMode="auto">
          <a:xfrm flipH="1">
            <a:off x="4743157" y="2975317"/>
            <a:ext cx="381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21" name="Text Box 17"/>
          <p:cNvSpPr txBox="1">
            <a:spLocks noChangeArrowheads="1"/>
          </p:cNvSpPr>
          <p:nvPr/>
        </p:nvSpPr>
        <p:spPr bwMode="auto">
          <a:xfrm>
            <a:off x="5276557" y="2975317"/>
            <a:ext cx="5029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9255" indent="-3892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ea typeface="宋体" panose="02010600030101010101" pitchFamily="2" charset="-122"/>
                <a:sym typeface="Wingdings" panose="05000000000000000000" pitchFamily="2" charset="2"/>
              </a:rPr>
              <a:t> </a:t>
            </a:r>
            <a:r>
              <a:rPr kumimoji="1"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80</a:t>
            </a:r>
            <a:r>
              <a:rPr kumimoji="1"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&gt; 40, 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所以必定应该是</a:t>
            </a:r>
            <a:r>
              <a:rPr kumimoji="1"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40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的右子树</a:t>
            </a:r>
            <a:endParaRPr kumimoji="1" lang="en-US" altLang="zh-CN" sz="2000" b="1" dirty="0">
              <a:ea typeface="宋体" panose="02010600030101010101" pitchFamily="2" charset="-122"/>
            </a:endParaRPr>
          </a:p>
        </p:txBody>
      </p:sp>
      <p:grpSp>
        <p:nvGrpSpPr>
          <p:cNvPr id="303122" name="Group 18"/>
          <p:cNvGrpSpPr/>
          <p:nvPr/>
        </p:nvGrpSpPr>
        <p:grpSpPr bwMode="auto">
          <a:xfrm>
            <a:off x="4700295" y="3162643"/>
            <a:ext cx="500062" cy="650875"/>
            <a:chOff x="1797" y="1750"/>
            <a:chExt cx="315" cy="410"/>
          </a:xfrm>
        </p:grpSpPr>
        <p:sp>
          <p:nvSpPr>
            <p:cNvPr id="14368" name="Oval 19"/>
            <p:cNvSpPr>
              <a:spLocks noChangeArrowheads="1"/>
            </p:cNvSpPr>
            <p:nvPr/>
          </p:nvSpPr>
          <p:spPr bwMode="auto">
            <a:xfrm>
              <a:off x="1872" y="1920"/>
              <a:ext cx="240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80</a:t>
              </a:r>
            </a:p>
          </p:txBody>
        </p:sp>
        <p:sp>
          <p:nvSpPr>
            <p:cNvPr id="14369" name="Line 20"/>
            <p:cNvSpPr>
              <a:spLocks noChangeShapeType="1"/>
            </p:cNvSpPr>
            <p:nvPr/>
          </p:nvSpPr>
          <p:spPr bwMode="auto">
            <a:xfrm>
              <a:off x="1797" y="1750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3125" name="Line 21"/>
          <p:cNvSpPr>
            <a:spLocks noChangeShapeType="1"/>
          </p:cNvSpPr>
          <p:nvPr/>
        </p:nvSpPr>
        <p:spPr bwMode="auto">
          <a:xfrm flipH="1">
            <a:off x="4743157" y="2975317"/>
            <a:ext cx="381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26" name="Text Box 22"/>
          <p:cNvSpPr txBox="1">
            <a:spLocks noChangeArrowheads="1"/>
          </p:cNvSpPr>
          <p:nvPr/>
        </p:nvSpPr>
        <p:spPr bwMode="auto">
          <a:xfrm>
            <a:off x="2761957" y="4194518"/>
            <a:ext cx="1371600" cy="396875"/>
          </a:xfrm>
          <a:prstGeom prst="rect">
            <a:avLst/>
          </a:prstGeom>
          <a:noFill/>
          <a:ln w="2540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ea typeface="宋体" panose="02010600030101010101" pitchFamily="2" charset="-122"/>
              </a:rPr>
              <a:t>插入</a:t>
            </a:r>
            <a:r>
              <a:rPr kumimoji="1" lang="en-US" altLang="zh-CN" sz="2000" b="1" dirty="0">
                <a:ea typeface="宋体" panose="02010600030101010101" pitchFamily="2" charset="-12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35</a:t>
            </a:r>
          </a:p>
        </p:txBody>
      </p:sp>
      <p:sp>
        <p:nvSpPr>
          <p:cNvPr id="303127" name="Text Box 23"/>
          <p:cNvSpPr txBox="1">
            <a:spLocks noChangeArrowheads="1"/>
          </p:cNvSpPr>
          <p:nvPr/>
        </p:nvSpPr>
        <p:spPr bwMode="auto">
          <a:xfrm>
            <a:off x="4209757" y="4194517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ea typeface="宋体" panose="02010600030101010101" pitchFamily="2" charset="-122"/>
                <a:sym typeface="Wingdings" panose="05000000000000000000" pitchFamily="2" charset="2"/>
              </a:rPr>
              <a:t>检查</a:t>
            </a:r>
            <a:r>
              <a:rPr kumimoji="1"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35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是否在树中</a:t>
            </a:r>
            <a:endParaRPr kumimoji="1"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303128" name="Line 24"/>
          <p:cNvSpPr>
            <a:spLocks noChangeShapeType="1"/>
          </p:cNvSpPr>
          <p:nvPr/>
        </p:nvSpPr>
        <p:spPr bwMode="auto">
          <a:xfrm flipH="1">
            <a:off x="4285957" y="2365717"/>
            <a:ext cx="381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29" name="Line 25"/>
          <p:cNvSpPr>
            <a:spLocks noChangeShapeType="1"/>
          </p:cNvSpPr>
          <p:nvPr/>
        </p:nvSpPr>
        <p:spPr bwMode="auto">
          <a:xfrm flipH="1">
            <a:off x="4743157" y="2975317"/>
            <a:ext cx="3810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30" name="Text Box 26"/>
          <p:cNvSpPr txBox="1">
            <a:spLocks noChangeArrowheads="1"/>
          </p:cNvSpPr>
          <p:nvPr/>
        </p:nvSpPr>
        <p:spPr bwMode="auto">
          <a:xfrm>
            <a:off x="4209757" y="4651717"/>
            <a:ext cx="601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9255" indent="-3892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ea typeface="宋体" panose="02010600030101010101" pitchFamily="2" charset="-122"/>
                <a:sym typeface="Wingdings" panose="05000000000000000000" pitchFamily="2" charset="2"/>
              </a:rPr>
              <a:t> </a:t>
            </a:r>
            <a:r>
              <a:rPr kumimoji="1"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35 </a:t>
            </a:r>
            <a:r>
              <a:rPr kumimoji="1"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&lt; 40,  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所以必定应该是</a:t>
            </a:r>
            <a:r>
              <a:rPr kumimoji="1"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40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的左子树</a:t>
            </a:r>
            <a:endParaRPr kumimoji="1" lang="en-US" altLang="zh-CN" sz="2000" b="1" dirty="0">
              <a:ea typeface="宋体" panose="02010600030101010101" pitchFamily="2" charset="-122"/>
            </a:endParaRPr>
          </a:p>
        </p:txBody>
      </p:sp>
      <p:grpSp>
        <p:nvGrpSpPr>
          <p:cNvPr id="303131" name="Group 27"/>
          <p:cNvGrpSpPr/>
          <p:nvPr/>
        </p:nvGrpSpPr>
        <p:grpSpPr bwMode="auto">
          <a:xfrm flipH="1">
            <a:off x="3941470" y="3165818"/>
            <a:ext cx="500062" cy="650875"/>
            <a:chOff x="1797" y="1750"/>
            <a:chExt cx="315" cy="410"/>
          </a:xfrm>
        </p:grpSpPr>
        <p:sp>
          <p:nvSpPr>
            <p:cNvPr id="14366" name="Oval 28"/>
            <p:cNvSpPr>
              <a:spLocks noChangeArrowheads="1"/>
            </p:cNvSpPr>
            <p:nvPr/>
          </p:nvSpPr>
          <p:spPr bwMode="auto">
            <a:xfrm>
              <a:off x="1872" y="1920"/>
              <a:ext cx="240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35</a:t>
              </a:r>
            </a:p>
          </p:txBody>
        </p:sp>
        <p:sp>
          <p:nvSpPr>
            <p:cNvPr id="14367" name="Line 29"/>
            <p:cNvSpPr>
              <a:spLocks noChangeShapeType="1"/>
            </p:cNvSpPr>
            <p:nvPr/>
          </p:nvSpPr>
          <p:spPr bwMode="auto">
            <a:xfrm>
              <a:off x="1797" y="1750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3134" name="Text Box 30"/>
          <p:cNvSpPr txBox="1">
            <a:spLocks noChangeArrowheads="1"/>
          </p:cNvSpPr>
          <p:nvPr/>
        </p:nvSpPr>
        <p:spPr bwMode="auto">
          <a:xfrm>
            <a:off x="2761957" y="5337518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 dirty="0">
                <a:ea typeface="宋体" panose="02010600030101010101" pitchFamily="2" charset="-122"/>
              </a:rPr>
              <a:t>插入</a:t>
            </a:r>
            <a:r>
              <a:rPr kumimoji="1" lang="en-US" altLang="zh-CN" sz="2000" b="1" dirty="0">
                <a:ea typeface="宋体" panose="02010600030101010101" pitchFamily="2" charset="-122"/>
              </a:rPr>
              <a:t> </a:t>
            </a:r>
            <a:r>
              <a:rPr kumimoji="1"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25</a:t>
            </a:r>
          </a:p>
        </p:txBody>
      </p:sp>
      <p:sp>
        <p:nvSpPr>
          <p:cNvPr id="303135" name="Line 31"/>
          <p:cNvSpPr>
            <a:spLocks noChangeShapeType="1"/>
          </p:cNvSpPr>
          <p:nvPr/>
        </p:nvSpPr>
        <p:spPr bwMode="auto">
          <a:xfrm flipH="1">
            <a:off x="4743157" y="2975317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36" name="Text Box 32"/>
          <p:cNvSpPr txBox="1">
            <a:spLocks noChangeArrowheads="1"/>
          </p:cNvSpPr>
          <p:nvPr/>
        </p:nvSpPr>
        <p:spPr bwMode="auto">
          <a:xfrm>
            <a:off x="4209757" y="5337517"/>
            <a:ext cx="45720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ea typeface="宋体" panose="02010600030101010101" pitchFamily="2" charset="-122"/>
                <a:sym typeface="Wingdings" panose="05000000000000000000" pitchFamily="2" charset="2"/>
              </a:rPr>
              <a:t>检查</a:t>
            </a:r>
            <a:r>
              <a:rPr kumimoji="1"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25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是否在树中</a:t>
            </a:r>
            <a:endParaRPr kumimoji="1" lang="en-US" altLang="zh-CN" sz="2000" b="1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kumimoji="1" lang="en-US" altLang="zh-CN" sz="2000" b="1" dirty="0">
              <a:ea typeface="宋体" panose="02010600030101010101" pitchFamily="2" charset="-122"/>
            </a:endParaRPr>
          </a:p>
        </p:txBody>
      </p:sp>
      <p:sp>
        <p:nvSpPr>
          <p:cNvPr id="303137" name="Line 33"/>
          <p:cNvSpPr>
            <a:spLocks noChangeShapeType="1"/>
          </p:cNvSpPr>
          <p:nvPr/>
        </p:nvSpPr>
        <p:spPr bwMode="auto">
          <a:xfrm flipH="1">
            <a:off x="4285957" y="2365717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38" name="Line 34"/>
          <p:cNvSpPr>
            <a:spLocks noChangeShapeType="1"/>
          </p:cNvSpPr>
          <p:nvPr/>
        </p:nvSpPr>
        <p:spPr bwMode="auto">
          <a:xfrm flipH="1">
            <a:off x="3676357" y="3051517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3139" name="Text Box 35"/>
          <p:cNvSpPr txBox="1">
            <a:spLocks noChangeArrowheads="1"/>
          </p:cNvSpPr>
          <p:nvPr/>
        </p:nvSpPr>
        <p:spPr bwMode="auto">
          <a:xfrm>
            <a:off x="4209757" y="5870917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9255" indent="-38925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ea typeface="宋体" panose="02010600030101010101" pitchFamily="2" charset="-122"/>
                <a:sym typeface="Wingdings" panose="05000000000000000000" pitchFamily="2" charset="2"/>
              </a:rPr>
              <a:t> </a:t>
            </a:r>
            <a:r>
              <a:rPr kumimoji="1"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25</a:t>
            </a:r>
            <a:r>
              <a:rPr kumimoji="1"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&gt; 5,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所以必定应该是</a:t>
            </a:r>
            <a:r>
              <a:rPr kumimoji="1" lang="en-US" altLang="zh-CN" sz="2000" b="1" dirty="0">
                <a:ea typeface="宋体" panose="02010600030101010101" pitchFamily="2" charset="-122"/>
                <a:sym typeface="Wingdings" panose="05000000000000000000" pitchFamily="2" charset="2"/>
              </a:rPr>
              <a:t> 5</a:t>
            </a:r>
            <a:r>
              <a:rPr kumimoji="1" lang="zh-CN" altLang="en-US" sz="2000" b="1" dirty="0">
                <a:ea typeface="宋体" panose="02010600030101010101" pitchFamily="2" charset="-122"/>
                <a:sym typeface="Wingdings" panose="05000000000000000000" pitchFamily="2" charset="2"/>
              </a:rPr>
              <a:t>的右子树</a:t>
            </a:r>
            <a:endParaRPr kumimoji="1" lang="en-US" altLang="zh-CN" sz="2000" b="1" dirty="0">
              <a:ea typeface="宋体" panose="02010600030101010101" pitchFamily="2" charset="-122"/>
            </a:endParaRPr>
          </a:p>
        </p:txBody>
      </p:sp>
      <p:grpSp>
        <p:nvGrpSpPr>
          <p:cNvPr id="303140" name="Group 36"/>
          <p:cNvGrpSpPr/>
          <p:nvPr/>
        </p:nvGrpSpPr>
        <p:grpSpPr bwMode="auto">
          <a:xfrm>
            <a:off x="3523957" y="3203917"/>
            <a:ext cx="381000" cy="609600"/>
            <a:chOff x="1056" y="1776"/>
            <a:chExt cx="240" cy="384"/>
          </a:xfrm>
        </p:grpSpPr>
        <p:sp>
          <p:nvSpPr>
            <p:cNvPr id="14364" name="Oval 37"/>
            <p:cNvSpPr>
              <a:spLocks noChangeArrowheads="1"/>
            </p:cNvSpPr>
            <p:nvPr/>
          </p:nvSpPr>
          <p:spPr bwMode="auto">
            <a:xfrm>
              <a:off x="1056" y="1920"/>
              <a:ext cx="240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25</a:t>
              </a:r>
            </a:p>
          </p:txBody>
        </p:sp>
        <p:sp>
          <p:nvSpPr>
            <p:cNvPr id="14365" name="Line 38"/>
            <p:cNvSpPr>
              <a:spLocks noChangeShapeType="1"/>
            </p:cNvSpPr>
            <p:nvPr/>
          </p:nvSpPr>
          <p:spPr bwMode="auto">
            <a:xfrm>
              <a:off x="1056" y="1776"/>
              <a:ext cx="9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插入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31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031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03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3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03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3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03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03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03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3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03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3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3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303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03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03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03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7" grpId="0" autoUpdateAnimBg="0"/>
      <p:bldP spid="303118" grpId="0" autoUpdateAnimBg="0"/>
      <p:bldP spid="303119" grpId="0" animBg="1"/>
      <p:bldP spid="303120" grpId="0" animBg="1"/>
      <p:bldP spid="303121" grpId="0" autoUpdateAnimBg="0"/>
      <p:bldP spid="303125" grpId="0" animBg="1"/>
      <p:bldP spid="303126" grpId="0" autoUpdateAnimBg="0"/>
      <p:bldP spid="303127" grpId="0" autoUpdateAnimBg="0"/>
      <p:bldP spid="303128" grpId="0" animBg="1"/>
      <p:bldP spid="303129" grpId="0" animBg="1"/>
      <p:bldP spid="303130" grpId="0" autoUpdateAnimBg="0"/>
      <p:bldP spid="303134" grpId="0" autoUpdateAnimBg="0"/>
      <p:bldP spid="303135" grpId="0" animBg="1"/>
      <p:bldP spid="303136" grpId="0" autoUpdateAnimBg="0"/>
      <p:bldP spid="303137" grpId="0" animBg="1"/>
      <p:bldP spid="303138" grpId="0" animBg="1"/>
      <p:bldP spid="30313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1486684"/>
            <a:ext cx="5157787" cy="32380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</a:t>
            </a: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cs typeface="+mj-cs"/>
              </a:rPr>
              <a:t>查找</a:t>
            </a: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树</a:t>
            </a:r>
          </a:p>
        </p:txBody>
      </p:sp>
      <p:sp>
        <p:nvSpPr>
          <p:cNvPr id="9" name="矩形 8"/>
          <p:cNvSpPr/>
          <p:nvPr/>
        </p:nvSpPr>
        <p:spPr>
          <a:xfrm>
            <a:off x="4441786" y="1194813"/>
            <a:ext cx="3651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递归算法</a:t>
            </a:r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任意多边形: 形状 6"/>
              <p:cNvSpPr/>
              <p:nvPr/>
            </p:nvSpPr>
            <p:spPr>
              <a:xfrm>
                <a:off x="2115939" y="1971965"/>
                <a:ext cx="8645845" cy="440956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算法：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Insert(</a:t>
                </a:r>
                <a:r>
                  <a:rPr lang="en-US" altLang="zh-CN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key)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输入：二叉查找树</a:t>
                </a:r>
                <a:r>
                  <a:rPr lang="en-US" altLang="zh-CN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，数据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输出：返回插入新结点后的树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空树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new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BinaryLeafNode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(key)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创建新叶结点，数据为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bst.data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bst.left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Insert(</a:t>
                </a:r>
                <a:r>
                  <a:rPr lang="en-US" altLang="zh-CN" sz="2000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bst.left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key)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插入至左子树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//key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bst.data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bst.right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Insert(</a:t>
                </a:r>
                <a:r>
                  <a:rPr lang="en-US" altLang="zh-CN" sz="2000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bst.right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key)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插入至右子树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</a:t>
                </a:r>
                <a:endParaRPr lang="en-US" altLang="zh-CN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endPara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755"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</a:t>
                </a:r>
                <a:r>
                  <a:rPr lang="zh-CN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</a:t>
                </a:r>
              </a:p>
            </p:txBody>
          </p:sp>
        </mc:Choice>
        <mc:Fallback xmlns="">
          <p:sp>
            <p:nvSpPr>
              <p:cNvPr id="12" name="任意多边形: 形状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939" y="1971965"/>
                <a:ext cx="8645845" cy="440956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 rotWithShape="1">
                <a:blip r:embed="rId3"/>
                <a:stretch>
                  <a:fillRect l="-75" t="-151" r="-68" b="-135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1486684"/>
            <a:ext cx="5157787" cy="32380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</a:t>
            </a: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cs typeface="+mj-cs"/>
              </a:rPr>
              <a:t>查找</a:t>
            </a: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树</a:t>
            </a:r>
          </a:p>
        </p:txBody>
      </p:sp>
      <p:sp>
        <p:nvSpPr>
          <p:cNvPr id="9" name="矩形 8"/>
          <p:cNvSpPr/>
          <p:nvPr/>
        </p:nvSpPr>
        <p:spPr>
          <a:xfrm>
            <a:off x="4441786" y="1194813"/>
            <a:ext cx="4136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非递归算法</a:t>
            </a:r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任意多边形: 形状 6"/>
              <p:cNvSpPr/>
              <p:nvPr/>
            </p:nvSpPr>
            <p:spPr>
              <a:xfrm>
                <a:off x="2186897" y="350275"/>
                <a:ext cx="8645845" cy="6157450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—————————————————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结点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的父结点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while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14:m>
                  <m:oMath xmlns:m="http://schemas.openxmlformats.org/officeDocument/2006/math">
                    <m:r>
                      <a:rPr lang="zh-CN" alt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node.data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do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二分查找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下移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node_ptr.data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查找左子树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node_ptr.data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 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node.right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查找右子树</a:t>
                </a:r>
                <a:endPara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不在树中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new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BinaryLeafNode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(key)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创建新叶结点，数据为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是空树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  <m:r>
                      <a:rPr lang="zh-CN" altLang="en-US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新建结点成为树根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father.data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father.left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一定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(?)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新叶结点成为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的左子结点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&gt;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father.data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 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father.right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</a:p>
              <a:p>
                <a:pPr marL="360045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father.right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新叶结点成为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的右子结点</a:t>
                </a:r>
                <a:endPara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755"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</a:t>
                </a:r>
              </a:p>
            </p:txBody>
          </p:sp>
        </mc:Choice>
        <mc:Fallback xmlns="">
          <p:sp>
            <p:nvSpPr>
              <p:cNvPr id="12" name="任意多边形: 形状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897" y="350275"/>
                <a:ext cx="8645845" cy="6157450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 rotWithShape="1">
                <a:blip r:embed="rId3"/>
                <a:stretch>
                  <a:fillRect l="-80" t="-1698" r="-70" b="-1079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11..2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插入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75919" y="5700274"/>
            <a:ext cx="5040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的结构取决于元素插入的顺序！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2079508" y="1926212"/>
            <a:ext cx="7297738" cy="3736975"/>
            <a:chOff x="2079508" y="1926212"/>
            <a:chExt cx="7297738" cy="3736975"/>
          </a:xfrm>
        </p:grpSpPr>
        <p:pic>
          <p:nvPicPr>
            <p:cNvPr id="5" name="Picture 6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9508" y="1926212"/>
              <a:ext cx="7297738" cy="3736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墨迹 11"/>
                <p14:cNvContentPartPr/>
                <p14:nvPr/>
              </p14:nvContentPartPr>
              <p14:xfrm>
                <a:off x="5276780" y="3803160"/>
                <a:ext cx="261360" cy="205200"/>
              </p14:xfrm>
            </p:contentPart>
          </mc:Choice>
          <mc:Fallback xmlns="">
            <p:pic>
              <p:nvPicPr>
                <p:cNvPr id="12" name="墨迹 11"/>
              </p:nvPicPr>
              <p:blipFill>
                <a:blip r:embed="rId4"/>
              </p:blipFill>
              <p:spPr>
                <a:xfrm>
                  <a:off x="5276780" y="3803160"/>
                  <a:ext cx="261360" cy="205200"/>
                </a:xfrm>
                <a:prstGeom prst="rect"/>
              </p:spPr>
            </p:pic>
          </mc:Fallback>
        </mc:AlternateContent>
        <p:grpSp>
          <p:nvGrpSpPr>
            <p:cNvPr id="16" name="组合 15"/>
            <p:cNvGrpSpPr/>
            <p:nvPr/>
          </p:nvGrpSpPr>
          <p:grpSpPr>
            <a:xfrm>
              <a:off x="8462420" y="3312480"/>
              <a:ext cx="249120" cy="232560"/>
              <a:chOff x="8462420" y="3312480"/>
              <a:chExt cx="249120" cy="2325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3" name="墨迹 12"/>
                  <p14:cNvContentPartPr/>
                  <p14:nvPr/>
                </p14:nvContentPartPr>
                <p14:xfrm>
                  <a:off x="8462420" y="3312480"/>
                  <a:ext cx="222480" cy="232560"/>
                </p14:xfrm>
              </p:contentPart>
            </mc:Choice>
            <mc:Fallback xmlns="">
              <p:pic>
                <p:nvPicPr>
                  <p:cNvPr id="13" name="墨迹 12"/>
                </p:nvPicPr>
                <p:blipFill>
                  <a:blip r:embed="rId6"/>
                </p:blipFill>
                <p:spPr>
                  <a:xfrm>
                    <a:off x="8462420" y="3312480"/>
                    <a:ext cx="222480" cy="23256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4" name="墨迹 13"/>
                  <p14:cNvContentPartPr/>
                  <p14:nvPr/>
                </p14:nvContentPartPr>
                <p14:xfrm>
                  <a:off x="8626220" y="3354960"/>
                  <a:ext cx="85320" cy="174960"/>
                </p14:xfrm>
              </p:contentPart>
            </mc:Choice>
            <mc:Fallback xmlns="">
              <p:pic>
                <p:nvPicPr>
                  <p:cNvPr id="14" name="墨迹 13"/>
                </p:nvPicPr>
                <p:blipFill>
                  <a:blip r:embed="rId8"/>
                </p:blipFill>
                <p:spPr>
                  <a:xfrm>
                    <a:off x="8626220" y="3354960"/>
                    <a:ext cx="85320" cy="17496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5" name="墨迹 14"/>
                  <p14:cNvContentPartPr/>
                  <p14:nvPr/>
                </p14:nvContentPartPr>
                <p14:xfrm>
                  <a:off x="8648540" y="3394920"/>
                  <a:ext cx="360" cy="15480"/>
                </p14:xfrm>
              </p:contentPart>
            </mc:Choice>
            <mc:Fallback xmlns="">
              <p:pic>
                <p:nvPicPr>
                  <p:cNvPr id="15" name="墨迹 14"/>
                </p:nvPicPr>
                <p:blipFill>
                  <a:blip r:embed="rId10"/>
                </p:blipFill>
                <p:spPr>
                  <a:xfrm>
                    <a:off x="8648540" y="3394920"/>
                    <a:ext cx="360" cy="15480"/>
                  </a:xfrm>
                  <a:prstGeom prst="rect"/>
                </p:spPr>
              </p:pic>
            </mc:Fallback>
          </mc:AlternateContent>
        </p:grpSp>
        <p:sp>
          <p:nvSpPr>
            <p:cNvPr id="17" name="文本框 16"/>
            <p:cNvSpPr txBox="1"/>
            <p:nvPr/>
          </p:nvSpPr>
          <p:spPr>
            <a:xfrm>
              <a:off x="5198108" y="374649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43</a:t>
              </a:r>
              <a:endParaRPr kumimoji="1"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364308" y="322573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43</a:t>
              </a:r>
              <a:endParaRPr kumimoji="1" lang="zh-CN" altLang="en-US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将序列中的元素依次插入空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BTS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中，右边的二叉查找树可由下面哪个序列生成？</a:t>
            </a: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37,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120,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43,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37,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43,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120,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37,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120,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43,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37,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43,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120,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40,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椭圆 2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GB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13700" y="2850356"/>
            <a:ext cx="3366404" cy="2293363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/>
          <p:cNvPicPr/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1094976" y="3022334"/>
            <a:ext cx="9056414" cy="2067500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）被删除的结点是叶子</a:t>
            </a:r>
          </a:p>
          <a:p>
            <a:pPr algn="l" eaLnBrk="1" hangingPunct="1"/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）被删除的结点只有左子结点或者只有右子结点</a:t>
            </a:r>
          </a:p>
          <a:p>
            <a:pPr algn="l" eaLnBrk="1" hangingPunct="1"/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）被删除的结点既有左子结点，也有右子结点</a:t>
            </a:r>
          </a:p>
        </p:txBody>
      </p:sp>
      <p:sp>
        <p:nvSpPr>
          <p:cNvPr id="491524" name="Text Box 4"/>
          <p:cNvSpPr txBox="1">
            <a:spLocks noChangeArrowheads="1"/>
          </p:cNvSpPr>
          <p:nvPr/>
        </p:nvSpPr>
        <p:spPr bwMode="auto">
          <a:xfrm>
            <a:off x="1216075" y="2376222"/>
            <a:ext cx="5280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删除可分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三种情况</a:t>
            </a: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讨论：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删除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2148689"/>
            <a:ext cx="9056414" cy="518958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情形一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：被删除的结点是叶子</a:t>
            </a:r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删除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3108325" y="3809354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4175125" y="3809354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3108325" y="4571354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 flipV="1">
            <a:off x="4403725" y="4571354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4784725" y="419035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794125" y="342835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7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2727325" y="419035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489325" y="495235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6</a:t>
            </a: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5622925" y="495235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5165725" y="4571354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 flipV="1">
            <a:off x="2346325" y="4571354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965325" y="495235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Verdana" panose="020B0604030504040204" pitchFamily="34" charset="0"/>
              </a:rPr>
              <a:t>4</a:t>
            </a:r>
            <a:endParaRPr lang="en-US" altLang="zh-CN" sz="1800" b="0">
              <a:latin typeface="Verdana" panose="020B0604030504040204" pitchFamily="34" charset="0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022725" y="4952354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4022725" y="4952354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20" name="Text Box 16"/>
          <p:cNvSpPr txBox="1">
            <a:spLocks noChangeArrowheads="1"/>
          </p:cNvSpPr>
          <p:nvPr/>
        </p:nvSpPr>
        <p:spPr bwMode="auto">
          <a:xfrm>
            <a:off x="5546725" y="4952354"/>
            <a:ext cx="549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21" name="Rectangle 31"/>
          <p:cNvSpPr>
            <a:spLocks noChangeArrowheads="1"/>
          </p:cNvSpPr>
          <p:nvPr/>
        </p:nvSpPr>
        <p:spPr bwMode="auto">
          <a:xfrm>
            <a:off x="974725" y="3275954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father</a:t>
            </a:r>
          </a:p>
        </p:txBody>
      </p:sp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898525" y="4571354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1584325" y="3809354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24" name="Rectangle 34"/>
          <p:cNvSpPr>
            <a:spLocks noChangeArrowheads="1"/>
          </p:cNvSpPr>
          <p:nvPr/>
        </p:nvSpPr>
        <p:spPr bwMode="auto">
          <a:xfrm>
            <a:off x="288925" y="4037954"/>
            <a:ext cx="752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node</a:t>
            </a:r>
          </a:p>
        </p:txBody>
      </p:sp>
      <p:sp>
        <p:nvSpPr>
          <p:cNvPr id="25" name="Line 35"/>
          <p:cNvSpPr>
            <a:spLocks noChangeShapeType="1"/>
          </p:cNvSpPr>
          <p:nvPr/>
        </p:nvSpPr>
        <p:spPr bwMode="auto">
          <a:xfrm>
            <a:off x="1812925" y="4037954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36"/>
          <p:cNvSpPr>
            <a:spLocks noChangeShapeType="1"/>
          </p:cNvSpPr>
          <p:nvPr/>
        </p:nvSpPr>
        <p:spPr bwMode="auto">
          <a:xfrm>
            <a:off x="1203325" y="4723754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 flipV="1">
            <a:off x="8775359" y="3792297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>
            <a:off x="9842159" y="3792297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>
            <a:off x="8775359" y="4554297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 flipV="1">
            <a:off x="10070759" y="4554297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21"/>
          <p:cNvSpPr>
            <a:spLocks noChangeArrowheads="1"/>
          </p:cNvSpPr>
          <p:nvPr/>
        </p:nvSpPr>
        <p:spPr bwMode="auto">
          <a:xfrm>
            <a:off x="10451759" y="41732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32" name="Rectangle 22"/>
          <p:cNvSpPr>
            <a:spLocks noChangeArrowheads="1"/>
          </p:cNvSpPr>
          <p:nvPr/>
        </p:nvSpPr>
        <p:spPr bwMode="auto">
          <a:xfrm>
            <a:off x="9461159" y="34112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7</a:t>
            </a:r>
          </a:p>
        </p:txBody>
      </p:sp>
      <p:sp>
        <p:nvSpPr>
          <p:cNvPr id="33" name="Rectangle 23"/>
          <p:cNvSpPr>
            <a:spLocks noChangeArrowheads="1"/>
          </p:cNvSpPr>
          <p:nvPr/>
        </p:nvSpPr>
        <p:spPr bwMode="auto">
          <a:xfrm>
            <a:off x="8394359" y="41732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34" name="Rectangle 24"/>
          <p:cNvSpPr>
            <a:spLocks noChangeArrowheads="1"/>
          </p:cNvSpPr>
          <p:nvPr/>
        </p:nvSpPr>
        <p:spPr bwMode="auto">
          <a:xfrm>
            <a:off x="9156359" y="49352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6</a:t>
            </a:r>
          </a:p>
        </p:txBody>
      </p:sp>
      <p:sp>
        <p:nvSpPr>
          <p:cNvPr id="35" name="Rectangle 25"/>
          <p:cNvSpPr>
            <a:spLocks noChangeArrowheads="1"/>
          </p:cNvSpPr>
          <p:nvPr/>
        </p:nvSpPr>
        <p:spPr bwMode="auto">
          <a:xfrm>
            <a:off x="11289959" y="49352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36" name="Line 26"/>
          <p:cNvSpPr>
            <a:spLocks noChangeShapeType="1"/>
          </p:cNvSpPr>
          <p:nvPr/>
        </p:nvSpPr>
        <p:spPr bwMode="auto">
          <a:xfrm>
            <a:off x="10832759" y="4554297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9689759" y="49352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38" name="Text Box 28"/>
          <p:cNvSpPr txBox="1">
            <a:spLocks noChangeArrowheads="1"/>
          </p:cNvSpPr>
          <p:nvPr/>
        </p:nvSpPr>
        <p:spPr bwMode="auto">
          <a:xfrm>
            <a:off x="9689759" y="493529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39" name="Text Box 29"/>
          <p:cNvSpPr txBox="1">
            <a:spLocks noChangeArrowheads="1"/>
          </p:cNvSpPr>
          <p:nvPr/>
        </p:nvSpPr>
        <p:spPr bwMode="auto">
          <a:xfrm>
            <a:off x="11213759" y="4935297"/>
            <a:ext cx="549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642046" y="4755572"/>
            <a:ext cx="590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bg1">
                    <a:lumMod val="65000"/>
                  </a:schemeClr>
                </a:solidFill>
              </a:rPr>
              <a:t>NIL</a:t>
            </a:r>
            <a:endParaRPr kumimoji="1" lang="zh-CN" alt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2" name="直线箭头连接符 41"/>
          <p:cNvCxnSpPr/>
          <p:nvPr/>
        </p:nvCxnSpPr>
        <p:spPr>
          <a:xfrm flipV="1">
            <a:off x="8088924" y="4554297"/>
            <a:ext cx="305435" cy="277897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533867" y="6127902"/>
            <a:ext cx="3392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通过二分查找找到删除结点</a:t>
            </a:r>
          </a:p>
        </p:txBody>
      </p:sp>
      <p:sp>
        <p:nvSpPr>
          <p:cNvPr id="44" name="右箭头 43"/>
          <p:cNvSpPr/>
          <p:nvPr/>
        </p:nvSpPr>
        <p:spPr>
          <a:xfrm>
            <a:off x="6386734" y="4139548"/>
            <a:ext cx="787790" cy="592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598481" y="5892942"/>
            <a:ext cx="4182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去掉结点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，父结点的对应指针赋空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516737" y="566111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删除结点</a:t>
            </a:r>
          </a:p>
        </p:txBody>
      </p:sp>
      <p:cxnSp>
        <p:nvCxnSpPr>
          <p:cNvPr id="48" name="直线箭头连接符 47"/>
          <p:cNvCxnSpPr>
            <a:stCxn id="46" idx="0"/>
            <a:endCxn id="17" idx="2"/>
          </p:cNvCxnSpPr>
          <p:nvPr/>
        </p:nvCxnSpPr>
        <p:spPr>
          <a:xfrm flipV="1">
            <a:off x="2122031" y="5333354"/>
            <a:ext cx="33794" cy="327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31"/>
          <p:cNvSpPr>
            <a:spLocks noChangeArrowheads="1"/>
          </p:cNvSpPr>
          <p:nvPr/>
        </p:nvSpPr>
        <p:spPr bwMode="auto">
          <a:xfrm>
            <a:off x="6702084" y="3097502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father</a:t>
            </a:r>
          </a:p>
        </p:txBody>
      </p:sp>
      <p:sp>
        <p:nvSpPr>
          <p:cNvPr id="47" name="Rectangle 33"/>
          <p:cNvSpPr>
            <a:spLocks noChangeArrowheads="1"/>
          </p:cNvSpPr>
          <p:nvPr/>
        </p:nvSpPr>
        <p:spPr bwMode="auto">
          <a:xfrm>
            <a:off x="7311684" y="3630902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49" name="Line 35"/>
          <p:cNvSpPr>
            <a:spLocks noChangeShapeType="1"/>
          </p:cNvSpPr>
          <p:nvPr/>
        </p:nvSpPr>
        <p:spPr bwMode="auto">
          <a:xfrm>
            <a:off x="7540284" y="3859502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Oval 2"/>
          <p:cNvSpPr>
            <a:spLocks noChangeArrowheads="1"/>
          </p:cNvSpPr>
          <p:nvPr/>
        </p:nvSpPr>
        <p:spPr bwMode="auto">
          <a:xfrm>
            <a:off x="6169620" y="1921768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47" name="Oval 3"/>
          <p:cNvSpPr>
            <a:spLocks noChangeArrowheads="1"/>
          </p:cNvSpPr>
          <p:nvPr/>
        </p:nvSpPr>
        <p:spPr bwMode="auto">
          <a:xfrm>
            <a:off x="4601170" y="2455168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48" name="Oval 4"/>
          <p:cNvSpPr>
            <a:spLocks noChangeArrowheads="1"/>
          </p:cNvSpPr>
          <p:nvPr/>
        </p:nvSpPr>
        <p:spPr bwMode="auto">
          <a:xfrm>
            <a:off x="7738070" y="2455168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49" name="Oval 5"/>
          <p:cNvSpPr>
            <a:spLocks noChangeArrowheads="1"/>
          </p:cNvSpPr>
          <p:nvPr/>
        </p:nvSpPr>
        <p:spPr bwMode="auto">
          <a:xfrm>
            <a:off x="3362920" y="3140968"/>
            <a:ext cx="74295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0" name="Oval 6"/>
          <p:cNvSpPr>
            <a:spLocks noChangeArrowheads="1"/>
          </p:cNvSpPr>
          <p:nvPr/>
        </p:nvSpPr>
        <p:spPr bwMode="auto">
          <a:xfrm>
            <a:off x="8976320" y="3140968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90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1" name="Oval 7"/>
          <p:cNvSpPr>
            <a:spLocks noChangeArrowheads="1"/>
          </p:cNvSpPr>
          <p:nvPr/>
        </p:nvSpPr>
        <p:spPr bwMode="auto">
          <a:xfrm>
            <a:off x="8068270" y="3979168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85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2" name="Oval 8"/>
          <p:cNvSpPr>
            <a:spLocks noChangeArrowheads="1"/>
          </p:cNvSpPr>
          <p:nvPr/>
        </p:nvSpPr>
        <p:spPr bwMode="auto">
          <a:xfrm>
            <a:off x="5839420" y="3140968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3" name="Oval 9"/>
          <p:cNvSpPr>
            <a:spLocks noChangeArrowheads="1"/>
          </p:cNvSpPr>
          <p:nvPr/>
        </p:nvSpPr>
        <p:spPr bwMode="auto">
          <a:xfrm>
            <a:off x="4848820" y="3979168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35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4" name="Oval 10"/>
          <p:cNvSpPr>
            <a:spLocks noChangeArrowheads="1"/>
          </p:cNvSpPr>
          <p:nvPr/>
        </p:nvSpPr>
        <p:spPr bwMode="auto">
          <a:xfrm>
            <a:off x="9471620" y="4817368"/>
            <a:ext cx="74295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88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5" name="Line 11"/>
          <p:cNvSpPr>
            <a:spLocks noChangeShapeType="1"/>
          </p:cNvSpPr>
          <p:nvPr/>
        </p:nvSpPr>
        <p:spPr bwMode="auto">
          <a:xfrm flipH="1">
            <a:off x="5261570" y="2226568"/>
            <a:ext cx="90805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6" name="Line 12"/>
          <p:cNvSpPr>
            <a:spLocks noChangeShapeType="1"/>
          </p:cNvSpPr>
          <p:nvPr/>
        </p:nvSpPr>
        <p:spPr bwMode="auto">
          <a:xfrm flipH="1">
            <a:off x="4023320" y="2912368"/>
            <a:ext cx="577850" cy="3048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7" name="Line 13"/>
          <p:cNvSpPr>
            <a:spLocks noChangeShapeType="1"/>
          </p:cNvSpPr>
          <p:nvPr/>
        </p:nvSpPr>
        <p:spPr bwMode="auto">
          <a:xfrm>
            <a:off x="6912570" y="2226568"/>
            <a:ext cx="8255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8" name="Line 14"/>
          <p:cNvSpPr>
            <a:spLocks noChangeShapeType="1"/>
          </p:cNvSpPr>
          <p:nvPr/>
        </p:nvSpPr>
        <p:spPr bwMode="auto">
          <a:xfrm>
            <a:off x="5261570" y="2836168"/>
            <a:ext cx="660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59" name="Line 15"/>
          <p:cNvSpPr>
            <a:spLocks noChangeShapeType="1"/>
          </p:cNvSpPr>
          <p:nvPr/>
        </p:nvSpPr>
        <p:spPr bwMode="auto">
          <a:xfrm flipH="1">
            <a:off x="5344120" y="3598168"/>
            <a:ext cx="57785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60" name="Line 16"/>
          <p:cNvSpPr>
            <a:spLocks noChangeShapeType="1"/>
          </p:cNvSpPr>
          <p:nvPr/>
        </p:nvSpPr>
        <p:spPr bwMode="auto">
          <a:xfrm>
            <a:off x="8398470" y="2912368"/>
            <a:ext cx="660400" cy="3048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61" name="Line 17"/>
          <p:cNvSpPr>
            <a:spLocks noChangeShapeType="1"/>
          </p:cNvSpPr>
          <p:nvPr/>
        </p:nvSpPr>
        <p:spPr bwMode="auto">
          <a:xfrm flipH="1">
            <a:off x="8563570" y="3674368"/>
            <a:ext cx="57785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62" name="Line 18"/>
          <p:cNvSpPr>
            <a:spLocks noChangeShapeType="1"/>
          </p:cNvSpPr>
          <p:nvPr/>
        </p:nvSpPr>
        <p:spPr bwMode="auto">
          <a:xfrm>
            <a:off x="8728670" y="4436368"/>
            <a:ext cx="8255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63" name="Oval 19"/>
          <p:cNvSpPr>
            <a:spLocks noChangeArrowheads="1"/>
          </p:cNvSpPr>
          <p:nvPr/>
        </p:nvSpPr>
        <p:spPr bwMode="auto">
          <a:xfrm>
            <a:off x="3775670" y="4817368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32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64" name="Line 20"/>
          <p:cNvSpPr>
            <a:spLocks noChangeShapeType="1"/>
          </p:cNvSpPr>
          <p:nvPr/>
        </p:nvSpPr>
        <p:spPr bwMode="auto">
          <a:xfrm flipH="1">
            <a:off x="4270970" y="4360168"/>
            <a:ext cx="6604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65" name="Rectangle 21"/>
          <p:cNvSpPr>
            <a:spLocks noChangeArrowheads="1"/>
          </p:cNvSpPr>
          <p:nvPr/>
        </p:nvSpPr>
        <p:spPr bwMode="auto">
          <a:xfrm>
            <a:off x="-572154" y="762779"/>
            <a:ext cx="7154524" cy="6463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）被删除的结点是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叶子结点</a:t>
            </a:r>
          </a:p>
        </p:txBody>
      </p:sp>
      <p:sp useBgFill="1">
        <p:nvSpPr>
          <p:cNvPr id="492566" name="Rectangle 22"/>
          <p:cNvSpPr>
            <a:spLocks noChangeArrowheads="1"/>
          </p:cNvSpPr>
          <p:nvPr/>
        </p:nvSpPr>
        <p:spPr bwMode="auto">
          <a:xfrm>
            <a:off x="3197820" y="2836168"/>
            <a:ext cx="1403350" cy="12192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 useBgFill="1">
        <p:nvSpPr>
          <p:cNvPr id="492567" name="Rectangle 23"/>
          <p:cNvSpPr>
            <a:spLocks noChangeArrowheads="1"/>
          </p:cNvSpPr>
          <p:nvPr/>
        </p:nvSpPr>
        <p:spPr bwMode="auto">
          <a:xfrm>
            <a:off x="8728670" y="4436368"/>
            <a:ext cx="1568450" cy="9906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68" name="Text Box 24"/>
          <p:cNvSpPr txBox="1">
            <a:spLocks noChangeArrowheads="1"/>
          </p:cNvSpPr>
          <p:nvPr/>
        </p:nvSpPr>
        <p:spPr bwMode="auto">
          <a:xfrm>
            <a:off x="8381009" y="1204219"/>
            <a:ext cx="2877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被删关键字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20</a:t>
            </a:r>
          </a:p>
        </p:txBody>
      </p:sp>
      <p:sp useBgFill="1">
        <p:nvSpPr>
          <p:cNvPr id="492569" name="Text Box 25"/>
          <p:cNvSpPr txBox="1">
            <a:spLocks noChangeArrowheads="1"/>
          </p:cNvSpPr>
          <p:nvPr/>
        </p:nvSpPr>
        <p:spPr bwMode="auto">
          <a:xfrm>
            <a:off x="10686061" y="1168350"/>
            <a:ext cx="595035" cy="5847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88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1" name="Freeform 27"/>
          <p:cNvSpPr/>
          <p:nvPr/>
        </p:nvSpPr>
        <p:spPr bwMode="auto">
          <a:xfrm>
            <a:off x="6499820" y="1159768"/>
            <a:ext cx="1155700" cy="762000"/>
          </a:xfrm>
          <a:custGeom>
            <a:avLst/>
            <a:gdLst>
              <a:gd name="T0" fmla="*/ 2147483646 w 672"/>
              <a:gd name="T1" fmla="*/ 0 h 480"/>
              <a:gd name="T2" fmla="*/ 2147483646 w 672"/>
              <a:gd name="T3" fmla="*/ 2147483646 h 480"/>
              <a:gd name="T4" fmla="*/ 2147483646 w 672"/>
              <a:gd name="T5" fmla="*/ 2147483646 h 480"/>
              <a:gd name="T6" fmla="*/ 0 w 672"/>
              <a:gd name="T7" fmla="*/ 2147483646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480"/>
              <a:gd name="T14" fmla="*/ 672 w 67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480">
                <a:moveTo>
                  <a:pt x="672" y="0"/>
                </a:moveTo>
                <a:cubicBezTo>
                  <a:pt x="448" y="100"/>
                  <a:pt x="224" y="200"/>
                  <a:pt x="192" y="240"/>
                </a:cubicBezTo>
                <a:cubicBezTo>
                  <a:pt x="160" y="280"/>
                  <a:pt x="512" y="200"/>
                  <a:pt x="480" y="240"/>
                </a:cubicBezTo>
                <a:cubicBezTo>
                  <a:pt x="448" y="280"/>
                  <a:pt x="224" y="380"/>
                  <a:pt x="0" y="480"/>
                </a:cubicBezTo>
              </a:path>
            </a:pathLst>
          </a:custGeom>
          <a:noFill/>
          <a:ln w="31750">
            <a:solidFill>
              <a:srgbClr val="A5002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2" name="AutoShape 28"/>
          <p:cNvSpPr>
            <a:spLocks noChangeArrowheads="1"/>
          </p:cNvSpPr>
          <p:nvPr/>
        </p:nvSpPr>
        <p:spPr bwMode="auto">
          <a:xfrm>
            <a:off x="6398220" y="1166118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A5002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3" name="Text Box 29"/>
          <p:cNvSpPr txBox="1">
            <a:spLocks noChangeArrowheads="1"/>
          </p:cNvSpPr>
          <p:nvPr/>
        </p:nvSpPr>
        <p:spPr bwMode="auto">
          <a:xfrm>
            <a:off x="5991820" y="937518"/>
            <a:ext cx="4042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4" name="AutoShape 30"/>
          <p:cNvSpPr>
            <a:spLocks noChangeArrowheads="1"/>
          </p:cNvSpPr>
          <p:nvPr/>
        </p:nvSpPr>
        <p:spPr bwMode="auto">
          <a:xfrm>
            <a:off x="4820245" y="1666181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008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5" name="Text Box 31"/>
          <p:cNvSpPr txBox="1">
            <a:spLocks noChangeArrowheads="1"/>
          </p:cNvSpPr>
          <p:nvPr/>
        </p:nvSpPr>
        <p:spPr bwMode="auto">
          <a:xfrm>
            <a:off x="4456708" y="1442343"/>
            <a:ext cx="304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6" name="AutoShape 32"/>
          <p:cNvSpPr>
            <a:spLocks noChangeArrowheads="1"/>
          </p:cNvSpPr>
          <p:nvPr/>
        </p:nvSpPr>
        <p:spPr bwMode="auto">
          <a:xfrm>
            <a:off x="3512145" y="2378968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FF00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7" name="Text Box 33"/>
          <p:cNvSpPr txBox="1">
            <a:spLocks noChangeArrowheads="1"/>
          </p:cNvSpPr>
          <p:nvPr/>
        </p:nvSpPr>
        <p:spPr bwMode="auto">
          <a:xfrm>
            <a:off x="3199408" y="2090043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8" name="AutoShape 34"/>
          <p:cNvSpPr>
            <a:spLocks noChangeArrowheads="1"/>
          </p:cNvSpPr>
          <p:nvPr/>
        </p:nvSpPr>
        <p:spPr bwMode="auto">
          <a:xfrm>
            <a:off x="8349258" y="3199706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008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79" name="Text Box 35"/>
          <p:cNvSpPr txBox="1">
            <a:spLocks noChangeArrowheads="1"/>
          </p:cNvSpPr>
          <p:nvPr/>
        </p:nvSpPr>
        <p:spPr bwMode="auto">
          <a:xfrm>
            <a:off x="7977783" y="2983806"/>
            <a:ext cx="304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80" name="AutoShape 36"/>
          <p:cNvSpPr>
            <a:spLocks noChangeArrowheads="1"/>
          </p:cNvSpPr>
          <p:nvPr/>
        </p:nvSpPr>
        <p:spPr bwMode="auto">
          <a:xfrm>
            <a:off x="9762133" y="4064893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FF00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2581" name="Text Box 37"/>
          <p:cNvSpPr txBox="1">
            <a:spLocks noChangeArrowheads="1"/>
          </p:cNvSpPr>
          <p:nvPr/>
        </p:nvSpPr>
        <p:spPr bwMode="auto">
          <a:xfrm>
            <a:off x="9449395" y="3775968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Text Box 4"/>
          <p:cNvSpPr txBox="1">
            <a:spLocks noChangeArrowheads="1"/>
          </p:cNvSpPr>
          <p:nvPr/>
        </p:nvSpPr>
        <p:spPr bwMode="auto">
          <a:xfrm>
            <a:off x="2952130" y="5631180"/>
            <a:ext cx="7920880" cy="52322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</a:t>
            </a:r>
            <a:r>
              <a:rPr kumimoji="0" lang="zh-CN" altLang="en-US" sz="2800" b="0" dirty="0">
                <a:solidFill>
                  <a:srgbClr val="333333"/>
                </a:solidFill>
              </a:rPr>
              <a:t>父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结点中相应指针域的值改为“空”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9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49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2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9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9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9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9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49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9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9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9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9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9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9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49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1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6" grpId="0" animBg="1" autoUpdateAnimBg="0"/>
      <p:bldP spid="492547" grpId="0" animBg="1" autoUpdateAnimBg="0"/>
      <p:bldP spid="492548" grpId="0" animBg="1" autoUpdateAnimBg="0"/>
      <p:bldP spid="492549" grpId="0" animBg="1" autoUpdateAnimBg="0"/>
      <p:bldP spid="492550" grpId="0" animBg="1" autoUpdateAnimBg="0"/>
      <p:bldP spid="492551" grpId="0" animBg="1" autoUpdateAnimBg="0"/>
      <p:bldP spid="492552" grpId="0" animBg="1" autoUpdateAnimBg="0"/>
      <p:bldP spid="492553" grpId="0" animBg="1" autoUpdateAnimBg="0"/>
      <p:bldP spid="492554" grpId="0" animBg="1" autoUpdateAnimBg="0"/>
      <p:bldP spid="492563" grpId="0" animBg="1" autoUpdateAnimBg="0"/>
      <p:bldP spid="492565" grpId="0" autoUpdateAnimBg="0"/>
      <p:bldP spid="492566" grpId="0" animBg="1"/>
      <p:bldP spid="492567" grpId="0" animBg="1"/>
      <p:bldP spid="492568" grpId="0" autoUpdateAnimBg="0"/>
      <p:bldP spid="492569" grpId="0" animBg="1" autoUpdateAnimBg="0"/>
      <p:bldP spid="492572" grpId="0" animBg="1"/>
      <p:bldP spid="492573" grpId="0" autoUpdateAnimBg="0"/>
      <p:bldP spid="492574" grpId="0" animBg="1"/>
      <p:bldP spid="492574" grpId="1" animBg="1"/>
      <p:bldP spid="492575" grpId="0" autoUpdateAnimBg="0"/>
      <p:bldP spid="492575" grpId="1"/>
      <p:bldP spid="492576" grpId="0" animBg="1"/>
      <p:bldP spid="492576" grpId="1" animBg="1"/>
      <p:bldP spid="492577" grpId="0" autoUpdateAnimBg="0"/>
      <p:bldP spid="492577" grpId="1"/>
      <p:bldP spid="492578" grpId="0" animBg="1"/>
      <p:bldP spid="492578" grpId="1" animBg="1"/>
      <p:bldP spid="492579" grpId="0" autoUpdateAnimBg="0"/>
      <p:bldP spid="492579" grpId="1"/>
      <p:bldP spid="492580" grpId="0" animBg="1"/>
      <p:bldP spid="492580" grpId="1" animBg="1"/>
      <p:bldP spid="492581" grpId="0" autoUpdateAnimBg="0"/>
      <p:bldP spid="492581" grpId="1"/>
      <p:bldP spid="39" grpId="0" animBg="1"/>
      <p:bldP spid="3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2148689"/>
            <a:ext cx="9056414" cy="518958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情形二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：被删除的结点只有左子结点或者只有右子结点</a:t>
            </a:r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删除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16876" y="6007692"/>
            <a:ext cx="3392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通过二分查找找到删除结点</a:t>
            </a:r>
          </a:p>
        </p:txBody>
      </p:sp>
      <p:sp>
        <p:nvSpPr>
          <p:cNvPr id="44" name="右箭头 43"/>
          <p:cNvSpPr/>
          <p:nvPr/>
        </p:nvSpPr>
        <p:spPr>
          <a:xfrm>
            <a:off x="5853969" y="4363797"/>
            <a:ext cx="787790" cy="592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088183" y="5937140"/>
            <a:ext cx="4743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去掉结点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，子结点成为其父结点的孩子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505551" y="529526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删除结点</a:t>
            </a:r>
          </a:p>
        </p:txBody>
      </p:sp>
      <p:cxnSp>
        <p:nvCxnSpPr>
          <p:cNvPr id="48" name="直线箭头连接符 47"/>
          <p:cNvCxnSpPr/>
          <p:nvPr/>
        </p:nvCxnSpPr>
        <p:spPr>
          <a:xfrm flipV="1">
            <a:off x="2197592" y="4877972"/>
            <a:ext cx="33794" cy="327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520" name="Line 2"/>
          <p:cNvSpPr>
            <a:spLocks noChangeShapeType="1"/>
          </p:cNvSpPr>
          <p:nvPr/>
        </p:nvSpPr>
        <p:spPr bwMode="auto">
          <a:xfrm flipV="1">
            <a:off x="2427214" y="4020897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21" name="Line 3"/>
          <p:cNvSpPr>
            <a:spLocks noChangeShapeType="1"/>
          </p:cNvSpPr>
          <p:nvPr/>
        </p:nvSpPr>
        <p:spPr bwMode="auto">
          <a:xfrm>
            <a:off x="3494014" y="4020897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23" name="Line 4"/>
          <p:cNvSpPr>
            <a:spLocks noChangeShapeType="1"/>
          </p:cNvSpPr>
          <p:nvPr/>
        </p:nvSpPr>
        <p:spPr bwMode="auto">
          <a:xfrm>
            <a:off x="2427214" y="4782897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24" name="Line 5"/>
          <p:cNvSpPr>
            <a:spLocks noChangeShapeType="1"/>
          </p:cNvSpPr>
          <p:nvPr/>
        </p:nvSpPr>
        <p:spPr bwMode="auto">
          <a:xfrm flipV="1">
            <a:off x="3722614" y="4782897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25" name="Rectangle 6"/>
          <p:cNvSpPr>
            <a:spLocks noChangeArrowheads="1"/>
          </p:cNvSpPr>
          <p:nvPr/>
        </p:nvSpPr>
        <p:spPr bwMode="auto">
          <a:xfrm>
            <a:off x="4103614" y="44018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491526" name="Rectangle 7"/>
          <p:cNvSpPr>
            <a:spLocks noChangeArrowheads="1"/>
          </p:cNvSpPr>
          <p:nvPr/>
        </p:nvSpPr>
        <p:spPr bwMode="auto">
          <a:xfrm>
            <a:off x="3113014" y="36398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7</a:t>
            </a:r>
          </a:p>
        </p:txBody>
      </p:sp>
      <p:sp>
        <p:nvSpPr>
          <p:cNvPr id="491527" name="Rectangle 8"/>
          <p:cNvSpPr>
            <a:spLocks noChangeArrowheads="1"/>
          </p:cNvSpPr>
          <p:nvPr/>
        </p:nvSpPr>
        <p:spPr bwMode="auto">
          <a:xfrm>
            <a:off x="2046214" y="44018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491528" name="Rectangle 9"/>
          <p:cNvSpPr>
            <a:spLocks noChangeArrowheads="1"/>
          </p:cNvSpPr>
          <p:nvPr/>
        </p:nvSpPr>
        <p:spPr bwMode="auto">
          <a:xfrm>
            <a:off x="2808214" y="51638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6</a:t>
            </a:r>
          </a:p>
        </p:txBody>
      </p:sp>
      <p:sp>
        <p:nvSpPr>
          <p:cNvPr id="491529" name="Rectangle 10"/>
          <p:cNvSpPr>
            <a:spLocks noChangeArrowheads="1"/>
          </p:cNvSpPr>
          <p:nvPr/>
        </p:nvSpPr>
        <p:spPr bwMode="auto">
          <a:xfrm>
            <a:off x="3341614" y="51638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491530" name="Rectangle 11"/>
          <p:cNvSpPr>
            <a:spLocks noChangeArrowheads="1"/>
          </p:cNvSpPr>
          <p:nvPr/>
        </p:nvSpPr>
        <p:spPr bwMode="auto">
          <a:xfrm>
            <a:off x="4941814" y="5163897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491531" name="Line 12"/>
          <p:cNvSpPr>
            <a:spLocks noChangeShapeType="1"/>
          </p:cNvSpPr>
          <p:nvPr/>
        </p:nvSpPr>
        <p:spPr bwMode="auto">
          <a:xfrm>
            <a:off x="4484614" y="4782897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32" name="Rectangle 25"/>
          <p:cNvSpPr>
            <a:spLocks noChangeArrowheads="1"/>
          </p:cNvSpPr>
          <p:nvPr/>
        </p:nvSpPr>
        <p:spPr bwMode="auto">
          <a:xfrm>
            <a:off x="1817614" y="3411297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491533" name="Rectangle 26"/>
          <p:cNvSpPr>
            <a:spLocks noChangeArrowheads="1"/>
          </p:cNvSpPr>
          <p:nvPr/>
        </p:nvSpPr>
        <p:spPr bwMode="auto">
          <a:xfrm>
            <a:off x="1208014" y="4401897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491534" name="Rectangle 29"/>
          <p:cNvSpPr>
            <a:spLocks noChangeArrowheads="1"/>
          </p:cNvSpPr>
          <p:nvPr/>
        </p:nvSpPr>
        <p:spPr bwMode="auto">
          <a:xfrm>
            <a:off x="1131814" y="3944697"/>
            <a:ext cx="752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node</a:t>
            </a:r>
          </a:p>
        </p:txBody>
      </p:sp>
      <p:sp>
        <p:nvSpPr>
          <p:cNvPr id="491535" name="Rectangle 32"/>
          <p:cNvSpPr>
            <a:spLocks noChangeArrowheads="1"/>
          </p:cNvSpPr>
          <p:nvPr/>
        </p:nvSpPr>
        <p:spPr bwMode="auto">
          <a:xfrm>
            <a:off x="1131814" y="2801697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father</a:t>
            </a:r>
          </a:p>
        </p:txBody>
      </p:sp>
      <p:sp>
        <p:nvSpPr>
          <p:cNvPr id="491536" name="Line 33"/>
          <p:cNvSpPr>
            <a:spLocks noChangeShapeType="1"/>
          </p:cNvSpPr>
          <p:nvPr/>
        </p:nvSpPr>
        <p:spPr bwMode="auto">
          <a:xfrm>
            <a:off x="1970014" y="3563697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537" name="Line 34"/>
          <p:cNvSpPr>
            <a:spLocks noChangeShapeType="1"/>
          </p:cNvSpPr>
          <p:nvPr/>
        </p:nvSpPr>
        <p:spPr bwMode="auto">
          <a:xfrm>
            <a:off x="1436614" y="455429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38" name="Line 13"/>
          <p:cNvSpPr>
            <a:spLocks noChangeShapeType="1"/>
          </p:cNvSpPr>
          <p:nvPr/>
        </p:nvSpPr>
        <p:spPr bwMode="auto">
          <a:xfrm flipV="1">
            <a:off x="8774186" y="4023713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39" name="Line 14"/>
          <p:cNvSpPr>
            <a:spLocks noChangeShapeType="1"/>
          </p:cNvSpPr>
          <p:nvPr/>
        </p:nvSpPr>
        <p:spPr bwMode="auto">
          <a:xfrm>
            <a:off x="9840986" y="4023713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40" name="Line 15"/>
          <p:cNvSpPr>
            <a:spLocks noChangeShapeType="1"/>
          </p:cNvSpPr>
          <p:nvPr/>
        </p:nvSpPr>
        <p:spPr bwMode="auto">
          <a:xfrm>
            <a:off x="8774186" y="4785713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41" name="Line 16"/>
          <p:cNvSpPr>
            <a:spLocks noChangeShapeType="1"/>
          </p:cNvSpPr>
          <p:nvPr/>
        </p:nvSpPr>
        <p:spPr bwMode="auto">
          <a:xfrm flipV="1">
            <a:off x="10069586" y="4785713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542" name="Rectangle 17"/>
          <p:cNvSpPr>
            <a:spLocks noChangeArrowheads="1"/>
          </p:cNvSpPr>
          <p:nvPr/>
        </p:nvSpPr>
        <p:spPr bwMode="auto">
          <a:xfrm>
            <a:off x="10450586" y="440471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491543" name="Rectangle 18"/>
          <p:cNvSpPr>
            <a:spLocks noChangeArrowheads="1"/>
          </p:cNvSpPr>
          <p:nvPr/>
        </p:nvSpPr>
        <p:spPr bwMode="auto">
          <a:xfrm>
            <a:off x="9459986" y="364271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7</a:t>
            </a:r>
          </a:p>
        </p:txBody>
      </p:sp>
      <p:sp>
        <p:nvSpPr>
          <p:cNvPr id="491544" name="Rectangle 19"/>
          <p:cNvSpPr>
            <a:spLocks noChangeArrowheads="1"/>
          </p:cNvSpPr>
          <p:nvPr/>
        </p:nvSpPr>
        <p:spPr bwMode="auto">
          <a:xfrm>
            <a:off x="8393186" y="440471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491545" name="Rectangle 20"/>
          <p:cNvSpPr>
            <a:spLocks noChangeArrowheads="1"/>
          </p:cNvSpPr>
          <p:nvPr/>
        </p:nvSpPr>
        <p:spPr bwMode="auto">
          <a:xfrm>
            <a:off x="9155186" y="516671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6</a:t>
            </a:r>
          </a:p>
        </p:txBody>
      </p:sp>
      <p:sp>
        <p:nvSpPr>
          <p:cNvPr id="491546" name="Rectangle 21"/>
          <p:cNvSpPr>
            <a:spLocks noChangeArrowheads="1"/>
          </p:cNvSpPr>
          <p:nvPr/>
        </p:nvSpPr>
        <p:spPr bwMode="auto">
          <a:xfrm>
            <a:off x="9688586" y="516671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491547" name="Rectangle 22"/>
          <p:cNvSpPr>
            <a:spLocks noChangeArrowheads="1"/>
          </p:cNvSpPr>
          <p:nvPr/>
        </p:nvSpPr>
        <p:spPr bwMode="auto">
          <a:xfrm>
            <a:off x="11288786" y="5166713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491548" name="Line 23"/>
          <p:cNvSpPr>
            <a:spLocks noChangeShapeType="1"/>
          </p:cNvSpPr>
          <p:nvPr/>
        </p:nvSpPr>
        <p:spPr bwMode="auto">
          <a:xfrm>
            <a:off x="10831586" y="4785713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49" name="Line 24"/>
          <p:cNvSpPr>
            <a:spLocks noChangeShapeType="1"/>
          </p:cNvSpPr>
          <p:nvPr/>
        </p:nvSpPr>
        <p:spPr bwMode="auto">
          <a:xfrm flipH="1">
            <a:off x="9383786" y="4023713"/>
            <a:ext cx="228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50" name="Rectangle 27"/>
          <p:cNvSpPr>
            <a:spLocks noChangeArrowheads="1"/>
          </p:cNvSpPr>
          <p:nvPr/>
        </p:nvSpPr>
        <p:spPr bwMode="auto">
          <a:xfrm>
            <a:off x="7631186" y="4023713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491551" name="Rectangle 28"/>
          <p:cNvSpPr>
            <a:spLocks noChangeArrowheads="1"/>
          </p:cNvSpPr>
          <p:nvPr/>
        </p:nvSpPr>
        <p:spPr bwMode="auto">
          <a:xfrm>
            <a:off x="8469386" y="3033113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491552" name="Rectangle 30"/>
          <p:cNvSpPr>
            <a:spLocks noChangeArrowheads="1"/>
          </p:cNvSpPr>
          <p:nvPr/>
        </p:nvSpPr>
        <p:spPr bwMode="auto">
          <a:xfrm>
            <a:off x="7250186" y="4480913"/>
            <a:ext cx="752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node</a:t>
            </a:r>
          </a:p>
        </p:txBody>
      </p:sp>
      <p:sp>
        <p:nvSpPr>
          <p:cNvPr id="491553" name="Rectangle 31"/>
          <p:cNvSpPr>
            <a:spLocks noChangeArrowheads="1"/>
          </p:cNvSpPr>
          <p:nvPr/>
        </p:nvSpPr>
        <p:spPr bwMode="auto">
          <a:xfrm>
            <a:off x="7631186" y="3185513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father</a:t>
            </a:r>
          </a:p>
        </p:txBody>
      </p:sp>
      <p:sp>
        <p:nvSpPr>
          <p:cNvPr id="491554" name="Line 35"/>
          <p:cNvSpPr>
            <a:spLocks noChangeShapeType="1"/>
          </p:cNvSpPr>
          <p:nvPr/>
        </p:nvSpPr>
        <p:spPr bwMode="auto">
          <a:xfrm>
            <a:off x="8774186" y="3185513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1555" name="Line 36"/>
          <p:cNvSpPr>
            <a:spLocks noChangeShapeType="1"/>
          </p:cNvSpPr>
          <p:nvPr/>
        </p:nvSpPr>
        <p:spPr bwMode="auto">
          <a:xfrm>
            <a:off x="7859786" y="4252313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2148689"/>
            <a:ext cx="9056414" cy="518958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情形二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：被删除的结点只有左子结点或者只有右子结点</a:t>
            </a:r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删除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16876" y="6007692"/>
            <a:ext cx="3392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通过二分查找找到删除结点</a:t>
            </a:r>
          </a:p>
        </p:txBody>
      </p:sp>
      <p:sp>
        <p:nvSpPr>
          <p:cNvPr id="44" name="右箭头 43"/>
          <p:cNvSpPr/>
          <p:nvPr/>
        </p:nvSpPr>
        <p:spPr>
          <a:xfrm>
            <a:off x="5853969" y="4363797"/>
            <a:ext cx="787790" cy="592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088183" y="5937140"/>
            <a:ext cx="47436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去掉结点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，子结点成为其父结点的孩子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893233" y="542194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删除结点</a:t>
            </a:r>
          </a:p>
        </p:txBody>
      </p:sp>
      <p:cxnSp>
        <p:nvCxnSpPr>
          <p:cNvPr id="48" name="直线箭头连接符 47"/>
          <p:cNvCxnSpPr>
            <a:endCxn id="11" idx="2"/>
          </p:cNvCxnSpPr>
          <p:nvPr/>
        </p:nvCxnSpPr>
        <p:spPr>
          <a:xfrm flipH="1" flipV="1">
            <a:off x="2349356" y="4884836"/>
            <a:ext cx="49284" cy="463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2539856" y="4122836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3606656" y="4122836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 flipV="1">
            <a:off x="3835256" y="4884836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4216256" y="450383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225656" y="374183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7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158856" y="450383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3454256" y="526583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5054456" y="526583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4597256" y="4884836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1930256" y="3513236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16" name="Rectangle 22"/>
          <p:cNvSpPr>
            <a:spLocks noChangeArrowheads="1"/>
          </p:cNvSpPr>
          <p:nvPr/>
        </p:nvSpPr>
        <p:spPr bwMode="auto">
          <a:xfrm>
            <a:off x="1320656" y="4503836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17" name="Rectangle 25"/>
          <p:cNvSpPr>
            <a:spLocks noChangeArrowheads="1"/>
          </p:cNvSpPr>
          <p:nvPr/>
        </p:nvSpPr>
        <p:spPr bwMode="auto">
          <a:xfrm>
            <a:off x="1168256" y="3970436"/>
            <a:ext cx="752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node</a:t>
            </a:r>
          </a:p>
        </p:txBody>
      </p:sp>
      <p:sp>
        <p:nvSpPr>
          <p:cNvPr id="18" name="Rectangle 28"/>
          <p:cNvSpPr>
            <a:spLocks noChangeArrowheads="1"/>
          </p:cNvSpPr>
          <p:nvPr/>
        </p:nvSpPr>
        <p:spPr bwMode="auto">
          <a:xfrm>
            <a:off x="1320656" y="2979836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father</a:t>
            </a:r>
          </a:p>
        </p:txBody>
      </p:sp>
      <p:sp>
        <p:nvSpPr>
          <p:cNvPr id="19" name="Line 29"/>
          <p:cNvSpPr>
            <a:spLocks noChangeShapeType="1"/>
          </p:cNvSpPr>
          <p:nvPr/>
        </p:nvSpPr>
        <p:spPr bwMode="auto">
          <a:xfrm>
            <a:off x="2082656" y="3665636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" name="Line 30"/>
          <p:cNvSpPr>
            <a:spLocks noChangeShapeType="1"/>
          </p:cNvSpPr>
          <p:nvPr/>
        </p:nvSpPr>
        <p:spPr bwMode="auto">
          <a:xfrm>
            <a:off x="1549256" y="465623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" name="Rectangle 36"/>
          <p:cNvSpPr>
            <a:spLocks noChangeArrowheads="1"/>
          </p:cNvSpPr>
          <p:nvPr/>
        </p:nvSpPr>
        <p:spPr bwMode="auto">
          <a:xfrm>
            <a:off x="1549256" y="5265836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4</a:t>
            </a:r>
          </a:p>
        </p:txBody>
      </p:sp>
      <p:sp>
        <p:nvSpPr>
          <p:cNvPr id="22" name="Line 39"/>
          <p:cNvSpPr>
            <a:spLocks noChangeShapeType="1"/>
          </p:cNvSpPr>
          <p:nvPr/>
        </p:nvSpPr>
        <p:spPr bwMode="auto">
          <a:xfrm flipH="1">
            <a:off x="1930256" y="4884836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Line 11"/>
          <p:cNvSpPr>
            <a:spLocks noChangeShapeType="1"/>
          </p:cNvSpPr>
          <p:nvPr/>
        </p:nvSpPr>
        <p:spPr bwMode="auto">
          <a:xfrm flipV="1">
            <a:off x="8704326" y="4060115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12"/>
          <p:cNvSpPr>
            <a:spLocks noChangeShapeType="1"/>
          </p:cNvSpPr>
          <p:nvPr/>
        </p:nvSpPr>
        <p:spPr bwMode="auto">
          <a:xfrm>
            <a:off x="9771126" y="4060115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13"/>
          <p:cNvSpPr>
            <a:spLocks noChangeShapeType="1"/>
          </p:cNvSpPr>
          <p:nvPr/>
        </p:nvSpPr>
        <p:spPr bwMode="auto">
          <a:xfrm flipV="1">
            <a:off x="9999726" y="4822115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10380726" y="444111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9390126" y="367911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7</a:t>
            </a:r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8323326" y="444111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30" name="Rectangle 17"/>
          <p:cNvSpPr>
            <a:spLocks noChangeArrowheads="1"/>
          </p:cNvSpPr>
          <p:nvPr/>
        </p:nvSpPr>
        <p:spPr bwMode="auto">
          <a:xfrm>
            <a:off x="9618726" y="520311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11218926" y="520311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32" name="Line 19"/>
          <p:cNvSpPr>
            <a:spLocks noChangeShapeType="1"/>
          </p:cNvSpPr>
          <p:nvPr/>
        </p:nvSpPr>
        <p:spPr bwMode="auto">
          <a:xfrm>
            <a:off x="10761726" y="4822115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" name="Line 20"/>
          <p:cNvSpPr>
            <a:spLocks noChangeShapeType="1"/>
          </p:cNvSpPr>
          <p:nvPr/>
        </p:nvSpPr>
        <p:spPr bwMode="auto">
          <a:xfrm flipH="1">
            <a:off x="9313926" y="4060115"/>
            <a:ext cx="228600" cy="11430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7561326" y="4060115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35" name="Rectangle 24"/>
          <p:cNvSpPr>
            <a:spLocks noChangeArrowheads="1"/>
          </p:cNvSpPr>
          <p:nvPr/>
        </p:nvSpPr>
        <p:spPr bwMode="auto">
          <a:xfrm>
            <a:off x="8399526" y="3069515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36" name="Rectangle 26"/>
          <p:cNvSpPr>
            <a:spLocks noChangeArrowheads="1"/>
          </p:cNvSpPr>
          <p:nvPr/>
        </p:nvSpPr>
        <p:spPr bwMode="auto">
          <a:xfrm>
            <a:off x="7027926" y="3602915"/>
            <a:ext cx="752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node</a:t>
            </a:r>
          </a:p>
        </p:txBody>
      </p:sp>
      <p:sp>
        <p:nvSpPr>
          <p:cNvPr id="37" name="Rectangle 27"/>
          <p:cNvSpPr>
            <a:spLocks noChangeArrowheads="1"/>
          </p:cNvSpPr>
          <p:nvPr/>
        </p:nvSpPr>
        <p:spPr bwMode="auto">
          <a:xfrm>
            <a:off x="7637526" y="2612315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father</a:t>
            </a:r>
          </a:p>
        </p:txBody>
      </p:sp>
      <p:sp>
        <p:nvSpPr>
          <p:cNvPr id="38" name="Line 31"/>
          <p:cNvSpPr>
            <a:spLocks noChangeShapeType="1"/>
          </p:cNvSpPr>
          <p:nvPr/>
        </p:nvSpPr>
        <p:spPr bwMode="auto">
          <a:xfrm>
            <a:off x="8704326" y="3221915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9" name="Line 32"/>
          <p:cNvSpPr>
            <a:spLocks noChangeShapeType="1"/>
          </p:cNvSpPr>
          <p:nvPr/>
        </p:nvSpPr>
        <p:spPr bwMode="auto">
          <a:xfrm>
            <a:off x="7789926" y="4288715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7789926" y="5279315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4</a:t>
            </a: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 flipH="1">
            <a:off x="8018526" y="4822115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 flipH="1">
            <a:off x="8170926" y="4060115"/>
            <a:ext cx="13716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Oval 2"/>
          <p:cNvSpPr>
            <a:spLocks noChangeArrowheads="1"/>
          </p:cNvSpPr>
          <p:nvPr/>
        </p:nvSpPr>
        <p:spPr bwMode="auto">
          <a:xfrm>
            <a:off x="6385644" y="20657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1" name="Oval 3"/>
          <p:cNvSpPr>
            <a:spLocks noChangeArrowheads="1"/>
          </p:cNvSpPr>
          <p:nvPr/>
        </p:nvSpPr>
        <p:spPr bwMode="auto">
          <a:xfrm>
            <a:off x="4817194" y="25991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2" name="Oval 4"/>
          <p:cNvSpPr>
            <a:spLocks noChangeArrowheads="1"/>
          </p:cNvSpPr>
          <p:nvPr/>
        </p:nvSpPr>
        <p:spPr bwMode="auto">
          <a:xfrm>
            <a:off x="7954094" y="25991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3" name="Oval 5"/>
          <p:cNvSpPr>
            <a:spLocks noChangeArrowheads="1"/>
          </p:cNvSpPr>
          <p:nvPr/>
        </p:nvSpPr>
        <p:spPr bwMode="auto">
          <a:xfrm>
            <a:off x="3578944" y="32849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4" name="Oval 6"/>
          <p:cNvSpPr>
            <a:spLocks noChangeArrowheads="1"/>
          </p:cNvSpPr>
          <p:nvPr/>
        </p:nvSpPr>
        <p:spPr bwMode="auto">
          <a:xfrm>
            <a:off x="9192344" y="32849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90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5" name="Oval 7"/>
          <p:cNvSpPr>
            <a:spLocks noChangeArrowheads="1"/>
          </p:cNvSpPr>
          <p:nvPr/>
        </p:nvSpPr>
        <p:spPr bwMode="auto">
          <a:xfrm>
            <a:off x="8284294" y="41231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85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6" name="Oval 8"/>
          <p:cNvSpPr>
            <a:spLocks noChangeArrowheads="1"/>
          </p:cNvSpPr>
          <p:nvPr/>
        </p:nvSpPr>
        <p:spPr bwMode="auto">
          <a:xfrm>
            <a:off x="6055444" y="32849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7" name="Oval 9"/>
          <p:cNvSpPr>
            <a:spLocks noChangeArrowheads="1"/>
          </p:cNvSpPr>
          <p:nvPr/>
        </p:nvSpPr>
        <p:spPr bwMode="auto">
          <a:xfrm>
            <a:off x="5064844" y="41231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35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8" name="Oval 10"/>
          <p:cNvSpPr>
            <a:spLocks noChangeArrowheads="1"/>
          </p:cNvSpPr>
          <p:nvPr/>
        </p:nvSpPr>
        <p:spPr bwMode="auto">
          <a:xfrm>
            <a:off x="9687644" y="49613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88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79" name="Line 11"/>
          <p:cNvSpPr>
            <a:spLocks noChangeShapeType="1"/>
          </p:cNvSpPr>
          <p:nvPr/>
        </p:nvSpPr>
        <p:spPr bwMode="auto">
          <a:xfrm flipH="1">
            <a:off x="5477594" y="2370584"/>
            <a:ext cx="90805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0" name="Line 12"/>
          <p:cNvSpPr>
            <a:spLocks noChangeShapeType="1"/>
          </p:cNvSpPr>
          <p:nvPr/>
        </p:nvSpPr>
        <p:spPr bwMode="auto">
          <a:xfrm flipH="1">
            <a:off x="4239344" y="2980184"/>
            <a:ext cx="660400" cy="3810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1" name="Line 13"/>
          <p:cNvSpPr>
            <a:spLocks noChangeShapeType="1"/>
          </p:cNvSpPr>
          <p:nvPr/>
        </p:nvSpPr>
        <p:spPr bwMode="auto">
          <a:xfrm>
            <a:off x="7128594" y="2370584"/>
            <a:ext cx="8255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2" name="Line 14"/>
          <p:cNvSpPr>
            <a:spLocks noChangeShapeType="1"/>
          </p:cNvSpPr>
          <p:nvPr/>
        </p:nvSpPr>
        <p:spPr bwMode="auto">
          <a:xfrm>
            <a:off x="5477594" y="2980184"/>
            <a:ext cx="660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3" name="Line 15"/>
          <p:cNvSpPr>
            <a:spLocks noChangeShapeType="1"/>
          </p:cNvSpPr>
          <p:nvPr/>
        </p:nvSpPr>
        <p:spPr bwMode="auto">
          <a:xfrm flipH="1">
            <a:off x="5685755" y="3665984"/>
            <a:ext cx="579238" cy="4953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4" name="Line 16"/>
          <p:cNvSpPr>
            <a:spLocks noChangeShapeType="1"/>
          </p:cNvSpPr>
          <p:nvPr/>
        </p:nvSpPr>
        <p:spPr bwMode="auto">
          <a:xfrm>
            <a:off x="8614494" y="3056384"/>
            <a:ext cx="660400" cy="3048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5" name="Line 17"/>
          <p:cNvSpPr>
            <a:spLocks noChangeShapeType="1"/>
          </p:cNvSpPr>
          <p:nvPr/>
        </p:nvSpPr>
        <p:spPr bwMode="auto">
          <a:xfrm flipH="1">
            <a:off x="8820868" y="3665984"/>
            <a:ext cx="587499" cy="4953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6" name="Line 18"/>
          <p:cNvSpPr>
            <a:spLocks noChangeShapeType="1"/>
          </p:cNvSpPr>
          <p:nvPr/>
        </p:nvSpPr>
        <p:spPr bwMode="auto">
          <a:xfrm>
            <a:off x="8904312" y="4501009"/>
            <a:ext cx="864096" cy="537491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7" name="Oval 19"/>
          <p:cNvSpPr>
            <a:spLocks noChangeArrowheads="1"/>
          </p:cNvSpPr>
          <p:nvPr/>
        </p:nvSpPr>
        <p:spPr bwMode="auto">
          <a:xfrm>
            <a:off x="3991694" y="4961384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32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8" name="Line 20"/>
          <p:cNvSpPr>
            <a:spLocks noChangeShapeType="1"/>
          </p:cNvSpPr>
          <p:nvPr/>
        </p:nvSpPr>
        <p:spPr bwMode="auto">
          <a:xfrm flipH="1">
            <a:off x="4590180" y="4536206"/>
            <a:ext cx="614362" cy="48575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89" name="Rectangle 21"/>
          <p:cNvSpPr>
            <a:spLocks noChangeArrowheads="1"/>
          </p:cNvSpPr>
          <p:nvPr/>
        </p:nvSpPr>
        <p:spPr bwMode="auto">
          <a:xfrm>
            <a:off x="136578" y="666832"/>
            <a:ext cx="6202917" cy="1224118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）被删除的结点只有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左子结点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或者只有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右子子结点</a:t>
            </a:r>
          </a:p>
        </p:txBody>
      </p:sp>
      <p:sp>
        <p:nvSpPr>
          <p:cNvPr id="493590" name="Line 22"/>
          <p:cNvSpPr>
            <a:spLocks noChangeShapeType="1"/>
          </p:cNvSpPr>
          <p:nvPr/>
        </p:nvSpPr>
        <p:spPr bwMode="auto">
          <a:xfrm>
            <a:off x="7134944" y="2367409"/>
            <a:ext cx="2146300" cy="990600"/>
          </a:xfrm>
          <a:prstGeom prst="line">
            <a:avLst/>
          </a:prstGeom>
          <a:noFill/>
          <a:ln w="63500">
            <a:solidFill>
              <a:srgbClr val="FF00FF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92" name="Freeform 24"/>
          <p:cNvSpPr/>
          <p:nvPr/>
        </p:nvSpPr>
        <p:spPr bwMode="auto">
          <a:xfrm>
            <a:off x="6715844" y="1303784"/>
            <a:ext cx="1155700" cy="762000"/>
          </a:xfrm>
          <a:custGeom>
            <a:avLst/>
            <a:gdLst>
              <a:gd name="T0" fmla="*/ 2147483646 w 672"/>
              <a:gd name="T1" fmla="*/ 0 h 480"/>
              <a:gd name="T2" fmla="*/ 2147483646 w 672"/>
              <a:gd name="T3" fmla="*/ 2147483646 h 480"/>
              <a:gd name="T4" fmla="*/ 2147483646 w 672"/>
              <a:gd name="T5" fmla="*/ 2147483646 h 480"/>
              <a:gd name="T6" fmla="*/ 0 w 672"/>
              <a:gd name="T7" fmla="*/ 2147483646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480"/>
              <a:gd name="T14" fmla="*/ 672 w 67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480">
                <a:moveTo>
                  <a:pt x="672" y="0"/>
                </a:moveTo>
                <a:cubicBezTo>
                  <a:pt x="448" y="100"/>
                  <a:pt x="224" y="200"/>
                  <a:pt x="192" y="240"/>
                </a:cubicBezTo>
                <a:cubicBezTo>
                  <a:pt x="160" y="280"/>
                  <a:pt x="512" y="200"/>
                  <a:pt x="480" y="240"/>
                </a:cubicBezTo>
                <a:cubicBezTo>
                  <a:pt x="448" y="280"/>
                  <a:pt x="224" y="380"/>
                  <a:pt x="0" y="480"/>
                </a:cubicBezTo>
              </a:path>
            </a:pathLst>
          </a:custGeom>
          <a:noFill/>
          <a:ln w="31750">
            <a:solidFill>
              <a:srgbClr val="A5002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93" name="Text Box 25"/>
          <p:cNvSpPr txBox="1">
            <a:spLocks noChangeArrowheads="1"/>
          </p:cNvSpPr>
          <p:nvPr/>
        </p:nvSpPr>
        <p:spPr bwMode="auto">
          <a:xfrm>
            <a:off x="8716449" y="1184403"/>
            <a:ext cx="2877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被删关键字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40</a:t>
            </a:r>
          </a:p>
        </p:txBody>
      </p:sp>
      <p:sp useBgFill="1">
        <p:nvSpPr>
          <p:cNvPr id="493594" name="Rectangle 26"/>
          <p:cNvSpPr>
            <a:spLocks noChangeArrowheads="1"/>
          </p:cNvSpPr>
          <p:nvPr/>
        </p:nvSpPr>
        <p:spPr bwMode="auto">
          <a:xfrm>
            <a:off x="10967065" y="1183142"/>
            <a:ext cx="627095" cy="52322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80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3595" name="AutoShape 27"/>
          <p:cNvSpPr>
            <a:spLocks noChangeArrowheads="1"/>
          </p:cNvSpPr>
          <p:nvPr/>
        </p:nvSpPr>
        <p:spPr bwMode="auto">
          <a:xfrm>
            <a:off x="6619007" y="1310134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A5002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96" name="Text Box 28"/>
          <p:cNvSpPr txBox="1">
            <a:spLocks noChangeArrowheads="1"/>
          </p:cNvSpPr>
          <p:nvPr/>
        </p:nvSpPr>
        <p:spPr bwMode="auto">
          <a:xfrm>
            <a:off x="6730132" y="1081534"/>
            <a:ext cx="4042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97" name="AutoShape 29"/>
          <p:cNvSpPr>
            <a:spLocks noChangeArrowheads="1"/>
          </p:cNvSpPr>
          <p:nvPr/>
        </p:nvSpPr>
        <p:spPr bwMode="auto">
          <a:xfrm>
            <a:off x="5048969" y="1832422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008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98" name="Text Box 30"/>
          <p:cNvSpPr txBox="1">
            <a:spLocks noChangeArrowheads="1"/>
          </p:cNvSpPr>
          <p:nvPr/>
        </p:nvSpPr>
        <p:spPr bwMode="auto">
          <a:xfrm>
            <a:off x="4590182" y="1586359"/>
            <a:ext cx="304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599" name="AutoShape 31"/>
          <p:cNvSpPr>
            <a:spLocks noChangeArrowheads="1"/>
          </p:cNvSpPr>
          <p:nvPr/>
        </p:nvSpPr>
        <p:spPr bwMode="auto">
          <a:xfrm>
            <a:off x="6439619" y="2561084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FF00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600" name="Text Box 32"/>
          <p:cNvSpPr txBox="1">
            <a:spLocks noChangeArrowheads="1"/>
          </p:cNvSpPr>
          <p:nvPr/>
        </p:nvSpPr>
        <p:spPr bwMode="auto">
          <a:xfrm>
            <a:off x="6061794" y="2335659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601" name="AutoShape 33"/>
          <p:cNvSpPr>
            <a:spLocks noChangeArrowheads="1"/>
          </p:cNvSpPr>
          <p:nvPr/>
        </p:nvSpPr>
        <p:spPr bwMode="auto">
          <a:xfrm>
            <a:off x="8247782" y="1832422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008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602" name="Text Box 34"/>
          <p:cNvSpPr txBox="1">
            <a:spLocks noChangeArrowheads="1"/>
          </p:cNvSpPr>
          <p:nvPr/>
        </p:nvSpPr>
        <p:spPr bwMode="auto">
          <a:xfrm>
            <a:off x="7885832" y="1608584"/>
            <a:ext cx="304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603" name="AutoShape 35"/>
          <p:cNvSpPr>
            <a:spLocks noChangeArrowheads="1"/>
          </p:cNvSpPr>
          <p:nvPr/>
        </p:nvSpPr>
        <p:spPr bwMode="auto">
          <a:xfrm>
            <a:off x="9497144" y="2522984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FF00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604" name="Text Box 36"/>
          <p:cNvSpPr txBox="1">
            <a:spLocks noChangeArrowheads="1"/>
          </p:cNvSpPr>
          <p:nvPr/>
        </p:nvSpPr>
        <p:spPr bwMode="auto">
          <a:xfrm>
            <a:off x="9173294" y="2264222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3605" name="Line 37"/>
          <p:cNvSpPr>
            <a:spLocks noChangeShapeType="1"/>
          </p:cNvSpPr>
          <p:nvPr/>
        </p:nvSpPr>
        <p:spPr bwMode="auto">
          <a:xfrm>
            <a:off x="5204543" y="3084027"/>
            <a:ext cx="109737" cy="1039157"/>
          </a:xfrm>
          <a:prstGeom prst="line">
            <a:avLst/>
          </a:prstGeom>
          <a:noFill/>
          <a:ln w="63500">
            <a:solidFill>
              <a:srgbClr val="FF00FF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222006" y="5874608"/>
            <a:ext cx="1048848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其</a:t>
            </a:r>
            <a:r>
              <a:rPr kumimoji="0" lang="zh-CN" altLang="en-US" b="0" dirty="0">
                <a:solidFill>
                  <a:srgbClr val="333333"/>
                </a:solidFill>
              </a:rPr>
              <a:t>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结点的相应指针域的值改为 “指向被删除结点的左子树或右子树”。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9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9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9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9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9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9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5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8" dur="500"/>
                                        <p:tgtEl>
                                          <p:spTgt spid="493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1" dur="500"/>
                                        <p:tgtEl>
                                          <p:spTgt spid="4935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9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9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93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9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9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49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500"/>
                                        <p:tgtEl>
                                          <p:spTgt spid="4935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493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9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2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 animBg="1" autoUpdateAnimBg="0"/>
      <p:bldP spid="493571" grpId="0" animBg="1" autoUpdateAnimBg="0"/>
      <p:bldP spid="493572" grpId="0" animBg="1" autoUpdateAnimBg="0"/>
      <p:bldP spid="493572" grpId="1" animBg="1"/>
      <p:bldP spid="493573" grpId="0" animBg="1" autoUpdateAnimBg="0"/>
      <p:bldP spid="493574" grpId="0" animBg="1" autoUpdateAnimBg="0"/>
      <p:bldP spid="493575" grpId="0" animBg="1" autoUpdateAnimBg="0"/>
      <p:bldP spid="493576" grpId="0" animBg="1" autoUpdateAnimBg="0"/>
      <p:bldP spid="493576" grpId="1" animBg="1"/>
      <p:bldP spid="493577" grpId="0" animBg="1" autoUpdateAnimBg="0"/>
      <p:bldP spid="493578" grpId="0" animBg="1" autoUpdateAnimBg="0"/>
      <p:bldP spid="493587" grpId="0" animBg="1" autoUpdateAnimBg="0"/>
      <p:bldP spid="493589" grpId="0" autoUpdateAnimBg="0"/>
      <p:bldP spid="493593" grpId="0" autoUpdateAnimBg="0"/>
      <p:bldP spid="493594" grpId="0" animBg="1" autoUpdateAnimBg="0"/>
      <p:bldP spid="493595" grpId="0" animBg="1"/>
      <p:bldP spid="493596" grpId="0" autoUpdateAnimBg="0"/>
      <p:bldP spid="493597" grpId="0" animBg="1"/>
      <p:bldP spid="493597" grpId="1" animBg="1"/>
      <p:bldP spid="493598" grpId="0" autoUpdateAnimBg="0"/>
      <p:bldP spid="493598" grpId="1"/>
      <p:bldP spid="493599" grpId="0" animBg="1"/>
      <p:bldP spid="493599" grpId="1" animBg="1"/>
      <p:bldP spid="493600" grpId="0" autoUpdateAnimBg="0"/>
      <p:bldP spid="493600" grpId="1"/>
      <p:bldP spid="493601" grpId="0" animBg="1"/>
      <p:bldP spid="493601" grpId="1" animBg="1"/>
      <p:bldP spid="493602" grpId="0" autoUpdateAnimBg="0"/>
      <p:bldP spid="493602" grpId="1"/>
      <p:bldP spid="493603" grpId="0" animBg="1"/>
      <p:bldP spid="493603" grpId="1" animBg="1"/>
      <p:bldP spid="493604" grpId="0" autoUpdateAnimBg="0"/>
      <p:bldP spid="493604" grpId="1"/>
      <p:bldP spid="38" grpId="0" animBg="1"/>
      <p:bldP spid="3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2148689"/>
            <a:ext cx="9056414" cy="518958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情形三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：被删除的结点既有左子结点，也有右子结点</a:t>
            </a:r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删除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V="1">
            <a:off x="2312890" y="4042951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3379690" y="4042951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312890" y="4804951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3608290" y="4804951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989290" y="4423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998690" y="3661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7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931890" y="4423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2693890" y="5185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6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227290" y="5185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4827490" y="5185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70290" y="4804951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1703290" y="3433351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18" name="Rectangle 26"/>
          <p:cNvSpPr>
            <a:spLocks noChangeArrowheads="1"/>
          </p:cNvSpPr>
          <p:nvPr/>
        </p:nvSpPr>
        <p:spPr bwMode="auto">
          <a:xfrm>
            <a:off x="941290" y="3357151"/>
            <a:ext cx="752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node</a:t>
            </a:r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>
            <a:off x="1855690" y="3585751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32"/>
          <p:cNvSpPr>
            <a:spLocks noChangeArrowheads="1"/>
          </p:cNvSpPr>
          <p:nvPr/>
        </p:nvSpPr>
        <p:spPr bwMode="auto">
          <a:xfrm>
            <a:off x="1246090" y="5185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4</a:t>
            </a:r>
          </a:p>
        </p:txBody>
      </p:sp>
      <p:sp>
        <p:nvSpPr>
          <p:cNvPr id="21" name="Line 33"/>
          <p:cNvSpPr>
            <a:spLocks noChangeShapeType="1"/>
          </p:cNvSpPr>
          <p:nvPr/>
        </p:nvSpPr>
        <p:spPr bwMode="auto">
          <a:xfrm flipH="1">
            <a:off x="1627090" y="4804951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994356" y="362360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删除结点</a:t>
            </a:r>
          </a:p>
        </p:txBody>
      </p:sp>
      <p:cxnSp>
        <p:nvCxnSpPr>
          <p:cNvPr id="23" name="直线箭头连接符 22"/>
          <p:cNvCxnSpPr>
            <a:endCxn id="11" idx="3"/>
          </p:cNvCxnSpPr>
          <p:nvPr/>
        </p:nvCxnSpPr>
        <p:spPr>
          <a:xfrm flipH="1" flipV="1">
            <a:off x="3379690" y="3852451"/>
            <a:ext cx="575806" cy="8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任意多边形: 形状 6"/>
          <p:cNvSpPr/>
          <p:nvPr/>
        </p:nvSpPr>
        <p:spPr>
          <a:xfrm>
            <a:off x="5889984" y="3188252"/>
            <a:ext cx="5787785" cy="2916976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lstStyle/>
          <a:p>
            <a:pPr lv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不直接删除有双子结点的结点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替换结点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：左子树中的最大值（前驱）或 右子树中的最小值（后继）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将替换结点的数据代入删除结点，然后</a:t>
            </a:r>
            <a:r>
              <a:rPr lang="zh-CN" altLang="en-US" sz="2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删除替换结点</a:t>
            </a:r>
            <a:endParaRPr lang="zh-CN" altLang="zh-CN" sz="24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821896" y="581223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前驱结点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159702" y="588385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后继结点</a:t>
            </a:r>
          </a:p>
        </p:txBody>
      </p:sp>
      <p:cxnSp>
        <p:nvCxnSpPr>
          <p:cNvPr id="28" name="直线箭头连接符 27"/>
          <p:cNvCxnSpPr>
            <a:stCxn id="26" idx="0"/>
            <a:endCxn id="13" idx="2"/>
          </p:cNvCxnSpPr>
          <p:nvPr/>
        </p:nvCxnSpPr>
        <p:spPr>
          <a:xfrm flipV="1">
            <a:off x="2427190" y="5566951"/>
            <a:ext cx="457200" cy="245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/>
          <p:cNvCxnSpPr>
            <a:stCxn id="27" idx="0"/>
            <a:endCxn id="14" idx="2"/>
          </p:cNvCxnSpPr>
          <p:nvPr/>
        </p:nvCxnSpPr>
        <p:spPr>
          <a:xfrm flipH="1" flipV="1">
            <a:off x="3417790" y="5566951"/>
            <a:ext cx="347206" cy="316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524932" y="1864763"/>
            <a:ext cx="36670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替换结点有什么特征？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如何找到替换结点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2254946" y="3145715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0" dirty="0">
                <a:latin typeface="Verdana" panose="020B0604030504040204" pitchFamily="34" charset="0"/>
              </a:rPr>
              <a:t>NIL</a:t>
            </a:r>
            <a:endParaRPr lang="zh-CN" altLang="zh-CN" sz="1600" b="0" dirty="0">
              <a:latin typeface="Verdana" panose="020B0604030504040204" pitchFamily="34" charset="0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645346" y="2612315"/>
            <a:ext cx="877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father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2148689"/>
            <a:ext cx="9056414" cy="518958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情形三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：被删除的结点既有左子结点，也有右子结点</a:t>
            </a:r>
          </a:p>
        </p:txBody>
      </p:sp>
      <p:sp>
        <p:nvSpPr>
          <p:cNvPr id="2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15190" y="1486684"/>
            <a:ext cx="5157787" cy="32380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5B9BD5">
                    <a:lumMod val="75000"/>
                  </a:srgbClr>
                </a:solidFill>
                <a:cs typeface="+mj-cs"/>
              </a:rPr>
              <a:t>二叉查找树</a:t>
            </a:r>
            <a:endParaRPr lang="zh-CN" altLang="en-US" sz="3600" dirty="0">
              <a:solidFill>
                <a:srgbClr val="5B9BD5">
                  <a:lumMod val="75000"/>
                </a:srgbClr>
              </a:solidFill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1786" y="1194813"/>
            <a:ext cx="15327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lang="zh-CN" altLang="en-US" sz="3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删除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V="1">
            <a:off x="2312890" y="4042951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3379690" y="4042951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312890" y="4804951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3608290" y="4804951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3989290" y="4423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998690" y="3661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7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931890" y="4423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2693890" y="5185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 dirty="0">
                <a:latin typeface="Verdana" panose="020B0604030504040204" pitchFamily="34" charset="0"/>
              </a:rPr>
              <a:t>6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3227290" y="5185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Verdana" panose="020B0604030504040204" pitchFamily="34" charset="0"/>
              </a:rPr>
              <a:t>8</a:t>
            </a: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4827490" y="5185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70290" y="4804951"/>
            <a:ext cx="4572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" name="Rectangle 23"/>
          <p:cNvSpPr>
            <a:spLocks noChangeArrowheads="1"/>
          </p:cNvSpPr>
          <p:nvPr/>
        </p:nvSpPr>
        <p:spPr bwMode="auto">
          <a:xfrm>
            <a:off x="4510685" y="5864862"/>
            <a:ext cx="3810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18" name="Rectangle 26"/>
          <p:cNvSpPr>
            <a:spLocks noChangeArrowheads="1"/>
          </p:cNvSpPr>
          <p:nvPr/>
        </p:nvSpPr>
        <p:spPr bwMode="auto">
          <a:xfrm>
            <a:off x="4892468" y="5904557"/>
            <a:ext cx="7521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9999"/>
                </a:solidFill>
                <a:latin typeface="Verdana" panose="020B0604030504040204" pitchFamily="34" charset="0"/>
              </a:rPr>
              <a:t>node</a:t>
            </a:r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 flipH="1" flipV="1">
            <a:off x="3608290" y="5502852"/>
            <a:ext cx="1092895" cy="5525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32"/>
          <p:cNvSpPr>
            <a:spLocks noChangeArrowheads="1"/>
          </p:cNvSpPr>
          <p:nvPr/>
        </p:nvSpPr>
        <p:spPr bwMode="auto">
          <a:xfrm>
            <a:off x="1246090" y="5185951"/>
            <a:ext cx="3810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0">
                <a:latin typeface="Verdana" panose="020B0604030504040204" pitchFamily="34" charset="0"/>
              </a:rPr>
              <a:t>4</a:t>
            </a:r>
          </a:p>
        </p:txBody>
      </p:sp>
      <p:sp>
        <p:nvSpPr>
          <p:cNvPr id="21" name="Line 33"/>
          <p:cNvSpPr>
            <a:spLocks noChangeShapeType="1"/>
          </p:cNvSpPr>
          <p:nvPr/>
        </p:nvSpPr>
        <p:spPr bwMode="auto">
          <a:xfrm flipH="1">
            <a:off x="1627090" y="4804951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994356" y="362360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删除结点</a:t>
            </a:r>
          </a:p>
        </p:txBody>
      </p:sp>
      <p:cxnSp>
        <p:nvCxnSpPr>
          <p:cNvPr id="23" name="直线箭头连接符 22"/>
          <p:cNvCxnSpPr>
            <a:endCxn id="11" idx="3"/>
          </p:cNvCxnSpPr>
          <p:nvPr/>
        </p:nvCxnSpPr>
        <p:spPr>
          <a:xfrm flipH="1" flipV="1">
            <a:off x="3379690" y="3852451"/>
            <a:ext cx="575806" cy="8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469596" y="590147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后继结点</a:t>
            </a:r>
          </a:p>
        </p:txBody>
      </p:sp>
      <p:cxnSp>
        <p:nvCxnSpPr>
          <p:cNvPr id="31" name="直线箭头连接符 30"/>
          <p:cNvCxnSpPr>
            <a:stCxn id="27" idx="0"/>
            <a:endCxn id="14" idx="2"/>
          </p:cNvCxnSpPr>
          <p:nvPr/>
        </p:nvCxnSpPr>
        <p:spPr>
          <a:xfrm flipV="1">
            <a:off x="3074890" y="5566951"/>
            <a:ext cx="342900" cy="334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组合 56"/>
          <p:cNvGrpSpPr/>
          <p:nvPr/>
        </p:nvGrpSpPr>
        <p:grpSpPr>
          <a:xfrm>
            <a:off x="7101738" y="3321942"/>
            <a:ext cx="4083050" cy="2654300"/>
            <a:chOff x="6862860" y="3293651"/>
            <a:chExt cx="4083050" cy="2654300"/>
          </a:xfrm>
        </p:grpSpPr>
        <p:sp>
          <p:nvSpPr>
            <p:cNvPr id="24" name="Line 14"/>
            <p:cNvSpPr>
              <a:spLocks noChangeShapeType="1"/>
            </p:cNvSpPr>
            <p:nvPr/>
          </p:nvSpPr>
          <p:spPr bwMode="auto">
            <a:xfrm flipV="1">
              <a:off x="8050310" y="4423951"/>
              <a:ext cx="6858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>
              <a:off x="9117110" y="4423951"/>
              <a:ext cx="609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Rectangle 17"/>
            <p:cNvSpPr>
              <a:spLocks noChangeArrowheads="1"/>
            </p:cNvSpPr>
            <p:nvPr/>
          </p:nvSpPr>
          <p:spPr bwMode="auto">
            <a:xfrm>
              <a:off x="9726710" y="4804951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latin typeface="Verdana" panose="020B0604030504040204" pitchFamily="34" charset="0"/>
                </a:rPr>
                <a:t>9</a:t>
              </a:r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8736110" y="4042951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latin typeface="Verdana" panose="020B0604030504040204" pitchFamily="34" charset="0"/>
                </a:rPr>
                <a:t>8</a:t>
              </a:r>
            </a:p>
          </p:txBody>
        </p:sp>
        <p:sp>
          <p:nvSpPr>
            <p:cNvPr id="33" name="Rectangle 19"/>
            <p:cNvSpPr>
              <a:spLocks noChangeArrowheads="1"/>
            </p:cNvSpPr>
            <p:nvPr/>
          </p:nvSpPr>
          <p:spPr bwMode="auto">
            <a:xfrm>
              <a:off x="7669310" y="4804951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latin typeface="Verdana" panose="020B0604030504040204" pitchFamily="34" charset="0"/>
                </a:rPr>
                <a:t>5</a:t>
              </a:r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10564910" y="5566951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latin typeface="Verdana" panose="020B0604030504040204" pitchFamily="34" charset="0"/>
                </a:rPr>
                <a:t>10</a:t>
              </a: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>
              <a:off x="10107710" y="5185951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Rectangle 24"/>
            <p:cNvSpPr>
              <a:spLocks noChangeArrowheads="1"/>
            </p:cNvSpPr>
            <p:nvPr/>
          </p:nvSpPr>
          <p:spPr bwMode="auto">
            <a:xfrm>
              <a:off x="7745510" y="3433351"/>
              <a:ext cx="381000" cy="3810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 b="0">
                <a:latin typeface="Verdana" panose="020B0604030504040204" pitchFamily="34" charset="0"/>
              </a:endParaRPr>
            </a:p>
          </p:txBody>
        </p:sp>
        <p:sp>
          <p:nvSpPr>
            <p:cNvPr id="38" name="Rectangle 25"/>
            <p:cNvSpPr>
              <a:spLocks noChangeArrowheads="1"/>
            </p:cNvSpPr>
            <p:nvPr/>
          </p:nvSpPr>
          <p:spPr bwMode="auto">
            <a:xfrm>
              <a:off x="6862860" y="3293651"/>
              <a:ext cx="6447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r>
                <a:rPr lang="en-US" altLang="zh-CN" sz="1800" b="0" dirty="0" err="1">
                  <a:latin typeface="Verdana" panose="020B0604030504040204" pitchFamily="34" charset="0"/>
                </a:rPr>
                <a:t>tmp</a:t>
              </a:r>
              <a:endParaRPr lang="en-US" altLang="zh-CN" sz="1800" b="0" dirty="0">
                <a:latin typeface="Verdana" panose="020B0604030504040204" pitchFamily="34" charset="0"/>
              </a:endParaRPr>
            </a:p>
          </p:txBody>
        </p:sp>
        <p:sp>
          <p:nvSpPr>
            <p:cNvPr id="39" name="Line 28"/>
            <p:cNvSpPr>
              <a:spLocks noChangeShapeType="1"/>
            </p:cNvSpPr>
            <p:nvPr/>
          </p:nvSpPr>
          <p:spPr bwMode="auto">
            <a:xfrm>
              <a:off x="8050310" y="3585751"/>
              <a:ext cx="7620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6907310" y="5566951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latin typeface="Verdana" panose="020B0604030504040204" pitchFamily="34" charset="0"/>
                </a:rPr>
                <a:t>4</a:t>
              </a:r>
            </a:p>
          </p:txBody>
        </p:sp>
        <p:sp>
          <p:nvSpPr>
            <p:cNvPr id="41" name="Line 31"/>
            <p:cNvSpPr>
              <a:spLocks noChangeShapeType="1"/>
            </p:cNvSpPr>
            <p:nvPr/>
          </p:nvSpPr>
          <p:spPr bwMode="auto">
            <a:xfrm flipH="1">
              <a:off x="7288310" y="5185951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5"/>
            <p:cNvSpPr>
              <a:spLocks noChangeShapeType="1"/>
            </p:cNvSpPr>
            <p:nvPr/>
          </p:nvSpPr>
          <p:spPr bwMode="auto">
            <a:xfrm>
              <a:off x="8050310" y="5185951"/>
              <a:ext cx="381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Rectangle 10"/>
            <p:cNvSpPr>
              <a:spLocks noChangeArrowheads="1"/>
            </p:cNvSpPr>
            <p:nvPr/>
          </p:nvSpPr>
          <p:spPr bwMode="auto">
            <a:xfrm>
              <a:off x="8431310" y="5566951"/>
              <a:ext cx="3810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p"/>
                <a:defRPr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p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0">
                  <a:latin typeface="Verdana" panose="020B0604030504040204" pitchFamily="34" charset="0"/>
                </a:rPr>
                <a:t>6</a:t>
              </a:r>
            </a:p>
          </p:txBody>
        </p:sp>
      </p:grpSp>
      <p:sp>
        <p:nvSpPr>
          <p:cNvPr id="46" name="右箭头 45"/>
          <p:cNvSpPr/>
          <p:nvPr/>
        </p:nvSpPr>
        <p:spPr>
          <a:xfrm>
            <a:off x="6056215" y="4699179"/>
            <a:ext cx="787790" cy="59254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Rectangle 23"/>
          <p:cNvSpPr>
            <a:spLocks noChangeArrowheads="1"/>
          </p:cNvSpPr>
          <p:nvPr/>
        </p:nvSpPr>
        <p:spPr bwMode="auto">
          <a:xfrm>
            <a:off x="5196277" y="4093540"/>
            <a:ext cx="3810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49" name="Rectangle 26"/>
          <p:cNvSpPr>
            <a:spLocks noChangeArrowheads="1"/>
          </p:cNvSpPr>
          <p:nvPr/>
        </p:nvSpPr>
        <p:spPr bwMode="auto">
          <a:xfrm>
            <a:off x="5578060" y="4133235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9999"/>
                </a:solidFill>
                <a:latin typeface="Verdana" panose="020B0604030504040204" pitchFamily="34" charset="0"/>
              </a:rPr>
              <a:t>father</a:t>
            </a:r>
          </a:p>
        </p:txBody>
      </p:sp>
      <p:sp>
        <p:nvSpPr>
          <p:cNvPr id="50" name="Line 27"/>
          <p:cNvSpPr>
            <a:spLocks noChangeShapeType="1"/>
          </p:cNvSpPr>
          <p:nvPr/>
        </p:nvSpPr>
        <p:spPr bwMode="auto">
          <a:xfrm flipH="1">
            <a:off x="4366919" y="4284039"/>
            <a:ext cx="1019857" cy="2603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1981939" y="3093626"/>
            <a:ext cx="3810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52" name="Rectangle 25"/>
          <p:cNvSpPr>
            <a:spLocks noChangeArrowheads="1"/>
          </p:cNvSpPr>
          <p:nvPr/>
        </p:nvSpPr>
        <p:spPr bwMode="auto">
          <a:xfrm>
            <a:off x="1232237" y="2960959"/>
            <a:ext cx="644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 dirty="0" err="1">
                <a:latin typeface="Verdana" panose="020B0604030504040204" pitchFamily="34" charset="0"/>
              </a:rPr>
              <a:t>tmp</a:t>
            </a:r>
            <a:endParaRPr lang="en-US" altLang="zh-CN" sz="1800" b="0" dirty="0">
              <a:latin typeface="Verdana" panose="020B0604030504040204" pitchFamily="34" charset="0"/>
            </a:endParaRPr>
          </a:p>
        </p:txBody>
      </p:sp>
      <p:sp>
        <p:nvSpPr>
          <p:cNvPr id="53" name="Line 28"/>
          <p:cNvSpPr>
            <a:spLocks noChangeShapeType="1"/>
          </p:cNvSpPr>
          <p:nvPr/>
        </p:nvSpPr>
        <p:spPr bwMode="auto">
          <a:xfrm>
            <a:off x="2286739" y="3246026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cxnSp>
        <p:nvCxnSpPr>
          <p:cNvPr id="55" name="直线箭头连接符 54"/>
          <p:cNvCxnSpPr/>
          <p:nvPr/>
        </p:nvCxnSpPr>
        <p:spPr>
          <a:xfrm flipH="1" flipV="1">
            <a:off x="3213222" y="4091031"/>
            <a:ext cx="190500" cy="10527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1170579" y="6471926"/>
            <a:ext cx="386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找到后继结点，将数据代入删除结点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8250436" y="628644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删除后继结点</a:t>
            </a: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10496678" y="4003256"/>
            <a:ext cx="3810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>
              <a:latin typeface="Verdana" panose="020B0604030504040204" pitchFamily="34" charset="0"/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10878461" y="4042951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 b="0" dirty="0">
                <a:solidFill>
                  <a:srgbClr val="009999"/>
                </a:solidFill>
                <a:latin typeface="Verdana" panose="020B0604030504040204" pitchFamily="34" charset="0"/>
              </a:rPr>
              <a:t>father</a:t>
            </a:r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 flipH="1">
            <a:off x="10031509" y="4193755"/>
            <a:ext cx="655667" cy="571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017340" y="5476342"/>
            <a:ext cx="590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chemeClr val="bg1">
                    <a:lumMod val="65000"/>
                  </a:schemeClr>
                </a:solidFill>
              </a:rPr>
              <a:t>NIL</a:t>
            </a:r>
            <a:endParaRPr kumimoji="1" lang="zh-CN" alt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4" name="直线箭头连接符 43"/>
          <p:cNvCxnSpPr/>
          <p:nvPr/>
        </p:nvCxnSpPr>
        <p:spPr>
          <a:xfrm flipV="1">
            <a:off x="9464218" y="5275067"/>
            <a:ext cx="305435" cy="277897"/>
          </a:xfrm>
          <a:prstGeom prst="straightConnector1">
            <a:avLst/>
          </a:prstGeom>
          <a:ln w="28575">
            <a:solidFill>
              <a:srgbClr val="00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46" grpId="0" animBg="1"/>
      <p:bldP spid="48" grpId="0" animBg="1"/>
      <p:bldP spid="49" grpId="0"/>
      <p:bldP spid="50" grpId="0" animBg="1"/>
      <p:bldP spid="56" grpId="0"/>
      <p:bldP spid="58" grpId="0"/>
      <p:bldP spid="25" grpId="0" animBg="1"/>
      <p:bldP spid="26" grpId="0"/>
      <p:bldP spid="28" grpId="0" animBg="1"/>
      <p:bldP spid="3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1486684"/>
            <a:ext cx="5157787" cy="32380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</a:t>
            </a: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cs typeface="+mj-cs"/>
              </a:rPr>
              <a:t>查找</a:t>
            </a: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树</a:t>
            </a:r>
          </a:p>
        </p:txBody>
      </p:sp>
      <p:sp>
        <p:nvSpPr>
          <p:cNvPr id="9" name="矩形 8"/>
          <p:cNvSpPr/>
          <p:nvPr/>
        </p:nvSpPr>
        <p:spPr>
          <a:xfrm>
            <a:off x="4441786" y="1194813"/>
            <a:ext cx="4062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非递归算法</a:t>
            </a:r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任意多边形: 形状 6"/>
              <p:cNvSpPr/>
              <p:nvPr/>
            </p:nvSpPr>
            <p:spPr>
              <a:xfrm>
                <a:off x="3502526" y="135602"/>
                <a:ext cx="8645845" cy="658679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—————————————————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结点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的父结点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while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14:m>
                  <m:oMath xmlns:m="http://schemas.openxmlformats.org/officeDocument/2006/math">
                    <m:r>
                      <a:rPr lang="zh-CN" altLang="en-US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node.data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do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二分查找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下移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node.data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查找左子树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node.data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 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node.right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查找右子树</a:t>
                </a:r>
                <a:endPara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//key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不在树中，直接返回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且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node.right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删除结点的左右子树非空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tmp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tmp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指向删除结点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node.right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走到右子树，查找后继结点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while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do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移到左分支，直到左子树变空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(?)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循环结束时，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指向后继结点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|  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tmp.data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node.data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后继结点的数据代入删除结点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  <a:endParaRPr lang="zh-CN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2" name="任意多边形: 形状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526" y="135602"/>
                <a:ext cx="8645845" cy="6586796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>
                <a:blip r:embed="rId3"/>
                <a:stretch>
                  <a:fillRect t="-962" b="-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3629" y="2753477"/>
            <a:ext cx="335045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算法：</a:t>
            </a:r>
            <a:r>
              <a:rPr lang="en-US" altLang="zh-CN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Removal(</a:t>
            </a:r>
            <a:r>
              <a:rPr lang="en-US" altLang="zh-CN" sz="2000" dirty="0" err="1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r>
              <a:rPr lang="en-US" altLang="zh-CN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key)</a:t>
            </a: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19A3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：二叉查找树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，数据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：删除带有数据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的结点，返回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body" idx="10"/>
          </p:nvPr>
        </p:nvSpPr>
        <p:spPr>
          <a:xfrm>
            <a:off x="815190" y="1486684"/>
            <a:ext cx="5157787" cy="323806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ctr" eaLnBrk="1" fontAlgn="auto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二叉</a:t>
            </a:r>
            <a:r>
              <a:rPr lang="zh-CN" altLang="en-US" sz="3600" dirty="0">
                <a:solidFill>
                  <a:srgbClr val="5B9BD5">
                    <a:lumMod val="75000"/>
                  </a:srgbClr>
                </a:solidFill>
                <a:cs typeface="+mj-cs"/>
              </a:rPr>
              <a:t>查找</a:t>
            </a:r>
            <a:r>
              <a:rPr lang="zh-CN" altLang="en-US" sz="3600" b="0" kern="1200" dirty="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树</a:t>
            </a:r>
          </a:p>
        </p:txBody>
      </p:sp>
      <p:sp>
        <p:nvSpPr>
          <p:cNvPr id="9" name="矩形 8"/>
          <p:cNvSpPr/>
          <p:nvPr/>
        </p:nvSpPr>
        <p:spPr>
          <a:xfrm>
            <a:off x="4441786" y="1194813"/>
            <a:ext cx="4062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--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非递归算法</a:t>
            </a:r>
          </a:p>
        </p:txBody>
      </p:sp>
      <p:sp>
        <p:nvSpPr>
          <p:cNvPr id="10" name="标题 2"/>
          <p:cNvSpPr>
            <a:spLocks noGrp="1"/>
          </p:cNvSpPr>
          <p:nvPr>
            <p:ph type="title"/>
          </p:nvPr>
        </p:nvSpPr>
        <p:spPr>
          <a:xfrm>
            <a:off x="838200" y="564948"/>
            <a:ext cx="10515600" cy="518958"/>
          </a:xfrm>
        </p:spPr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 二叉查找树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任意多边形: 形状 6"/>
              <p:cNvSpPr/>
              <p:nvPr/>
            </p:nvSpPr>
            <p:spPr>
              <a:xfrm>
                <a:off x="3394083" y="1777594"/>
                <a:ext cx="8645845" cy="5079422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solidFill>
                <a:srgbClr val="009999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54393" tIns="154393" rIns="154393" bIns="154393" numCol="1" spcCol="1270" anchor="ctr" anchorCtr="0">
                <a:no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删除结点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，且该结点最多只有一个非空子树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(?)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有非空子树，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指向子结点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左子树非空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指向左子树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node.right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NIL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删除结点是根结点，即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成为新的树根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if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then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删除结点在父结点左边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father.left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成为父结点的左子结点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else</a:t>
                </a:r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father.right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|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father.right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←</m:t>
                    </m:r>
                  </m:oMath>
                </a14:m>
                <a:r>
                  <a:rPr lang="zh-CN" altLang="en-US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en-US" altLang="zh-CN" dirty="0" err="1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node_cld</a:t>
                </a:r>
                <a:r>
                  <a:rPr lang="zh-CN" altLang="en-US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成为父结点的右子结点</a:t>
                </a:r>
                <a:endParaRPr lang="en-US" altLang="zh-CN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end</a:t>
                </a:r>
              </a:p>
              <a:p>
                <a:pPr marL="360045" lvl="0" indent="-28829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eriod" startAt="24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return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bst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//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返回删除结点后的查找二叉树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1755"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—————————————————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———————</a:t>
                </a:r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——</a:t>
                </a:r>
              </a:p>
            </p:txBody>
          </p:sp>
        </mc:Choice>
        <mc:Fallback xmlns="">
          <p:sp>
            <p:nvSpPr>
              <p:cNvPr id="12" name="任意多边形: 形状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083" y="1777594"/>
                <a:ext cx="8645845" cy="5079422"/>
              </a:xfrm>
              <a:custGeom>
                <a:avLst/>
                <a:gdLst>
                  <a:gd name="connsiteX0" fmla="*/ 0 w 11055350"/>
                  <a:gd name="connsiteY0" fmla="*/ 188921 h 1889214"/>
                  <a:gd name="connsiteX1" fmla="*/ 188921 w 11055350"/>
                  <a:gd name="connsiteY1" fmla="*/ 0 h 1889214"/>
                  <a:gd name="connsiteX2" fmla="*/ 10866429 w 11055350"/>
                  <a:gd name="connsiteY2" fmla="*/ 0 h 1889214"/>
                  <a:gd name="connsiteX3" fmla="*/ 11055350 w 11055350"/>
                  <a:gd name="connsiteY3" fmla="*/ 188921 h 1889214"/>
                  <a:gd name="connsiteX4" fmla="*/ 11055350 w 11055350"/>
                  <a:gd name="connsiteY4" fmla="*/ 1700293 h 1889214"/>
                  <a:gd name="connsiteX5" fmla="*/ 10866429 w 11055350"/>
                  <a:gd name="connsiteY5" fmla="*/ 1889214 h 1889214"/>
                  <a:gd name="connsiteX6" fmla="*/ 188921 w 11055350"/>
                  <a:gd name="connsiteY6" fmla="*/ 1889214 h 1889214"/>
                  <a:gd name="connsiteX7" fmla="*/ 0 w 11055350"/>
                  <a:gd name="connsiteY7" fmla="*/ 1700293 h 1889214"/>
                  <a:gd name="connsiteX8" fmla="*/ 0 w 11055350"/>
                  <a:gd name="connsiteY8" fmla="*/ 188921 h 1889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055350" h="1889214">
                    <a:moveTo>
                      <a:pt x="0" y="188921"/>
                    </a:moveTo>
                    <a:cubicBezTo>
                      <a:pt x="0" y="84583"/>
                      <a:pt x="84583" y="0"/>
                      <a:pt x="188921" y="0"/>
                    </a:cubicBezTo>
                    <a:lnTo>
                      <a:pt x="10866429" y="0"/>
                    </a:lnTo>
                    <a:cubicBezTo>
                      <a:pt x="10970767" y="0"/>
                      <a:pt x="11055350" y="84583"/>
                      <a:pt x="11055350" y="188921"/>
                    </a:cubicBezTo>
                    <a:lnTo>
                      <a:pt x="11055350" y="1700293"/>
                    </a:lnTo>
                    <a:cubicBezTo>
                      <a:pt x="11055350" y="1804631"/>
                      <a:pt x="10970767" y="1889214"/>
                      <a:pt x="10866429" y="1889214"/>
                    </a:cubicBezTo>
                    <a:lnTo>
                      <a:pt x="188921" y="1889214"/>
                    </a:lnTo>
                    <a:cubicBezTo>
                      <a:pt x="84583" y="1889214"/>
                      <a:pt x="0" y="1804631"/>
                      <a:pt x="0" y="1700293"/>
                    </a:cubicBezTo>
                    <a:lnTo>
                      <a:pt x="0" y="188921"/>
                    </a:lnTo>
                    <a:close/>
                  </a:path>
                </a:pathLst>
              </a:custGeom>
              <a:blipFill rotWithShape="1">
                <a:blip r:embed="rId3"/>
                <a:stretch>
                  <a:fillRect l="-74" t="-130" r="-70" b="-119"/>
                </a:stretch>
              </a:blip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3629" y="2753477"/>
            <a:ext cx="335045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算法：</a:t>
            </a:r>
            <a:r>
              <a:rPr lang="en-US" altLang="zh-CN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Removal(</a:t>
            </a:r>
            <a:r>
              <a:rPr lang="en-US" altLang="zh-CN" sz="2000" dirty="0" err="1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r>
              <a:rPr lang="en-US" altLang="zh-CN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key)</a:t>
            </a: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19A38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：二叉查找树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，数据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19A38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：删除带有数据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的结点，返回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BST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Oval 2"/>
          <p:cNvSpPr>
            <a:spLocks noChangeArrowheads="1"/>
          </p:cNvSpPr>
          <p:nvPr/>
        </p:nvSpPr>
        <p:spPr bwMode="auto">
          <a:xfrm>
            <a:off x="5990097" y="1717303"/>
            <a:ext cx="74295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595" name="Oval 3"/>
          <p:cNvSpPr>
            <a:spLocks noChangeArrowheads="1"/>
          </p:cNvSpPr>
          <p:nvPr/>
        </p:nvSpPr>
        <p:spPr bwMode="auto">
          <a:xfrm>
            <a:off x="4421647" y="2250703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596" name="Oval 4"/>
          <p:cNvSpPr>
            <a:spLocks noChangeArrowheads="1"/>
          </p:cNvSpPr>
          <p:nvPr/>
        </p:nvSpPr>
        <p:spPr bwMode="auto">
          <a:xfrm>
            <a:off x="7558547" y="2250703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597" name="Oval 5"/>
          <p:cNvSpPr>
            <a:spLocks noChangeArrowheads="1"/>
          </p:cNvSpPr>
          <p:nvPr/>
        </p:nvSpPr>
        <p:spPr bwMode="auto">
          <a:xfrm>
            <a:off x="3183397" y="2936503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598" name="Oval 6"/>
          <p:cNvSpPr>
            <a:spLocks noChangeArrowheads="1"/>
          </p:cNvSpPr>
          <p:nvPr/>
        </p:nvSpPr>
        <p:spPr bwMode="auto">
          <a:xfrm>
            <a:off x="8796797" y="2936503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599" name="Oval 7"/>
          <p:cNvSpPr>
            <a:spLocks noChangeArrowheads="1"/>
          </p:cNvSpPr>
          <p:nvPr/>
        </p:nvSpPr>
        <p:spPr bwMode="auto">
          <a:xfrm>
            <a:off x="7888747" y="3774703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85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600" name="Oval 8"/>
          <p:cNvSpPr>
            <a:spLocks noChangeArrowheads="1"/>
          </p:cNvSpPr>
          <p:nvPr/>
        </p:nvSpPr>
        <p:spPr bwMode="auto">
          <a:xfrm>
            <a:off x="5659897" y="2936503"/>
            <a:ext cx="742950" cy="533400"/>
          </a:xfrm>
          <a:prstGeom prst="ellips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01" name="Oval 9"/>
          <p:cNvSpPr>
            <a:spLocks noChangeArrowheads="1"/>
          </p:cNvSpPr>
          <p:nvPr/>
        </p:nvSpPr>
        <p:spPr bwMode="auto">
          <a:xfrm>
            <a:off x="4669297" y="3774703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35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602" name="Oval 10"/>
          <p:cNvSpPr>
            <a:spLocks noChangeArrowheads="1"/>
          </p:cNvSpPr>
          <p:nvPr/>
        </p:nvSpPr>
        <p:spPr bwMode="auto">
          <a:xfrm>
            <a:off x="9292097" y="4612903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88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603" name="Line 11"/>
          <p:cNvSpPr>
            <a:spLocks noChangeShapeType="1"/>
          </p:cNvSpPr>
          <p:nvPr/>
        </p:nvSpPr>
        <p:spPr bwMode="auto">
          <a:xfrm flipH="1">
            <a:off x="5082047" y="2022103"/>
            <a:ext cx="90805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04" name="Line 12"/>
          <p:cNvSpPr>
            <a:spLocks noChangeShapeType="1"/>
          </p:cNvSpPr>
          <p:nvPr/>
        </p:nvSpPr>
        <p:spPr bwMode="auto">
          <a:xfrm flipH="1">
            <a:off x="3843797" y="2631703"/>
            <a:ext cx="660400" cy="381000"/>
          </a:xfrm>
          <a:prstGeom prst="line">
            <a:avLst/>
          </a:prstGeom>
          <a:noFill/>
          <a:ln w="38100">
            <a:solidFill>
              <a:srgbClr val="66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05" name="Line 13"/>
          <p:cNvSpPr>
            <a:spLocks noChangeShapeType="1"/>
          </p:cNvSpPr>
          <p:nvPr/>
        </p:nvSpPr>
        <p:spPr bwMode="auto">
          <a:xfrm>
            <a:off x="6733047" y="2022103"/>
            <a:ext cx="8255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06" name="Line 14"/>
          <p:cNvSpPr>
            <a:spLocks noChangeShapeType="1"/>
          </p:cNvSpPr>
          <p:nvPr/>
        </p:nvSpPr>
        <p:spPr bwMode="auto">
          <a:xfrm>
            <a:off x="5082047" y="2631703"/>
            <a:ext cx="66040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07" name="Line 15"/>
          <p:cNvSpPr>
            <a:spLocks noChangeShapeType="1"/>
          </p:cNvSpPr>
          <p:nvPr/>
        </p:nvSpPr>
        <p:spPr bwMode="auto">
          <a:xfrm flipH="1">
            <a:off x="5164597" y="3393703"/>
            <a:ext cx="57785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08" name="Line 16"/>
          <p:cNvSpPr>
            <a:spLocks noChangeShapeType="1"/>
          </p:cNvSpPr>
          <p:nvPr/>
        </p:nvSpPr>
        <p:spPr bwMode="auto">
          <a:xfrm>
            <a:off x="8218947" y="2707903"/>
            <a:ext cx="660400" cy="3048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09" name="Line 17"/>
          <p:cNvSpPr>
            <a:spLocks noChangeShapeType="1"/>
          </p:cNvSpPr>
          <p:nvPr/>
        </p:nvSpPr>
        <p:spPr bwMode="auto">
          <a:xfrm flipH="1">
            <a:off x="8384047" y="3469903"/>
            <a:ext cx="577850" cy="3810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10" name="Line 18"/>
          <p:cNvSpPr>
            <a:spLocks noChangeShapeType="1"/>
          </p:cNvSpPr>
          <p:nvPr/>
        </p:nvSpPr>
        <p:spPr bwMode="auto">
          <a:xfrm>
            <a:off x="8549147" y="4231903"/>
            <a:ext cx="8255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11" name="Oval 19"/>
          <p:cNvSpPr>
            <a:spLocks noChangeArrowheads="1"/>
          </p:cNvSpPr>
          <p:nvPr/>
        </p:nvSpPr>
        <p:spPr bwMode="auto">
          <a:xfrm>
            <a:off x="3596147" y="4612903"/>
            <a:ext cx="742950" cy="533400"/>
          </a:xfrm>
          <a:prstGeom prst="ellipse">
            <a:avLst/>
          </a:prstGeom>
          <a:solidFill>
            <a:srgbClr val="0070C0"/>
          </a:solidFill>
          <a:ln w="25400" cap="sq">
            <a:noFill/>
            <a:round/>
            <a:headEnd type="none" w="sm" len="sm"/>
            <a:tailEnd type="none" w="sm" len="sm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32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612" name="Line 20"/>
          <p:cNvSpPr>
            <a:spLocks noChangeShapeType="1"/>
          </p:cNvSpPr>
          <p:nvPr/>
        </p:nvSpPr>
        <p:spPr bwMode="auto">
          <a:xfrm flipH="1">
            <a:off x="4091447" y="4155703"/>
            <a:ext cx="660400" cy="45720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13" name="Rectangle 21"/>
          <p:cNvSpPr>
            <a:spLocks noChangeArrowheads="1"/>
          </p:cNvSpPr>
          <p:nvPr/>
        </p:nvSpPr>
        <p:spPr bwMode="auto">
          <a:xfrm>
            <a:off x="143669" y="721055"/>
            <a:ext cx="3708066" cy="1865126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）被删除的结点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既有左子树，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也有右子树 </a:t>
            </a:r>
          </a:p>
        </p:txBody>
      </p:sp>
      <p:sp>
        <p:nvSpPr>
          <p:cNvPr id="494614" name="Oval 22"/>
          <p:cNvSpPr>
            <a:spLocks noChangeArrowheads="1"/>
          </p:cNvSpPr>
          <p:nvPr/>
        </p:nvSpPr>
        <p:spPr bwMode="auto">
          <a:xfrm>
            <a:off x="5659897" y="2936503"/>
            <a:ext cx="742950" cy="533400"/>
          </a:xfrm>
          <a:prstGeom prst="ellipse">
            <a:avLst/>
          </a:prstGeom>
          <a:solidFill>
            <a:srgbClr val="FFFF99">
              <a:alpha val="50195"/>
            </a:srgbClr>
          </a:solidFill>
          <a:ln w="34925" cap="sq">
            <a:solidFill>
              <a:srgbClr val="8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15" name="Oval 23"/>
          <p:cNvSpPr>
            <a:spLocks noChangeArrowheads="1"/>
          </p:cNvSpPr>
          <p:nvPr/>
        </p:nvSpPr>
        <p:spPr bwMode="auto">
          <a:xfrm>
            <a:off x="5990097" y="1717303"/>
            <a:ext cx="742950" cy="533400"/>
          </a:xfrm>
          <a:prstGeom prst="ellipse">
            <a:avLst/>
          </a:prstGeom>
          <a:solidFill>
            <a:srgbClr val="0070C0"/>
          </a:solidFill>
          <a:ln w="34925" cap="sq">
            <a:noFill/>
            <a:round/>
            <a:headEnd type="none" w="sm" len="sm"/>
            <a:tailEnd type="none" w="sm" len="sm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40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616" name="Rectangle 24"/>
          <p:cNvSpPr>
            <a:spLocks noChangeArrowheads="1"/>
          </p:cNvSpPr>
          <p:nvPr/>
        </p:nvSpPr>
        <p:spPr bwMode="auto">
          <a:xfrm>
            <a:off x="1786961" y="6057528"/>
            <a:ext cx="4375150" cy="381000"/>
          </a:xfrm>
          <a:prstGeom prst="rect">
            <a:avLst/>
          </a:prstGeom>
          <a:solidFill>
            <a:schemeClr val="hlink"/>
          </a:solidFill>
          <a:ln w="9525">
            <a:solidFill>
              <a:srgbClr val="A5002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17" name="Oval 25"/>
          <p:cNvSpPr>
            <a:spLocks noChangeArrowheads="1"/>
          </p:cNvSpPr>
          <p:nvPr/>
        </p:nvSpPr>
        <p:spPr bwMode="auto">
          <a:xfrm>
            <a:off x="4428561" y="6057528"/>
            <a:ext cx="412750" cy="381000"/>
          </a:xfrm>
          <a:prstGeom prst="ellipse">
            <a:avLst/>
          </a:prstGeom>
          <a:solidFill>
            <a:srgbClr val="FFEDCD"/>
          </a:solidFill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18" name="Oval 26"/>
          <p:cNvSpPr>
            <a:spLocks noChangeArrowheads="1"/>
          </p:cNvSpPr>
          <p:nvPr/>
        </p:nvSpPr>
        <p:spPr bwMode="auto">
          <a:xfrm>
            <a:off x="3933261" y="6057528"/>
            <a:ext cx="412750" cy="3810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19" name="Oval 27"/>
          <p:cNvSpPr>
            <a:spLocks noChangeArrowheads="1"/>
          </p:cNvSpPr>
          <p:nvPr/>
        </p:nvSpPr>
        <p:spPr bwMode="auto">
          <a:xfrm>
            <a:off x="1786961" y="6057528"/>
            <a:ext cx="412750" cy="381000"/>
          </a:xfrm>
          <a:prstGeom prst="ellipse">
            <a:avLst/>
          </a:prstGeom>
          <a:solidFill>
            <a:srgbClr val="FFEDCD"/>
          </a:solidFill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20" name="Oval 28"/>
          <p:cNvSpPr>
            <a:spLocks noChangeArrowheads="1"/>
          </p:cNvSpPr>
          <p:nvPr/>
        </p:nvSpPr>
        <p:spPr bwMode="auto">
          <a:xfrm>
            <a:off x="5749361" y="6057528"/>
            <a:ext cx="412750" cy="381000"/>
          </a:xfrm>
          <a:prstGeom prst="ellipse">
            <a:avLst/>
          </a:prstGeom>
          <a:solidFill>
            <a:srgbClr val="FFEDCD"/>
          </a:solidFill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 useBgFill="1">
        <p:nvSpPr>
          <p:cNvPr id="494621" name="Oval 29"/>
          <p:cNvSpPr>
            <a:spLocks noChangeArrowheads="1"/>
          </p:cNvSpPr>
          <p:nvPr/>
        </p:nvSpPr>
        <p:spPr bwMode="auto">
          <a:xfrm>
            <a:off x="2612461" y="6209928"/>
            <a:ext cx="8255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 useBgFill="1">
        <p:nvSpPr>
          <p:cNvPr id="494622" name="Oval 30"/>
          <p:cNvSpPr>
            <a:spLocks noChangeArrowheads="1"/>
          </p:cNvSpPr>
          <p:nvPr/>
        </p:nvSpPr>
        <p:spPr bwMode="auto">
          <a:xfrm>
            <a:off x="2860111" y="6209928"/>
            <a:ext cx="8255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 useBgFill="1">
        <p:nvSpPr>
          <p:cNvPr id="494623" name="Oval 31"/>
          <p:cNvSpPr>
            <a:spLocks noChangeArrowheads="1"/>
          </p:cNvSpPr>
          <p:nvPr/>
        </p:nvSpPr>
        <p:spPr bwMode="auto">
          <a:xfrm>
            <a:off x="3107761" y="6209928"/>
            <a:ext cx="8255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 useBgFill="1">
        <p:nvSpPr>
          <p:cNvPr id="494624" name="Oval 32"/>
          <p:cNvSpPr>
            <a:spLocks noChangeArrowheads="1"/>
          </p:cNvSpPr>
          <p:nvPr/>
        </p:nvSpPr>
        <p:spPr bwMode="auto">
          <a:xfrm>
            <a:off x="5006411" y="6209928"/>
            <a:ext cx="8255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 useBgFill="1">
        <p:nvSpPr>
          <p:cNvPr id="494625" name="Oval 33"/>
          <p:cNvSpPr>
            <a:spLocks noChangeArrowheads="1"/>
          </p:cNvSpPr>
          <p:nvPr/>
        </p:nvSpPr>
        <p:spPr bwMode="auto">
          <a:xfrm>
            <a:off x="5254061" y="6209928"/>
            <a:ext cx="8255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 useBgFill="1">
        <p:nvSpPr>
          <p:cNvPr id="494626" name="Oval 34"/>
          <p:cNvSpPr>
            <a:spLocks noChangeArrowheads="1"/>
          </p:cNvSpPr>
          <p:nvPr/>
        </p:nvSpPr>
        <p:spPr bwMode="auto">
          <a:xfrm>
            <a:off x="5501711" y="6209928"/>
            <a:ext cx="82550" cy="76200"/>
          </a:xfrm>
          <a:prstGeom prst="ellipse">
            <a:avLst/>
          </a:prstGeom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27" name="Oval 35"/>
          <p:cNvSpPr>
            <a:spLocks noChangeArrowheads="1"/>
          </p:cNvSpPr>
          <p:nvPr/>
        </p:nvSpPr>
        <p:spPr bwMode="auto">
          <a:xfrm>
            <a:off x="4428561" y="6057528"/>
            <a:ext cx="412750" cy="381000"/>
          </a:xfrm>
          <a:prstGeom prst="ellipse">
            <a:avLst/>
          </a:prstGeom>
          <a:solidFill>
            <a:srgbClr val="FFFF00"/>
          </a:solidFill>
          <a:ln w="9525">
            <a:solidFill>
              <a:srgbClr val="A5002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28" name="Oval 36"/>
          <p:cNvSpPr>
            <a:spLocks noChangeArrowheads="1"/>
          </p:cNvSpPr>
          <p:nvPr/>
        </p:nvSpPr>
        <p:spPr bwMode="auto">
          <a:xfrm>
            <a:off x="3933261" y="6057528"/>
            <a:ext cx="412750" cy="3810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hlink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30" name="AutoShape 38"/>
          <p:cNvSpPr>
            <a:spLocks noChangeArrowheads="1"/>
          </p:cNvSpPr>
          <p:nvPr/>
        </p:nvSpPr>
        <p:spPr bwMode="auto">
          <a:xfrm>
            <a:off x="4999497" y="2772057"/>
            <a:ext cx="160338" cy="1002645"/>
          </a:xfrm>
          <a:prstGeom prst="downArrow">
            <a:avLst>
              <a:gd name="adj1" fmla="val 50000"/>
              <a:gd name="adj2" fmla="val 173077"/>
            </a:avLst>
          </a:prstGeom>
          <a:solidFill>
            <a:srgbClr val="FF00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 useBgFill="1">
        <p:nvSpPr>
          <p:cNvPr id="494631" name="Rectangle 39"/>
          <p:cNvSpPr>
            <a:spLocks noChangeArrowheads="1"/>
          </p:cNvSpPr>
          <p:nvPr/>
        </p:nvSpPr>
        <p:spPr bwMode="auto">
          <a:xfrm>
            <a:off x="5164597" y="2631703"/>
            <a:ext cx="1403350" cy="1143000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32" name="AutoShape 40"/>
          <p:cNvSpPr>
            <a:spLocks noChangeArrowheads="1"/>
          </p:cNvSpPr>
          <p:nvPr/>
        </p:nvSpPr>
        <p:spPr bwMode="auto">
          <a:xfrm>
            <a:off x="4593661" y="5447928"/>
            <a:ext cx="82550" cy="609600"/>
          </a:xfrm>
          <a:prstGeom prst="downArrow">
            <a:avLst>
              <a:gd name="adj1" fmla="val 50000"/>
              <a:gd name="adj2" fmla="val 184615"/>
            </a:avLst>
          </a:prstGeom>
          <a:solidFill>
            <a:srgbClr val="A50021"/>
          </a:solidFill>
          <a:ln w="9525">
            <a:solidFill>
              <a:srgbClr val="A50021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33" name="Text Box 41"/>
          <p:cNvSpPr txBox="1">
            <a:spLocks noChangeArrowheads="1"/>
          </p:cNvSpPr>
          <p:nvPr/>
        </p:nvSpPr>
        <p:spPr bwMode="auto">
          <a:xfrm>
            <a:off x="4587311" y="5165353"/>
            <a:ext cx="18598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被删结点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634" name="AutoShape 42"/>
          <p:cNvSpPr>
            <a:spLocks noChangeArrowheads="1"/>
          </p:cNvSpPr>
          <p:nvPr/>
        </p:nvSpPr>
        <p:spPr bwMode="auto">
          <a:xfrm>
            <a:off x="4104711" y="5447928"/>
            <a:ext cx="82550" cy="609600"/>
          </a:xfrm>
          <a:prstGeom prst="downArrow">
            <a:avLst>
              <a:gd name="adj1" fmla="val 50000"/>
              <a:gd name="adj2" fmla="val 184615"/>
            </a:avLst>
          </a:prstGeom>
          <a:solidFill>
            <a:srgbClr val="006600"/>
          </a:solidFill>
          <a:ln w="9525">
            <a:solidFill>
              <a:srgbClr val="006600"/>
            </a:solidFill>
            <a:miter lim="800000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35" name="Text Box 43"/>
          <p:cNvSpPr txBox="1">
            <a:spLocks noChangeArrowheads="1"/>
          </p:cNvSpPr>
          <p:nvPr/>
        </p:nvSpPr>
        <p:spPr bwMode="auto">
          <a:xfrm>
            <a:off x="2123511" y="5206628"/>
            <a:ext cx="17988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前驱结点</a:t>
            </a: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endParaRPr kumimoji="1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4636" name="Freeform 44"/>
          <p:cNvSpPr/>
          <p:nvPr/>
        </p:nvSpPr>
        <p:spPr bwMode="auto">
          <a:xfrm>
            <a:off x="6402847" y="955303"/>
            <a:ext cx="1155700" cy="762000"/>
          </a:xfrm>
          <a:custGeom>
            <a:avLst/>
            <a:gdLst>
              <a:gd name="T0" fmla="*/ 2147483646 w 672"/>
              <a:gd name="T1" fmla="*/ 0 h 480"/>
              <a:gd name="T2" fmla="*/ 2147483646 w 672"/>
              <a:gd name="T3" fmla="*/ 2147483646 h 480"/>
              <a:gd name="T4" fmla="*/ 2147483646 w 672"/>
              <a:gd name="T5" fmla="*/ 2147483646 h 480"/>
              <a:gd name="T6" fmla="*/ 0 w 672"/>
              <a:gd name="T7" fmla="*/ 2147483646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480"/>
              <a:gd name="T14" fmla="*/ 672 w 67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480">
                <a:moveTo>
                  <a:pt x="672" y="0"/>
                </a:moveTo>
                <a:cubicBezTo>
                  <a:pt x="448" y="100"/>
                  <a:pt x="224" y="200"/>
                  <a:pt x="192" y="240"/>
                </a:cubicBezTo>
                <a:cubicBezTo>
                  <a:pt x="160" y="280"/>
                  <a:pt x="512" y="200"/>
                  <a:pt x="480" y="240"/>
                </a:cubicBezTo>
                <a:cubicBezTo>
                  <a:pt x="448" y="280"/>
                  <a:pt x="224" y="380"/>
                  <a:pt x="0" y="480"/>
                </a:cubicBezTo>
              </a:path>
            </a:pathLst>
          </a:custGeom>
          <a:noFill/>
          <a:ln w="31750">
            <a:solidFill>
              <a:srgbClr val="A5002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37" name="Text Box 45"/>
          <p:cNvSpPr txBox="1">
            <a:spLocks noChangeArrowheads="1"/>
          </p:cNvSpPr>
          <p:nvPr/>
        </p:nvSpPr>
        <p:spPr bwMode="auto">
          <a:xfrm>
            <a:off x="8434491" y="1240483"/>
            <a:ext cx="28777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被删关键字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 50</a:t>
            </a:r>
          </a:p>
        </p:txBody>
      </p:sp>
      <p:sp>
        <p:nvSpPr>
          <p:cNvPr id="494638" name="AutoShape 46"/>
          <p:cNvSpPr>
            <a:spLocks noChangeArrowheads="1"/>
          </p:cNvSpPr>
          <p:nvPr/>
        </p:nvSpPr>
        <p:spPr bwMode="auto">
          <a:xfrm>
            <a:off x="6282197" y="961653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A5002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39" name="Text Box 47"/>
          <p:cNvSpPr txBox="1">
            <a:spLocks noChangeArrowheads="1"/>
          </p:cNvSpPr>
          <p:nvPr/>
        </p:nvSpPr>
        <p:spPr bwMode="auto">
          <a:xfrm>
            <a:off x="6402847" y="818778"/>
            <a:ext cx="40427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40" name="AutoShape 48"/>
          <p:cNvSpPr>
            <a:spLocks noChangeArrowheads="1"/>
          </p:cNvSpPr>
          <p:nvPr/>
        </p:nvSpPr>
        <p:spPr bwMode="auto">
          <a:xfrm>
            <a:off x="4645485" y="1496641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008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41" name="Text Box 49"/>
          <p:cNvSpPr txBox="1">
            <a:spLocks noChangeArrowheads="1"/>
          </p:cNvSpPr>
          <p:nvPr/>
        </p:nvSpPr>
        <p:spPr bwMode="auto">
          <a:xfrm>
            <a:off x="4186697" y="1250578"/>
            <a:ext cx="3850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42" name="AutoShape 50"/>
          <p:cNvSpPr>
            <a:spLocks noChangeArrowheads="1"/>
          </p:cNvSpPr>
          <p:nvPr/>
        </p:nvSpPr>
        <p:spPr bwMode="auto">
          <a:xfrm>
            <a:off x="6128210" y="991816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FF00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43" name="Text Box 51"/>
          <p:cNvSpPr txBox="1">
            <a:spLocks noChangeArrowheads="1"/>
          </p:cNvSpPr>
          <p:nvPr/>
        </p:nvSpPr>
        <p:spPr bwMode="auto">
          <a:xfrm>
            <a:off x="5804360" y="733053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44" name="AutoShape 52"/>
          <p:cNvSpPr>
            <a:spLocks noChangeArrowheads="1"/>
          </p:cNvSpPr>
          <p:nvPr/>
        </p:nvSpPr>
        <p:spPr bwMode="auto">
          <a:xfrm>
            <a:off x="5902785" y="2215778"/>
            <a:ext cx="165100" cy="762000"/>
          </a:xfrm>
          <a:prstGeom prst="downArrow">
            <a:avLst>
              <a:gd name="adj1" fmla="val 50000"/>
              <a:gd name="adj2" fmla="val 115385"/>
            </a:avLst>
          </a:prstGeom>
          <a:solidFill>
            <a:srgbClr val="008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4645" name="Text Box 53"/>
          <p:cNvSpPr txBox="1">
            <a:spLocks noChangeArrowheads="1"/>
          </p:cNvSpPr>
          <p:nvPr/>
        </p:nvSpPr>
        <p:spPr bwMode="auto">
          <a:xfrm>
            <a:off x="5631322" y="2026866"/>
            <a:ext cx="3241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endParaRPr kumimoji="1" lang="en-US" altLang="zh-CN" sz="2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Text Box 4"/>
          <p:cNvSpPr txBox="1">
            <a:spLocks noChangeArrowheads="1"/>
          </p:cNvSpPr>
          <p:nvPr/>
        </p:nvSpPr>
        <p:spPr bwMode="auto">
          <a:xfrm>
            <a:off x="6980697" y="5607531"/>
            <a:ext cx="4331505" cy="119888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以其前驱替代之，然后再删除该前驱结点（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可能递归的陷入类似情况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9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9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9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94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94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9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9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9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9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9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9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9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9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9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94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94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94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94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0" dur="500"/>
                                        <p:tgtEl>
                                          <p:spTgt spid="49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94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94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94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4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49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9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9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9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49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49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49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500"/>
                            </p:stCondLst>
                            <p:childTnLst>
                              <p:par>
                                <p:cTn id="17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500"/>
                            </p:stCondLst>
                            <p:childTnLst>
                              <p:par>
                                <p:cTn id="1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6" dur="500"/>
                                        <p:tgtEl>
                                          <p:spTgt spid="49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9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49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49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49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0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4" grpId="0" animBg="1" autoUpdateAnimBg="0"/>
      <p:bldP spid="494595" grpId="0" animBg="1" autoUpdateAnimBg="0"/>
      <p:bldP spid="494596" grpId="0" animBg="1" autoUpdateAnimBg="0"/>
      <p:bldP spid="494597" grpId="0" animBg="1" autoUpdateAnimBg="0"/>
      <p:bldP spid="494598" grpId="0" animBg="1" autoUpdateAnimBg="0"/>
      <p:bldP spid="494599" grpId="0" animBg="1" autoUpdateAnimBg="0"/>
      <p:bldP spid="494600" grpId="0" animBg="1" autoUpdateAnimBg="0"/>
      <p:bldP spid="494601" grpId="0" animBg="1" autoUpdateAnimBg="0"/>
      <p:bldP spid="494602" grpId="0" animBg="1" autoUpdateAnimBg="0"/>
      <p:bldP spid="494611" grpId="0" animBg="1" autoUpdateAnimBg="0"/>
      <p:bldP spid="494613" grpId="0" autoUpdateAnimBg="0"/>
      <p:bldP spid="494614" grpId="0" animBg="1" autoUpdateAnimBg="0"/>
      <p:bldP spid="494615" grpId="0" animBg="1" autoUpdateAnimBg="0"/>
      <p:bldP spid="494616" grpId="0" animBg="1"/>
      <p:bldP spid="494617" grpId="0" animBg="1"/>
      <p:bldP spid="494618" grpId="0" animBg="1"/>
      <p:bldP spid="494619" grpId="0" animBg="1"/>
      <p:bldP spid="494620" grpId="0" animBg="1"/>
      <p:bldP spid="494621" grpId="0" animBg="1"/>
      <p:bldP spid="494622" grpId="0" animBg="1"/>
      <p:bldP spid="494623" grpId="0" animBg="1"/>
      <p:bldP spid="494624" grpId="0" animBg="1"/>
      <p:bldP spid="494625" grpId="0" animBg="1"/>
      <p:bldP spid="494626" grpId="0" animBg="1"/>
      <p:bldP spid="494627" grpId="0" animBg="1"/>
      <p:bldP spid="494628" grpId="0" animBg="1"/>
      <p:bldP spid="494630" grpId="0" animBg="1"/>
      <p:bldP spid="494631" grpId="0" animBg="1"/>
      <p:bldP spid="494632" grpId="0" animBg="1"/>
      <p:bldP spid="494633" grpId="0" autoUpdateAnimBg="0"/>
      <p:bldP spid="494634" grpId="0" animBg="1"/>
      <p:bldP spid="494635" grpId="0" autoUpdateAnimBg="0"/>
      <p:bldP spid="494637" grpId="0" autoUpdateAnimBg="0"/>
      <p:bldP spid="494638" grpId="0" animBg="1"/>
      <p:bldP spid="494639" grpId="0" autoUpdateAnimBg="0"/>
      <p:bldP spid="494640" grpId="0" animBg="1"/>
      <p:bldP spid="494640" grpId="1" animBg="1"/>
      <p:bldP spid="494641" grpId="0" autoUpdateAnimBg="0"/>
      <p:bldP spid="494641" grpId="1"/>
      <p:bldP spid="494642" grpId="0" animBg="1"/>
      <p:bldP spid="494642" grpId="1" animBg="1"/>
      <p:bldP spid="494643" grpId="0" autoUpdateAnimBg="0"/>
      <p:bldP spid="494643" grpId="1"/>
      <p:bldP spid="494644" grpId="0" animBg="1"/>
      <p:bldP spid="494644" grpId="1" animBg="1"/>
      <p:bldP spid="494645" grpId="0" autoUpdateAnimBg="0"/>
      <p:bldP spid="494645" grpId="1"/>
      <p:bldP spid="494645" grpId="2"/>
      <p:bldP spid="56" grpId="0" bldLvl="0" animBg="1"/>
      <p:bldP spid="56" grpId="1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/>
          <p:cNvSpPr txBox="1">
            <a:spLocks noChangeArrowheads="1"/>
          </p:cNvSpPr>
          <p:nvPr/>
        </p:nvSpPr>
        <p:spPr bwMode="auto">
          <a:xfrm>
            <a:off x="2495600" y="736180"/>
            <a:ext cx="4556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/>
            <a:r>
              <a:rPr kumimoji="1" lang="en-US" altLang="zh-CN" sz="3600" b="1" dirty="0">
                <a:latin typeface="Times New Roman" panose="02020603050405020304" pitchFamily="18" charset="0"/>
              </a:rPr>
              <a:t>11.2.4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查找性能的分析</a:t>
            </a:r>
            <a:endParaRPr kumimoji="1"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51907" name="Text Box 3"/>
          <p:cNvSpPr txBox="1">
            <a:spLocks noChangeArrowheads="1"/>
          </p:cNvSpPr>
          <p:nvPr/>
        </p:nvSpPr>
        <p:spPr bwMode="auto">
          <a:xfrm>
            <a:off x="1127448" y="1556792"/>
            <a:ext cx="8705850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幼圆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36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对于一棵特定的二叉排序树，均可按照平均查找长度的定义来求它的 </a:t>
            </a:r>
            <a:r>
              <a:rPr kumimoji="1" lang="en-US" altLang="zh-CN" sz="3600" b="1" i="1" dirty="0">
                <a:latin typeface="Times New Roman" panose="02020603050405020304" pitchFamily="18" charset="0"/>
              </a:rPr>
              <a:t>ASL 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值，</a:t>
            </a:r>
            <a:r>
              <a:rPr kumimoji="1" lang="en-US" altLang="zh-CN" sz="3600" b="1" i="1" dirty="0">
                <a:latin typeface="Times New Roman" panose="02020603050405020304" pitchFamily="18" charset="0"/>
              </a:rPr>
              <a:t>n </a:t>
            </a:r>
            <a:r>
              <a:rPr kumimoji="1" lang="zh-CN" altLang="en-US" sz="3600" b="1" dirty="0">
                <a:latin typeface="Times New Roman" panose="02020603050405020304" pitchFamily="18" charset="0"/>
              </a:rPr>
              <a:t>个关键字，由于查找顺序不同可构造出不同形态的多棵二叉排序树，其平均查找长度的值不同，甚至可能差别很大。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5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"/>
                                        <p:tgtEl>
                                          <p:spTgt spid="25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 autoUpdateAnimBg="0"/>
      <p:bldP spid="25190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Text Box 2"/>
          <p:cNvSpPr txBox="1">
            <a:spLocks noChangeArrowheads="1"/>
          </p:cNvSpPr>
          <p:nvPr/>
        </p:nvSpPr>
        <p:spPr bwMode="auto">
          <a:xfrm>
            <a:off x="977900" y="4153430"/>
            <a:ext cx="676910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由关键字序列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构造而得的二叉排序树，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2787" name="Text Box 3"/>
          <p:cNvSpPr txBox="1">
            <a:spLocks noChangeArrowheads="1"/>
          </p:cNvSpPr>
          <p:nvPr/>
        </p:nvSpPr>
        <p:spPr bwMode="auto">
          <a:xfrm>
            <a:off x="928178" y="1690039"/>
            <a:ext cx="6686550" cy="941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例如：由关键字序列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构造而得的二叉排序树，</a:t>
            </a:r>
          </a:p>
        </p:txBody>
      </p:sp>
      <p:sp>
        <p:nvSpPr>
          <p:cNvPr id="502789" name="Line 5"/>
          <p:cNvSpPr>
            <a:spLocks noChangeShapeType="1"/>
          </p:cNvSpPr>
          <p:nvPr/>
        </p:nvSpPr>
        <p:spPr bwMode="auto">
          <a:xfrm>
            <a:off x="8781479" y="1690250"/>
            <a:ext cx="330200" cy="228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0" name="Line 6"/>
          <p:cNvSpPr>
            <a:spLocks noChangeShapeType="1"/>
          </p:cNvSpPr>
          <p:nvPr/>
        </p:nvSpPr>
        <p:spPr bwMode="auto">
          <a:xfrm>
            <a:off x="9359330" y="2147450"/>
            <a:ext cx="271463" cy="228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1" name="Line 7"/>
          <p:cNvSpPr>
            <a:spLocks noChangeShapeType="1"/>
          </p:cNvSpPr>
          <p:nvPr/>
        </p:nvSpPr>
        <p:spPr bwMode="auto">
          <a:xfrm>
            <a:off x="9824467" y="2557025"/>
            <a:ext cx="330200" cy="300038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2" name="Line 8"/>
          <p:cNvSpPr>
            <a:spLocks noChangeShapeType="1"/>
          </p:cNvSpPr>
          <p:nvPr/>
        </p:nvSpPr>
        <p:spPr bwMode="auto">
          <a:xfrm>
            <a:off x="10448355" y="3061851"/>
            <a:ext cx="314325" cy="28892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3" name="Oval 9"/>
          <p:cNvSpPr>
            <a:spLocks noChangeArrowheads="1"/>
          </p:cNvSpPr>
          <p:nvPr/>
        </p:nvSpPr>
        <p:spPr bwMode="auto">
          <a:xfrm>
            <a:off x="9483154" y="41667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4" name="Oval 10"/>
          <p:cNvSpPr>
            <a:spLocks noChangeArrowheads="1"/>
          </p:cNvSpPr>
          <p:nvPr/>
        </p:nvSpPr>
        <p:spPr bwMode="auto">
          <a:xfrm>
            <a:off x="10473754" y="48525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5" name="Oval 11"/>
          <p:cNvSpPr>
            <a:spLocks noChangeArrowheads="1"/>
          </p:cNvSpPr>
          <p:nvPr/>
        </p:nvSpPr>
        <p:spPr bwMode="auto">
          <a:xfrm>
            <a:off x="9895904" y="56907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6" name="Oval 12"/>
          <p:cNvSpPr>
            <a:spLocks noChangeArrowheads="1"/>
          </p:cNvSpPr>
          <p:nvPr/>
        </p:nvSpPr>
        <p:spPr bwMode="auto">
          <a:xfrm>
            <a:off x="8492554" y="48525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7" name="Oval 13"/>
          <p:cNvSpPr>
            <a:spLocks noChangeArrowheads="1"/>
          </p:cNvSpPr>
          <p:nvPr/>
        </p:nvSpPr>
        <p:spPr bwMode="auto">
          <a:xfrm>
            <a:off x="9070404" y="56907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8" name="Line 14"/>
          <p:cNvSpPr>
            <a:spLocks noChangeShapeType="1"/>
          </p:cNvSpPr>
          <p:nvPr/>
        </p:nvSpPr>
        <p:spPr bwMode="auto">
          <a:xfrm flipH="1">
            <a:off x="8740204" y="4395350"/>
            <a:ext cx="742950" cy="457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799" name="Line 15"/>
          <p:cNvSpPr>
            <a:spLocks noChangeShapeType="1"/>
          </p:cNvSpPr>
          <p:nvPr/>
        </p:nvSpPr>
        <p:spPr bwMode="auto">
          <a:xfrm>
            <a:off x="9895904" y="4395350"/>
            <a:ext cx="660400" cy="457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800" name="Line 16"/>
          <p:cNvSpPr>
            <a:spLocks noChangeShapeType="1"/>
          </p:cNvSpPr>
          <p:nvPr/>
        </p:nvSpPr>
        <p:spPr bwMode="auto">
          <a:xfrm>
            <a:off x="8740204" y="5233550"/>
            <a:ext cx="412750" cy="457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801" name="Line 17"/>
          <p:cNvSpPr>
            <a:spLocks noChangeShapeType="1"/>
          </p:cNvSpPr>
          <p:nvPr/>
        </p:nvSpPr>
        <p:spPr bwMode="auto">
          <a:xfrm flipH="1">
            <a:off x="10226104" y="5233550"/>
            <a:ext cx="330200" cy="457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802" name="Rectangle 18"/>
          <p:cNvSpPr>
            <a:spLocks noChangeArrowheads="1"/>
          </p:cNvSpPr>
          <p:nvPr/>
        </p:nvSpPr>
        <p:spPr bwMode="auto">
          <a:xfrm>
            <a:off x="977900" y="2924764"/>
            <a:ext cx="4503156" cy="108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ASL =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1+2+3+4+5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5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= 3</a:t>
            </a:r>
          </a:p>
        </p:txBody>
      </p:sp>
      <p:sp>
        <p:nvSpPr>
          <p:cNvPr id="502803" name="Rectangle 19"/>
          <p:cNvSpPr>
            <a:spLocks noChangeArrowheads="1"/>
          </p:cNvSpPr>
          <p:nvPr/>
        </p:nvSpPr>
        <p:spPr bwMode="auto">
          <a:xfrm>
            <a:off x="912874" y="5334000"/>
            <a:ext cx="5058842" cy="108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ASL =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1+2+3+2+3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5 </a:t>
            </a:r>
          </a:p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= 2.2</a:t>
            </a:r>
          </a:p>
        </p:txBody>
      </p:sp>
      <p:sp>
        <p:nvSpPr>
          <p:cNvPr id="502804" name="Oval 20"/>
          <p:cNvSpPr>
            <a:spLocks noChangeArrowheads="1"/>
          </p:cNvSpPr>
          <p:nvPr/>
        </p:nvSpPr>
        <p:spPr bwMode="auto">
          <a:xfrm>
            <a:off x="9029129" y="18426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805" name="Oval 21"/>
          <p:cNvSpPr>
            <a:spLocks noChangeArrowheads="1"/>
          </p:cNvSpPr>
          <p:nvPr/>
        </p:nvSpPr>
        <p:spPr bwMode="auto">
          <a:xfrm>
            <a:off x="8451279" y="13854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806" name="Oval 22"/>
          <p:cNvSpPr>
            <a:spLocks noChangeArrowheads="1"/>
          </p:cNvSpPr>
          <p:nvPr/>
        </p:nvSpPr>
        <p:spPr bwMode="auto">
          <a:xfrm>
            <a:off x="9524429" y="22998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807" name="Oval 23"/>
          <p:cNvSpPr>
            <a:spLocks noChangeArrowheads="1"/>
          </p:cNvSpPr>
          <p:nvPr/>
        </p:nvSpPr>
        <p:spPr bwMode="auto">
          <a:xfrm>
            <a:off x="10102279" y="27570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2808" name="Oval 24"/>
          <p:cNvSpPr>
            <a:spLocks noChangeArrowheads="1"/>
          </p:cNvSpPr>
          <p:nvPr/>
        </p:nvSpPr>
        <p:spPr bwMode="auto">
          <a:xfrm>
            <a:off x="10680129" y="3290450"/>
            <a:ext cx="412750" cy="381000"/>
          </a:xfrm>
          <a:prstGeom prst="ellipse">
            <a:avLst/>
          </a:prstGeom>
          <a:solidFill>
            <a:srgbClr val="CCFFCC"/>
          </a:solidFill>
          <a:ln w="19050">
            <a:solidFill>
              <a:srgbClr val="92D050"/>
            </a:solidFill>
            <a:rou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3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rgbClr val="080808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839416" y="952643"/>
            <a:ext cx="4148893" cy="590931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ctr" eaLnBrk="1" fontAlgn="auto" hangingPunct="1">
              <a:lnSpc>
                <a:spcPct val="90000"/>
              </a:lnSpc>
              <a:spcAft>
                <a:spcPts val="0"/>
              </a:spcAft>
              <a:defRPr sz="3600">
                <a:solidFill>
                  <a:srgbClr val="5B9BD5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查找性能的分析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 dirty="0"/>
              <a:t>二叉查找树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0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0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02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0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0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0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0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0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50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50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0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02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02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0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0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02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02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0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02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300"/>
                                        <p:tgtEl>
                                          <p:spTgt spid="50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6" grpId="0" autoUpdateAnimBg="0"/>
      <p:bldP spid="502787" grpId="0" autoUpdateAnimBg="0"/>
      <p:bldP spid="502793" grpId="0" animBg="1" autoUpdateAnimBg="0"/>
      <p:bldP spid="502794" grpId="0" animBg="1" autoUpdateAnimBg="0"/>
      <p:bldP spid="502795" grpId="0" animBg="1" autoUpdateAnimBg="0"/>
      <p:bldP spid="502796" grpId="0" animBg="1" autoUpdateAnimBg="0"/>
      <p:bldP spid="502797" grpId="0" animBg="1" autoUpdateAnimBg="0"/>
      <p:bldP spid="502802" grpId="0" autoUpdateAnimBg="0"/>
      <p:bldP spid="502803" grpId="0" autoUpdateAnimBg="0"/>
      <p:bldP spid="502804" grpId="0" animBg="1" autoUpdateAnimBg="0"/>
      <p:bldP spid="502805" grpId="0" animBg="1" autoUpdateAnimBg="0"/>
      <p:bldP spid="502806" grpId="0" animBg="1" autoUpdateAnimBg="0"/>
      <p:bldP spid="502807" grpId="0" animBg="1" autoUpdateAnimBg="0"/>
      <p:bldP spid="502808" grpId="0" animBg="1" autoUpdateAnimBg="0"/>
      <p:bldP spid="2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3" name="Rectangle 3"/>
          <p:cNvSpPr>
            <a:spLocks noChangeArrowheads="1"/>
          </p:cNvSpPr>
          <p:nvPr/>
        </p:nvSpPr>
        <p:spPr bwMode="auto">
          <a:xfrm>
            <a:off x="1981200" y="3810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3600" b="1" dirty="0">
                <a:solidFill>
                  <a:schemeClr val="tx2"/>
                </a:solidFill>
                <a:latin typeface="+mj-lt"/>
              </a:rPr>
              <a:t>二叉查找树常见面试题</a:t>
            </a:r>
            <a:endParaRPr lang="en-US" altLang="zh-CN" sz="36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63490" name="矩形 1"/>
          <p:cNvSpPr>
            <a:spLocks noChangeArrowheads="1"/>
          </p:cNvSpPr>
          <p:nvPr/>
        </p:nvSpPr>
        <p:spPr bwMode="auto">
          <a:xfrm>
            <a:off x="1981200" y="1997075"/>
            <a:ext cx="77724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  <a:defRPr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1.</a:t>
            </a:r>
            <a:r>
              <a:rPr lang="zh-CN" altLang="en-US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 给定一个整数数组</a:t>
            </a:r>
            <a:r>
              <a:rPr lang="en-US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A[1..n]</a:t>
            </a:r>
            <a:r>
              <a:rPr lang="zh-CN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，</a:t>
            </a:r>
            <a:r>
              <a:rPr lang="zh-CN" altLang="en-US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按要求返回一个新数组 </a:t>
            </a:r>
            <a:r>
              <a:rPr lang="zh-CN" altLang="zh-CN" sz="2000" b="0" i="1" dirty="0">
                <a:solidFill>
                  <a:srgbClr val="000000"/>
                </a:solidFill>
                <a:latin typeface="Helvetica Neue" panose="02000503000000020004" pitchFamily="2" charset="0"/>
              </a:rPr>
              <a:t>counts</a:t>
            </a:r>
            <a:r>
              <a:rPr lang="en-US" altLang="zh-CN" sz="2000" b="0" i="1" dirty="0">
                <a:solidFill>
                  <a:srgbClr val="000000"/>
                </a:solidFill>
                <a:latin typeface="Helvetica Neue" panose="02000503000000020004" pitchFamily="2" charset="0"/>
              </a:rPr>
              <a:t>[1..n]</a:t>
            </a:r>
            <a:r>
              <a:rPr lang="zh-CN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。</a:t>
            </a:r>
            <a:r>
              <a:rPr lang="zh-CN" altLang="en-US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数组 </a:t>
            </a:r>
            <a:r>
              <a:rPr lang="zh-CN" altLang="zh-CN" sz="2000" b="0" i="1" dirty="0">
                <a:solidFill>
                  <a:srgbClr val="000000"/>
                </a:solidFill>
                <a:latin typeface="Helvetica Neue" panose="02000503000000020004" pitchFamily="2" charset="0"/>
              </a:rPr>
              <a:t>counts</a:t>
            </a:r>
            <a:r>
              <a:rPr lang="zh-CN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 </a:t>
            </a:r>
            <a:r>
              <a:rPr lang="zh-CN" altLang="en-US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有该性质： </a:t>
            </a:r>
            <a:r>
              <a:rPr lang="zh-CN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counts[i] </a:t>
            </a:r>
            <a:r>
              <a:rPr lang="zh-CN" altLang="en-US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的值是 </a:t>
            </a:r>
            <a:r>
              <a:rPr lang="en-US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A</a:t>
            </a:r>
            <a:r>
              <a:rPr lang="zh-CN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[i] </a:t>
            </a:r>
            <a:r>
              <a:rPr lang="zh-CN" altLang="en-US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右侧小于 </a:t>
            </a:r>
            <a:r>
              <a:rPr lang="zh-CN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A[i] </a:t>
            </a:r>
            <a:r>
              <a:rPr lang="zh-CN" altLang="en-US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的元素的数量。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     示例</a:t>
            </a:r>
            <a:r>
              <a:rPr lang="en-US" altLang="zh-CN" sz="2000" b="0" dirty="0">
                <a:solidFill>
                  <a:srgbClr val="000000"/>
                </a:solidFill>
                <a:latin typeface="Helvetica Neue" panose="02000503000000020004" pitchFamily="2" charset="0"/>
              </a:rPr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Verdana" panose="020B0604030504040204" pitchFamily="34" charset="0"/>
              </a:rPr>
              <a:t>       输入</a:t>
            </a:r>
            <a:r>
              <a:rPr lang="en-US" altLang="zh-CN" sz="2000" b="0" dirty="0">
                <a:latin typeface="Verdana" panose="020B0604030504040204" pitchFamily="34" charset="0"/>
              </a:rPr>
              <a:t>: [5,2,6,1]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latin typeface="Verdana" panose="020B0604030504040204" pitchFamily="34" charset="0"/>
              </a:rPr>
              <a:t>       输出</a:t>
            </a:r>
            <a:r>
              <a:rPr lang="en-US" altLang="zh-CN" sz="2000" b="0" dirty="0">
                <a:latin typeface="Verdana" panose="020B0604030504040204" pitchFamily="34" charset="0"/>
              </a:rPr>
              <a:t>: </a:t>
            </a:r>
            <a:r>
              <a:rPr lang="en-US" altLang="zh-CN" sz="2000" b="0" dirty="0">
                <a:solidFill>
                  <a:srgbClr val="2B91AF"/>
                </a:solidFill>
                <a:latin typeface="Verdana" panose="020B0604030504040204" pitchFamily="34" charset="0"/>
              </a:rPr>
              <a:t>[2,1,1,0]</a:t>
            </a:r>
            <a:r>
              <a:rPr lang="zh-CN" altLang="en-US" sz="2000" b="0" dirty="0">
                <a:latin typeface="Verdana" panose="020B0604030504040204" pitchFamily="34" charset="0"/>
              </a:rPr>
              <a:t>    </a:t>
            </a:r>
            <a:r>
              <a:rPr lang="en-US" altLang="zh-CN" sz="2000" b="0" dirty="0">
                <a:latin typeface="Verdana" panose="020B0604030504040204" pitchFamily="34" charset="0"/>
              </a:rPr>
              <a:t>hint</a:t>
            </a:r>
            <a:r>
              <a:rPr lang="zh-CN" altLang="en-US" sz="2000" b="0" dirty="0">
                <a:latin typeface="Verdana" panose="020B0604030504040204" pitchFamily="34" charset="0"/>
              </a:rPr>
              <a:t>： 从后往前</a:t>
            </a:r>
            <a:endParaRPr lang="en-US" altLang="zh-CN" sz="20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latin typeface="Verdana" panose="020B0604030504040204" pitchFamily="34" charset="0"/>
              </a:rPr>
              <a:t>2.</a:t>
            </a:r>
            <a:r>
              <a:rPr lang="zh-CN" altLang="en-US" sz="2000" b="0" dirty="0">
                <a:latin typeface="Verdana" panose="020B0604030504040204" pitchFamily="34" charset="0"/>
              </a:rPr>
              <a:t>给定一个二叉查找树</a:t>
            </a:r>
            <a:r>
              <a:rPr lang="en-US" altLang="zh-CN" sz="2000" b="0" dirty="0">
                <a:latin typeface="Verdana" panose="020B0604030504040204" pitchFamily="34" charset="0"/>
              </a:rPr>
              <a:t>, </a:t>
            </a:r>
            <a:r>
              <a:rPr lang="zh-CN" altLang="en-US" sz="2000" b="0" dirty="0">
                <a:latin typeface="Verdana" panose="020B0604030504040204" pitchFamily="34" charset="0"/>
              </a:rPr>
              <a:t>找到该树中两个指定节点的最近公共祖先。</a:t>
            </a:r>
            <a:endParaRPr lang="en-US" altLang="zh-CN" sz="20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latin typeface="Verdana" panose="020B0604030504040204" pitchFamily="34" charset="0"/>
              </a:rPr>
              <a:t>3.</a:t>
            </a:r>
            <a:r>
              <a:rPr lang="zh-CN" altLang="en-US" sz="2000" b="0" dirty="0">
                <a:latin typeface="Verdana" panose="020B0604030504040204" pitchFamily="34" charset="0"/>
              </a:rPr>
              <a:t>给定一个二叉树，判断其是否是一个有效的二叉查找树。</a:t>
            </a:r>
            <a:endParaRPr lang="en-US" altLang="zh-CN" sz="20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0" dirty="0">
              <a:latin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latin typeface="Verdana" panose="020B0604030504040204" pitchFamily="34" charset="0"/>
              </a:rPr>
              <a:t>4.</a:t>
            </a:r>
            <a:r>
              <a:rPr lang="zh-CN" altLang="en-US" sz="2000" b="0" dirty="0">
                <a:latin typeface="Verdana" panose="020B0604030504040204" pitchFamily="34" charset="0"/>
              </a:rPr>
              <a:t> 查找二叉查找树的第</a:t>
            </a:r>
            <a:r>
              <a:rPr lang="en-US" altLang="zh-CN" sz="2000" b="0" dirty="0">
                <a:latin typeface="Verdana" panose="020B0604030504040204" pitchFamily="34" charset="0"/>
              </a:rPr>
              <a:t>k</a:t>
            </a:r>
            <a:r>
              <a:rPr lang="zh-CN" altLang="en-US" sz="2000" b="0" dirty="0">
                <a:latin typeface="Verdana" panose="020B0604030504040204" pitchFamily="34" charset="0"/>
              </a:rPr>
              <a:t>小元素</a:t>
            </a:r>
            <a:endParaRPr lang="en-US" altLang="zh-CN" sz="20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11.2.5  </a:t>
            </a:r>
            <a:r>
              <a:rPr lang="zh-CN" altLang="en-US" dirty="0"/>
              <a:t>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11.2 </a:t>
            </a:r>
            <a:r>
              <a:rPr lang="zh-CN" altLang="en-US"/>
              <a:t>二叉查找树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56027" y="2334857"/>
            <a:ext cx="1059777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、请画出在下图所示二叉查找树中删除结点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之后的二叉查找树。</a:t>
            </a:r>
            <a:endParaRPr kumimoji="0" lang="zh-CN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图片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299" y="3135076"/>
            <a:ext cx="3916707" cy="271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3400" y="19716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24384" y="4587109"/>
            <a:ext cx="9165288" cy="2546903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18" name="六边形 1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: 圆角 7"/>
          <p:cNvSpPr/>
          <p:nvPr/>
        </p:nvSpPr>
        <p:spPr>
          <a:xfrm>
            <a:off x="2421652" y="2038221"/>
            <a:ext cx="7054775" cy="31185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  <a:alpha val="5000"/>
            </a:schemeClr>
          </a:solidFill>
          <a:ln>
            <a:solidFill>
              <a:schemeClr val="bg1"/>
            </a:solidFill>
          </a:ln>
          <a:effectLst>
            <a:outerShdw blurRad="152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7" name="组合 36"/>
          <p:cNvGrpSpPr/>
          <p:nvPr/>
        </p:nvGrpSpPr>
        <p:grpSpPr>
          <a:xfrm>
            <a:off x="7558543" y="954064"/>
            <a:ext cx="5262302" cy="5007863"/>
            <a:chOff x="6175345" y="153244"/>
            <a:chExt cx="7792878" cy="7416082"/>
          </a:xfrm>
        </p:grpSpPr>
        <p:grpSp>
          <p:nvGrpSpPr>
            <p:cNvPr id="32" name="组合 31"/>
            <p:cNvGrpSpPr/>
            <p:nvPr/>
          </p:nvGrpSpPr>
          <p:grpSpPr>
            <a:xfrm>
              <a:off x="6175345" y="342257"/>
              <a:ext cx="7792878" cy="7227069"/>
              <a:chOff x="5983104" y="1708488"/>
              <a:chExt cx="4080721" cy="3784437"/>
            </a:xfrm>
          </p:grpSpPr>
          <p:sp>
            <p:nvSpPr>
              <p:cNvPr id="33" name="六边形 32"/>
              <p:cNvSpPr/>
              <p:nvPr/>
            </p:nvSpPr>
            <p:spPr>
              <a:xfrm rot="5400000">
                <a:off x="5811401" y="1880191"/>
                <a:ext cx="3784437" cy="3441032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77000">
                    <a:srgbClr val="016773"/>
                  </a:gs>
                  <a:gs pos="100000">
                    <a:srgbClr val="007684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平行四边形 33"/>
              <p:cNvSpPr/>
              <p:nvPr/>
            </p:nvSpPr>
            <p:spPr>
              <a:xfrm rot="19714174">
                <a:off x="7064019" y="3212601"/>
                <a:ext cx="2999806" cy="1616793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 rot="1849986">
              <a:off x="8151150" y="153244"/>
              <a:ext cx="4944370" cy="216360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isometricTopUp">
                  <a:rot lat="19176265" lon="2388000" rev="19890000"/>
                </a:camera>
                <a:lightRig rig="threePt" dir="t"/>
              </a:scene3d>
            </a:bodyPr>
            <a:lstStyle/>
            <a:p>
              <a:pPr algn="ctr"/>
              <a:r>
                <a:rPr lang="en-US" altLang="zh-CN" sz="11500" b="1" dirty="0">
                  <a:gradFill>
                    <a:gsLst>
                      <a:gs pos="30000">
                        <a:srgbClr val="007684"/>
                      </a:gs>
                      <a:gs pos="83000">
                        <a:srgbClr val="016773"/>
                      </a:gs>
                    </a:gsLst>
                    <a:lin ang="5400000" scaled="0"/>
                  </a:gradFill>
                  <a:latin typeface="Bauhaus 93" panose="04030905020B02020C02" pitchFamily="82" charset="0"/>
                  <a:ea typeface="Segoe UI Black" panose="020B0A02040204020203" pitchFamily="34" charset="0"/>
                </a:rPr>
                <a:t>101</a:t>
              </a:r>
              <a:endParaRPr lang="zh-CN" altLang="en-US" sz="115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774000" y="4177005"/>
            <a:ext cx="4644000" cy="124808"/>
            <a:chOff x="3774000" y="4177005"/>
            <a:chExt cx="4644000" cy="124808"/>
          </a:xfrm>
        </p:grpSpPr>
        <p:pic>
          <p:nvPicPr>
            <p:cNvPr id="24" name="图片 23"/>
            <p:cNvPicPr>
              <a:picLocks noChangeAspect="1" noChangeArrowheads="1"/>
            </p:cNvPicPr>
            <p:nvPr/>
          </p:nvPicPr>
          <p:blipFill>
            <a:blip r:embed="rId6">
              <a:biLevel thresh="5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19" t="22713" r="2956" b="25211"/>
            <a:stretch>
              <a:fillRect/>
            </a:stretch>
          </p:blipFill>
          <p:spPr bwMode="auto">
            <a:xfrm rot="5400000">
              <a:off x="6033596" y="1917409"/>
              <a:ext cx="124808" cy="46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</p:pic>
        <p:cxnSp>
          <p:nvCxnSpPr>
            <p:cNvPr id="25" name="直接连接符 24"/>
            <p:cNvCxnSpPr/>
            <p:nvPr/>
          </p:nvCxnSpPr>
          <p:spPr>
            <a:xfrm>
              <a:off x="3936000" y="4177005"/>
              <a:ext cx="4320000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69000">
                    <a:schemeClr val="bg1"/>
                  </a:gs>
                  <a:gs pos="100000">
                    <a:schemeClr val="bg1">
                      <a:alpha val="0"/>
                    </a:schemeClr>
                  </a:gs>
                  <a:gs pos="40000">
                    <a:schemeClr val="bg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890173" y="4315438"/>
            <a:ext cx="2268815" cy="2101347"/>
            <a:chOff x="6175344" y="342254"/>
            <a:chExt cx="7803037" cy="7227071"/>
          </a:xfrm>
        </p:grpSpPr>
        <p:sp>
          <p:nvSpPr>
            <p:cNvPr id="6" name="六边形 5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4548" y="5375868"/>
            <a:ext cx="1123874" cy="1040917"/>
            <a:chOff x="6175344" y="342254"/>
            <a:chExt cx="7803037" cy="7227071"/>
          </a:xfrm>
        </p:grpSpPr>
        <p:sp>
          <p:nvSpPr>
            <p:cNvPr id="12" name="六边形 1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709077" y="4985964"/>
            <a:ext cx="1077639" cy="994687"/>
            <a:chOff x="6175344" y="342254"/>
            <a:chExt cx="7829785" cy="7227071"/>
          </a:xfrm>
        </p:grpSpPr>
        <p:sp>
          <p:nvSpPr>
            <p:cNvPr id="45" name="六边形 4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453603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307690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48718" y="2830973"/>
            <a:ext cx="766167" cy="1054879"/>
          </a:xfrm>
          <a:custGeom>
            <a:avLst/>
            <a:gdLst/>
            <a:ahLst/>
            <a:cxnLst/>
            <a:rect l="l" t="t" r="r" b="b"/>
            <a:pathLst>
              <a:path w="766167" h="1054879">
                <a:moveTo>
                  <a:pt x="478854" y="261193"/>
                </a:moveTo>
                <a:lnTo>
                  <a:pt x="578978" y="261193"/>
                </a:lnTo>
                <a:lnTo>
                  <a:pt x="578978" y="470148"/>
                </a:lnTo>
                <a:cubicBezTo>
                  <a:pt x="578978" y="548506"/>
                  <a:pt x="570272" y="619608"/>
                  <a:pt x="552859" y="683456"/>
                </a:cubicBezTo>
                <a:lnTo>
                  <a:pt x="635570" y="683456"/>
                </a:lnTo>
                <a:lnTo>
                  <a:pt x="635570" y="914177"/>
                </a:lnTo>
                <a:cubicBezTo>
                  <a:pt x="635570" y="922883"/>
                  <a:pt x="638472" y="927236"/>
                  <a:pt x="644277" y="927236"/>
                </a:cubicBezTo>
                <a:cubicBezTo>
                  <a:pt x="650081" y="927236"/>
                  <a:pt x="655885" y="924334"/>
                  <a:pt x="661690" y="918530"/>
                </a:cubicBezTo>
                <a:cubicBezTo>
                  <a:pt x="687809" y="874998"/>
                  <a:pt x="712477" y="824210"/>
                  <a:pt x="735694" y="766167"/>
                </a:cubicBezTo>
                <a:lnTo>
                  <a:pt x="748754" y="770520"/>
                </a:lnTo>
                <a:cubicBezTo>
                  <a:pt x="716830" y="854682"/>
                  <a:pt x="718281" y="908372"/>
                  <a:pt x="753107" y="931589"/>
                </a:cubicBezTo>
                <a:cubicBezTo>
                  <a:pt x="761814" y="937394"/>
                  <a:pt x="764716" y="941747"/>
                  <a:pt x="761814" y="944649"/>
                </a:cubicBezTo>
                <a:cubicBezTo>
                  <a:pt x="735694" y="1020105"/>
                  <a:pt x="690711" y="1056382"/>
                  <a:pt x="626864" y="1053480"/>
                </a:cubicBezTo>
                <a:cubicBezTo>
                  <a:pt x="539799" y="1062186"/>
                  <a:pt x="499169" y="1030262"/>
                  <a:pt x="504973" y="957709"/>
                </a:cubicBezTo>
                <a:lnTo>
                  <a:pt x="504973" y="792286"/>
                </a:lnTo>
                <a:cubicBezTo>
                  <a:pt x="458539" y="885155"/>
                  <a:pt x="358415" y="972220"/>
                  <a:pt x="204601" y="1053480"/>
                </a:cubicBezTo>
                <a:lnTo>
                  <a:pt x="200248" y="1040420"/>
                </a:lnTo>
                <a:cubicBezTo>
                  <a:pt x="385985" y="895313"/>
                  <a:pt x="478854" y="705222"/>
                  <a:pt x="478854" y="470148"/>
                </a:cubicBezTo>
                <a:close/>
                <a:moveTo>
                  <a:pt x="644277" y="0"/>
                </a:moveTo>
                <a:lnTo>
                  <a:pt x="766167" y="47885"/>
                </a:lnTo>
                <a:lnTo>
                  <a:pt x="726988" y="100124"/>
                </a:lnTo>
                <a:lnTo>
                  <a:pt x="726988" y="626864"/>
                </a:lnTo>
                <a:lnTo>
                  <a:pt x="605098" y="626864"/>
                </a:lnTo>
                <a:lnTo>
                  <a:pt x="605098" y="134950"/>
                </a:lnTo>
                <a:lnTo>
                  <a:pt x="452735" y="134950"/>
                </a:lnTo>
                <a:lnTo>
                  <a:pt x="452735" y="622511"/>
                </a:lnTo>
                <a:lnTo>
                  <a:pt x="335198" y="622511"/>
                </a:lnTo>
                <a:lnTo>
                  <a:pt x="330845" y="626864"/>
                </a:lnTo>
                <a:lnTo>
                  <a:pt x="330845" y="69651"/>
                </a:lnTo>
                <a:lnTo>
                  <a:pt x="300372" y="117537"/>
                </a:lnTo>
                <a:cubicBezTo>
                  <a:pt x="300372" y="280057"/>
                  <a:pt x="284410" y="415007"/>
                  <a:pt x="252487" y="522386"/>
                </a:cubicBezTo>
                <a:cubicBezTo>
                  <a:pt x="301823" y="618157"/>
                  <a:pt x="327942" y="703771"/>
                  <a:pt x="330845" y="779227"/>
                </a:cubicBezTo>
                <a:cubicBezTo>
                  <a:pt x="330845" y="837270"/>
                  <a:pt x="314883" y="872095"/>
                  <a:pt x="282959" y="883704"/>
                </a:cubicBezTo>
                <a:cubicBezTo>
                  <a:pt x="242329" y="889508"/>
                  <a:pt x="217661" y="866291"/>
                  <a:pt x="208954" y="814052"/>
                </a:cubicBezTo>
                <a:cubicBezTo>
                  <a:pt x="203150" y="767618"/>
                  <a:pt x="197346" y="726988"/>
                  <a:pt x="191541" y="692162"/>
                </a:cubicBezTo>
                <a:cubicBezTo>
                  <a:pt x="142205" y="790835"/>
                  <a:pt x="81260" y="869193"/>
                  <a:pt x="8706" y="927236"/>
                </a:cubicBezTo>
                <a:lnTo>
                  <a:pt x="0" y="922883"/>
                </a:lnTo>
                <a:cubicBezTo>
                  <a:pt x="63847" y="812601"/>
                  <a:pt x="111732" y="679102"/>
                  <a:pt x="143656" y="522386"/>
                </a:cubicBezTo>
                <a:cubicBezTo>
                  <a:pt x="120439" y="444028"/>
                  <a:pt x="87064" y="351160"/>
                  <a:pt x="43532" y="243780"/>
                </a:cubicBezTo>
                <a:cubicBezTo>
                  <a:pt x="40630" y="235074"/>
                  <a:pt x="37728" y="229269"/>
                  <a:pt x="34826" y="226367"/>
                </a:cubicBezTo>
                <a:lnTo>
                  <a:pt x="43532" y="217661"/>
                </a:lnTo>
                <a:cubicBezTo>
                  <a:pt x="84162" y="261193"/>
                  <a:pt x="126243" y="316334"/>
                  <a:pt x="169775" y="383083"/>
                </a:cubicBezTo>
                <a:cubicBezTo>
                  <a:pt x="181384" y="296019"/>
                  <a:pt x="187188" y="216210"/>
                  <a:pt x="187188" y="143656"/>
                </a:cubicBezTo>
                <a:lnTo>
                  <a:pt x="17413" y="143656"/>
                </a:lnTo>
                <a:lnTo>
                  <a:pt x="17413" y="65298"/>
                </a:lnTo>
                <a:lnTo>
                  <a:pt x="187188" y="65298"/>
                </a:lnTo>
                <a:lnTo>
                  <a:pt x="226367" y="13059"/>
                </a:lnTo>
                <a:lnTo>
                  <a:pt x="330845" y="56592"/>
                </a:lnTo>
                <a:lnTo>
                  <a:pt x="330845" y="8706"/>
                </a:lnTo>
                <a:lnTo>
                  <a:pt x="452735" y="8706"/>
                </a:lnTo>
                <a:lnTo>
                  <a:pt x="452735" y="56592"/>
                </a:lnTo>
                <a:lnTo>
                  <a:pt x="600744" y="56592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11511" y="2830973"/>
            <a:ext cx="757461" cy="1057833"/>
          </a:xfrm>
          <a:custGeom>
            <a:avLst/>
            <a:gdLst/>
            <a:ahLst/>
            <a:cxnLst/>
            <a:rect l="l" t="t" r="r" b="b"/>
            <a:pathLst>
              <a:path w="757461" h="1057833">
                <a:moveTo>
                  <a:pt x="252487" y="892410"/>
                </a:moveTo>
                <a:lnTo>
                  <a:pt x="252487" y="940296"/>
                </a:lnTo>
                <a:lnTo>
                  <a:pt x="531093" y="940296"/>
                </a:lnTo>
                <a:lnTo>
                  <a:pt x="531093" y="892410"/>
                </a:lnTo>
                <a:close/>
                <a:moveTo>
                  <a:pt x="252487" y="761814"/>
                </a:moveTo>
                <a:lnTo>
                  <a:pt x="252487" y="818406"/>
                </a:lnTo>
                <a:lnTo>
                  <a:pt x="531093" y="818406"/>
                </a:lnTo>
                <a:lnTo>
                  <a:pt x="531093" y="761814"/>
                </a:lnTo>
                <a:close/>
                <a:moveTo>
                  <a:pt x="252487" y="635570"/>
                </a:moveTo>
                <a:lnTo>
                  <a:pt x="252487" y="692162"/>
                </a:lnTo>
                <a:lnTo>
                  <a:pt x="531093" y="692162"/>
                </a:lnTo>
                <a:lnTo>
                  <a:pt x="531093" y="635570"/>
                </a:lnTo>
                <a:close/>
                <a:moveTo>
                  <a:pt x="565919" y="0"/>
                </a:moveTo>
                <a:lnTo>
                  <a:pt x="687809" y="100124"/>
                </a:lnTo>
                <a:cubicBezTo>
                  <a:pt x="609451" y="123341"/>
                  <a:pt x="525289" y="136401"/>
                  <a:pt x="435322" y="139303"/>
                </a:cubicBezTo>
                <a:cubicBezTo>
                  <a:pt x="435322" y="145107"/>
                  <a:pt x="433871" y="155265"/>
                  <a:pt x="430969" y="169775"/>
                </a:cubicBezTo>
                <a:cubicBezTo>
                  <a:pt x="428067" y="187188"/>
                  <a:pt x="425165" y="198797"/>
                  <a:pt x="422263" y="204601"/>
                </a:cubicBezTo>
                <a:lnTo>
                  <a:pt x="692163" y="204601"/>
                </a:lnTo>
                <a:lnTo>
                  <a:pt x="692163" y="282959"/>
                </a:lnTo>
                <a:lnTo>
                  <a:pt x="400497" y="282959"/>
                </a:lnTo>
                <a:cubicBezTo>
                  <a:pt x="397594" y="291666"/>
                  <a:pt x="391790" y="306176"/>
                  <a:pt x="383084" y="326491"/>
                </a:cubicBezTo>
                <a:cubicBezTo>
                  <a:pt x="374377" y="349709"/>
                  <a:pt x="368573" y="365670"/>
                  <a:pt x="365671" y="374377"/>
                </a:cubicBezTo>
                <a:lnTo>
                  <a:pt x="757461" y="374377"/>
                </a:lnTo>
                <a:lnTo>
                  <a:pt x="757461" y="448382"/>
                </a:lnTo>
                <a:lnTo>
                  <a:pt x="326492" y="448382"/>
                </a:lnTo>
                <a:cubicBezTo>
                  <a:pt x="300372" y="489012"/>
                  <a:pt x="271351" y="526740"/>
                  <a:pt x="239427" y="561565"/>
                </a:cubicBezTo>
                <a:lnTo>
                  <a:pt x="522387" y="561565"/>
                </a:lnTo>
                <a:lnTo>
                  <a:pt x="557213" y="509327"/>
                </a:lnTo>
                <a:lnTo>
                  <a:pt x="692163" y="548506"/>
                </a:lnTo>
                <a:lnTo>
                  <a:pt x="657337" y="600744"/>
                </a:lnTo>
                <a:lnTo>
                  <a:pt x="657337" y="1057833"/>
                </a:lnTo>
                <a:lnTo>
                  <a:pt x="531093" y="1057833"/>
                </a:lnTo>
                <a:lnTo>
                  <a:pt x="531093" y="1009947"/>
                </a:lnTo>
                <a:lnTo>
                  <a:pt x="252487" y="1009947"/>
                </a:lnTo>
                <a:lnTo>
                  <a:pt x="252487" y="1057833"/>
                </a:lnTo>
                <a:lnTo>
                  <a:pt x="126244" y="1057833"/>
                </a:lnTo>
                <a:lnTo>
                  <a:pt x="126244" y="661690"/>
                </a:lnTo>
                <a:cubicBezTo>
                  <a:pt x="120439" y="664592"/>
                  <a:pt x="110282" y="670396"/>
                  <a:pt x="95771" y="679102"/>
                </a:cubicBezTo>
                <a:cubicBezTo>
                  <a:pt x="63847" y="699418"/>
                  <a:pt x="33375" y="716830"/>
                  <a:pt x="4353" y="731341"/>
                </a:cubicBezTo>
                <a:lnTo>
                  <a:pt x="0" y="722635"/>
                </a:lnTo>
                <a:cubicBezTo>
                  <a:pt x="84162" y="635570"/>
                  <a:pt x="149461" y="544153"/>
                  <a:pt x="195895" y="448382"/>
                </a:cubicBezTo>
                <a:lnTo>
                  <a:pt x="8707" y="448382"/>
                </a:lnTo>
                <a:lnTo>
                  <a:pt x="8707" y="374377"/>
                </a:lnTo>
                <a:lnTo>
                  <a:pt x="230721" y="374377"/>
                </a:lnTo>
                <a:cubicBezTo>
                  <a:pt x="242330" y="342453"/>
                  <a:pt x="253938" y="311981"/>
                  <a:pt x="265547" y="282959"/>
                </a:cubicBezTo>
                <a:lnTo>
                  <a:pt x="74005" y="282959"/>
                </a:lnTo>
                <a:lnTo>
                  <a:pt x="74005" y="204601"/>
                </a:lnTo>
                <a:lnTo>
                  <a:pt x="287313" y="204601"/>
                </a:lnTo>
                <a:cubicBezTo>
                  <a:pt x="287313" y="198797"/>
                  <a:pt x="290215" y="184286"/>
                  <a:pt x="296019" y="161069"/>
                </a:cubicBezTo>
                <a:cubicBezTo>
                  <a:pt x="298921" y="152363"/>
                  <a:pt x="300372" y="145107"/>
                  <a:pt x="300372" y="139303"/>
                </a:cubicBezTo>
                <a:cubicBezTo>
                  <a:pt x="236525" y="136401"/>
                  <a:pt x="153814" y="124792"/>
                  <a:pt x="52239" y="104477"/>
                </a:cubicBezTo>
                <a:lnTo>
                  <a:pt x="52239" y="91417"/>
                </a:lnTo>
                <a:cubicBezTo>
                  <a:pt x="240878" y="82711"/>
                  <a:pt x="412105" y="52238"/>
                  <a:pt x="565919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U4YmNlNWMwMjlhM2UyZmExYjU5ZGZkYjU0MmU2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"/>
  <p:tag name="PROBLEMHASREMARK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  <p:tag name="PROBLEMHASREMARK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  <p:tag name="PROBLEMHASREMARK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3478</Words>
  <Application>Microsoft Macintosh PowerPoint</Application>
  <PresentationFormat>宽屏</PresentationFormat>
  <Paragraphs>577</Paragraphs>
  <Slides>35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方正美黑简体</vt:lpstr>
      <vt:lpstr>方正颜宋简体_中</vt:lpstr>
      <vt:lpstr>华文中宋</vt:lpstr>
      <vt:lpstr>宋体</vt:lpstr>
      <vt:lpstr>微软雅黑</vt:lpstr>
      <vt:lpstr>Arial</vt:lpstr>
      <vt:lpstr>Bauhaus 93</vt:lpstr>
      <vt:lpstr>Calibri</vt:lpstr>
      <vt:lpstr>Calibri Light</vt:lpstr>
      <vt:lpstr>Cambria Math</vt:lpstr>
      <vt:lpstr>Helvetica Neue</vt:lpstr>
      <vt:lpstr>Times New Roman</vt:lpstr>
      <vt:lpstr>Verdana</vt:lpstr>
      <vt:lpstr>Office 主题</vt:lpstr>
      <vt:lpstr>Visio</vt:lpstr>
      <vt:lpstr>PowerPoint 演示文稿</vt:lpstr>
      <vt:lpstr>PowerPoint 演示文稿</vt:lpstr>
      <vt:lpstr>PowerPoint 演示文稿</vt:lpstr>
      <vt:lpstr>11.2 二叉查找树</vt:lpstr>
      <vt:lpstr>11.2 二叉查找树</vt:lpstr>
      <vt:lpstr>11.2 二叉查找树</vt:lpstr>
      <vt:lpstr>11.2 二叉查找树</vt:lpstr>
      <vt:lpstr>PowerPoint 演示文稿</vt:lpstr>
      <vt:lpstr>PowerPoint 演示文稿</vt:lpstr>
      <vt:lpstr>PowerPoint 演示文稿</vt:lpstr>
      <vt:lpstr>11.2 二叉查找树</vt:lpstr>
      <vt:lpstr>11.2 二叉查找树</vt:lpstr>
      <vt:lpstr>11.2 二叉查找树</vt:lpstr>
      <vt:lpstr>11.2 二叉查找树</vt:lpstr>
      <vt:lpstr>11.2 二叉查找树</vt:lpstr>
      <vt:lpstr>11.2 二叉查找树</vt:lpstr>
      <vt:lpstr>11.2 二叉查找树</vt:lpstr>
      <vt:lpstr>11.2 二叉查找树</vt:lpstr>
      <vt:lpstr>PowerPoint 演示文稿</vt:lpstr>
      <vt:lpstr>11.2 二叉查找树</vt:lpstr>
      <vt:lpstr>11.2 二叉查找树</vt:lpstr>
      <vt:lpstr>PowerPoint 演示文稿</vt:lpstr>
      <vt:lpstr>11.2 二叉查找树</vt:lpstr>
      <vt:lpstr>11.2 二叉查找树</vt:lpstr>
      <vt:lpstr>PowerPoint 演示文稿</vt:lpstr>
      <vt:lpstr>11.2 二叉查找树</vt:lpstr>
      <vt:lpstr>11.2 二叉查找树</vt:lpstr>
      <vt:lpstr>11.2 二叉查找树</vt:lpstr>
      <vt:lpstr>11.2 二叉查找树</vt:lpstr>
      <vt:lpstr>PowerPoint 演示文稿</vt:lpstr>
      <vt:lpstr>PowerPoint 演示文稿</vt:lpstr>
      <vt:lpstr>PowerPoint 演示文稿</vt:lpstr>
      <vt:lpstr>PowerPoint 演示文稿</vt:lpstr>
      <vt:lpstr>11.2.5  作业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previous_Rium</cp:lastModifiedBy>
  <cp:revision>273</cp:revision>
  <dcterms:created xsi:type="dcterms:W3CDTF">2023-07-28T08:56:00Z</dcterms:created>
  <dcterms:modified xsi:type="dcterms:W3CDTF">2026-01-12T13:31:28Z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E456A48CC34F4B5B84FF1D304CE39A82_13</vt:lpwstr>
  </property>
  <property fmtid="{D5CDD505-2E9C-101B-9397-08002B2CF9AE}" pid="3" name="KSOProductBuildVer">
    <vt:lpwstr>2052-12.1.0.20305</vt:lpwstr>
  </property>
</Properties>
</file>