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sldIdLst>
    <p:sldId id="256" r:id="rId5"/>
    <p:sldId id="278" r:id="rId6"/>
    <p:sldId id="284" r:id="rId7"/>
    <p:sldId id="285" r:id="rId8"/>
    <p:sldId id="286" r:id="rId9"/>
    <p:sldId id="287" r:id="rId10"/>
    <p:sldId id="288" r:id="rId11"/>
    <p:sldId id="289" r:id="rId12"/>
    <p:sldId id="290" r:id="rId13"/>
    <p:sldId id="291" r:id="rId14"/>
    <p:sldId id="292" r:id="rId15"/>
    <p:sldId id="293" r:id="rId16"/>
    <p:sldId id="294" r:id="rId17"/>
    <p:sldId id="295" r:id="rId18"/>
    <p:sldId id="304" r:id="rId19"/>
    <p:sldId id="305" r:id="rId20"/>
    <p:sldId id="386" r:id="rId21"/>
    <p:sldId id="388" r:id="rId22"/>
    <p:sldId id="306" r:id="rId23"/>
    <p:sldId id="280" r:id="rId24"/>
    <p:sldId id="439" r:id="rId25"/>
    <p:sldId id="438" r:id="rId26"/>
    <p:sldId id="281" r:id="rId27"/>
  </p:sldIdLst>
  <p:sldSz cx="9144000" cy="6858000" type="screen4x3"/>
  <p:notesSz cx="6858000" cy="9144000"/>
  <p:custDataLst>
    <p:tags r:id="rId31"/>
  </p:custDataLst>
  <p:kinsoku lang="zh-CN" invalStChars="!),.:;?]}、。—ˇ¨〃々～‖…’”〕〉》」』〗】∶！＂＇），．：；？］｀｜｝·" invalEndChars="([{‘“〔〈《「『〖【（［｛．·"/>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92" d="100"/>
          <a:sy n="92" d="100"/>
        </p:scale>
        <p:origin x="307" y="82"/>
      </p:cViewPr>
      <p:guideLst>
        <p:guide orient="horz" pos="2159"/>
        <p:guide pos="289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1" Type="http://schemas.openxmlformats.org/officeDocument/2006/relationships/tags" Target="tags/tag2.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434"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endParaRPr lang="zh-CN" altLang="en-US" noProof="0"/>
          </a:p>
        </p:txBody>
      </p:sp>
      <p:sp>
        <p:nvSpPr>
          <p:cNvPr id="18435"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2" name="Rectangle 4"/>
          <p:cNvSpPr>
            <a:spLocks noGrp="1" noChangeArrowheads="1"/>
          </p:cNvSpPr>
          <p:nvPr>
            <p:ph type="dt" sz="half" idx="2"/>
          </p:nvPr>
        </p:nvSpPr>
        <p:spPr bwMode="auto">
          <a:xfrm>
            <a:off x="301625" y="6245225"/>
            <a:ext cx="2289175" cy="47625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Rectangle 5"/>
          <p:cNvSpPr>
            <a:spLocks noGrp="1" noChangeArrowheads="1"/>
          </p:cNvSpPr>
          <p:nvPr>
            <p:ph type="ftr" sz="quarter" idx="3"/>
          </p:nvPr>
        </p:nvSpPr>
        <p:spPr bwMode="auto">
          <a:xfrm>
            <a:off x="3124200" y="6245225"/>
            <a:ext cx="2895600"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p:ph type="sldNum" sz="quarter" idx="4"/>
          </p:nvPr>
        </p:nvSpPr>
        <p:spPr bwMode="auto">
          <a:xfrm>
            <a:off x="6553200" y="6245225"/>
            <a:ext cx="2289175" cy="476250"/>
          </a:xfrm>
          <a:prstGeom prst="rect">
            <a:avLst/>
          </a:prstGeom>
        </p:spPr>
        <p:txBody>
          <a:bodyPr vert="horz" wrap="square" lIns="91440" tIns="45720" rIns="91440" bIns="45720" numCol="1" anchor="t" anchorCtr="0" compatLnSpc="1"/>
          <a:p>
            <a:pPr algn="r" eaLnBrk="1" hangingPunct="1"/>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301625" y="1905000"/>
            <a:ext cx="4194175" cy="4194175"/>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half" idx="2"/>
          </p:nvPr>
        </p:nvSpPr>
        <p:spPr>
          <a:xfrm>
            <a:off x="4648200" y="1905000"/>
            <a:ext cx="4194175" cy="4194175"/>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434"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endParaRPr lang="zh-CN" altLang="en-US" noProof="0"/>
          </a:p>
        </p:txBody>
      </p:sp>
      <p:sp>
        <p:nvSpPr>
          <p:cNvPr id="18435"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2" name="Rectangle 4"/>
          <p:cNvSpPr>
            <a:spLocks noGrp="1" noChangeArrowheads="1"/>
          </p:cNvSpPr>
          <p:nvPr>
            <p:ph type="dt" sz="half" idx="2"/>
          </p:nvPr>
        </p:nvSpPr>
        <p:spPr bwMode="auto">
          <a:xfrm>
            <a:off x="301625" y="6245225"/>
            <a:ext cx="2289175" cy="47625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Rectangle 5"/>
          <p:cNvSpPr>
            <a:spLocks noGrp="1" noChangeArrowheads="1"/>
          </p:cNvSpPr>
          <p:nvPr>
            <p:ph type="ftr" sz="quarter" idx="3"/>
          </p:nvPr>
        </p:nvSpPr>
        <p:spPr bwMode="auto">
          <a:xfrm>
            <a:off x="3124200" y="6245225"/>
            <a:ext cx="2895600"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p:ph type="sldNum" sz="quarter" idx="4"/>
          </p:nvPr>
        </p:nvSpPr>
        <p:spPr bwMode="auto">
          <a:xfrm>
            <a:off x="6553200" y="6245225"/>
            <a:ext cx="2289175" cy="476250"/>
          </a:xfrm>
          <a:prstGeom prst="rect">
            <a:avLst/>
          </a:prstGeom>
        </p:spPr>
        <p:txBody>
          <a:bodyPr vert="horz" wrap="square" lIns="91440" tIns="45720" rIns="91440" bIns="45720" numCol="1" anchor="t" anchorCtr="0" compatLnSpc="1"/>
          <a:p>
            <a:pPr algn="r" eaLnBrk="1" hangingPunct="1"/>
            <a:fld id="{9A0DB2DC-4C9A-4742-B13C-FB6460FD3503}" type="slidenum">
              <a:rPr lang="en-US" altLang="zh-CN" dirty="0"/>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301625" y="1905000"/>
            <a:ext cx="4194175" cy="4194175"/>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half" idx="2"/>
          </p:nvPr>
        </p:nvSpPr>
        <p:spPr>
          <a:xfrm>
            <a:off x="4648200" y="1905000"/>
            <a:ext cx="4194175" cy="4194175"/>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434"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endParaRPr lang="zh-CN" altLang="en-US" noProof="0"/>
          </a:p>
        </p:txBody>
      </p:sp>
      <p:sp>
        <p:nvSpPr>
          <p:cNvPr id="18435"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2" name="Rectangle 4"/>
          <p:cNvSpPr>
            <a:spLocks noGrp="1" noChangeArrowheads="1"/>
          </p:cNvSpPr>
          <p:nvPr>
            <p:ph type="dt" sz="half" idx="2"/>
          </p:nvPr>
        </p:nvSpPr>
        <p:spPr bwMode="auto">
          <a:xfrm>
            <a:off x="301625" y="6245225"/>
            <a:ext cx="2289175" cy="47625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Rectangle 5"/>
          <p:cNvSpPr>
            <a:spLocks noGrp="1" noChangeArrowheads="1"/>
          </p:cNvSpPr>
          <p:nvPr>
            <p:ph type="ftr" sz="quarter" idx="3"/>
          </p:nvPr>
        </p:nvSpPr>
        <p:spPr bwMode="auto">
          <a:xfrm>
            <a:off x="3124200" y="6245225"/>
            <a:ext cx="2895600"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p:ph type="sldNum" sz="quarter" idx="4"/>
          </p:nvPr>
        </p:nvSpPr>
        <p:spPr bwMode="auto">
          <a:xfrm>
            <a:off x="6553200" y="6245225"/>
            <a:ext cx="2289175" cy="476250"/>
          </a:xfrm>
          <a:prstGeom prst="rect">
            <a:avLst/>
          </a:prstGeom>
        </p:spPr>
        <p:txBody>
          <a:bodyPr vert="horz" wrap="square" lIns="91440" tIns="45720" rIns="91440" bIns="45720" numCol="1" anchor="t" anchorCtr="0" compatLnSpc="1"/>
          <a:p>
            <a:pPr algn="r" eaLnBrk="1" hangingPunct="1"/>
            <a:fld id="{9A0DB2DC-4C9A-4742-B13C-FB6460FD3503}" type="slidenum">
              <a:rPr lang="en-US" altLang="zh-CN" dirty="0"/>
            </a:fld>
            <a:endParaRPr lang="en-US" altLang="zh-CN"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301625" y="1905000"/>
            <a:ext cx="4194175" cy="4194175"/>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half" idx="2"/>
          </p:nvPr>
        </p:nvSpPr>
        <p:spPr>
          <a:xfrm>
            <a:off x="4648200" y="1905000"/>
            <a:ext cx="4194175" cy="4194175"/>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5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2.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noRot="1"/>
          </p:cNvSpPr>
          <p:nvPr>
            <p:ph type="title"/>
          </p:nvPr>
        </p:nvSpPr>
        <p:spPr>
          <a:xfrm>
            <a:off x="301625" y="609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noRot="1"/>
          </p:cNvSpPr>
          <p:nvPr>
            <p:ph type="body"/>
          </p:nvPr>
        </p:nvSpPr>
        <p:spPr>
          <a:xfrm>
            <a:off x="301625" y="1905000"/>
            <a:ext cx="8540750" cy="41941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7412"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3"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4"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2050" name="Rectangle 2"/>
          <p:cNvSpPr>
            <a:spLocks noGrp="1" noRot="1"/>
          </p:cNvSpPr>
          <p:nvPr>
            <p:ph type="title"/>
          </p:nvPr>
        </p:nvSpPr>
        <p:spPr>
          <a:xfrm>
            <a:off x="301625" y="609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noRot="1"/>
          </p:cNvSpPr>
          <p:nvPr>
            <p:ph type="body"/>
          </p:nvPr>
        </p:nvSpPr>
        <p:spPr>
          <a:xfrm>
            <a:off x="301625" y="1905000"/>
            <a:ext cx="8540750" cy="41941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7412"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3"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4"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noRot="1"/>
          </p:cNvSpPr>
          <p:nvPr>
            <p:ph type="title"/>
          </p:nvPr>
        </p:nvSpPr>
        <p:spPr>
          <a:xfrm>
            <a:off x="301625" y="609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noRot="1"/>
          </p:cNvSpPr>
          <p:nvPr>
            <p:ph type="body"/>
          </p:nvPr>
        </p:nvSpPr>
        <p:spPr>
          <a:xfrm>
            <a:off x="301625" y="1905000"/>
            <a:ext cx="8540750" cy="41941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7412"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3"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4"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3.xml"/><Relationship Id="rId2" Type="http://schemas.openxmlformats.org/officeDocument/2006/relationships/image" Target="../media/image10.e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2.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noRot="1"/>
          </p:cNvSpPr>
          <p:nvPr>
            <p:ph type="title"/>
          </p:nvPr>
        </p:nvSpPr>
        <p:spPr>
          <a:xfrm>
            <a:off x="301625" y="590550"/>
            <a:ext cx="8540750" cy="1419225"/>
          </a:xfrm>
        </p:spPr>
        <p:txBody>
          <a:bodyPr vert="horz" wrap="square" lIns="91440" tIns="45720" rIns="91440" bIns="45720" anchor="ctr" anchorCtr="0"/>
          <a:p>
            <a:pPr eaLnBrk="1" hangingPunct="1"/>
            <a:br>
              <a:rPr lang="zh-CN" altLang="en-US" sz="4000" u="sng" dirty="0"/>
            </a:br>
            <a:r>
              <a:rPr lang="zh-CN" altLang="en-US" sz="4000" dirty="0"/>
              <a:t>电子电路仿真设计与制作</a:t>
            </a:r>
            <a:br>
              <a:rPr lang="zh-CN" altLang="en-US" sz="4000" dirty="0"/>
            </a:br>
            <a:r>
              <a:rPr lang="zh-CN" altLang="en-US" sz="3600" dirty="0"/>
              <a:t>之</a:t>
            </a:r>
            <a:r>
              <a:rPr lang="en-US" altLang="zh-CN" sz="3600" dirty="0"/>
              <a:t>Proteus</a:t>
            </a:r>
            <a:r>
              <a:rPr lang="zh-CN" altLang="en-US" sz="3600" dirty="0"/>
              <a:t>快速入门</a:t>
            </a:r>
            <a:r>
              <a:rPr lang="zh-CN" altLang="en-US" dirty="0"/>
              <a:t> </a:t>
            </a:r>
            <a:br>
              <a:rPr lang="zh-CN" altLang="en-US" sz="4000" dirty="0"/>
            </a:br>
            <a:endParaRPr lang="zh-CN" altLang="en-US" sz="4000" dirty="0"/>
          </a:p>
        </p:txBody>
      </p:sp>
      <p:sp>
        <p:nvSpPr>
          <p:cNvPr id="3075" name="Rectangle 3"/>
          <p:cNvSpPr>
            <a:spLocks noGrp="1" noRot="1"/>
          </p:cNvSpPr>
          <p:nvPr>
            <p:ph sz="half" idx="1"/>
          </p:nvPr>
        </p:nvSpPr>
        <p:spPr bwMode="auto">
          <a:xfrm>
            <a:off x="301625" y="1905000"/>
            <a:ext cx="8518525" cy="4194175"/>
          </a:xfrm>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r>
              <a:rPr kumimoji="0" lang="en-US" altLang="zh-CN" sz="2400" b="0" i="0" u="none" strike="noStrike" kern="1200" cap="none" spc="0" normalizeH="0" baseline="0" noProof="1">
                <a:ln>
                  <a:noFill/>
                </a:ln>
                <a:solidFill>
                  <a:srgbClr val="FF0000"/>
                </a:solidFill>
                <a:effectLst/>
                <a:uLnTx/>
                <a:uFillTx/>
                <a:latin typeface="+mn-lt"/>
                <a:ea typeface="+mn-ea"/>
                <a:cs typeface="+mn-cs"/>
              </a:rPr>
              <a:t>1.Proteus</a:t>
            </a:r>
            <a:r>
              <a:rPr kumimoji="0" lang="zh-CN" altLang="en-US" sz="2400" b="0" i="0" u="none" strike="noStrike" kern="1200" cap="none" spc="0" normalizeH="0" baseline="0" noProof="1">
                <a:ln>
                  <a:noFill/>
                </a:ln>
                <a:solidFill>
                  <a:srgbClr val="FF0000"/>
                </a:solidFill>
                <a:effectLst/>
                <a:uLnTx/>
                <a:uFillTx/>
                <a:latin typeface="+mn-lt"/>
                <a:ea typeface="+mn-ea"/>
                <a:cs typeface="+mn-cs"/>
              </a:rPr>
              <a:t>整体功能预览</a:t>
            </a:r>
            <a:endParaRPr kumimoji="0" lang="zh-CN" altLang="en-US" sz="2400" b="0" i="0" u="none" strike="noStrike" kern="1200" cap="none" spc="0" normalizeH="0" baseline="0" noProof="1">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a:pPr>
            <a:r>
              <a:rPr kumimoji="0" lang="en-US" sz="2000" b="0" i="0" u="none" strike="noStrike" kern="1200" cap="none" spc="0" normalizeH="0" baseline="0" noProof="1">
                <a:ln>
                  <a:noFill/>
                </a:ln>
                <a:solidFill>
                  <a:srgbClr val="FF0000"/>
                </a:solidFill>
                <a:effectLst/>
                <a:uLnTx/>
                <a:uFillTx/>
                <a:latin typeface="+mn-lt"/>
                <a:ea typeface="+mn-ea"/>
                <a:cs typeface="+mn-cs"/>
              </a:rPr>
              <a:t>1.1 Proteus</a:t>
            </a:r>
            <a:r>
              <a:rPr kumimoji="0" lang="zh-CN" altLang="en-US" sz="2000" b="0" i="0" u="none" strike="noStrike" kern="1200" cap="none" spc="0" normalizeH="0" baseline="0" noProof="1">
                <a:ln>
                  <a:noFill/>
                </a:ln>
                <a:solidFill>
                  <a:srgbClr val="FF0000"/>
                </a:solidFill>
                <a:effectLst/>
                <a:uLnTx/>
                <a:uFillTx/>
                <a:latin typeface="+mn-lt"/>
                <a:ea typeface="+mn-ea"/>
                <a:cs typeface="+mn-cs"/>
              </a:rPr>
              <a:t>的功能分布</a:t>
            </a:r>
            <a:endParaRPr kumimoji="0" lang="en-US" altLang="zh-CN" sz="2000" b="0" i="0" u="none" strike="noStrike" kern="1200" cap="none" spc="0" normalizeH="0" baseline="0" noProof="1">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a:pPr>
            <a:r>
              <a:rPr kumimoji="0" lang="en-US" altLang="zh-CN" sz="2000" b="0" i="0" u="none" strike="noStrike" kern="1200" cap="none" spc="0" normalizeH="0" baseline="0" noProof="1">
                <a:ln>
                  <a:noFill/>
                </a:ln>
                <a:solidFill>
                  <a:srgbClr val="FF0000"/>
                </a:solidFill>
                <a:effectLst/>
                <a:uLnTx/>
                <a:uFillTx/>
                <a:latin typeface="+mn-lt"/>
                <a:ea typeface="+mn-ea"/>
                <a:cs typeface="+mn-cs"/>
              </a:rPr>
              <a:t>1.2 Proteus</a:t>
            </a:r>
            <a:r>
              <a:rPr kumimoji="0" lang="zh-CN" altLang="en-US" sz="2000" b="0" i="0" u="none" strike="noStrike" kern="1200" cap="none" spc="0" normalizeH="0" baseline="0" noProof="1">
                <a:ln>
                  <a:noFill/>
                </a:ln>
                <a:solidFill>
                  <a:srgbClr val="FF0000"/>
                </a:solidFill>
                <a:effectLst/>
                <a:uLnTx/>
                <a:uFillTx/>
                <a:latin typeface="+mn-lt"/>
                <a:ea typeface="+mn-ea"/>
                <a:cs typeface="+mn-cs"/>
              </a:rPr>
              <a:t> </a:t>
            </a:r>
            <a:r>
              <a:rPr kumimoji="0" lang="en-US" altLang="zh-CN" sz="2000" b="0" i="0" u="none" strike="noStrike" kern="1200" cap="none" spc="0" normalizeH="0" baseline="0" noProof="1">
                <a:ln>
                  <a:noFill/>
                </a:ln>
                <a:solidFill>
                  <a:srgbClr val="FF0000"/>
                </a:solidFill>
                <a:effectLst/>
                <a:uLnTx/>
                <a:uFillTx/>
                <a:latin typeface="+mn-lt"/>
                <a:ea typeface="+mn-ea"/>
                <a:cs typeface="+mn-cs"/>
              </a:rPr>
              <a:t>VSM</a:t>
            </a:r>
            <a:r>
              <a:rPr kumimoji="0" lang="zh-CN" altLang="en-US" sz="2000" b="0" i="0" u="none" strike="noStrike" kern="1200" cap="none" spc="0" normalizeH="0" baseline="0" noProof="1">
                <a:ln>
                  <a:noFill/>
                </a:ln>
                <a:solidFill>
                  <a:srgbClr val="FF0000"/>
                </a:solidFill>
                <a:effectLst/>
                <a:uLnTx/>
                <a:uFillTx/>
                <a:latin typeface="+mn-lt"/>
                <a:ea typeface="+mn-ea"/>
                <a:cs typeface="+mn-cs"/>
              </a:rPr>
              <a:t>仿真与分析</a:t>
            </a:r>
            <a:endParaRPr kumimoji="0" lang="zh-CN" altLang="en-US" sz="2000" b="0" i="0" u="none" strike="noStrike" kern="1200" cap="none" spc="0" normalizeH="0" baseline="0" noProof="1">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a:pPr>
            <a:r>
              <a:rPr kumimoji="0" lang="en-US" altLang="zh-CN" sz="2000" b="0" i="0" u="none" strike="noStrike" kern="1200" cap="none" spc="0" normalizeH="0" baseline="0" noProof="1">
                <a:ln>
                  <a:noFill/>
                </a:ln>
                <a:solidFill>
                  <a:srgbClr val="FF0000"/>
                </a:solidFill>
                <a:effectLst/>
                <a:uLnTx/>
                <a:uFillTx/>
                <a:latin typeface="+mn-lt"/>
                <a:ea typeface="+mn-ea"/>
                <a:cs typeface="+mn-cs"/>
              </a:rPr>
              <a:t>1.3 Proteus ARES</a:t>
            </a:r>
            <a:r>
              <a:rPr kumimoji="0" lang="zh-CN" altLang="en-US" sz="2000" b="0" i="0" u="none" strike="noStrike" kern="1200" cap="none" spc="0" normalizeH="0" baseline="0" noProof="1">
                <a:ln>
                  <a:noFill/>
                </a:ln>
                <a:solidFill>
                  <a:srgbClr val="FF0000"/>
                </a:solidFill>
                <a:effectLst/>
                <a:uLnTx/>
                <a:uFillTx/>
                <a:latin typeface="+mn-lt"/>
                <a:ea typeface="+mn-ea"/>
                <a:cs typeface="+mn-cs"/>
              </a:rPr>
              <a:t>的应用预览</a:t>
            </a:r>
            <a:endParaRPr kumimoji="0" lang="zh-CN" altLang="en-US" sz="2000" b="0" i="0" u="none" strike="noStrike" kern="1200" cap="none" spc="0" normalizeH="0" baseline="0" noProof="1">
              <a:ln>
                <a:noFill/>
              </a:ln>
              <a:solidFill>
                <a:srgbClr val="FF0000"/>
              </a:solidFill>
              <a:effectLst/>
              <a:uLnTx/>
              <a:uFillTx/>
              <a:latin typeface="+mn-lt"/>
              <a:ea typeface="+mn-ea"/>
              <a:cs typeface="+mn-cs"/>
              <a:hlinkClick r:id=""/>
            </a:endParaRPr>
          </a:p>
          <a:p>
            <a:pPr marL="742950" marR="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a:pPr>
            <a:r>
              <a:rPr kumimoji="0" lang="en-US" altLang="zh-CN" sz="2000" b="0" i="0" u="none" strike="noStrike" kern="1200" cap="none" spc="0" normalizeH="0" baseline="0" noProof="1">
                <a:ln>
                  <a:noFill/>
                </a:ln>
                <a:solidFill>
                  <a:srgbClr val="FF0000"/>
                </a:solidFill>
                <a:effectLst/>
                <a:uLnTx/>
                <a:uFillTx/>
                <a:latin typeface="+mn-lt"/>
                <a:ea typeface="+mn-ea"/>
                <a:cs typeface="+mn-cs"/>
                <a:sym typeface="+mn-ea"/>
              </a:rPr>
              <a:t>1.4 </a:t>
            </a:r>
            <a:r>
              <a:rPr kumimoji="0" lang="zh-CN" altLang="en-US" sz="2000" b="0" i="0" u="none" strike="noStrike" kern="1200" cap="none" spc="0" normalizeH="0" baseline="0" noProof="1">
                <a:ln>
                  <a:noFill/>
                </a:ln>
                <a:solidFill>
                  <a:srgbClr val="FF0000"/>
                </a:solidFill>
                <a:effectLst/>
                <a:uLnTx/>
                <a:uFillTx/>
                <a:latin typeface="+mn-lt"/>
                <a:ea typeface="+mn-ea"/>
                <a:cs typeface="+mn-cs"/>
                <a:sym typeface="+mn-ea"/>
              </a:rPr>
              <a:t>电子电路原理图设计流程</a:t>
            </a:r>
            <a:endParaRPr kumimoji="0" lang="zh-CN" altLang="en-US" sz="2000" b="0" i="0" u="none" strike="noStrike" kern="1200" cap="none" spc="0" normalizeH="0" baseline="0" noProof="1">
              <a:ln>
                <a:noFill/>
              </a:ln>
              <a:gradFill>
                <a:gsLst>
                  <a:gs pos="0">
                    <a:srgbClr val="E30000"/>
                  </a:gs>
                  <a:gs pos="100000">
                    <a:srgbClr val="760303"/>
                  </a:gs>
                </a:gsLst>
                <a:lin ang="5400000" scaled="0"/>
              </a:gra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r>
              <a:rPr kumimoji="0" lang="en-US" altLang="zh-CN" sz="2000" b="0" i="0" u="none" strike="noStrike" kern="1200" cap="none" spc="0" normalizeH="0" baseline="0" noProof="1">
                <a:ln>
                  <a:noFill/>
                </a:ln>
                <a:solidFill>
                  <a:srgbClr val="FF0000"/>
                </a:solidFill>
                <a:effectLst/>
                <a:uLnTx/>
                <a:uFillTx/>
                <a:latin typeface="+mn-lt"/>
                <a:ea typeface="+mn-ea"/>
                <a:cs typeface="+mn-cs"/>
              </a:rPr>
              <a:t>2.</a:t>
            </a:r>
            <a:r>
              <a:rPr kumimoji="0" lang="zh-CN" altLang="en-US" sz="2000" b="0" i="0" u="none" strike="noStrike" kern="1200" cap="none" spc="0" normalizeH="0" baseline="0" noProof="1">
                <a:ln>
                  <a:noFill/>
                </a:ln>
                <a:solidFill>
                  <a:srgbClr val="FF0000"/>
                </a:solidFill>
                <a:effectLst/>
                <a:uLnTx/>
                <a:uFillTx/>
                <a:latin typeface="+mn-lt"/>
                <a:ea typeface="+mn-ea"/>
                <a:cs typeface="+mn-cs"/>
              </a:rPr>
              <a:t>仿真项目演示</a:t>
            </a:r>
            <a:endParaRPr kumimoji="0" lang="zh-CN" altLang="en-US" sz="2000" b="0" i="0" u="none" strike="noStrike" kern="1200" cap="none" spc="0" normalizeH="0" baseline="0" noProof="1">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a:pPr>
            <a:r>
              <a:rPr kumimoji="0" lang="en-US" altLang="zh-CN" sz="2000" b="0" i="0" u="none" strike="noStrike" kern="1200" cap="none" spc="0" normalizeH="0" baseline="0" noProof="1">
                <a:ln>
                  <a:noFill/>
                </a:ln>
                <a:solidFill>
                  <a:srgbClr val="FF0000"/>
                </a:solidFill>
                <a:effectLst/>
                <a:uLnTx/>
                <a:uFillTx/>
                <a:latin typeface="+mn-lt"/>
                <a:ea typeface="+mn-ea"/>
                <a:cs typeface="+mn-cs"/>
              </a:rPr>
              <a:t>2.1 Proteus</a:t>
            </a:r>
            <a:r>
              <a:rPr kumimoji="0" lang="zh-CN" altLang="zh-CN" sz="2000" b="0" i="0" u="none" strike="noStrike" kern="1200" cap="none" spc="0" normalizeH="0" baseline="0" noProof="1">
                <a:ln>
                  <a:noFill/>
                </a:ln>
                <a:solidFill>
                  <a:srgbClr val="FF0000"/>
                </a:solidFill>
                <a:effectLst/>
                <a:uLnTx/>
                <a:uFillTx/>
                <a:latin typeface="+mn-lt"/>
                <a:ea typeface="+mn-ea"/>
                <a:cs typeface="+mn-cs"/>
              </a:rPr>
              <a:t>的安装与运行</a:t>
            </a:r>
            <a:endParaRPr kumimoji="0" lang="zh-CN" altLang="en-US" sz="2000" b="0" i="0" u="none" strike="noStrike" kern="1200" cap="none" spc="0" normalizeH="0" baseline="0" noProof="1">
              <a:ln>
                <a:noFill/>
              </a:ln>
              <a:solidFill>
                <a:srgbClr val="FF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a:pPr>
            <a:r>
              <a:rPr kumimoji="0" lang="en-US" altLang="zh-CN" sz="2000" b="0" i="0" u="none" strike="noStrike" kern="1200" cap="none" spc="0" normalizeH="0" baseline="0" noProof="1">
                <a:ln>
                  <a:noFill/>
                </a:ln>
                <a:solidFill>
                  <a:srgbClr val="FF0000"/>
                </a:solidFill>
                <a:effectLst/>
                <a:uLnTx/>
                <a:uFillTx/>
                <a:latin typeface="+mn-lt"/>
                <a:ea typeface="+mn-ea"/>
                <a:cs typeface="+mn-cs"/>
              </a:rPr>
              <a:t>2.2 </a:t>
            </a:r>
            <a:r>
              <a:rPr kumimoji="0" lang="zh-CN" altLang="en-US" sz="2000" b="0" i="0" u="none" strike="noStrike" kern="1200" cap="none" spc="0" normalizeH="0" baseline="0" noProof="1">
                <a:ln>
                  <a:noFill/>
                </a:ln>
                <a:solidFill>
                  <a:srgbClr val="FF0000"/>
                </a:solidFill>
                <a:effectLst/>
                <a:uLnTx/>
                <a:uFillTx/>
                <a:latin typeface="+mn-lt"/>
                <a:ea typeface="+mn-ea"/>
                <a:cs typeface="+mn-cs"/>
              </a:rPr>
              <a:t>调速流水灯的</a:t>
            </a:r>
            <a:r>
              <a:rPr kumimoji="0" lang="zh-CN" altLang="en-US" sz="2000" b="0" i="0" u="none" strike="noStrike" kern="1200" cap="none" spc="0" normalizeH="0" baseline="0" noProof="1">
                <a:ln>
                  <a:noFill/>
                </a:ln>
                <a:solidFill>
                  <a:srgbClr val="FF0000"/>
                </a:solidFill>
                <a:effectLst/>
                <a:uLnTx/>
                <a:uFillTx/>
                <a:latin typeface="+mn-lt"/>
                <a:ea typeface="+mn-ea"/>
                <a:cs typeface="+mn-cs"/>
              </a:rPr>
              <a:t>设计与仿真</a:t>
            </a:r>
            <a:endParaRPr kumimoji="0" lang="zh-CN" altLang="en-US" sz="2000" b="0" i="0" u="none" strike="noStrike" kern="1200" cap="none" spc="0" normalizeH="0" baseline="0" noProof="1">
              <a:ln>
                <a:noFill/>
              </a:ln>
              <a:solidFill>
                <a:srgbClr val="FF0000"/>
              </a:solidFill>
              <a:effectLst/>
              <a:uLnTx/>
              <a:uFillTx/>
              <a:latin typeface="+mn-lt"/>
              <a:ea typeface="+mn-ea"/>
              <a:cs typeface="+mn-cs"/>
              <a:hlinkClick r:i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Rot="1"/>
          </p:cNvSpPr>
          <p:nvPr>
            <p:ph type="title"/>
          </p:nvPr>
        </p:nvSpPr>
        <p:spPr>
          <a:xfrm>
            <a:off x="323850" y="1341438"/>
            <a:ext cx="8540750" cy="1143000"/>
          </a:xfrm>
        </p:spPr>
        <p:txBody>
          <a:bodyPr vert="horz" wrap="square" lIns="91440" tIns="45720" rIns="91440" bIns="45720" anchor="ctr" anchorCtr="0"/>
          <a:p>
            <a:pPr eaLnBrk="1" hangingPunct="1"/>
            <a:r>
              <a:rPr lang="en-US" altLang="zh-CN" sz="4800" dirty="0"/>
              <a:t>1.</a:t>
            </a:r>
            <a:r>
              <a:rPr lang="zh-CN" altLang="en-US" sz="4800" dirty="0"/>
              <a:t> </a:t>
            </a:r>
            <a:r>
              <a:rPr lang="en-US" altLang="zh-CN" sz="4800" b="1" dirty="0"/>
              <a:t>Proteus</a:t>
            </a:r>
            <a:r>
              <a:rPr lang="zh-CN" altLang="en-US" sz="4800" b="1" dirty="0"/>
              <a:t>整体功能预览</a:t>
            </a:r>
            <a:endParaRPr lang="zh-CN" altLang="en-US" sz="4800" dirty="0"/>
          </a:p>
        </p:txBody>
      </p:sp>
      <p:sp>
        <p:nvSpPr>
          <p:cNvPr id="6147" name="Rectangle 3"/>
          <p:cNvSpPr>
            <a:spLocks noGrp="1" noRot="1"/>
          </p:cNvSpPr>
          <p:nvPr>
            <p:ph idx="1"/>
          </p:nvPr>
        </p:nvSpPr>
        <p:spPr>
          <a:xfrm>
            <a:off x="395288" y="2349500"/>
            <a:ext cx="8447087" cy="3324225"/>
          </a:xfrm>
        </p:spPr>
        <p:txBody>
          <a:bodyPr vert="horz" wrap="square" lIns="91440" tIns="45720" rIns="91440" bIns="45720" anchor="t" anchorCtr="0"/>
          <a:p>
            <a:pPr eaLnBrk="1" hangingPunct="1">
              <a:lnSpc>
                <a:spcPct val="90000"/>
              </a:lnSpc>
              <a:buNone/>
            </a:pPr>
            <a:r>
              <a:rPr lang="en-US" altLang="zh-CN" sz="2800" dirty="0"/>
              <a:t>		Proteus </a:t>
            </a:r>
            <a:r>
              <a:rPr lang="zh-CN" altLang="en-US" sz="2800" dirty="0"/>
              <a:t>软件是由英国 </a:t>
            </a:r>
            <a:r>
              <a:rPr lang="en-US" altLang="zh-CN" sz="2800" dirty="0"/>
              <a:t>Labcenter Electronics </a:t>
            </a:r>
            <a:r>
              <a:rPr lang="zh-CN" altLang="en-US" sz="2800" dirty="0"/>
              <a:t>公司开发的</a:t>
            </a:r>
            <a:r>
              <a:rPr lang="en-US" altLang="zh-CN" sz="2800" dirty="0"/>
              <a:t>EDA</a:t>
            </a:r>
            <a:r>
              <a:rPr lang="zh-CN" altLang="en-US" sz="2800" dirty="0"/>
              <a:t>工具软件，已有近</a:t>
            </a:r>
            <a:r>
              <a:rPr lang="en-US" altLang="zh-CN" sz="2800" dirty="0"/>
              <a:t>20</a:t>
            </a:r>
            <a:r>
              <a:rPr lang="zh-CN" altLang="en-US" sz="2800" dirty="0"/>
              <a:t>年的历史，在全球得到了广泛应用。</a:t>
            </a:r>
            <a:r>
              <a:rPr lang="en-US" altLang="zh-CN" sz="2800" dirty="0"/>
              <a:t>Proteus </a:t>
            </a:r>
            <a:r>
              <a:rPr lang="zh-CN" altLang="en-US" sz="2800" dirty="0"/>
              <a:t>软件的功能强大，它集电路设计、制版及仿真等多种功能于一身，不仅能够对电工、电子技术学科涉及的电路进行设计与分析，还能够对</a:t>
            </a:r>
            <a:r>
              <a:rPr lang="zh-CN" altLang="en-US" sz="2800" dirty="0">
                <a:solidFill>
                  <a:srgbClr val="FF0000"/>
                </a:solidFill>
              </a:rPr>
              <a:t>微处理器进行设计和仿真</a:t>
            </a:r>
            <a:r>
              <a:rPr lang="zh-CN" altLang="en-US" sz="2800" dirty="0"/>
              <a:t>，并且功能齐全，界面多彩，是近年来备受电子设计爱好者青睐的一款新型电子线路设计与仿真软件。</a:t>
            </a:r>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Rot="1"/>
          </p:cNvSpPr>
          <p:nvPr>
            <p:ph type="title"/>
          </p:nvPr>
        </p:nvSpPr>
        <p:spPr/>
        <p:txBody>
          <a:bodyPr vert="horz" wrap="square" lIns="91440" tIns="45720" rIns="91440" bIns="45720" anchor="ctr" anchorCtr="0"/>
          <a:p>
            <a:pPr eaLnBrk="1" hangingPunct="1"/>
            <a:r>
              <a:rPr lang="en-US" altLang="zh-CN" sz="3200" b="1" dirty="0"/>
              <a:t>1.1 Proteus</a:t>
            </a:r>
            <a:r>
              <a:rPr lang="zh-CN" altLang="en-US" sz="3200" b="1" dirty="0"/>
              <a:t>的功能分布</a:t>
            </a:r>
            <a:br>
              <a:rPr lang="en-US" altLang="zh-CN" sz="3200" b="1" dirty="0"/>
            </a:br>
            <a:endParaRPr lang="en-US" altLang="zh-CN" sz="3200" b="1" dirty="0"/>
          </a:p>
        </p:txBody>
      </p:sp>
      <p:sp>
        <p:nvSpPr>
          <p:cNvPr id="7171" name="Rectangle 3"/>
          <p:cNvSpPr>
            <a:spLocks noGrp="1" noRot="1"/>
          </p:cNvSpPr>
          <p:nvPr>
            <p:ph idx="1"/>
          </p:nvPr>
        </p:nvSpPr>
        <p:spPr>
          <a:xfrm>
            <a:off x="301625" y="1484313"/>
            <a:ext cx="8540750" cy="5373687"/>
          </a:xfrm>
        </p:spPr>
        <p:txBody>
          <a:bodyPr vert="horz" wrap="square" lIns="91440" tIns="45720" rIns="91440" bIns="45720" anchor="t" anchorCtr="0"/>
          <a:p>
            <a:pPr eaLnBrk="1" hangingPunct="1"/>
            <a:r>
              <a:rPr lang="en-GB" altLang="zh-CN" sz="2800" dirty="0"/>
              <a:t>Proteus</a:t>
            </a:r>
            <a:r>
              <a:rPr lang="zh-CN" altLang="en-GB" sz="2800" dirty="0"/>
              <a:t>是一个基于</a:t>
            </a:r>
            <a:r>
              <a:rPr lang="en-US" altLang="zh-CN" sz="2800" dirty="0"/>
              <a:t>ProSPICE</a:t>
            </a:r>
            <a:r>
              <a:rPr lang="zh-CN" altLang="en-US" sz="2800" dirty="0"/>
              <a:t>混合模型仿真器的、完整的嵌入式系统软硬件设计仿真平台。它包含</a:t>
            </a:r>
            <a:r>
              <a:rPr lang="en-US" altLang="zh-CN" sz="2800" dirty="0"/>
              <a:t>ISIS</a:t>
            </a:r>
            <a:r>
              <a:rPr lang="zh-CN" altLang="en-US" sz="2800" dirty="0"/>
              <a:t>和</a:t>
            </a:r>
            <a:r>
              <a:rPr lang="en-US" altLang="zh-CN" sz="2800" dirty="0"/>
              <a:t>ARES</a:t>
            </a:r>
            <a:r>
              <a:rPr lang="zh-CN" altLang="en-US" sz="2800" dirty="0"/>
              <a:t>应用软件，具体功能分布如图</a:t>
            </a:r>
            <a:r>
              <a:rPr lang="en-US" altLang="zh-CN" sz="2800" dirty="0"/>
              <a:t>1-1</a:t>
            </a:r>
            <a:r>
              <a:rPr lang="zh-CN" altLang="en-US" sz="2800" dirty="0"/>
              <a:t>所示</a:t>
            </a:r>
            <a:r>
              <a:rPr lang="zh-CN" altLang="en-US" dirty="0"/>
              <a:t>。</a:t>
            </a:r>
            <a:endParaRPr lang="zh-CN" altLang="en-US" dirty="0"/>
          </a:p>
          <a:p>
            <a:pPr eaLnBrk="1" hangingPunct="1"/>
            <a:endParaRPr lang="zh-CN" altLang="en-US" dirty="0"/>
          </a:p>
          <a:p>
            <a:pPr eaLnBrk="1" hangingPunct="1"/>
            <a:endParaRPr lang="zh-CN" altLang="en-US" dirty="0"/>
          </a:p>
          <a:p>
            <a:pPr eaLnBrk="1" hangingPunct="1"/>
            <a:endParaRPr lang="en-US" altLang="zh-CN" dirty="0"/>
          </a:p>
          <a:p>
            <a:pPr eaLnBrk="1" hangingPunct="1"/>
            <a:endParaRPr lang="zh-CN" altLang="en-US" dirty="0"/>
          </a:p>
          <a:p>
            <a:pPr eaLnBrk="1" hangingPunct="1"/>
            <a:endParaRPr lang="zh-CN" altLang="en-US" dirty="0"/>
          </a:p>
          <a:p>
            <a:pPr algn="ctr" eaLnBrk="1" hangingPunct="1"/>
            <a:r>
              <a:rPr lang="zh-CN" altLang="en-GB" sz="2400" dirty="0"/>
              <a:t>图</a:t>
            </a:r>
            <a:r>
              <a:rPr lang="en-GB" altLang="zh-CN" sz="2400" dirty="0"/>
              <a:t>1-1  Proteus </a:t>
            </a:r>
            <a:r>
              <a:rPr lang="zh-CN" altLang="en-GB" sz="2400" dirty="0"/>
              <a:t>的功能分布图</a:t>
            </a:r>
            <a:endParaRPr lang="zh-CN" altLang="en-US" sz="2400" dirty="0"/>
          </a:p>
          <a:p>
            <a:pPr eaLnBrk="1" hangingPunct="1"/>
            <a:endParaRPr lang="zh-CN" altLang="en-GB" sz="2400" dirty="0"/>
          </a:p>
        </p:txBody>
      </p:sp>
      <p:sp>
        <p:nvSpPr>
          <p:cNvPr id="7172" name="Rectangle 5"/>
          <p:cNvSpPr/>
          <p:nvPr/>
        </p:nvSpPr>
        <p:spPr>
          <a:xfrm>
            <a:off x="0" y="0"/>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graphicFrame>
        <p:nvGraphicFramePr>
          <p:cNvPr id="7173" name="Object 4"/>
          <p:cNvGraphicFramePr>
            <a:graphicFrameLocks noChangeAspect="1"/>
          </p:cNvGraphicFramePr>
          <p:nvPr/>
        </p:nvGraphicFramePr>
        <p:xfrm>
          <a:off x="3203575" y="2887663"/>
          <a:ext cx="3105150" cy="2981325"/>
        </p:xfrm>
        <a:graphic>
          <a:graphicData uri="http://schemas.openxmlformats.org/presentationml/2006/ole">
            <mc:AlternateContent xmlns:mc="http://schemas.openxmlformats.org/markup-compatibility/2006">
              <mc:Choice xmlns:v="urn:schemas-microsoft-com:vml" Requires="v">
                <p:oleObj spid="_x0000_s3077" name="" r:id="rId1" imgW="2286000" imgH="2191385" progId="Word.Picture.8">
                  <p:embed/>
                </p:oleObj>
              </mc:Choice>
              <mc:Fallback>
                <p:oleObj name="" r:id="rId1" imgW="2286000" imgH="2191385" progId="Word.Picture.8">
                  <p:embed/>
                  <p:pic>
                    <p:nvPicPr>
                      <p:cNvPr id="0" name="图片 3076"/>
                      <p:cNvPicPr/>
                      <p:nvPr/>
                    </p:nvPicPr>
                    <p:blipFill>
                      <a:blip r:embed="rId2"/>
                      <a:stretch>
                        <a:fillRect/>
                      </a:stretch>
                    </p:blipFill>
                    <p:spPr>
                      <a:xfrm>
                        <a:off x="3203575" y="2887663"/>
                        <a:ext cx="3105150" cy="2981325"/>
                      </a:xfrm>
                      <a:prstGeom prst="rect">
                        <a:avLst/>
                      </a:prstGeom>
                      <a:noFill/>
                      <a:ln w="38100">
                        <a:noFill/>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3"/>
          <p:cNvSpPr>
            <a:spLocks noGrp="1" noRot="1"/>
          </p:cNvSpPr>
          <p:nvPr>
            <p:ph idx="1"/>
          </p:nvPr>
        </p:nvSpPr>
        <p:spPr>
          <a:xfrm>
            <a:off x="250825" y="549275"/>
            <a:ext cx="8540750" cy="4194175"/>
          </a:xfrm>
        </p:spPr>
        <p:txBody>
          <a:bodyPr vert="horz" wrap="square" lIns="91440" tIns="45720" rIns="91440" bIns="45720" anchor="t" anchorCtr="0"/>
          <a:p>
            <a:pPr eaLnBrk="1" hangingPunct="1"/>
            <a:r>
              <a:rPr lang="en-US" altLang="zh-CN" sz="2800" dirty="0"/>
              <a:t>ISIS——</a:t>
            </a:r>
            <a:r>
              <a:rPr lang="zh-CN" altLang="en-US" sz="2800" dirty="0"/>
              <a:t>智能原理图输入系统，系统设计与仿真的基本平台。</a:t>
            </a:r>
            <a:endParaRPr lang="zh-CN" altLang="en-US" sz="2800" dirty="0"/>
          </a:p>
          <a:p>
            <a:pPr eaLnBrk="1" hangingPunct="1"/>
            <a:r>
              <a:rPr lang="en-US" altLang="zh-CN" sz="2800" dirty="0"/>
              <a:t>ARES ——</a:t>
            </a:r>
            <a:r>
              <a:rPr lang="zh-CN" altLang="en-US" sz="2800" dirty="0"/>
              <a:t>高级</a:t>
            </a:r>
            <a:r>
              <a:rPr lang="en-US" altLang="zh-CN" sz="2800" dirty="0"/>
              <a:t>PCB</a:t>
            </a:r>
            <a:r>
              <a:rPr lang="zh-CN" altLang="en-US" sz="2800" dirty="0"/>
              <a:t>布线编辑软件。</a:t>
            </a:r>
            <a:endParaRPr lang="zh-CN" altLang="en-US" sz="2800" dirty="0"/>
          </a:p>
          <a:p>
            <a:pPr eaLnBrk="1" hangingPunct="1"/>
            <a:r>
              <a:rPr lang="zh-CN" altLang="en-US" sz="2800" dirty="0"/>
              <a:t>在</a:t>
            </a:r>
            <a:r>
              <a:rPr lang="en-GB" altLang="zh-CN" sz="2800" dirty="0"/>
              <a:t>Proteus</a:t>
            </a:r>
            <a:r>
              <a:rPr lang="zh-CN" altLang="en-GB" sz="2800" dirty="0"/>
              <a:t>中，从原理图设计、单片机编程、系统仿真到</a:t>
            </a:r>
            <a:r>
              <a:rPr lang="en-US" altLang="zh-CN" sz="2800" dirty="0"/>
              <a:t>PCB</a:t>
            </a:r>
            <a:r>
              <a:rPr lang="zh-CN" altLang="en-US" sz="2800" dirty="0"/>
              <a:t>设计一气呵成，真正实现了从概念到产品的完整设计。</a:t>
            </a:r>
            <a:r>
              <a:rPr lang="en-GB" altLang="zh-CN" sz="2800" dirty="0"/>
              <a:t>Proteus </a:t>
            </a:r>
            <a:r>
              <a:rPr lang="zh-CN" altLang="en-GB" sz="2800" dirty="0"/>
              <a:t>从原理图设计到</a:t>
            </a:r>
            <a:r>
              <a:rPr lang="en-US" altLang="zh-CN" sz="2800" dirty="0"/>
              <a:t>PCB</a:t>
            </a:r>
            <a:r>
              <a:rPr lang="zh-CN" altLang="en-US" sz="2800" dirty="0"/>
              <a:t>设计，再到电路板完成的流程如图</a:t>
            </a:r>
            <a:r>
              <a:rPr lang="en-US" altLang="zh-CN" sz="2800" dirty="0"/>
              <a:t>1-2</a:t>
            </a:r>
            <a:r>
              <a:rPr lang="zh-CN" altLang="en-US" sz="2800" dirty="0"/>
              <a:t>所示。</a:t>
            </a:r>
            <a:endParaRPr lang="zh-CN"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5"/>
          <p:cNvSpPr/>
          <p:nvPr/>
        </p:nvSpPr>
        <p:spPr>
          <a:xfrm>
            <a:off x="0" y="0"/>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graphicFrame>
        <p:nvGraphicFramePr>
          <p:cNvPr id="9219" name="Object 4"/>
          <p:cNvGraphicFramePr>
            <a:graphicFrameLocks noChangeAspect="1"/>
          </p:cNvGraphicFramePr>
          <p:nvPr/>
        </p:nvGraphicFramePr>
        <p:xfrm>
          <a:off x="2339975" y="476250"/>
          <a:ext cx="3732213" cy="5545138"/>
        </p:xfrm>
        <a:graphic>
          <a:graphicData uri="http://schemas.openxmlformats.org/presentationml/2006/ole">
            <mc:AlternateContent xmlns:mc="http://schemas.openxmlformats.org/markup-compatibility/2006">
              <mc:Choice xmlns:v="urn:schemas-microsoft-com:vml" Requires="v">
                <p:oleObj spid="_x0000_s3078" name="" r:id="rId1" imgW="4629785" imgH="6858000" progId="Word.Picture.8">
                  <p:embed/>
                </p:oleObj>
              </mc:Choice>
              <mc:Fallback>
                <p:oleObj name="" r:id="rId1" imgW="4629785" imgH="6858000" progId="Word.Picture.8">
                  <p:embed/>
                  <p:pic>
                    <p:nvPicPr>
                      <p:cNvPr id="0" name="图片 3077"/>
                      <p:cNvPicPr/>
                      <p:nvPr/>
                    </p:nvPicPr>
                    <p:blipFill>
                      <a:blip r:embed="rId2"/>
                      <a:stretch>
                        <a:fillRect/>
                      </a:stretch>
                    </p:blipFill>
                    <p:spPr>
                      <a:xfrm>
                        <a:off x="2339975" y="476250"/>
                        <a:ext cx="3732213" cy="5545138"/>
                      </a:xfrm>
                      <a:prstGeom prst="rect">
                        <a:avLst/>
                      </a:prstGeom>
                      <a:noFill/>
                      <a:ln w="38100">
                        <a:noFill/>
                        <a:miter/>
                      </a:ln>
                    </p:spPr>
                  </p:pic>
                </p:oleObj>
              </mc:Fallback>
            </mc:AlternateContent>
          </a:graphicData>
        </a:graphic>
      </p:graphicFrame>
      <p:sp>
        <p:nvSpPr>
          <p:cNvPr id="9220" name="Rectangle 6"/>
          <p:cNvSpPr/>
          <p:nvPr/>
        </p:nvSpPr>
        <p:spPr>
          <a:xfrm>
            <a:off x="2887663" y="6018213"/>
            <a:ext cx="2635250" cy="366712"/>
          </a:xfrm>
          <a:prstGeom prst="rect">
            <a:avLst/>
          </a:prstGeom>
          <a:noFill/>
          <a:ln w="9525">
            <a:noFill/>
          </a:ln>
        </p:spPr>
        <p:txBody>
          <a:bodyPr wrap="none" anchor="ctr" anchorCtr="0">
            <a:spAutoFit/>
          </a:bodyPr>
          <a:p>
            <a:pPr algn="ctr" eaLnBrk="1" hangingPunct="1"/>
            <a:r>
              <a:rPr lang="zh-CN" altLang="en-GB" dirty="0">
                <a:latin typeface="Arial" panose="020B0604020202020204" pitchFamily="34" charset="0"/>
              </a:rPr>
              <a:t>图</a:t>
            </a:r>
            <a:r>
              <a:rPr lang="en-GB" altLang="zh-CN" dirty="0">
                <a:latin typeface="Arial" panose="020B0604020202020204" pitchFamily="34" charset="0"/>
              </a:rPr>
              <a:t>1-2  Proteus </a:t>
            </a:r>
            <a:r>
              <a:rPr lang="zh-CN" altLang="en-GB" dirty="0">
                <a:latin typeface="Arial" panose="020B0604020202020204" pitchFamily="34" charset="0"/>
              </a:rPr>
              <a:t>设计流程</a:t>
            </a:r>
            <a:endParaRPr lang="zh-CN" altLang="en-GB"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3"/>
          <p:cNvSpPr>
            <a:spLocks noGrp="1" noRot="1"/>
          </p:cNvSpPr>
          <p:nvPr>
            <p:ph idx="1"/>
          </p:nvPr>
        </p:nvSpPr>
        <p:spPr>
          <a:xfrm>
            <a:off x="301625" y="476250"/>
            <a:ext cx="8540750" cy="5622925"/>
          </a:xfrm>
        </p:spPr>
        <p:txBody>
          <a:bodyPr vert="horz" wrap="square" lIns="91440" tIns="45720" rIns="91440" bIns="45720" anchor="t" anchorCtr="0"/>
          <a:p>
            <a:pPr eaLnBrk="1" hangingPunct="1">
              <a:lnSpc>
                <a:spcPct val="90000"/>
              </a:lnSpc>
            </a:pPr>
            <a:r>
              <a:rPr lang="zh-CN" altLang="en-US" sz="2800" dirty="0"/>
              <a:t>在图</a:t>
            </a:r>
            <a:r>
              <a:rPr lang="en-US" altLang="zh-CN" sz="2800" dirty="0"/>
              <a:t>1-2</a:t>
            </a:r>
            <a:r>
              <a:rPr lang="zh-CN" altLang="en-US" sz="2800" dirty="0"/>
              <a:t>中，最上面是一个基于单片机的应用电路原理图，显示的画面正处于仿真运行状态。设计者可以从</a:t>
            </a:r>
            <a:r>
              <a:rPr lang="en-GB" altLang="zh-CN" sz="2800" dirty="0"/>
              <a:t>Proteus</a:t>
            </a:r>
            <a:r>
              <a:rPr lang="zh-CN" altLang="en-GB" sz="2800" dirty="0"/>
              <a:t>原理图库中调用所需库元件，然后通过合适连线即可。单片机内可通过单击单片机芯片加入已编译好的十六进制程序文件，然后运行仿真即可。中间图片是运用</a:t>
            </a:r>
            <a:r>
              <a:rPr lang="en-GB" altLang="zh-CN" sz="2800" dirty="0"/>
              <a:t>Proteus</a:t>
            </a:r>
            <a:r>
              <a:rPr lang="zh-CN" altLang="en-GB" sz="2800" dirty="0"/>
              <a:t>的</a:t>
            </a:r>
            <a:r>
              <a:rPr lang="en-US" altLang="zh-CN" sz="2800" dirty="0"/>
              <a:t>PCB</a:t>
            </a:r>
            <a:r>
              <a:rPr lang="zh-CN" altLang="en-US" sz="2800" dirty="0"/>
              <a:t>制版功能设计出的电路板，可通过原理图生成网络表后设计布局而成。最下面的图为根据设计的</a:t>
            </a:r>
            <a:r>
              <a:rPr lang="en-US" altLang="zh-CN" sz="2800" dirty="0"/>
              <a:t>PCB</a:t>
            </a:r>
            <a:r>
              <a:rPr lang="zh-CN" altLang="en-US" sz="2800" dirty="0"/>
              <a:t>加工而成的电路板和安装焊接完成后的实际电路。可见，整个电路从设计到实际电路制作完成，通过</a:t>
            </a:r>
            <a:r>
              <a:rPr lang="en-GB" altLang="zh-CN" sz="2800" dirty="0"/>
              <a:t>Proteus</a:t>
            </a:r>
            <a:r>
              <a:rPr lang="zh-CN" altLang="en-GB" sz="2800" dirty="0"/>
              <a:t>一个软件即可完美实现。并且，它的</a:t>
            </a:r>
            <a:r>
              <a:rPr lang="zh-CN" altLang="en-GB" sz="2800" dirty="0">
                <a:solidFill>
                  <a:srgbClr val="FF0000"/>
                </a:solidFill>
              </a:rPr>
              <a:t>仿真结果与实际误差很小</a:t>
            </a:r>
            <a:r>
              <a:rPr lang="zh-CN" altLang="en-GB" sz="2800" dirty="0"/>
              <a:t>，非常适合电子设计爱好者和高校学生自学使用，</a:t>
            </a:r>
            <a:r>
              <a:rPr lang="zh-CN" altLang="en-GB" sz="2800" dirty="0">
                <a:solidFill>
                  <a:srgbClr val="FF0000"/>
                </a:solidFill>
              </a:rPr>
              <a:t>缩短了设计周期，降低了生产成本，提高了设计成功率。</a:t>
            </a:r>
            <a:endParaRPr lang="zh-CN" altLang="en-GB" sz="28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noRot="1"/>
          </p:cNvSpPr>
          <p:nvPr>
            <p:ph type="title"/>
          </p:nvPr>
        </p:nvSpPr>
        <p:spPr/>
        <p:txBody>
          <a:bodyPr vert="horz" wrap="square" lIns="91440" tIns="45720" rIns="91440" bIns="45720" anchor="ctr" anchorCtr="0"/>
          <a:p>
            <a:pPr eaLnBrk="1" hangingPunct="1"/>
            <a:r>
              <a:rPr lang="en-US" altLang="zh-CN" sz="3200" b="1" dirty="0"/>
              <a:t>1.2  Proteus VSM</a:t>
            </a:r>
            <a:r>
              <a:rPr lang="zh-CN" altLang="en-US" sz="3200" b="1" dirty="0"/>
              <a:t>仿真与分析</a:t>
            </a:r>
            <a:br>
              <a:rPr lang="zh-CN" altLang="en-US" sz="4000" b="1" dirty="0"/>
            </a:br>
            <a:endParaRPr lang="zh-CN" altLang="en-US" sz="4000" b="1" dirty="0"/>
          </a:p>
        </p:txBody>
      </p:sp>
      <p:sp>
        <p:nvSpPr>
          <p:cNvPr id="11267" name="Rectangle 3"/>
          <p:cNvSpPr>
            <a:spLocks noGrp="1" noRot="1"/>
          </p:cNvSpPr>
          <p:nvPr>
            <p:ph idx="1"/>
          </p:nvPr>
        </p:nvSpPr>
        <p:spPr>
          <a:xfrm>
            <a:off x="323850" y="1484313"/>
            <a:ext cx="8540750" cy="4902200"/>
          </a:xfrm>
        </p:spPr>
        <p:txBody>
          <a:bodyPr vert="horz" wrap="square" lIns="91440" tIns="45720" rIns="91440" bIns="45720" anchor="t" anchorCtr="0"/>
          <a:p>
            <a:pPr eaLnBrk="1" hangingPunct="1">
              <a:lnSpc>
                <a:spcPct val="80000"/>
              </a:lnSpc>
            </a:pPr>
            <a:r>
              <a:rPr lang="en-GB" altLang="zh-CN" sz="2800" dirty="0"/>
              <a:t>Proteus </a:t>
            </a:r>
            <a:r>
              <a:rPr lang="zh-CN" altLang="en-GB" sz="2800" dirty="0"/>
              <a:t>软件的</a:t>
            </a:r>
            <a:r>
              <a:rPr lang="en-GB" altLang="zh-CN" sz="2800" dirty="0"/>
              <a:t>ISIS</a:t>
            </a:r>
            <a:r>
              <a:rPr lang="zh-CN" altLang="en-GB" sz="2800" dirty="0"/>
              <a:t>原理图设计界面同时还支持电路仿真模式</a:t>
            </a:r>
            <a:r>
              <a:rPr lang="en-GB" altLang="zh-CN" sz="2800" dirty="0"/>
              <a:t>VSM(</a:t>
            </a:r>
            <a:r>
              <a:rPr lang="zh-CN" altLang="en-GB" sz="2800" dirty="0"/>
              <a:t>虚拟仿真模式</a:t>
            </a:r>
            <a:r>
              <a:rPr lang="en-GB" altLang="zh-CN" sz="2800" dirty="0"/>
              <a:t>)</a:t>
            </a:r>
            <a:r>
              <a:rPr lang="zh-CN" altLang="en-GB" sz="2800" dirty="0"/>
              <a:t>。当电路元件在调用时，我们选用具有动画演示功能的器件或具有仿真模型的器件，当电路连接完成无误后，直接运行仿真按钮，即</a:t>
            </a:r>
            <a:r>
              <a:rPr lang="zh-CN" altLang="en-GB" sz="2800" dirty="0">
                <a:solidFill>
                  <a:srgbClr val="FF0000"/>
                </a:solidFill>
              </a:rPr>
              <a:t>可实现声、光、动等逼真的效果</a:t>
            </a:r>
            <a:r>
              <a:rPr lang="zh-CN" altLang="en-GB" sz="2800" dirty="0"/>
              <a:t>，以检验电路硬件及软件设计的对错，非常直观。</a:t>
            </a:r>
            <a:endParaRPr lang="zh-CN" altLang="en-GB" sz="2800" dirty="0"/>
          </a:p>
          <a:p>
            <a:pPr eaLnBrk="1" hangingPunct="1">
              <a:lnSpc>
                <a:spcPct val="80000"/>
              </a:lnSpc>
            </a:pPr>
            <a:r>
              <a:rPr lang="en-GB" altLang="zh-CN" sz="2800" dirty="0"/>
              <a:t>Proteus</a:t>
            </a:r>
            <a:r>
              <a:rPr lang="en-US" altLang="zh-CN" sz="2800" dirty="0"/>
              <a:t> VSM</a:t>
            </a:r>
            <a:r>
              <a:rPr lang="zh-CN" altLang="en-US" sz="2800" dirty="0"/>
              <a:t>有两种不同的仿真方式：交互式仿真和基于图表的仿真。</a:t>
            </a:r>
            <a:endParaRPr lang="zh-CN" altLang="en-US" sz="2800" dirty="0"/>
          </a:p>
          <a:p>
            <a:pPr eaLnBrk="1" hangingPunct="1">
              <a:lnSpc>
                <a:spcPct val="80000"/>
              </a:lnSpc>
            </a:pPr>
            <a:r>
              <a:rPr lang="zh-CN" altLang="en-US" sz="2800" dirty="0"/>
              <a:t>交互式仿真</a:t>
            </a:r>
            <a:r>
              <a:rPr lang="en-US" altLang="zh-CN" sz="2800" i="1" dirty="0"/>
              <a:t>—— </a:t>
            </a:r>
            <a:r>
              <a:rPr lang="zh-CN" altLang="en-US" sz="2800" dirty="0"/>
              <a:t>实时直观地反映电路设计的仿真结果；</a:t>
            </a:r>
            <a:endParaRPr lang="zh-CN" altLang="en-US" sz="2800" dirty="0"/>
          </a:p>
          <a:p>
            <a:pPr eaLnBrk="1" hangingPunct="1">
              <a:lnSpc>
                <a:spcPct val="80000"/>
              </a:lnSpc>
            </a:pPr>
            <a:r>
              <a:rPr lang="zh-CN" altLang="en-US" sz="2800" dirty="0"/>
              <a:t>基于图表的仿真</a:t>
            </a:r>
            <a:r>
              <a:rPr lang="en-US" altLang="zh-CN" sz="2800" dirty="0"/>
              <a:t>(ASF)</a:t>
            </a:r>
            <a:r>
              <a:rPr lang="en-US" altLang="zh-CN" sz="2800" i="1" dirty="0"/>
              <a:t>—— </a:t>
            </a:r>
            <a:r>
              <a:rPr lang="zh-CN" altLang="en-US" sz="2800" dirty="0"/>
              <a:t>用来精确分析电路的各种性能，如频率特性、噪声特性等。</a:t>
            </a:r>
            <a:endParaRPr lang="zh-CN"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3"/>
          <p:cNvSpPr>
            <a:spLocks noGrp="1" noRot="1"/>
          </p:cNvSpPr>
          <p:nvPr>
            <p:ph idx="1"/>
          </p:nvPr>
        </p:nvSpPr>
        <p:spPr>
          <a:xfrm>
            <a:off x="301625" y="620713"/>
            <a:ext cx="8540750" cy="5478462"/>
          </a:xfrm>
        </p:spPr>
        <p:txBody>
          <a:bodyPr vert="horz" wrap="square" lIns="91440" tIns="45720" rIns="91440" bIns="45720" anchor="t" anchorCtr="0"/>
          <a:p>
            <a:pPr eaLnBrk="1" hangingPunct="1">
              <a:lnSpc>
                <a:spcPct val="90000"/>
              </a:lnSpc>
            </a:pPr>
            <a:r>
              <a:rPr lang="en-US" altLang="zh-CN" sz="2800" dirty="0"/>
              <a:t>Proteus VSM</a:t>
            </a:r>
            <a:r>
              <a:rPr lang="zh-CN" altLang="en-US" sz="2800" dirty="0"/>
              <a:t>中的整个电路分析是在</a:t>
            </a:r>
            <a:r>
              <a:rPr lang="en-US" altLang="zh-CN" sz="2800" dirty="0"/>
              <a:t>ISIS</a:t>
            </a:r>
            <a:r>
              <a:rPr lang="zh-CN" altLang="en-US" sz="2800" dirty="0"/>
              <a:t>原理图设计模块下延续下来的，原理图中可以包含以下仿真工具：</a:t>
            </a:r>
            <a:endParaRPr lang="zh-CN" altLang="en-US" sz="2800" dirty="0"/>
          </a:p>
          <a:p>
            <a:pPr eaLnBrk="1" hangingPunct="1">
              <a:lnSpc>
                <a:spcPct val="90000"/>
              </a:lnSpc>
            </a:pPr>
            <a:r>
              <a:rPr lang="zh-CN" altLang="en-US" sz="2800" dirty="0"/>
              <a:t>探针</a:t>
            </a:r>
            <a:r>
              <a:rPr lang="en-US" altLang="zh-CN" sz="2800" i="1" dirty="0"/>
              <a:t>—— </a:t>
            </a:r>
            <a:r>
              <a:rPr lang="zh-CN" altLang="en-US" sz="2800" dirty="0"/>
              <a:t>直接布置在线路上，用于采集和测量电压</a:t>
            </a:r>
            <a:r>
              <a:rPr lang="en-US" altLang="zh-CN" sz="2800" dirty="0"/>
              <a:t>/</a:t>
            </a:r>
            <a:r>
              <a:rPr lang="zh-CN" altLang="en-US" sz="2800" dirty="0"/>
              <a:t>电流信号；</a:t>
            </a:r>
            <a:endParaRPr lang="zh-CN" altLang="en-US" sz="2800" dirty="0"/>
          </a:p>
          <a:p>
            <a:pPr eaLnBrk="1" hangingPunct="1">
              <a:lnSpc>
                <a:spcPct val="90000"/>
              </a:lnSpc>
            </a:pPr>
            <a:r>
              <a:rPr lang="zh-CN" altLang="en-US" sz="2800" dirty="0"/>
              <a:t>电路激励</a:t>
            </a:r>
            <a:r>
              <a:rPr lang="en-US" altLang="zh-CN" sz="2800" i="1" dirty="0"/>
              <a:t>—— </a:t>
            </a:r>
            <a:r>
              <a:rPr lang="zh-CN" altLang="en-US" sz="2800" dirty="0"/>
              <a:t>系统的多种激励信号源；</a:t>
            </a:r>
            <a:endParaRPr lang="zh-CN" altLang="en-US" sz="2800" dirty="0"/>
          </a:p>
          <a:p>
            <a:pPr eaLnBrk="1" hangingPunct="1">
              <a:lnSpc>
                <a:spcPct val="90000"/>
              </a:lnSpc>
            </a:pPr>
            <a:r>
              <a:rPr lang="zh-CN" altLang="en-US" sz="2800" dirty="0"/>
              <a:t>虚拟仪器</a:t>
            </a:r>
            <a:r>
              <a:rPr lang="en-US" altLang="zh-CN" sz="2800" i="1" dirty="0"/>
              <a:t>—— </a:t>
            </a:r>
            <a:r>
              <a:rPr lang="zh-CN" altLang="en-US" sz="2800" dirty="0"/>
              <a:t>用于观测电路的运行状况；</a:t>
            </a:r>
            <a:endParaRPr lang="zh-CN" altLang="en-US" sz="2800" dirty="0"/>
          </a:p>
          <a:p>
            <a:pPr eaLnBrk="1" hangingPunct="1">
              <a:lnSpc>
                <a:spcPct val="90000"/>
              </a:lnSpc>
            </a:pPr>
            <a:r>
              <a:rPr lang="zh-CN" altLang="en-US" sz="2800" dirty="0"/>
              <a:t>曲线图表</a:t>
            </a:r>
            <a:r>
              <a:rPr lang="en-US" altLang="zh-CN" sz="2800" i="1" dirty="0"/>
              <a:t>—— </a:t>
            </a:r>
            <a:r>
              <a:rPr lang="zh-CN" altLang="en-US" sz="2800" dirty="0"/>
              <a:t>用于分析电路的参数指标。</a:t>
            </a:r>
            <a:endParaRPr lang="zh-CN" altLang="en-US" sz="2800" dirty="0"/>
          </a:p>
          <a:p>
            <a:pPr eaLnBrk="1" hangingPunct="1">
              <a:lnSpc>
                <a:spcPct val="90000"/>
              </a:lnSpc>
            </a:pPr>
            <a:r>
              <a:rPr lang="en-US" altLang="zh-CN" sz="2800" dirty="0"/>
              <a:t>1. </a:t>
            </a:r>
            <a:r>
              <a:rPr lang="zh-CN" altLang="en-US" sz="2800" dirty="0"/>
              <a:t>仿真工具</a:t>
            </a:r>
            <a:r>
              <a:rPr lang="en-US" altLang="zh-CN" sz="2800" i="1" dirty="0"/>
              <a:t>—— </a:t>
            </a:r>
            <a:r>
              <a:rPr lang="zh-CN" altLang="en-US" sz="2800" dirty="0"/>
              <a:t>激励源</a:t>
            </a:r>
            <a:endParaRPr lang="zh-CN" altLang="en-US" sz="2800" dirty="0"/>
          </a:p>
          <a:p>
            <a:pPr eaLnBrk="1" hangingPunct="1">
              <a:lnSpc>
                <a:spcPct val="90000"/>
              </a:lnSpc>
            </a:pPr>
            <a:r>
              <a:rPr lang="en-US" altLang="zh-CN" sz="2800" dirty="0"/>
              <a:t>DC</a:t>
            </a:r>
            <a:r>
              <a:rPr lang="zh-CN" altLang="en-US" sz="2800" dirty="0"/>
              <a:t>：直流电压源。</a:t>
            </a:r>
            <a:endParaRPr lang="zh-CN" altLang="en-US" sz="2800" dirty="0"/>
          </a:p>
          <a:p>
            <a:pPr eaLnBrk="1" hangingPunct="1">
              <a:lnSpc>
                <a:spcPct val="90000"/>
              </a:lnSpc>
            </a:pPr>
            <a:r>
              <a:rPr lang="en-US" altLang="zh-CN" sz="2800" dirty="0"/>
              <a:t>Sine</a:t>
            </a:r>
            <a:r>
              <a:rPr lang="zh-CN" altLang="en-US" sz="2800" dirty="0"/>
              <a:t>：正弦波发生器。</a:t>
            </a:r>
            <a:endParaRPr lang="zh-CN" altLang="en-US" sz="2800" dirty="0"/>
          </a:p>
          <a:p>
            <a:pPr eaLnBrk="1" hangingPunct="1">
              <a:lnSpc>
                <a:spcPct val="90000"/>
              </a:lnSpc>
            </a:pPr>
            <a:r>
              <a:rPr lang="en-US" altLang="zh-CN" sz="2800" dirty="0"/>
              <a:t>Pulse</a:t>
            </a:r>
            <a:r>
              <a:rPr lang="zh-CN" altLang="en-US" sz="2800" dirty="0"/>
              <a:t>：脉冲发生器。</a:t>
            </a:r>
            <a:endParaRPr lang="zh-CN" alt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a:spLocks noGrp="1" noRot="1"/>
          </p:cNvSpPr>
          <p:nvPr>
            <p:ph idx="1"/>
          </p:nvPr>
        </p:nvSpPr>
        <p:spPr>
          <a:xfrm>
            <a:off x="323850" y="692150"/>
            <a:ext cx="8540750" cy="5622925"/>
          </a:xfrm>
        </p:spPr>
        <p:txBody>
          <a:bodyPr vert="horz" wrap="square" lIns="91440" tIns="45720" rIns="91440" bIns="45720" anchor="t" anchorCtr="0"/>
          <a:p>
            <a:pPr eaLnBrk="1" hangingPunct="1">
              <a:lnSpc>
                <a:spcPct val="90000"/>
              </a:lnSpc>
            </a:pPr>
            <a:r>
              <a:rPr lang="en-US" altLang="zh-CN" sz="2800" dirty="0"/>
              <a:t>Exp</a:t>
            </a:r>
            <a:r>
              <a:rPr lang="zh-CN" altLang="en-US" sz="2800" dirty="0"/>
              <a:t>：指数脉冲发生器。</a:t>
            </a:r>
            <a:endParaRPr lang="zh-CN" altLang="en-US" sz="2800" dirty="0"/>
          </a:p>
          <a:p>
            <a:pPr eaLnBrk="1" hangingPunct="1">
              <a:lnSpc>
                <a:spcPct val="90000"/>
              </a:lnSpc>
            </a:pPr>
            <a:r>
              <a:rPr lang="en-US" altLang="zh-CN" sz="2800" dirty="0"/>
              <a:t>SFFM</a:t>
            </a:r>
            <a:r>
              <a:rPr lang="zh-CN" altLang="en-US" sz="2800" dirty="0"/>
              <a:t>：单频率调频波信号发生器。</a:t>
            </a:r>
            <a:endParaRPr lang="zh-CN" altLang="en-US" sz="2800" dirty="0"/>
          </a:p>
          <a:p>
            <a:pPr eaLnBrk="1" hangingPunct="1">
              <a:lnSpc>
                <a:spcPct val="90000"/>
              </a:lnSpc>
            </a:pPr>
            <a:r>
              <a:rPr lang="en-US" altLang="zh-CN" sz="2800" dirty="0"/>
              <a:t>Pwlin</a:t>
            </a:r>
            <a:r>
              <a:rPr lang="zh-CN" altLang="en-US" sz="2800" dirty="0"/>
              <a:t>：任意分段线性脉冲信号发生器。</a:t>
            </a:r>
            <a:endParaRPr lang="zh-CN" altLang="en-US" sz="2800" dirty="0"/>
          </a:p>
          <a:p>
            <a:pPr eaLnBrk="1" hangingPunct="1">
              <a:lnSpc>
                <a:spcPct val="90000"/>
              </a:lnSpc>
            </a:pPr>
            <a:r>
              <a:rPr lang="en-US" altLang="zh-CN" sz="2800" dirty="0"/>
              <a:t>File</a:t>
            </a:r>
            <a:r>
              <a:rPr lang="zh-CN" altLang="en-US" sz="2800" dirty="0"/>
              <a:t>：</a:t>
            </a:r>
            <a:r>
              <a:rPr lang="en-US" altLang="zh-CN" sz="2800" dirty="0"/>
              <a:t>File</a:t>
            </a:r>
            <a:r>
              <a:rPr lang="zh-CN" altLang="en-US" sz="2800" dirty="0"/>
              <a:t>信号发生器，数据来源于</a:t>
            </a:r>
            <a:r>
              <a:rPr lang="en-US" altLang="zh-CN" sz="2800" dirty="0"/>
              <a:t>ASCII</a:t>
            </a:r>
            <a:r>
              <a:rPr lang="zh-CN" altLang="en-US" sz="2800" dirty="0"/>
              <a:t>文件。</a:t>
            </a:r>
            <a:endParaRPr lang="zh-CN" altLang="en-US" sz="2800" dirty="0"/>
          </a:p>
          <a:p>
            <a:pPr eaLnBrk="1" hangingPunct="1">
              <a:lnSpc>
                <a:spcPct val="90000"/>
              </a:lnSpc>
            </a:pPr>
            <a:r>
              <a:rPr lang="en-US" altLang="zh-CN" sz="2800" dirty="0"/>
              <a:t>Audio</a:t>
            </a:r>
            <a:r>
              <a:rPr lang="zh-CN" altLang="en-US" sz="2800" dirty="0"/>
              <a:t>：音频信号发生器，数据来源于</a:t>
            </a:r>
            <a:r>
              <a:rPr lang="en-US" altLang="zh-CN" sz="2800" dirty="0"/>
              <a:t>wav</a:t>
            </a:r>
            <a:r>
              <a:rPr lang="zh-CN" altLang="en-US" sz="2800" dirty="0"/>
              <a:t>文件。</a:t>
            </a:r>
            <a:endParaRPr lang="zh-CN" altLang="en-US" sz="2800" dirty="0"/>
          </a:p>
          <a:p>
            <a:pPr eaLnBrk="1" hangingPunct="1">
              <a:lnSpc>
                <a:spcPct val="90000"/>
              </a:lnSpc>
            </a:pPr>
            <a:r>
              <a:rPr lang="en-US" altLang="zh-CN" sz="2800" dirty="0"/>
              <a:t>DState</a:t>
            </a:r>
            <a:r>
              <a:rPr lang="zh-CN" altLang="en-US" sz="2800" dirty="0"/>
              <a:t>：单稳态逻辑电平发生器。</a:t>
            </a:r>
            <a:endParaRPr lang="zh-CN" altLang="en-US" sz="2800" dirty="0"/>
          </a:p>
          <a:p>
            <a:pPr eaLnBrk="1" hangingPunct="1">
              <a:lnSpc>
                <a:spcPct val="90000"/>
              </a:lnSpc>
            </a:pPr>
            <a:r>
              <a:rPr lang="en-US" altLang="zh-CN" sz="2800" dirty="0"/>
              <a:t>DEdge</a:t>
            </a:r>
            <a:r>
              <a:rPr lang="zh-CN" altLang="en-US" sz="2800" dirty="0"/>
              <a:t>：单边沿信号发生器。</a:t>
            </a:r>
            <a:endParaRPr lang="zh-CN" altLang="en-US" sz="2800" dirty="0"/>
          </a:p>
          <a:p>
            <a:pPr eaLnBrk="1" hangingPunct="1">
              <a:lnSpc>
                <a:spcPct val="90000"/>
              </a:lnSpc>
            </a:pPr>
            <a:r>
              <a:rPr lang="en-US" altLang="zh-CN" sz="2800" dirty="0"/>
              <a:t>DPulse</a:t>
            </a:r>
            <a:r>
              <a:rPr lang="zh-CN" altLang="en-US" sz="2800" dirty="0"/>
              <a:t>：单周期数字脉冲发生器。</a:t>
            </a:r>
            <a:endParaRPr lang="zh-CN" altLang="en-US" sz="2800" dirty="0"/>
          </a:p>
          <a:p>
            <a:pPr eaLnBrk="1" hangingPunct="1">
              <a:lnSpc>
                <a:spcPct val="90000"/>
              </a:lnSpc>
            </a:pPr>
            <a:r>
              <a:rPr lang="en-US" altLang="zh-CN" sz="2800" dirty="0"/>
              <a:t>DClock</a:t>
            </a:r>
            <a:r>
              <a:rPr lang="zh-CN" altLang="en-US" sz="2800" dirty="0"/>
              <a:t>：数字时钟信号发生器。</a:t>
            </a:r>
            <a:endParaRPr lang="zh-CN" altLang="en-US" sz="2800" dirty="0"/>
          </a:p>
          <a:p>
            <a:pPr eaLnBrk="1" hangingPunct="1">
              <a:lnSpc>
                <a:spcPct val="90000"/>
              </a:lnSpc>
            </a:pPr>
            <a:r>
              <a:rPr lang="en-US" altLang="zh-CN" sz="2800" dirty="0"/>
              <a:t>DPattern</a:t>
            </a:r>
            <a:r>
              <a:rPr lang="zh-CN" altLang="en-US" sz="2800" dirty="0"/>
              <a:t>：模式信号发生器。</a:t>
            </a:r>
            <a:endParaRPr lang="zh-CN" altLang="en-GB" sz="2800" dirty="0"/>
          </a:p>
          <a:p>
            <a:pPr eaLnBrk="1" hangingPunct="1">
              <a:lnSpc>
                <a:spcPct val="90000"/>
              </a:lnSpc>
            </a:pPr>
            <a:r>
              <a:rPr lang="en-GB" altLang="zh-CN" sz="2800" dirty="0"/>
              <a:t>Proteus </a:t>
            </a:r>
            <a:r>
              <a:rPr lang="zh-CN" altLang="en-GB" sz="2800" dirty="0"/>
              <a:t>激励源的可编辑格式示例如图</a:t>
            </a:r>
            <a:r>
              <a:rPr lang="en-GB" altLang="zh-CN" sz="2800" dirty="0"/>
              <a:t>1-3</a:t>
            </a:r>
            <a:r>
              <a:rPr lang="zh-CN" altLang="en-GB" sz="2800" dirty="0"/>
              <a:t>所示。</a:t>
            </a:r>
            <a:endParaRPr lang="zh-CN"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5"/>
          <p:cNvSpPr/>
          <p:nvPr/>
        </p:nvSpPr>
        <p:spPr>
          <a:xfrm>
            <a:off x="0" y="0"/>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graphicFrame>
        <p:nvGraphicFramePr>
          <p:cNvPr id="14339" name="Object 4"/>
          <p:cNvGraphicFramePr>
            <a:graphicFrameLocks noChangeAspect="1"/>
          </p:cNvGraphicFramePr>
          <p:nvPr/>
        </p:nvGraphicFramePr>
        <p:xfrm>
          <a:off x="2195513" y="620713"/>
          <a:ext cx="5545137" cy="5299075"/>
        </p:xfrm>
        <a:graphic>
          <a:graphicData uri="http://schemas.openxmlformats.org/presentationml/2006/ole">
            <mc:AlternateContent xmlns:mc="http://schemas.openxmlformats.org/markup-compatibility/2006">
              <mc:Choice xmlns:v="urn:schemas-microsoft-com:vml" Requires="v">
                <p:oleObj spid="_x0000_s3076" name="" r:id="rId1" imgW="5163185" imgH="4923790" progId="Word.Picture.8">
                  <p:embed/>
                </p:oleObj>
              </mc:Choice>
              <mc:Fallback>
                <p:oleObj name="" r:id="rId1" imgW="5163185" imgH="4923790" progId="Word.Picture.8">
                  <p:embed/>
                  <p:pic>
                    <p:nvPicPr>
                      <p:cNvPr id="0" name="图片 3075"/>
                      <p:cNvPicPr/>
                      <p:nvPr/>
                    </p:nvPicPr>
                    <p:blipFill>
                      <a:blip r:embed="rId2"/>
                      <a:stretch>
                        <a:fillRect/>
                      </a:stretch>
                    </p:blipFill>
                    <p:spPr>
                      <a:xfrm>
                        <a:off x="2195513" y="620713"/>
                        <a:ext cx="5545137" cy="5299075"/>
                      </a:xfrm>
                      <a:prstGeom prst="rect">
                        <a:avLst/>
                      </a:prstGeom>
                      <a:noFill/>
                      <a:ln w="38100">
                        <a:noFill/>
                        <a:miter/>
                      </a:ln>
                    </p:spPr>
                  </p:pic>
                </p:oleObj>
              </mc:Fallback>
            </mc:AlternateContent>
          </a:graphicData>
        </a:graphic>
      </p:graphicFrame>
      <p:sp>
        <p:nvSpPr>
          <p:cNvPr id="14340" name="Rectangle 6"/>
          <p:cNvSpPr/>
          <p:nvPr/>
        </p:nvSpPr>
        <p:spPr>
          <a:xfrm>
            <a:off x="2627313" y="6000750"/>
            <a:ext cx="4235450" cy="366713"/>
          </a:xfrm>
          <a:prstGeom prst="rect">
            <a:avLst/>
          </a:prstGeom>
          <a:noFill/>
          <a:ln w="9525">
            <a:noFill/>
          </a:ln>
        </p:spPr>
        <p:txBody>
          <a:bodyPr wrap="none" anchor="ctr" anchorCtr="0">
            <a:spAutoFit/>
          </a:bodyPr>
          <a:p>
            <a:pPr algn="ctr" eaLnBrk="1" hangingPunct="1"/>
            <a:r>
              <a:rPr lang="zh-CN" altLang="en-GB" dirty="0">
                <a:latin typeface="Arial" panose="020B0604020202020204" pitchFamily="34" charset="0"/>
              </a:rPr>
              <a:t>图</a:t>
            </a:r>
            <a:r>
              <a:rPr lang="en-GB" altLang="zh-CN" dirty="0">
                <a:latin typeface="Arial" panose="020B0604020202020204" pitchFamily="34" charset="0"/>
              </a:rPr>
              <a:t>1-3  Proteus </a:t>
            </a:r>
            <a:r>
              <a:rPr lang="zh-CN" altLang="en-GB" dirty="0">
                <a:latin typeface="Arial" panose="020B0604020202020204" pitchFamily="34" charset="0"/>
              </a:rPr>
              <a:t>激励源的可编辑格式示例</a:t>
            </a:r>
            <a:endParaRPr lang="zh-CN" altLang="en-GB"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noRot="1"/>
          </p:cNvSpPr>
          <p:nvPr>
            <p:ph idx="1"/>
          </p:nvPr>
        </p:nvSpPr>
        <p:spPr>
          <a:xfrm>
            <a:off x="301625" y="620713"/>
            <a:ext cx="8540750" cy="5478462"/>
          </a:xfrm>
        </p:spPr>
        <p:txBody>
          <a:bodyPr vert="horz" wrap="square" lIns="91440" tIns="45720" rIns="91440" bIns="45720" anchor="t" anchorCtr="0"/>
          <a:p>
            <a:pPr eaLnBrk="1" hangingPunct="1">
              <a:lnSpc>
                <a:spcPct val="80000"/>
              </a:lnSpc>
            </a:pPr>
            <a:r>
              <a:rPr lang="en-US" altLang="zh-CN" sz="2800" dirty="0"/>
              <a:t>2. </a:t>
            </a:r>
            <a:r>
              <a:rPr lang="zh-CN" altLang="en-US" sz="2800" dirty="0"/>
              <a:t>仿真工具</a:t>
            </a:r>
            <a:r>
              <a:rPr lang="en-US" altLang="zh-CN" sz="2800" dirty="0"/>
              <a:t>—— </a:t>
            </a:r>
            <a:r>
              <a:rPr lang="zh-CN" altLang="en-US" sz="2800" dirty="0"/>
              <a:t>虚拟仪器</a:t>
            </a:r>
            <a:endParaRPr lang="zh-CN" altLang="en-US" sz="2800" dirty="0"/>
          </a:p>
          <a:p>
            <a:pPr eaLnBrk="1" hangingPunct="1">
              <a:lnSpc>
                <a:spcPct val="80000"/>
              </a:lnSpc>
            </a:pPr>
            <a:r>
              <a:rPr lang="zh-CN" altLang="en-US" sz="2800" dirty="0">
                <a:solidFill>
                  <a:srgbClr val="FF0000"/>
                </a:solidFill>
              </a:rPr>
              <a:t>虚拟示波器</a:t>
            </a:r>
            <a:r>
              <a:rPr lang="en-US" altLang="zh-CN" sz="2800" dirty="0"/>
              <a:t>(OSCILLOSCOPE)</a:t>
            </a:r>
            <a:r>
              <a:rPr lang="zh-CN" altLang="en-US" sz="2800" dirty="0"/>
              <a:t>。</a:t>
            </a:r>
            <a:endParaRPr lang="zh-CN" altLang="en-US" sz="2800" dirty="0"/>
          </a:p>
          <a:p>
            <a:pPr eaLnBrk="1" hangingPunct="1">
              <a:lnSpc>
                <a:spcPct val="80000"/>
              </a:lnSpc>
            </a:pPr>
            <a:r>
              <a:rPr lang="zh-CN" altLang="en-US" sz="2800" dirty="0"/>
              <a:t>逻辑分析仪</a:t>
            </a:r>
            <a:r>
              <a:rPr lang="en-US" altLang="zh-CN" sz="2800" dirty="0"/>
              <a:t>(LOGIC ANALYSER)</a:t>
            </a:r>
            <a:r>
              <a:rPr lang="zh-CN" altLang="en-US" sz="2800" dirty="0"/>
              <a:t>。</a:t>
            </a:r>
            <a:endParaRPr lang="zh-CN" altLang="en-US" sz="2800" dirty="0"/>
          </a:p>
          <a:p>
            <a:pPr eaLnBrk="1" hangingPunct="1">
              <a:lnSpc>
                <a:spcPct val="80000"/>
              </a:lnSpc>
            </a:pPr>
            <a:r>
              <a:rPr lang="zh-CN" altLang="en-US" sz="2800" dirty="0"/>
              <a:t>计数器、定时器</a:t>
            </a:r>
            <a:r>
              <a:rPr lang="en-US" altLang="zh-CN" sz="2800" dirty="0"/>
              <a:t>(COUNTER TIMER)</a:t>
            </a:r>
            <a:r>
              <a:rPr lang="zh-CN" altLang="en-US" sz="2800" dirty="0"/>
              <a:t>。</a:t>
            </a:r>
            <a:endParaRPr lang="zh-CN" altLang="en-US" sz="2800" dirty="0"/>
          </a:p>
          <a:p>
            <a:pPr eaLnBrk="1" hangingPunct="1">
              <a:lnSpc>
                <a:spcPct val="80000"/>
              </a:lnSpc>
            </a:pPr>
            <a:r>
              <a:rPr lang="zh-CN" altLang="en-US" sz="2800" dirty="0"/>
              <a:t>虚拟终端</a:t>
            </a:r>
            <a:r>
              <a:rPr lang="en-US" altLang="zh-CN" sz="2800" dirty="0"/>
              <a:t>(VIRUAL TERMINAL)</a:t>
            </a:r>
            <a:r>
              <a:rPr lang="zh-CN" altLang="en-US" sz="2800" dirty="0"/>
              <a:t>。</a:t>
            </a:r>
            <a:endParaRPr lang="zh-CN" altLang="en-US" sz="2800" dirty="0"/>
          </a:p>
          <a:p>
            <a:pPr eaLnBrk="1" hangingPunct="1">
              <a:lnSpc>
                <a:spcPct val="80000"/>
              </a:lnSpc>
            </a:pPr>
            <a:r>
              <a:rPr lang="zh-CN" altLang="en-US" sz="2800" dirty="0"/>
              <a:t>信号发生器</a:t>
            </a:r>
            <a:r>
              <a:rPr lang="en-US" altLang="zh-CN" sz="2800" dirty="0"/>
              <a:t>(SIGNAL GENERATOR)</a:t>
            </a:r>
            <a:r>
              <a:rPr lang="zh-CN" altLang="en-US" sz="2800" dirty="0"/>
              <a:t>。</a:t>
            </a:r>
            <a:endParaRPr lang="zh-CN" altLang="en-US" sz="2800" dirty="0"/>
          </a:p>
          <a:p>
            <a:pPr eaLnBrk="1" hangingPunct="1">
              <a:lnSpc>
                <a:spcPct val="80000"/>
              </a:lnSpc>
            </a:pPr>
            <a:r>
              <a:rPr lang="zh-CN" altLang="en-US" sz="2800" dirty="0"/>
              <a:t>模式发生器</a:t>
            </a:r>
            <a:r>
              <a:rPr lang="en-US" altLang="zh-CN" sz="2800" dirty="0"/>
              <a:t>(PATTERN GENERATOR)</a:t>
            </a:r>
            <a:r>
              <a:rPr lang="zh-CN" altLang="en-US" sz="2800" dirty="0"/>
              <a:t>。</a:t>
            </a:r>
            <a:endParaRPr lang="zh-CN" altLang="en-US" sz="2800" dirty="0"/>
          </a:p>
          <a:p>
            <a:pPr eaLnBrk="1" hangingPunct="1">
              <a:lnSpc>
                <a:spcPct val="80000"/>
              </a:lnSpc>
            </a:pPr>
            <a:r>
              <a:rPr lang="zh-CN" altLang="en-US" sz="2800" dirty="0">
                <a:solidFill>
                  <a:srgbClr val="FF0000"/>
                </a:solidFill>
              </a:rPr>
              <a:t>交直流电压表和电流表</a:t>
            </a:r>
            <a:r>
              <a:rPr lang="en-US" altLang="zh-CN" sz="2800" dirty="0"/>
              <a:t>(AC/DC voltmeters/ammeters)</a:t>
            </a:r>
            <a:r>
              <a:rPr lang="zh-CN" altLang="en-US" sz="2800" dirty="0"/>
              <a:t>。</a:t>
            </a:r>
            <a:endParaRPr lang="zh-CN" altLang="en-US" sz="2800" dirty="0"/>
          </a:p>
          <a:p>
            <a:pPr eaLnBrk="1" hangingPunct="1">
              <a:lnSpc>
                <a:spcPct val="80000"/>
              </a:lnSpc>
            </a:pPr>
            <a:r>
              <a:rPr lang="en-US" altLang="zh-CN" sz="2800" dirty="0"/>
              <a:t>SPI</a:t>
            </a:r>
            <a:r>
              <a:rPr lang="zh-CN" altLang="en-US" sz="2800" dirty="0"/>
              <a:t>调试器</a:t>
            </a:r>
            <a:r>
              <a:rPr lang="en-US" altLang="zh-CN" sz="2800" dirty="0"/>
              <a:t>(SPI DEBUGGER)</a:t>
            </a:r>
            <a:r>
              <a:rPr lang="zh-CN" altLang="en-US" sz="2800" dirty="0"/>
              <a:t>。</a:t>
            </a:r>
            <a:endParaRPr lang="zh-CN" altLang="en-US" sz="2800" dirty="0"/>
          </a:p>
          <a:p>
            <a:pPr eaLnBrk="1" hangingPunct="1">
              <a:lnSpc>
                <a:spcPct val="80000"/>
              </a:lnSpc>
            </a:pPr>
            <a:r>
              <a:rPr lang="en-US" altLang="zh-CN" sz="2800" dirty="0"/>
              <a:t>I2C</a:t>
            </a:r>
            <a:r>
              <a:rPr lang="zh-CN" altLang="en-US" sz="2800" dirty="0"/>
              <a:t>调试器</a:t>
            </a:r>
            <a:r>
              <a:rPr lang="en-US" altLang="zh-CN" sz="2800" dirty="0"/>
              <a:t>(I2C DEBUGGER)</a:t>
            </a:r>
            <a:r>
              <a:rPr lang="zh-CN" altLang="en-US" sz="2800" dirty="0"/>
              <a:t>。</a:t>
            </a:r>
            <a:endParaRPr lang="zh-CN" altLang="en-GB" sz="2800" dirty="0"/>
          </a:p>
          <a:p>
            <a:pPr eaLnBrk="1" hangingPunct="1">
              <a:lnSpc>
                <a:spcPct val="80000"/>
              </a:lnSpc>
            </a:pPr>
            <a:r>
              <a:rPr lang="en-GB" altLang="zh-CN" sz="2800" dirty="0"/>
              <a:t>Proteus </a:t>
            </a:r>
            <a:r>
              <a:rPr lang="zh-CN" altLang="en-GB" sz="2800" dirty="0"/>
              <a:t>的部分虚拟仪器</a:t>
            </a:r>
            <a:r>
              <a:rPr lang="en-US" altLang="zh-CN" sz="2800" dirty="0"/>
              <a:t>(</a:t>
            </a:r>
            <a:r>
              <a:rPr lang="zh-CN" altLang="en-GB" sz="2800" dirty="0"/>
              <a:t>虚拟终端显示器、四通道示波器和</a:t>
            </a:r>
            <a:r>
              <a:rPr lang="en-US" altLang="zh-CN" sz="2800" dirty="0"/>
              <a:t>SPI</a:t>
            </a:r>
            <a:r>
              <a:rPr lang="zh-CN" altLang="en-US" sz="2800" dirty="0"/>
              <a:t>、</a:t>
            </a:r>
            <a:r>
              <a:rPr lang="en-US" altLang="zh-CN" sz="2800" dirty="0"/>
              <a:t>I2C</a:t>
            </a:r>
            <a:r>
              <a:rPr lang="zh-CN" altLang="en-US" sz="2800" dirty="0"/>
              <a:t>调试器</a:t>
            </a:r>
            <a:r>
              <a:rPr lang="en-US" altLang="zh-CN" sz="2800" dirty="0"/>
              <a:t>) </a:t>
            </a:r>
            <a:endParaRPr lang="en-US" altLang="zh-CN" sz="2800" dirty="0"/>
          </a:p>
          <a:p>
            <a:pPr eaLnBrk="1" hangingPunct="1">
              <a:lnSpc>
                <a:spcPct val="80000"/>
              </a:lnSpc>
            </a:pPr>
            <a:endParaRPr lang="en-US" altLang="zh-CN"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a:spLocks noGrp="1" noRot="1"/>
          </p:cNvSpPr>
          <p:nvPr>
            <p:ph idx="1"/>
          </p:nvPr>
        </p:nvSpPr>
        <p:spPr>
          <a:xfrm>
            <a:off x="-541337" y="620713"/>
            <a:ext cx="7461250" cy="431800"/>
          </a:xfrm>
        </p:spPr>
        <p:txBody>
          <a:bodyPr vert="horz" wrap="square" lIns="91440" tIns="45720" rIns="91440" bIns="45720" anchor="t" anchorCtr="0"/>
          <a:p>
            <a:pPr lvl="2" eaLnBrk="1" hangingPunct="1">
              <a:lnSpc>
                <a:spcPct val="90000"/>
              </a:lnSpc>
              <a:buNone/>
            </a:pPr>
            <a:r>
              <a:rPr lang="en-GB" altLang="zh-CN" dirty="0"/>
              <a:t>Proteus </a:t>
            </a:r>
            <a:r>
              <a:rPr lang="zh-CN" altLang="en-GB" dirty="0"/>
              <a:t>的虚拟仪器示例如图</a:t>
            </a:r>
            <a:r>
              <a:rPr lang="en-GB" altLang="zh-CN" dirty="0"/>
              <a:t>1-</a:t>
            </a:r>
            <a:r>
              <a:rPr lang="en-US" altLang="en-GB" dirty="0"/>
              <a:t>4</a:t>
            </a:r>
            <a:r>
              <a:rPr lang="zh-CN" altLang="en-GB" dirty="0"/>
              <a:t>所示。</a:t>
            </a:r>
            <a:endParaRPr lang="zh-CN" altLang="en-US" dirty="0"/>
          </a:p>
        </p:txBody>
      </p:sp>
      <p:sp>
        <p:nvSpPr>
          <p:cNvPr id="16387" name="Rectangle 5"/>
          <p:cNvSpPr/>
          <p:nvPr/>
        </p:nvSpPr>
        <p:spPr>
          <a:xfrm>
            <a:off x="0" y="1433513"/>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graphicFrame>
        <p:nvGraphicFramePr>
          <p:cNvPr id="16388" name="Object 4"/>
          <p:cNvGraphicFramePr>
            <a:graphicFrameLocks noChangeAspect="1"/>
          </p:cNvGraphicFramePr>
          <p:nvPr/>
        </p:nvGraphicFramePr>
        <p:xfrm>
          <a:off x="4140200" y="1176338"/>
          <a:ext cx="4576763" cy="5141912"/>
        </p:xfrm>
        <a:graphic>
          <a:graphicData uri="http://schemas.openxmlformats.org/presentationml/2006/ole">
            <mc:AlternateContent xmlns:mc="http://schemas.openxmlformats.org/markup-compatibility/2006">
              <mc:Choice xmlns:v="urn:schemas-microsoft-com:vml" Requires="v">
                <p:oleObj spid="_x0000_s3076" name="" r:id="rId1" imgW="5486400" imgH="6142990" progId="Word.Picture.8">
                  <p:embed/>
                </p:oleObj>
              </mc:Choice>
              <mc:Fallback>
                <p:oleObj name="" r:id="rId1" imgW="5486400" imgH="6142990" progId="Word.Picture.8">
                  <p:embed/>
                  <p:pic>
                    <p:nvPicPr>
                      <p:cNvPr id="0" name="图片 3075"/>
                      <p:cNvPicPr/>
                      <p:nvPr/>
                    </p:nvPicPr>
                    <p:blipFill>
                      <a:blip r:embed="rId2"/>
                      <a:stretch>
                        <a:fillRect/>
                      </a:stretch>
                    </p:blipFill>
                    <p:spPr>
                      <a:xfrm>
                        <a:off x="4140200" y="1176338"/>
                        <a:ext cx="4576763" cy="5141912"/>
                      </a:xfrm>
                      <a:prstGeom prst="rect">
                        <a:avLst/>
                      </a:prstGeom>
                      <a:noFill/>
                      <a:ln w="38100">
                        <a:noFill/>
                        <a:miter/>
                      </a:ln>
                    </p:spPr>
                  </p:pic>
                </p:oleObj>
              </mc:Fallback>
            </mc:AlternateContent>
          </a:graphicData>
        </a:graphic>
      </p:graphicFrame>
      <p:sp>
        <p:nvSpPr>
          <p:cNvPr id="16389" name="Rectangle 6"/>
          <p:cNvSpPr/>
          <p:nvPr/>
        </p:nvSpPr>
        <p:spPr>
          <a:xfrm>
            <a:off x="781050" y="5949950"/>
            <a:ext cx="3321050" cy="368300"/>
          </a:xfrm>
          <a:prstGeom prst="rect">
            <a:avLst/>
          </a:prstGeom>
          <a:noFill/>
          <a:ln w="9525">
            <a:noFill/>
          </a:ln>
        </p:spPr>
        <p:txBody>
          <a:bodyPr wrap="none" anchor="ctr" anchorCtr="0">
            <a:spAutoFit/>
          </a:bodyPr>
          <a:p>
            <a:pPr algn="ctr" eaLnBrk="1" hangingPunct="1"/>
            <a:r>
              <a:rPr lang="zh-CN" altLang="en-US" dirty="0">
                <a:latin typeface="Arial" panose="020B0604020202020204" pitchFamily="34" charset="0"/>
              </a:rPr>
              <a:t>图</a:t>
            </a:r>
            <a:r>
              <a:rPr lang="en-US" altLang="zh-CN" dirty="0">
                <a:latin typeface="Arial" panose="020B0604020202020204" pitchFamily="34" charset="0"/>
              </a:rPr>
              <a:t>1-4  Proteus </a:t>
            </a:r>
            <a:r>
              <a:rPr lang="zh-CN" altLang="en-US" dirty="0">
                <a:latin typeface="Arial" panose="020B0604020202020204" pitchFamily="34" charset="0"/>
              </a:rPr>
              <a:t>的虚拟仪器示例</a:t>
            </a:r>
            <a:endParaRPr lang="zh-CN" altLang="en-US"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a:spLocks noGrp="1" noRot="1"/>
          </p:cNvSpPr>
          <p:nvPr>
            <p:ph idx="1"/>
          </p:nvPr>
        </p:nvSpPr>
        <p:spPr>
          <a:xfrm>
            <a:off x="301625" y="549275"/>
            <a:ext cx="8540750" cy="5549900"/>
          </a:xfrm>
        </p:spPr>
        <p:txBody>
          <a:bodyPr vert="horz" wrap="square" lIns="91440" tIns="45720" rIns="91440" bIns="45720" anchor="t" anchorCtr="0"/>
          <a:p>
            <a:pPr eaLnBrk="1" hangingPunct="1"/>
            <a:r>
              <a:rPr lang="en-US" altLang="zh-CN" dirty="0"/>
              <a:t>3. </a:t>
            </a:r>
            <a:r>
              <a:rPr lang="zh-CN" altLang="en-US" dirty="0"/>
              <a:t>交互式仿真实例</a:t>
            </a:r>
            <a:r>
              <a:rPr lang="en-US" altLang="zh-CN" dirty="0"/>
              <a:t>(OP07</a:t>
            </a:r>
            <a:r>
              <a:rPr lang="zh-CN" altLang="en-US" dirty="0"/>
              <a:t>放大电路</a:t>
            </a:r>
            <a:r>
              <a:rPr lang="en-US" altLang="zh-CN" dirty="0"/>
              <a:t>)</a:t>
            </a:r>
            <a:endParaRPr lang="en-US" altLang="zh-CN" dirty="0"/>
          </a:p>
          <a:p>
            <a:pPr eaLnBrk="1" hangingPunct="1"/>
            <a:r>
              <a:rPr lang="zh-CN" altLang="en-US" dirty="0"/>
              <a:t>高级仿真</a:t>
            </a:r>
            <a:r>
              <a:rPr lang="en-US" altLang="zh-CN" dirty="0"/>
              <a:t>(ASF)</a:t>
            </a:r>
            <a:r>
              <a:rPr lang="zh-CN" altLang="en-US" dirty="0"/>
              <a:t>实例</a:t>
            </a:r>
            <a:r>
              <a:rPr lang="en-US" altLang="zh-CN" dirty="0"/>
              <a:t>(OP07</a:t>
            </a:r>
            <a:r>
              <a:rPr lang="zh-CN" altLang="en-US" dirty="0"/>
              <a:t>放大电路分析</a:t>
            </a:r>
            <a:r>
              <a:rPr lang="en-US" altLang="zh-CN" dirty="0"/>
              <a:t>)</a:t>
            </a:r>
            <a:r>
              <a:rPr lang="zh-CN" altLang="en-US" dirty="0"/>
              <a:t>如图</a:t>
            </a:r>
            <a:r>
              <a:rPr lang="en-US" altLang="zh-CN" dirty="0"/>
              <a:t>1-5</a:t>
            </a:r>
            <a:r>
              <a:rPr lang="zh-CN" altLang="en-US" dirty="0"/>
              <a:t>所示。</a:t>
            </a:r>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GB" dirty="0"/>
          </a:p>
          <a:p>
            <a:pPr eaLnBrk="1" hangingPunct="1"/>
            <a:endParaRPr lang="zh-CN" altLang="en-GB" dirty="0"/>
          </a:p>
          <a:p>
            <a:pPr eaLnBrk="1" hangingPunct="1"/>
            <a:endParaRPr lang="zh-CN" altLang="en-GB" dirty="0"/>
          </a:p>
        </p:txBody>
      </p:sp>
      <p:sp>
        <p:nvSpPr>
          <p:cNvPr id="17411" name="Rectangle 5"/>
          <p:cNvSpPr/>
          <p:nvPr/>
        </p:nvSpPr>
        <p:spPr>
          <a:xfrm>
            <a:off x="0" y="0"/>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sp>
        <p:nvSpPr>
          <p:cNvPr id="17412" name="Rectangle 7"/>
          <p:cNvSpPr/>
          <p:nvPr/>
        </p:nvSpPr>
        <p:spPr>
          <a:xfrm>
            <a:off x="2771775" y="5876925"/>
            <a:ext cx="3435350" cy="339725"/>
          </a:xfrm>
          <a:prstGeom prst="rect">
            <a:avLst/>
          </a:prstGeom>
          <a:noFill/>
          <a:ln w="9525">
            <a:noFill/>
          </a:ln>
        </p:spPr>
        <p:txBody>
          <a:bodyPr wrap="none">
            <a:spAutoFit/>
          </a:bodyPr>
          <a:p>
            <a:pPr eaLnBrk="1" hangingPunct="1">
              <a:lnSpc>
                <a:spcPct val="90000"/>
              </a:lnSpc>
              <a:spcBef>
                <a:spcPct val="20000"/>
              </a:spcBef>
              <a:buClr>
                <a:schemeClr val="hlink"/>
              </a:buClr>
              <a:buSzPct val="75000"/>
              <a:buFont typeface="Wingdings" panose="05000000000000000000" pitchFamily="2" charset="2"/>
              <a:buChar char="v"/>
            </a:pPr>
            <a:r>
              <a:rPr lang="zh-CN" altLang="en-GB" dirty="0">
                <a:latin typeface="Arial" panose="020B0604020202020204" pitchFamily="34" charset="0"/>
              </a:rPr>
              <a:t>图</a:t>
            </a:r>
            <a:r>
              <a:rPr lang="en-GB" altLang="zh-CN" dirty="0">
                <a:latin typeface="Arial" panose="020B0604020202020204" pitchFamily="34" charset="0"/>
              </a:rPr>
              <a:t>1-5  </a:t>
            </a:r>
            <a:r>
              <a:rPr lang="en-US" altLang="en-GB" dirty="0">
                <a:latin typeface="Arial" panose="020B0604020202020204" pitchFamily="34" charset="0"/>
              </a:rPr>
              <a:t>OP07</a:t>
            </a:r>
            <a:r>
              <a:rPr lang="zh-CN" altLang="en-GB" dirty="0">
                <a:latin typeface="Arial" panose="020B0604020202020204" pitchFamily="34" charset="0"/>
              </a:rPr>
              <a:t>放大电路仿真分析</a:t>
            </a:r>
            <a:endParaRPr lang="zh-CN" altLang="en-US" dirty="0">
              <a:latin typeface="Arial" panose="020B0604020202020204" pitchFamily="34" charset="0"/>
            </a:endParaRPr>
          </a:p>
        </p:txBody>
      </p:sp>
      <p:pic>
        <p:nvPicPr>
          <p:cNvPr id="17413" name="图片 5"/>
          <p:cNvPicPr>
            <a:picLocks noChangeAspect="1"/>
          </p:cNvPicPr>
          <p:nvPr/>
        </p:nvPicPr>
        <p:blipFill>
          <a:blip r:embed="rId1"/>
          <a:stretch>
            <a:fillRect/>
          </a:stretch>
        </p:blipFill>
        <p:spPr>
          <a:xfrm>
            <a:off x="1657350" y="2286000"/>
            <a:ext cx="5595938" cy="338137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a:spLocks noGrp="1" noRot="1"/>
          </p:cNvSpPr>
          <p:nvPr>
            <p:ph idx="1"/>
          </p:nvPr>
        </p:nvSpPr>
        <p:spPr>
          <a:xfrm>
            <a:off x="323850" y="1308100"/>
            <a:ext cx="8540750" cy="55499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r>
              <a:rPr kumimoji="0" lang="zh-CN" altLang="en-US" sz="2800" b="0" i="0" u="none" strike="noStrike" kern="1200" cap="none" spc="0" normalizeH="0" baseline="0" noProof="1">
                <a:ln>
                  <a:noFill/>
                </a:ln>
                <a:solidFill>
                  <a:schemeClr val="tx1"/>
                </a:solidFill>
                <a:effectLst/>
                <a:uLnTx/>
                <a:uFillTx/>
                <a:latin typeface="+mn-lt"/>
                <a:ea typeface="+mn-ea"/>
                <a:cs typeface="+mn-cs"/>
              </a:rPr>
              <a:t>失真分析：用于确定由测试电路所引起的电平失真的程度，失真分析图表用于显示随频率变化的二次和三次谐波失真电平。</a:t>
            </a:r>
            <a:r>
              <a:rPr kumimoji="0" lang="en-US" altLang="zh-CN" sz="2800" b="0" i="0" u="none" strike="noStrike" kern="1200" cap="none" spc="0" normalizeH="0" baseline="0" noProof="1">
                <a:ln>
                  <a:noFill/>
                </a:ln>
                <a:solidFill>
                  <a:schemeClr val="tx1"/>
                </a:solidFill>
                <a:effectLst/>
                <a:uLnTx/>
                <a:uFillTx/>
                <a:latin typeface="+mn-lt"/>
                <a:ea typeface="+mn-ea"/>
                <a:cs typeface="+mn-cs"/>
              </a:rPr>
              <a:t>OP07</a:t>
            </a:r>
            <a:r>
              <a:rPr kumimoji="0" lang="zh-CN" altLang="en-US" sz="2800" b="0" i="0" u="none" strike="noStrike" kern="1200" cap="none" spc="0" normalizeH="0" baseline="0" noProof="1">
                <a:ln>
                  <a:noFill/>
                </a:ln>
                <a:solidFill>
                  <a:schemeClr val="tx1"/>
                </a:solidFill>
                <a:effectLst/>
                <a:uLnTx/>
                <a:uFillTx/>
                <a:latin typeface="+mn-lt"/>
                <a:ea typeface="+mn-ea"/>
                <a:cs typeface="+mn-cs"/>
              </a:rPr>
              <a:t>放大电路的失真分析如图</a:t>
            </a:r>
            <a:r>
              <a:rPr kumimoji="0" lang="en-US" altLang="zh-CN" sz="2800" b="0" i="0" u="none" strike="noStrike" kern="1200" cap="none" spc="0" normalizeH="0" baseline="0" noProof="1">
                <a:ln>
                  <a:noFill/>
                </a:ln>
                <a:solidFill>
                  <a:schemeClr val="tx1"/>
                </a:solidFill>
                <a:effectLst/>
                <a:uLnTx/>
                <a:uFillTx/>
                <a:latin typeface="+mn-lt"/>
                <a:ea typeface="+mn-ea"/>
                <a:cs typeface="+mn-cs"/>
              </a:rPr>
              <a:t>1-6</a:t>
            </a:r>
            <a:r>
              <a:rPr kumimoji="0" lang="zh-CN" altLang="en-US" sz="2800" b="0" i="0" u="none" strike="noStrike" kern="1200" cap="none" spc="0" normalizeH="0" baseline="0" noProof="1">
                <a:ln>
                  <a:noFill/>
                </a:ln>
                <a:solidFill>
                  <a:schemeClr val="tx1"/>
                </a:solidFill>
                <a:effectLst/>
                <a:uLnTx/>
                <a:uFillTx/>
                <a:latin typeface="+mn-lt"/>
                <a:ea typeface="+mn-ea"/>
                <a:cs typeface="+mn-cs"/>
              </a:rPr>
              <a:t>所示。</a:t>
            </a:r>
            <a:endParaRPr kumimoji="0" lang="zh-CN" altLang="en-US" sz="2800" b="0"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endParaRPr kumimoji="0" lang="zh-CN" altLang="en-GB" sz="2800" b="0"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endParaRPr kumimoji="0" lang="zh-CN" altLang="en-GB" sz="2800" b="0"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endParaRPr kumimoji="0" lang="zh-CN" altLang="en-GB" sz="2800" b="0"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endParaRPr kumimoji="0" lang="zh-CN" altLang="en-GB" sz="2800" b="0"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a:pPr>
            <a:endParaRPr kumimoji="0" lang="zh-CN" altLang="en-GB" sz="280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kumimoji="0" lang="zh-CN" altLang="en-GB" sz="2000" b="0" i="0" u="none" strike="noStrike" kern="1200" cap="none" spc="0" normalizeH="0" baseline="0" noProof="1">
                <a:ln>
                  <a:noFill/>
                </a:ln>
                <a:solidFill>
                  <a:schemeClr val="tx1"/>
                </a:solidFill>
                <a:effectLst/>
                <a:uLnTx/>
                <a:uFillTx/>
                <a:latin typeface="+mn-lt"/>
                <a:ea typeface="+mn-ea"/>
                <a:cs typeface="+mn-cs"/>
                <a:sym typeface="+mn-ea"/>
              </a:rPr>
              <a:t>     </a:t>
            </a:r>
            <a:endParaRPr kumimoji="0" lang="zh-CN" altLang="en-GB" sz="200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defRPr/>
            </a:pPr>
            <a:r>
              <a:rPr kumimoji="0" lang="zh-CN" altLang="en-GB" sz="2000" b="0" i="0" u="none" strike="noStrike" kern="1200" cap="none" spc="0" normalizeH="0" baseline="0" noProof="1">
                <a:ln>
                  <a:noFill/>
                </a:ln>
                <a:solidFill>
                  <a:schemeClr val="tx1"/>
                </a:solidFill>
                <a:effectLst/>
                <a:uLnTx/>
                <a:uFillTx/>
                <a:latin typeface="+mn-lt"/>
                <a:ea typeface="+mn-ea"/>
                <a:cs typeface="+mn-cs"/>
                <a:sym typeface="+mn-ea"/>
              </a:rPr>
              <a:t>图</a:t>
            </a:r>
            <a:r>
              <a:rPr kumimoji="0" lang="en-GB" altLang="zh-CN" sz="2000" b="0" i="0" u="none" strike="noStrike" kern="1200" cap="none" spc="0" normalizeH="0" baseline="0" noProof="1">
                <a:ln>
                  <a:noFill/>
                </a:ln>
                <a:solidFill>
                  <a:schemeClr val="tx1"/>
                </a:solidFill>
                <a:effectLst/>
                <a:uLnTx/>
                <a:uFillTx/>
                <a:latin typeface="+mn-lt"/>
                <a:ea typeface="+mn-ea"/>
                <a:cs typeface="+mn-cs"/>
                <a:sym typeface="+mn-ea"/>
              </a:rPr>
              <a:t>1-</a:t>
            </a:r>
            <a:r>
              <a:rPr kumimoji="0" lang="en-US" altLang="en-GB" sz="2000" b="0" i="0" u="none" strike="noStrike" kern="1200" cap="none" spc="0" normalizeH="0" baseline="0" noProof="1">
                <a:ln>
                  <a:noFill/>
                </a:ln>
                <a:solidFill>
                  <a:schemeClr val="tx1"/>
                </a:solidFill>
                <a:effectLst/>
                <a:uLnTx/>
                <a:uFillTx/>
                <a:latin typeface="+mn-lt"/>
                <a:ea typeface="+mn-ea"/>
                <a:cs typeface="+mn-cs"/>
                <a:sym typeface="+mn-ea"/>
              </a:rPr>
              <a:t>6</a:t>
            </a:r>
            <a:r>
              <a:rPr kumimoji="0" lang="en-GB" altLang="zh-CN" sz="2000" b="0" i="0" u="none" strike="noStrike" kern="1200" cap="none" spc="0" normalizeH="0" baseline="0" noProof="1">
                <a:ln>
                  <a:noFill/>
                </a:ln>
                <a:solidFill>
                  <a:schemeClr val="tx1"/>
                </a:solidFill>
                <a:effectLst/>
                <a:uLnTx/>
                <a:uFillTx/>
                <a:latin typeface="+mn-lt"/>
                <a:ea typeface="+mn-ea"/>
                <a:cs typeface="+mn-cs"/>
                <a:sym typeface="+mn-ea"/>
              </a:rPr>
              <a:t>  </a:t>
            </a:r>
            <a:r>
              <a:rPr kumimoji="0" lang="en-US" altLang="en-GB" sz="2000" b="0" i="0" u="none" strike="noStrike" kern="1200" cap="none" spc="0" normalizeH="0" baseline="0" noProof="1">
                <a:ln>
                  <a:noFill/>
                </a:ln>
                <a:solidFill>
                  <a:schemeClr val="tx1"/>
                </a:solidFill>
                <a:effectLst/>
                <a:uLnTx/>
                <a:uFillTx/>
                <a:latin typeface="+mn-lt"/>
                <a:ea typeface="+mn-ea"/>
                <a:cs typeface="+mn-cs"/>
                <a:sym typeface="+mn-ea"/>
              </a:rPr>
              <a:t>OP07</a:t>
            </a:r>
            <a:r>
              <a:rPr kumimoji="0" lang="zh-CN" altLang="en-GB" sz="2000" b="0" i="0" u="none" strike="noStrike" kern="1200" cap="none" spc="0" normalizeH="0" baseline="0" noProof="1">
                <a:ln>
                  <a:noFill/>
                </a:ln>
                <a:solidFill>
                  <a:schemeClr val="tx1"/>
                </a:solidFill>
                <a:effectLst/>
                <a:uLnTx/>
                <a:uFillTx/>
                <a:latin typeface="+mn-lt"/>
                <a:ea typeface="+mn-ea"/>
                <a:cs typeface="+mn-cs"/>
                <a:sym typeface="+mn-ea"/>
              </a:rPr>
              <a:t>放大电路的失真分析</a:t>
            </a: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pic>
        <p:nvPicPr>
          <p:cNvPr id="18435" name="图片 2"/>
          <p:cNvPicPr>
            <a:picLocks noChangeAspect="1"/>
          </p:cNvPicPr>
          <p:nvPr/>
        </p:nvPicPr>
        <p:blipFill>
          <a:blip r:embed="rId1"/>
          <a:stretch>
            <a:fillRect/>
          </a:stretch>
        </p:blipFill>
        <p:spPr>
          <a:xfrm>
            <a:off x="2479675" y="3132138"/>
            <a:ext cx="4416425" cy="283845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noRot="1"/>
          </p:cNvSpPr>
          <p:nvPr>
            <p:ph type="title"/>
          </p:nvPr>
        </p:nvSpPr>
        <p:spPr>
          <a:xfrm>
            <a:off x="323850" y="908050"/>
            <a:ext cx="8540750" cy="1143000"/>
          </a:xfrm>
        </p:spPr>
        <p:txBody>
          <a:bodyPr vert="horz" wrap="square" lIns="91440" tIns="45720" rIns="91440" bIns="45720" anchor="ctr" anchorCtr="0"/>
          <a:p>
            <a:pPr eaLnBrk="1" hangingPunct="1"/>
            <a:r>
              <a:rPr lang="en-US" altLang="zh-CN" sz="3200" b="1" dirty="0"/>
              <a:t>1.3  Proteus ARES</a:t>
            </a:r>
            <a:r>
              <a:rPr lang="zh-CN" altLang="en-US" sz="3200" b="1" dirty="0"/>
              <a:t>的应用预览功能</a:t>
            </a:r>
            <a:br>
              <a:rPr lang="zh-CN" altLang="en-US" sz="3200" b="1" dirty="0"/>
            </a:br>
            <a:endParaRPr lang="zh-CN" altLang="en-US" sz="3200" b="1" dirty="0"/>
          </a:p>
        </p:txBody>
      </p:sp>
      <p:sp>
        <p:nvSpPr>
          <p:cNvPr id="19459" name="Rectangle 3"/>
          <p:cNvSpPr>
            <a:spLocks noGrp="1" noRot="1"/>
          </p:cNvSpPr>
          <p:nvPr>
            <p:ph idx="1"/>
          </p:nvPr>
        </p:nvSpPr>
        <p:spPr>
          <a:xfrm>
            <a:off x="323850" y="2060575"/>
            <a:ext cx="8540750" cy="3286125"/>
          </a:xfrm>
        </p:spPr>
        <p:txBody>
          <a:bodyPr vert="horz" wrap="square" lIns="91440" tIns="45720" rIns="91440" bIns="45720" anchor="t" anchorCtr="0"/>
          <a:p>
            <a:pPr eaLnBrk="1" hangingPunct="1"/>
            <a:r>
              <a:rPr lang="en-US" altLang="zh-CN" sz="2800" dirty="0"/>
              <a:t>Proteus</a:t>
            </a:r>
            <a:r>
              <a:rPr lang="zh-CN" altLang="en-US" sz="2800" dirty="0"/>
              <a:t>的</a:t>
            </a:r>
            <a:r>
              <a:rPr lang="en-US" altLang="zh-CN" sz="2800" dirty="0"/>
              <a:t>ARES</a:t>
            </a:r>
            <a:r>
              <a:rPr lang="zh-CN" altLang="en-US" sz="2800" dirty="0"/>
              <a:t>软件具有</a:t>
            </a:r>
            <a:r>
              <a:rPr lang="en-US" altLang="zh-CN" sz="2800" dirty="0"/>
              <a:t>PCB(</a:t>
            </a:r>
            <a:r>
              <a:rPr lang="zh-CN" altLang="en-US" sz="2800" dirty="0"/>
              <a:t>印刷电路板</a:t>
            </a:r>
            <a:r>
              <a:rPr lang="en-US" altLang="zh-CN" sz="2800" dirty="0"/>
              <a:t>)</a:t>
            </a:r>
            <a:r>
              <a:rPr lang="zh-CN" altLang="en-US" sz="2800" dirty="0"/>
              <a:t>设计的强大功能。</a:t>
            </a:r>
            <a:r>
              <a:rPr lang="en-US" altLang="zh-CN" sz="2800" dirty="0"/>
              <a:t>Proteus 7</a:t>
            </a:r>
            <a:r>
              <a:rPr lang="zh-CN" altLang="en-US" sz="2800" dirty="0"/>
              <a:t>支持</a:t>
            </a:r>
            <a:r>
              <a:rPr lang="en-US" altLang="zh-CN" sz="2800" dirty="0"/>
              <a:t>PCB</a:t>
            </a:r>
            <a:r>
              <a:rPr lang="zh-CN" altLang="en-US" sz="2800" dirty="0"/>
              <a:t>板的三维预览，便于观察器件布局和展示设计结果，如图</a:t>
            </a:r>
            <a:r>
              <a:rPr lang="en-US" altLang="zh-CN" sz="2800" dirty="0"/>
              <a:t>1-7</a:t>
            </a:r>
            <a:r>
              <a:rPr lang="zh-CN" altLang="en-US" sz="2800" dirty="0"/>
              <a:t>所示。</a:t>
            </a:r>
            <a:endParaRPr lang="zh-CN"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3"/>
          <p:cNvSpPr>
            <a:spLocks noGrp="1" noRot="1"/>
          </p:cNvSpPr>
          <p:nvPr>
            <p:ph idx="1"/>
          </p:nvPr>
        </p:nvSpPr>
        <p:spPr>
          <a:xfrm>
            <a:off x="250825" y="5516563"/>
            <a:ext cx="8540750" cy="438150"/>
          </a:xfrm>
        </p:spPr>
        <p:txBody>
          <a:bodyPr vert="horz" wrap="square" lIns="91440" tIns="45720" rIns="91440" bIns="45720" anchor="t" anchorCtr="0"/>
          <a:p>
            <a:pPr marL="0" indent="0" algn="ctr" eaLnBrk="1" hangingPunct="1">
              <a:lnSpc>
                <a:spcPct val="80000"/>
              </a:lnSpc>
              <a:buNone/>
            </a:pPr>
            <a:r>
              <a:rPr lang="zh-CN" altLang="en-GB" sz="1800" dirty="0"/>
              <a:t>图</a:t>
            </a:r>
            <a:r>
              <a:rPr lang="en-GB" altLang="zh-CN" sz="1800" dirty="0"/>
              <a:t>1-</a:t>
            </a:r>
            <a:r>
              <a:rPr lang="en-US" altLang="en-GB" sz="1800" dirty="0"/>
              <a:t>7</a:t>
            </a:r>
            <a:r>
              <a:rPr lang="en-GB" altLang="zh-CN" sz="1800" dirty="0"/>
              <a:t>  </a:t>
            </a:r>
            <a:r>
              <a:rPr lang="en-US" altLang="zh-CN" sz="1800" dirty="0"/>
              <a:t>Proteus</a:t>
            </a:r>
            <a:r>
              <a:rPr lang="zh-CN" altLang="en-US" sz="1800" dirty="0"/>
              <a:t>的</a:t>
            </a:r>
            <a:r>
              <a:rPr lang="en-US" altLang="zh-CN" sz="1800" dirty="0"/>
              <a:t>PCB</a:t>
            </a:r>
            <a:r>
              <a:rPr lang="zh-CN" altLang="en-US" sz="1800" dirty="0"/>
              <a:t>三维预览</a:t>
            </a:r>
            <a:endParaRPr lang="zh-CN" altLang="en-US" sz="1800" dirty="0"/>
          </a:p>
        </p:txBody>
      </p:sp>
      <p:sp>
        <p:nvSpPr>
          <p:cNvPr id="20483" name="Rectangle 5"/>
          <p:cNvSpPr/>
          <p:nvPr/>
        </p:nvSpPr>
        <p:spPr>
          <a:xfrm>
            <a:off x="0" y="2419350"/>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graphicFrame>
        <p:nvGraphicFramePr>
          <p:cNvPr id="20484" name="Object 4"/>
          <p:cNvGraphicFramePr>
            <a:graphicFrameLocks noChangeAspect="1"/>
          </p:cNvGraphicFramePr>
          <p:nvPr/>
        </p:nvGraphicFramePr>
        <p:xfrm>
          <a:off x="828675" y="1412875"/>
          <a:ext cx="7272338" cy="3733800"/>
        </p:xfrm>
        <a:graphic>
          <a:graphicData uri="http://schemas.openxmlformats.org/presentationml/2006/ole">
            <mc:AlternateContent xmlns:mc="http://schemas.openxmlformats.org/markup-compatibility/2006">
              <mc:Choice xmlns:v="urn:schemas-microsoft-com:vml" Requires="v">
                <p:oleObj spid="_x0000_s3077" name="" r:id="rId1" imgW="7344410" imgH="3628390" progId="Word.Picture.8">
                  <p:embed/>
                </p:oleObj>
              </mc:Choice>
              <mc:Fallback>
                <p:oleObj name="" r:id="rId1" imgW="7344410" imgH="3628390" progId="Word.Picture.8">
                  <p:embed/>
                  <p:pic>
                    <p:nvPicPr>
                      <p:cNvPr id="0" name="图片 3076"/>
                      <p:cNvPicPr/>
                      <p:nvPr/>
                    </p:nvPicPr>
                    <p:blipFill>
                      <a:blip r:embed="rId2">
                        <a:grayscl/>
                        <a:lum bright="29999"/>
                      </a:blip>
                      <a:stretch>
                        <a:fillRect/>
                      </a:stretch>
                    </p:blipFill>
                    <p:spPr>
                      <a:xfrm>
                        <a:off x="828675" y="1412875"/>
                        <a:ext cx="7272338" cy="3733800"/>
                      </a:xfrm>
                      <a:prstGeom prst="rect">
                        <a:avLst/>
                      </a:prstGeom>
                      <a:noFill/>
                      <a:ln w="38100">
                        <a:noFill/>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p:cNvSpPr>
          <p:nvPr>
            <p:ph type="title"/>
          </p:nvPr>
        </p:nvSpPr>
        <p:spPr>
          <a:xfrm>
            <a:off x="323850" y="908050"/>
            <a:ext cx="8540750" cy="1143000"/>
          </a:xfrm>
        </p:spPr>
        <p:txBody>
          <a:bodyPr vert="horz" wrap="square" lIns="91440" tIns="45720" rIns="91440" bIns="45720" anchor="ctr" anchorCtr="0"/>
          <a:p>
            <a:pPr eaLnBrk="1" hangingPunct="1"/>
            <a:r>
              <a:rPr lang="en-US" altLang="zh-CN" sz="3200" b="1" dirty="0"/>
              <a:t>1.4  </a:t>
            </a:r>
            <a:r>
              <a:rPr lang="zh-CN" altLang="en-US" sz="3200" b="1" dirty="0"/>
              <a:t>电子电路原理图设计流程</a:t>
            </a:r>
            <a:br>
              <a:rPr lang="zh-CN" altLang="en-US" sz="3200" b="1" dirty="0"/>
            </a:br>
            <a:endParaRPr lang="zh-CN" altLang="en-US" sz="3200" b="1" dirty="0"/>
          </a:p>
        </p:txBody>
      </p:sp>
      <p:sp>
        <p:nvSpPr>
          <p:cNvPr id="21507" name="Rectangle 3"/>
          <p:cNvSpPr>
            <a:spLocks noGrp="1" noRot="1"/>
          </p:cNvSpPr>
          <p:nvPr>
            <p:ph idx="1"/>
          </p:nvPr>
        </p:nvSpPr>
        <p:spPr>
          <a:xfrm>
            <a:off x="419100" y="1785938"/>
            <a:ext cx="8540750" cy="3286125"/>
          </a:xfrm>
        </p:spPr>
        <p:txBody>
          <a:bodyPr vert="horz" wrap="square" lIns="91440" tIns="45720" rIns="91440" bIns="45720" anchor="t" anchorCtr="0"/>
          <a:p>
            <a:pPr eaLnBrk="1" hangingPunct="1"/>
            <a:r>
              <a:rPr lang="zh-CN" altLang="zh-CN" sz="2800" dirty="0"/>
              <a:t>电子电路设计的第一步是进行原理图设计，Proteus 7设计电路原理图的流程图如下图所示</a:t>
            </a:r>
            <a:r>
              <a:rPr lang="zh-CN" altLang="en-US" sz="2800" dirty="0"/>
              <a:t>。</a:t>
            </a:r>
            <a:endParaRPr lang="zh-CN"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0" name="对象 14"/>
          <p:cNvGraphicFramePr>
            <a:graphicFrameLocks noChangeAspect="1"/>
          </p:cNvGraphicFramePr>
          <p:nvPr/>
        </p:nvGraphicFramePr>
        <p:xfrm>
          <a:off x="2959100" y="485775"/>
          <a:ext cx="3225800" cy="5845175"/>
        </p:xfrm>
        <a:graphic>
          <a:graphicData uri="http://schemas.openxmlformats.org/presentationml/2006/ole">
            <mc:AlternateContent xmlns:mc="http://schemas.openxmlformats.org/markup-compatibility/2006">
              <mc:Choice xmlns:v="urn:schemas-microsoft-com:vml" Requires="v">
                <p:oleObj spid="_x0000_s3078" name="" r:id="rId1" imgW="3340100" imgH="7531100" progId="Visio.Drawing.11">
                  <p:embed/>
                </p:oleObj>
              </mc:Choice>
              <mc:Fallback>
                <p:oleObj name="" r:id="rId1" imgW="3340100" imgH="7531100" progId="Visio.Drawing.11">
                  <p:embed/>
                  <p:pic>
                    <p:nvPicPr>
                      <p:cNvPr id="0" name="图片 3077"/>
                      <p:cNvPicPr/>
                      <p:nvPr/>
                    </p:nvPicPr>
                    <p:blipFill>
                      <a:blip r:embed="rId2"/>
                      <a:stretch>
                        <a:fillRect/>
                      </a:stretch>
                    </p:blipFill>
                    <p:spPr>
                      <a:xfrm>
                        <a:off x="2959100" y="485775"/>
                        <a:ext cx="3225800" cy="5845175"/>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noRot="1"/>
          </p:cNvSpPr>
          <p:nvPr>
            <p:ph type="title"/>
          </p:nvPr>
        </p:nvSpPr>
        <p:spPr>
          <a:xfrm>
            <a:off x="250825" y="2143125"/>
            <a:ext cx="8540750" cy="720725"/>
          </a:xfrm>
        </p:spPr>
        <p:txBody>
          <a:bodyPr vert="horz" wrap="square" lIns="91440" tIns="45720" rIns="91440" bIns="45720" anchor="ctr" anchorCtr="0"/>
          <a:p>
            <a:pPr eaLnBrk="1" hangingPunct="1"/>
            <a:r>
              <a:rPr lang="en-US" altLang="zh-CN" sz="4000" b="1" dirty="0"/>
              <a:t>2. </a:t>
            </a:r>
            <a:r>
              <a:rPr lang="zh-CN" altLang="en-US" sz="4000" b="1" dirty="0"/>
              <a:t>仿真项目演示</a:t>
            </a:r>
            <a:br>
              <a:rPr lang="zh-CN" altLang="en-US" sz="4000" b="1" dirty="0"/>
            </a:br>
            <a:br>
              <a:rPr lang="zh-CN" altLang="en-US" sz="4000" b="1" dirty="0"/>
            </a:br>
            <a:r>
              <a:rPr lang="zh-CN" altLang="en-US" sz="4000" b="1" dirty="0"/>
              <a:t> </a:t>
            </a:r>
            <a:r>
              <a:rPr lang="en-US" altLang="zh-CN" sz="3200" b="1" dirty="0"/>
              <a:t>2.1  Proteus</a:t>
            </a:r>
            <a:r>
              <a:rPr lang="zh-CN" altLang="en-US" sz="3200" b="1" dirty="0"/>
              <a:t>软件的安装与运行</a:t>
            </a:r>
            <a:r>
              <a:rPr lang="zh-CN" altLang="en-US" b="1" dirty="0"/>
              <a:t> </a:t>
            </a:r>
            <a:br>
              <a:rPr lang="zh-CN" altLang="en-US" sz="4000" b="1" dirty="0"/>
            </a:br>
            <a:endParaRPr lang="zh-CN" altLang="en-US" sz="4000" b="1" dirty="0"/>
          </a:p>
        </p:txBody>
      </p:sp>
      <p:sp>
        <p:nvSpPr>
          <p:cNvPr id="23555" name="Rectangle 3"/>
          <p:cNvSpPr>
            <a:spLocks noGrp="1" noRot="1"/>
          </p:cNvSpPr>
          <p:nvPr>
            <p:ph idx="1"/>
          </p:nvPr>
        </p:nvSpPr>
        <p:spPr>
          <a:xfrm>
            <a:off x="250825" y="2924175"/>
            <a:ext cx="8540750" cy="4194175"/>
          </a:xfrm>
        </p:spPr>
        <p:txBody>
          <a:bodyPr vert="horz" wrap="square" lIns="91440" tIns="45720" rIns="91440" bIns="45720" anchor="t" anchorCtr="0"/>
          <a:p>
            <a:pPr eaLnBrk="1" hangingPunct="1"/>
            <a:endParaRPr lang="en-US" altLang="zh-CN" b="1" dirty="0"/>
          </a:p>
          <a:p>
            <a:pPr eaLnBrk="1" hangingPunct="1"/>
            <a:r>
              <a:rPr lang="zh-CN" altLang="zh-CN" sz="2800" dirty="0"/>
              <a:t>本课程使用的</a:t>
            </a:r>
            <a:r>
              <a:rPr lang="en-US" altLang="zh-CN" sz="2800" dirty="0"/>
              <a:t>Proteus</a:t>
            </a:r>
            <a:r>
              <a:rPr lang="zh-CN" altLang="en-US" sz="2800" dirty="0"/>
              <a:t>软件的</a:t>
            </a:r>
            <a:r>
              <a:rPr lang="zh-CN" altLang="en-GB" sz="2800" dirty="0"/>
              <a:t>版本为</a:t>
            </a:r>
            <a:r>
              <a:rPr lang="en-US" altLang="zh-CN" sz="2800" dirty="0"/>
              <a:t>8.6</a:t>
            </a:r>
            <a:r>
              <a:rPr lang="zh-CN" altLang="en-GB" sz="2800" dirty="0"/>
              <a:t>，先按要求把软件安装到计算机上，安装结束后，在桌面单击</a:t>
            </a:r>
            <a:r>
              <a:rPr lang="en-US" altLang="zh-CN" sz="2800" dirty="0"/>
              <a:t>Proteus 8 Professional</a:t>
            </a:r>
            <a:r>
              <a:rPr lang="zh-CN" altLang="en-US" sz="2800" dirty="0"/>
              <a:t>进入</a:t>
            </a:r>
            <a:r>
              <a:rPr lang="zh-CN" altLang="en-GB" sz="2800" dirty="0"/>
              <a:t>设计界面。</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3"/>
          <p:cNvSpPr>
            <a:spLocks noGrp="1" noRot="1"/>
          </p:cNvSpPr>
          <p:nvPr>
            <p:ph idx="1"/>
          </p:nvPr>
        </p:nvSpPr>
        <p:spPr>
          <a:xfrm>
            <a:off x="301625" y="549275"/>
            <a:ext cx="8540750" cy="5549900"/>
          </a:xfrm>
        </p:spPr>
        <p:txBody>
          <a:bodyPr vert="horz" wrap="square" lIns="91440" tIns="45720" rIns="91440" bIns="45720" anchor="t" anchorCtr="0"/>
          <a:p>
            <a:pPr eaLnBrk="1" hangingPunct="1"/>
            <a:r>
              <a:rPr lang="zh-CN" altLang="en-GB" sz="2400" dirty="0"/>
              <a:t>图</a:t>
            </a:r>
            <a:r>
              <a:rPr lang="en-GB" altLang="zh-CN" sz="2400" dirty="0"/>
              <a:t>1-</a:t>
            </a:r>
            <a:r>
              <a:rPr lang="en-US" altLang="en-GB" sz="2400" dirty="0"/>
              <a:t>9</a:t>
            </a:r>
            <a:r>
              <a:rPr lang="zh-CN" altLang="en-GB" sz="2400" dirty="0"/>
              <a:t>为</a:t>
            </a:r>
            <a:r>
              <a:rPr lang="en-US" altLang="zh-CN" sz="2800" dirty="0"/>
              <a:t>Proteus 8 </a:t>
            </a:r>
            <a:r>
              <a:rPr lang="zh-CN" altLang="en-GB" sz="2800" dirty="0"/>
              <a:t>运行时的界面。</a:t>
            </a:r>
            <a:endParaRPr lang="zh-CN" altLang="en-GB" sz="28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400" dirty="0"/>
          </a:p>
          <a:p>
            <a:pPr eaLnBrk="1" hangingPunct="1"/>
            <a:endParaRPr lang="zh-CN" altLang="en-GB" sz="2800" dirty="0"/>
          </a:p>
          <a:p>
            <a:pPr algn="ctr" eaLnBrk="1" hangingPunct="1"/>
            <a:r>
              <a:rPr lang="zh-CN" altLang="en-GB" sz="1800" dirty="0"/>
              <a:t>图</a:t>
            </a:r>
            <a:r>
              <a:rPr lang="en-GB" altLang="zh-CN" sz="1800" dirty="0"/>
              <a:t>1-</a:t>
            </a:r>
            <a:r>
              <a:rPr lang="en-US" altLang="en-GB" sz="1800" dirty="0"/>
              <a:t>9</a:t>
            </a:r>
            <a:r>
              <a:rPr lang="en-GB" altLang="zh-CN" sz="1800" dirty="0"/>
              <a:t> </a:t>
            </a:r>
            <a:r>
              <a:rPr lang="en-US" altLang="zh-CN" sz="1800" dirty="0"/>
              <a:t>Proteus 8 </a:t>
            </a:r>
            <a:r>
              <a:rPr lang="zh-CN" altLang="en-GB" sz="1800" dirty="0"/>
              <a:t>运行时的界面</a:t>
            </a:r>
            <a:endParaRPr lang="zh-CN" altLang="en-US" sz="1800" dirty="0"/>
          </a:p>
        </p:txBody>
      </p:sp>
      <p:sp>
        <p:nvSpPr>
          <p:cNvPr id="24579" name="Rectangle 5"/>
          <p:cNvSpPr/>
          <p:nvPr/>
        </p:nvSpPr>
        <p:spPr>
          <a:xfrm>
            <a:off x="0" y="0"/>
            <a:ext cx="9144000" cy="0"/>
          </a:xfrm>
          <a:prstGeom prst="rect">
            <a:avLst/>
          </a:prstGeom>
          <a:noFill/>
          <a:ln w="9525">
            <a:noFill/>
          </a:ln>
        </p:spPr>
        <p:txBody>
          <a:bodyPr wrap="none" anchor="ctr" anchorCtr="0">
            <a:spAutoFit/>
          </a:bodyPr>
          <a:p>
            <a:pPr eaLnBrk="1" hangingPunct="1"/>
            <a:endParaRPr lang="zh-CN" altLang="en-US" dirty="0">
              <a:latin typeface="Arial" panose="020B0604020202020204" pitchFamily="34" charset="0"/>
            </a:endParaRPr>
          </a:p>
        </p:txBody>
      </p:sp>
      <p:pic>
        <p:nvPicPr>
          <p:cNvPr id="24580" name="图片 2"/>
          <p:cNvPicPr>
            <a:picLocks noChangeAspect="1"/>
          </p:cNvPicPr>
          <p:nvPr/>
        </p:nvPicPr>
        <p:blipFill>
          <a:blip r:embed="rId1"/>
          <a:stretch>
            <a:fillRect/>
          </a:stretch>
        </p:blipFill>
        <p:spPr>
          <a:xfrm>
            <a:off x="942975" y="1484313"/>
            <a:ext cx="7258050" cy="388937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noRot="1"/>
          </p:cNvSpPr>
          <p:nvPr>
            <p:ph idx="1"/>
          </p:nvPr>
        </p:nvSpPr>
        <p:spPr>
          <a:xfrm>
            <a:off x="301625" y="549275"/>
            <a:ext cx="8540750" cy="5549900"/>
          </a:xfrm>
        </p:spPr>
        <p:txBody>
          <a:bodyPr vert="horz" wrap="square" lIns="91440" tIns="45720" rIns="91440" bIns="45720" anchor="t" anchorCtr="0"/>
          <a:p>
            <a:pPr eaLnBrk="1" hangingPunct="1">
              <a:lnSpc>
                <a:spcPct val="90000"/>
              </a:lnSpc>
            </a:pPr>
            <a:endParaRPr lang="zh-CN" altLang="en-GB" dirty="0"/>
          </a:p>
          <a:p>
            <a:pPr marL="0" indent="0" eaLnBrk="1" hangingPunct="1">
              <a:lnSpc>
                <a:spcPct val="90000"/>
              </a:lnSpc>
              <a:buNone/>
            </a:pPr>
            <a:endParaRPr lang="zh-CN" altLang="en-US" sz="2800" dirty="0"/>
          </a:p>
        </p:txBody>
      </p:sp>
      <p:sp>
        <p:nvSpPr>
          <p:cNvPr id="25603" name="Rectangle 4"/>
          <p:cNvSpPr>
            <a:spLocks noGrp="1" noRot="1"/>
          </p:cNvSpPr>
          <p:nvPr>
            <p:ph type="title"/>
          </p:nvPr>
        </p:nvSpPr>
        <p:spPr>
          <a:xfrm>
            <a:off x="323850" y="188913"/>
            <a:ext cx="8540750" cy="1143000"/>
          </a:xfrm>
        </p:spPr>
        <p:txBody>
          <a:bodyPr vert="horz" wrap="square" lIns="91440" tIns="45720" rIns="91440" bIns="45720" anchor="ctr" anchorCtr="0"/>
          <a:p>
            <a:pPr eaLnBrk="1" hangingPunct="1"/>
            <a:r>
              <a:rPr lang="en-US" altLang="zh-CN" sz="3200" dirty="0"/>
              <a:t>2.2  </a:t>
            </a:r>
            <a:r>
              <a:rPr lang="zh-CN" altLang="en-GB" sz="3200" dirty="0"/>
              <a:t>调速流水灯的</a:t>
            </a:r>
            <a:r>
              <a:rPr lang="zh-CN" altLang="en-GB" sz="3200" dirty="0"/>
              <a:t>设计与仿真</a:t>
            </a:r>
            <a:endParaRPr lang="zh-CN" altLang="en-US" sz="3200" dirty="0"/>
          </a:p>
        </p:txBody>
      </p:sp>
      <p:pic>
        <p:nvPicPr>
          <p:cNvPr id="3" name="图片 2"/>
          <p:cNvPicPr>
            <a:picLocks noChangeAspect="1"/>
          </p:cNvPicPr>
          <p:nvPr/>
        </p:nvPicPr>
        <p:blipFill>
          <a:blip r:embed="rId1"/>
          <a:stretch>
            <a:fillRect/>
          </a:stretch>
        </p:blipFill>
        <p:spPr>
          <a:xfrm>
            <a:off x="963930" y="1230630"/>
            <a:ext cx="7216140" cy="43967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noRot="1"/>
          </p:cNvSpPr>
          <p:nvPr>
            <p:ph idx="1"/>
          </p:nvPr>
        </p:nvSpPr>
        <p:spPr>
          <a:xfrm>
            <a:off x="323850" y="836930"/>
            <a:ext cx="8540750" cy="1161415"/>
          </a:xfrm>
        </p:spPr>
        <p:txBody>
          <a:bodyPr vert="horz" wrap="square" lIns="91440" tIns="45720" rIns="91440" bIns="45720" anchor="t" anchorCtr="0"/>
          <a:p>
            <a:pPr eaLnBrk="1" hangingPunct="1">
              <a:lnSpc>
                <a:spcPct val="90000"/>
              </a:lnSpc>
            </a:pPr>
            <a:r>
              <a:rPr lang="zh-CN" altLang="en-GB" sz="2800" dirty="0"/>
              <a:t>本例所用到的元件清单如表</a:t>
            </a:r>
            <a:r>
              <a:rPr lang="en-GB" altLang="zh-CN" sz="2800" dirty="0"/>
              <a:t>1-1</a:t>
            </a:r>
            <a:r>
              <a:rPr lang="zh-CN" altLang="en-GB" sz="2800" dirty="0"/>
              <a:t>所示。</a:t>
            </a:r>
            <a:endParaRPr lang="zh-CN" altLang="en-GB" sz="2800" dirty="0"/>
          </a:p>
          <a:p>
            <a:pPr algn="ctr" eaLnBrk="1" hangingPunct="1">
              <a:lnSpc>
                <a:spcPct val="90000"/>
              </a:lnSpc>
              <a:buNone/>
            </a:pPr>
            <a:endParaRPr lang="zh-CN" altLang="en-GB" sz="1800" dirty="0"/>
          </a:p>
          <a:p>
            <a:pPr algn="ctr" eaLnBrk="1" hangingPunct="1">
              <a:lnSpc>
                <a:spcPct val="90000"/>
              </a:lnSpc>
              <a:buNone/>
            </a:pPr>
            <a:r>
              <a:rPr lang="zh-CN" altLang="en-GB" sz="1800" dirty="0"/>
              <a:t>表</a:t>
            </a:r>
            <a:r>
              <a:rPr lang="en-GB" altLang="zh-CN" sz="1800" dirty="0"/>
              <a:t>1-1  </a:t>
            </a:r>
            <a:r>
              <a:rPr lang="zh-CN" altLang="en-GB" sz="1800" dirty="0"/>
              <a:t>例</a:t>
            </a:r>
            <a:r>
              <a:rPr lang="en-GB" altLang="zh-CN" sz="1800" dirty="0"/>
              <a:t>1</a:t>
            </a:r>
            <a:r>
              <a:rPr lang="zh-CN" altLang="en-GB" sz="1800" dirty="0"/>
              <a:t>的元件清单</a:t>
            </a:r>
            <a:endParaRPr lang="zh-CN" altLang="en-US" sz="1800" dirty="0"/>
          </a:p>
        </p:txBody>
      </p:sp>
      <p:graphicFrame>
        <p:nvGraphicFramePr>
          <p:cNvPr id="6" name="表格 5"/>
          <p:cNvGraphicFramePr/>
          <p:nvPr>
            <p:custDataLst>
              <p:tags r:id="rId1"/>
            </p:custDataLst>
          </p:nvPr>
        </p:nvGraphicFramePr>
        <p:xfrm>
          <a:off x="1010285" y="2092960"/>
          <a:ext cx="7569835" cy="3806190"/>
        </p:xfrm>
        <a:graphic>
          <a:graphicData uri="http://schemas.openxmlformats.org/drawingml/2006/table">
            <a:tbl>
              <a:tblPr/>
              <a:tblGrid>
                <a:gridCol w="2637155"/>
                <a:gridCol w="1870710"/>
                <a:gridCol w="765175"/>
                <a:gridCol w="765810"/>
                <a:gridCol w="765810"/>
                <a:gridCol w="765175"/>
              </a:tblGrid>
              <a:tr h="398145">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元件名</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类</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子类</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关键字</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数量</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参数</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98780">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NE555</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Analog ICs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Timers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NE555</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1</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99415">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CD4017</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CMOS 4000series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Counters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4017</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1</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706755">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电阻</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Resistors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Generic</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RES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5</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2.2K,10K,220</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98145">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可调电阻</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pot-hg</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1</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50K</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98780">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电解电容</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cap-elec</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2</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1uf</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99415">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LED</a:t>
                      </a:r>
                      <a:r>
                        <a:rPr lang="zh-CN" altLang="en-US" sz="1400" b="0" i="0">
                          <a:solidFill>
                            <a:srgbClr val="000000"/>
                          </a:solidFill>
                          <a:latin typeface="宋体" panose="02010600030101010101" pitchFamily="2" charset="-122"/>
                          <a:ea typeface="宋体" panose="02010600030101010101" pitchFamily="2" charset="-122"/>
                        </a:rPr>
                        <a:t>小灯</a:t>
                      </a:r>
                      <a:endParaRPr lang="zh-CN" altLang="en-US"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led-red</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3</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706755">
                <a:tc>
                  <a:txBody>
                    <a:bodyPr/>
                    <a:p>
                      <a:pPr marL="7620" indent="0" algn="ctr" fontAlgn="ctr"/>
                      <a:r>
                        <a:rPr lang="zh-CN" altLang="en-US" sz="1400" b="0" i="0">
                          <a:solidFill>
                            <a:srgbClr val="000000"/>
                          </a:solidFill>
                          <a:latin typeface="宋体" panose="02010600030101010101" pitchFamily="2" charset="-122"/>
                          <a:ea typeface="宋体" panose="02010600030101010101" pitchFamily="2" charset="-122"/>
                        </a:rPr>
                        <a:t>接线端子</a:t>
                      </a:r>
                      <a:r>
                        <a:rPr lang="en-US" altLang="zh-CN" sz="1400" b="0" i="0">
                          <a:solidFill>
                            <a:srgbClr val="000000"/>
                          </a:solidFill>
                          <a:latin typeface="宋体" panose="02010600030101010101" pitchFamily="2" charset="-122"/>
                          <a:ea typeface="宋体" panose="02010600030101010101" pitchFamily="2" charset="-122"/>
                        </a:rPr>
                        <a:t>J1</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Connectors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header blocks</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conn-h2</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r>
                        <a:rPr lang="en-US" altLang="zh-CN" sz="1400" b="0" i="0">
                          <a:solidFill>
                            <a:srgbClr val="000000"/>
                          </a:solidFill>
                          <a:latin typeface="宋体" panose="02010600030101010101" pitchFamily="2" charset="-122"/>
                          <a:ea typeface="宋体" panose="02010600030101010101" pitchFamily="2" charset="-122"/>
                        </a:rPr>
                        <a:t>1</a:t>
                      </a:r>
                      <a:endParaRPr lang="en-US" altLang="zh-CN"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7620" indent="0" algn="ctr" fontAlgn="ctr"/>
                      <a:endParaRPr sz="1400" b="0" i="0">
                        <a:solidFill>
                          <a:srgbClr val="000000"/>
                        </a:solidFill>
                        <a:latin typeface="宋体" panose="02010600030101010101" pitchFamily="2" charset="-122"/>
                        <a:ea typeface="宋体" panose="02010600030101010101" pitchFamily="2" charset="-122"/>
                      </a:endParaRPr>
                    </a:p>
                  </a:txBody>
                  <a:tcPr marL="7937" marR="7937" marT="793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noRot="1"/>
          </p:cNvSpPr>
          <p:nvPr>
            <p:ph idx="1"/>
          </p:nvPr>
        </p:nvSpPr>
        <p:spPr>
          <a:xfrm>
            <a:off x="301625" y="549275"/>
            <a:ext cx="8540750" cy="5549900"/>
          </a:xfrm>
        </p:spPr>
        <p:txBody>
          <a:bodyPr vert="horz" wrap="square" lIns="91440" tIns="45720" rIns="91440" bIns="45720" anchor="t" anchorCtr="0"/>
          <a:p>
            <a:pPr eaLnBrk="1" hangingPunct="1">
              <a:lnSpc>
                <a:spcPct val="90000"/>
              </a:lnSpc>
            </a:pPr>
            <a:endParaRPr lang="zh-CN" altLang="en-GB" dirty="0"/>
          </a:p>
          <a:p>
            <a:pPr marL="0" indent="0" eaLnBrk="1" hangingPunct="1">
              <a:lnSpc>
                <a:spcPct val="90000"/>
              </a:lnSpc>
              <a:buNone/>
            </a:pPr>
            <a:endParaRPr lang="zh-CN" altLang="en-US" sz="2800" dirty="0"/>
          </a:p>
        </p:txBody>
      </p:sp>
      <p:sp>
        <p:nvSpPr>
          <p:cNvPr id="25603" name="Rectangle 4"/>
          <p:cNvSpPr>
            <a:spLocks noGrp="1" noRot="1"/>
          </p:cNvSpPr>
          <p:nvPr>
            <p:ph type="title"/>
          </p:nvPr>
        </p:nvSpPr>
        <p:spPr>
          <a:xfrm>
            <a:off x="323850" y="188913"/>
            <a:ext cx="8540750" cy="1143000"/>
          </a:xfrm>
        </p:spPr>
        <p:txBody>
          <a:bodyPr vert="horz" wrap="square" lIns="91440" tIns="45720" rIns="91440" bIns="45720" anchor="ctr" anchorCtr="0"/>
          <a:p>
            <a:pPr eaLnBrk="1" hangingPunct="1"/>
            <a:r>
              <a:rPr lang="en-US" altLang="zh-CN" sz="3200" dirty="0"/>
              <a:t>2.2  </a:t>
            </a:r>
            <a:r>
              <a:rPr lang="zh-CN" altLang="en-GB" sz="3200" dirty="0"/>
              <a:t>调速流水灯的</a:t>
            </a:r>
            <a:r>
              <a:rPr lang="zh-CN" altLang="en-GB" sz="3200" dirty="0"/>
              <a:t>设计与仿真</a:t>
            </a:r>
            <a:endParaRPr lang="zh-CN" altLang="en-US" sz="3200" dirty="0"/>
          </a:p>
        </p:txBody>
      </p:sp>
      <p:pic>
        <p:nvPicPr>
          <p:cNvPr id="2" name="图片 1"/>
          <p:cNvPicPr>
            <a:picLocks noChangeAspect="1"/>
          </p:cNvPicPr>
          <p:nvPr/>
        </p:nvPicPr>
        <p:blipFill>
          <a:blip r:embed="rId1"/>
          <a:stretch>
            <a:fillRect/>
          </a:stretch>
        </p:blipFill>
        <p:spPr>
          <a:xfrm>
            <a:off x="301625" y="1229995"/>
            <a:ext cx="8641080" cy="4869180"/>
          </a:xfrm>
          <a:prstGeom prst="rect">
            <a:avLst/>
          </a:prstGeom>
        </p:spPr>
      </p:pic>
    </p:spTree>
  </p:cSld>
  <p:clrMapOvr>
    <a:masterClrMapping/>
  </p:clrMapOvr>
</p:sld>
</file>

<file path=ppt/tags/tag1.xml><?xml version="1.0" encoding="utf-8"?>
<p:tagLst xmlns:p="http://schemas.openxmlformats.org/presentationml/2006/main">
  <p:tag name="TABLE_ENDDRAG_ORIGIN_RECT" val="596*299"/>
  <p:tag name="TABLE_ENDDRAG_RECT" val="79*164*596*299"/>
</p:tagLst>
</file>

<file path=ppt/tags/tag2.xml><?xml version="1.0" encoding="utf-8"?>
<p:tagLst xmlns:p="http://schemas.openxmlformats.org/presentationml/2006/main">
  <p:tag name="commondata" val="eyJoZGlkIjoiY2ZhNWIxZGI2YjJmYzcxMmM0NmI3YzIxZDgwYWI5YmMifQ=="/>
</p:tagLst>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CDESIGNL</Template>
  <TotalTime>0</TotalTime>
  <Words>2715</Words>
  <Application>WPS 演示</Application>
  <PresentationFormat>全屏显示(4:3)</PresentationFormat>
  <Paragraphs>219</Paragraphs>
  <Slides>23</Slides>
  <Notes>0</Notes>
  <HiddenSlides>0</HiddenSlides>
  <MMClips>0</MMClips>
  <ScaleCrop>false</ScaleCrop>
  <HeadingPairs>
    <vt:vector size="8" baseType="variant">
      <vt:variant>
        <vt:lpstr>已用的字体</vt:lpstr>
      </vt:variant>
      <vt:variant>
        <vt:i4>6</vt:i4>
      </vt:variant>
      <vt:variant>
        <vt:lpstr>主题</vt:lpstr>
      </vt:variant>
      <vt:variant>
        <vt:i4>3</vt:i4>
      </vt:variant>
      <vt:variant>
        <vt:lpstr>嵌入 OLE 服务器</vt:lpstr>
      </vt:variant>
      <vt:variant>
        <vt:i4>6</vt:i4>
      </vt:variant>
      <vt:variant>
        <vt:lpstr>幻灯片标题</vt:lpstr>
      </vt:variant>
      <vt:variant>
        <vt:i4>23</vt:i4>
      </vt:variant>
    </vt:vector>
  </HeadingPairs>
  <TitlesOfParts>
    <vt:vector size="38" baseType="lpstr">
      <vt:lpstr>Arial</vt:lpstr>
      <vt:lpstr>宋体</vt:lpstr>
      <vt:lpstr>Wingdings</vt:lpstr>
      <vt:lpstr>微软雅黑</vt:lpstr>
      <vt:lpstr>Arial Unicode MS</vt:lpstr>
      <vt:lpstr>Calibri</vt:lpstr>
      <vt:lpstr>诗情画意</vt:lpstr>
      <vt:lpstr>1_诗情画意</vt:lpstr>
      <vt:lpstr>2_诗情画意</vt:lpstr>
      <vt:lpstr>Word.Picture.8</vt:lpstr>
      <vt:lpstr>Word.Picture.8</vt:lpstr>
      <vt:lpstr>Word.Picture.8</vt:lpstr>
      <vt:lpstr>Word.Picture.8</vt:lpstr>
      <vt:lpstr>Word.Picture.8</vt:lpstr>
      <vt:lpstr>Visio.Drawing.11</vt:lpstr>
      <vt:lpstr> 电子电路仿真设计与制作 之Proteus快速入门  </vt:lpstr>
      <vt:lpstr>1. Proteus整体功能预览</vt:lpstr>
      <vt:lpstr>1.1 Proteus的功能分布 </vt:lpstr>
      <vt:lpstr>PowerPoint 演示文稿</vt:lpstr>
      <vt:lpstr>PowerPoint 演示文稿</vt:lpstr>
      <vt:lpstr>PowerPoint 演示文稿</vt:lpstr>
      <vt:lpstr>1.2  Proteus VSM仿真与分析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  Proteus ARES的应用预览功能 </vt:lpstr>
      <vt:lpstr>PowerPoint 演示文稿</vt:lpstr>
      <vt:lpstr>1.4  电子电路原理图设计流程 </vt:lpstr>
      <vt:lpstr>PowerPoint 演示文稿</vt:lpstr>
      <vt:lpstr>2. 仿真项目演示   2.1  Proteus软件的安装与运行  </vt:lpstr>
      <vt:lpstr>PowerPoint 演示文稿</vt:lpstr>
      <vt:lpstr>2.2  调速流水灯的设计与仿真</vt:lpstr>
      <vt:lpstr>PowerPoint 演示文稿</vt:lpstr>
      <vt:lpstr>2.2  调速流水灯的设计与仿真</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system</dc:creator>
  <cp:lastModifiedBy>admin</cp:lastModifiedBy>
  <cp:revision>263</cp:revision>
  <dcterms:created xsi:type="dcterms:W3CDTF">2008-10-15T13:03:00Z</dcterms:created>
  <dcterms:modified xsi:type="dcterms:W3CDTF">2024-06-24T05:15:00Z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86280FB253364720B80FED001BD57601_12</vt:lpwstr>
  </property>
</Properties>
</file>