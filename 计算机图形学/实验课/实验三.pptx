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63" r:id="rId2"/>
    <p:sldId id="359" r:id="rId3"/>
    <p:sldId id="405" r:id="rId4"/>
    <p:sldId id="422" r:id="rId5"/>
    <p:sldId id="425" r:id="rId6"/>
    <p:sldId id="423" r:id="rId7"/>
    <p:sldId id="407" r:id="rId8"/>
    <p:sldId id="426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1194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A2A70E-1D23-4F20-B067-A126848AFB6E}" type="datetimeFigureOut">
              <a:rPr lang="LID4096" smtClean="0"/>
              <a:t>11/10/2025</a:t>
            </a:fld>
            <a:endParaRPr lang="LID4096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59F62-8810-4656-86AF-4F4AF443994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05243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ts val="2000"/>
              </a:lnSpc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我将从以下四个方面对论文进行讲解。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ts val="2000"/>
              </a:lnSpc>
            </a:pPr>
            <a:endParaRPr lang="en-US" altLang="zh-CN" sz="18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ts val="2000"/>
              </a:lnSpc>
            </a:pPr>
            <a:r>
              <a:rPr lang="zh-CN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首先是研究背景与</a:t>
            </a:r>
            <a:r>
              <a:rPr lang="zh-CN" altLang="en-US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意义</a:t>
            </a:r>
            <a:r>
              <a:rPr lang="zh-CN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部分。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1EDE8F-5748-564A-B104-45C8D6344219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85899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接下来我将介绍基于神经隐式场的模糊多视图三维重建方法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1EDE8F-5748-564A-B104-45C8D6344219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741322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为了进一步提升重建质量，我们提出了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1EDE8F-5748-564A-B104-45C8D6344219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41520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1段文字版式"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EB1C1E4-16D8-4400-83B2-19E2BDAB4E86}"/>
              </a:ext>
            </a:extLst>
          </p:cNvPr>
          <p:cNvSpPr/>
          <p:nvPr userDrawn="1"/>
        </p:nvSpPr>
        <p:spPr>
          <a:xfrm>
            <a:off x="1" y="267172"/>
            <a:ext cx="9486459" cy="579395"/>
          </a:xfrm>
          <a:custGeom>
            <a:avLst/>
            <a:gdLst>
              <a:gd name="connsiteX0" fmla="*/ 9472293 w 9486459"/>
              <a:gd name="connsiteY0" fmla="*/ 0 h 579395"/>
              <a:gd name="connsiteX1" fmla="*/ 9486459 w 9486459"/>
              <a:gd name="connsiteY1" fmla="*/ 0 h 579395"/>
              <a:gd name="connsiteX2" fmla="*/ 9122539 w 9486459"/>
              <a:gd name="connsiteY2" fmla="*/ 579395 h 579395"/>
              <a:gd name="connsiteX3" fmla="*/ 9108373 w 9486459"/>
              <a:gd name="connsiteY3" fmla="*/ 579395 h 579395"/>
              <a:gd name="connsiteX4" fmla="*/ 9383852 w 9486459"/>
              <a:gd name="connsiteY4" fmla="*/ 0 h 579395"/>
              <a:gd name="connsiteX5" fmla="*/ 9434831 w 9486459"/>
              <a:gd name="connsiteY5" fmla="*/ 0 h 579395"/>
              <a:gd name="connsiteX6" fmla="*/ 9070911 w 9486459"/>
              <a:gd name="connsiteY6" fmla="*/ 579395 h 579395"/>
              <a:gd name="connsiteX7" fmla="*/ 9019932 w 9486459"/>
              <a:gd name="connsiteY7" fmla="*/ 579395 h 579395"/>
              <a:gd name="connsiteX8" fmla="*/ 0 w 9486459"/>
              <a:gd name="connsiteY8" fmla="*/ 0 h 579395"/>
              <a:gd name="connsiteX9" fmla="*/ 9345418 w 9486459"/>
              <a:gd name="connsiteY9" fmla="*/ 0 h 579395"/>
              <a:gd name="connsiteX10" fmla="*/ 8977879 w 9486459"/>
              <a:gd name="connsiteY10" fmla="*/ 579395 h 579395"/>
              <a:gd name="connsiteX11" fmla="*/ 0 w 9486459"/>
              <a:gd name="connsiteY11" fmla="*/ 579395 h 579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86459" h="579395">
                <a:moveTo>
                  <a:pt x="9472293" y="0"/>
                </a:moveTo>
                <a:lnTo>
                  <a:pt x="9486459" y="0"/>
                </a:lnTo>
                <a:lnTo>
                  <a:pt x="9122539" y="579395"/>
                </a:lnTo>
                <a:lnTo>
                  <a:pt x="9108373" y="579395"/>
                </a:lnTo>
                <a:close/>
                <a:moveTo>
                  <a:pt x="9383852" y="0"/>
                </a:moveTo>
                <a:lnTo>
                  <a:pt x="9434831" y="0"/>
                </a:lnTo>
                <a:lnTo>
                  <a:pt x="9070911" y="579395"/>
                </a:lnTo>
                <a:lnTo>
                  <a:pt x="9019932" y="579395"/>
                </a:lnTo>
                <a:close/>
                <a:moveTo>
                  <a:pt x="0" y="0"/>
                </a:moveTo>
                <a:lnTo>
                  <a:pt x="9345418" y="0"/>
                </a:lnTo>
                <a:lnTo>
                  <a:pt x="8977879" y="579395"/>
                </a:lnTo>
                <a:lnTo>
                  <a:pt x="0" y="579395"/>
                </a:lnTo>
                <a:close/>
              </a:path>
            </a:pathLst>
          </a:custGeom>
          <a:pattFill prst="wdUpDiag">
            <a:fgClr>
              <a:srgbClr val="00449A"/>
            </a:fgClr>
            <a:bgClr>
              <a:srgbClr val="003A8F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zh-CN" altLang="en-US" sz="2400" dirty="0">
              <a:solidFill>
                <a:srgbClr val="0064B8"/>
              </a:solidFill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7A9B3C1-EAE5-4992-9CE3-B054ECE4B127}"/>
              </a:ext>
            </a:extLst>
          </p:cNvPr>
          <p:cNvGrpSpPr/>
          <p:nvPr userDrawn="1"/>
        </p:nvGrpSpPr>
        <p:grpSpPr>
          <a:xfrm>
            <a:off x="443029" y="435931"/>
            <a:ext cx="257171" cy="208413"/>
            <a:chOff x="337460" y="322200"/>
            <a:chExt cx="257171" cy="208413"/>
          </a:xfrm>
        </p:grpSpPr>
        <p:sp>
          <p:nvSpPr>
            <p:cNvPr id="5" name="箭头: V 形 4">
              <a:extLst>
                <a:ext uri="{FF2B5EF4-FFF2-40B4-BE49-F238E27FC236}">
                  <a16:creationId xmlns:a16="http://schemas.microsoft.com/office/drawing/2014/main" id="{ED414452-982A-4EF9-A10B-0FC663A1F802}"/>
                </a:ext>
              </a:extLst>
            </p:cNvPr>
            <p:cNvSpPr/>
            <p:nvPr userDrawn="1"/>
          </p:nvSpPr>
          <p:spPr>
            <a:xfrm>
              <a:off x="424769" y="322200"/>
              <a:ext cx="169862" cy="208413"/>
            </a:xfrm>
            <a:prstGeom prst="chevron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B139461D-DC28-4032-8E25-A81C66A3005D}"/>
                </a:ext>
              </a:extLst>
            </p:cNvPr>
            <p:cNvSpPr/>
            <p:nvPr userDrawn="1"/>
          </p:nvSpPr>
          <p:spPr>
            <a:xfrm>
              <a:off x="371973" y="322200"/>
              <a:ext cx="120110" cy="208413"/>
            </a:xfrm>
            <a:custGeom>
              <a:avLst/>
              <a:gdLst>
                <a:gd name="connsiteX0" fmla="*/ 0 w 120110"/>
                <a:gd name="connsiteY0" fmla="*/ 0 h 208413"/>
                <a:gd name="connsiteX1" fmla="*/ 35179 w 120110"/>
                <a:gd name="connsiteY1" fmla="*/ 0 h 208413"/>
                <a:gd name="connsiteX2" fmla="*/ 120110 w 120110"/>
                <a:gd name="connsiteY2" fmla="*/ 104207 h 208413"/>
                <a:gd name="connsiteX3" fmla="*/ 35179 w 120110"/>
                <a:gd name="connsiteY3" fmla="*/ 208413 h 208413"/>
                <a:gd name="connsiteX4" fmla="*/ 0 w 120110"/>
                <a:gd name="connsiteY4" fmla="*/ 208413 h 208413"/>
                <a:gd name="connsiteX5" fmla="*/ 84931 w 120110"/>
                <a:gd name="connsiteY5" fmla="*/ 104207 h 208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0110" h="208413">
                  <a:moveTo>
                    <a:pt x="0" y="0"/>
                  </a:moveTo>
                  <a:lnTo>
                    <a:pt x="35179" y="0"/>
                  </a:lnTo>
                  <a:lnTo>
                    <a:pt x="120110" y="104207"/>
                  </a:lnTo>
                  <a:lnTo>
                    <a:pt x="35179" y="208413"/>
                  </a:lnTo>
                  <a:lnTo>
                    <a:pt x="0" y="208413"/>
                  </a:lnTo>
                  <a:lnTo>
                    <a:pt x="84931" y="1042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A158F6B1-8486-4860-A537-7D0ACD816591}"/>
                </a:ext>
              </a:extLst>
            </p:cNvPr>
            <p:cNvSpPr/>
            <p:nvPr userDrawn="1"/>
          </p:nvSpPr>
          <p:spPr>
            <a:xfrm>
              <a:off x="337460" y="322200"/>
              <a:ext cx="101826" cy="208413"/>
            </a:xfrm>
            <a:custGeom>
              <a:avLst/>
              <a:gdLst>
                <a:gd name="connsiteX0" fmla="*/ 0 w 101826"/>
                <a:gd name="connsiteY0" fmla="*/ 0 h 208413"/>
                <a:gd name="connsiteX1" fmla="*/ 16895 w 101826"/>
                <a:gd name="connsiteY1" fmla="*/ 0 h 208413"/>
                <a:gd name="connsiteX2" fmla="*/ 101826 w 101826"/>
                <a:gd name="connsiteY2" fmla="*/ 104207 h 208413"/>
                <a:gd name="connsiteX3" fmla="*/ 16895 w 101826"/>
                <a:gd name="connsiteY3" fmla="*/ 208413 h 208413"/>
                <a:gd name="connsiteX4" fmla="*/ 0 w 101826"/>
                <a:gd name="connsiteY4" fmla="*/ 208413 h 208413"/>
                <a:gd name="connsiteX5" fmla="*/ 84931 w 101826"/>
                <a:gd name="connsiteY5" fmla="*/ 104207 h 208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1826" h="208413">
                  <a:moveTo>
                    <a:pt x="0" y="0"/>
                  </a:moveTo>
                  <a:lnTo>
                    <a:pt x="16895" y="0"/>
                  </a:lnTo>
                  <a:lnTo>
                    <a:pt x="101826" y="104207"/>
                  </a:lnTo>
                  <a:lnTo>
                    <a:pt x="16895" y="208413"/>
                  </a:lnTo>
                  <a:lnTo>
                    <a:pt x="0" y="208413"/>
                  </a:lnTo>
                  <a:lnTo>
                    <a:pt x="84931" y="1042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3E968C60-CB21-4764-85B6-EE8EC737FEF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0400" y="315249"/>
            <a:ext cx="7601971" cy="50783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800" b="1" spc="300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 sz="2800" b="1">
                <a:solidFill>
                  <a:schemeClr val="bg1"/>
                </a:solidFill>
                <a:latin typeface="+mj-ea"/>
                <a:ea typeface="+mj-ea"/>
              </a:defRPr>
            </a:lvl2pPr>
            <a:lvl3pPr marL="914400" indent="0">
              <a:buFontTx/>
              <a:buNone/>
              <a:defRPr sz="2800" b="1">
                <a:solidFill>
                  <a:schemeClr val="bg1"/>
                </a:solidFill>
                <a:latin typeface="+mj-ea"/>
                <a:ea typeface="+mj-ea"/>
              </a:defRPr>
            </a:lvl3pPr>
            <a:lvl4pPr marL="1371600" indent="0">
              <a:buFontTx/>
              <a:buNone/>
              <a:defRPr sz="2800" b="1">
                <a:solidFill>
                  <a:schemeClr val="bg1"/>
                </a:solidFill>
                <a:latin typeface="+mj-ea"/>
                <a:ea typeface="+mj-ea"/>
              </a:defRPr>
            </a:lvl4pPr>
            <a:lvl5pPr marL="1828800" indent="0">
              <a:buFontTx/>
              <a:buNone/>
              <a:defRPr sz="2800" b="1">
                <a:solidFill>
                  <a:schemeClr val="bg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en-US" altLang="zh-CN" dirty="0"/>
              <a:t>Click to edit Master title style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E7659D1-DC79-4048-8A8E-81552DCBBA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95817" y="191044"/>
            <a:ext cx="1953154" cy="61640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198C3D8-107A-6108-E1F0-7E617FB0F684}"/>
              </a:ext>
            </a:extLst>
          </p:cNvPr>
          <p:cNvSpPr/>
          <p:nvPr userDrawn="1"/>
        </p:nvSpPr>
        <p:spPr>
          <a:xfrm>
            <a:off x="5133728" y="6289530"/>
            <a:ext cx="1906169" cy="461665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zh-CN" altLang="en-US" sz="1200" b="1" spc="300" dirty="0">
                <a:solidFill>
                  <a:schemeClr val="tx2"/>
                </a:solidFill>
                <a:latin typeface="+mj-ea"/>
                <a:ea typeface="+mj-ea"/>
              </a:rPr>
              <a:t>耐劳苦 尚俭朴</a:t>
            </a:r>
            <a:endParaRPr lang="en-US" altLang="zh-CN" sz="1200" b="1" spc="300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ctr"/>
            <a:r>
              <a:rPr lang="zh-CN" altLang="en-US" sz="1200" b="1" spc="300" dirty="0">
                <a:solidFill>
                  <a:schemeClr val="tx2"/>
                </a:solidFill>
                <a:latin typeface="+mj-ea"/>
                <a:ea typeface="+mj-ea"/>
              </a:rPr>
              <a:t>勤学业 爱国家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A9B4974C-89A1-E24C-F4FE-943C1816C117}"/>
              </a:ext>
            </a:extLst>
          </p:cNvPr>
          <p:cNvGrpSpPr/>
          <p:nvPr userDrawn="1"/>
        </p:nvGrpSpPr>
        <p:grpSpPr>
          <a:xfrm>
            <a:off x="666750" y="6520363"/>
            <a:ext cx="10858500" cy="0"/>
            <a:chOff x="666750" y="6520363"/>
            <a:chExt cx="10858500" cy="0"/>
          </a:xfrm>
        </p:grpSpPr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E91BED04-3B8B-C7B9-4BED-F1E485FC86A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7049084" y="6520363"/>
              <a:ext cx="4476166" cy="0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C4F5F009-0DBC-2C0F-21A5-E4A19BE2FA3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666750" y="6520363"/>
              <a:ext cx="4476166" cy="0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62875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>
            <p:custDataLst>
              <p:tags r:id="rId1"/>
            </p:custDataLst>
          </p:nvPr>
        </p:nvCxnSpPr>
        <p:spPr>
          <a:xfrm>
            <a:off x="1137115" y="4273867"/>
            <a:ext cx="9582785" cy="6985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1020686" y="2736763"/>
            <a:ext cx="9542145" cy="1268617"/>
          </a:xfrm>
          <a:prstGeom prst="rect">
            <a:avLst/>
          </a:prstGeom>
          <a:effectLst/>
        </p:spPr>
        <p:txBody>
          <a:bodyPr wrap="square" lIns="97200" tIns="45720" rIns="91440" b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3600" b="1" spc="100" dirty="0">
                <a:solidFill>
                  <a:srgbClr val="002060"/>
                </a:solidFill>
                <a:effectLst>
                  <a:outerShdw blurRad="12700" dist="12700" dir="2700000" algn="tl">
                    <a:srgbClr val="000000">
                      <a:alpha val="41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实验三</a:t>
            </a:r>
            <a:endParaRPr lang="en-US" altLang="zh-CN" sz="3600" b="1" spc="100" dirty="0">
              <a:solidFill>
                <a:srgbClr val="002060"/>
              </a:solidFill>
              <a:effectLst>
                <a:outerShdw blurRad="12700" dist="12700" dir="2700000" algn="tl">
                  <a:srgbClr val="000000">
                    <a:alpha val="41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  <a:p>
            <a:pPr algn="ctr">
              <a:lnSpc>
                <a:spcPct val="110000"/>
              </a:lnSpc>
            </a:pPr>
            <a:r>
              <a:rPr lang="zh-CN" altLang="en-US" sz="3600" b="1" spc="100">
                <a:solidFill>
                  <a:srgbClr val="002060"/>
                </a:solidFill>
                <a:effectLst>
                  <a:outerShdw blurRad="12700" dist="12700" dir="2700000" algn="tl">
                    <a:srgbClr val="000000">
                      <a:alpha val="41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光线</a:t>
            </a:r>
            <a:r>
              <a:rPr lang="zh-CN" altLang="en-US" sz="3600" b="1" spc="100" dirty="0">
                <a:solidFill>
                  <a:srgbClr val="002060"/>
                </a:solidFill>
                <a:effectLst>
                  <a:outerShdw blurRad="12700" dist="12700" dir="2700000" algn="tl">
                    <a:srgbClr val="000000">
                      <a:alpha val="41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与三角形相交</a:t>
            </a:r>
            <a:endParaRPr lang="en-US" altLang="zh-CN" sz="3600" b="1" spc="100" dirty="0">
              <a:solidFill>
                <a:srgbClr val="002060"/>
              </a:solidFill>
              <a:effectLst>
                <a:outerShdw blurRad="12700" dist="12700" dir="2700000" algn="tl">
                  <a:srgbClr val="000000">
                    <a:alpha val="41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A094363-AB8A-45FA-AFC1-540AFF6AF3D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0402" y="1138814"/>
            <a:ext cx="1424537" cy="143843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5F4DF14-5B86-4310-B515-4B83928BC02D}"/>
              </a:ext>
            </a:extLst>
          </p:cNvPr>
          <p:cNvSpPr txBox="1"/>
          <p:nvPr/>
        </p:nvSpPr>
        <p:spPr>
          <a:xfrm>
            <a:off x="4280283" y="4488873"/>
            <a:ext cx="31647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spc="100" dirty="0">
                <a:solidFill>
                  <a:srgbClr val="002060"/>
                </a:solidFill>
                <a:effectLst>
                  <a:outerShdw blurRad="12700" dist="12700" dir="2700000" algn="tl">
                    <a:srgbClr val="000000">
                      <a:alpha val="41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</a:rPr>
              <a:t>计算机图形学，</a:t>
            </a:r>
            <a:r>
              <a:rPr lang="en-US" altLang="zh-CN" sz="1600" b="1" spc="100" dirty="0">
                <a:solidFill>
                  <a:srgbClr val="002060"/>
                </a:solidFill>
                <a:effectLst>
                  <a:outerShdw blurRad="12700" dist="12700" dir="2700000" algn="tl">
                    <a:srgbClr val="000000">
                      <a:alpha val="41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</a:rPr>
              <a:t>2025</a:t>
            </a:r>
            <a:r>
              <a:rPr lang="zh-CN" altLang="en-US" sz="1600" b="1" spc="100" dirty="0">
                <a:solidFill>
                  <a:srgbClr val="002060"/>
                </a:solidFill>
                <a:effectLst>
                  <a:outerShdw blurRad="12700" dist="12700" dir="2700000" algn="tl">
                    <a:srgbClr val="000000">
                      <a:alpha val="41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</a:rPr>
              <a:t>年秋季</a:t>
            </a:r>
            <a:endParaRPr lang="LID4096" sz="1600" b="1" spc="100" dirty="0">
              <a:solidFill>
                <a:srgbClr val="002060"/>
              </a:solidFill>
              <a:effectLst>
                <a:outerShdw blurRad="12700" dist="12700" dir="2700000" algn="tl">
                  <a:srgbClr val="000000">
                    <a:alpha val="41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k object 22">
            <a:extLst>
              <a:ext uri="{FF2B5EF4-FFF2-40B4-BE49-F238E27FC236}">
                <a16:creationId xmlns:a16="http://schemas.microsoft.com/office/drawing/2014/main" id="{7A4C4035-71CE-85F8-67B0-8896A9E46BE2}"/>
              </a:ext>
            </a:extLst>
          </p:cNvPr>
          <p:cNvSpPr/>
          <p:nvPr/>
        </p:nvSpPr>
        <p:spPr>
          <a:xfrm>
            <a:off x="1453890" y="2545080"/>
            <a:ext cx="8464175" cy="611505"/>
          </a:xfrm>
          <a:custGeom>
            <a:avLst/>
            <a:gdLst/>
            <a:ahLst/>
            <a:cxnLst/>
            <a:rect l="l" t="t" r="r" b="b"/>
            <a:pathLst>
              <a:path w="5043170" h="611505">
                <a:moveTo>
                  <a:pt x="4737354" y="0"/>
                </a:moveTo>
                <a:lnTo>
                  <a:pt x="305562" y="0"/>
                </a:lnTo>
                <a:lnTo>
                  <a:pt x="255991" y="3998"/>
                </a:lnTo>
                <a:lnTo>
                  <a:pt x="208970" y="15575"/>
                </a:lnTo>
                <a:lnTo>
                  <a:pt x="165127" y="34101"/>
                </a:lnTo>
                <a:lnTo>
                  <a:pt x="125089" y="58948"/>
                </a:lnTo>
                <a:lnTo>
                  <a:pt x="89487" y="89487"/>
                </a:lnTo>
                <a:lnTo>
                  <a:pt x="58948" y="125089"/>
                </a:lnTo>
                <a:lnTo>
                  <a:pt x="34101" y="165127"/>
                </a:lnTo>
                <a:lnTo>
                  <a:pt x="15575" y="208970"/>
                </a:lnTo>
                <a:lnTo>
                  <a:pt x="3998" y="255991"/>
                </a:lnTo>
                <a:lnTo>
                  <a:pt x="0" y="305562"/>
                </a:lnTo>
                <a:lnTo>
                  <a:pt x="3998" y="355132"/>
                </a:lnTo>
                <a:lnTo>
                  <a:pt x="15575" y="402153"/>
                </a:lnTo>
                <a:lnTo>
                  <a:pt x="34101" y="445996"/>
                </a:lnTo>
                <a:lnTo>
                  <a:pt x="58948" y="486034"/>
                </a:lnTo>
                <a:lnTo>
                  <a:pt x="89487" y="521636"/>
                </a:lnTo>
                <a:lnTo>
                  <a:pt x="125089" y="552175"/>
                </a:lnTo>
                <a:lnTo>
                  <a:pt x="165127" y="577022"/>
                </a:lnTo>
                <a:lnTo>
                  <a:pt x="208970" y="595548"/>
                </a:lnTo>
                <a:lnTo>
                  <a:pt x="255991" y="607125"/>
                </a:lnTo>
                <a:lnTo>
                  <a:pt x="305562" y="611124"/>
                </a:lnTo>
                <a:lnTo>
                  <a:pt x="4737354" y="611124"/>
                </a:lnTo>
                <a:lnTo>
                  <a:pt x="4786924" y="607125"/>
                </a:lnTo>
                <a:lnTo>
                  <a:pt x="4833945" y="595548"/>
                </a:lnTo>
                <a:lnTo>
                  <a:pt x="4877788" y="577022"/>
                </a:lnTo>
                <a:lnTo>
                  <a:pt x="4917826" y="552175"/>
                </a:lnTo>
                <a:lnTo>
                  <a:pt x="4953428" y="521636"/>
                </a:lnTo>
                <a:lnTo>
                  <a:pt x="4983967" y="486034"/>
                </a:lnTo>
                <a:lnTo>
                  <a:pt x="5008814" y="445996"/>
                </a:lnTo>
                <a:lnTo>
                  <a:pt x="5027340" y="402153"/>
                </a:lnTo>
                <a:lnTo>
                  <a:pt x="5038917" y="355132"/>
                </a:lnTo>
                <a:lnTo>
                  <a:pt x="5042916" y="305562"/>
                </a:lnTo>
                <a:lnTo>
                  <a:pt x="5038917" y="255991"/>
                </a:lnTo>
                <a:lnTo>
                  <a:pt x="5027340" y="208970"/>
                </a:lnTo>
                <a:lnTo>
                  <a:pt x="5008814" y="165127"/>
                </a:lnTo>
                <a:lnTo>
                  <a:pt x="4983967" y="125089"/>
                </a:lnTo>
                <a:lnTo>
                  <a:pt x="4953428" y="89487"/>
                </a:lnTo>
                <a:lnTo>
                  <a:pt x="4917826" y="58948"/>
                </a:lnTo>
                <a:lnTo>
                  <a:pt x="4877788" y="34101"/>
                </a:lnTo>
                <a:lnTo>
                  <a:pt x="4833945" y="15575"/>
                </a:lnTo>
                <a:lnTo>
                  <a:pt x="4786924" y="3998"/>
                </a:lnTo>
                <a:lnTo>
                  <a:pt x="4737354" y="0"/>
                </a:lnTo>
                <a:close/>
              </a:path>
            </a:pathLst>
          </a:custGeom>
          <a:solidFill>
            <a:srgbClr val="DEE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5F3505FC-0AA7-DE6C-199A-F95349DDA899}"/>
              </a:ext>
            </a:extLst>
          </p:cNvPr>
          <p:cNvSpPr txBox="1">
            <a:spLocks/>
          </p:cNvSpPr>
          <p:nvPr/>
        </p:nvSpPr>
        <p:spPr>
          <a:xfrm>
            <a:off x="660399" y="304856"/>
            <a:ext cx="7601971" cy="50783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b="1" kern="1200" spc="3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800" b="1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800" b="1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800" b="1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800" b="1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 </a:t>
            </a:r>
            <a:r>
              <a:rPr lang="zh-CN" altLang="en-US" sz="2400" dirty="0"/>
              <a:t>目录</a:t>
            </a:r>
            <a:endParaRPr lang="en-US" dirty="0"/>
          </a:p>
        </p:txBody>
      </p:sp>
      <p:sp>
        <p:nvSpPr>
          <p:cNvPr id="12" name="bk object 21">
            <a:extLst>
              <a:ext uri="{FF2B5EF4-FFF2-40B4-BE49-F238E27FC236}">
                <a16:creationId xmlns:a16="http://schemas.microsoft.com/office/drawing/2014/main" id="{74C98702-E640-7004-6476-DF12719163A9}"/>
              </a:ext>
            </a:extLst>
          </p:cNvPr>
          <p:cNvSpPr/>
          <p:nvPr/>
        </p:nvSpPr>
        <p:spPr>
          <a:xfrm>
            <a:off x="1463876" y="1821180"/>
            <a:ext cx="8431137" cy="620395"/>
          </a:xfrm>
          <a:custGeom>
            <a:avLst/>
            <a:gdLst/>
            <a:ahLst/>
            <a:cxnLst/>
            <a:rect l="l" t="t" r="r" b="b"/>
            <a:pathLst>
              <a:path w="5023484" h="620394">
                <a:moveTo>
                  <a:pt x="4712970" y="0"/>
                </a:moveTo>
                <a:lnTo>
                  <a:pt x="310134" y="0"/>
                </a:lnTo>
                <a:lnTo>
                  <a:pt x="264295" y="3361"/>
                </a:lnTo>
                <a:lnTo>
                  <a:pt x="220548" y="13127"/>
                </a:lnTo>
                <a:lnTo>
                  <a:pt x="179371" y="28818"/>
                </a:lnTo>
                <a:lnTo>
                  <a:pt x="141244" y="49954"/>
                </a:lnTo>
                <a:lnTo>
                  <a:pt x="106646" y="76056"/>
                </a:lnTo>
                <a:lnTo>
                  <a:pt x="76056" y="106646"/>
                </a:lnTo>
                <a:lnTo>
                  <a:pt x="49954" y="141244"/>
                </a:lnTo>
                <a:lnTo>
                  <a:pt x="28818" y="179371"/>
                </a:lnTo>
                <a:lnTo>
                  <a:pt x="13127" y="220548"/>
                </a:lnTo>
                <a:lnTo>
                  <a:pt x="3361" y="264295"/>
                </a:lnTo>
                <a:lnTo>
                  <a:pt x="0" y="310134"/>
                </a:lnTo>
                <a:lnTo>
                  <a:pt x="3361" y="355972"/>
                </a:lnTo>
                <a:lnTo>
                  <a:pt x="13127" y="399719"/>
                </a:lnTo>
                <a:lnTo>
                  <a:pt x="28818" y="440896"/>
                </a:lnTo>
                <a:lnTo>
                  <a:pt x="49954" y="479023"/>
                </a:lnTo>
                <a:lnTo>
                  <a:pt x="76056" y="513621"/>
                </a:lnTo>
                <a:lnTo>
                  <a:pt x="106646" y="544211"/>
                </a:lnTo>
                <a:lnTo>
                  <a:pt x="141244" y="570313"/>
                </a:lnTo>
                <a:lnTo>
                  <a:pt x="179371" y="591449"/>
                </a:lnTo>
                <a:lnTo>
                  <a:pt x="220548" y="607140"/>
                </a:lnTo>
                <a:lnTo>
                  <a:pt x="264295" y="616906"/>
                </a:lnTo>
                <a:lnTo>
                  <a:pt x="310134" y="620267"/>
                </a:lnTo>
                <a:lnTo>
                  <a:pt x="4712970" y="620267"/>
                </a:lnTo>
                <a:lnTo>
                  <a:pt x="4758808" y="616906"/>
                </a:lnTo>
                <a:lnTo>
                  <a:pt x="4802555" y="607140"/>
                </a:lnTo>
                <a:lnTo>
                  <a:pt x="4843732" y="591449"/>
                </a:lnTo>
                <a:lnTo>
                  <a:pt x="4881859" y="570313"/>
                </a:lnTo>
                <a:lnTo>
                  <a:pt x="4916457" y="544211"/>
                </a:lnTo>
                <a:lnTo>
                  <a:pt x="4947047" y="513621"/>
                </a:lnTo>
                <a:lnTo>
                  <a:pt x="4973149" y="479023"/>
                </a:lnTo>
                <a:lnTo>
                  <a:pt x="4994285" y="440896"/>
                </a:lnTo>
                <a:lnTo>
                  <a:pt x="5009976" y="399719"/>
                </a:lnTo>
                <a:lnTo>
                  <a:pt x="5019742" y="355972"/>
                </a:lnTo>
                <a:lnTo>
                  <a:pt x="5023104" y="310134"/>
                </a:lnTo>
                <a:lnTo>
                  <a:pt x="5019742" y="264295"/>
                </a:lnTo>
                <a:lnTo>
                  <a:pt x="5009976" y="220548"/>
                </a:lnTo>
                <a:lnTo>
                  <a:pt x="4994285" y="179371"/>
                </a:lnTo>
                <a:lnTo>
                  <a:pt x="4973149" y="141244"/>
                </a:lnTo>
                <a:lnTo>
                  <a:pt x="4947047" y="106646"/>
                </a:lnTo>
                <a:lnTo>
                  <a:pt x="4916457" y="76056"/>
                </a:lnTo>
                <a:lnTo>
                  <a:pt x="4881859" y="49954"/>
                </a:lnTo>
                <a:lnTo>
                  <a:pt x="4843732" y="28818"/>
                </a:lnTo>
                <a:lnTo>
                  <a:pt x="4802555" y="13127"/>
                </a:lnTo>
                <a:lnTo>
                  <a:pt x="4758808" y="3361"/>
                </a:lnTo>
                <a:lnTo>
                  <a:pt x="4712970" y="0"/>
                </a:lnTo>
                <a:close/>
              </a:path>
            </a:pathLst>
          </a:custGeom>
          <a:solidFill>
            <a:srgbClr val="2E5E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bk object 22">
            <a:extLst>
              <a:ext uri="{FF2B5EF4-FFF2-40B4-BE49-F238E27FC236}">
                <a16:creationId xmlns:a16="http://schemas.microsoft.com/office/drawing/2014/main" id="{97182863-6376-320A-5B57-576FA0A674BC}"/>
              </a:ext>
            </a:extLst>
          </p:cNvPr>
          <p:cNvSpPr/>
          <p:nvPr/>
        </p:nvSpPr>
        <p:spPr>
          <a:xfrm>
            <a:off x="1434205" y="3267155"/>
            <a:ext cx="8464175" cy="611505"/>
          </a:xfrm>
          <a:custGeom>
            <a:avLst/>
            <a:gdLst/>
            <a:ahLst/>
            <a:cxnLst/>
            <a:rect l="l" t="t" r="r" b="b"/>
            <a:pathLst>
              <a:path w="5043170" h="611505">
                <a:moveTo>
                  <a:pt x="4737354" y="0"/>
                </a:moveTo>
                <a:lnTo>
                  <a:pt x="305562" y="0"/>
                </a:lnTo>
                <a:lnTo>
                  <a:pt x="255991" y="3998"/>
                </a:lnTo>
                <a:lnTo>
                  <a:pt x="208970" y="15575"/>
                </a:lnTo>
                <a:lnTo>
                  <a:pt x="165127" y="34101"/>
                </a:lnTo>
                <a:lnTo>
                  <a:pt x="125089" y="58948"/>
                </a:lnTo>
                <a:lnTo>
                  <a:pt x="89487" y="89487"/>
                </a:lnTo>
                <a:lnTo>
                  <a:pt x="58948" y="125089"/>
                </a:lnTo>
                <a:lnTo>
                  <a:pt x="34101" y="165127"/>
                </a:lnTo>
                <a:lnTo>
                  <a:pt x="15575" y="208970"/>
                </a:lnTo>
                <a:lnTo>
                  <a:pt x="3998" y="255991"/>
                </a:lnTo>
                <a:lnTo>
                  <a:pt x="0" y="305562"/>
                </a:lnTo>
                <a:lnTo>
                  <a:pt x="3998" y="355132"/>
                </a:lnTo>
                <a:lnTo>
                  <a:pt x="15575" y="402153"/>
                </a:lnTo>
                <a:lnTo>
                  <a:pt x="34101" y="445996"/>
                </a:lnTo>
                <a:lnTo>
                  <a:pt x="58948" y="486034"/>
                </a:lnTo>
                <a:lnTo>
                  <a:pt x="89487" y="521636"/>
                </a:lnTo>
                <a:lnTo>
                  <a:pt x="125089" y="552175"/>
                </a:lnTo>
                <a:lnTo>
                  <a:pt x="165127" y="577022"/>
                </a:lnTo>
                <a:lnTo>
                  <a:pt x="208970" y="595548"/>
                </a:lnTo>
                <a:lnTo>
                  <a:pt x="255991" y="607125"/>
                </a:lnTo>
                <a:lnTo>
                  <a:pt x="305562" y="611124"/>
                </a:lnTo>
                <a:lnTo>
                  <a:pt x="4737354" y="611124"/>
                </a:lnTo>
                <a:lnTo>
                  <a:pt x="4786924" y="607125"/>
                </a:lnTo>
                <a:lnTo>
                  <a:pt x="4833945" y="595548"/>
                </a:lnTo>
                <a:lnTo>
                  <a:pt x="4877788" y="577022"/>
                </a:lnTo>
                <a:lnTo>
                  <a:pt x="4917826" y="552175"/>
                </a:lnTo>
                <a:lnTo>
                  <a:pt x="4953428" y="521636"/>
                </a:lnTo>
                <a:lnTo>
                  <a:pt x="4983967" y="486034"/>
                </a:lnTo>
                <a:lnTo>
                  <a:pt x="5008814" y="445996"/>
                </a:lnTo>
                <a:lnTo>
                  <a:pt x="5027340" y="402153"/>
                </a:lnTo>
                <a:lnTo>
                  <a:pt x="5038917" y="355132"/>
                </a:lnTo>
                <a:lnTo>
                  <a:pt x="5042916" y="305562"/>
                </a:lnTo>
                <a:lnTo>
                  <a:pt x="5038917" y="255991"/>
                </a:lnTo>
                <a:lnTo>
                  <a:pt x="5027340" y="208970"/>
                </a:lnTo>
                <a:lnTo>
                  <a:pt x="5008814" y="165127"/>
                </a:lnTo>
                <a:lnTo>
                  <a:pt x="4983967" y="125089"/>
                </a:lnTo>
                <a:lnTo>
                  <a:pt x="4953428" y="89487"/>
                </a:lnTo>
                <a:lnTo>
                  <a:pt x="4917826" y="58948"/>
                </a:lnTo>
                <a:lnTo>
                  <a:pt x="4877788" y="34101"/>
                </a:lnTo>
                <a:lnTo>
                  <a:pt x="4833945" y="15575"/>
                </a:lnTo>
                <a:lnTo>
                  <a:pt x="4786924" y="3998"/>
                </a:lnTo>
                <a:lnTo>
                  <a:pt x="4737354" y="0"/>
                </a:lnTo>
                <a:close/>
              </a:path>
            </a:pathLst>
          </a:custGeom>
          <a:solidFill>
            <a:srgbClr val="DEE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2">
            <a:extLst>
              <a:ext uri="{FF2B5EF4-FFF2-40B4-BE49-F238E27FC236}">
                <a16:creationId xmlns:a16="http://schemas.microsoft.com/office/drawing/2014/main" id="{6850FFD1-89FA-D75F-FC5C-D240B6E8A00B}"/>
              </a:ext>
            </a:extLst>
          </p:cNvPr>
          <p:cNvSpPr txBox="1">
            <a:spLocks/>
          </p:cNvSpPr>
          <p:nvPr/>
        </p:nvSpPr>
        <p:spPr>
          <a:xfrm>
            <a:off x="1624817" y="1897837"/>
            <a:ext cx="8371840" cy="19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lang="zh-CN" altLang="en-US" sz="2800" spc="-5" dirty="0">
                <a:solidFill>
                  <a:srgbClr val="F6F8FB"/>
                </a:solidFill>
              </a:rPr>
              <a:t>一、总览</a:t>
            </a:r>
            <a:endParaRPr lang="zh-CN" altLang="en-US" sz="2800" dirty="0"/>
          </a:p>
          <a:p>
            <a:pPr marL="16510" marR="5080">
              <a:lnSpc>
                <a:spcPts val="5710"/>
              </a:lnSpc>
              <a:spcBef>
                <a:spcPts val="545"/>
              </a:spcBef>
            </a:pPr>
            <a:r>
              <a:rPr lang="zh-CN" altLang="en-US" sz="2800" spc="-10" dirty="0">
                <a:solidFill>
                  <a:srgbClr val="042A63"/>
                </a:solidFill>
              </a:rPr>
              <a:t>二、任务</a:t>
            </a:r>
            <a:endParaRPr lang="en-US" altLang="zh-CN" sz="2800" spc="-10" dirty="0">
              <a:solidFill>
                <a:srgbClr val="042A63"/>
              </a:solidFill>
            </a:endParaRPr>
          </a:p>
          <a:p>
            <a:pPr marL="16510" marR="5080">
              <a:lnSpc>
                <a:spcPts val="5710"/>
              </a:lnSpc>
              <a:spcBef>
                <a:spcPts val="545"/>
              </a:spcBef>
            </a:pPr>
            <a:r>
              <a:rPr lang="zh-CN" altLang="en-US" sz="2800" spc="-5" dirty="0">
                <a:solidFill>
                  <a:srgbClr val="042A63"/>
                </a:solidFill>
              </a:rPr>
              <a:t>三、</a:t>
            </a:r>
            <a:r>
              <a:rPr lang="zh-CN" altLang="en-US" sz="2800" spc="-10" dirty="0">
                <a:solidFill>
                  <a:srgbClr val="042A63"/>
                </a:solidFill>
              </a:rPr>
              <a:t>解题思路</a:t>
            </a:r>
          </a:p>
        </p:txBody>
      </p:sp>
    </p:spTree>
    <p:extLst>
      <p:ext uri="{BB962C8B-B14F-4D97-AF65-F5344CB8AC3E}">
        <p14:creationId xmlns:p14="http://schemas.microsoft.com/office/powerpoint/2010/main" val="1456596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79"/>
    </mc:Choice>
    <mc:Fallback xmlns="">
      <p:transition spd="slow" advTm="167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60F6A85-1715-454A-8E9D-115396432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总览</a:t>
            </a:r>
            <a:endParaRPr lang="LID4096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4C2BB7C-8805-47B5-9A1C-7E6E2D54B03B}"/>
              </a:ext>
            </a:extLst>
          </p:cNvPr>
          <p:cNvSpPr txBox="1"/>
          <p:nvPr/>
        </p:nvSpPr>
        <p:spPr>
          <a:xfrm>
            <a:off x="148943" y="1258784"/>
            <a:ext cx="6169231" cy="1343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在这部分的课程中， 我们将专注于使用光线追踪来渲染图像。在光线追踪中最重要的操作之一就是找到光线与物体的交点。 一旦找到光线与物体的交点， 就可以执行着色并返回像素颜色。在这次作业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中， 我们实现了两个部分： 光线的生成和光线与三角的相交。</a:t>
            </a:r>
            <a:endParaRPr lang="LID4096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D3303ED-63FB-4F0E-89ED-4BB036100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4738" y="2584732"/>
            <a:ext cx="4685731" cy="2966982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BAF705E2-BFAE-4BDD-B37C-61873A960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89" y="3000019"/>
            <a:ext cx="4979322" cy="2737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277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k object 22">
            <a:extLst>
              <a:ext uri="{FF2B5EF4-FFF2-40B4-BE49-F238E27FC236}">
                <a16:creationId xmlns:a16="http://schemas.microsoft.com/office/drawing/2014/main" id="{7A4C4035-71CE-85F8-67B0-8896A9E46BE2}"/>
              </a:ext>
            </a:extLst>
          </p:cNvPr>
          <p:cNvSpPr/>
          <p:nvPr/>
        </p:nvSpPr>
        <p:spPr>
          <a:xfrm>
            <a:off x="1545330" y="2910840"/>
            <a:ext cx="8464175" cy="611505"/>
          </a:xfrm>
          <a:custGeom>
            <a:avLst/>
            <a:gdLst/>
            <a:ahLst/>
            <a:cxnLst/>
            <a:rect l="l" t="t" r="r" b="b"/>
            <a:pathLst>
              <a:path w="5043170" h="611505">
                <a:moveTo>
                  <a:pt x="4737354" y="0"/>
                </a:moveTo>
                <a:lnTo>
                  <a:pt x="305562" y="0"/>
                </a:lnTo>
                <a:lnTo>
                  <a:pt x="255991" y="3998"/>
                </a:lnTo>
                <a:lnTo>
                  <a:pt x="208970" y="15575"/>
                </a:lnTo>
                <a:lnTo>
                  <a:pt x="165127" y="34101"/>
                </a:lnTo>
                <a:lnTo>
                  <a:pt x="125089" y="58948"/>
                </a:lnTo>
                <a:lnTo>
                  <a:pt x="89487" y="89487"/>
                </a:lnTo>
                <a:lnTo>
                  <a:pt x="58948" y="125089"/>
                </a:lnTo>
                <a:lnTo>
                  <a:pt x="34101" y="165127"/>
                </a:lnTo>
                <a:lnTo>
                  <a:pt x="15575" y="208970"/>
                </a:lnTo>
                <a:lnTo>
                  <a:pt x="3998" y="255991"/>
                </a:lnTo>
                <a:lnTo>
                  <a:pt x="0" y="305562"/>
                </a:lnTo>
                <a:lnTo>
                  <a:pt x="3998" y="355132"/>
                </a:lnTo>
                <a:lnTo>
                  <a:pt x="15575" y="402153"/>
                </a:lnTo>
                <a:lnTo>
                  <a:pt x="34101" y="445996"/>
                </a:lnTo>
                <a:lnTo>
                  <a:pt x="58948" y="486034"/>
                </a:lnTo>
                <a:lnTo>
                  <a:pt x="89487" y="521636"/>
                </a:lnTo>
                <a:lnTo>
                  <a:pt x="125089" y="552175"/>
                </a:lnTo>
                <a:lnTo>
                  <a:pt x="165127" y="577022"/>
                </a:lnTo>
                <a:lnTo>
                  <a:pt x="208970" y="595548"/>
                </a:lnTo>
                <a:lnTo>
                  <a:pt x="255991" y="607125"/>
                </a:lnTo>
                <a:lnTo>
                  <a:pt x="305562" y="611124"/>
                </a:lnTo>
                <a:lnTo>
                  <a:pt x="4737354" y="611124"/>
                </a:lnTo>
                <a:lnTo>
                  <a:pt x="4786924" y="607125"/>
                </a:lnTo>
                <a:lnTo>
                  <a:pt x="4833945" y="595548"/>
                </a:lnTo>
                <a:lnTo>
                  <a:pt x="4877788" y="577022"/>
                </a:lnTo>
                <a:lnTo>
                  <a:pt x="4917826" y="552175"/>
                </a:lnTo>
                <a:lnTo>
                  <a:pt x="4953428" y="521636"/>
                </a:lnTo>
                <a:lnTo>
                  <a:pt x="4983967" y="486034"/>
                </a:lnTo>
                <a:lnTo>
                  <a:pt x="5008814" y="445996"/>
                </a:lnTo>
                <a:lnTo>
                  <a:pt x="5027340" y="402153"/>
                </a:lnTo>
                <a:lnTo>
                  <a:pt x="5038917" y="355132"/>
                </a:lnTo>
                <a:lnTo>
                  <a:pt x="5042916" y="305562"/>
                </a:lnTo>
                <a:lnTo>
                  <a:pt x="5038917" y="255991"/>
                </a:lnTo>
                <a:lnTo>
                  <a:pt x="5027340" y="208970"/>
                </a:lnTo>
                <a:lnTo>
                  <a:pt x="5008814" y="165127"/>
                </a:lnTo>
                <a:lnTo>
                  <a:pt x="4983967" y="125089"/>
                </a:lnTo>
                <a:lnTo>
                  <a:pt x="4953428" y="89487"/>
                </a:lnTo>
                <a:lnTo>
                  <a:pt x="4917826" y="58948"/>
                </a:lnTo>
                <a:lnTo>
                  <a:pt x="4877788" y="34101"/>
                </a:lnTo>
                <a:lnTo>
                  <a:pt x="4833945" y="15575"/>
                </a:lnTo>
                <a:lnTo>
                  <a:pt x="4786924" y="3998"/>
                </a:lnTo>
                <a:lnTo>
                  <a:pt x="4737354" y="0"/>
                </a:lnTo>
                <a:close/>
              </a:path>
            </a:pathLst>
          </a:custGeom>
          <a:solidFill>
            <a:srgbClr val="2E5E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5F3505FC-0AA7-DE6C-199A-F95349DDA899}"/>
              </a:ext>
            </a:extLst>
          </p:cNvPr>
          <p:cNvSpPr txBox="1">
            <a:spLocks/>
          </p:cNvSpPr>
          <p:nvPr/>
        </p:nvSpPr>
        <p:spPr>
          <a:xfrm>
            <a:off x="660399" y="304856"/>
            <a:ext cx="7601971" cy="50783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b="1" kern="1200" spc="3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800" b="1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800" b="1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800" b="1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800" b="1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 </a:t>
            </a:r>
            <a:r>
              <a:rPr lang="zh-CN" altLang="en-US" sz="2400" dirty="0"/>
              <a:t>目录</a:t>
            </a:r>
            <a:endParaRPr lang="en-US" dirty="0"/>
          </a:p>
        </p:txBody>
      </p:sp>
      <p:sp>
        <p:nvSpPr>
          <p:cNvPr id="12" name="bk object 21">
            <a:extLst>
              <a:ext uri="{FF2B5EF4-FFF2-40B4-BE49-F238E27FC236}">
                <a16:creationId xmlns:a16="http://schemas.microsoft.com/office/drawing/2014/main" id="{74C98702-E640-7004-6476-DF12719163A9}"/>
              </a:ext>
            </a:extLst>
          </p:cNvPr>
          <p:cNvSpPr/>
          <p:nvPr/>
        </p:nvSpPr>
        <p:spPr>
          <a:xfrm>
            <a:off x="1555316" y="2186940"/>
            <a:ext cx="8431137" cy="620395"/>
          </a:xfrm>
          <a:custGeom>
            <a:avLst/>
            <a:gdLst/>
            <a:ahLst/>
            <a:cxnLst/>
            <a:rect l="l" t="t" r="r" b="b"/>
            <a:pathLst>
              <a:path w="5023484" h="620394">
                <a:moveTo>
                  <a:pt x="4712970" y="0"/>
                </a:moveTo>
                <a:lnTo>
                  <a:pt x="310134" y="0"/>
                </a:lnTo>
                <a:lnTo>
                  <a:pt x="264295" y="3361"/>
                </a:lnTo>
                <a:lnTo>
                  <a:pt x="220548" y="13127"/>
                </a:lnTo>
                <a:lnTo>
                  <a:pt x="179371" y="28818"/>
                </a:lnTo>
                <a:lnTo>
                  <a:pt x="141244" y="49954"/>
                </a:lnTo>
                <a:lnTo>
                  <a:pt x="106646" y="76056"/>
                </a:lnTo>
                <a:lnTo>
                  <a:pt x="76056" y="106646"/>
                </a:lnTo>
                <a:lnTo>
                  <a:pt x="49954" y="141244"/>
                </a:lnTo>
                <a:lnTo>
                  <a:pt x="28818" y="179371"/>
                </a:lnTo>
                <a:lnTo>
                  <a:pt x="13127" y="220548"/>
                </a:lnTo>
                <a:lnTo>
                  <a:pt x="3361" y="264295"/>
                </a:lnTo>
                <a:lnTo>
                  <a:pt x="0" y="310134"/>
                </a:lnTo>
                <a:lnTo>
                  <a:pt x="3361" y="355972"/>
                </a:lnTo>
                <a:lnTo>
                  <a:pt x="13127" y="399719"/>
                </a:lnTo>
                <a:lnTo>
                  <a:pt x="28818" y="440896"/>
                </a:lnTo>
                <a:lnTo>
                  <a:pt x="49954" y="479023"/>
                </a:lnTo>
                <a:lnTo>
                  <a:pt x="76056" y="513621"/>
                </a:lnTo>
                <a:lnTo>
                  <a:pt x="106646" y="544211"/>
                </a:lnTo>
                <a:lnTo>
                  <a:pt x="141244" y="570313"/>
                </a:lnTo>
                <a:lnTo>
                  <a:pt x="179371" y="591449"/>
                </a:lnTo>
                <a:lnTo>
                  <a:pt x="220548" y="607140"/>
                </a:lnTo>
                <a:lnTo>
                  <a:pt x="264295" y="616906"/>
                </a:lnTo>
                <a:lnTo>
                  <a:pt x="310134" y="620267"/>
                </a:lnTo>
                <a:lnTo>
                  <a:pt x="4712970" y="620267"/>
                </a:lnTo>
                <a:lnTo>
                  <a:pt x="4758808" y="616906"/>
                </a:lnTo>
                <a:lnTo>
                  <a:pt x="4802555" y="607140"/>
                </a:lnTo>
                <a:lnTo>
                  <a:pt x="4843732" y="591449"/>
                </a:lnTo>
                <a:lnTo>
                  <a:pt x="4881859" y="570313"/>
                </a:lnTo>
                <a:lnTo>
                  <a:pt x="4916457" y="544211"/>
                </a:lnTo>
                <a:lnTo>
                  <a:pt x="4947047" y="513621"/>
                </a:lnTo>
                <a:lnTo>
                  <a:pt x="4973149" y="479023"/>
                </a:lnTo>
                <a:lnTo>
                  <a:pt x="4994285" y="440896"/>
                </a:lnTo>
                <a:lnTo>
                  <a:pt x="5009976" y="399719"/>
                </a:lnTo>
                <a:lnTo>
                  <a:pt x="5019742" y="355972"/>
                </a:lnTo>
                <a:lnTo>
                  <a:pt x="5023104" y="310134"/>
                </a:lnTo>
                <a:lnTo>
                  <a:pt x="5019742" y="264295"/>
                </a:lnTo>
                <a:lnTo>
                  <a:pt x="5009976" y="220548"/>
                </a:lnTo>
                <a:lnTo>
                  <a:pt x="4994285" y="179371"/>
                </a:lnTo>
                <a:lnTo>
                  <a:pt x="4973149" y="141244"/>
                </a:lnTo>
                <a:lnTo>
                  <a:pt x="4947047" y="106646"/>
                </a:lnTo>
                <a:lnTo>
                  <a:pt x="4916457" y="76056"/>
                </a:lnTo>
                <a:lnTo>
                  <a:pt x="4881859" y="49954"/>
                </a:lnTo>
                <a:lnTo>
                  <a:pt x="4843732" y="28818"/>
                </a:lnTo>
                <a:lnTo>
                  <a:pt x="4802555" y="13127"/>
                </a:lnTo>
                <a:lnTo>
                  <a:pt x="4758808" y="3361"/>
                </a:lnTo>
                <a:lnTo>
                  <a:pt x="4712970" y="0"/>
                </a:lnTo>
                <a:close/>
              </a:path>
            </a:pathLst>
          </a:custGeom>
          <a:solidFill>
            <a:srgbClr val="DEE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bk object 22">
            <a:extLst>
              <a:ext uri="{FF2B5EF4-FFF2-40B4-BE49-F238E27FC236}">
                <a16:creationId xmlns:a16="http://schemas.microsoft.com/office/drawing/2014/main" id="{97182863-6376-320A-5B57-576FA0A674BC}"/>
              </a:ext>
            </a:extLst>
          </p:cNvPr>
          <p:cNvSpPr/>
          <p:nvPr/>
        </p:nvSpPr>
        <p:spPr>
          <a:xfrm>
            <a:off x="1525645" y="3632915"/>
            <a:ext cx="8464175" cy="611505"/>
          </a:xfrm>
          <a:custGeom>
            <a:avLst/>
            <a:gdLst/>
            <a:ahLst/>
            <a:cxnLst/>
            <a:rect l="l" t="t" r="r" b="b"/>
            <a:pathLst>
              <a:path w="5043170" h="611505">
                <a:moveTo>
                  <a:pt x="4737354" y="0"/>
                </a:moveTo>
                <a:lnTo>
                  <a:pt x="305562" y="0"/>
                </a:lnTo>
                <a:lnTo>
                  <a:pt x="255991" y="3998"/>
                </a:lnTo>
                <a:lnTo>
                  <a:pt x="208970" y="15575"/>
                </a:lnTo>
                <a:lnTo>
                  <a:pt x="165127" y="34101"/>
                </a:lnTo>
                <a:lnTo>
                  <a:pt x="125089" y="58948"/>
                </a:lnTo>
                <a:lnTo>
                  <a:pt x="89487" y="89487"/>
                </a:lnTo>
                <a:lnTo>
                  <a:pt x="58948" y="125089"/>
                </a:lnTo>
                <a:lnTo>
                  <a:pt x="34101" y="165127"/>
                </a:lnTo>
                <a:lnTo>
                  <a:pt x="15575" y="208970"/>
                </a:lnTo>
                <a:lnTo>
                  <a:pt x="3998" y="255991"/>
                </a:lnTo>
                <a:lnTo>
                  <a:pt x="0" y="305562"/>
                </a:lnTo>
                <a:lnTo>
                  <a:pt x="3998" y="355132"/>
                </a:lnTo>
                <a:lnTo>
                  <a:pt x="15575" y="402153"/>
                </a:lnTo>
                <a:lnTo>
                  <a:pt x="34101" y="445996"/>
                </a:lnTo>
                <a:lnTo>
                  <a:pt x="58948" y="486034"/>
                </a:lnTo>
                <a:lnTo>
                  <a:pt x="89487" y="521636"/>
                </a:lnTo>
                <a:lnTo>
                  <a:pt x="125089" y="552175"/>
                </a:lnTo>
                <a:lnTo>
                  <a:pt x="165127" y="577022"/>
                </a:lnTo>
                <a:lnTo>
                  <a:pt x="208970" y="595548"/>
                </a:lnTo>
                <a:lnTo>
                  <a:pt x="255991" y="607125"/>
                </a:lnTo>
                <a:lnTo>
                  <a:pt x="305562" y="611124"/>
                </a:lnTo>
                <a:lnTo>
                  <a:pt x="4737354" y="611124"/>
                </a:lnTo>
                <a:lnTo>
                  <a:pt x="4786924" y="607125"/>
                </a:lnTo>
                <a:lnTo>
                  <a:pt x="4833945" y="595548"/>
                </a:lnTo>
                <a:lnTo>
                  <a:pt x="4877788" y="577022"/>
                </a:lnTo>
                <a:lnTo>
                  <a:pt x="4917826" y="552175"/>
                </a:lnTo>
                <a:lnTo>
                  <a:pt x="4953428" y="521636"/>
                </a:lnTo>
                <a:lnTo>
                  <a:pt x="4983967" y="486034"/>
                </a:lnTo>
                <a:lnTo>
                  <a:pt x="5008814" y="445996"/>
                </a:lnTo>
                <a:lnTo>
                  <a:pt x="5027340" y="402153"/>
                </a:lnTo>
                <a:lnTo>
                  <a:pt x="5038917" y="355132"/>
                </a:lnTo>
                <a:lnTo>
                  <a:pt x="5042916" y="305562"/>
                </a:lnTo>
                <a:lnTo>
                  <a:pt x="5038917" y="255991"/>
                </a:lnTo>
                <a:lnTo>
                  <a:pt x="5027340" y="208970"/>
                </a:lnTo>
                <a:lnTo>
                  <a:pt x="5008814" y="165127"/>
                </a:lnTo>
                <a:lnTo>
                  <a:pt x="4983967" y="125089"/>
                </a:lnTo>
                <a:lnTo>
                  <a:pt x="4953428" y="89487"/>
                </a:lnTo>
                <a:lnTo>
                  <a:pt x="4917826" y="58948"/>
                </a:lnTo>
                <a:lnTo>
                  <a:pt x="4877788" y="34101"/>
                </a:lnTo>
                <a:lnTo>
                  <a:pt x="4833945" y="15575"/>
                </a:lnTo>
                <a:lnTo>
                  <a:pt x="4786924" y="3998"/>
                </a:lnTo>
                <a:lnTo>
                  <a:pt x="4737354" y="0"/>
                </a:lnTo>
                <a:close/>
              </a:path>
            </a:pathLst>
          </a:custGeom>
          <a:solidFill>
            <a:srgbClr val="DEE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2">
            <a:extLst>
              <a:ext uri="{FF2B5EF4-FFF2-40B4-BE49-F238E27FC236}">
                <a16:creationId xmlns:a16="http://schemas.microsoft.com/office/drawing/2014/main" id="{6850FFD1-89FA-D75F-FC5C-D240B6E8A00B}"/>
              </a:ext>
            </a:extLst>
          </p:cNvPr>
          <p:cNvSpPr txBox="1">
            <a:spLocks/>
          </p:cNvSpPr>
          <p:nvPr/>
        </p:nvSpPr>
        <p:spPr>
          <a:xfrm>
            <a:off x="1716257" y="2263597"/>
            <a:ext cx="8371840" cy="19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lang="zh-CN" altLang="en-US" sz="2800" spc="-10" dirty="0">
                <a:solidFill>
                  <a:srgbClr val="042A63"/>
                </a:solidFill>
              </a:rPr>
              <a:t>一、总览</a:t>
            </a:r>
          </a:p>
          <a:p>
            <a:pPr marL="16510" marR="5080">
              <a:lnSpc>
                <a:spcPts val="5710"/>
              </a:lnSpc>
              <a:spcBef>
                <a:spcPts val="545"/>
              </a:spcBef>
            </a:pPr>
            <a:r>
              <a:rPr lang="zh-CN" altLang="en-US" sz="2800" spc="-10" dirty="0">
                <a:solidFill>
                  <a:schemeClr val="bg1"/>
                </a:solidFill>
              </a:rPr>
              <a:t>二、任务</a:t>
            </a:r>
            <a:endParaRPr lang="en-US" altLang="zh-CN" sz="2800" spc="-10" dirty="0">
              <a:solidFill>
                <a:schemeClr val="bg1"/>
              </a:solidFill>
            </a:endParaRPr>
          </a:p>
          <a:p>
            <a:pPr marL="16510" marR="5080">
              <a:lnSpc>
                <a:spcPts val="5710"/>
              </a:lnSpc>
              <a:spcBef>
                <a:spcPts val="545"/>
              </a:spcBef>
            </a:pPr>
            <a:r>
              <a:rPr lang="zh-CN" altLang="en-US" sz="2800" spc="-5" dirty="0">
                <a:solidFill>
                  <a:srgbClr val="042A63"/>
                </a:solidFill>
              </a:rPr>
              <a:t>三、</a:t>
            </a:r>
            <a:r>
              <a:rPr lang="zh-CN" altLang="en-US" sz="2800" spc="-10" dirty="0">
                <a:solidFill>
                  <a:srgbClr val="042A63"/>
                </a:solidFill>
              </a:rPr>
              <a:t>解题思路</a:t>
            </a:r>
          </a:p>
        </p:txBody>
      </p:sp>
    </p:spTree>
    <p:extLst>
      <p:ext uri="{BB962C8B-B14F-4D97-AF65-F5344CB8AC3E}">
        <p14:creationId xmlns:p14="http://schemas.microsoft.com/office/powerpoint/2010/main" val="923601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67"/>
    </mc:Choice>
    <mc:Fallback xmlns="">
      <p:transition spd="slow" advTm="286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9FCE1-CFCC-F529-0C80-C37A19085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4D15468-BBAB-96B7-6B32-EA2DC58E34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  <a:endParaRPr lang="LID4096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5A3B6E7-8C83-E350-6619-B89BBB006FDA}"/>
              </a:ext>
            </a:extLst>
          </p:cNvPr>
          <p:cNvSpPr txBox="1"/>
          <p:nvPr/>
        </p:nvSpPr>
        <p:spPr>
          <a:xfrm>
            <a:off x="496392" y="1107046"/>
            <a:ext cx="7527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如何将作业</a:t>
            </a:r>
            <a:r>
              <a:rPr lang="en-US" altLang="zh-CN" sz="2400" dirty="0"/>
              <a:t>5</a:t>
            </a:r>
            <a:r>
              <a:rPr lang="zh-CN" altLang="en-US" sz="2400" dirty="0"/>
              <a:t>移植到</a:t>
            </a:r>
            <a:r>
              <a:rPr lang="en-US" altLang="zh-CN" sz="2400" dirty="0"/>
              <a:t>OpenGL</a:t>
            </a:r>
            <a:r>
              <a:rPr lang="zh-CN" altLang="en-US" sz="2400" dirty="0"/>
              <a:t>中？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805767F-8BF8-EBFA-86FE-DBF446B9F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392" y="1768244"/>
            <a:ext cx="4551147" cy="2898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8FDC2D5-5428-D2ED-9966-CCAA1AC97AF2}"/>
              </a:ext>
            </a:extLst>
          </p:cNvPr>
          <p:cNvSpPr txBox="1"/>
          <p:nvPr/>
        </p:nvSpPr>
        <p:spPr>
          <a:xfrm>
            <a:off x="5222528" y="1903447"/>
            <a:ext cx="66000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OpenGL</a:t>
            </a:r>
            <a:r>
              <a:rPr lang="zh-CN" altLang="en-US" sz="2000" dirty="0"/>
              <a:t>渲染管线是光栅化的，即物体优先的</a:t>
            </a:r>
            <a:r>
              <a:rPr lang="en-US" altLang="zh-CN" sz="2000" dirty="0"/>
              <a:t>Pipeline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pPr marL="342900" indent="-342900">
              <a:buAutoNum type="arabicPeriod"/>
            </a:pPr>
            <a:r>
              <a:rPr lang="zh-CN" altLang="en-US" sz="2000" dirty="0"/>
              <a:t>将</a:t>
            </a:r>
            <a:r>
              <a:rPr lang="en-US" altLang="zh-CN" sz="2000" dirty="0"/>
              <a:t>Mesh</a:t>
            </a:r>
            <a:r>
              <a:rPr lang="zh-CN" altLang="en-US" sz="2000" dirty="0"/>
              <a:t>拍到</a:t>
            </a:r>
            <a:r>
              <a:rPr lang="en-US" altLang="zh-CN" sz="2000" dirty="0"/>
              <a:t>2D</a:t>
            </a:r>
            <a:r>
              <a:rPr lang="zh-CN" altLang="en-US" sz="2000" dirty="0"/>
              <a:t>屏幕；</a:t>
            </a:r>
            <a:endParaRPr lang="en-US" altLang="zh-CN" sz="2000" dirty="0"/>
          </a:p>
          <a:p>
            <a:pPr marL="342900" indent="-342900">
              <a:buAutoNum type="arabicPeriod"/>
            </a:pPr>
            <a:r>
              <a:rPr lang="zh-CN" altLang="en-US" sz="2000" dirty="0"/>
              <a:t>判断哪些像素被覆盖；</a:t>
            </a:r>
            <a:endParaRPr lang="en-US" altLang="zh-CN" sz="2000" dirty="0"/>
          </a:p>
          <a:p>
            <a:pPr marL="342900" indent="-342900">
              <a:buAutoNum type="arabicPeriod"/>
            </a:pPr>
            <a:r>
              <a:rPr lang="zh-CN" altLang="en-US" sz="2000" dirty="0"/>
              <a:t>将覆盖像素执行片元着色，计算最终颜色；</a:t>
            </a:r>
            <a:endParaRPr lang="en-US" altLang="zh-CN" sz="2000" dirty="0"/>
          </a:p>
          <a:p>
            <a:r>
              <a:rPr lang="zh-CN" altLang="en-US" sz="2000" dirty="0"/>
              <a:t>而光追是像素优先的：</a:t>
            </a:r>
            <a:endParaRPr lang="en-US" altLang="zh-CN" sz="2000" dirty="0"/>
          </a:p>
          <a:p>
            <a:pPr marL="342900" indent="-342900">
              <a:buAutoNum type="arabicPeriod"/>
            </a:pPr>
            <a:r>
              <a:rPr lang="zh-CN" altLang="en-US" sz="2000" dirty="0"/>
              <a:t>每个像素发射射线；</a:t>
            </a:r>
            <a:endParaRPr lang="en-US" altLang="zh-CN" sz="2000" dirty="0"/>
          </a:p>
          <a:p>
            <a:pPr marL="342900" indent="-342900">
              <a:buAutoNum type="arabicPeriod"/>
            </a:pPr>
            <a:r>
              <a:rPr lang="zh-CN" altLang="en-US" sz="2000" dirty="0"/>
              <a:t>根据射线与物体的交互判断最终着色；</a:t>
            </a:r>
            <a:endParaRPr lang="en-US" altLang="zh-CN" sz="2000" dirty="0"/>
          </a:p>
          <a:p>
            <a:r>
              <a:rPr lang="zh-CN" altLang="en-US" sz="2000" dirty="0"/>
              <a:t>因此</a:t>
            </a:r>
            <a:r>
              <a:rPr lang="en-US" altLang="zh-CN" sz="2000" dirty="0"/>
              <a:t>OpenGL</a:t>
            </a:r>
            <a:r>
              <a:rPr lang="zh-CN" altLang="en-US" sz="2000" dirty="0"/>
              <a:t>并不太适合做</a:t>
            </a:r>
            <a:r>
              <a:rPr lang="en-US" altLang="zh-CN" sz="2000" dirty="0" err="1"/>
              <a:t>RayTracing</a:t>
            </a:r>
            <a:r>
              <a:rPr lang="zh-CN" altLang="en-US" sz="2000" dirty="0"/>
              <a:t>，不过利用</a:t>
            </a:r>
            <a:r>
              <a:rPr lang="en-US" altLang="zh-CN" sz="2000" dirty="0"/>
              <a:t>Frag GPU</a:t>
            </a:r>
            <a:r>
              <a:rPr lang="zh-CN" altLang="en-US" sz="2000" dirty="0"/>
              <a:t>加速，会比</a:t>
            </a:r>
            <a:r>
              <a:rPr lang="en-US" altLang="zh-CN" sz="2000" dirty="0"/>
              <a:t>CPU</a:t>
            </a:r>
            <a:r>
              <a:rPr lang="zh-CN" altLang="en-US" sz="2000" dirty="0"/>
              <a:t>软光栅更快。</a:t>
            </a:r>
          </a:p>
        </p:txBody>
      </p:sp>
    </p:spTree>
    <p:extLst>
      <p:ext uri="{BB962C8B-B14F-4D97-AF65-F5344CB8AC3E}">
        <p14:creationId xmlns:p14="http://schemas.microsoft.com/office/powerpoint/2010/main" val="2139020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k object 22">
            <a:extLst>
              <a:ext uri="{FF2B5EF4-FFF2-40B4-BE49-F238E27FC236}">
                <a16:creationId xmlns:a16="http://schemas.microsoft.com/office/drawing/2014/main" id="{7A4C4035-71CE-85F8-67B0-8896A9E46BE2}"/>
              </a:ext>
            </a:extLst>
          </p:cNvPr>
          <p:cNvSpPr/>
          <p:nvPr/>
        </p:nvSpPr>
        <p:spPr>
          <a:xfrm>
            <a:off x="1545330" y="2880360"/>
            <a:ext cx="8464175" cy="611505"/>
          </a:xfrm>
          <a:custGeom>
            <a:avLst/>
            <a:gdLst/>
            <a:ahLst/>
            <a:cxnLst/>
            <a:rect l="l" t="t" r="r" b="b"/>
            <a:pathLst>
              <a:path w="5043170" h="611505">
                <a:moveTo>
                  <a:pt x="4737354" y="0"/>
                </a:moveTo>
                <a:lnTo>
                  <a:pt x="305562" y="0"/>
                </a:lnTo>
                <a:lnTo>
                  <a:pt x="255991" y="3998"/>
                </a:lnTo>
                <a:lnTo>
                  <a:pt x="208970" y="15575"/>
                </a:lnTo>
                <a:lnTo>
                  <a:pt x="165127" y="34101"/>
                </a:lnTo>
                <a:lnTo>
                  <a:pt x="125089" y="58948"/>
                </a:lnTo>
                <a:lnTo>
                  <a:pt x="89487" y="89487"/>
                </a:lnTo>
                <a:lnTo>
                  <a:pt x="58948" y="125089"/>
                </a:lnTo>
                <a:lnTo>
                  <a:pt x="34101" y="165127"/>
                </a:lnTo>
                <a:lnTo>
                  <a:pt x="15575" y="208970"/>
                </a:lnTo>
                <a:lnTo>
                  <a:pt x="3998" y="255991"/>
                </a:lnTo>
                <a:lnTo>
                  <a:pt x="0" y="305562"/>
                </a:lnTo>
                <a:lnTo>
                  <a:pt x="3998" y="355132"/>
                </a:lnTo>
                <a:lnTo>
                  <a:pt x="15575" y="402153"/>
                </a:lnTo>
                <a:lnTo>
                  <a:pt x="34101" y="445996"/>
                </a:lnTo>
                <a:lnTo>
                  <a:pt x="58948" y="486034"/>
                </a:lnTo>
                <a:lnTo>
                  <a:pt x="89487" y="521636"/>
                </a:lnTo>
                <a:lnTo>
                  <a:pt x="125089" y="552175"/>
                </a:lnTo>
                <a:lnTo>
                  <a:pt x="165127" y="577022"/>
                </a:lnTo>
                <a:lnTo>
                  <a:pt x="208970" y="595548"/>
                </a:lnTo>
                <a:lnTo>
                  <a:pt x="255991" y="607125"/>
                </a:lnTo>
                <a:lnTo>
                  <a:pt x="305562" y="611124"/>
                </a:lnTo>
                <a:lnTo>
                  <a:pt x="4737354" y="611124"/>
                </a:lnTo>
                <a:lnTo>
                  <a:pt x="4786924" y="607125"/>
                </a:lnTo>
                <a:lnTo>
                  <a:pt x="4833945" y="595548"/>
                </a:lnTo>
                <a:lnTo>
                  <a:pt x="4877788" y="577022"/>
                </a:lnTo>
                <a:lnTo>
                  <a:pt x="4917826" y="552175"/>
                </a:lnTo>
                <a:lnTo>
                  <a:pt x="4953428" y="521636"/>
                </a:lnTo>
                <a:lnTo>
                  <a:pt x="4983967" y="486034"/>
                </a:lnTo>
                <a:lnTo>
                  <a:pt x="5008814" y="445996"/>
                </a:lnTo>
                <a:lnTo>
                  <a:pt x="5027340" y="402153"/>
                </a:lnTo>
                <a:lnTo>
                  <a:pt x="5038917" y="355132"/>
                </a:lnTo>
                <a:lnTo>
                  <a:pt x="5042916" y="305562"/>
                </a:lnTo>
                <a:lnTo>
                  <a:pt x="5038917" y="255991"/>
                </a:lnTo>
                <a:lnTo>
                  <a:pt x="5027340" y="208970"/>
                </a:lnTo>
                <a:lnTo>
                  <a:pt x="5008814" y="165127"/>
                </a:lnTo>
                <a:lnTo>
                  <a:pt x="4983967" y="125089"/>
                </a:lnTo>
                <a:lnTo>
                  <a:pt x="4953428" y="89487"/>
                </a:lnTo>
                <a:lnTo>
                  <a:pt x="4917826" y="58948"/>
                </a:lnTo>
                <a:lnTo>
                  <a:pt x="4877788" y="34101"/>
                </a:lnTo>
                <a:lnTo>
                  <a:pt x="4833945" y="15575"/>
                </a:lnTo>
                <a:lnTo>
                  <a:pt x="4786924" y="3998"/>
                </a:lnTo>
                <a:lnTo>
                  <a:pt x="4737354" y="0"/>
                </a:lnTo>
                <a:close/>
              </a:path>
            </a:pathLst>
          </a:custGeom>
          <a:solidFill>
            <a:srgbClr val="DEE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5F3505FC-0AA7-DE6C-199A-F95349DDA899}"/>
              </a:ext>
            </a:extLst>
          </p:cNvPr>
          <p:cNvSpPr txBox="1">
            <a:spLocks/>
          </p:cNvSpPr>
          <p:nvPr/>
        </p:nvSpPr>
        <p:spPr>
          <a:xfrm>
            <a:off x="660399" y="304856"/>
            <a:ext cx="7601971" cy="50783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b="1" kern="1200" spc="3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800" b="1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800" b="1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800" b="1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800" b="1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 </a:t>
            </a:r>
            <a:r>
              <a:rPr lang="zh-CN" altLang="en-US" sz="2400" dirty="0"/>
              <a:t>目录</a:t>
            </a:r>
            <a:endParaRPr lang="en-US" dirty="0"/>
          </a:p>
        </p:txBody>
      </p:sp>
      <p:sp>
        <p:nvSpPr>
          <p:cNvPr id="12" name="bk object 21">
            <a:extLst>
              <a:ext uri="{FF2B5EF4-FFF2-40B4-BE49-F238E27FC236}">
                <a16:creationId xmlns:a16="http://schemas.microsoft.com/office/drawing/2014/main" id="{74C98702-E640-7004-6476-DF12719163A9}"/>
              </a:ext>
            </a:extLst>
          </p:cNvPr>
          <p:cNvSpPr/>
          <p:nvPr/>
        </p:nvSpPr>
        <p:spPr>
          <a:xfrm>
            <a:off x="1555316" y="2156460"/>
            <a:ext cx="8431137" cy="620395"/>
          </a:xfrm>
          <a:custGeom>
            <a:avLst/>
            <a:gdLst/>
            <a:ahLst/>
            <a:cxnLst/>
            <a:rect l="l" t="t" r="r" b="b"/>
            <a:pathLst>
              <a:path w="5023484" h="620394">
                <a:moveTo>
                  <a:pt x="4712970" y="0"/>
                </a:moveTo>
                <a:lnTo>
                  <a:pt x="310134" y="0"/>
                </a:lnTo>
                <a:lnTo>
                  <a:pt x="264295" y="3361"/>
                </a:lnTo>
                <a:lnTo>
                  <a:pt x="220548" y="13127"/>
                </a:lnTo>
                <a:lnTo>
                  <a:pt x="179371" y="28818"/>
                </a:lnTo>
                <a:lnTo>
                  <a:pt x="141244" y="49954"/>
                </a:lnTo>
                <a:lnTo>
                  <a:pt x="106646" y="76056"/>
                </a:lnTo>
                <a:lnTo>
                  <a:pt x="76056" y="106646"/>
                </a:lnTo>
                <a:lnTo>
                  <a:pt x="49954" y="141244"/>
                </a:lnTo>
                <a:lnTo>
                  <a:pt x="28818" y="179371"/>
                </a:lnTo>
                <a:lnTo>
                  <a:pt x="13127" y="220548"/>
                </a:lnTo>
                <a:lnTo>
                  <a:pt x="3361" y="264295"/>
                </a:lnTo>
                <a:lnTo>
                  <a:pt x="0" y="310134"/>
                </a:lnTo>
                <a:lnTo>
                  <a:pt x="3361" y="355972"/>
                </a:lnTo>
                <a:lnTo>
                  <a:pt x="13127" y="399719"/>
                </a:lnTo>
                <a:lnTo>
                  <a:pt x="28818" y="440896"/>
                </a:lnTo>
                <a:lnTo>
                  <a:pt x="49954" y="479023"/>
                </a:lnTo>
                <a:lnTo>
                  <a:pt x="76056" y="513621"/>
                </a:lnTo>
                <a:lnTo>
                  <a:pt x="106646" y="544211"/>
                </a:lnTo>
                <a:lnTo>
                  <a:pt x="141244" y="570313"/>
                </a:lnTo>
                <a:lnTo>
                  <a:pt x="179371" y="591449"/>
                </a:lnTo>
                <a:lnTo>
                  <a:pt x="220548" y="607140"/>
                </a:lnTo>
                <a:lnTo>
                  <a:pt x="264295" y="616906"/>
                </a:lnTo>
                <a:lnTo>
                  <a:pt x="310134" y="620267"/>
                </a:lnTo>
                <a:lnTo>
                  <a:pt x="4712970" y="620267"/>
                </a:lnTo>
                <a:lnTo>
                  <a:pt x="4758808" y="616906"/>
                </a:lnTo>
                <a:lnTo>
                  <a:pt x="4802555" y="607140"/>
                </a:lnTo>
                <a:lnTo>
                  <a:pt x="4843732" y="591449"/>
                </a:lnTo>
                <a:lnTo>
                  <a:pt x="4881859" y="570313"/>
                </a:lnTo>
                <a:lnTo>
                  <a:pt x="4916457" y="544211"/>
                </a:lnTo>
                <a:lnTo>
                  <a:pt x="4947047" y="513621"/>
                </a:lnTo>
                <a:lnTo>
                  <a:pt x="4973149" y="479023"/>
                </a:lnTo>
                <a:lnTo>
                  <a:pt x="4994285" y="440896"/>
                </a:lnTo>
                <a:lnTo>
                  <a:pt x="5009976" y="399719"/>
                </a:lnTo>
                <a:lnTo>
                  <a:pt x="5019742" y="355972"/>
                </a:lnTo>
                <a:lnTo>
                  <a:pt x="5023104" y="310134"/>
                </a:lnTo>
                <a:lnTo>
                  <a:pt x="5019742" y="264295"/>
                </a:lnTo>
                <a:lnTo>
                  <a:pt x="5009976" y="220548"/>
                </a:lnTo>
                <a:lnTo>
                  <a:pt x="4994285" y="179371"/>
                </a:lnTo>
                <a:lnTo>
                  <a:pt x="4973149" y="141244"/>
                </a:lnTo>
                <a:lnTo>
                  <a:pt x="4947047" y="106646"/>
                </a:lnTo>
                <a:lnTo>
                  <a:pt x="4916457" y="76056"/>
                </a:lnTo>
                <a:lnTo>
                  <a:pt x="4881859" y="49954"/>
                </a:lnTo>
                <a:lnTo>
                  <a:pt x="4843732" y="28818"/>
                </a:lnTo>
                <a:lnTo>
                  <a:pt x="4802555" y="13127"/>
                </a:lnTo>
                <a:lnTo>
                  <a:pt x="4758808" y="3361"/>
                </a:lnTo>
                <a:lnTo>
                  <a:pt x="4712970" y="0"/>
                </a:lnTo>
                <a:close/>
              </a:path>
            </a:pathLst>
          </a:custGeom>
          <a:solidFill>
            <a:srgbClr val="DEE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bk object 22">
            <a:extLst>
              <a:ext uri="{FF2B5EF4-FFF2-40B4-BE49-F238E27FC236}">
                <a16:creationId xmlns:a16="http://schemas.microsoft.com/office/drawing/2014/main" id="{97182863-6376-320A-5B57-576FA0A674BC}"/>
              </a:ext>
            </a:extLst>
          </p:cNvPr>
          <p:cNvSpPr/>
          <p:nvPr/>
        </p:nvSpPr>
        <p:spPr>
          <a:xfrm>
            <a:off x="1525645" y="3602435"/>
            <a:ext cx="8464175" cy="611505"/>
          </a:xfrm>
          <a:custGeom>
            <a:avLst/>
            <a:gdLst/>
            <a:ahLst/>
            <a:cxnLst/>
            <a:rect l="l" t="t" r="r" b="b"/>
            <a:pathLst>
              <a:path w="5043170" h="611505">
                <a:moveTo>
                  <a:pt x="4737354" y="0"/>
                </a:moveTo>
                <a:lnTo>
                  <a:pt x="305562" y="0"/>
                </a:lnTo>
                <a:lnTo>
                  <a:pt x="255991" y="3998"/>
                </a:lnTo>
                <a:lnTo>
                  <a:pt x="208970" y="15575"/>
                </a:lnTo>
                <a:lnTo>
                  <a:pt x="165127" y="34101"/>
                </a:lnTo>
                <a:lnTo>
                  <a:pt x="125089" y="58948"/>
                </a:lnTo>
                <a:lnTo>
                  <a:pt x="89487" y="89487"/>
                </a:lnTo>
                <a:lnTo>
                  <a:pt x="58948" y="125089"/>
                </a:lnTo>
                <a:lnTo>
                  <a:pt x="34101" y="165127"/>
                </a:lnTo>
                <a:lnTo>
                  <a:pt x="15575" y="208970"/>
                </a:lnTo>
                <a:lnTo>
                  <a:pt x="3998" y="255991"/>
                </a:lnTo>
                <a:lnTo>
                  <a:pt x="0" y="305562"/>
                </a:lnTo>
                <a:lnTo>
                  <a:pt x="3998" y="355132"/>
                </a:lnTo>
                <a:lnTo>
                  <a:pt x="15575" y="402153"/>
                </a:lnTo>
                <a:lnTo>
                  <a:pt x="34101" y="445996"/>
                </a:lnTo>
                <a:lnTo>
                  <a:pt x="58948" y="486034"/>
                </a:lnTo>
                <a:lnTo>
                  <a:pt x="89487" y="521636"/>
                </a:lnTo>
                <a:lnTo>
                  <a:pt x="125089" y="552175"/>
                </a:lnTo>
                <a:lnTo>
                  <a:pt x="165127" y="577022"/>
                </a:lnTo>
                <a:lnTo>
                  <a:pt x="208970" y="595548"/>
                </a:lnTo>
                <a:lnTo>
                  <a:pt x="255991" y="607125"/>
                </a:lnTo>
                <a:lnTo>
                  <a:pt x="305562" y="611124"/>
                </a:lnTo>
                <a:lnTo>
                  <a:pt x="4737354" y="611124"/>
                </a:lnTo>
                <a:lnTo>
                  <a:pt x="4786924" y="607125"/>
                </a:lnTo>
                <a:lnTo>
                  <a:pt x="4833945" y="595548"/>
                </a:lnTo>
                <a:lnTo>
                  <a:pt x="4877788" y="577022"/>
                </a:lnTo>
                <a:lnTo>
                  <a:pt x="4917826" y="552175"/>
                </a:lnTo>
                <a:lnTo>
                  <a:pt x="4953428" y="521636"/>
                </a:lnTo>
                <a:lnTo>
                  <a:pt x="4983967" y="486034"/>
                </a:lnTo>
                <a:lnTo>
                  <a:pt x="5008814" y="445996"/>
                </a:lnTo>
                <a:lnTo>
                  <a:pt x="5027340" y="402153"/>
                </a:lnTo>
                <a:lnTo>
                  <a:pt x="5038917" y="355132"/>
                </a:lnTo>
                <a:lnTo>
                  <a:pt x="5042916" y="305562"/>
                </a:lnTo>
                <a:lnTo>
                  <a:pt x="5038917" y="255991"/>
                </a:lnTo>
                <a:lnTo>
                  <a:pt x="5027340" y="208970"/>
                </a:lnTo>
                <a:lnTo>
                  <a:pt x="5008814" y="165127"/>
                </a:lnTo>
                <a:lnTo>
                  <a:pt x="4983967" y="125089"/>
                </a:lnTo>
                <a:lnTo>
                  <a:pt x="4953428" y="89487"/>
                </a:lnTo>
                <a:lnTo>
                  <a:pt x="4917826" y="58948"/>
                </a:lnTo>
                <a:lnTo>
                  <a:pt x="4877788" y="34101"/>
                </a:lnTo>
                <a:lnTo>
                  <a:pt x="4833945" y="15575"/>
                </a:lnTo>
                <a:lnTo>
                  <a:pt x="4786924" y="3998"/>
                </a:lnTo>
                <a:lnTo>
                  <a:pt x="4737354" y="0"/>
                </a:lnTo>
                <a:close/>
              </a:path>
            </a:pathLst>
          </a:custGeom>
          <a:solidFill>
            <a:srgbClr val="2E5E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2">
            <a:extLst>
              <a:ext uri="{FF2B5EF4-FFF2-40B4-BE49-F238E27FC236}">
                <a16:creationId xmlns:a16="http://schemas.microsoft.com/office/drawing/2014/main" id="{6850FFD1-89FA-D75F-FC5C-D240B6E8A00B}"/>
              </a:ext>
            </a:extLst>
          </p:cNvPr>
          <p:cNvSpPr txBox="1">
            <a:spLocks/>
          </p:cNvSpPr>
          <p:nvPr/>
        </p:nvSpPr>
        <p:spPr>
          <a:xfrm>
            <a:off x="1716257" y="2233117"/>
            <a:ext cx="8371840" cy="19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lang="zh-CN" altLang="en-US" sz="2800" spc="-10" dirty="0">
                <a:solidFill>
                  <a:srgbClr val="042A63"/>
                </a:solidFill>
              </a:rPr>
              <a:t>一、总览</a:t>
            </a:r>
          </a:p>
          <a:p>
            <a:pPr marL="16510" marR="5080">
              <a:lnSpc>
                <a:spcPts val="5710"/>
              </a:lnSpc>
              <a:spcBef>
                <a:spcPts val="545"/>
              </a:spcBef>
            </a:pPr>
            <a:r>
              <a:rPr lang="zh-CN" altLang="en-US" sz="2800" spc="-10" dirty="0">
                <a:solidFill>
                  <a:srgbClr val="042A63"/>
                </a:solidFill>
              </a:rPr>
              <a:t>二、任务</a:t>
            </a:r>
            <a:endParaRPr lang="en-US" altLang="zh-CN" sz="2800" spc="-10" dirty="0">
              <a:solidFill>
                <a:srgbClr val="042A63"/>
              </a:solidFill>
            </a:endParaRPr>
          </a:p>
          <a:p>
            <a:pPr marL="16510" marR="5080">
              <a:lnSpc>
                <a:spcPts val="5710"/>
              </a:lnSpc>
              <a:spcBef>
                <a:spcPts val="545"/>
              </a:spcBef>
            </a:pPr>
            <a:r>
              <a:rPr lang="zh-CN" altLang="en-US" sz="2800" spc="-10" dirty="0">
                <a:solidFill>
                  <a:schemeClr val="bg1"/>
                </a:solidFill>
              </a:rPr>
              <a:t>三、解题思路</a:t>
            </a:r>
          </a:p>
        </p:txBody>
      </p:sp>
    </p:spTree>
    <p:extLst>
      <p:ext uri="{BB962C8B-B14F-4D97-AF65-F5344CB8AC3E}">
        <p14:creationId xmlns:p14="http://schemas.microsoft.com/office/powerpoint/2010/main" val="2788876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3"/>
    </mc:Choice>
    <mc:Fallback xmlns="">
      <p:transition spd="slow" advTm="173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79794D0-DD81-411D-96D9-356680217CD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解题思路</a:t>
            </a:r>
            <a:endParaRPr lang="LID4096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A0AD707-E652-D908-6CCC-7F7C1B5DF39F}"/>
              </a:ext>
            </a:extLst>
          </p:cNvPr>
          <p:cNvSpPr txBox="1"/>
          <p:nvPr/>
        </p:nvSpPr>
        <p:spPr>
          <a:xfrm>
            <a:off x="587396" y="1059735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参考：只使用顶点着色器和片元着色器的思路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3174DE9-FFE0-CF14-7E72-D35B3573F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00" y="1549720"/>
            <a:ext cx="5186005" cy="1926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CD5DCDA-D34A-4FCE-A531-65F8004AEE5F}"/>
              </a:ext>
            </a:extLst>
          </p:cNvPr>
          <p:cNvSpPr txBox="1"/>
          <p:nvPr/>
        </p:nvSpPr>
        <p:spPr>
          <a:xfrm>
            <a:off x="6045032" y="2189568"/>
            <a:ext cx="495804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dirty="0"/>
          </a:p>
          <a:p>
            <a:r>
              <a:rPr lang="zh-CN" altLang="en-US" dirty="0"/>
              <a:t>顶点着色器：</a:t>
            </a:r>
            <a:endParaRPr lang="en-US" altLang="zh-CN" dirty="0"/>
          </a:p>
          <a:p>
            <a:r>
              <a:rPr lang="zh-CN" altLang="en-US" dirty="0"/>
              <a:t>为片元着色器传入需要渲染的像素坐标；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片元着色器：</a:t>
            </a:r>
            <a:br>
              <a:rPr lang="en-US" altLang="zh-CN" dirty="0"/>
            </a:br>
            <a:r>
              <a:rPr lang="zh-CN" altLang="en-US" dirty="0"/>
              <a:t>对顶点着色器传入的坐标计算着色；</a:t>
            </a:r>
            <a:br>
              <a:rPr lang="en-US" altLang="zh-CN" dirty="0"/>
            </a:br>
            <a:r>
              <a:rPr lang="zh-CN" altLang="en-US" dirty="0"/>
              <a:t>而对像素着色的过程是并行的，因此在这部分可以使用</a:t>
            </a:r>
            <a:r>
              <a:rPr lang="en-US" altLang="zh-CN" dirty="0"/>
              <a:t>GPU</a:t>
            </a:r>
            <a:r>
              <a:rPr lang="zh-CN" altLang="en-US" dirty="0"/>
              <a:t>加速。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26EB0591-FC40-992D-46A2-AD6C2ACC23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55" y="3504067"/>
            <a:ext cx="4904650" cy="2619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5161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927E4-6E0F-C8BD-C68D-1015E5AA0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1FA3666-3C47-242D-E013-EE3E295493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解题思路</a:t>
            </a:r>
            <a:endParaRPr lang="LID4096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E08471A-8197-1C43-CCD0-CD4FDC8D56EE}"/>
              </a:ext>
            </a:extLst>
          </p:cNvPr>
          <p:cNvSpPr txBox="1"/>
          <p:nvPr/>
        </p:nvSpPr>
        <p:spPr>
          <a:xfrm>
            <a:off x="660400" y="1217180"/>
            <a:ext cx="109982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参考：</a:t>
            </a:r>
            <a:endParaRPr lang="en-US" altLang="zh-CN" sz="2000" dirty="0"/>
          </a:p>
          <a:p>
            <a:pPr marL="457200" indent="-457200">
              <a:buAutoNum type="arabicPeriod"/>
            </a:pPr>
            <a:r>
              <a:rPr lang="en-US" altLang="zh-CN" sz="2000" dirty="0"/>
              <a:t>CPP</a:t>
            </a:r>
            <a:r>
              <a:rPr lang="zh-CN" altLang="en-US" sz="2000" dirty="0"/>
              <a:t>准备：首先创建一个 </a:t>
            </a:r>
            <a:r>
              <a:rPr lang="en-US" altLang="zh-CN" sz="2000" dirty="0"/>
              <a:t>VAO</a:t>
            </a:r>
            <a:r>
              <a:rPr lang="zh-CN" altLang="en-US" sz="2000" dirty="0"/>
              <a:t>，仅用于定义一个覆盖全屏的 </a:t>
            </a:r>
            <a:r>
              <a:rPr lang="en-US" altLang="zh-CN" sz="2000" dirty="0"/>
              <a:t>2D </a:t>
            </a:r>
            <a:r>
              <a:rPr lang="zh-CN" altLang="en-US" sz="2000" dirty="0"/>
              <a:t>矩形（由两个三角形组成），其坐标为裁剪空间坐标。</a:t>
            </a:r>
            <a:endParaRPr lang="en-US" altLang="zh-CN" sz="2000" dirty="0"/>
          </a:p>
          <a:p>
            <a:pPr marL="457200" indent="-457200">
              <a:buAutoNum type="arabicPeriod"/>
            </a:pPr>
            <a:r>
              <a:rPr lang="en-US" altLang="zh-CN" sz="2000" dirty="0"/>
              <a:t>“</a:t>
            </a:r>
            <a:r>
              <a:rPr lang="zh-CN" altLang="en-US" sz="2000" dirty="0"/>
              <a:t>欺骗</a:t>
            </a:r>
            <a:r>
              <a:rPr lang="en-US" altLang="zh-CN" sz="2000" dirty="0"/>
              <a:t>”Vertex Shader</a:t>
            </a:r>
            <a:r>
              <a:rPr lang="zh-CN" altLang="en-US" sz="2000" dirty="0"/>
              <a:t>：不对</a:t>
            </a:r>
            <a:r>
              <a:rPr lang="en-US" altLang="zh-CN" sz="2000" dirty="0"/>
              <a:t>2D </a:t>
            </a:r>
            <a:r>
              <a:rPr lang="zh-CN" altLang="en-US" sz="2000" dirty="0"/>
              <a:t>矩形进行任何</a:t>
            </a:r>
            <a:r>
              <a:rPr lang="en-US" altLang="zh-CN" sz="2000" dirty="0"/>
              <a:t>MVP</a:t>
            </a:r>
            <a:r>
              <a:rPr lang="zh-CN" altLang="en-US" sz="2000" dirty="0"/>
              <a:t>，将此坐标赋给 </a:t>
            </a:r>
            <a:r>
              <a:rPr lang="en-US" altLang="zh-CN" dirty="0" err="1"/>
              <a:t>gl_Position</a:t>
            </a:r>
            <a:r>
              <a:rPr lang="zh-CN" altLang="en-US" dirty="0"/>
              <a:t>。这步在后续光栅化为屏幕每个像素生成一个片元。</a:t>
            </a:r>
            <a:endParaRPr lang="en-US" altLang="zh-CN" dirty="0"/>
          </a:p>
          <a:p>
            <a:pPr marL="457200" indent="-457200">
              <a:buAutoNum type="arabicPeriod"/>
            </a:pPr>
            <a:r>
              <a:rPr lang="en-US" altLang="zh-CN" sz="2000" dirty="0"/>
              <a:t>Fragment Shader</a:t>
            </a:r>
            <a:r>
              <a:rPr lang="zh-CN" altLang="en-US" sz="2000" dirty="0"/>
              <a:t>光追：</a:t>
            </a:r>
            <a:endParaRPr lang="en-US" altLang="zh-CN" sz="2000" dirty="0"/>
          </a:p>
          <a:p>
            <a:pPr marL="914400" lvl="1" indent="-457200">
              <a:buAutoNum type="arabicPeriod"/>
            </a:pPr>
            <a:r>
              <a:rPr lang="zh-CN" altLang="en-US" sz="2000" dirty="0"/>
              <a:t>通过</a:t>
            </a:r>
            <a:r>
              <a:rPr lang="en-US" altLang="zh-CN" sz="2000" dirty="0"/>
              <a:t>uniforms </a:t>
            </a:r>
            <a:r>
              <a:rPr lang="zh-CN" altLang="en-US" sz="2000" dirty="0"/>
              <a:t>接收 </a:t>
            </a:r>
            <a:r>
              <a:rPr lang="en-US" altLang="zh-CN" sz="2000" dirty="0"/>
              <a:t>C++ </a:t>
            </a:r>
            <a:r>
              <a:rPr lang="zh-CN" altLang="en-US" sz="2000" dirty="0"/>
              <a:t>传入的完整 </a:t>
            </a:r>
            <a:r>
              <a:rPr lang="en-US" altLang="zh-CN" sz="2000" dirty="0"/>
              <a:t>3D </a:t>
            </a:r>
            <a:r>
              <a:rPr lang="zh-CN" altLang="en-US" sz="2000" dirty="0"/>
              <a:t>场景数据（光源、相机、物体等）；</a:t>
            </a:r>
            <a:endParaRPr lang="en-US" altLang="zh-CN" sz="2000" dirty="0"/>
          </a:p>
          <a:p>
            <a:pPr marL="914400" lvl="1" indent="-457200">
              <a:buAutoNum type="arabicPeriod"/>
            </a:pPr>
            <a:r>
              <a:rPr lang="zh-CN" altLang="en-US" sz="2000" dirty="0"/>
              <a:t>在</a:t>
            </a:r>
            <a:r>
              <a:rPr lang="en-US" altLang="zh-CN" sz="2000" dirty="0"/>
              <a:t>Shader</a:t>
            </a:r>
            <a:r>
              <a:rPr lang="zh-CN" altLang="en-US" sz="2000" dirty="0"/>
              <a:t>中实现作业五的相交与着色，最终计算出的颜色为</a:t>
            </a:r>
            <a:r>
              <a:rPr lang="en-US" altLang="zh-CN" sz="2000" dirty="0" err="1"/>
              <a:t>FragColor</a:t>
            </a:r>
            <a:r>
              <a:rPr lang="zh-CN" altLang="en-US" sz="2000" dirty="0"/>
              <a:t>。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2282698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3542</TotalTime>
  <Words>456</Words>
  <Application>Microsoft Office PowerPoint</Application>
  <PresentationFormat>宽屏</PresentationFormat>
  <Paragraphs>52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微软雅黑</vt:lpstr>
      <vt:lpstr>Arial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JZ Yu</dc:creator>
  <cp:lastModifiedBy>艾恒 蒋</cp:lastModifiedBy>
  <cp:revision>99</cp:revision>
  <dcterms:created xsi:type="dcterms:W3CDTF">2023-08-09T12:44:55Z</dcterms:created>
  <dcterms:modified xsi:type="dcterms:W3CDTF">2025-11-10T13:25:00Z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2052-12.1.0.15259</vt:lpwstr>
  </property>
</Properties>
</file>