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1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g.cs.tsinghua.edu.cn/jittor/" TargetMode="External"/><Relationship Id="rId2" Type="http://schemas.openxmlformats.org/officeDocument/2006/relationships/hyperlink" Target="https://www.educoder.net/paths/89rcg6jn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gitlink.org.cn/Jittor/jittor" TargetMode="External"/><Relationship Id="rId4" Type="http://schemas.openxmlformats.org/officeDocument/2006/relationships/hyperlink" Target="https://github.com/Jittor/Jitt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FC0E85D-20FD-488E-A32F-68ADF988538C}"/>
              </a:ext>
            </a:extLst>
          </p:cNvPr>
          <p:cNvSpPr txBox="1"/>
          <p:nvPr/>
        </p:nvSpPr>
        <p:spPr>
          <a:xfrm>
            <a:off x="190005" y="130628"/>
            <a:ext cx="2517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题目一</a:t>
            </a:r>
            <a:endParaRPr lang="LID4096" sz="12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C5AADC8-BDAB-4E7A-8658-D940690D9EBB}"/>
              </a:ext>
            </a:extLst>
          </p:cNvPr>
          <p:cNvSpPr txBox="1"/>
          <p:nvPr/>
        </p:nvSpPr>
        <p:spPr>
          <a:xfrm>
            <a:off x="6419974" y="211951"/>
            <a:ext cx="2517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题目二</a:t>
            </a:r>
            <a:endParaRPr lang="LID4096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0B0CDF-9D90-4BBC-832A-AB1BC29718B1}"/>
              </a:ext>
            </a:extLst>
          </p:cNvPr>
          <p:cNvSpPr txBox="1"/>
          <p:nvPr/>
        </p:nvSpPr>
        <p:spPr>
          <a:xfrm>
            <a:off x="231569" y="3689976"/>
            <a:ext cx="2517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题目三</a:t>
            </a:r>
            <a:endParaRPr lang="LID4096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1AFA7F-898A-48AE-84A9-7080F0F8EF51}"/>
              </a:ext>
            </a:extLst>
          </p:cNvPr>
          <p:cNvSpPr txBox="1"/>
          <p:nvPr/>
        </p:nvSpPr>
        <p:spPr>
          <a:xfrm>
            <a:off x="6537195" y="5499438"/>
            <a:ext cx="542323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[1]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050" dirty="0">
                <a:solidFill>
                  <a:srgbClr val="222222"/>
                </a:solidFill>
                <a:latin typeface="Arial" panose="020B0604020202020204" pitchFamily="34" charset="0"/>
              </a:rPr>
              <a:t>Hsueh-Ti Derek Liu, Vladimir G. Kim, Siddhartha Chaudhuri, Noam </a:t>
            </a:r>
            <a:r>
              <a:rPr lang="en-US" sz="1050" dirty="0" err="1">
                <a:solidFill>
                  <a:srgbClr val="222222"/>
                </a:solidFill>
                <a:latin typeface="Arial" panose="020B0604020202020204" pitchFamily="34" charset="0"/>
              </a:rPr>
              <a:t>Aigerman</a:t>
            </a:r>
            <a:r>
              <a:rPr lang="en-US" sz="1050" dirty="0">
                <a:solidFill>
                  <a:srgbClr val="222222"/>
                </a:solidFill>
                <a:latin typeface="Arial" panose="020B0604020202020204" pitchFamily="34" charset="0"/>
              </a:rPr>
              <a:t>, and Alec Jacobson. 2020. Neural subdivision. ACM Trans. Graph. 39, 4, Article 124 (August 2020), 16 pages. https://doi.org/10.1145/3386569.3392418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1050" dirty="0"/>
          </a:p>
          <a:p>
            <a:r>
              <a:rPr lang="en-US" sz="1050" dirty="0"/>
              <a:t>[2] D. Zhang, C. Xian, G. Luo, Y. Xiong and C. Han, "</a:t>
            </a:r>
            <a:r>
              <a:rPr lang="en-US" sz="1050" dirty="0" err="1"/>
              <a:t>DeepAO</a:t>
            </a:r>
            <a:r>
              <a:rPr lang="en-US" sz="1050" dirty="0"/>
              <a:t>: Efficient Screen Space Ambient Occlusion Generation via Deep Network," in IEEE Access, vol. 8, pp. 64434-64441, 2020, </a:t>
            </a:r>
            <a:r>
              <a:rPr lang="en-US" sz="1050" dirty="0" err="1"/>
              <a:t>doi</a:t>
            </a:r>
            <a:r>
              <a:rPr lang="en-US" sz="1050" dirty="0"/>
              <a:t>: 10.1109/ACCESS.</a:t>
            </a:r>
            <a:r>
              <a:rPr lang="en-US" sz="1050"/>
              <a:t>2020.2984771.</a:t>
            </a:r>
            <a:endParaRPr lang="en-US" sz="105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895A1E-95E4-467C-85E1-14A8B8228341}"/>
              </a:ext>
            </a:extLst>
          </p:cNvPr>
          <p:cNvSpPr txBox="1"/>
          <p:nvPr/>
        </p:nvSpPr>
        <p:spPr>
          <a:xfrm>
            <a:off x="2184788" y="5667015"/>
            <a:ext cx="458387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b="0" i="0" dirty="0" err="1">
                <a:effectLst/>
                <a:latin typeface="mp-quote"/>
              </a:rPr>
              <a:t>Jittor</a:t>
            </a:r>
            <a:r>
              <a:rPr lang="zh-CN" altLang="en-US" sz="1050" b="0" i="0" dirty="0">
                <a:effectLst/>
                <a:latin typeface="mp-quote"/>
              </a:rPr>
              <a:t>深度学习框架实践课程的主页是</a:t>
            </a:r>
            <a:r>
              <a:rPr lang="en-US" altLang="zh-CN" sz="1050" b="0" i="0" dirty="0">
                <a:effectLst/>
                <a:latin typeface="mp-quote"/>
              </a:rPr>
              <a:t>:</a:t>
            </a:r>
          </a:p>
          <a:p>
            <a:r>
              <a:rPr lang="en-US" altLang="zh-CN" sz="1050" b="0" i="0" dirty="0">
                <a:effectLst/>
                <a:latin typeface="mp-quote"/>
                <a:hlinkClick r:id="rId2"/>
              </a:rPr>
              <a:t>https://www.educoder.net/paths/89rcg6jn</a:t>
            </a:r>
            <a:endParaRPr lang="en-US" altLang="zh-CN" sz="1050" dirty="0">
              <a:latin typeface="mp-quote"/>
            </a:endParaRPr>
          </a:p>
          <a:p>
            <a:r>
              <a:rPr lang="en-US" sz="1050" b="0" i="0" dirty="0" err="1">
                <a:effectLst/>
                <a:latin typeface="mp-quote"/>
              </a:rPr>
              <a:t>Jittor</a:t>
            </a:r>
            <a:r>
              <a:rPr lang="zh-CN" altLang="en-US" sz="1050" b="0" i="0" dirty="0">
                <a:effectLst/>
                <a:latin typeface="mp-quote"/>
              </a:rPr>
              <a:t>的教程和相关信息，详见</a:t>
            </a:r>
            <a:r>
              <a:rPr lang="en-US" sz="1050" b="0" i="0" dirty="0" err="1">
                <a:effectLst/>
                <a:latin typeface="mp-quote"/>
              </a:rPr>
              <a:t>Jittor</a:t>
            </a:r>
            <a:r>
              <a:rPr lang="zh-CN" altLang="en-US" sz="1050" b="0" i="0" dirty="0">
                <a:effectLst/>
                <a:latin typeface="mp-quote"/>
              </a:rPr>
              <a:t>官网、</a:t>
            </a:r>
            <a:r>
              <a:rPr lang="en-US" sz="1050" b="0" i="0" dirty="0">
                <a:effectLst/>
                <a:latin typeface="mp-quote"/>
              </a:rPr>
              <a:t>GitHub</a:t>
            </a:r>
            <a:r>
              <a:rPr lang="zh-CN" altLang="en-US" sz="1050" b="0" i="0" dirty="0">
                <a:effectLst/>
                <a:latin typeface="mp-quote"/>
              </a:rPr>
              <a:t>网页或</a:t>
            </a:r>
            <a:r>
              <a:rPr lang="en-US" sz="1050" b="0" i="0" dirty="0" err="1">
                <a:effectLst/>
                <a:latin typeface="mp-quote"/>
              </a:rPr>
              <a:t>Gitlink</a:t>
            </a:r>
            <a:r>
              <a:rPr lang="zh-CN" altLang="en-US" sz="1050" b="0" i="0" dirty="0">
                <a:effectLst/>
                <a:latin typeface="mp-quote"/>
              </a:rPr>
              <a:t>网页：</a:t>
            </a:r>
            <a:endParaRPr lang="en-US" altLang="zh-CN" sz="1050" b="0" i="0" dirty="0">
              <a:effectLst/>
              <a:latin typeface="mp-quote"/>
            </a:endParaRPr>
          </a:p>
          <a:p>
            <a:r>
              <a:rPr lang="en-US" sz="1050" dirty="0">
                <a:hlinkClick r:id="rId3"/>
              </a:rPr>
              <a:t>https://cg.cs.tsinghua.edu.cn/jittor/</a:t>
            </a:r>
            <a:endParaRPr lang="en-US" sz="1050" dirty="0"/>
          </a:p>
          <a:p>
            <a:r>
              <a:rPr lang="en-US" sz="1050" dirty="0">
                <a:hlinkClick r:id="rId4"/>
              </a:rPr>
              <a:t>https://github.com/Jittor/Jittor</a:t>
            </a:r>
            <a:endParaRPr lang="en-US" sz="1050" dirty="0"/>
          </a:p>
          <a:p>
            <a:r>
              <a:rPr lang="en-US" sz="1050" dirty="0">
                <a:hlinkClick r:id="rId5"/>
              </a:rPr>
              <a:t>https://www.gitlink.org.cn/Jittor/jittor</a:t>
            </a:r>
            <a:endParaRPr lang="LID4096" sz="105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6A19D5-DBB3-E538-F556-A5FBA01099C2}"/>
              </a:ext>
            </a:extLst>
          </p:cNvPr>
          <p:cNvSpPr txBox="1"/>
          <p:nvPr/>
        </p:nvSpPr>
        <p:spPr>
          <a:xfrm>
            <a:off x="190005" y="407627"/>
            <a:ext cx="48696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基于计图的神经细分（</a:t>
            </a:r>
            <a:r>
              <a:rPr lang="en-US" altLang="zh-CN" sz="1200" b="1" dirty="0"/>
              <a:t>Neural Subdivision</a:t>
            </a:r>
            <a:r>
              <a:rPr lang="zh-CN" altLang="en-US" sz="1200" b="1" dirty="0"/>
              <a:t>）完整复现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介绍</a:t>
            </a:r>
            <a:r>
              <a:rPr lang="zh-CN" altLang="en-US" sz="1200" b="1" dirty="0"/>
              <a:t>：</a:t>
            </a:r>
            <a:r>
              <a:rPr lang="zh-CN" altLang="en-US" sz="1200" dirty="0"/>
              <a:t>本项目旨在完整复现</a:t>
            </a:r>
            <a:r>
              <a:rPr lang="en-US" altLang="zh-CN" sz="1200" dirty="0"/>
              <a:t>《Neural Subdivision》</a:t>
            </a:r>
            <a:r>
              <a:rPr lang="zh-CN" altLang="en-US" sz="1200" dirty="0"/>
              <a:t>的核心框架</a:t>
            </a:r>
            <a:r>
              <a:rPr lang="en-US" altLang="zh-CN" sz="1200" dirty="0"/>
              <a:t>[1]</a:t>
            </a:r>
            <a:r>
              <a:rPr lang="zh-CN" altLang="en-US" sz="1200" dirty="0"/>
              <a:t>。经典细分算法（如 </a:t>
            </a:r>
            <a:r>
              <a:rPr lang="en-US" altLang="zh-CN" sz="1200" dirty="0"/>
              <a:t>Loop </a:t>
            </a:r>
            <a:r>
              <a:rPr lang="zh-CN" altLang="en-US" sz="1200" dirty="0"/>
              <a:t>）使用固定的线性平均规则 ，这会导致过度平滑并丢失细节 。本项目将使用 </a:t>
            </a:r>
            <a:r>
              <a:rPr lang="en-US" altLang="zh-CN" sz="1200" dirty="0" err="1"/>
              <a:t>Jittor</a:t>
            </a:r>
            <a:r>
              <a:rPr lang="en-US" altLang="zh-CN" sz="1200" dirty="0"/>
              <a:t> </a:t>
            </a:r>
            <a:r>
              <a:rPr lang="zh-CN" altLang="en-US" sz="1200" dirty="0"/>
              <a:t>框架训练一个神经网络，该网络学习一种</a:t>
            </a:r>
            <a:r>
              <a:rPr lang="zh-CN" altLang="en-US" sz="1200" b="1" dirty="0"/>
              <a:t>依赖于几何</a:t>
            </a:r>
            <a:r>
              <a:rPr lang="zh-CN" altLang="en-US" sz="1200" dirty="0"/>
              <a:t>的非线性细分规则 。在推理时，网络接收一个粗糙的三角网格，并递归地应用 </a:t>
            </a:r>
            <a:r>
              <a:rPr lang="en-US" altLang="zh-CN" sz="1200" dirty="0"/>
              <a:t>Loop </a:t>
            </a:r>
            <a:r>
              <a:rPr lang="zh-CN" altLang="en-US" sz="1200" dirty="0"/>
              <a:t>细分的拓扑规则（即在每条边的中点插入新顶点），但使用神经网络来</a:t>
            </a:r>
            <a:r>
              <a:rPr lang="zh-CN" altLang="en-US" sz="1200" b="1" dirty="0"/>
              <a:t>预测</a:t>
            </a:r>
            <a:r>
              <a:rPr lang="zh-CN" altLang="en-US" sz="1200" dirty="0"/>
              <a:t>所有顶点（包括新旧顶点）的精确位置 ，从而重建出高质量、高精度的模型。</a:t>
            </a: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数据集参考</a:t>
            </a:r>
            <a:r>
              <a:rPr lang="zh-CN" altLang="en-US" sz="1200" b="1" dirty="0"/>
              <a:t>：</a:t>
            </a:r>
            <a:r>
              <a:rPr lang="zh-CN" altLang="en-US" sz="1200" dirty="0"/>
              <a:t> 本项目的核心挑战之一是其</a:t>
            </a:r>
            <a:r>
              <a:rPr lang="zh-CN" altLang="en-US" sz="1200" b="1" dirty="0"/>
              <a:t>自监督</a:t>
            </a:r>
            <a:r>
              <a:rPr lang="zh-CN" altLang="en-US" sz="1200" dirty="0"/>
              <a:t>的数据集构建 。你不需要成对的粗</a:t>
            </a:r>
            <a:r>
              <a:rPr lang="en-US" altLang="zh-CN" sz="1200" dirty="0"/>
              <a:t>/</a:t>
            </a:r>
            <a:r>
              <a:rPr lang="zh-CN" altLang="en-US" sz="1200" dirty="0"/>
              <a:t>精网格，因此我们的</a:t>
            </a:r>
            <a:r>
              <a:rPr lang="zh-CN" altLang="en-US" sz="1200" b="1" dirty="0">
                <a:solidFill>
                  <a:srgbClr val="FF0000"/>
                </a:solidFill>
              </a:rPr>
              <a:t>要求</a:t>
            </a:r>
            <a:r>
              <a:rPr lang="zh-CN" altLang="en-US" sz="1200" dirty="0"/>
              <a:t>为：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lang="zh-CN" altLang="en-US" sz="1200" dirty="0"/>
              <a:t>使用 </a:t>
            </a:r>
            <a:r>
              <a:rPr lang="en-US" altLang="zh-CN" sz="1200" dirty="0" err="1"/>
              <a:t>Jittor</a:t>
            </a:r>
            <a:r>
              <a:rPr lang="en-US" altLang="zh-CN" sz="1200" dirty="0"/>
              <a:t> </a:t>
            </a:r>
            <a:r>
              <a:rPr lang="zh-CN" altLang="en-US" sz="1200" dirty="0"/>
              <a:t>训练</a:t>
            </a:r>
            <a:r>
              <a:rPr lang="zh-CN" altLang="en-US" sz="1200" b="1" dirty="0"/>
              <a:t>至少</a:t>
            </a:r>
            <a:r>
              <a:rPr lang="zh-CN" altLang="en-US" sz="1200" b="1" dirty="0">
                <a:solidFill>
                  <a:srgbClr val="FF0000"/>
                </a:solidFill>
              </a:rPr>
              <a:t>两个</a:t>
            </a:r>
            <a:r>
              <a:rPr lang="zh-CN" altLang="en-US" sz="1200" dirty="0"/>
              <a:t>不同“风格”的神经细分模型。然后，使用</a:t>
            </a:r>
            <a:r>
              <a:rPr lang="zh-CN" altLang="en-US" sz="1200" b="1" dirty="0"/>
              <a:t>同一个</a:t>
            </a:r>
            <a:r>
              <a:rPr lang="zh-CN" altLang="en-US" sz="1200" dirty="0"/>
              <a:t>粗糙输入网格，分别通过这两个模型进行细分，并对比分析其结果，可参考的风格为：</a:t>
            </a:r>
            <a:endParaRPr lang="en-US" altLang="zh-CN" sz="1200" dirty="0"/>
          </a:p>
          <a:p>
            <a:pPr marL="685800" lvl="1" indent="-228600">
              <a:buAutoNum type="arabicPeriod"/>
            </a:pPr>
            <a:r>
              <a:rPr lang="en-US" altLang="zh-CN" sz="1200" dirty="0"/>
              <a:t>CAD</a:t>
            </a:r>
            <a:r>
              <a:rPr lang="zh-CN" altLang="en-US" sz="1200" dirty="0"/>
              <a:t>风格</a:t>
            </a:r>
            <a:r>
              <a:rPr lang="en-US" altLang="zh-CN" sz="1200" dirty="0"/>
              <a:t>(</a:t>
            </a:r>
            <a:r>
              <a:rPr lang="zh-CN" altLang="en-US" sz="1200" dirty="0"/>
              <a:t>使用清晰边缘、平面的人造物体</a:t>
            </a:r>
            <a:r>
              <a:rPr lang="en-US" altLang="zh-CN" sz="1200" dirty="0"/>
              <a:t>)</a:t>
            </a:r>
          </a:p>
          <a:p>
            <a:pPr marL="685800" lvl="1" indent="-228600">
              <a:buAutoNum type="arabicPeriod"/>
            </a:pPr>
            <a:r>
              <a:rPr lang="zh-CN" altLang="en-US" sz="1200" dirty="0"/>
              <a:t>平滑的有机模型</a:t>
            </a:r>
            <a:r>
              <a:rPr lang="en-US" altLang="zh-CN" sz="1200" dirty="0"/>
              <a:t>(TOSCA </a:t>
            </a:r>
            <a:r>
              <a:rPr lang="zh-CN" altLang="en-US" sz="1200" dirty="0"/>
              <a:t>数据集 中的动物（马、猫、狗等）、人物模型</a:t>
            </a:r>
            <a:r>
              <a:rPr lang="en-US" altLang="zh-CN" sz="1200" dirty="0"/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A4C080-4652-EED7-FD78-B5A12B007F48}"/>
              </a:ext>
            </a:extLst>
          </p:cNvPr>
          <p:cNvSpPr txBox="1"/>
          <p:nvPr/>
        </p:nvSpPr>
        <p:spPr>
          <a:xfrm>
            <a:off x="6419974" y="488950"/>
            <a:ext cx="5232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基于计图的蒙特卡洛渲染去噪</a:t>
            </a:r>
            <a:endParaRPr lang="en-US" altLang="zh-CN" sz="1200" b="1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介绍</a:t>
            </a:r>
            <a:r>
              <a:rPr lang="zh-CN" altLang="en-US" sz="1200" dirty="0"/>
              <a:t>：在路径追踪这种渲染技术中，为了模拟光线的复杂弹射，我们使用蒙特卡洛方法，但这种方法在低采样率（</a:t>
            </a:r>
            <a:r>
              <a:rPr lang="en-US" altLang="zh-CN" sz="1200" dirty="0"/>
              <a:t>SPP</a:t>
            </a:r>
            <a:r>
              <a:rPr lang="zh-CN" altLang="en-US" sz="1200" dirty="0"/>
              <a:t>）的情况下会产生噪点。因此，本题旨在</a:t>
            </a:r>
            <a:r>
              <a:rPr lang="zh-CN" altLang="en-US" sz="1200" b="1" dirty="0"/>
              <a:t>训练一个卷积神经网络</a:t>
            </a:r>
            <a:r>
              <a:rPr lang="zh-CN" altLang="en-US" sz="1200" dirty="0"/>
              <a:t>，用计图框架实现一个“智能去噪器”，对一张新的（未参与训练的）带</a:t>
            </a:r>
            <a:r>
              <a:rPr lang="zh-CN" altLang="en-US" sz="1200" b="1" dirty="0"/>
              <a:t>噪渲染图像进行去噪</a:t>
            </a:r>
            <a:r>
              <a:rPr lang="zh-CN" altLang="en-US" sz="1200" dirty="0"/>
              <a:t>，最终输出一张有一定效果的去噪图像。</a:t>
            </a: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数据集参考</a:t>
            </a:r>
            <a:r>
              <a:rPr lang="zh-CN" altLang="en-US" sz="1200" dirty="0"/>
              <a:t>：使用蒙特卡洛渲染几组场景，每个场景渲染两张图：一张低</a:t>
            </a:r>
            <a:r>
              <a:rPr lang="en-US" altLang="zh-CN" sz="1200" dirty="0"/>
              <a:t>SPP</a:t>
            </a:r>
            <a:r>
              <a:rPr lang="zh-CN" altLang="en-US" sz="1200" dirty="0"/>
              <a:t>的（例如：</a:t>
            </a:r>
            <a:r>
              <a:rPr lang="en-US" altLang="zh-CN" sz="1200" dirty="0"/>
              <a:t>8 SPP</a:t>
            </a:r>
            <a:r>
              <a:rPr lang="zh-CN" altLang="en-US" sz="1200" dirty="0"/>
              <a:t>，作为输入</a:t>
            </a:r>
            <a:r>
              <a:rPr lang="en-US" altLang="zh-CN" sz="1200" dirty="0"/>
              <a:t>X</a:t>
            </a:r>
            <a:r>
              <a:rPr lang="zh-CN" altLang="en-US" sz="1200" dirty="0"/>
              <a:t>，充满噪点），一张高</a:t>
            </a:r>
            <a:r>
              <a:rPr lang="en-US" altLang="zh-CN" sz="1200" dirty="0"/>
              <a:t>SPP</a:t>
            </a:r>
            <a:r>
              <a:rPr lang="zh-CN" altLang="en-US" sz="1200" dirty="0"/>
              <a:t>的（例如：</a:t>
            </a:r>
            <a:r>
              <a:rPr lang="en-US" altLang="zh-CN" sz="1200" dirty="0"/>
              <a:t>1024 SPP</a:t>
            </a:r>
            <a:r>
              <a:rPr lang="zh-CN" altLang="en-US" sz="1200" dirty="0"/>
              <a:t>，作为真值</a:t>
            </a:r>
            <a:r>
              <a:rPr lang="en-US" altLang="zh-CN" sz="1200" dirty="0"/>
              <a:t>Y</a:t>
            </a:r>
            <a:r>
              <a:rPr lang="zh-CN" altLang="en-US" sz="1200" dirty="0"/>
              <a:t>，非常清晰）。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576BC-B065-644F-0797-A0598A88377F}"/>
              </a:ext>
            </a:extLst>
          </p:cNvPr>
          <p:cNvSpPr txBox="1"/>
          <p:nvPr/>
        </p:nvSpPr>
        <p:spPr>
          <a:xfrm>
            <a:off x="231569" y="3966975"/>
            <a:ext cx="5232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基于</a:t>
            </a:r>
            <a:r>
              <a:rPr lang="zh-CN" altLang="en-US" sz="1200" b="1" dirty="0"/>
              <a:t>计图</a:t>
            </a:r>
            <a:r>
              <a:rPr lang="zh-CN" altLang="zh-CN" sz="1200" b="1" dirty="0"/>
              <a:t>神经网络的角色动画插值</a:t>
            </a:r>
          </a:p>
          <a:p>
            <a:r>
              <a:rPr lang="zh-CN" altLang="zh-CN" sz="1200" b="1" dirty="0">
                <a:solidFill>
                  <a:srgbClr val="FF0000"/>
                </a:solidFill>
              </a:rPr>
              <a:t>介绍</a:t>
            </a:r>
            <a:r>
              <a:rPr lang="zh-CN" altLang="zh-CN" sz="1200" dirty="0"/>
              <a:t>：在</a:t>
            </a:r>
            <a:r>
              <a:rPr lang="en-US" altLang="zh-CN" sz="1200" dirty="0"/>
              <a:t>3D</a:t>
            </a:r>
            <a:r>
              <a:rPr lang="zh-CN" altLang="zh-CN" sz="1200" dirty="0"/>
              <a:t>动画中，一个角色的姿态（</a:t>
            </a:r>
            <a:r>
              <a:rPr lang="en-US" altLang="zh-CN" sz="1200" dirty="0"/>
              <a:t>Pose</a:t>
            </a:r>
            <a:r>
              <a:rPr lang="zh-CN" altLang="zh-CN" sz="1200" dirty="0"/>
              <a:t>）通常由其骨骼（</a:t>
            </a:r>
            <a:r>
              <a:rPr lang="en-US" altLang="zh-CN" sz="1200" dirty="0"/>
              <a:t>Skeleton</a:t>
            </a:r>
            <a:r>
              <a:rPr lang="zh-CN" altLang="zh-CN" sz="1200" dirty="0"/>
              <a:t>）中所有关节的旋转角度来定义（例如，一个包含</a:t>
            </a:r>
            <a:r>
              <a:rPr lang="en-US" altLang="zh-CN" sz="1200" dirty="0"/>
              <a:t>20</a:t>
            </a:r>
            <a:r>
              <a:rPr lang="zh-CN" altLang="zh-CN" sz="1200" dirty="0"/>
              <a:t>个关节、每个关节</a:t>
            </a:r>
            <a:r>
              <a:rPr lang="en-US" altLang="zh-CN" sz="1200" dirty="0"/>
              <a:t>3</a:t>
            </a:r>
            <a:r>
              <a:rPr lang="zh-CN" altLang="zh-CN" sz="1200" dirty="0"/>
              <a:t>个旋转角度的</a:t>
            </a:r>
            <a:r>
              <a:rPr lang="en-US" altLang="zh-CN" sz="1200" dirty="0"/>
              <a:t>60</a:t>
            </a:r>
            <a:r>
              <a:rPr lang="zh-CN" altLang="zh-CN" sz="1200" dirty="0"/>
              <a:t>维向量）。如果我们在第</a:t>
            </a:r>
            <a:r>
              <a:rPr lang="en-US" altLang="zh-CN" sz="1200" dirty="0"/>
              <a:t>0</a:t>
            </a:r>
            <a:r>
              <a:rPr lang="zh-CN" altLang="zh-CN" sz="1200" dirty="0"/>
              <a:t>帧有一个姿态（如“站立”），在第</a:t>
            </a:r>
            <a:r>
              <a:rPr lang="en-US" altLang="zh-CN" sz="1200" dirty="0"/>
              <a:t>30</a:t>
            </a:r>
            <a:r>
              <a:rPr lang="zh-CN" altLang="zh-CN" sz="1200" dirty="0"/>
              <a:t>帧有另一个姿态（如“举手”），传统的做法是使用“线性插值”来生成中间</a:t>
            </a:r>
            <a:r>
              <a:rPr lang="en-US" altLang="zh-CN" sz="1200" dirty="0"/>
              <a:t>29</a:t>
            </a:r>
            <a:r>
              <a:rPr lang="zh-CN" altLang="zh-CN" sz="1200" dirty="0"/>
              <a:t>帧，但这通常看起来会很僵硬。本题要求训练一个神经网络，</a:t>
            </a:r>
            <a:r>
              <a:rPr lang="zh-CN" altLang="zh-CN" sz="1200" b="1" dirty="0"/>
              <a:t>学习如何在两个关键帧姿态之间进行插值</a:t>
            </a:r>
            <a:r>
              <a:rPr lang="zh-CN" altLang="zh-CN" sz="1200" dirty="0"/>
              <a:t>，使其生成的中间过渡动画看起来更自然。</a:t>
            </a:r>
          </a:p>
          <a:p>
            <a:r>
              <a:rPr lang="zh-CN" altLang="zh-CN" sz="1200" b="1" dirty="0">
                <a:solidFill>
                  <a:srgbClr val="FF0000"/>
                </a:solidFill>
              </a:rPr>
              <a:t>数据集参考</a:t>
            </a:r>
            <a:r>
              <a:rPr lang="zh-CN" altLang="zh-CN" sz="1200" dirty="0"/>
              <a:t>：运动捕捉（</a:t>
            </a:r>
            <a:r>
              <a:rPr lang="en-US" altLang="zh-CN" sz="1200" dirty="0" err="1"/>
              <a:t>MoCap</a:t>
            </a:r>
            <a:r>
              <a:rPr lang="zh-CN" altLang="zh-CN" sz="1200" dirty="0"/>
              <a:t>）数据集（例如：</a:t>
            </a:r>
            <a:r>
              <a:rPr lang="en-US" altLang="zh-CN" sz="1200" dirty="0"/>
              <a:t>CMU</a:t>
            </a:r>
            <a:r>
              <a:rPr lang="zh-CN" altLang="zh-CN" sz="1200" dirty="0"/>
              <a:t>或</a:t>
            </a:r>
            <a:r>
              <a:rPr lang="en-US" altLang="zh-CN" sz="1200" dirty="0"/>
              <a:t>LaFAN1</a:t>
            </a:r>
            <a:r>
              <a:rPr lang="zh-CN" altLang="zh-CN" sz="1200" dirty="0"/>
              <a:t>数据集）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AD002B-832C-991B-F414-E100F935EB06}"/>
              </a:ext>
            </a:extLst>
          </p:cNvPr>
          <p:cNvSpPr txBox="1"/>
          <p:nvPr/>
        </p:nvSpPr>
        <p:spPr>
          <a:xfrm>
            <a:off x="6445498" y="226102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题目四</a:t>
            </a:r>
            <a:br>
              <a:rPr lang="en-US" altLang="zh-CN" sz="1200" dirty="0"/>
            </a:br>
            <a:endParaRPr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6DFD26-16A2-6896-70FB-6F5844A6FE11}"/>
              </a:ext>
            </a:extLst>
          </p:cNvPr>
          <p:cNvSpPr txBox="1"/>
          <p:nvPr/>
        </p:nvSpPr>
        <p:spPr>
          <a:xfrm>
            <a:off x="6419974" y="2506736"/>
            <a:ext cx="52323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/>
              <a:t>基于计图的</a:t>
            </a:r>
            <a:r>
              <a:rPr lang="zh-CN" altLang="en-US" sz="1200" b="1" dirty="0"/>
              <a:t>实时神经环境光遮蔽 </a:t>
            </a:r>
            <a:r>
              <a:rPr lang="en-US" altLang="zh-CN" sz="1200" b="1" dirty="0"/>
              <a:t>(SSAO-Net)</a:t>
            </a:r>
          </a:p>
          <a:p>
            <a:r>
              <a:rPr lang="zh-CN" altLang="en-US" sz="1200" b="1" dirty="0">
                <a:solidFill>
                  <a:srgbClr val="FF0000"/>
                </a:solidFill>
              </a:rPr>
              <a:t>介绍</a:t>
            </a:r>
            <a:r>
              <a:rPr lang="zh-CN" altLang="en-US" sz="1200" dirty="0"/>
              <a:t>：环境光遮蔽 </a:t>
            </a:r>
            <a:r>
              <a:rPr lang="en-US" altLang="zh-CN" sz="1200" dirty="0"/>
              <a:t>(Ambient Occlusion, AO) </a:t>
            </a:r>
            <a:r>
              <a:rPr lang="zh-CN" altLang="en-US" sz="1200" dirty="0"/>
              <a:t>是一种模拟光线在缝隙和角落中被遮挡的渲染技术，它能极大地增强场景的真实感和深度感 。</a:t>
            </a:r>
            <a:r>
              <a:rPr lang="en-US" altLang="zh-CN" sz="1200" dirty="0"/>
              <a:t>SSAO</a:t>
            </a:r>
            <a:r>
              <a:rPr lang="zh-CN" altLang="en-US" sz="1200" dirty="0"/>
              <a:t>是一种广泛应用的实时技术，它不依赖完整的 </a:t>
            </a:r>
            <a:r>
              <a:rPr lang="en-US" altLang="zh-CN" sz="1200" dirty="0"/>
              <a:t>3D </a:t>
            </a:r>
            <a:r>
              <a:rPr lang="zh-CN" altLang="en-US" sz="1200" dirty="0"/>
              <a:t>几何体，而是仅通过分析 </a:t>
            </a:r>
            <a:r>
              <a:rPr lang="en-US" altLang="zh-CN" sz="1200" dirty="0"/>
              <a:t>G-Buffer</a:t>
            </a:r>
            <a:r>
              <a:rPr lang="zh-CN" altLang="en-US" sz="1200" dirty="0"/>
              <a:t>（特别是深度和法线图）来估算 </a:t>
            </a:r>
            <a:r>
              <a:rPr lang="en-US" altLang="zh-CN" sz="1200" dirty="0"/>
              <a:t>AO </a:t>
            </a:r>
            <a:r>
              <a:rPr lang="zh-CN" altLang="en-US" sz="1200" dirty="0"/>
              <a:t>。然而，</a:t>
            </a:r>
            <a:r>
              <a:rPr lang="en-US" altLang="zh-CN" sz="1200" dirty="0"/>
              <a:t>SSAO </a:t>
            </a:r>
            <a:r>
              <a:rPr lang="zh-CN" altLang="en-US" sz="1200" dirty="0"/>
              <a:t>算法速度快，但容易产生条带 </a:t>
            </a:r>
            <a:r>
              <a:rPr lang="en-US" altLang="zh-CN" sz="1200" dirty="0"/>
              <a:t>(banding) </a:t>
            </a:r>
            <a:r>
              <a:rPr lang="zh-CN" altLang="en-US" sz="1200" dirty="0"/>
              <a:t>和伪影 </a:t>
            </a:r>
            <a:r>
              <a:rPr lang="en-US" altLang="zh-CN" sz="1200" dirty="0"/>
              <a:t>(artifacts)</a:t>
            </a:r>
            <a:r>
              <a:rPr lang="zh-CN" altLang="en-US" sz="1200" dirty="0"/>
              <a:t>。实现一个 </a:t>
            </a:r>
            <a:r>
              <a:rPr lang="en-US" altLang="zh-CN" sz="1200" dirty="0"/>
              <a:t>“Deep Shading”  </a:t>
            </a:r>
            <a:r>
              <a:rPr lang="zh-CN" altLang="en-US" sz="1200" dirty="0"/>
              <a:t>或 </a:t>
            </a:r>
            <a:r>
              <a:rPr lang="en-US" altLang="zh-CN" sz="1200" dirty="0"/>
              <a:t>“Deep G-Buffers”  </a:t>
            </a:r>
            <a:r>
              <a:rPr lang="zh-CN" altLang="en-US" sz="1200" dirty="0"/>
              <a:t>概念的轻量级版本。即，训练一个轻量级神经网络，用它取代传统的、基于算法的 </a:t>
            </a:r>
            <a:r>
              <a:rPr lang="en-US" altLang="zh-CN" sz="1200" dirty="0"/>
              <a:t>SSAO</a:t>
            </a:r>
            <a:r>
              <a:rPr lang="zh-CN" altLang="en-US" sz="1200" dirty="0"/>
              <a:t>。这个网络的输入是 </a:t>
            </a:r>
            <a:r>
              <a:rPr lang="en-US" altLang="zh-CN" sz="1200" dirty="0"/>
              <a:t>G-Buffer</a:t>
            </a:r>
            <a:r>
              <a:rPr lang="zh-CN" altLang="en-US" sz="1200" dirty="0"/>
              <a:t>，输出是高质量的 </a:t>
            </a:r>
            <a:r>
              <a:rPr lang="en-US" altLang="zh-CN" sz="1200" dirty="0"/>
              <a:t>AO </a:t>
            </a:r>
            <a:r>
              <a:rPr lang="zh-CN" altLang="en-US" sz="1200" dirty="0"/>
              <a:t>贴图。</a:t>
            </a: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数据集参考</a:t>
            </a:r>
            <a:r>
              <a:rPr lang="zh-CN" altLang="en-US" sz="1200" dirty="0"/>
              <a:t>：使用 </a:t>
            </a:r>
            <a:r>
              <a:rPr lang="en-US" altLang="zh-CN" sz="1200" dirty="0" err="1"/>
              <a:t>Jittor</a:t>
            </a:r>
            <a:r>
              <a:rPr lang="en-US" altLang="zh-CN" sz="1200" dirty="0"/>
              <a:t> </a:t>
            </a:r>
            <a:r>
              <a:rPr lang="zh-CN" altLang="en-US" sz="1200" dirty="0"/>
              <a:t>的 </a:t>
            </a:r>
            <a:r>
              <a:rPr lang="en-US" altLang="zh-CN" sz="1200" dirty="0" err="1"/>
              <a:t>jrender</a:t>
            </a:r>
            <a:r>
              <a:rPr lang="en-US" altLang="zh-CN" sz="1200" dirty="0"/>
              <a:t> </a:t>
            </a:r>
            <a:r>
              <a:rPr lang="zh-CN" altLang="en-US" sz="1200" dirty="0"/>
              <a:t>库。加载 </a:t>
            </a:r>
            <a:r>
              <a:rPr lang="en-US" altLang="zh-CN" sz="1200" dirty="0"/>
              <a:t>3D </a:t>
            </a:r>
            <a:r>
              <a:rPr lang="zh-CN" altLang="en-US" sz="1200" dirty="0"/>
              <a:t>模型（例如 </a:t>
            </a:r>
            <a:r>
              <a:rPr lang="en-US" altLang="zh-CN" sz="1200" dirty="0" err="1"/>
              <a:t>jrender</a:t>
            </a:r>
            <a:r>
              <a:rPr lang="en-US" altLang="zh-CN" sz="1200" dirty="0"/>
              <a:t> </a:t>
            </a:r>
            <a:r>
              <a:rPr lang="zh-CN" altLang="en-US" sz="1200" dirty="0"/>
              <a:t>自带的 </a:t>
            </a:r>
            <a:r>
              <a:rPr lang="en-US" altLang="zh-CN" sz="1200" dirty="0"/>
              <a:t>cow.obj</a:t>
            </a:r>
            <a:r>
              <a:rPr lang="zh-CN" altLang="en-US" sz="1200" dirty="0"/>
              <a:t>等</a:t>
            </a:r>
            <a:r>
              <a:rPr lang="en-US" altLang="zh-CN" sz="1200" dirty="0"/>
              <a:t> </a:t>
            </a:r>
            <a:r>
              <a:rPr lang="zh-CN" altLang="en-US" sz="1200" dirty="0"/>
              <a:t>），在循环中设置数千个随机摄像机位。对于每个机位，分别保存渲染出的 </a:t>
            </a:r>
            <a:r>
              <a:rPr lang="en-US" altLang="zh-CN" sz="1200" dirty="0"/>
              <a:t>normal </a:t>
            </a:r>
            <a:r>
              <a:rPr lang="zh-CN" altLang="en-US" sz="1200" dirty="0"/>
              <a:t>缓冲区 </a:t>
            </a:r>
            <a:r>
              <a:rPr lang="en-US" altLang="zh-CN" sz="1200" dirty="0"/>
              <a:t>(X) </a:t>
            </a:r>
            <a:r>
              <a:rPr lang="zh-CN" altLang="en-US" sz="1200" dirty="0"/>
              <a:t>和 </a:t>
            </a:r>
            <a:r>
              <a:rPr lang="en-US" altLang="zh-CN" sz="1200" dirty="0" err="1"/>
              <a:t>ao</a:t>
            </a:r>
            <a:r>
              <a:rPr lang="en-US" altLang="zh-CN" sz="1200" dirty="0"/>
              <a:t> </a:t>
            </a:r>
            <a:r>
              <a:rPr lang="zh-CN" altLang="en-US" sz="1200" dirty="0"/>
              <a:t>缓冲区 </a:t>
            </a:r>
            <a:r>
              <a:rPr lang="en-US" altLang="zh-CN" sz="1200" dirty="0"/>
              <a:t>(Y)</a:t>
            </a:r>
            <a:r>
              <a:rPr lang="zh-CN" altLang="en-US" sz="1200" dirty="0"/>
              <a:t>。或者使用</a:t>
            </a:r>
            <a:r>
              <a:rPr lang="en-US" altLang="zh-CN" sz="1200" dirty="0" err="1"/>
              <a:t>DeepAO</a:t>
            </a:r>
            <a:r>
              <a:rPr lang="en-US" altLang="zh-CN" sz="1200" dirty="0"/>
              <a:t>[2]</a:t>
            </a:r>
            <a:r>
              <a:rPr lang="zh-CN" altLang="en-US" sz="1200" dirty="0"/>
              <a:t>等论文的数据集。</a:t>
            </a:r>
            <a:endParaRPr lang="en-US" altLang="zh-CN" sz="1200" dirty="0"/>
          </a:p>
          <a:p>
            <a:r>
              <a:rPr lang="zh-CN" altLang="en-US" sz="1200" b="1" dirty="0">
                <a:solidFill>
                  <a:srgbClr val="FF0000"/>
                </a:solidFill>
              </a:rPr>
              <a:t>要求</a:t>
            </a:r>
            <a:r>
              <a:rPr lang="zh-CN" altLang="en-US" sz="1200" dirty="0"/>
              <a:t>：对比网络生成结果与</a:t>
            </a:r>
            <a:r>
              <a:rPr lang="en-US" altLang="zh-CN" sz="1200" dirty="0"/>
              <a:t>SSAO</a:t>
            </a:r>
            <a:r>
              <a:rPr lang="zh-CN" altLang="en-US" sz="1200" dirty="0"/>
              <a:t>的区别以及渲染效率。</a:t>
            </a:r>
          </a:p>
          <a:p>
            <a:endParaRPr lang="zh-CN" altLang="en-US" sz="12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42080E6-55D1-1527-8764-1C34D7E6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524" y="-221301"/>
            <a:ext cx="65" cy="392379"/>
          </a:xfrm>
          <a:prstGeom prst="rect">
            <a:avLst/>
          </a:prstGeom>
          <a:solidFill>
            <a:srgbClr val="1B1C1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8088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25843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997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mp-quote</vt:lpstr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JZ Yu</dc:creator>
  <cp:lastModifiedBy>艾恒 蒋</cp:lastModifiedBy>
  <cp:revision>44</cp:revision>
  <dcterms:created xsi:type="dcterms:W3CDTF">2023-08-09T12:44:55Z</dcterms:created>
  <dcterms:modified xsi:type="dcterms:W3CDTF">2025-12-08T10:34:54Z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